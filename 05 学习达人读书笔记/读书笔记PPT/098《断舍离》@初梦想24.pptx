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5" r:id="rId3"/>
    <p:sldId id="266" r:id="rId4"/>
    <p:sldId id="258" r:id="rId5"/>
    <p:sldId id="259" r:id="rId6"/>
    <p:sldId id="260" r:id="rId7"/>
    <p:sldId id="261" r:id="rId8"/>
    <p:sldId id="296" r:id="rId9"/>
    <p:sldId id="268" r:id="rId10"/>
    <p:sldId id="270" r:id="rId11"/>
    <p:sldId id="271" r:id="rId12"/>
    <p:sldId id="272" r:id="rId13"/>
    <p:sldId id="297" r:id="rId14"/>
    <p:sldId id="276" r:id="rId15"/>
    <p:sldId id="277" r:id="rId16"/>
    <p:sldId id="278" r:id="rId17"/>
    <p:sldId id="279" r:id="rId18"/>
    <p:sldId id="280" r:id="rId19"/>
    <p:sldId id="281" r:id="rId20"/>
    <p:sldId id="298" r:id="rId21"/>
    <p:sldId id="282" r:id="rId22"/>
    <p:sldId id="283" r:id="rId23"/>
    <p:sldId id="264" r:id="rId24"/>
    <p:sldId id="275" r:id="rId25"/>
    <p:sldId id="265" r:id="rId26"/>
    <p:sldId id="299" r:id="rId27"/>
    <p:sldId id="300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7129" userDrawn="1">
          <p15:clr>
            <a:srgbClr val="A4A3A4"/>
          </p15:clr>
        </p15:guide>
        <p15:guide id="3" orient="horz" pos="3158" userDrawn="1">
          <p15:clr>
            <a:srgbClr val="A4A3A4"/>
          </p15:clr>
        </p15:guide>
        <p15:guide id="4" pos="30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19"/>
    <a:srgbClr val="792326"/>
    <a:srgbClr val="FFFFFF"/>
    <a:srgbClr val="B4F4E6"/>
    <a:srgbClr val="58585A"/>
    <a:srgbClr val="B0F3E4"/>
    <a:srgbClr val="87EDD7"/>
    <a:srgbClr val="9EF0DE"/>
    <a:srgbClr val="58595B"/>
    <a:srgbClr val="B4F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32" y="66"/>
      </p:cViewPr>
      <p:guideLst>
        <p:guide orient="horz" pos="1207"/>
        <p:guide pos="7129"/>
        <p:guide orient="horz" pos="3158"/>
        <p:guide pos="30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1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0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1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607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26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65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676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4339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231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342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12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66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530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24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068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556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906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766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290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9469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410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684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07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67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493A9-D988-4F07-B3FA-E1E5BAE52993}" type="datetimeFigureOut">
              <a:rPr lang="zh-CN" altLang="en-US" smtClean="0"/>
              <a:t>2014/5/5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BA10F-4EF9-4744-9987-7B14C1E7A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47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19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5459798"/>
            <a:ext cx="1219200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山下英子 著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 DESIGN BY @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841330" y="1146100"/>
            <a:ext cx="6330679" cy="4013406"/>
            <a:chOff x="2841330" y="1291243"/>
            <a:chExt cx="6330679" cy="4013406"/>
          </a:xfrm>
        </p:grpSpPr>
        <p:grpSp>
          <p:nvGrpSpPr>
            <p:cNvPr id="11" name="组合 10"/>
            <p:cNvGrpSpPr/>
            <p:nvPr/>
          </p:nvGrpSpPr>
          <p:grpSpPr>
            <a:xfrm>
              <a:off x="2841330" y="1291243"/>
              <a:ext cx="6330679" cy="2772395"/>
              <a:chOff x="2841331" y="1712685"/>
              <a:chExt cx="6330679" cy="277239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2841331" y="1712685"/>
                <a:ext cx="6330679" cy="1862049"/>
                <a:chOff x="3050527" y="2452914"/>
                <a:chExt cx="6330679" cy="1862049"/>
              </a:xfrm>
            </p:grpSpPr>
            <p:sp>
              <p:nvSpPr>
                <p:cNvPr id="3" name="文本框 2"/>
                <p:cNvSpPr txBox="1"/>
                <p:nvPr/>
              </p:nvSpPr>
              <p:spPr>
                <a:xfrm>
                  <a:off x="3050527" y="2452914"/>
                  <a:ext cx="1630575" cy="18620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1500" b="1" dirty="0" smtClean="0">
                      <a:solidFill>
                        <a:srgbClr val="800019"/>
                      </a:solidFill>
                      <a:latin typeface="腾祥嘉丽大黑繁" panose="01010104010101010101" pitchFamily="2" charset="-122"/>
                      <a:ea typeface="腾祥嘉丽大黑繁" panose="01010104010101010101" pitchFamily="2" charset="-122"/>
                    </a:rPr>
                    <a:t>断</a:t>
                  </a:r>
                  <a:endParaRPr lang="zh-CN" altLang="en-US" sz="11500" b="1" dirty="0">
                    <a:solidFill>
                      <a:srgbClr val="800019"/>
                    </a:solidFill>
                    <a:latin typeface="腾祥嘉丽大黑繁" panose="01010104010101010101" pitchFamily="2" charset="-122"/>
                    <a:ea typeface="腾祥嘉丽大黑繁" panose="01010104010101010101" pitchFamily="2" charset="-122"/>
                  </a:endParaRPr>
                </a:p>
              </p:txBody>
            </p:sp>
            <p:sp>
              <p:nvSpPr>
                <p:cNvPr id="4" name="文本框 3"/>
                <p:cNvSpPr txBox="1"/>
                <p:nvPr/>
              </p:nvSpPr>
              <p:spPr>
                <a:xfrm>
                  <a:off x="5400579" y="2452915"/>
                  <a:ext cx="1630575" cy="18620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11500" b="1">
                      <a:solidFill>
                        <a:srgbClr val="800019"/>
                      </a:solidFill>
                      <a:latin typeface="腾祥嘉丽大黑繁" panose="01010104010101010101" pitchFamily="2" charset="-122"/>
                      <a:ea typeface="腾祥嘉丽大黑繁" panose="01010104010101010101" pitchFamily="2" charset="-122"/>
                    </a:defRPr>
                  </a:lvl1pPr>
                </a:lstStyle>
                <a:p>
                  <a:r>
                    <a:rPr lang="zh-CN" altLang="en-US" dirty="0"/>
                    <a:t>舍</a:t>
                  </a:r>
                </a:p>
              </p:txBody>
            </p:sp>
            <p:sp>
              <p:nvSpPr>
                <p:cNvPr id="5" name="文本框 4"/>
                <p:cNvSpPr txBox="1"/>
                <p:nvPr/>
              </p:nvSpPr>
              <p:spPr>
                <a:xfrm>
                  <a:off x="7750631" y="2452915"/>
                  <a:ext cx="1630575" cy="18620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11500" b="1">
                      <a:solidFill>
                        <a:srgbClr val="800019"/>
                      </a:solidFill>
                      <a:latin typeface="腾祥嘉丽大黑繁" panose="01010104010101010101" pitchFamily="2" charset="-122"/>
                      <a:ea typeface="腾祥嘉丽大黑繁" panose="01010104010101010101" pitchFamily="2" charset="-122"/>
                    </a:defRPr>
                  </a:lvl1pPr>
                </a:lstStyle>
                <a:p>
                  <a:r>
                    <a:rPr lang="zh-CN" altLang="en-US" dirty="0"/>
                    <a:t>离</a:t>
                  </a:r>
                </a:p>
              </p:txBody>
            </p:sp>
          </p:grpSp>
          <p:sp>
            <p:nvSpPr>
              <p:cNvPr id="9" name="任意多边形 8"/>
              <p:cNvSpPr/>
              <p:nvPr/>
            </p:nvSpPr>
            <p:spPr>
              <a:xfrm>
                <a:off x="5820228" y="4110446"/>
                <a:ext cx="551543" cy="374634"/>
              </a:xfrm>
              <a:custGeom>
                <a:avLst/>
                <a:gdLst>
                  <a:gd name="connsiteX0" fmla="*/ 101600 w 769257"/>
                  <a:gd name="connsiteY0" fmla="*/ 0 h 522515"/>
                  <a:gd name="connsiteX1" fmla="*/ 101600 w 769257"/>
                  <a:gd name="connsiteY1" fmla="*/ 0 h 522515"/>
                  <a:gd name="connsiteX2" fmla="*/ 232228 w 769257"/>
                  <a:gd name="connsiteY2" fmla="*/ 72572 h 522515"/>
                  <a:gd name="connsiteX3" fmla="*/ 319314 w 769257"/>
                  <a:gd name="connsiteY3" fmla="*/ 145143 h 522515"/>
                  <a:gd name="connsiteX4" fmla="*/ 362857 w 769257"/>
                  <a:gd name="connsiteY4" fmla="*/ 159658 h 522515"/>
                  <a:gd name="connsiteX5" fmla="*/ 362857 w 769257"/>
                  <a:gd name="connsiteY5" fmla="*/ 188686 h 522515"/>
                  <a:gd name="connsiteX6" fmla="*/ 769257 w 769257"/>
                  <a:gd name="connsiteY6" fmla="*/ 203200 h 522515"/>
                  <a:gd name="connsiteX7" fmla="*/ 653143 w 769257"/>
                  <a:gd name="connsiteY7" fmla="*/ 522515 h 522515"/>
                  <a:gd name="connsiteX8" fmla="*/ 0 w 769257"/>
                  <a:gd name="connsiteY8" fmla="*/ 464458 h 522515"/>
                  <a:gd name="connsiteX9" fmla="*/ 101600 w 769257"/>
                  <a:gd name="connsiteY9" fmla="*/ 0 h 522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9257" h="522515">
                    <a:moveTo>
                      <a:pt x="101600" y="0"/>
                    </a:moveTo>
                    <a:lnTo>
                      <a:pt x="101600" y="0"/>
                    </a:lnTo>
                    <a:cubicBezTo>
                      <a:pt x="145143" y="24191"/>
                      <a:pt x="190783" y="44942"/>
                      <a:pt x="232228" y="72572"/>
                    </a:cubicBezTo>
                    <a:cubicBezTo>
                      <a:pt x="328530" y="136774"/>
                      <a:pt x="224338" y="97655"/>
                      <a:pt x="319314" y="145143"/>
                    </a:cubicBezTo>
                    <a:cubicBezTo>
                      <a:pt x="332998" y="151985"/>
                      <a:pt x="352039" y="148840"/>
                      <a:pt x="362857" y="159658"/>
                    </a:cubicBezTo>
                    <a:lnTo>
                      <a:pt x="362857" y="188686"/>
                    </a:lnTo>
                    <a:lnTo>
                      <a:pt x="769257" y="203200"/>
                    </a:lnTo>
                    <a:lnTo>
                      <a:pt x="653143" y="522515"/>
                    </a:lnTo>
                    <a:lnTo>
                      <a:pt x="0" y="464458"/>
                    </a:lnTo>
                    <a:lnTo>
                      <a:pt x="101600" y="0"/>
                    </a:lnTo>
                    <a:close/>
                  </a:path>
                </a:pathLst>
              </a:cu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5492" y="4084541"/>
              <a:ext cx="1220108" cy="12201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90838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05828" y="1349829"/>
            <a:ext cx="2380342" cy="2380342"/>
            <a:chOff x="4905829" y="1190172"/>
            <a:chExt cx="2380342" cy="238034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905829" y="1190172"/>
              <a:ext cx="2380342" cy="2380342"/>
            </a:xfrm>
            <a:prstGeom prst="round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20147" y="1449319"/>
              <a:ext cx="172194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01</a:t>
              </a:r>
              <a:endParaRPr lang="zh-CN" altLang="en-US" sz="11500" b="1" dirty="0">
                <a:solidFill>
                  <a:schemeClr val="bg1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" y="423326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rPr>
              <a:t>什么是断舍离？</a:t>
            </a:r>
            <a:endParaRPr lang="en-US" altLang="zh-CN" sz="6000" dirty="0" smtClean="0">
              <a:solidFill>
                <a:srgbClr val="800019"/>
              </a:solidFill>
              <a:latin typeface="腾祥嘉丽大黑繁" panose="01010104010101010101" pitchFamily="2" charset="-122"/>
              <a:ea typeface="腾祥嘉丽大黑繁" panose="01010104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6021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7257" y="1764560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断绝不需要的东西</a:t>
            </a:r>
            <a:endParaRPr lang="zh-CN" altLang="en-US" sz="4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7257" y="2590148"/>
            <a:ext cx="42370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购物时三思而后行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不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需要的东西就不接受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只添置必需的物品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520049" y="1466925"/>
            <a:ext cx="2736647" cy="3539431"/>
            <a:chOff x="1505535" y="1379839"/>
            <a:chExt cx="2736647" cy="3539431"/>
          </a:xfrm>
        </p:grpSpPr>
        <p:sp>
          <p:nvSpPr>
            <p:cNvPr id="4" name="文本框 3"/>
            <p:cNvSpPr txBox="1"/>
            <p:nvPr/>
          </p:nvSpPr>
          <p:spPr>
            <a:xfrm>
              <a:off x="1505535" y="1764560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900" dirty="0" smtClean="0">
                  <a:solidFill>
                    <a:srgbClr val="800019"/>
                  </a:solidFill>
                  <a:latin typeface="腾祥嘉丽大黑繁" panose="01010104010101010101" pitchFamily="2" charset="-122"/>
                  <a:ea typeface="腾祥嘉丽大黑繁" panose="01010104010101010101" pitchFamily="2" charset="-122"/>
                </a:rPr>
                <a:t>断</a:t>
              </a:r>
              <a:endParaRPr lang="zh-CN" altLang="en-US" sz="19900" dirty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064873" y="1379839"/>
              <a:ext cx="161796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4400" dirty="0" err="1">
                  <a:solidFill>
                    <a:srgbClr val="800019"/>
                  </a:solidFill>
                  <a:latin typeface="腾祥嘉丽大黑繁" panose="01010104010101010101" pitchFamily="2" charset="-122"/>
                  <a:ea typeface="腾祥嘉丽大黑繁" panose="01010104010101010101" pitchFamily="2" charset="-122"/>
                </a:rPr>
                <a:t>duan</a:t>
              </a:r>
              <a:endParaRPr lang="zh-CN" altLang="en-US" sz="4400" dirty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3000699" y="1491516"/>
            <a:ext cx="98601" cy="192361"/>
          </a:xfrm>
          <a:prstGeom prst="line">
            <a:avLst/>
          </a:prstGeom>
          <a:ln w="41275">
            <a:solidFill>
              <a:srgbClr val="8000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927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7257" y="1764560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舍弃多余的废物</a:t>
            </a:r>
            <a:endParaRPr lang="zh-CN" altLang="en-US" sz="4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7257" y="2590148"/>
            <a:ext cx="351891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收拾没用的破烂儿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卖掉、赠送物品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缩小喜好的范围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520049" y="1466925"/>
            <a:ext cx="2736647" cy="3539431"/>
            <a:chOff x="1505535" y="1379839"/>
            <a:chExt cx="2736647" cy="3539431"/>
          </a:xfrm>
        </p:grpSpPr>
        <p:sp>
          <p:nvSpPr>
            <p:cNvPr id="8" name="文本框 7"/>
            <p:cNvSpPr txBox="1"/>
            <p:nvPr/>
          </p:nvSpPr>
          <p:spPr>
            <a:xfrm>
              <a:off x="1505535" y="1764560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900" dirty="0">
                  <a:solidFill>
                    <a:srgbClr val="800019"/>
                  </a:solidFill>
                  <a:latin typeface="腾祥嘉丽大黑繁" panose="01010104010101010101" pitchFamily="2" charset="-122"/>
                  <a:ea typeface="腾祥嘉丽大黑繁" panose="01010104010101010101" pitchFamily="2" charset="-122"/>
                </a:rPr>
                <a:t>舍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44408" y="1379839"/>
              <a:ext cx="125889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4400" dirty="0" smtClean="0">
                  <a:solidFill>
                    <a:srgbClr val="800019"/>
                  </a:solidFill>
                  <a:latin typeface="腾祥嘉丽大黑繁" panose="01010104010101010101" pitchFamily="2" charset="-122"/>
                  <a:ea typeface="腾祥嘉丽大黑繁" panose="01010104010101010101" pitchFamily="2" charset="-122"/>
                </a:rPr>
                <a:t>she</a:t>
              </a:r>
              <a:endParaRPr lang="zh-CN" altLang="en-US" sz="4400" dirty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endParaRPr>
            </a:p>
          </p:txBody>
        </p:sp>
      </p:grpSp>
      <p:sp>
        <p:nvSpPr>
          <p:cNvPr id="12" name="任意多边形 11"/>
          <p:cNvSpPr/>
          <p:nvPr/>
        </p:nvSpPr>
        <p:spPr>
          <a:xfrm>
            <a:off x="3181311" y="1528932"/>
            <a:ext cx="142460" cy="130354"/>
          </a:xfrm>
          <a:custGeom>
            <a:avLst/>
            <a:gdLst>
              <a:gd name="connsiteX0" fmla="*/ 0 w 319315"/>
              <a:gd name="connsiteY0" fmla="*/ 0 h 290286"/>
              <a:gd name="connsiteX1" fmla="*/ 174172 w 319315"/>
              <a:gd name="connsiteY1" fmla="*/ 290286 h 290286"/>
              <a:gd name="connsiteX2" fmla="*/ 319315 w 319315"/>
              <a:gd name="connsiteY2" fmla="*/ 29029 h 290286"/>
              <a:gd name="connsiteX0" fmla="*/ 0 w 322719"/>
              <a:gd name="connsiteY0" fmla="*/ 5008 h 295294"/>
              <a:gd name="connsiteX1" fmla="*/ 174172 w 322719"/>
              <a:gd name="connsiteY1" fmla="*/ 295294 h 295294"/>
              <a:gd name="connsiteX2" fmla="*/ 322719 w 322719"/>
              <a:gd name="connsiteY2" fmla="*/ 0 h 295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719" h="295294">
                <a:moveTo>
                  <a:pt x="0" y="5008"/>
                </a:moveTo>
                <a:lnTo>
                  <a:pt x="174172" y="295294"/>
                </a:lnTo>
                <a:lnTo>
                  <a:pt x="322719" y="0"/>
                </a:lnTo>
              </a:path>
            </a:pathLst>
          </a:custGeom>
          <a:noFill/>
          <a:ln w="41275">
            <a:solidFill>
              <a:srgbClr val="8000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16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7257" y="1764560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脱离对物品的执念</a:t>
            </a:r>
            <a:endParaRPr lang="zh-CN" altLang="en-US" sz="4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7257" y="2590148"/>
            <a:ext cx="387798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脱离</a:t>
            </a:r>
            <a:r>
              <a:rPr lang="zh-CN" altLang="en-US" sz="2800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执念</a:t>
            </a:r>
            <a:endParaRPr lang="en-US" altLang="zh-CN" sz="2800" dirty="0" smtClean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了解自己，爱上自己</a:t>
            </a:r>
            <a:endParaRPr lang="en-US" altLang="zh-CN" sz="2800" dirty="0" smtClean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心情愉悦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520049" y="1466925"/>
            <a:ext cx="2736647" cy="3539431"/>
            <a:chOff x="1505535" y="1379839"/>
            <a:chExt cx="2736647" cy="3539431"/>
          </a:xfrm>
        </p:grpSpPr>
        <p:sp>
          <p:nvSpPr>
            <p:cNvPr id="8" name="文本框 7"/>
            <p:cNvSpPr txBox="1"/>
            <p:nvPr/>
          </p:nvSpPr>
          <p:spPr>
            <a:xfrm>
              <a:off x="1505535" y="1764560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9900" dirty="0">
                  <a:solidFill>
                    <a:srgbClr val="800019"/>
                  </a:solidFill>
                  <a:latin typeface="腾祥嘉丽大黑繁" panose="01010104010101010101" pitchFamily="2" charset="-122"/>
                  <a:ea typeface="腾祥嘉丽大黑繁" panose="01010104010101010101" pitchFamily="2" charset="-122"/>
                </a:rPr>
                <a:t>离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62776" y="1379839"/>
              <a:ext cx="62216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4400" dirty="0" smtClean="0">
                  <a:solidFill>
                    <a:srgbClr val="800019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li</a:t>
              </a:r>
              <a:endParaRPr lang="zh-CN" altLang="en-US" sz="4400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 flipV="1">
            <a:off x="3000699" y="1364343"/>
            <a:ext cx="76330" cy="176136"/>
          </a:xfrm>
          <a:prstGeom prst="line">
            <a:avLst/>
          </a:prstGeom>
          <a:ln w="41275">
            <a:solidFill>
              <a:srgbClr val="8000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425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1421934" y="4173897"/>
            <a:ext cx="9348132" cy="1475322"/>
            <a:chOff x="911334" y="4159382"/>
            <a:chExt cx="9858732" cy="1475322"/>
          </a:xfrm>
        </p:grpSpPr>
        <p:sp>
          <p:nvSpPr>
            <p:cNvPr id="11" name="文本框 10"/>
            <p:cNvSpPr txBox="1"/>
            <p:nvPr/>
          </p:nvSpPr>
          <p:spPr>
            <a:xfrm>
              <a:off x="1421934" y="4557486"/>
              <a:ext cx="934813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在“断”与“舍”的交替里，脱离对物品的执念，达到轻松自在（离）的状态</a:t>
              </a:r>
              <a:endPara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 rot="15575959">
              <a:off x="1004013" y="4066703"/>
              <a:ext cx="468838" cy="654196"/>
              <a:chOff x="3991544" y="2246072"/>
              <a:chExt cx="919743" cy="1283369"/>
            </a:xfrm>
          </p:grpSpPr>
          <p:sp>
            <p:nvSpPr>
              <p:cNvPr id="13" name="等腰三角形 12"/>
              <p:cNvSpPr/>
              <p:nvPr/>
            </p:nvSpPr>
            <p:spPr>
              <a:xfrm rot="12799592">
                <a:off x="4052374" y="2246072"/>
                <a:ext cx="281307" cy="919743"/>
              </a:xfrm>
              <a:prstGeom prst="triangle">
                <a:avLst>
                  <a:gd name="adj" fmla="val 73742"/>
                </a:avLst>
              </a:pr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4533349">
                <a:off x="4246653" y="2577339"/>
                <a:ext cx="409525" cy="919743"/>
              </a:xfrm>
              <a:prstGeom prst="triangle">
                <a:avLst>
                  <a:gd name="adj" fmla="val 73742"/>
                </a:avLst>
              </a:pr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5593418">
                <a:off x="4360460" y="3066557"/>
                <a:ext cx="283435" cy="642334"/>
              </a:xfrm>
              <a:prstGeom prst="triangle">
                <a:avLst>
                  <a:gd name="adj" fmla="val 73742"/>
                </a:avLst>
              </a:pr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1436784" y="1055646"/>
            <a:ext cx="9348132" cy="2621576"/>
            <a:chOff x="1421934" y="910262"/>
            <a:chExt cx="9348132" cy="2621576"/>
          </a:xfrm>
        </p:grpSpPr>
        <p:grpSp>
          <p:nvGrpSpPr>
            <p:cNvPr id="3" name="组合 2"/>
            <p:cNvGrpSpPr/>
            <p:nvPr/>
          </p:nvGrpSpPr>
          <p:grpSpPr>
            <a:xfrm>
              <a:off x="1421934" y="1189912"/>
              <a:ext cx="9348132" cy="2341926"/>
              <a:chOff x="1244757" y="1369037"/>
              <a:chExt cx="9348132" cy="2341926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1244757" y="1494972"/>
                <a:ext cx="1954381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800" dirty="0" smtClean="0">
                    <a:solidFill>
                      <a:srgbClr val="800019"/>
                    </a:solidFill>
                    <a:latin typeface="腾祥嘉丽大黑繁" panose="01010104010101010101" pitchFamily="2" charset="-122"/>
                    <a:ea typeface="腾祥嘉丽大黑繁" panose="01010104010101010101" pitchFamily="2" charset="-122"/>
                  </a:rPr>
                  <a:t>断</a:t>
                </a:r>
                <a:endParaRPr lang="zh-CN" altLang="en-US" sz="13800" dirty="0">
                  <a:solidFill>
                    <a:srgbClr val="800019"/>
                  </a:solidFill>
                  <a:latin typeface="腾祥嘉丽大黑繁" panose="01010104010101010101" pitchFamily="2" charset="-122"/>
                  <a:ea typeface="腾祥嘉丽大黑繁" panose="01010104010101010101" pitchFamily="2" charset="-122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4828524" y="1494972"/>
                <a:ext cx="1954381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13800">
                    <a:solidFill>
                      <a:srgbClr val="800019"/>
                    </a:solidFill>
                    <a:latin typeface="腾祥嘉丽大黑繁" panose="01010104010101010101" pitchFamily="2" charset="-122"/>
                    <a:ea typeface="腾祥嘉丽大黑繁" panose="01010104010101010101" pitchFamily="2" charset="-122"/>
                  </a:defRPr>
                </a:lvl1pPr>
              </a:lstStyle>
              <a:p>
                <a:r>
                  <a:rPr lang="zh-CN" altLang="en-US" dirty="0"/>
                  <a:t>舍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8638508" y="1494972"/>
                <a:ext cx="1954381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13800">
                    <a:solidFill>
                      <a:srgbClr val="800019"/>
                    </a:solidFill>
                    <a:latin typeface="腾祥嘉丽大黑繁" panose="01010104010101010101" pitchFamily="2" charset="-122"/>
                    <a:ea typeface="腾祥嘉丽大黑繁" panose="01010104010101010101" pitchFamily="2" charset="-122"/>
                  </a:defRPr>
                </a:lvl1pPr>
              </a:lstStyle>
              <a:p>
                <a:r>
                  <a:rPr lang="zh-CN" altLang="en-US" dirty="0"/>
                  <a:t>离</a:t>
                </a: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3467951" y="1369038"/>
                <a:ext cx="1430200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13800">
                    <a:solidFill>
                      <a:schemeClr val="bg1"/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汉仪家书简" panose="02010609000101010101" pitchFamily="49" charset="-122"/>
                    <a:ea typeface="汉仪家书简" panose="02010609000101010101" pitchFamily="49" charset="-122"/>
                  </a:rPr>
                  <a:t>+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7196894" y="1369037"/>
                <a:ext cx="1436612" cy="2215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13800">
                    <a:solidFill>
                      <a:schemeClr val="bg1"/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</a:defRPr>
                </a:lvl1pPr>
              </a:lstStyle>
              <a:p>
                <a:r>
                  <a:rPr lang="en-US" altLang="zh-CN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汉仪家书简" panose="02010609000101010101" pitchFamily="49" charset="-122"/>
                    <a:ea typeface="汉仪家书简" panose="02010609000101010101" pitchFamily="49" charset="-122"/>
                  </a:rPr>
                  <a:t>=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1789525" y="910263"/>
              <a:ext cx="11063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doing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333514" y="980189"/>
              <a:ext cx="11063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defRPr>
              </a:lvl1pPr>
            </a:lstStyle>
            <a:p>
              <a:r>
                <a:rPr lang="en-US" altLang="zh-CN" dirty="0"/>
                <a:t>doing</a:t>
              </a:r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168760" y="910262"/>
              <a:ext cx="10967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defRPr>
              </a:lvl1pPr>
            </a:lstStyle>
            <a:p>
              <a:r>
                <a:rPr lang="en-US" altLang="zh-CN" dirty="0"/>
                <a:t>being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44437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05828" y="1349829"/>
            <a:ext cx="2380342" cy="2380342"/>
            <a:chOff x="4905829" y="1190172"/>
            <a:chExt cx="2380342" cy="238034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905829" y="1190172"/>
              <a:ext cx="2380342" cy="2380342"/>
            </a:xfrm>
            <a:prstGeom prst="round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20147" y="1449319"/>
              <a:ext cx="172194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02</a:t>
              </a:r>
              <a:endParaRPr lang="zh-CN" altLang="en-US" sz="11500" b="1" dirty="0">
                <a:solidFill>
                  <a:schemeClr val="bg1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" y="423326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rPr>
              <a:t>先</a:t>
            </a:r>
            <a:r>
              <a:rPr lang="zh-CN" altLang="en-US" sz="6000" dirty="0" smtClean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rPr>
              <a:t>从整理头脑开始</a:t>
            </a:r>
            <a:endParaRPr lang="en-US" altLang="zh-CN" sz="6000" dirty="0" smtClean="0">
              <a:solidFill>
                <a:srgbClr val="800019"/>
              </a:solidFill>
              <a:latin typeface="腾祥嘉丽大黑繁" panose="01010104010101010101" pitchFamily="2" charset="-122"/>
              <a:ea typeface="腾祥嘉丽大黑繁" panose="01010104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7395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97819" y="2113750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以自我</a:t>
            </a:r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为轴心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23193" y="3448095"/>
            <a:ext cx="67505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思考的主语永远是“我”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“是因为真的能用，所以我才用的”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364342" y="2113750"/>
            <a:ext cx="2602289" cy="2515282"/>
            <a:chOff x="130628" y="1190071"/>
            <a:chExt cx="4775200" cy="4615542"/>
          </a:xfrm>
        </p:grpSpPr>
        <p:grpSp>
          <p:nvGrpSpPr>
            <p:cNvPr id="10" name="组合 9"/>
            <p:cNvGrpSpPr/>
            <p:nvPr/>
          </p:nvGrpSpPr>
          <p:grpSpPr>
            <a:xfrm>
              <a:off x="2164812" y="3028466"/>
              <a:ext cx="549619" cy="754743"/>
              <a:chOff x="1860011" y="2235200"/>
              <a:chExt cx="1258377" cy="1728018"/>
            </a:xfrm>
          </p:grpSpPr>
          <p:sp>
            <p:nvSpPr>
              <p:cNvPr id="4" name="流程图: 联系 3"/>
              <p:cNvSpPr/>
              <p:nvPr/>
            </p:nvSpPr>
            <p:spPr>
              <a:xfrm>
                <a:off x="2162629" y="2235200"/>
                <a:ext cx="653142" cy="653142"/>
              </a:xfrm>
              <a:prstGeom prst="flowChartConnector">
                <a:avLst/>
              </a:pr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任意多边形 7"/>
              <p:cNvSpPr/>
              <p:nvPr/>
            </p:nvSpPr>
            <p:spPr>
              <a:xfrm>
                <a:off x="1860011" y="3019030"/>
                <a:ext cx="1258377" cy="944188"/>
              </a:xfrm>
              <a:custGeom>
                <a:avLst/>
                <a:gdLst>
                  <a:gd name="connsiteX0" fmla="*/ 493780 w 987560"/>
                  <a:gd name="connsiteY0" fmla="*/ 0 h 740988"/>
                  <a:gd name="connsiteX1" fmla="*/ 979327 w 987560"/>
                  <a:gd name="connsiteY1" fmla="*/ 614225 h 740988"/>
                  <a:gd name="connsiteX2" fmla="*/ 987560 w 987560"/>
                  <a:gd name="connsiteY2" fmla="*/ 740988 h 740988"/>
                  <a:gd name="connsiteX3" fmla="*/ 0 w 987560"/>
                  <a:gd name="connsiteY3" fmla="*/ 740988 h 740988"/>
                  <a:gd name="connsiteX4" fmla="*/ 8233 w 987560"/>
                  <a:gd name="connsiteY4" fmla="*/ 614225 h 740988"/>
                  <a:gd name="connsiteX5" fmla="*/ 493780 w 987560"/>
                  <a:gd name="connsiteY5" fmla="*/ 0 h 74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87560" h="740988">
                    <a:moveTo>
                      <a:pt x="493780" y="0"/>
                    </a:moveTo>
                    <a:cubicBezTo>
                      <a:pt x="733286" y="0"/>
                      <a:pt x="933113" y="263687"/>
                      <a:pt x="979327" y="614225"/>
                    </a:cubicBezTo>
                    <a:lnTo>
                      <a:pt x="987560" y="740988"/>
                    </a:lnTo>
                    <a:lnTo>
                      <a:pt x="0" y="740988"/>
                    </a:lnTo>
                    <a:lnTo>
                      <a:pt x="8233" y="614225"/>
                    </a:lnTo>
                    <a:cubicBezTo>
                      <a:pt x="54448" y="263687"/>
                      <a:pt x="254274" y="0"/>
                      <a:pt x="493780" y="0"/>
                    </a:cubicBezTo>
                    <a:close/>
                  </a:path>
                </a:pathLst>
              </a:cu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流程图: 联系 10"/>
            <p:cNvSpPr/>
            <p:nvPr/>
          </p:nvSpPr>
          <p:spPr>
            <a:xfrm>
              <a:off x="2296986" y="2396065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流程图: 联系 11"/>
            <p:cNvSpPr/>
            <p:nvPr/>
          </p:nvSpPr>
          <p:spPr>
            <a:xfrm>
              <a:off x="2296986" y="4292258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联系 12"/>
            <p:cNvSpPr/>
            <p:nvPr/>
          </p:nvSpPr>
          <p:spPr>
            <a:xfrm>
              <a:off x="3203158" y="3313738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流程图: 联系 13"/>
            <p:cNvSpPr/>
            <p:nvPr/>
          </p:nvSpPr>
          <p:spPr>
            <a:xfrm>
              <a:off x="1379737" y="3302071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流程图: 联系 15"/>
            <p:cNvSpPr/>
            <p:nvPr/>
          </p:nvSpPr>
          <p:spPr>
            <a:xfrm>
              <a:off x="2950816" y="2657633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流程图: 联系 16"/>
            <p:cNvSpPr/>
            <p:nvPr/>
          </p:nvSpPr>
          <p:spPr>
            <a:xfrm>
              <a:off x="2994436" y="4005010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联系 17"/>
            <p:cNvSpPr/>
            <p:nvPr/>
          </p:nvSpPr>
          <p:spPr>
            <a:xfrm>
              <a:off x="1634494" y="2657633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联系 18"/>
            <p:cNvSpPr/>
            <p:nvPr/>
          </p:nvSpPr>
          <p:spPr>
            <a:xfrm>
              <a:off x="1634494" y="4005010"/>
              <a:ext cx="310469" cy="310469"/>
            </a:xfrm>
            <a:prstGeom prst="flowChartConnector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2321461" y="1190071"/>
              <a:ext cx="261517" cy="1045028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2308862" y="4760585"/>
              <a:ext cx="261517" cy="1045028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30628" y="3333409"/>
              <a:ext cx="1042015" cy="271125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718955" y="3333409"/>
              <a:ext cx="1186873" cy="271125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 rot="18843747">
              <a:off x="3177609" y="2038036"/>
              <a:ext cx="1083497" cy="274197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 rot="18843747">
              <a:off x="712590" y="4626520"/>
              <a:ext cx="1048537" cy="278873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 rot="2594222">
              <a:off x="3215428" y="4625022"/>
              <a:ext cx="1186873" cy="271125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 rot="2594222">
              <a:off x="515862" y="2025364"/>
              <a:ext cx="1186873" cy="271125"/>
            </a:xfrm>
            <a:prstGeom prst="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9104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77090" y="1916113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把时间</a:t>
            </a:r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轴放在当下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87459" y="3576509"/>
            <a:ext cx="55194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了解当下的含义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将于物品的关系比作人际关系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3"/>
          <a:stretch/>
        </p:blipFill>
        <p:spPr>
          <a:xfrm>
            <a:off x="2032000" y="1608906"/>
            <a:ext cx="2014990" cy="352379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18306" y="2055357"/>
            <a:ext cx="6136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rgbClr val="8000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PAST</a:t>
            </a:r>
            <a:endParaRPr lang="zh-CN" altLang="en-US" sz="1400" dirty="0" smtClean="0">
              <a:solidFill>
                <a:srgbClr val="80001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0908" y="4115118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rgbClr val="80001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</a:t>
            </a:r>
            <a:endParaRPr lang="zh-CN" altLang="en-US" sz="1400" dirty="0" smtClean="0">
              <a:solidFill>
                <a:srgbClr val="80001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875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12817" y="2040846"/>
            <a:ext cx="73068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扫除</a:t>
            </a:r>
            <a:r>
              <a:rPr lang="en-US" altLang="zh-CN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=</a:t>
            </a:r>
            <a:r>
              <a:rPr lang="zh-CN" altLang="en-US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收拾</a:t>
            </a:r>
            <a:r>
              <a:rPr lang="en-US" altLang="zh-CN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+</a:t>
            </a:r>
            <a:r>
              <a:rPr lang="zh-CN" altLang="en-US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整理</a:t>
            </a:r>
            <a:r>
              <a:rPr lang="en-US" altLang="zh-CN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+</a:t>
            </a:r>
            <a:r>
              <a:rPr lang="zh-CN" altLang="en-US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打扫</a:t>
            </a:r>
            <a:endParaRPr lang="zh-CN" altLang="en-US" sz="54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90938" y="3682370"/>
            <a:ext cx="67505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所谓的收拾就是筛选出必须的物品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只有彻底收拾了才能进入整理和打扫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637" y="1804131"/>
            <a:ext cx="2261812" cy="333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02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78686" y="2029223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从</a:t>
            </a:r>
            <a:r>
              <a:rPr lang="zh-CN" altLang="en-US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信息过多到知行合一</a:t>
            </a:r>
            <a:endParaRPr lang="zh-CN" altLang="en-US" sz="54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39686" y="3383465"/>
            <a:ext cx="9452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扔掉多余的信息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尽早从头脑的“便秘中解脱出来”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更多的了解看得见的世界，以让自己变得更好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726" y="2490888"/>
            <a:ext cx="2566489" cy="181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89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05828" y="1349829"/>
            <a:ext cx="2380342" cy="2380342"/>
            <a:chOff x="4905829" y="1190172"/>
            <a:chExt cx="2380342" cy="238034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905829" y="1190172"/>
              <a:ext cx="2380342" cy="2380342"/>
            </a:xfrm>
            <a:prstGeom prst="round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20147" y="1449319"/>
              <a:ext cx="172194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03</a:t>
              </a:r>
              <a:endParaRPr lang="zh-CN" altLang="en-US" sz="11500" b="1" dirty="0">
                <a:solidFill>
                  <a:schemeClr val="bg1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" y="423326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rPr>
              <a:t>身体开始行动</a:t>
            </a:r>
            <a:endParaRPr lang="en-US" altLang="zh-CN" sz="6000" dirty="0" smtClean="0">
              <a:solidFill>
                <a:srgbClr val="800019"/>
              </a:solidFill>
              <a:latin typeface="腾祥嘉丽大黑繁" panose="01010104010101010101" pitchFamily="2" charset="-122"/>
              <a:ea typeface="腾祥嘉丽大黑繁" panose="01010104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9419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40257" y="1881188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提高收拾动机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34971" y="3360164"/>
            <a:ext cx="80118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减少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物品</a:t>
            </a:r>
            <a:r>
              <a:rPr lang="en-US" altLang="zh-CN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=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只要能彻底的收拾，就根本不需要整理、收纳了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只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集中于一点，把它搞完美，以此提高动机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67" y="2010242"/>
            <a:ext cx="2475894" cy="269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08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87988" y="1941345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一切从扔东西开始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62189" y="3443665"/>
            <a:ext cx="77917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从“怎么看都是垃圾”的东西开始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扔的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时候要说对不起、谢谢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把东西送别人时，要说请收下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747612" y="2048600"/>
            <a:ext cx="2107059" cy="2790130"/>
            <a:chOff x="5485492" y="3543861"/>
            <a:chExt cx="1220108" cy="1615645"/>
          </a:xfrm>
        </p:grpSpPr>
        <p:sp>
          <p:nvSpPr>
            <p:cNvPr id="7" name="任意多边形 6"/>
            <p:cNvSpPr/>
            <p:nvPr/>
          </p:nvSpPr>
          <p:spPr>
            <a:xfrm>
              <a:off x="5820227" y="3543861"/>
              <a:ext cx="551543" cy="374634"/>
            </a:xfrm>
            <a:custGeom>
              <a:avLst/>
              <a:gdLst>
                <a:gd name="connsiteX0" fmla="*/ 101600 w 769257"/>
                <a:gd name="connsiteY0" fmla="*/ 0 h 522515"/>
                <a:gd name="connsiteX1" fmla="*/ 101600 w 769257"/>
                <a:gd name="connsiteY1" fmla="*/ 0 h 522515"/>
                <a:gd name="connsiteX2" fmla="*/ 232228 w 769257"/>
                <a:gd name="connsiteY2" fmla="*/ 72572 h 522515"/>
                <a:gd name="connsiteX3" fmla="*/ 319314 w 769257"/>
                <a:gd name="connsiteY3" fmla="*/ 145143 h 522515"/>
                <a:gd name="connsiteX4" fmla="*/ 362857 w 769257"/>
                <a:gd name="connsiteY4" fmla="*/ 159658 h 522515"/>
                <a:gd name="connsiteX5" fmla="*/ 362857 w 769257"/>
                <a:gd name="connsiteY5" fmla="*/ 188686 h 522515"/>
                <a:gd name="connsiteX6" fmla="*/ 769257 w 769257"/>
                <a:gd name="connsiteY6" fmla="*/ 203200 h 522515"/>
                <a:gd name="connsiteX7" fmla="*/ 653143 w 769257"/>
                <a:gd name="connsiteY7" fmla="*/ 522515 h 522515"/>
                <a:gd name="connsiteX8" fmla="*/ 0 w 769257"/>
                <a:gd name="connsiteY8" fmla="*/ 464458 h 522515"/>
                <a:gd name="connsiteX9" fmla="*/ 101600 w 769257"/>
                <a:gd name="connsiteY9" fmla="*/ 0 h 52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9257" h="522515">
                  <a:moveTo>
                    <a:pt x="101600" y="0"/>
                  </a:moveTo>
                  <a:lnTo>
                    <a:pt x="101600" y="0"/>
                  </a:lnTo>
                  <a:cubicBezTo>
                    <a:pt x="145143" y="24191"/>
                    <a:pt x="190783" y="44942"/>
                    <a:pt x="232228" y="72572"/>
                  </a:cubicBezTo>
                  <a:cubicBezTo>
                    <a:pt x="328530" y="136774"/>
                    <a:pt x="224338" y="97655"/>
                    <a:pt x="319314" y="145143"/>
                  </a:cubicBezTo>
                  <a:cubicBezTo>
                    <a:pt x="332998" y="151985"/>
                    <a:pt x="352039" y="148840"/>
                    <a:pt x="362857" y="159658"/>
                  </a:cubicBezTo>
                  <a:lnTo>
                    <a:pt x="362857" y="188686"/>
                  </a:lnTo>
                  <a:lnTo>
                    <a:pt x="769257" y="203200"/>
                  </a:lnTo>
                  <a:lnTo>
                    <a:pt x="653143" y="522515"/>
                  </a:lnTo>
                  <a:lnTo>
                    <a:pt x="0" y="464458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5492" y="3939398"/>
              <a:ext cx="1220108" cy="12201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8452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57429" y="1881188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大中小三分法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62189" y="3145341"/>
            <a:ext cx="77917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厨房里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的三分法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食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材、烹饪工具、餐具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不断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地重复三分法，可以避免整理物品时所造成的混乱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470" y="2105326"/>
            <a:ext cx="1402202" cy="26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69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03266" y="1881188"/>
            <a:ext cx="71096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七五一总量限制原则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62189" y="3323554"/>
            <a:ext cx="77917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看不见的收纳空间只能放满七成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看得见的收纳空间只能放满五成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给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别人看的收纳空间只能放满一成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47" y="1759598"/>
            <a:ext cx="3151905" cy="31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87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57227" y="2075770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一</a:t>
            </a:r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个动作原则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76703" y="3650885"/>
            <a:ext cx="7791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拿出物品所需要的动作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考一个动作就能完成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336" y="2378090"/>
            <a:ext cx="2350013" cy="235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00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61336" y="1881188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自由、自立、自在法则</a:t>
            </a:r>
            <a:endParaRPr lang="zh-CN" altLang="en-US" sz="54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67963" y="3443665"/>
            <a:ext cx="82963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让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收纳工具里的东西不管任何时候都能立起来，也就是让物品能自立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想拿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什么东西出来，立刻就能拿出来用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850" y="2342853"/>
            <a:ext cx="2408129" cy="229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96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05828" y="1349829"/>
            <a:ext cx="2380342" cy="2380342"/>
            <a:chOff x="4905829" y="1190172"/>
            <a:chExt cx="2380342" cy="238034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905829" y="1190172"/>
              <a:ext cx="2380342" cy="2380342"/>
            </a:xfrm>
            <a:prstGeom prst="roundRect">
              <a:avLst/>
            </a:prstGeom>
            <a:solidFill>
              <a:srgbClr val="8000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20147" y="1449319"/>
              <a:ext cx="172194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04</a:t>
              </a:r>
              <a:endParaRPr lang="zh-CN" altLang="en-US" sz="11500" b="1" dirty="0">
                <a:solidFill>
                  <a:schemeClr val="bg1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" y="423326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rPr>
              <a:t>前所未有的畅快和解放感</a:t>
            </a:r>
            <a:endParaRPr lang="en-US" altLang="zh-CN" sz="6000" dirty="0" smtClean="0">
              <a:solidFill>
                <a:srgbClr val="800019"/>
              </a:solidFill>
              <a:latin typeface="腾祥嘉丽大黑繁" panose="01010104010101010101" pitchFamily="2" charset="-122"/>
              <a:ea typeface="腾祥嘉丽大黑繁" panose="01010104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3298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17780" y="1881188"/>
            <a:ext cx="71096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启动自动整理的机制</a:t>
            </a:r>
            <a:endParaRPr lang="zh-CN" altLang="en-US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9829" y="3592827"/>
            <a:ext cx="8078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身体上的这种自动化系统归为“相”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彻底地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进行断舍离，打造出舒适的生存环境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15" y="2097181"/>
            <a:ext cx="2582914" cy="257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27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17780" y="1881188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利用</a:t>
            </a:r>
            <a:r>
              <a:rPr lang="zh-CN" altLang="en-US" sz="54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物品不断提升自己</a:t>
            </a:r>
            <a:endParaRPr lang="zh-CN" altLang="en-US" sz="54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76703" y="3258999"/>
            <a:ext cx="77917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物品是自身的投影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存留下的物品是自观的途径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试</a:t>
            </a:r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着使用高于自我形象的物品</a:t>
            </a:r>
            <a:endParaRPr lang="en-US" altLang="zh-CN" sz="3200" dirty="0" smtClean="0">
              <a:solidFill>
                <a:schemeClr val="tx1">
                  <a:lumMod val="85000"/>
                  <a:lumOff val="15000"/>
                </a:schemeClr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79" y="2213248"/>
            <a:ext cx="2615411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345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0" y="655935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通过断舍离</a:t>
            </a:r>
            <a:endParaRPr lang="zh-CN" altLang="en-US" sz="66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92279" y="2551784"/>
            <a:ext cx="10274611" cy="2559281"/>
            <a:chOff x="732971" y="2757714"/>
            <a:chExt cx="10274611" cy="2559281"/>
          </a:xfrm>
        </p:grpSpPr>
        <p:grpSp>
          <p:nvGrpSpPr>
            <p:cNvPr id="8" name="组合 7"/>
            <p:cNvGrpSpPr/>
            <p:nvPr/>
          </p:nvGrpSpPr>
          <p:grpSpPr>
            <a:xfrm>
              <a:off x="732971" y="2757714"/>
              <a:ext cx="10274611" cy="2559281"/>
              <a:chOff x="732971" y="2757714"/>
              <a:chExt cx="10274611" cy="2559281"/>
            </a:xfrm>
          </p:grpSpPr>
          <p:sp>
            <p:nvSpPr>
              <p:cNvPr id="5" name="流程图: 联系 4"/>
              <p:cNvSpPr/>
              <p:nvPr/>
            </p:nvSpPr>
            <p:spPr>
              <a:xfrm>
                <a:off x="1387968" y="2757714"/>
                <a:ext cx="2550805" cy="2550805"/>
              </a:xfrm>
              <a:prstGeom prst="flowChartConnector">
                <a:avLst/>
              </a:pr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732971" y="3389868"/>
                <a:ext cx="386080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400" b="1" dirty="0" smtClean="0">
                    <a:solidFill>
                      <a:schemeClr val="bg1"/>
                    </a:solidFill>
                    <a:latin typeface="汉仪家书简" panose="02010609000101010101" pitchFamily="49" charset="-122"/>
                    <a:ea typeface="汉仪家书简" panose="02010609000101010101" pitchFamily="49" charset="-122"/>
                  </a:rPr>
                  <a:t>看得见的</a:t>
                </a:r>
                <a:endParaRPr lang="en-US" altLang="zh-CN" sz="4400" b="1" dirty="0" smtClean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endParaRPr>
              </a:p>
              <a:p>
                <a:pPr algn="ctr"/>
                <a:r>
                  <a:rPr lang="zh-CN" altLang="en-US" sz="4400" b="1" dirty="0" smtClean="0">
                    <a:solidFill>
                      <a:schemeClr val="bg1"/>
                    </a:solidFill>
                    <a:latin typeface="汉仪家书简" panose="02010609000101010101" pitchFamily="49" charset="-122"/>
                    <a:ea typeface="汉仪家书简" panose="02010609000101010101" pitchFamily="49" charset="-122"/>
                  </a:rPr>
                  <a:t>世界</a:t>
                </a:r>
                <a:endParaRPr lang="zh-CN" altLang="en-US" sz="4400" b="1" dirty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endParaRPr>
              </a:p>
            </p:txBody>
          </p:sp>
          <p:sp>
            <p:nvSpPr>
              <p:cNvPr id="16" name="流程图: 联系 15"/>
              <p:cNvSpPr/>
              <p:nvPr/>
            </p:nvSpPr>
            <p:spPr>
              <a:xfrm>
                <a:off x="7801779" y="2766190"/>
                <a:ext cx="2550805" cy="2550805"/>
              </a:xfrm>
              <a:prstGeom prst="flowChartConnector">
                <a:avLst/>
              </a:prstGeom>
              <a:solidFill>
                <a:srgbClr val="8000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7146782" y="3398344"/>
                <a:ext cx="386080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400" b="1" dirty="0" smtClean="0">
                    <a:solidFill>
                      <a:schemeClr val="bg1"/>
                    </a:solidFill>
                    <a:latin typeface="汉仪家书简" panose="02010609000101010101" pitchFamily="49" charset="-122"/>
                    <a:ea typeface="汉仪家书简" panose="02010609000101010101" pitchFamily="49" charset="-122"/>
                  </a:rPr>
                  <a:t>看不见的</a:t>
                </a:r>
                <a:endParaRPr lang="en-US" altLang="zh-CN" sz="4400" b="1" dirty="0" smtClean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endParaRPr>
              </a:p>
              <a:p>
                <a:pPr algn="ctr"/>
                <a:r>
                  <a:rPr lang="zh-CN" altLang="en-US" sz="4400" b="1" dirty="0" smtClean="0">
                    <a:solidFill>
                      <a:schemeClr val="bg1"/>
                    </a:solidFill>
                    <a:latin typeface="汉仪家书简" panose="02010609000101010101" pitchFamily="49" charset="-122"/>
                    <a:ea typeface="汉仪家书简" panose="02010609000101010101" pitchFamily="49" charset="-122"/>
                  </a:rPr>
                  <a:t>世界</a:t>
                </a:r>
                <a:endParaRPr lang="zh-CN" altLang="en-US" sz="4400" b="1" dirty="0">
                  <a:solidFill>
                    <a:schemeClr val="bg1"/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endParaRPr>
              </a:p>
            </p:txBody>
          </p:sp>
        </p:grpSp>
        <p:sp>
          <p:nvSpPr>
            <p:cNvPr id="6" name="右箭头 5"/>
            <p:cNvSpPr/>
            <p:nvPr/>
          </p:nvSpPr>
          <p:spPr>
            <a:xfrm>
              <a:off x="4526602" y="3715657"/>
              <a:ext cx="2670467" cy="661377"/>
            </a:xfrm>
            <a:prstGeom prst="right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282694" y="3227431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家书简" panose="02010609000101010101" pitchFamily="49" charset="-122"/>
                  <a:ea typeface="汉仪家书简" panose="02010609000101010101" pitchFamily="49" charset="-122"/>
                </a:rPr>
                <a:t>走向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542002" y="5629319"/>
            <a:ext cx="1107996" cy="1228681"/>
            <a:chOff x="5416176" y="4706496"/>
            <a:chExt cx="1107996" cy="1228681"/>
          </a:xfrm>
        </p:grpSpPr>
        <p:sp>
          <p:nvSpPr>
            <p:cNvPr id="14" name="文本框 13"/>
            <p:cNvSpPr txBox="1"/>
            <p:nvPr/>
          </p:nvSpPr>
          <p:spPr>
            <a:xfrm rot="5400000">
              <a:off x="5667046" y="4455626"/>
              <a:ext cx="6062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&gt;</a:t>
              </a:r>
              <a:endPara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 rot="5400000">
              <a:off x="5667046" y="5078051"/>
              <a:ext cx="6062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&gt;</a:t>
              </a:r>
              <a:endPara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257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407886" y="2374674"/>
            <a:ext cx="96665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 smtClean="0">
                <a:solidFill>
                  <a:srgbClr val="800019"/>
                </a:solidFill>
                <a:latin typeface="汉仪家书简" panose="02010609000101010101" pitchFamily="49" charset="-122"/>
                <a:ea typeface="汉仪家书简" panose="02010609000101010101" pitchFamily="49" charset="-122"/>
              </a:rPr>
              <a:t>实现对自己的深刻、彻底的了解，并接纳最真实的自己</a:t>
            </a:r>
            <a:endParaRPr lang="en-US" altLang="zh-CN" sz="6000" b="1" dirty="0">
              <a:solidFill>
                <a:srgbClr val="800019"/>
              </a:solidFill>
              <a:latin typeface="汉仪家书简" panose="02010609000101010101" pitchFamily="49" charset="-122"/>
              <a:ea typeface="汉仪家书简" panose="0201060900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rot="5400000">
            <a:off x="5792872" y="-250870"/>
            <a:ext cx="6062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</a:t>
            </a:r>
            <a:endParaRPr lang="zh-CN" alt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42002" y="5629319"/>
            <a:ext cx="1107996" cy="1228681"/>
            <a:chOff x="5416176" y="4706496"/>
            <a:chExt cx="1107996" cy="1228681"/>
          </a:xfrm>
        </p:grpSpPr>
        <p:sp>
          <p:nvSpPr>
            <p:cNvPr id="5" name="文本框 4"/>
            <p:cNvSpPr txBox="1"/>
            <p:nvPr/>
          </p:nvSpPr>
          <p:spPr>
            <a:xfrm rot="5400000">
              <a:off x="5667046" y="4455626"/>
              <a:ext cx="6062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66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r>
                <a:rPr lang="en-US" altLang="zh-CN" dirty="0"/>
                <a:t>&gt;</a:t>
              </a:r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 rot="5400000">
              <a:off x="5667046" y="5078051"/>
              <a:ext cx="6062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66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r>
                <a:rPr lang="en-US" altLang="zh-CN" dirty="0"/>
                <a:t>&gt;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99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0" y="1590046"/>
            <a:ext cx="1219200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 smtClean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rPr>
              <a:t>Let’s</a:t>
            </a:r>
            <a:endParaRPr lang="en-US" altLang="zh-CN" sz="7200" dirty="0">
              <a:solidFill>
                <a:srgbClr val="800019"/>
              </a:solidFill>
              <a:latin typeface="腾祥嘉丽大黑繁" panose="01010104010101010101" pitchFamily="2" charset="-122"/>
              <a:ea typeface="腾祥嘉丽大黑繁" panose="01010104010101010101" pitchFamily="2" charset="-122"/>
            </a:endParaRPr>
          </a:p>
          <a:p>
            <a:pPr algn="ctr"/>
            <a:r>
              <a:rPr lang="zh-CN" altLang="en-US" sz="11500" dirty="0" smtClean="0">
                <a:solidFill>
                  <a:srgbClr val="800019"/>
                </a:solidFill>
                <a:latin typeface="腾祥嘉丽大黑繁" panose="01010104010101010101" pitchFamily="2" charset="-122"/>
                <a:ea typeface="腾祥嘉丽大黑繁" panose="01010104010101010101" pitchFamily="2" charset="-122"/>
              </a:rPr>
              <a:t>断舍离</a:t>
            </a:r>
            <a:endParaRPr lang="zh-CN" altLang="en-US" sz="11500" dirty="0">
              <a:solidFill>
                <a:srgbClr val="800019"/>
              </a:solidFill>
              <a:latin typeface="腾祥嘉丽大黑繁" panose="01010104010101010101" pitchFamily="2" charset="-122"/>
              <a:ea typeface="腾祥嘉丽大黑繁" panose="0101010401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rot="5400000">
            <a:off x="5792872" y="-250870"/>
            <a:ext cx="6062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&gt;</a:t>
            </a:r>
            <a:endParaRPr lang="zh-CN" alt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590964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 DESIGN BY @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2071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9"/>
              </a:spcBef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9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7626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1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098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1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04882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defRPr sz="36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</TotalTime>
  <Words>727</Words>
  <Application>Microsoft Office PowerPoint</Application>
  <PresentationFormat>宽屏</PresentationFormat>
  <Paragraphs>126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方正正黑简体</vt:lpstr>
      <vt:lpstr>方正正中黑简体</vt:lpstr>
      <vt:lpstr>汉仪家书简</vt:lpstr>
      <vt:lpstr>宋体</vt:lpstr>
      <vt:lpstr>腾祥嘉丽大黑繁</vt:lpstr>
      <vt:lpstr>微软雅黑</vt:lpstr>
      <vt:lpstr>Arial</vt:lpstr>
      <vt:lpstr>Calibri</vt:lpstr>
      <vt:lpstr>Calibri Light</vt:lpstr>
      <vt:lpstr>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dellpc</dc:creator>
  <cp:lastModifiedBy>小巴</cp:lastModifiedBy>
  <cp:revision>56</cp:revision>
  <dcterms:created xsi:type="dcterms:W3CDTF">2014-04-14T09:59:38Z</dcterms:created>
  <dcterms:modified xsi:type="dcterms:W3CDTF">2014-05-05T05:23:50Z</dcterms:modified>
</cp:coreProperties>
</file>