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61" r:id="rId5"/>
    <p:sldId id="258" r:id="rId6"/>
    <p:sldId id="272" r:id="rId7"/>
    <p:sldId id="263" r:id="rId8"/>
    <p:sldId id="262" r:id="rId9"/>
    <p:sldId id="268" r:id="rId10"/>
    <p:sldId id="274" r:id="rId11"/>
    <p:sldId id="269" r:id="rId12"/>
    <p:sldId id="270" r:id="rId13"/>
    <p:sldId id="271" r:id="rId14"/>
    <p:sldId id="273" r:id="rId15"/>
    <p:sldId id="264" r:id="rId16"/>
    <p:sldId id="275" r:id="rId17"/>
    <p:sldId id="276" r:id="rId18"/>
  </p:sldIdLst>
  <p:sldSz cx="9144000" cy="6858000" type="screen4x3"/>
  <p:notesSz cx="6858000" cy="9144000"/>
  <p:embeddedFontLst>
    <p:embeddedFont>
      <p:font typeface="微软雅黑" panose="020B0503020204020204" pitchFamily="34" charset="-122"/>
      <p:regular r:id="rId19"/>
      <p:bold r:id="rId20"/>
    </p:embeddedFont>
    <p:embeddedFont>
      <p:font typeface="方正正黑简体" panose="02000000000000000000" pitchFamily="2" charset="-122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方正正中黑简体" panose="02000000000000000000" pitchFamily="2" charset="-122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6001"/>
    <a:srgbClr val="E46C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025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49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00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34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12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21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91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034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499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947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62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4324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2053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554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734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819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4323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3762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069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08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29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1356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071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B5258-6C74-4C5A-B976-7DB840D9F72A}" type="datetimeFigureOut">
              <a:rPr lang="zh-CN" altLang="en-US" smtClean="0"/>
              <a:pPr/>
              <a:t>2014/6/15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89B8-F053-4E30-8DF5-6D0C091861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47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1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20774952">
            <a:off x="-1027572" y="3764603"/>
            <a:ext cx="11494721" cy="4274834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467544" y="1599922"/>
            <a:ext cx="2736304" cy="4133334"/>
            <a:chOff x="899592" y="1527914"/>
            <a:chExt cx="2736304" cy="4133334"/>
          </a:xfrm>
        </p:grpSpPr>
        <p:pic>
          <p:nvPicPr>
            <p:cNvPr id="22" name="图片 21" descr="达尔文05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592" y="1527914"/>
              <a:ext cx="2733334" cy="4133334"/>
            </a:xfrm>
            <a:prstGeom prst="rect">
              <a:avLst/>
            </a:prstGeom>
          </p:spPr>
        </p:pic>
        <p:grpSp>
          <p:nvGrpSpPr>
            <p:cNvPr id="51" name="组合 50"/>
            <p:cNvGrpSpPr/>
            <p:nvPr/>
          </p:nvGrpSpPr>
          <p:grpSpPr>
            <a:xfrm>
              <a:off x="899592" y="3933056"/>
              <a:ext cx="2736304" cy="1728192"/>
              <a:chOff x="899592" y="3933056"/>
              <a:chExt cx="2736304" cy="1728192"/>
            </a:xfrm>
          </p:grpSpPr>
          <p:cxnSp>
            <p:nvCxnSpPr>
              <p:cNvPr id="24" name="直接连接符 23"/>
              <p:cNvCxnSpPr/>
              <p:nvPr/>
            </p:nvCxnSpPr>
            <p:spPr>
              <a:xfrm flipV="1">
                <a:off x="1087041" y="5445224"/>
                <a:ext cx="2548855" cy="21602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flipV="1">
                <a:off x="3616846" y="3933056"/>
                <a:ext cx="19050" cy="1512168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899592" y="5589240"/>
                <a:ext cx="216024" cy="72008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V="1">
                <a:off x="899592" y="4653136"/>
                <a:ext cx="0" cy="93610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0" name="TextBox 49"/>
          <p:cNvSpPr txBox="1"/>
          <p:nvPr/>
        </p:nvSpPr>
        <p:spPr>
          <a:xfrm rot="20741140">
            <a:off x="3141793" y="2874988"/>
            <a:ext cx="5976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一本有趣的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 rot="20779171">
            <a:off x="3149974" y="3328502"/>
            <a:ext cx="6675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>
                    <a:lumMod val="95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关于“进化论”前世今生的书</a:t>
            </a:r>
          </a:p>
          <a:p>
            <a:endParaRPr lang="zh-CN" altLang="en-US" sz="3600" b="1" dirty="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3203848" y="-243408"/>
            <a:ext cx="0" cy="4392488"/>
          </a:xfrm>
          <a:prstGeom prst="line">
            <a:avLst/>
          </a:prstGeom>
          <a:ln w="19050">
            <a:solidFill>
              <a:srgbClr val="E46C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3203848" y="5013176"/>
            <a:ext cx="6768752" cy="50405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 rot="257951">
            <a:off x="-2702289" y="-3234350"/>
            <a:ext cx="12578125" cy="4274834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 rot="21280192">
            <a:off x="1267557" y="5637557"/>
            <a:ext cx="1069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史钧  著</a:t>
            </a:r>
            <a:endParaRPr lang="zh-CN" altLang="en-US" sz="1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 rot="21298392">
            <a:off x="1987942" y="5533685"/>
            <a:ext cx="203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辽宁教育出版社</a:t>
            </a:r>
            <a:endParaRPr lang="zh-CN" altLang="en-US" sz="1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rot="257633">
            <a:off x="3135967" y="878910"/>
            <a:ext cx="6911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比小说 还好看的科普著作</a:t>
            </a:r>
            <a:r>
              <a:rPr lang="en-US" altLang="zh-CN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    </a:t>
            </a:r>
            <a:r>
              <a:rPr lang="zh-CN" altLang="en-US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一口气读完进化论百年纷争史</a:t>
            </a:r>
            <a:endParaRPr lang="zh-CN" altLang="en-US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2123728" y="764704"/>
            <a:ext cx="0" cy="2088232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cxnSp>
        <p:nvCxnSpPr>
          <p:cNvPr id="37" name="直接连接符 36"/>
          <p:cNvCxnSpPr/>
          <p:nvPr/>
        </p:nvCxnSpPr>
        <p:spPr>
          <a:xfrm>
            <a:off x="7452320" y="1052736"/>
            <a:ext cx="0" cy="180020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u=2463273457,3910225731&amp;fm=21&amp;gp=0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6157192" y="3429000"/>
            <a:ext cx="8568952" cy="3829765"/>
          </a:xfrm>
          <a:prstGeom prst="rect">
            <a:avLst/>
          </a:prstGeom>
          <a:solidFill>
            <a:srgbClr val="E46C0A"/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620236" y="2622397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 smtClean="0">
                <a:solidFill>
                  <a:srgbClr val="E46C0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准圆简体" pitchFamily="65" charset="-122"/>
                <a:ea typeface="方正准圆简体" pitchFamily="65" charset="-122"/>
              </a:rPr>
              <a:t>我们从何而来？</a:t>
            </a:r>
            <a:endParaRPr lang="zh-CN" altLang="en-US" sz="7200" b="1" dirty="0">
              <a:solidFill>
                <a:srgbClr val="E46C0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60176" y="332656"/>
            <a:ext cx="1368152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前世</a:t>
            </a:r>
            <a:endParaRPr lang="zh-CN" altLang="en-US" sz="40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 rot="21599686">
            <a:off x="2828056" y="445146"/>
            <a:ext cx="3672408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</a:rPr>
              <a:t>previous existence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580526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59832" y="4293096"/>
            <a:ext cx="3528392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你们是我的孩子</a:t>
            </a:r>
            <a:endParaRPr lang="zh-CN" altLang="en-US" sz="3200" b="1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pic>
        <p:nvPicPr>
          <p:cNvPr id="16" name="图片 15" descr="20130626100325-104096450.jp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199012" y="864473"/>
            <a:ext cx="2618823" cy="33341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7" name="直接连接符 16"/>
          <p:cNvCxnSpPr/>
          <p:nvPr/>
        </p:nvCxnSpPr>
        <p:spPr>
          <a:xfrm flipV="1">
            <a:off x="5940152" y="4941168"/>
            <a:ext cx="0" cy="107141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3131840" y="4941168"/>
            <a:ext cx="2808312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10620672" y="4941168"/>
            <a:ext cx="25219" cy="1382779"/>
          </a:xfrm>
          <a:prstGeom prst="line">
            <a:avLst/>
          </a:prstGeom>
          <a:ln w="254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0152" y="4869160"/>
            <a:ext cx="4032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《自然神学》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的</a:t>
            </a:r>
            <a:r>
              <a:rPr lang="zh-CN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钟表匠理论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  <a:r>
              <a:rPr lang="zh-CN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设计论</a:t>
            </a:r>
          </a:p>
          <a:p>
            <a:pPr>
              <a:buFont typeface="Wingdings" pitchFamily="2" charset="2"/>
              <a:buChar char="l"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  <a:r>
              <a:rPr lang="zh-CN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目的论</a:t>
            </a: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32040" y="515719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圣经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zh-CN" altLang="en-US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pic>
        <p:nvPicPr>
          <p:cNvPr id="1026" name="Picture 2" descr="拉马克"/>
          <p:cNvPicPr>
            <a:picLocks noChangeAspect="1" noChangeArrowheads="1"/>
          </p:cNvPicPr>
          <p:nvPr/>
        </p:nvPicPr>
        <p:blipFill>
          <a:blip r:embed="rId2" cstate="print"/>
          <a:srcRect l="6061" t="2596" r="6061" b="16936"/>
          <a:stretch>
            <a:fillRect/>
          </a:stretch>
        </p:blipFill>
        <p:spPr bwMode="auto">
          <a:xfrm>
            <a:off x="1043608" y="1700808"/>
            <a:ext cx="2088232" cy="22322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83568" y="4221088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让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-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巴蒂斯特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·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拉马克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（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1744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－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1829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）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法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国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博物学家</a:t>
            </a:r>
            <a:endParaRPr lang="zh-CN" altLang="en-US" sz="1600" dirty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131840" y="4221088"/>
            <a:ext cx="0" cy="194421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043608" y="5157192"/>
            <a:ext cx="8100392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2586" y="385002"/>
            <a:ext cx="3240360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拉马克主义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2415" y="476672"/>
            <a:ext cx="2376264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ea typeface="方正准圆简体" pitchFamily="65" charset="-122"/>
              </a:rPr>
              <a:t>Lamarckism</a:t>
            </a:r>
            <a:endParaRPr lang="zh-CN" altLang="en-US" sz="2400" dirty="0">
              <a:solidFill>
                <a:schemeClr val="bg1"/>
              </a:solidFill>
              <a:ea typeface="方正准圆简体" pitchFamily="65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59632" y="5229200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代表作：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3648" y="5517232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《动物学哲学》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47864" y="3212976"/>
            <a:ext cx="4032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用进废退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获得性遗传</a:t>
            </a:r>
            <a:r>
              <a:rPr lang="en-US" altLang="zh-CN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</a:p>
          <a:p>
            <a:endParaRPr lang="zh-CN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zh-CN" altLang="en-US" sz="2400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47864" y="4172887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长颈鹿的长脖子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深海鱼类的眼睛退化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驼鸟的胼胝质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en-US" altLang="zh-CN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                    </a:t>
            </a:r>
            <a:endParaRPr lang="zh-CN" altLang="en-US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47864" y="5241974"/>
            <a:ext cx="5652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打倒拉马克主义：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切了二十多代的老鼠尾巴，它还是会长出来。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处女膜一代一代顶破，但女人们仍然保留着它。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80526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57384" y="5868561"/>
            <a:ext cx="3240360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达尔文主义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14494" y="5981075"/>
            <a:ext cx="2376264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 darwinism</a:t>
            </a:r>
            <a:endParaRPr lang="zh-CN" altLang="en-US" sz="2400" dirty="0">
              <a:solidFill>
                <a:schemeClr val="bg1"/>
              </a:solidFill>
              <a:ea typeface="方正准圆简体" pitchFamily="65" charset="-122"/>
            </a:endParaRPr>
          </a:p>
        </p:txBody>
      </p:sp>
      <p:pic>
        <p:nvPicPr>
          <p:cNvPr id="7" name="图片 6" descr="1_200902131109401bg7q.jpg"/>
          <p:cNvPicPr>
            <a:picLocks noChangeAspect="1"/>
          </p:cNvPicPr>
          <p:nvPr/>
        </p:nvPicPr>
        <p:blipFill>
          <a:blip r:embed="rId2" cstate="print">
            <a:grayscl/>
          </a:blip>
          <a:stretch>
            <a:fillRect/>
          </a:stretch>
        </p:blipFill>
        <p:spPr>
          <a:xfrm flipH="1">
            <a:off x="5868144" y="548680"/>
            <a:ext cx="2124589" cy="27363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>
            <a:off x="5796136" y="3645024"/>
            <a:ext cx="0" cy="158417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0" y="4509120"/>
            <a:ext cx="8100392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68144" y="3606115"/>
            <a:ext cx="295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查尔斯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·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罗伯特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· 达尔文</a:t>
            </a:r>
          </a:p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（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1809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－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1882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）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英国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生物学家</a:t>
            </a:r>
            <a:endParaRPr lang="zh-CN" altLang="en-US" sz="1600" dirty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68144" y="4572417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代表作：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6136" y="4860449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物种起源</a:t>
            </a:r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19672" y="2579420"/>
            <a:ext cx="4032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物竞天择 ◆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适者生存 ◆</a:t>
            </a:r>
            <a:r>
              <a:rPr lang="en-US" altLang="zh-CN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</a:p>
          <a:p>
            <a:pPr algn="r"/>
            <a:endParaRPr lang="zh-CN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endParaRPr lang="zh-CN" altLang="en-US" sz="2400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3568" y="3646765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物种是不断地慢慢地变化适应环境 </a:t>
            </a:r>
            <a:r>
              <a:rPr lang="en-US" altLang="zh-CN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</a:p>
          <a:p>
            <a:pPr algn="r"/>
            <a:r>
              <a:rPr lang="zh-CN" altLang="en-US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自然对物种作出选择，适者生存</a:t>
            </a:r>
            <a:r>
              <a:rPr lang="en-US" altLang="zh-CN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◆</a:t>
            </a:r>
            <a:endParaRPr lang="zh-CN" altLang="en-US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-332928" y="4654877"/>
            <a:ext cx="591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感谢华莱士，是你让我产生紧迫感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</a:p>
          <a:p>
            <a:pPr algn="r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感谢罗伊船长，和你的聊天是我灵感的源泉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  <a:endParaRPr lang="zh-CN" altLang="en-US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pic>
        <p:nvPicPr>
          <p:cNvPr id="3" name="图片 2" descr="斯宾塞.jpg"/>
          <p:cNvPicPr>
            <a:picLocks noChangeAspect="1"/>
          </p:cNvPicPr>
          <p:nvPr/>
        </p:nvPicPr>
        <p:blipFill>
          <a:blip r:embed="rId3" cstate="print"/>
          <a:srcRect t="5551" b="12161"/>
          <a:stretch>
            <a:fillRect/>
          </a:stretch>
        </p:blipFill>
        <p:spPr>
          <a:xfrm>
            <a:off x="-3348880" y="2564904"/>
            <a:ext cx="2319686" cy="2952328"/>
          </a:xfrm>
          <a:prstGeom prst="rect">
            <a:avLst/>
          </a:prstGeom>
        </p:spPr>
      </p:pic>
      <p:pic>
        <p:nvPicPr>
          <p:cNvPr id="4" name="图片 3" descr="斯宾塞01.jpg"/>
          <p:cNvPicPr>
            <a:picLocks noChangeAspect="1"/>
          </p:cNvPicPr>
          <p:nvPr/>
        </p:nvPicPr>
        <p:blipFill>
          <a:blip r:embed="rId4" cstate="print"/>
          <a:srcRect t="7649" b="8470"/>
          <a:stretch>
            <a:fillRect/>
          </a:stretch>
        </p:blipFill>
        <p:spPr>
          <a:xfrm flipH="1">
            <a:off x="1187624" y="1877754"/>
            <a:ext cx="2033360" cy="2343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05862" y="404664"/>
            <a:ext cx="3240360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社会达尔文主义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 rot="2459">
            <a:off x="3436941" y="518213"/>
            <a:ext cx="2376264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social Darwinism</a:t>
            </a:r>
            <a:endParaRPr lang="zh-CN" altLang="en-US" sz="2400" dirty="0">
              <a:solidFill>
                <a:schemeClr val="bg1"/>
              </a:solidFill>
              <a:ea typeface="方正准圆简体" pitchFamily="65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5576" y="4509120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赫伯特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·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斯宾塞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（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1820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－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1903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）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英国社会学家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203848" y="4509120"/>
            <a:ext cx="0" cy="194421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115616" y="5445224"/>
            <a:ext cx="8100392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31640" y="551723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代表作：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5656" y="5805264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社会学原理</a:t>
            </a:r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心理学原理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19872" y="3515524"/>
            <a:ext cx="5184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战争不可避免，阶级划分合理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优秀人种胜出，劣等人种淘汰</a:t>
            </a:r>
            <a:r>
              <a:rPr lang="en-US" altLang="zh-CN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</a:p>
          <a:p>
            <a:endParaRPr lang="zh-CN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zh-CN" altLang="en-US" sz="2400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19872" y="5733256"/>
            <a:ext cx="5652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其实，我很冤枉，我是说人类在竞争中进步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我是一个非常有同情心和怜悯心的人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endParaRPr lang="zh-CN" altLang="en-US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19872" y="4388911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穷人就是不适者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大自然通过财富洗牌更新人类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淘汰虽然悲伤，但却很重要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en-US" altLang="zh-CN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                    </a:t>
            </a:r>
            <a:endParaRPr lang="zh-CN" altLang="en-US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580526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pic>
        <p:nvPicPr>
          <p:cNvPr id="4" name="图片 3" descr="高尔顿.png"/>
          <p:cNvPicPr>
            <a:picLocks noChangeAspect="1"/>
          </p:cNvPicPr>
          <p:nvPr/>
        </p:nvPicPr>
        <p:blipFill>
          <a:blip r:embed="rId2" cstate="print">
            <a:grayscl/>
          </a:blip>
          <a:stretch>
            <a:fillRect/>
          </a:stretch>
        </p:blipFill>
        <p:spPr>
          <a:xfrm>
            <a:off x="6084168" y="620688"/>
            <a:ext cx="2088232" cy="28224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直接连接符 9"/>
          <p:cNvCxnSpPr/>
          <p:nvPr/>
        </p:nvCxnSpPr>
        <p:spPr>
          <a:xfrm>
            <a:off x="6012160" y="3789040"/>
            <a:ext cx="0" cy="158417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0" y="4653136"/>
            <a:ext cx="8316416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84168" y="3750131"/>
            <a:ext cx="295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法兰西斯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·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高尔顿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（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1822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－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1911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）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英国人类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学家</a:t>
            </a:r>
            <a:endParaRPr lang="zh-CN" altLang="en-US" sz="1600" dirty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84168" y="4716433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代表作：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12160" y="5004465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遗传的天才</a:t>
            </a:r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7440" y="5949280"/>
            <a:ext cx="2376264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ea typeface="方正准圆简体" pitchFamily="65" charset="-122"/>
              </a:rPr>
              <a:t>Lamarckism</a:t>
            </a:r>
            <a:endParaRPr lang="zh-CN" altLang="en-US" sz="2400" dirty="0">
              <a:solidFill>
                <a:schemeClr val="bg1"/>
              </a:solidFill>
              <a:ea typeface="方正准圆简体" pitchFamily="65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 rot="8139">
            <a:off x="4624200" y="5866521"/>
            <a:ext cx="1723321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优生学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07704" y="2780928"/>
            <a:ext cx="4032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智力是可以遗传的 ◆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智商是有高低的 ◆</a:t>
            </a:r>
            <a:r>
              <a:rPr lang="en-US" altLang="zh-CN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</a:p>
          <a:p>
            <a:pPr algn="r"/>
            <a:endParaRPr lang="zh-CN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endParaRPr lang="zh-CN" altLang="en-US" sz="2400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1600" y="3718773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成功的人应该多生孩子 </a:t>
            </a:r>
            <a:r>
              <a:rPr lang="en-US" altLang="zh-CN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</a:p>
          <a:p>
            <a:pPr algn="r"/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穷人就应该少生或者不生孩子</a:t>
            </a:r>
            <a:r>
              <a:rPr lang="en-US" altLang="zh-CN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◆</a:t>
            </a:r>
            <a:endParaRPr lang="zh-CN" altLang="en-US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-44896" y="4726885"/>
            <a:ext cx="591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达尔文是我表哥滴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</a:p>
          <a:p>
            <a:pPr algn="r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种族歧视是不对的，优生是对的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  <a:endParaRPr lang="zh-CN" altLang="en-US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pic>
        <p:nvPicPr>
          <p:cNvPr id="9" name="图片 8" descr="92611259080762031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2483768" y="2132856"/>
            <a:ext cx="4948845" cy="4032448"/>
          </a:xfrm>
          <a:prstGeom prst="rect">
            <a:avLst/>
          </a:prstGeom>
        </p:spPr>
      </p:pic>
      <p:cxnSp>
        <p:nvCxnSpPr>
          <p:cNvPr id="37" name="直接连接符 36"/>
          <p:cNvCxnSpPr/>
          <p:nvPr/>
        </p:nvCxnSpPr>
        <p:spPr>
          <a:xfrm>
            <a:off x="7452320" y="1052736"/>
            <a:ext cx="0" cy="180020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123728" y="764704"/>
            <a:ext cx="0" cy="2088232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620236" y="2622397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 smtClean="0">
                <a:solidFill>
                  <a:srgbClr val="E46C0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准圆简体" pitchFamily="65" charset="-122"/>
                <a:ea typeface="方正准圆简体" pitchFamily="65" charset="-122"/>
              </a:rPr>
              <a:t>我们只是皮囊？</a:t>
            </a:r>
            <a:endParaRPr lang="zh-CN" altLang="en-US" sz="7200" b="1" dirty="0">
              <a:solidFill>
                <a:srgbClr val="E46C0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60176" y="325350"/>
            <a:ext cx="1368152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今生</a:t>
            </a:r>
            <a:endParaRPr lang="zh-CN" altLang="en-US" sz="40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 rot="21599686">
            <a:off x="2828056" y="529348"/>
            <a:ext cx="3672408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</a:rPr>
              <a:t>this life</a:t>
            </a:r>
            <a:endParaRPr lang="en-US" altLang="zh-CN" sz="28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4221088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孟德尔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（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1822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－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1884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）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奥地利遗传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学家</a:t>
            </a:r>
            <a:endParaRPr lang="zh-CN" altLang="en-US" sz="1600" dirty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31840" y="4221088"/>
            <a:ext cx="0" cy="194421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1043608" y="5157192"/>
            <a:ext cx="8100392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9632" y="5229200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代表作：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9632" y="5517232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植物杂交实验</a:t>
            </a:r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7864" y="3212976"/>
            <a:ext cx="4032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分离规律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自由组合规律</a:t>
            </a:r>
            <a:r>
              <a:rPr lang="en-US" altLang="zh-CN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</a:p>
          <a:p>
            <a:endParaRPr lang="zh-CN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zh-CN" altLang="en-US" sz="2400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47864" y="5241974"/>
            <a:ext cx="5652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近亲是不能结婚的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老达日月辉映的时候，不搭理我这个毛头小伙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 是金子总会发光的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2626" y="467961"/>
            <a:ext cx="3240360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遗传定律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67952" y="548680"/>
            <a:ext cx="3712506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law of inheritance</a:t>
            </a:r>
            <a:endParaRPr lang="zh-CN" altLang="en-US" sz="2400" dirty="0">
              <a:solidFill>
                <a:schemeClr val="bg1"/>
              </a:solidFill>
              <a:ea typeface="方正准圆简体" pitchFamily="65" charset="-122"/>
            </a:endParaRPr>
          </a:p>
        </p:txBody>
      </p:sp>
      <p:pic>
        <p:nvPicPr>
          <p:cNvPr id="14" name="图片 13" descr="孟德尔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3608" y="1412776"/>
            <a:ext cx="2088232" cy="24496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3347864" y="4244895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遗传因子假说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豌豆实验</a:t>
            </a: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>
              <a:buFont typeface="Wingdings" pitchFamily="2" charset="2"/>
              <a:buChar char="l"/>
            </a:pPr>
            <a:endParaRPr lang="en-US" altLang="zh-CN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en-US" altLang="zh-CN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                    </a:t>
            </a:r>
            <a:endParaRPr lang="zh-CN" altLang="en-US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580526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24391" y="5868561"/>
            <a:ext cx="1706224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种质论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 rot="21569315">
            <a:off x="5882756" y="5975740"/>
            <a:ext cx="3571509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germplasm theory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796136" y="3645024"/>
            <a:ext cx="0" cy="158417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0" y="4509120"/>
            <a:ext cx="8100392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68144" y="3606115"/>
            <a:ext cx="295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奥古斯特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·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魏斯曼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（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1834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－</a:t>
            </a:r>
            <a:r>
              <a:rPr lang="en-US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1914</a:t>
            </a:r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）</a:t>
            </a:r>
            <a:endParaRPr lang="en-US" altLang="zh-CN" sz="1600" dirty="0" smtClean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r>
              <a:rPr lang="zh-CN" altLang="en-US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 德国</a:t>
            </a:r>
            <a:r>
              <a:rPr lang="zh-CN" altLang="zh-CN" sz="1600" dirty="0" smtClean="0">
                <a:solidFill>
                  <a:srgbClr val="EB6001"/>
                </a:solidFill>
                <a:latin typeface="方正准圆简体" pitchFamily="65" charset="-122"/>
                <a:ea typeface="方正准圆简体" pitchFamily="65" charset="-122"/>
              </a:rPr>
              <a:t>生物学家</a:t>
            </a:r>
            <a:endParaRPr lang="zh-CN" altLang="en-US" sz="1600" dirty="0">
              <a:solidFill>
                <a:srgbClr val="EB600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68144" y="4572417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代表作：</a:t>
            </a:r>
            <a:endParaRPr lang="en-US" altLang="zh-CN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6136" y="4860449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《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进化论研究</a:t>
            </a:r>
            <a:r>
              <a:rPr lang="zh-CN" altLang="zh-CN" sz="1600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》</a:t>
            </a:r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  <a:p>
            <a:endParaRPr lang="zh-CN" altLang="en-US" sz="1600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pic>
        <p:nvPicPr>
          <p:cNvPr id="12" name="图片 11" descr="魏斯曼.jpg"/>
          <p:cNvPicPr>
            <a:picLocks noChangeAspect="1"/>
          </p:cNvPicPr>
          <p:nvPr/>
        </p:nvPicPr>
        <p:blipFill>
          <a:blip r:embed="rId2" cstate="print">
            <a:grayscl/>
          </a:blip>
          <a:srcRect b="11560"/>
          <a:stretch>
            <a:fillRect/>
          </a:stretch>
        </p:blipFill>
        <p:spPr>
          <a:xfrm>
            <a:off x="5868144" y="548680"/>
            <a:ext cx="2134033" cy="27978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619672" y="2579420"/>
            <a:ext cx="4032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种质和体质◆</a:t>
            </a:r>
            <a:endParaRPr lang="en-US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r>
              <a:rPr lang="zh-CN" altLang="en-US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遗传的是种质 ◆</a:t>
            </a:r>
            <a:r>
              <a:rPr lang="en-US" altLang="zh-CN" sz="2400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 </a:t>
            </a:r>
          </a:p>
          <a:p>
            <a:pPr algn="r"/>
            <a:endParaRPr lang="zh-CN" altLang="zh-CN" sz="2400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  <a:p>
            <a:pPr algn="r"/>
            <a:endParaRPr lang="zh-CN" altLang="en-US" sz="2400" dirty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568" y="3646765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种质是连续且生生不息的 </a:t>
            </a:r>
            <a:r>
              <a:rPr lang="en-US" altLang="zh-CN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</a:p>
          <a:p>
            <a:pPr algn="r"/>
            <a:r>
              <a:rPr lang="zh-CN" altLang="en-US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体质会消亡</a:t>
            </a:r>
            <a:r>
              <a:rPr lang="en-US" altLang="zh-CN" dirty="0" smtClean="0">
                <a:solidFill>
                  <a:srgbClr val="E46C0A"/>
                </a:solidFill>
                <a:latin typeface="方正准圆简体" pitchFamily="65" charset="-122"/>
                <a:ea typeface="方正准圆简体" pitchFamily="65" charset="-122"/>
              </a:rPr>
              <a:t> ◆</a:t>
            </a:r>
            <a:endParaRPr lang="zh-CN" altLang="en-US" dirty="0" smtClean="0">
              <a:solidFill>
                <a:srgbClr val="E46C0A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332928" y="4654877"/>
            <a:ext cx="591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拉马克就是瞎说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</a:p>
          <a:p>
            <a:pPr algn="r"/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达尔文是我的偶像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方正准圆简体" pitchFamily="65" charset="-122"/>
                <a:ea typeface="方正准圆简体" pitchFamily="65" charset="-122"/>
              </a:rPr>
              <a:t>◆</a:t>
            </a:r>
            <a:endParaRPr lang="zh-CN" altLang="en-US" dirty="0" smtClean="0">
              <a:solidFill>
                <a:schemeClr val="bg1">
                  <a:lumMod val="50000"/>
                </a:schemeClr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pic>
        <p:nvPicPr>
          <p:cNvPr id="17" name="图片 16" descr="index_clip_image014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67744" y="1484784"/>
            <a:ext cx="4304134" cy="4838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19962875">
            <a:off x="2042146" y="4030011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群体选择理论</a:t>
            </a:r>
            <a:endParaRPr lang="zh-CN" altLang="en-US" sz="1400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 rot="19783861">
            <a:off x="5123343" y="182315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个体选择理论</a:t>
            </a:r>
            <a:endParaRPr lang="zh-CN" altLang="en-US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 rot="1185526">
            <a:off x="2415604" y="1969205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基因选择理论</a:t>
            </a:r>
            <a:endParaRPr lang="zh-CN" altLang="en-US" sz="2400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 rot="1930770">
            <a:off x="5797193" y="4444246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分子进化</a:t>
            </a:r>
            <a:endParaRPr lang="zh-CN" altLang="en-US" sz="2800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 rot="19690631">
            <a:off x="3651724" y="4322995"/>
            <a:ext cx="2012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中性选择理论</a:t>
            </a:r>
            <a:endParaRPr lang="zh-CN" altLang="en-US" sz="2400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2924944"/>
            <a:ext cx="3684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综合进化论</a:t>
            </a:r>
            <a:endParaRPr lang="zh-CN" altLang="en-US" sz="4800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5688" y="2996952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EB600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方正准圆简体" pitchFamily="65" charset="-122"/>
                <a:ea typeface="方正准圆简体" pitchFamily="65" charset="-122"/>
              </a:rPr>
              <a:t>社会生物学</a:t>
            </a:r>
            <a:endParaRPr lang="zh-CN" altLang="en-US" sz="2000" dirty="0">
              <a:solidFill>
                <a:srgbClr val="EB600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868" y="404664"/>
            <a:ext cx="3240360" cy="58477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我们是谁？</a:t>
            </a:r>
            <a:endParaRPr lang="zh-CN" altLang="en-US" sz="32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 rot="2459">
            <a:off x="2987659" y="518213"/>
            <a:ext cx="2376264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who we are</a:t>
            </a:r>
            <a:endParaRPr lang="zh-CN" altLang="en-US" sz="2400" dirty="0">
              <a:solidFill>
                <a:schemeClr val="bg1"/>
              </a:solidFill>
              <a:ea typeface="方正准圆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接连接符 36"/>
          <p:cNvCxnSpPr/>
          <p:nvPr/>
        </p:nvCxnSpPr>
        <p:spPr>
          <a:xfrm>
            <a:off x="7452320" y="980728"/>
            <a:ext cx="0" cy="1872208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123728" y="764704"/>
            <a:ext cx="0" cy="2088232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 descr="u=2463273457,3910225731&amp;fm=21&amp;gp=0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76256" y="3429000"/>
            <a:ext cx="8568952" cy="3829765"/>
          </a:xfrm>
          <a:prstGeom prst="rect">
            <a:avLst/>
          </a:prstGeom>
          <a:solidFill>
            <a:srgbClr val="E46C0A"/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620236" y="2622397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 smtClean="0">
                <a:solidFill>
                  <a:srgbClr val="E46C0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准圆简体" pitchFamily="65" charset="-122"/>
                <a:ea typeface="方正准圆简体" pitchFamily="65" charset="-122"/>
              </a:rPr>
              <a:t>我们去向何处？</a:t>
            </a:r>
            <a:endParaRPr lang="zh-CN" altLang="en-US" sz="7200" b="1" dirty="0">
              <a:solidFill>
                <a:srgbClr val="E46C0A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 rot="298204">
            <a:off x="1660176" y="214907"/>
            <a:ext cx="1368152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方正准圆简体" pitchFamily="65" charset="-122"/>
                <a:ea typeface="方正准圆简体" pitchFamily="65" charset="-122"/>
              </a:rPr>
              <a:t>未来</a:t>
            </a:r>
            <a:endParaRPr lang="zh-CN" altLang="en-US" sz="4000" dirty="0">
              <a:solidFill>
                <a:schemeClr val="bg1"/>
              </a:solidFill>
              <a:latin typeface="方正准圆简体" pitchFamily="65" charset="-122"/>
              <a:ea typeface="方正准圆简体" pitchFamily="65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 rot="297890">
            <a:off x="2831933" y="498189"/>
            <a:ext cx="1605964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</a:rPr>
              <a:t>Future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2627784" y="3140968"/>
            <a:ext cx="0" cy="1944216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115616" y="4077072"/>
            <a:ext cx="8028384" cy="0"/>
          </a:xfrm>
          <a:prstGeom prst="line">
            <a:avLst/>
          </a:prstGeom>
          <a:ln w="25400">
            <a:solidFill>
              <a:srgbClr val="E46C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59632" y="335873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作者简介：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1800" y="3286725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史钧，男，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1970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年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10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月出生，安徽滁州人。博士，安徽科技学院生物学副教授。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1640" y="429309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PPT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制作：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1800" y="429309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@wm_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知易行难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580526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rgbClr val="EB6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                                                                             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1305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400" kern="0" dirty="0">
                  <a:solidFill>
                    <a:prstClr val="black"/>
                  </a:solidFill>
                </a:rPr>
              </a:br>
              <a:endParaRPr lang="en-US" altLang="zh-CN" sz="140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69020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技巧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1298</TotalTime>
  <Words>763</Words>
  <Application>Microsoft Office PowerPoint</Application>
  <PresentationFormat>全屏显示(4:3)</PresentationFormat>
  <Paragraphs>160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微软雅黑</vt:lpstr>
      <vt:lpstr>方正正黑简体</vt:lpstr>
      <vt:lpstr>宋体</vt:lpstr>
      <vt:lpstr>Calibri</vt:lpstr>
      <vt:lpstr>Wingdings</vt:lpstr>
      <vt:lpstr>方正准圆简体</vt:lpstr>
      <vt:lpstr>造字工房悦黑体验版常规体</vt:lpstr>
      <vt:lpstr>Arial</vt:lpstr>
      <vt:lpstr>方正正中黑简体</vt:lpstr>
      <vt:lpstr>Office 主题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wm</dc:creator>
  <cp:lastModifiedBy>小巴</cp:lastModifiedBy>
  <cp:revision>111</cp:revision>
  <dcterms:created xsi:type="dcterms:W3CDTF">2014-05-26T13:46:26Z</dcterms:created>
  <dcterms:modified xsi:type="dcterms:W3CDTF">2014-06-15T06:43:52Z</dcterms:modified>
</cp:coreProperties>
</file>