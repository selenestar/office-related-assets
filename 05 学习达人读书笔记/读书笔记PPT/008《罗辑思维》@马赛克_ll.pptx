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sldIdLst>
    <p:sldId id="256" r:id="rId4"/>
    <p:sldId id="257" r:id="rId5"/>
    <p:sldId id="259" r:id="rId6"/>
    <p:sldId id="260" r:id="rId7"/>
    <p:sldId id="267" r:id="rId8"/>
    <p:sldId id="265" r:id="rId9"/>
    <p:sldId id="264" r:id="rId10"/>
    <p:sldId id="262" r:id="rId11"/>
    <p:sldId id="266" r:id="rId12"/>
    <p:sldId id="263" r:id="rId13"/>
    <p:sldId id="271" r:id="rId14"/>
    <p:sldId id="274" r:id="rId15"/>
    <p:sldId id="273" r:id="rId16"/>
    <p:sldId id="258" r:id="rId17"/>
    <p:sldId id="275" r:id="rId18"/>
    <p:sldId id="277" r:id="rId19"/>
    <p:sldId id="27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911">
          <p15:clr>
            <a:srgbClr val="A4A3A4"/>
          </p15:clr>
        </p15:guide>
        <p15:guide id="3" pos="3840">
          <p15:clr>
            <a:srgbClr val="A4A3A4"/>
          </p15:clr>
        </p15:guide>
        <p15:guide id="4" pos="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5554"/>
    <a:srgbClr val="DF3D3D"/>
    <a:srgbClr val="3D4041"/>
    <a:srgbClr val="16181A"/>
    <a:srgbClr val="1A2225"/>
    <a:srgbClr val="434448"/>
    <a:srgbClr val="756455"/>
    <a:srgbClr val="E25453"/>
    <a:srgbClr val="136DA9"/>
    <a:srgbClr val="1371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>
        <p:guide orient="horz" pos="2160"/>
        <p:guide orient="horz" pos="1911"/>
        <p:guide pos="3840"/>
        <p:guide pos="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254A-282B-4A67-A637-F9DBAA55D8AE}" type="datetimeFigureOut">
              <a:rPr lang="zh-CN" altLang="en-US" smtClean="0"/>
              <a:t>2014/2/6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6951-9047-4CA5-8A20-867F86C0F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066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254A-282B-4A67-A637-F9DBAA55D8AE}" type="datetimeFigureOut">
              <a:rPr lang="zh-CN" altLang="en-US" smtClean="0"/>
              <a:t>2014/2/6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6951-9047-4CA5-8A20-867F86C0F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59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254A-282B-4A67-A637-F9DBAA55D8AE}" type="datetimeFigureOut">
              <a:rPr lang="zh-CN" altLang="en-US" smtClean="0"/>
              <a:t>2014/2/6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6951-9047-4CA5-8A20-867F86C0F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086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254A-282B-4A67-A637-F9DBAA55D8AE}" type="datetimeFigureOut">
              <a:rPr lang="zh-CN" altLang="en-US" smtClean="0"/>
              <a:t>2014/2/6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6951-9047-4CA5-8A20-867F86C0F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8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254A-282B-4A67-A637-F9DBAA55D8AE}" type="datetimeFigureOut">
              <a:rPr lang="zh-CN" altLang="en-US" smtClean="0"/>
              <a:t>2014/2/6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6951-9047-4CA5-8A20-867F86C0F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95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254A-282B-4A67-A637-F9DBAA55D8AE}" type="datetimeFigureOut">
              <a:rPr lang="zh-CN" altLang="en-US" smtClean="0"/>
              <a:t>2014/2/6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6951-9047-4CA5-8A20-867F86C0F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934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254A-282B-4A67-A637-F9DBAA55D8AE}" type="datetimeFigureOut">
              <a:rPr lang="zh-CN" altLang="en-US" smtClean="0"/>
              <a:t>2014/2/6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6951-9047-4CA5-8A20-867F86C0F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148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254A-282B-4A67-A637-F9DBAA55D8AE}" type="datetimeFigureOut">
              <a:rPr lang="zh-CN" altLang="en-US" smtClean="0"/>
              <a:t>2014/2/6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6951-9047-4CA5-8A20-867F86C0F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00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254A-282B-4A67-A637-F9DBAA55D8AE}" type="datetimeFigureOut">
              <a:rPr lang="zh-CN" altLang="en-US" smtClean="0"/>
              <a:t>2014/2/6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6951-9047-4CA5-8A20-867F86C0F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13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254A-282B-4A67-A637-F9DBAA55D8AE}" type="datetimeFigureOut">
              <a:rPr lang="zh-CN" altLang="en-US" smtClean="0"/>
              <a:t>2014/2/6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6951-9047-4CA5-8A20-867F86C0F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977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254A-282B-4A67-A637-F9DBAA55D8AE}" type="datetimeFigureOut">
              <a:rPr lang="zh-CN" altLang="en-US" smtClean="0"/>
              <a:t>2014/2/6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36951-9047-4CA5-8A20-867F86C0F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535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988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980728"/>
            <a:ext cx="109728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2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545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862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3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114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227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4164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261" y="-51325"/>
            <a:ext cx="12186739" cy="706828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1193135" y="585521"/>
            <a:ext cx="624069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5261" y="26340"/>
            <a:ext cx="144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06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8083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6745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0751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5274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8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4232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1371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6444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8576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3312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0462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385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223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2132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142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5254A-282B-4A67-A637-F9DBAA55D8AE}" type="datetimeFigureOut">
              <a:rPr lang="zh-CN" altLang="en-US" smtClean="0"/>
              <a:t>2014/2/6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36951-9047-4CA5-8A20-867F86C0F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872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11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822960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610" indent="-308610" algn="l" defTabSz="822960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656" indent="-257176" algn="l" defTabSz="822960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06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822960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610" indent="-308610" algn="l" defTabSz="822960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656" indent="-257176" algn="l" defTabSz="822960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464232" y="393885"/>
            <a:ext cx="11296357" cy="6133514"/>
          </a:xfrm>
          <a:prstGeom prst="roundRect">
            <a:avLst>
              <a:gd name="adj" fmla="val 4934"/>
            </a:avLst>
          </a:prstGeom>
          <a:solidFill>
            <a:schemeClr val="bg1">
              <a:alpha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158" y="1288071"/>
            <a:ext cx="3100977" cy="4333208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4" name="组合 3"/>
          <p:cNvGrpSpPr/>
          <p:nvPr/>
        </p:nvGrpSpPr>
        <p:grpSpPr>
          <a:xfrm>
            <a:off x="5626715" y="1795712"/>
            <a:ext cx="5338692" cy="3317925"/>
            <a:chOff x="8690441" y="-160514"/>
            <a:chExt cx="3747496" cy="3232511"/>
          </a:xfrm>
        </p:grpSpPr>
        <p:sp>
          <p:nvSpPr>
            <p:cNvPr id="18" name="文本框 17"/>
            <p:cNvSpPr txBox="1"/>
            <p:nvPr/>
          </p:nvSpPr>
          <p:spPr>
            <a:xfrm>
              <a:off x="9399779" y="165464"/>
              <a:ext cx="2506108" cy="749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《</a:t>
              </a:r>
              <a:r>
                <a:rPr lang="zh-CN" altLang="en-US" sz="4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罗辑思维</a:t>
              </a:r>
              <a:r>
                <a:rPr lang="en-US" altLang="zh-CN" sz="4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》</a:t>
              </a:r>
              <a:endParaRPr lang="zh-CN" altLang="en-US" sz="4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939888" y="-160514"/>
              <a:ext cx="1425889" cy="359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在知识中寻找见识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888790" y="950342"/>
              <a:ext cx="1425889" cy="359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有种</a:t>
              </a:r>
              <a:r>
                <a:rPr lang="en-US" altLang="zh-CN" dirty="0" smtClean="0">
                  <a:solidFill>
                    <a:schemeClr val="bg1"/>
                  </a:solidFill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·</a:t>
              </a:r>
              <a:r>
                <a:rPr lang="zh-CN" altLang="en-US" dirty="0" smtClean="0">
                  <a:solidFill>
                    <a:schemeClr val="bg1"/>
                  </a:solidFill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有趣</a:t>
              </a:r>
              <a:r>
                <a:rPr lang="en-US" altLang="zh-CN" dirty="0" smtClean="0">
                  <a:solidFill>
                    <a:schemeClr val="bg1"/>
                  </a:solidFill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·</a:t>
              </a:r>
              <a:r>
                <a:rPr lang="zh-CN" altLang="en-US" dirty="0" smtClean="0">
                  <a:solidFill>
                    <a:schemeClr val="bg1"/>
                  </a:solidFill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有料</a:t>
              </a:r>
              <a:endParaRPr lang="zh-CN" altLang="en-US" dirty="0">
                <a:solidFill>
                  <a:schemeClr val="bg1"/>
                </a:solidFill>
                <a:latin typeface="方正行黑简体" panose="02000000000000000000" pitchFamily="2" charset="-122"/>
                <a:ea typeface="方正行黑简体" panose="02000000000000000000" pitchFamily="2" charset="-122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8690442" y="1772028"/>
              <a:ext cx="131187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10154494" y="1615385"/>
              <a:ext cx="819391" cy="359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  <a:latin typeface="造字工房悦黑演示版常规体" pitchFamily="50" charset="-122"/>
                  <a:ea typeface="造字工房悦黑演示版常规体" pitchFamily="50" charset="-122"/>
                </a:rPr>
                <a:t>罗振宇 著</a:t>
              </a:r>
              <a:endParaRPr lang="zh-CN" altLang="en-US" dirty="0">
                <a:solidFill>
                  <a:schemeClr val="bg1"/>
                </a:solidFill>
                <a:latin typeface="造字工房悦黑演示版常规体" pitchFamily="50" charset="-122"/>
                <a:ea typeface="造字工房悦黑演示版常规体" pitchFamily="50" charset="-122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11126061" y="1772028"/>
              <a:ext cx="131187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8690441" y="2172436"/>
              <a:ext cx="3747495" cy="89956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《</a:t>
              </a:r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罗辑思维</a:t>
              </a:r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》</a:t>
              </a:r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口号是“有种、有趣、有料”，做大家“身边的读书人”，倡导独立、理性的思考，凝聚爱智求真、积极上进、自由阳光、人格健全的年轻人。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半闭框 6"/>
          <p:cNvSpPr/>
          <p:nvPr/>
        </p:nvSpPr>
        <p:spPr>
          <a:xfrm>
            <a:off x="1205904" y="931984"/>
            <a:ext cx="1392702" cy="1399734"/>
          </a:xfrm>
          <a:prstGeom prst="halfFrame">
            <a:avLst>
              <a:gd name="adj1" fmla="val 15409"/>
              <a:gd name="adj2" fmla="val 15409"/>
            </a:avLst>
          </a:prstGeom>
          <a:solidFill>
            <a:srgbClr val="E254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半闭框 19"/>
          <p:cNvSpPr/>
          <p:nvPr/>
        </p:nvSpPr>
        <p:spPr>
          <a:xfrm flipH="1" flipV="1">
            <a:off x="3746505" y="4712727"/>
            <a:ext cx="1306884" cy="1322377"/>
          </a:xfrm>
          <a:prstGeom prst="halfFrame">
            <a:avLst>
              <a:gd name="adj1" fmla="val 15409"/>
              <a:gd name="adj2" fmla="val 15409"/>
            </a:avLst>
          </a:prstGeom>
          <a:solidFill>
            <a:srgbClr val="E254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07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877052" y="2023046"/>
            <a:ext cx="10723562" cy="2885020"/>
            <a:chOff x="767049" y="2023046"/>
            <a:chExt cx="10723562" cy="2885020"/>
          </a:xfrm>
        </p:grpSpPr>
        <p:sp>
          <p:nvSpPr>
            <p:cNvPr id="6" name="矩形 5"/>
            <p:cNvSpPr/>
            <p:nvPr/>
          </p:nvSpPr>
          <p:spPr>
            <a:xfrm>
              <a:off x="2930814" y="2023047"/>
              <a:ext cx="8559797" cy="2885019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60000"/>
                  </a:srgbClr>
                </a:gs>
                <a:gs pos="22000">
                  <a:schemeClr val="bg1">
                    <a:alpha val="50000"/>
                  </a:schemeClr>
                </a:gs>
                <a:gs pos="56000">
                  <a:schemeClr val="bg1">
                    <a:alpha val="30000"/>
                  </a:schemeClr>
                </a:gs>
                <a:gs pos="85000">
                  <a:srgbClr val="FFFFFF">
                    <a:alpha val="8000"/>
                  </a:srgb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049" y="2023046"/>
              <a:ext cx="2163765" cy="2885020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14" name="文本框 13"/>
            <p:cNvSpPr txBox="1"/>
            <p:nvPr/>
          </p:nvSpPr>
          <p:spPr>
            <a:xfrm>
              <a:off x="3253986" y="2157507"/>
              <a:ext cx="14817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solidFill>
                    <a:srgbClr val="DF3D3D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罗振宇</a:t>
              </a:r>
              <a:endParaRPr lang="zh-CN" altLang="en-US" sz="3200" dirty="0">
                <a:solidFill>
                  <a:srgbClr val="DF3D3D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301426" y="3101899"/>
              <a:ext cx="781857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DF3D3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70</a:t>
              </a:r>
              <a:r>
                <a:rPr lang="zh-CN" altLang="en-US" sz="1600" dirty="0" smtClean="0">
                  <a:solidFill>
                    <a:srgbClr val="DF3D3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后，自媒体视频脱口秀</a:t>
              </a:r>
              <a:r>
                <a:rPr lang="en-US" altLang="zh-CN" sz="1600" dirty="0" smtClean="0">
                  <a:solidFill>
                    <a:srgbClr val="DF3D3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《</a:t>
              </a:r>
              <a:r>
                <a:rPr lang="zh-CN" altLang="en-US" sz="1600" dirty="0" smtClean="0">
                  <a:solidFill>
                    <a:srgbClr val="DF3D3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罗辑思维</a:t>
              </a:r>
              <a:r>
                <a:rPr lang="en-US" altLang="zh-CN" sz="1600" dirty="0" smtClean="0">
                  <a:solidFill>
                    <a:srgbClr val="DF3D3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》</a:t>
              </a:r>
              <a:r>
                <a:rPr lang="zh-CN" altLang="en-US" sz="1600" dirty="0" smtClean="0">
                  <a:solidFill>
                    <a:srgbClr val="DF3D3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主讲人</a:t>
              </a:r>
              <a:endParaRPr lang="en-US" altLang="zh-CN" sz="1600" dirty="0" smtClean="0">
                <a:solidFill>
                  <a:srgbClr val="DF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dirty="0" smtClean="0">
                  <a:solidFill>
                    <a:srgbClr val="DF3D3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互联网知识型社群试水者</a:t>
              </a:r>
              <a:endParaRPr lang="en-US" altLang="zh-CN" sz="1600" dirty="0" smtClean="0">
                <a:solidFill>
                  <a:srgbClr val="DF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dirty="0" smtClean="0">
                  <a:solidFill>
                    <a:srgbClr val="DF3D3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资深媒体人和传播专家</a:t>
              </a:r>
              <a:endParaRPr lang="zh-CN" altLang="en-US" sz="1600" dirty="0">
                <a:solidFill>
                  <a:srgbClr val="DF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301426" y="3963673"/>
              <a:ext cx="781857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DF3D3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2012</a:t>
              </a:r>
              <a:r>
                <a:rPr lang="zh-CN" altLang="en-US" sz="1600" dirty="0" smtClean="0">
                  <a:solidFill>
                    <a:srgbClr val="DF3D3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年底，罗振宇与独立新媒创始人申音合作打造知识型视频脱口秀</a:t>
              </a:r>
              <a:r>
                <a:rPr lang="en-US" altLang="zh-CN" sz="1600" dirty="0" smtClean="0">
                  <a:solidFill>
                    <a:srgbClr val="DF3D3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《</a:t>
              </a:r>
              <a:r>
                <a:rPr lang="zh-CN" altLang="en-US" sz="1600" dirty="0" smtClean="0">
                  <a:solidFill>
                    <a:srgbClr val="DF3D3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罗辑思维</a:t>
              </a:r>
              <a:r>
                <a:rPr lang="en-US" altLang="zh-CN" sz="1600" dirty="0" smtClean="0">
                  <a:solidFill>
                    <a:srgbClr val="DF3D3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》</a:t>
              </a:r>
              <a:r>
                <a:rPr lang="zh-CN" altLang="en-US" sz="1600" dirty="0" smtClean="0">
                  <a:solidFill>
                    <a:srgbClr val="DF3D3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。半年内，由一款互联网自媒体视频产品，逐渐延伸成长为全新的互联网社群品牌。</a:t>
              </a:r>
              <a:endParaRPr lang="zh-CN" altLang="en-US" sz="1600" dirty="0">
                <a:solidFill>
                  <a:srgbClr val="DF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双括号 3"/>
          <p:cNvSpPr/>
          <p:nvPr/>
        </p:nvSpPr>
        <p:spPr>
          <a:xfrm>
            <a:off x="525193" y="1081083"/>
            <a:ext cx="11141614" cy="4768946"/>
          </a:xfrm>
          <a:prstGeom prst="bracketPair">
            <a:avLst>
              <a:gd name="adj" fmla="val 10123"/>
            </a:avLst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96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7880" y="439910"/>
            <a:ext cx="4726883" cy="1314000"/>
            <a:chOff x="437880" y="439910"/>
            <a:chExt cx="4726883" cy="1314000"/>
          </a:xfrm>
        </p:grpSpPr>
        <p:sp>
          <p:nvSpPr>
            <p:cNvPr id="3" name="五边形 2"/>
            <p:cNvSpPr/>
            <p:nvPr/>
          </p:nvSpPr>
          <p:spPr>
            <a:xfrm>
              <a:off x="1530774" y="754497"/>
              <a:ext cx="3633989" cy="634744"/>
            </a:xfrm>
            <a:prstGeom prst="homePlate">
              <a:avLst>
                <a:gd name="adj" fmla="val 120765"/>
              </a:avLst>
            </a:prstGeom>
            <a:solidFill>
              <a:srgbClr val="E35554"/>
            </a:solidFill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437880" y="439910"/>
              <a:ext cx="1313646" cy="1314000"/>
              <a:chOff x="450759" y="475983"/>
              <a:chExt cx="1313646" cy="1314000"/>
            </a:xfrm>
          </p:grpSpPr>
          <p:sp>
            <p:nvSpPr>
              <p:cNvPr id="13" name="椭圆 12"/>
              <p:cNvSpPr>
                <a:spLocks/>
              </p:cNvSpPr>
              <p:nvPr/>
            </p:nvSpPr>
            <p:spPr>
              <a:xfrm>
                <a:off x="450759" y="475983"/>
                <a:ext cx="1313646" cy="1314000"/>
              </a:xfrm>
              <a:prstGeom prst="ellipse">
                <a:avLst/>
              </a:prstGeom>
              <a:solidFill>
                <a:srgbClr val="E35554"/>
              </a:solidFill>
              <a:ln>
                <a:solidFill>
                  <a:srgbClr val="E3555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609932" y="1004551"/>
                <a:ext cx="246511" cy="282593"/>
              </a:xfrm>
              <a:prstGeom prst="ellipse">
                <a:avLst/>
              </a:prstGeom>
              <a:solidFill>
                <a:srgbClr val="EFEBE2"/>
              </a:solidFill>
              <a:ln>
                <a:solidFill>
                  <a:srgbClr val="EFEBE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2201383" y="79455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歪理之一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20569" y="656371"/>
            <a:ext cx="39034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末日</a:t>
            </a:r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是一个“</a:t>
            </a:r>
            <a:r>
              <a:rPr lang="zh-CN" altLang="en-US" sz="40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笨谜</a:t>
            </a:r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”</a:t>
            </a:r>
            <a:endParaRPr lang="zh-CN" altLang="en-US" sz="4400" dirty="0">
              <a:solidFill>
                <a:srgbClr val="C00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78618" y="779482"/>
            <a:ext cx="417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06103" y="3033041"/>
            <a:ext cx="94848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</a:t>
            </a:r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胖歪理：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迷信末日就是在</a:t>
            </a:r>
            <a:r>
              <a:rPr lang="zh-CN" altLang="en-US" sz="28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“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猜笨谜</a:t>
            </a:r>
            <a:r>
              <a:rPr lang="zh-CN" altLang="en-US" sz="28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”，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但带着末日的心态过日子，             也未必是件坏事。</a:t>
            </a:r>
            <a:endParaRPr lang="en-US" altLang="zh-CN" sz="2400" dirty="0" smtClean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en-US" altLang="zh-CN" sz="2000" dirty="0" smtClean="0"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  <a:p>
            <a:endParaRPr lang="en-US" altLang="zh-CN" sz="2000" dirty="0" smtClean="0"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  <a:p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罗辑思维</a:t>
            </a:r>
            <a:r>
              <a:rPr lang="zh-CN" altLang="en-US" sz="2800" dirty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：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向</a:t>
            </a:r>
            <a:r>
              <a:rPr lang="zh-CN" altLang="en-US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死而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生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是我们该有的姿态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。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为了这样一个末日，为了人类的向死而生，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好好活，做有意义的事。</a:t>
            </a:r>
            <a:endParaRPr lang="zh-CN" altLang="en-US" sz="2400" dirty="0">
              <a:solidFill>
                <a:srgbClr val="C00000"/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94703" y="1767855"/>
            <a:ext cx="10446515" cy="4100339"/>
            <a:chOff x="1519703" y="2296228"/>
            <a:chExt cx="10446515" cy="4100339"/>
          </a:xfrm>
        </p:grpSpPr>
        <p:sp>
          <p:nvSpPr>
            <p:cNvPr id="17" name="圆角矩形 16"/>
            <p:cNvSpPr/>
            <p:nvPr/>
          </p:nvSpPr>
          <p:spPr>
            <a:xfrm>
              <a:off x="1519703" y="3018367"/>
              <a:ext cx="9859497" cy="3378200"/>
            </a:xfrm>
            <a:prstGeom prst="roundRect">
              <a:avLst>
                <a:gd name="adj" fmla="val 4637"/>
              </a:avLst>
            </a:prstGeom>
            <a:noFill/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Picture 2" descr="d:\已安装~1\360浏~1\360se6\USERDA~1\Temp\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92181" y="2296228"/>
              <a:ext cx="1174037" cy="1174037"/>
            </a:xfrm>
            <a:prstGeom prst="ellipse">
              <a:avLst/>
            </a:prstGeom>
            <a:ln>
              <a:solidFill>
                <a:srgbClr val="E25453"/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3624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437880" y="439910"/>
            <a:ext cx="4726883" cy="1314000"/>
            <a:chOff x="437880" y="439910"/>
            <a:chExt cx="4726883" cy="1314000"/>
          </a:xfrm>
        </p:grpSpPr>
        <p:sp>
          <p:nvSpPr>
            <p:cNvPr id="24" name="五边形 23"/>
            <p:cNvSpPr/>
            <p:nvPr/>
          </p:nvSpPr>
          <p:spPr>
            <a:xfrm>
              <a:off x="1530774" y="754497"/>
              <a:ext cx="3633989" cy="634744"/>
            </a:xfrm>
            <a:prstGeom prst="homePlate">
              <a:avLst>
                <a:gd name="adj" fmla="val 120765"/>
              </a:avLst>
            </a:prstGeom>
            <a:solidFill>
              <a:srgbClr val="E35554"/>
            </a:solidFill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437880" y="439910"/>
              <a:ext cx="1313646" cy="1314000"/>
              <a:chOff x="450759" y="475983"/>
              <a:chExt cx="1313646" cy="1314000"/>
            </a:xfrm>
          </p:grpSpPr>
          <p:sp>
            <p:nvSpPr>
              <p:cNvPr id="26" name="椭圆 25"/>
              <p:cNvSpPr>
                <a:spLocks/>
              </p:cNvSpPr>
              <p:nvPr/>
            </p:nvSpPr>
            <p:spPr>
              <a:xfrm>
                <a:off x="450759" y="475983"/>
                <a:ext cx="1313646" cy="1314000"/>
              </a:xfrm>
              <a:prstGeom prst="ellipse">
                <a:avLst/>
              </a:prstGeom>
              <a:solidFill>
                <a:srgbClr val="E35554"/>
              </a:solidFill>
              <a:ln>
                <a:solidFill>
                  <a:srgbClr val="E3555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609932" y="1004551"/>
                <a:ext cx="246511" cy="282593"/>
              </a:xfrm>
              <a:prstGeom prst="ellipse">
                <a:avLst/>
              </a:prstGeom>
              <a:solidFill>
                <a:srgbClr val="EFEBE2"/>
              </a:solidFill>
              <a:ln>
                <a:solidFill>
                  <a:srgbClr val="EFEBE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2" name="文本框 11"/>
          <p:cNvSpPr txBox="1"/>
          <p:nvPr/>
        </p:nvSpPr>
        <p:spPr>
          <a:xfrm>
            <a:off x="5520569" y="717926"/>
            <a:ext cx="5109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年轻人</a:t>
            </a:r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，</a:t>
            </a:r>
            <a:r>
              <a:rPr lang="zh-CN" altLang="en-US" sz="28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你</a:t>
            </a:r>
            <a:r>
              <a:rPr lang="zh-CN" altLang="en-US" sz="28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想</a:t>
            </a:r>
            <a:r>
              <a:rPr lang="zh-CN" altLang="en-US" sz="28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离开</a:t>
            </a:r>
            <a:r>
              <a:rPr lang="zh-CN" altLang="en-US" sz="36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北上广</a:t>
            </a:r>
            <a:r>
              <a:rPr lang="zh-CN" altLang="en-US" sz="28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吗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01383" y="79455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歪理之二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78618" y="779482"/>
            <a:ext cx="417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C0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2521" l="285" r="100000">
                        <a14:foregroundMark x1="50712" y1="57307" x2="50712" y2="57307"/>
                        <a14:foregroundMark x1="48433" y1="43266" x2="48433" y2="43266"/>
                        <a14:foregroundMark x1="32479" y1="10029" x2="32479" y2="10029"/>
                        <a14:foregroundMark x1="34473" y1="7736" x2="34473" y2="7736"/>
                        <a14:foregroundMark x1="36467" y1="6017" x2="36467" y2="6017"/>
                        <a14:foregroundMark x1="39031" y1="4585" x2="39031" y2="4585"/>
                        <a14:foregroundMark x1="40741" y1="4871" x2="40741" y2="48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433" y="326385"/>
            <a:ext cx="1385335" cy="1377442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1094703" y="1767855"/>
            <a:ext cx="10446515" cy="4098939"/>
            <a:chOff x="1519703" y="2296228"/>
            <a:chExt cx="10446515" cy="4098939"/>
          </a:xfrm>
        </p:grpSpPr>
        <p:sp>
          <p:nvSpPr>
            <p:cNvPr id="21" name="圆角矩形 20"/>
            <p:cNvSpPr/>
            <p:nvPr/>
          </p:nvSpPr>
          <p:spPr>
            <a:xfrm>
              <a:off x="1519703" y="3018367"/>
              <a:ext cx="9859497" cy="3376800"/>
            </a:xfrm>
            <a:prstGeom prst="roundRect">
              <a:avLst>
                <a:gd name="adj" fmla="val 4637"/>
              </a:avLst>
            </a:prstGeom>
            <a:noFill/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Picture 2" descr="d:\已安装~1\360浏~1\360se6\USERDA~1\Temp\1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92181" y="2296228"/>
              <a:ext cx="1174037" cy="1174037"/>
            </a:xfrm>
            <a:prstGeom prst="ellipse">
              <a:avLst/>
            </a:prstGeom>
            <a:ln>
              <a:solidFill>
                <a:srgbClr val="E25453"/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文本框 27"/>
          <p:cNvSpPr txBox="1"/>
          <p:nvPr/>
        </p:nvSpPr>
        <p:spPr>
          <a:xfrm>
            <a:off x="1311496" y="3033713"/>
            <a:ext cx="94307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罗胖歪理：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逃离北上广不靠谱，你得留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在北上广，这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有啥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好处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？</a:t>
            </a:r>
            <a:endParaRPr lang="en-US" altLang="zh-CN" sz="2400" dirty="0" smtClean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en-US" altLang="zh-CN" sz="2000" dirty="0" smtClean="0">
              <a:latin typeface="方正艺黑简体" panose="03000509000000000000" pitchFamily="65" charset="-122"/>
              <a:ea typeface="方正艺黑简体" panose="03000509000000000000" pitchFamily="65" charset="-122"/>
            </a:endParaRPr>
          </a:p>
          <a:p>
            <a:endParaRPr lang="en-US" altLang="zh-CN" sz="2000" dirty="0">
              <a:latin typeface="方正艺黑简体" panose="03000509000000000000" pitchFamily="65" charset="-122"/>
              <a:ea typeface="方正艺黑简体" panose="03000509000000000000" pitchFamily="65" charset="-122"/>
            </a:endParaRPr>
          </a:p>
          <a:p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罗辑思维：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年轻人在城市获得的更多东西，远不仅仅是肉身之间非延时的沟通，更重要的是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见识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。年轻人在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城市</a:t>
            </a:r>
            <a:r>
              <a:rPr lang="en-US" altLang="zh-CN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……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未来和他人进行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自由协作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，也是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积累终生财富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的根本源泉。</a:t>
            </a:r>
            <a:endParaRPr lang="zh-CN" altLang="en-US" sz="2400" dirty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892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437880" y="439910"/>
            <a:ext cx="4726883" cy="1314000"/>
            <a:chOff x="437880" y="439910"/>
            <a:chExt cx="4726883" cy="1314000"/>
          </a:xfrm>
        </p:grpSpPr>
        <p:sp>
          <p:nvSpPr>
            <p:cNvPr id="22" name="五边形 21"/>
            <p:cNvSpPr/>
            <p:nvPr/>
          </p:nvSpPr>
          <p:spPr>
            <a:xfrm>
              <a:off x="1530774" y="754497"/>
              <a:ext cx="3633989" cy="634744"/>
            </a:xfrm>
            <a:prstGeom prst="homePlate">
              <a:avLst>
                <a:gd name="adj" fmla="val 120765"/>
              </a:avLst>
            </a:prstGeom>
            <a:solidFill>
              <a:srgbClr val="E35554"/>
            </a:solidFill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437880" y="439910"/>
              <a:ext cx="1313646" cy="1314000"/>
              <a:chOff x="450759" y="475983"/>
              <a:chExt cx="1313646" cy="1314000"/>
            </a:xfrm>
          </p:grpSpPr>
          <p:sp>
            <p:nvSpPr>
              <p:cNvPr id="24" name="椭圆 23"/>
              <p:cNvSpPr>
                <a:spLocks/>
              </p:cNvSpPr>
              <p:nvPr/>
            </p:nvSpPr>
            <p:spPr>
              <a:xfrm>
                <a:off x="450759" y="475983"/>
                <a:ext cx="1313646" cy="1314000"/>
              </a:xfrm>
              <a:prstGeom prst="ellipse">
                <a:avLst/>
              </a:prstGeom>
              <a:solidFill>
                <a:srgbClr val="E35554"/>
              </a:solidFill>
              <a:ln>
                <a:solidFill>
                  <a:srgbClr val="E3555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609932" y="1004551"/>
                <a:ext cx="246511" cy="282593"/>
              </a:xfrm>
              <a:prstGeom prst="ellipse">
                <a:avLst/>
              </a:prstGeom>
              <a:solidFill>
                <a:srgbClr val="EFEBE2"/>
              </a:solidFill>
              <a:ln>
                <a:solidFill>
                  <a:srgbClr val="EFEBE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文本框 8"/>
          <p:cNvSpPr txBox="1"/>
          <p:nvPr/>
        </p:nvSpPr>
        <p:spPr>
          <a:xfrm>
            <a:off x="5520569" y="656371"/>
            <a:ext cx="28007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进击的</a:t>
            </a:r>
            <a:r>
              <a:rPr lang="zh-CN" altLang="en-US" sz="40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城市化</a:t>
            </a:r>
            <a:endParaRPr lang="zh-CN" altLang="en-US" sz="3600" dirty="0">
              <a:solidFill>
                <a:srgbClr val="C00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201383" y="79455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歪理之三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78618" y="779482"/>
            <a:ext cx="417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094703" y="1767855"/>
            <a:ext cx="10446515" cy="4100339"/>
            <a:chOff x="1519703" y="2296228"/>
            <a:chExt cx="10446515" cy="4100339"/>
          </a:xfrm>
        </p:grpSpPr>
        <p:sp>
          <p:nvSpPr>
            <p:cNvPr id="27" name="圆角矩形 26"/>
            <p:cNvSpPr/>
            <p:nvPr/>
          </p:nvSpPr>
          <p:spPr>
            <a:xfrm>
              <a:off x="1519703" y="3018367"/>
              <a:ext cx="9859497" cy="3378200"/>
            </a:xfrm>
            <a:prstGeom prst="roundRect">
              <a:avLst>
                <a:gd name="adj" fmla="val 4637"/>
              </a:avLst>
            </a:prstGeom>
            <a:noFill/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8" name="Picture 2" descr="d:\已安装~1\360浏~1\360se6\USERDA~1\Temp\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92181" y="2296228"/>
              <a:ext cx="1174037" cy="1174037"/>
            </a:xfrm>
            <a:prstGeom prst="ellipse">
              <a:avLst/>
            </a:prstGeom>
            <a:ln>
              <a:solidFill>
                <a:srgbClr val="E25453"/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文本框 1"/>
          <p:cNvSpPr txBox="1"/>
          <p:nvPr/>
        </p:nvSpPr>
        <p:spPr>
          <a:xfrm>
            <a:off x="1307358" y="3026116"/>
            <a:ext cx="933792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罗胖歪理：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北上广深，想说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离开不容易</a:t>
            </a:r>
            <a:endParaRPr lang="en-US" altLang="zh-CN" dirty="0" smtClean="0">
              <a:solidFill>
                <a:srgbClr val="C00000"/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en-US" altLang="zh-CN" sz="2000" dirty="0" smtClean="0"/>
          </a:p>
          <a:p>
            <a:endParaRPr lang="en-US" altLang="zh-CN" dirty="0"/>
          </a:p>
          <a:p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罗辑思维：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就目前来看，很多问题单靠互联网、远距离的协作是无法解决的。所以在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中国城市化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的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前方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，我们很可能看到的是像北上广深这些大城市一样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更大规模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的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聚集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。</a:t>
            </a:r>
            <a:endParaRPr lang="zh-CN" altLang="en-US" sz="2400" dirty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6480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437880" y="439910"/>
            <a:ext cx="4726883" cy="1314000"/>
            <a:chOff x="437880" y="439910"/>
            <a:chExt cx="4726883" cy="1314000"/>
          </a:xfrm>
        </p:grpSpPr>
        <p:sp>
          <p:nvSpPr>
            <p:cNvPr id="32" name="五边形 31"/>
            <p:cNvSpPr/>
            <p:nvPr/>
          </p:nvSpPr>
          <p:spPr>
            <a:xfrm>
              <a:off x="1530774" y="754497"/>
              <a:ext cx="3633989" cy="634744"/>
            </a:xfrm>
            <a:prstGeom prst="homePlate">
              <a:avLst>
                <a:gd name="adj" fmla="val 120765"/>
              </a:avLst>
            </a:prstGeom>
            <a:solidFill>
              <a:srgbClr val="E35554"/>
            </a:solidFill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437880" y="439910"/>
              <a:ext cx="1313646" cy="1314000"/>
              <a:chOff x="450759" y="475983"/>
              <a:chExt cx="1313646" cy="1314000"/>
            </a:xfrm>
          </p:grpSpPr>
          <p:sp>
            <p:nvSpPr>
              <p:cNvPr id="34" name="椭圆 33"/>
              <p:cNvSpPr>
                <a:spLocks/>
              </p:cNvSpPr>
              <p:nvPr/>
            </p:nvSpPr>
            <p:spPr>
              <a:xfrm>
                <a:off x="450759" y="475983"/>
                <a:ext cx="1313646" cy="1314000"/>
              </a:xfrm>
              <a:prstGeom prst="ellipse">
                <a:avLst/>
              </a:prstGeom>
              <a:solidFill>
                <a:srgbClr val="E35554"/>
              </a:solidFill>
              <a:ln>
                <a:solidFill>
                  <a:srgbClr val="E3555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609932" y="1004551"/>
                <a:ext cx="246511" cy="282593"/>
              </a:xfrm>
              <a:prstGeom prst="ellipse">
                <a:avLst/>
              </a:prstGeom>
              <a:solidFill>
                <a:srgbClr val="EFEBE2"/>
              </a:solidFill>
              <a:ln>
                <a:solidFill>
                  <a:srgbClr val="EFEBE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文本框 8"/>
          <p:cNvSpPr txBox="1"/>
          <p:nvPr/>
        </p:nvSpPr>
        <p:spPr>
          <a:xfrm>
            <a:off x="5520569" y="656371"/>
            <a:ext cx="37369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80</a:t>
            </a:r>
            <a:r>
              <a:rPr lang="zh-CN" altLang="en-US" sz="36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后，</a:t>
            </a:r>
            <a:r>
              <a:rPr lang="zh-CN" altLang="en-US" sz="28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夹缝中</a:t>
            </a:r>
            <a:r>
              <a:rPr lang="zh-CN" altLang="en-US" sz="40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生存</a:t>
            </a:r>
            <a:endParaRPr lang="zh-CN" altLang="en-US" sz="4000" dirty="0">
              <a:solidFill>
                <a:srgbClr val="C00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01383" y="79455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歪理之四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78618" y="779482"/>
            <a:ext cx="417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094703" y="1767855"/>
            <a:ext cx="10446515" cy="4100339"/>
            <a:chOff x="1519703" y="2296228"/>
            <a:chExt cx="10446515" cy="4100339"/>
          </a:xfrm>
        </p:grpSpPr>
        <p:sp>
          <p:nvSpPr>
            <p:cNvPr id="29" name="圆角矩形 28"/>
            <p:cNvSpPr/>
            <p:nvPr/>
          </p:nvSpPr>
          <p:spPr>
            <a:xfrm>
              <a:off x="1519703" y="3018367"/>
              <a:ext cx="9859497" cy="3378200"/>
            </a:xfrm>
            <a:prstGeom prst="roundRect">
              <a:avLst>
                <a:gd name="adj" fmla="val 4637"/>
              </a:avLst>
            </a:prstGeom>
            <a:noFill/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Picture 2" descr="d:\已安装~1\360浏~1\360se6\USERDA~1\Temp\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92181" y="2296228"/>
              <a:ext cx="1174037" cy="1174037"/>
            </a:xfrm>
            <a:prstGeom prst="ellipse">
              <a:avLst/>
            </a:prstGeom>
            <a:ln>
              <a:solidFill>
                <a:srgbClr val="E25453"/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文本框 1"/>
          <p:cNvSpPr txBox="1"/>
          <p:nvPr/>
        </p:nvSpPr>
        <p:spPr>
          <a:xfrm>
            <a:off x="1313341" y="3028461"/>
            <a:ext cx="935002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罗胖</a:t>
            </a:r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歪理：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很多</a:t>
            </a:r>
            <a:r>
              <a:rPr lang="en-US" altLang="zh-CN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80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后，是数字时代的移民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，又悲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催面对财富鸿沟，他们正好处于夹缝当中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。</a:t>
            </a:r>
            <a:endParaRPr lang="en-US" altLang="zh-CN" sz="2400" dirty="0" smtClean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en-US" altLang="zh-CN" dirty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罗辑思维：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从今天起，做个手艺人，学习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“</a:t>
            </a:r>
            <a:r>
              <a:rPr lang="en-US" altLang="zh-CN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U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盘化”</a:t>
            </a:r>
            <a:r>
              <a:rPr lang="zh-CN" altLang="en-US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生存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（</a:t>
            </a:r>
            <a:r>
              <a:rPr lang="zh-CN" altLang="en-US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自带信息，不装系统，随时拔插，自由协作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），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市场一定会给你一个准确定位。</a:t>
            </a:r>
            <a:endParaRPr lang="zh-CN" altLang="en-US" sz="2400" dirty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2897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437880" y="439910"/>
            <a:ext cx="4726883" cy="1314000"/>
            <a:chOff x="437880" y="439910"/>
            <a:chExt cx="4726883" cy="1314000"/>
          </a:xfrm>
        </p:grpSpPr>
        <p:sp>
          <p:nvSpPr>
            <p:cNvPr id="22" name="五边形 21"/>
            <p:cNvSpPr/>
            <p:nvPr/>
          </p:nvSpPr>
          <p:spPr>
            <a:xfrm>
              <a:off x="1530774" y="754497"/>
              <a:ext cx="3633989" cy="634744"/>
            </a:xfrm>
            <a:prstGeom prst="homePlate">
              <a:avLst>
                <a:gd name="adj" fmla="val 120765"/>
              </a:avLst>
            </a:prstGeom>
            <a:solidFill>
              <a:srgbClr val="E35554"/>
            </a:solidFill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437880" y="439910"/>
              <a:ext cx="1313646" cy="1314000"/>
              <a:chOff x="450759" y="475983"/>
              <a:chExt cx="1313646" cy="1314000"/>
            </a:xfrm>
          </p:grpSpPr>
          <p:sp>
            <p:nvSpPr>
              <p:cNvPr id="24" name="椭圆 23"/>
              <p:cNvSpPr>
                <a:spLocks/>
              </p:cNvSpPr>
              <p:nvPr/>
            </p:nvSpPr>
            <p:spPr>
              <a:xfrm>
                <a:off x="450759" y="475983"/>
                <a:ext cx="1313646" cy="1314000"/>
              </a:xfrm>
              <a:prstGeom prst="ellipse">
                <a:avLst/>
              </a:prstGeom>
              <a:solidFill>
                <a:srgbClr val="E35554"/>
              </a:solidFill>
              <a:ln>
                <a:solidFill>
                  <a:srgbClr val="E3555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609932" y="1004551"/>
                <a:ext cx="246511" cy="282593"/>
              </a:xfrm>
              <a:prstGeom prst="ellipse">
                <a:avLst/>
              </a:prstGeom>
              <a:solidFill>
                <a:srgbClr val="EFEBE2"/>
              </a:solidFill>
              <a:ln>
                <a:solidFill>
                  <a:srgbClr val="EFEBE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文本框 8"/>
          <p:cNvSpPr txBox="1"/>
          <p:nvPr/>
        </p:nvSpPr>
        <p:spPr>
          <a:xfrm>
            <a:off x="5520569" y="693354"/>
            <a:ext cx="29546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剩</a:t>
            </a:r>
            <a:r>
              <a:rPr lang="zh-CN" altLang="en-US" sz="40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女</a:t>
            </a:r>
            <a:r>
              <a:rPr lang="zh-CN" altLang="en-US" sz="28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照亮</a:t>
            </a:r>
            <a:r>
              <a:rPr lang="zh-CN" altLang="en-US" sz="40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未来</a:t>
            </a:r>
            <a:endParaRPr lang="zh-CN" altLang="en-US" sz="36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201383" y="79455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歪理之五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8618" y="779482"/>
            <a:ext cx="417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5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94703" y="1767855"/>
            <a:ext cx="10446515" cy="4100339"/>
            <a:chOff x="1519703" y="2296228"/>
            <a:chExt cx="10446515" cy="4100339"/>
          </a:xfrm>
        </p:grpSpPr>
        <p:sp>
          <p:nvSpPr>
            <p:cNvPr id="19" name="圆角矩形 18"/>
            <p:cNvSpPr/>
            <p:nvPr/>
          </p:nvSpPr>
          <p:spPr>
            <a:xfrm>
              <a:off x="1519703" y="3018367"/>
              <a:ext cx="9859497" cy="3378200"/>
            </a:xfrm>
            <a:prstGeom prst="roundRect">
              <a:avLst>
                <a:gd name="adj" fmla="val 4637"/>
              </a:avLst>
            </a:prstGeom>
            <a:noFill/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Picture 2" descr="d:\已安装~1\360浏~1\360se6\USERDA~1\Temp\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92181" y="2296228"/>
              <a:ext cx="1174037" cy="1174037"/>
            </a:xfrm>
            <a:prstGeom prst="ellipse">
              <a:avLst/>
            </a:prstGeom>
            <a:ln>
              <a:solidFill>
                <a:srgbClr val="E25453"/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文本框 1"/>
          <p:cNvSpPr txBox="1"/>
          <p:nvPr/>
        </p:nvSpPr>
        <p:spPr>
          <a:xfrm>
            <a:off x="1315749" y="3037267"/>
            <a:ext cx="94414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罗胖歪理：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别轻易拒绝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选择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的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多样性</a:t>
            </a:r>
            <a:endParaRPr lang="en-US" altLang="zh-CN" sz="2400" dirty="0" smtClean="0">
              <a:solidFill>
                <a:srgbClr val="C00000"/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en-US" altLang="zh-CN" sz="2000" dirty="0" smtClean="0"/>
          </a:p>
          <a:p>
            <a:endParaRPr lang="en-US" altLang="zh-CN" sz="2000" dirty="0"/>
          </a:p>
          <a:p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罗辑</a:t>
            </a:r>
            <a:r>
              <a:rPr lang="zh-CN" altLang="en-US" sz="2800" dirty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思维：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从哺乳动物开始一直到人类，雌性动物扮演的角色就是</a:t>
            </a:r>
            <a:r>
              <a:rPr lang="zh-CN" altLang="en-US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挑剔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，就是去寻找那些在斗争中胜利的雄性，然后传承后代。凭什么要违背几万年、几百万年形成的</a:t>
            </a:r>
            <a:r>
              <a:rPr lang="zh-CN" altLang="en-US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生物本能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呢？凭什么要委身嫁给那些在竞争中失败的男性呢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？求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女性这么做，不符合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天道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。</a:t>
            </a:r>
            <a:endParaRPr lang="zh-CN" altLang="en-US" sz="2400" dirty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052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437880" y="439910"/>
            <a:ext cx="4726883" cy="1314000"/>
            <a:chOff x="437880" y="439910"/>
            <a:chExt cx="4726883" cy="1314000"/>
          </a:xfrm>
        </p:grpSpPr>
        <p:sp>
          <p:nvSpPr>
            <p:cNvPr id="25" name="五边形 24"/>
            <p:cNvSpPr/>
            <p:nvPr/>
          </p:nvSpPr>
          <p:spPr>
            <a:xfrm>
              <a:off x="1530774" y="754497"/>
              <a:ext cx="3633989" cy="634744"/>
            </a:xfrm>
            <a:prstGeom prst="homePlate">
              <a:avLst>
                <a:gd name="adj" fmla="val 120765"/>
              </a:avLst>
            </a:prstGeom>
            <a:solidFill>
              <a:srgbClr val="E35554"/>
            </a:solidFill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437880" y="439910"/>
              <a:ext cx="1313646" cy="1314000"/>
              <a:chOff x="450759" y="475983"/>
              <a:chExt cx="1313646" cy="1314000"/>
            </a:xfrm>
          </p:grpSpPr>
          <p:sp>
            <p:nvSpPr>
              <p:cNvPr id="27" name="椭圆 26"/>
              <p:cNvSpPr>
                <a:spLocks/>
              </p:cNvSpPr>
              <p:nvPr/>
            </p:nvSpPr>
            <p:spPr>
              <a:xfrm>
                <a:off x="450759" y="475983"/>
                <a:ext cx="1313646" cy="1314000"/>
              </a:xfrm>
              <a:prstGeom prst="ellipse">
                <a:avLst/>
              </a:prstGeom>
              <a:solidFill>
                <a:srgbClr val="E35554"/>
              </a:solidFill>
              <a:ln>
                <a:solidFill>
                  <a:srgbClr val="E3555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609932" y="1004551"/>
                <a:ext cx="246511" cy="282593"/>
              </a:xfrm>
              <a:prstGeom prst="ellipse">
                <a:avLst/>
              </a:prstGeom>
              <a:solidFill>
                <a:srgbClr val="EFEBE2"/>
              </a:solidFill>
              <a:ln>
                <a:solidFill>
                  <a:srgbClr val="EFEBE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文本框 8"/>
          <p:cNvSpPr txBox="1"/>
          <p:nvPr/>
        </p:nvSpPr>
        <p:spPr>
          <a:xfrm>
            <a:off x="5520569" y="717926"/>
            <a:ext cx="5331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大国崛起 </a:t>
            </a:r>
            <a:r>
              <a:rPr lang="zh-CN" altLang="en-US" sz="28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就</a:t>
            </a:r>
            <a:r>
              <a:rPr lang="zh-CN" altLang="en-US" sz="28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要有 </a:t>
            </a:r>
            <a:r>
              <a:rPr lang="zh-CN" altLang="en-US" sz="36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大国思维</a:t>
            </a:r>
            <a:endParaRPr lang="zh-CN" altLang="en-US" sz="3600" dirty="0">
              <a:solidFill>
                <a:srgbClr val="C00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201383" y="79455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歪理之六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78618" y="779482"/>
            <a:ext cx="417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6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094703" y="1767855"/>
            <a:ext cx="10446515" cy="4100339"/>
            <a:chOff x="1519703" y="2296228"/>
            <a:chExt cx="10446515" cy="4100339"/>
          </a:xfrm>
        </p:grpSpPr>
        <p:sp>
          <p:nvSpPr>
            <p:cNvPr id="30" name="圆角矩形 29"/>
            <p:cNvSpPr/>
            <p:nvPr/>
          </p:nvSpPr>
          <p:spPr>
            <a:xfrm>
              <a:off x="1519703" y="3018367"/>
              <a:ext cx="9859497" cy="3378200"/>
            </a:xfrm>
            <a:prstGeom prst="roundRect">
              <a:avLst>
                <a:gd name="adj" fmla="val 4637"/>
              </a:avLst>
            </a:prstGeom>
            <a:noFill/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1" name="Picture 2" descr="d:\已安装~1\360浏~1\360se6\USERDA~1\Temp\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92181" y="2296228"/>
              <a:ext cx="1174037" cy="1174037"/>
            </a:xfrm>
            <a:prstGeom prst="ellipse">
              <a:avLst/>
            </a:prstGeom>
            <a:ln>
              <a:solidFill>
                <a:srgbClr val="E25453"/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文本框 1"/>
          <p:cNvSpPr txBox="1"/>
          <p:nvPr/>
        </p:nvSpPr>
        <p:spPr>
          <a:xfrm>
            <a:off x="1306371" y="3026116"/>
            <a:ext cx="93344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罗胖歪理：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大国崛起得有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大国思维</a:t>
            </a:r>
            <a:endParaRPr lang="en-US" altLang="zh-CN" sz="2400" dirty="0" smtClean="0">
              <a:solidFill>
                <a:srgbClr val="C00000"/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zh-CN" altLang="en-US" sz="2800" dirty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罗辑</a:t>
            </a:r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思维：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中国现在是一个发展中的大国，我们正走在大国崛起的道路上，要完成从一个受尽屈辱的民族向一个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中央国家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的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转变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。既然大国切换，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思维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也得跟着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转换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。</a:t>
            </a:r>
            <a:endParaRPr lang="zh-CN" altLang="en-US" sz="2400" dirty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104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437880" y="439910"/>
            <a:ext cx="4726883" cy="1314000"/>
            <a:chOff x="437880" y="439910"/>
            <a:chExt cx="4726883" cy="1314000"/>
          </a:xfrm>
        </p:grpSpPr>
        <p:sp>
          <p:nvSpPr>
            <p:cNvPr id="26" name="五边形 25"/>
            <p:cNvSpPr/>
            <p:nvPr/>
          </p:nvSpPr>
          <p:spPr>
            <a:xfrm>
              <a:off x="1530774" y="754497"/>
              <a:ext cx="3633989" cy="634744"/>
            </a:xfrm>
            <a:prstGeom prst="homePlate">
              <a:avLst>
                <a:gd name="adj" fmla="val 120765"/>
              </a:avLst>
            </a:prstGeom>
            <a:solidFill>
              <a:srgbClr val="E35554"/>
            </a:solidFill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437880" y="439910"/>
              <a:ext cx="1313646" cy="1314000"/>
              <a:chOff x="450759" y="475983"/>
              <a:chExt cx="1313646" cy="1314000"/>
            </a:xfrm>
          </p:grpSpPr>
          <p:sp>
            <p:nvSpPr>
              <p:cNvPr id="28" name="椭圆 27"/>
              <p:cNvSpPr>
                <a:spLocks/>
              </p:cNvSpPr>
              <p:nvPr/>
            </p:nvSpPr>
            <p:spPr>
              <a:xfrm>
                <a:off x="450759" y="475983"/>
                <a:ext cx="1313646" cy="1314000"/>
              </a:xfrm>
              <a:prstGeom prst="ellipse">
                <a:avLst/>
              </a:prstGeom>
              <a:solidFill>
                <a:srgbClr val="E35554"/>
              </a:solidFill>
              <a:ln>
                <a:solidFill>
                  <a:srgbClr val="E3555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609932" y="1004551"/>
                <a:ext cx="246511" cy="282593"/>
              </a:xfrm>
              <a:prstGeom prst="ellipse">
                <a:avLst/>
              </a:prstGeom>
              <a:solidFill>
                <a:srgbClr val="EFEBE2"/>
              </a:solidFill>
              <a:ln>
                <a:solidFill>
                  <a:srgbClr val="EFEBE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文本框 8"/>
          <p:cNvSpPr txBox="1"/>
          <p:nvPr/>
        </p:nvSpPr>
        <p:spPr>
          <a:xfrm>
            <a:off x="5520569" y="717926"/>
            <a:ext cx="4134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地域</a:t>
            </a:r>
            <a:r>
              <a:rPr lang="zh-CN" altLang="en-US" sz="36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歧视</a:t>
            </a:r>
            <a:r>
              <a:rPr lang="zh-CN" altLang="en-US" sz="28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是块</a:t>
            </a:r>
            <a:r>
              <a:rPr lang="zh-CN" altLang="en-US" sz="36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硬骨头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01383" y="79455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歪理之七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78618" y="779482"/>
            <a:ext cx="417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7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094703" y="1767855"/>
            <a:ext cx="10446515" cy="4100339"/>
            <a:chOff x="1519703" y="2296228"/>
            <a:chExt cx="10446515" cy="4100339"/>
          </a:xfrm>
        </p:grpSpPr>
        <p:sp>
          <p:nvSpPr>
            <p:cNvPr id="31" name="圆角矩形 30"/>
            <p:cNvSpPr/>
            <p:nvPr/>
          </p:nvSpPr>
          <p:spPr>
            <a:xfrm>
              <a:off x="1519703" y="3018367"/>
              <a:ext cx="9859497" cy="3378200"/>
            </a:xfrm>
            <a:prstGeom prst="roundRect">
              <a:avLst>
                <a:gd name="adj" fmla="val 4637"/>
              </a:avLst>
            </a:prstGeom>
            <a:noFill/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2" name="Picture 2" descr="d:\已安装~1\360浏~1\360se6\USERDA~1\Temp\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92181" y="2296228"/>
              <a:ext cx="1174037" cy="1174037"/>
            </a:xfrm>
            <a:prstGeom prst="ellipse">
              <a:avLst/>
            </a:prstGeom>
            <a:ln>
              <a:solidFill>
                <a:srgbClr val="E25453"/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文本框 1"/>
          <p:cNvSpPr txBox="1"/>
          <p:nvPr/>
        </p:nvSpPr>
        <p:spPr>
          <a:xfrm>
            <a:off x="1309394" y="3029421"/>
            <a:ext cx="93097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</a:t>
            </a:r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胖歪理：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地域歧视是一种“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简化机制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”</a:t>
            </a:r>
            <a:endParaRPr lang="en-US" altLang="zh-CN" sz="2400" dirty="0" smtClean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</a:t>
            </a:r>
            <a:r>
              <a:rPr lang="zh-CN" altLang="en-US" sz="2800" dirty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辑</a:t>
            </a:r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思维：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要解决地域歧视，我们每个人都可以从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自身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着手。要么把自己的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人格扩大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到无边弗界，要么把自己的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人格收缩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得非常独立。如果做不到这两点当中的任何一点，那么我们就会在地域歧视的这锅烂汤当中，煎熬着自己的生命。</a:t>
            </a:r>
            <a:endParaRPr lang="zh-CN" altLang="en-US" sz="2400" dirty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888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437880" y="439910"/>
            <a:ext cx="4726883" cy="1314000"/>
            <a:chOff x="437880" y="439910"/>
            <a:chExt cx="4726883" cy="1314000"/>
          </a:xfrm>
        </p:grpSpPr>
        <p:sp>
          <p:nvSpPr>
            <p:cNvPr id="23" name="五边形 22"/>
            <p:cNvSpPr/>
            <p:nvPr/>
          </p:nvSpPr>
          <p:spPr>
            <a:xfrm>
              <a:off x="1530774" y="754497"/>
              <a:ext cx="3633989" cy="634744"/>
            </a:xfrm>
            <a:prstGeom prst="homePlate">
              <a:avLst>
                <a:gd name="adj" fmla="val 120765"/>
              </a:avLst>
            </a:prstGeom>
            <a:solidFill>
              <a:srgbClr val="E35554"/>
            </a:solidFill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437880" y="439910"/>
              <a:ext cx="1313646" cy="1314000"/>
              <a:chOff x="450759" y="475983"/>
              <a:chExt cx="1313646" cy="1314000"/>
            </a:xfrm>
          </p:grpSpPr>
          <p:sp>
            <p:nvSpPr>
              <p:cNvPr id="28" name="椭圆 27"/>
              <p:cNvSpPr>
                <a:spLocks/>
              </p:cNvSpPr>
              <p:nvPr/>
            </p:nvSpPr>
            <p:spPr>
              <a:xfrm>
                <a:off x="450759" y="475983"/>
                <a:ext cx="1313646" cy="1314000"/>
              </a:xfrm>
              <a:prstGeom prst="ellipse">
                <a:avLst/>
              </a:prstGeom>
              <a:solidFill>
                <a:srgbClr val="E35554"/>
              </a:solidFill>
              <a:ln>
                <a:solidFill>
                  <a:srgbClr val="E3555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609932" y="1004551"/>
                <a:ext cx="246511" cy="282593"/>
              </a:xfrm>
              <a:prstGeom prst="ellipse">
                <a:avLst/>
              </a:prstGeom>
              <a:solidFill>
                <a:srgbClr val="EFEBE2"/>
              </a:solidFill>
              <a:ln>
                <a:solidFill>
                  <a:srgbClr val="EFEBE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0" name="文本框 19"/>
          <p:cNvSpPr txBox="1"/>
          <p:nvPr/>
        </p:nvSpPr>
        <p:spPr>
          <a:xfrm>
            <a:off x="2201383" y="79455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歪理之八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78618" y="779482"/>
            <a:ext cx="417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8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20569" y="748702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做好</a:t>
            </a:r>
            <a:r>
              <a:rPr lang="zh-CN" altLang="en-US" sz="36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公知</a:t>
            </a:r>
            <a:r>
              <a:rPr lang="zh-CN" altLang="en-US" sz="28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不简单</a:t>
            </a:r>
            <a:endParaRPr lang="zh-CN" altLang="en-US" sz="28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094703" y="1767855"/>
            <a:ext cx="10446515" cy="4100339"/>
            <a:chOff x="1519703" y="2296228"/>
            <a:chExt cx="10446515" cy="4100339"/>
          </a:xfrm>
        </p:grpSpPr>
        <p:sp>
          <p:nvSpPr>
            <p:cNvPr id="31" name="圆角矩形 30"/>
            <p:cNvSpPr/>
            <p:nvPr/>
          </p:nvSpPr>
          <p:spPr>
            <a:xfrm>
              <a:off x="1519703" y="3018367"/>
              <a:ext cx="9859497" cy="3378200"/>
            </a:xfrm>
            <a:prstGeom prst="roundRect">
              <a:avLst>
                <a:gd name="adj" fmla="val 4637"/>
              </a:avLst>
            </a:prstGeom>
            <a:noFill/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2" name="Picture 2" descr="d:\已安装~1\360浏~1\360se6\USERDA~1\Temp\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92181" y="2296228"/>
              <a:ext cx="1174037" cy="1174037"/>
            </a:xfrm>
            <a:prstGeom prst="ellipse">
              <a:avLst/>
            </a:prstGeom>
            <a:ln>
              <a:solidFill>
                <a:srgbClr val="E25453"/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文本框 1"/>
          <p:cNvSpPr txBox="1"/>
          <p:nvPr/>
        </p:nvSpPr>
        <p:spPr>
          <a:xfrm>
            <a:off x="1314392" y="3037267"/>
            <a:ext cx="932386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罗胖歪理：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马克思的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理想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永远是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伟大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的</a:t>
            </a:r>
            <a:endParaRPr lang="en-US" altLang="zh-CN" sz="2400" dirty="0" smtClean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en-US" altLang="zh-CN" dirty="0"/>
          </a:p>
          <a:p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罗辑思维：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跟中国某些公知谈谈心，你们有马克思这样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爱智求知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的精神吗？我想奉劝一句：骂谁，或者说仇恨谁，如果你做不到马克思那样的境界，至少也应该像罗素的那句名言所说的那样：“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要有对爱情的追求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，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对知识的渴望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，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还有对人类苦难不可遏制的同情心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。”</a:t>
            </a:r>
            <a:endParaRPr lang="zh-CN" altLang="en-US" sz="2400" dirty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728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437880" y="439910"/>
            <a:ext cx="4726883" cy="1314000"/>
            <a:chOff x="437880" y="439910"/>
            <a:chExt cx="4726883" cy="1314000"/>
          </a:xfrm>
        </p:grpSpPr>
        <p:sp>
          <p:nvSpPr>
            <p:cNvPr id="24" name="五边形 23"/>
            <p:cNvSpPr/>
            <p:nvPr/>
          </p:nvSpPr>
          <p:spPr>
            <a:xfrm>
              <a:off x="1530774" y="754497"/>
              <a:ext cx="3633989" cy="634744"/>
            </a:xfrm>
            <a:prstGeom prst="homePlate">
              <a:avLst>
                <a:gd name="adj" fmla="val 120765"/>
              </a:avLst>
            </a:prstGeom>
            <a:solidFill>
              <a:srgbClr val="E35554"/>
            </a:solidFill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437880" y="439910"/>
              <a:ext cx="1313646" cy="1314000"/>
              <a:chOff x="450759" y="475983"/>
              <a:chExt cx="1313646" cy="1314000"/>
            </a:xfrm>
          </p:grpSpPr>
          <p:sp>
            <p:nvSpPr>
              <p:cNvPr id="26" name="椭圆 25"/>
              <p:cNvSpPr>
                <a:spLocks/>
              </p:cNvSpPr>
              <p:nvPr/>
            </p:nvSpPr>
            <p:spPr>
              <a:xfrm>
                <a:off x="450759" y="475983"/>
                <a:ext cx="1313646" cy="1314000"/>
              </a:xfrm>
              <a:prstGeom prst="ellipse">
                <a:avLst/>
              </a:prstGeom>
              <a:solidFill>
                <a:srgbClr val="E35554"/>
              </a:solidFill>
              <a:ln>
                <a:solidFill>
                  <a:srgbClr val="E3555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609932" y="1004551"/>
                <a:ext cx="246511" cy="282593"/>
              </a:xfrm>
              <a:prstGeom prst="ellipse">
                <a:avLst/>
              </a:prstGeom>
              <a:solidFill>
                <a:srgbClr val="EFEBE2"/>
              </a:solidFill>
              <a:ln>
                <a:solidFill>
                  <a:srgbClr val="EFEBE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5520569" y="693354"/>
            <a:ext cx="33137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交融</a:t>
            </a:r>
            <a:r>
              <a:rPr lang="zh-CN" altLang="en-US" sz="28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创造</a:t>
            </a:r>
            <a:r>
              <a:rPr lang="zh-CN" altLang="en-US" sz="36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新生命</a:t>
            </a:r>
            <a:endParaRPr lang="zh-CN" altLang="en-US" sz="3600" dirty="0">
              <a:solidFill>
                <a:srgbClr val="C00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201383" y="79455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歪理之</a:t>
            </a:r>
            <a:r>
              <a:rPr lang="zh-CN" altLang="en-US" sz="32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九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78618" y="779482"/>
            <a:ext cx="417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9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094703" y="1767855"/>
            <a:ext cx="10446515" cy="4100339"/>
            <a:chOff x="1519703" y="2296228"/>
            <a:chExt cx="10446515" cy="4100339"/>
          </a:xfrm>
        </p:grpSpPr>
        <p:sp>
          <p:nvSpPr>
            <p:cNvPr id="29" name="圆角矩形 28"/>
            <p:cNvSpPr/>
            <p:nvPr/>
          </p:nvSpPr>
          <p:spPr>
            <a:xfrm>
              <a:off x="1519703" y="3018367"/>
              <a:ext cx="9859497" cy="3378200"/>
            </a:xfrm>
            <a:prstGeom prst="roundRect">
              <a:avLst>
                <a:gd name="adj" fmla="val 4637"/>
              </a:avLst>
            </a:prstGeom>
            <a:noFill/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Picture 2" descr="d:\已安装~1\360浏~1\360se6\USERDA~1\Temp\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92181" y="2296228"/>
              <a:ext cx="1174037" cy="1174037"/>
            </a:xfrm>
            <a:prstGeom prst="ellipse">
              <a:avLst/>
            </a:prstGeom>
            <a:ln>
              <a:solidFill>
                <a:srgbClr val="E25453"/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文本框 2"/>
          <p:cNvSpPr txBox="1"/>
          <p:nvPr/>
        </p:nvSpPr>
        <p:spPr>
          <a:xfrm>
            <a:off x="1323528" y="3036570"/>
            <a:ext cx="93888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罗胖</a:t>
            </a:r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歪理：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让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思想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充分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做爱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，让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知识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激情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交互</a:t>
            </a:r>
            <a:endParaRPr lang="en-US" altLang="zh-CN" sz="2400" dirty="0" smtClean="0">
              <a:solidFill>
                <a:srgbClr val="C00000"/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en-US" altLang="zh-CN" sz="2000" dirty="0" smtClean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en-US" altLang="zh-CN" sz="2000" dirty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r>
              <a:rPr lang="zh-CN" altLang="en-US" sz="2800" dirty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罗辑思维</a:t>
            </a:r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知识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的产生之初往往没有明确用途，很多平凡人贡献的</a:t>
            </a:r>
            <a:r>
              <a:rPr lang="zh-CN" altLang="en-US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关键知识点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，它们汇集到历史的长河之中，就产生了澎湃的</a:t>
            </a:r>
            <a:r>
              <a:rPr lang="zh-CN" altLang="en-US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推动力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。实现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知识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的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自由联合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，让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碎片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和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思想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一起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自由做爱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，再生一个娃。</a:t>
            </a:r>
            <a:endParaRPr lang="zh-CN" altLang="en-US" sz="2400" dirty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zh-CN" altLang="en-US" sz="2400" dirty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229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437880" y="439910"/>
            <a:ext cx="4726883" cy="1314000"/>
            <a:chOff x="437880" y="439910"/>
            <a:chExt cx="4726883" cy="1314000"/>
          </a:xfrm>
        </p:grpSpPr>
        <p:sp>
          <p:nvSpPr>
            <p:cNvPr id="15" name="五边形 14"/>
            <p:cNvSpPr/>
            <p:nvPr/>
          </p:nvSpPr>
          <p:spPr>
            <a:xfrm>
              <a:off x="1530774" y="754497"/>
              <a:ext cx="3633989" cy="634744"/>
            </a:xfrm>
            <a:prstGeom prst="homePlate">
              <a:avLst>
                <a:gd name="adj" fmla="val 120765"/>
              </a:avLst>
            </a:prstGeom>
            <a:solidFill>
              <a:srgbClr val="E35554"/>
            </a:solidFill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437880" y="439910"/>
              <a:ext cx="1313646" cy="1314000"/>
              <a:chOff x="450759" y="475983"/>
              <a:chExt cx="1313646" cy="1314000"/>
            </a:xfrm>
          </p:grpSpPr>
          <p:sp>
            <p:nvSpPr>
              <p:cNvPr id="17" name="椭圆 16"/>
              <p:cNvSpPr>
                <a:spLocks/>
              </p:cNvSpPr>
              <p:nvPr/>
            </p:nvSpPr>
            <p:spPr>
              <a:xfrm>
                <a:off x="450759" y="475983"/>
                <a:ext cx="1313646" cy="1314000"/>
              </a:xfrm>
              <a:prstGeom prst="ellipse">
                <a:avLst/>
              </a:prstGeom>
              <a:solidFill>
                <a:srgbClr val="E35554"/>
              </a:solidFill>
              <a:ln>
                <a:solidFill>
                  <a:srgbClr val="E3555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609932" y="1004551"/>
                <a:ext cx="246511" cy="282593"/>
              </a:xfrm>
              <a:prstGeom prst="ellipse">
                <a:avLst/>
              </a:prstGeom>
              <a:solidFill>
                <a:srgbClr val="EFEBE2"/>
              </a:solidFill>
              <a:ln>
                <a:solidFill>
                  <a:srgbClr val="EFEBE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5520569" y="717925"/>
            <a:ext cx="52629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侏罗纪</a:t>
            </a:r>
            <a:r>
              <a:rPr lang="zh-CN" altLang="en-US" sz="28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结束之时，</a:t>
            </a:r>
            <a:r>
              <a:rPr lang="zh-CN" altLang="en-US" sz="40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恐龙</a:t>
            </a:r>
            <a:r>
              <a:rPr lang="zh-CN" altLang="en-US" sz="28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必死</a:t>
            </a:r>
            <a:endParaRPr lang="zh-CN" altLang="en-US" sz="24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01383" y="79455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歪理之十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78618" y="779482"/>
            <a:ext cx="6495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10</a:t>
            </a:r>
            <a:endParaRPr lang="zh-CN" altLang="en-US" sz="32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94703" y="1767855"/>
            <a:ext cx="10446515" cy="4100339"/>
            <a:chOff x="1519703" y="2296228"/>
            <a:chExt cx="10446515" cy="4100339"/>
          </a:xfrm>
        </p:grpSpPr>
        <p:sp>
          <p:nvSpPr>
            <p:cNvPr id="11" name="圆角矩形 10"/>
            <p:cNvSpPr/>
            <p:nvPr/>
          </p:nvSpPr>
          <p:spPr>
            <a:xfrm>
              <a:off x="1519703" y="3018367"/>
              <a:ext cx="9859497" cy="3378200"/>
            </a:xfrm>
            <a:prstGeom prst="roundRect">
              <a:avLst>
                <a:gd name="adj" fmla="val 4637"/>
              </a:avLst>
            </a:prstGeom>
            <a:noFill/>
            <a:ln>
              <a:solidFill>
                <a:srgbClr val="E355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Picture 2" descr="d:\已安装~1\360浏~1\360se6\USERDA~1\Temp\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92181" y="2296228"/>
              <a:ext cx="1174037" cy="1174037"/>
            </a:xfrm>
            <a:prstGeom prst="ellipse">
              <a:avLst/>
            </a:prstGeom>
            <a:ln>
              <a:solidFill>
                <a:srgbClr val="E25453"/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文本框 18"/>
          <p:cNvSpPr txBox="1"/>
          <p:nvPr/>
        </p:nvSpPr>
        <p:spPr>
          <a:xfrm>
            <a:off x="1315418" y="3033779"/>
            <a:ext cx="915539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</a:t>
            </a:r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胖</a:t>
            </a:r>
            <a:r>
              <a:rPr lang="zh-CN" altLang="en-US" sz="2800" dirty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歪理：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当</a:t>
            </a:r>
            <a:r>
              <a:rPr lang="zh-CN" altLang="en-US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侏罗纪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快要</a:t>
            </a:r>
            <a:r>
              <a:rPr lang="zh-CN" altLang="en-US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结束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的时候，</a:t>
            </a:r>
            <a:r>
              <a:rPr lang="zh-CN" altLang="en-US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恐龙必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死</a:t>
            </a:r>
            <a:endParaRPr lang="en-US" altLang="zh-CN" sz="2400" dirty="0" smtClean="0">
              <a:solidFill>
                <a:srgbClr val="C00000"/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en-US" altLang="zh-CN" sz="2000" dirty="0" smtClean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en-US" altLang="zh-CN" sz="2000" dirty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罗辑</a:t>
            </a:r>
            <a:r>
              <a:rPr lang="zh-CN" altLang="en-US" sz="2800" dirty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思维</a:t>
            </a:r>
            <a:r>
              <a:rPr lang="zh-CN" altLang="en-US" sz="28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：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我们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正处在一个从工业时代到</a:t>
            </a:r>
            <a:r>
              <a:rPr lang="zh-CN" altLang="en-US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互联网时代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的一个大转折点上面，这是人类历史上第</a:t>
            </a:r>
            <a:r>
              <a:rPr lang="en-US" altLang="zh-CN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2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次大转折点，在这个</a:t>
            </a:r>
            <a:r>
              <a:rPr lang="zh-CN" altLang="en-US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历史转折点</a:t>
            </a:r>
            <a:r>
              <a:rPr lang="zh-CN" altLang="en-US" sz="2400" dirty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上，历史一定会把绝大多数人抛弃到前一个时代里，只有一少部分人会穿越到下一个时代，成为下一个时代的开创者</a:t>
            </a:r>
            <a:r>
              <a:rPr lang="zh-CN" altLang="en-US" sz="2400" dirty="0" smtClean="0">
                <a:latin typeface="方正正黑简体" panose="02000000000000000000" pitchFamily="2" charset="-122"/>
                <a:ea typeface="方正正黑简体" panose="02000000000000000000" pitchFamily="2" charset="-122"/>
              </a:rPr>
              <a:t>。</a:t>
            </a:r>
            <a:endParaRPr lang="en-US" altLang="zh-CN" sz="2400" dirty="0" smtClean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endParaRPr lang="zh-CN" altLang="en-US" sz="2000" dirty="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60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71123" y="1336431"/>
            <a:ext cx="11240086" cy="4293454"/>
          </a:xfrm>
          <a:prstGeom prst="roundRect">
            <a:avLst>
              <a:gd name="adj" fmla="val 8514"/>
            </a:avLst>
          </a:prstGeom>
          <a:solidFill>
            <a:srgbClr val="E35554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815781" y="1716549"/>
            <a:ext cx="105507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《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罗辑思维</a:t>
            </a:r>
            <a:r>
              <a:rPr lang="en-US" altLang="zh-CN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》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是个很有意思的节目。我们平时从各个方面获取信息</a:t>
            </a:r>
            <a:r>
              <a:rPr lang="zh-CN" altLang="en-US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和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知识，但获取后怎样吸取营养呢？得到什么收益呢？</a:t>
            </a:r>
            <a:r>
              <a:rPr lang="en-US" altLang="zh-CN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《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罗辑思维</a:t>
            </a:r>
            <a:r>
              <a:rPr lang="en-US" altLang="zh-CN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》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常给出一个令人耳目一新的角度，让你受到启发。你未必全部赞同它的观点，但它眼界之开阔，思路之新颖肯定对我们是有帮助的。</a:t>
            </a:r>
            <a:endParaRPr lang="en-US" altLang="zh-CN" sz="2400" dirty="0" smtClean="0">
              <a:solidFill>
                <a:srgbClr val="C00000"/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r>
              <a:rPr lang="en-US" altLang="zh-CN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 </a:t>
            </a:r>
            <a:r>
              <a:rPr lang="en-US" altLang="zh-CN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                                                   ——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联想控股有限公司董事长  柳传志</a:t>
            </a:r>
            <a:endParaRPr lang="zh-CN" altLang="en-US" sz="2400" dirty="0">
              <a:solidFill>
                <a:srgbClr val="C00000"/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815781" y="4246675"/>
            <a:ext cx="10548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互联网时代，与其在组织内苟且残喘，不如跳出组织，自成一派，做个“基地组织”中的一员。</a:t>
            </a:r>
            <a:endParaRPr lang="en-US" altLang="zh-CN" sz="2400" dirty="0" smtClean="0">
              <a:solidFill>
                <a:srgbClr val="C00000"/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  <a:p>
            <a:r>
              <a:rPr lang="en-US" altLang="zh-CN" sz="2400" dirty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 </a:t>
            </a:r>
            <a:r>
              <a:rPr lang="en-US" altLang="zh-CN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                                                                           ——</a:t>
            </a:r>
            <a:r>
              <a:rPr lang="zh-CN" altLang="en-US" sz="2400" dirty="0" smtClean="0">
                <a:solidFill>
                  <a:srgbClr val="C00000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rPr>
              <a:t>罗胖的自我辩护</a:t>
            </a:r>
            <a:endParaRPr lang="zh-CN" altLang="en-US" sz="2400" dirty="0">
              <a:solidFill>
                <a:srgbClr val="C00000"/>
              </a:solidFill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295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1899139"/>
            <a:ext cx="12192000" cy="3038622"/>
          </a:xfrm>
          <a:prstGeom prst="rect">
            <a:avLst/>
          </a:prstGeom>
          <a:blipFill dpi="0" rotWithShape="1">
            <a:blip r:embed="rId3">
              <a:alphaModFix amt="70000"/>
            </a:blip>
            <a:srcRect/>
            <a:tile tx="0" ty="0" sx="100000" sy="100000" flip="none" algn="tl"/>
          </a:blip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085" y="2129205"/>
            <a:ext cx="2310471" cy="231047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970084" y="4439676"/>
            <a:ext cx="2310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罗辑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思维微信二维码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06573" y="3885678"/>
            <a:ext cx="48331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罗振宇微博：</a:t>
            </a:r>
            <a:r>
              <a:rPr lang="en-US" altLang="zh-CN" dirty="0" smtClean="0"/>
              <a:t>http://luozhenyu.blog.sohu.com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罗辑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思维朋友圈微博：</a:t>
            </a:r>
            <a:r>
              <a:rPr lang="en-US" altLang="zh-CN" dirty="0" smtClean="0"/>
              <a:t>http://weibo.com/ljsiwei</a:t>
            </a: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106573" y="2236326"/>
            <a:ext cx="4155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读书笔记</a:t>
            </a:r>
            <a:r>
              <a:rPr lang="zh-CN" altLang="en-US" sz="2400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分享人</a:t>
            </a:r>
            <a:r>
              <a:rPr lang="zh-CN" altLang="en-US" sz="24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：</a:t>
            </a:r>
            <a:r>
              <a:rPr lang="en-US" altLang="zh-CN" sz="24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@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马赛克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_ll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53882" y="264628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欢迎</a:t>
            </a:r>
            <a:r>
              <a:rPr lang="zh-CN" altLang="en-US" dirty="0" smtClean="0">
                <a:solidFill>
                  <a:srgbClr val="C00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交流</a:t>
            </a:r>
            <a:endParaRPr lang="zh-CN" altLang="en-US" dirty="0">
              <a:solidFill>
                <a:srgbClr val="C00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579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52316" y="492370"/>
            <a:ext cx="10883191" cy="1121776"/>
          </a:xfrm>
          <a:prstGeom prst="rect">
            <a:avLst/>
          </a:prstGeom>
          <a:solidFill>
            <a:srgbClr val="BBE0E6"/>
          </a:solidFill>
          <a:ln>
            <a:solidFill>
              <a:srgbClr val="BBE0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33046" y="598483"/>
            <a:ext cx="109024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感谢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秋叶 大叔，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小巴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_1990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反复指导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我在网易云课堂等你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17" y="2094598"/>
            <a:ext cx="5059165" cy="28457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072" y="2094597"/>
            <a:ext cx="5078436" cy="284578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652317" y="5319587"/>
            <a:ext cx="5059165" cy="669932"/>
          </a:xfrm>
          <a:prstGeom prst="rect">
            <a:avLst/>
          </a:prstGeom>
          <a:solidFill>
            <a:srgbClr val="BB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476343" y="5319587"/>
            <a:ext cx="5059165" cy="669932"/>
          </a:xfrm>
          <a:prstGeom prst="rect">
            <a:avLst/>
          </a:prstGeom>
          <a:solidFill>
            <a:srgbClr val="BB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383532" y="5392943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136D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  <a:endParaRPr lang="zh-CN" altLang="en-US" sz="2800" b="1" dirty="0">
              <a:solidFill>
                <a:srgbClr val="136DA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03772" y="5392943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800" b="1">
                <a:solidFill>
                  <a:srgbClr val="136DA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修改后</a:t>
            </a:r>
          </a:p>
        </p:txBody>
      </p:sp>
    </p:spTree>
    <p:extLst>
      <p:ext uri="{BB962C8B-B14F-4D97-AF65-F5344CB8AC3E}">
        <p14:creationId xmlns:p14="http://schemas.microsoft.com/office/powerpoint/2010/main" val="322694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200" y="837705"/>
            <a:ext cx="8229600" cy="4247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361" y="2781790"/>
            <a:ext cx="129618" cy="24117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51" y="2781790"/>
            <a:ext cx="129618" cy="24117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539" y="2781790"/>
            <a:ext cx="129618" cy="24117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7842" y="4061337"/>
            <a:ext cx="8229600" cy="196720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620"/>
              </a:spcBef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62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270" y="4401136"/>
            <a:ext cx="7647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7842" y="2165225"/>
            <a:ext cx="1749844" cy="1207238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231" y="2165228"/>
            <a:ext cx="1749844" cy="1207239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5" y="2165225"/>
            <a:ext cx="1749844" cy="1207238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347" y="2165225"/>
            <a:ext cx="1749844" cy="1207238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4700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4781" y="4012266"/>
            <a:ext cx="8252103" cy="1446609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4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90"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</a:rPr>
              </a:br>
              <a:endParaRPr lang="en-US" altLang="zh-CN" sz="126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22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22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22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4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19839" cy="916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22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22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22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22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22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22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22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22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22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22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22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22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590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22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35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211971" y="1160749"/>
            <a:ext cx="5768063" cy="261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700"/>
              </a:spcBef>
            </a:pP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008</a:t>
            </a:r>
            <a:r>
              <a:rPr lang="zh-CN" altLang="en-US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700"/>
              </a:spcBef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74151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25453"/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1367</Words>
  <Application>Microsoft Office PowerPoint</Application>
  <PresentationFormat>宽屏</PresentationFormat>
  <Paragraphs>118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方正行黑简体</vt:lpstr>
      <vt:lpstr>方正宋刻本秀楷简体</vt:lpstr>
      <vt:lpstr>方正艺黑简体</vt:lpstr>
      <vt:lpstr>方正正黑简体</vt:lpstr>
      <vt:lpstr>方正正中黑简体</vt:lpstr>
      <vt:lpstr>华康俪金黑W8(P)</vt:lpstr>
      <vt:lpstr>宋体</vt:lpstr>
      <vt:lpstr>微软雅黑</vt:lpstr>
      <vt:lpstr>造字工房悦黑演示版常规体</vt:lpstr>
      <vt:lpstr>Arial</vt:lpstr>
      <vt:lpstr>Calibri</vt:lpstr>
      <vt:lpstr>Calibri Light</vt:lpstr>
      <vt:lpstr>Office 主题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Sky123.Org</dc:creator>
  <cp:lastModifiedBy>小巴</cp:lastModifiedBy>
  <cp:revision>118</cp:revision>
  <dcterms:created xsi:type="dcterms:W3CDTF">2014-01-26T16:25:19Z</dcterms:created>
  <dcterms:modified xsi:type="dcterms:W3CDTF">2014-02-05T18:07:31Z</dcterms:modified>
</cp:coreProperties>
</file>