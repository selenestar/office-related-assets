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5" r:id="rId10"/>
    <p:sldId id="266" r:id="rId11"/>
    <p:sldId id="267" r:id="rId12"/>
    <p:sldId id="268" r:id="rId13"/>
    <p:sldId id="269" r:id="rId14"/>
    <p:sldId id="262" r:id="rId15"/>
  </p:sldIdLst>
  <p:sldSz cx="9144000" cy="6858000" type="screen4x3"/>
  <p:notesSz cx="6858000" cy="9144000"/>
  <p:embeddedFontLs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微软雅黑" pitchFamily="34" charset="-122"/>
      <p:regular r:id="rId21"/>
      <p:bold r:id="rId22"/>
    </p:embeddedFont>
    <p:embeddedFont>
      <p:font typeface="华康俪金黑W8(P)" pitchFamily="34" charset="-122"/>
      <p:regular r:id="rId23"/>
    </p:embeddedFont>
    <p:embeddedFont>
      <p:font typeface="HanWangGSolid06cut1" pitchFamily="18" charset="-120"/>
      <p:regular r:id="rId24"/>
    </p:embeddedFont>
    <p:embeddedFont>
      <p:font typeface="Berlin Sans FB Demi" pitchFamily="34" charset="0"/>
      <p:bold r:id="rId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345" autoAdjust="0"/>
  </p:normalViewPr>
  <p:slideViewPr>
    <p:cSldViewPr>
      <p:cViewPr>
        <p:scale>
          <a:sx n="87" d="100"/>
          <a:sy n="87" d="100"/>
        </p:scale>
        <p:origin x="-576" y="312"/>
      </p:cViewPr>
      <p:guideLst>
        <p:guide orient="horz" pos="3566"/>
        <p:guide orient="horz" pos="1570"/>
        <p:guide orient="horz" pos="2614"/>
        <p:guide pos="521"/>
        <p:guide pos="249"/>
        <p:guide pos="5239"/>
        <p:guide pos="310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D76A6-E6BD-4CED-B930-27CDBCA00FB7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51354-71D5-4B07-BBDC-409E35A109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51354-71D5-4B07-BBDC-409E35A10903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51354-71D5-4B07-BBDC-409E35A10903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51354-71D5-4B07-BBDC-409E35A10903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51354-71D5-4B07-BBDC-409E35A10903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51354-71D5-4B07-BBDC-409E35A10903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51354-71D5-4B07-BBDC-409E35A10903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B8461-F536-4EC1-931A-1A7991F11B8A}" type="datetimeFigureOut">
              <a:rPr lang="zh-CN" altLang="en-US" smtClean="0"/>
              <a:pPr/>
              <a:t>2014-3-30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04D90-625E-4D39-BAAD-B5B67735BA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492375"/>
            <a:ext cx="9144000" cy="17287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3702" y="1387017"/>
            <a:ext cx="2023740" cy="2819398"/>
          </a:xfrm>
          <a:prstGeom prst="rect">
            <a:avLst/>
          </a:prstGeom>
          <a:noFill/>
          <a:ln w="6350">
            <a:noFill/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697943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作者：雅克 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·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纳斯海</a:t>
            </a:r>
            <a:endParaRPr lang="en-US" altLang="zh-CN" sz="1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出版：后浪出版公司</a:t>
            </a:r>
            <a:endParaRPr lang="en-US" altLang="zh-CN" sz="1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7158" y="1857363"/>
            <a:ext cx="1785950" cy="2363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57158" y="2317616"/>
            <a:ext cx="17610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bg1">
                    <a:lumMod val="50000"/>
                  </a:schemeClr>
                </a:solidFill>
                <a:latin typeface="华康俪金黑W8(P)" pitchFamily="34" charset="-122"/>
                <a:ea typeface="华康俪金黑W8(P)" pitchFamily="34" charset="-122"/>
              </a:rPr>
              <a:t>读书</a:t>
            </a:r>
            <a:endParaRPr lang="en-US" altLang="zh-CN" sz="5400" dirty="0" smtClean="0">
              <a:solidFill>
                <a:schemeClr val="bg1">
                  <a:lumMod val="50000"/>
                </a:schemeClr>
              </a:solidFill>
              <a:latin typeface="华康俪金黑W8(P)" pitchFamily="34" charset="-122"/>
              <a:ea typeface="华康俪金黑W8(P)" pitchFamily="34" charset="-122"/>
            </a:endParaRPr>
          </a:p>
          <a:p>
            <a:pPr algn="dist"/>
            <a:r>
              <a:rPr lang="zh-CN" altLang="en-US" sz="5400" dirty="0" smtClean="0">
                <a:solidFill>
                  <a:schemeClr val="bg1">
                    <a:lumMod val="50000"/>
                  </a:schemeClr>
                </a:solidFill>
                <a:latin typeface="华康俪金黑W8(P)" pitchFamily="34" charset="-122"/>
                <a:ea typeface="华康俪金黑W8(P)" pitchFamily="34" charset="-122"/>
              </a:rPr>
              <a:t>笔记</a:t>
            </a:r>
            <a:endParaRPr lang="en-US" altLang="zh-CN" sz="5400" dirty="0" smtClean="0">
              <a:solidFill>
                <a:schemeClr val="bg1">
                  <a:lumMod val="50000"/>
                </a:schemeClr>
              </a:solidFill>
              <a:latin typeface="华康俪金黑W8(P)" pitchFamily="34" charset="-122"/>
              <a:ea typeface="华康俪金黑W8(P)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9532" y="3955067"/>
            <a:ext cx="16786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天天向</a:t>
            </a:r>
            <a:r>
              <a:rPr lang="en-US" altLang="zh-CN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Qian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前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57554" y="2643182"/>
            <a:ext cx="326243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 smtClean="0">
                <a:latin typeface="华康俪金黑W8(P)" pitchFamily="34" charset="-122"/>
                <a:ea typeface="华康俪金黑W8(P)" pitchFamily="34" charset="-122"/>
              </a:rPr>
              <a:t>透视</a:t>
            </a:r>
            <a:r>
              <a:rPr lang="zh-CN" altLang="en-US" sz="6000" b="1" dirty="0" smtClean="0">
                <a:ln w="19050">
                  <a:solidFill>
                    <a:schemeClr val="bg1"/>
                  </a:solidFill>
                </a:ln>
                <a:solidFill>
                  <a:srgbClr val="FF0000"/>
                </a:solidFill>
                <a:latin typeface="华康俪金黑W8(P)" pitchFamily="34" charset="-122"/>
                <a:ea typeface="华康俪金黑W8(P)" pitchFamily="34" charset="-122"/>
              </a:rPr>
              <a:t>谎言</a:t>
            </a:r>
            <a:endParaRPr lang="en-US" altLang="zh-CN" sz="6000" b="1" dirty="0" smtClean="0">
              <a:ln w="19050">
                <a:solidFill>
                  <a:schemeClr val="bg1"/>
                </a:solidFill>
              </a:ln>
              <a:solidFill>
                <a:srgbClr val="FF0000"/>
              </a:solidFill>
              <a:latin typeface="华康俪金黑W8(P)" pitchFamily="34" charset="-122"/>
              <a:ea typeface="华康俪金黑W8(P)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214314"/>
            <a:ext cx="9144000" cy="714356"/>
            <a:chOff x="0" y="71438"/>
            <a:chExt cx="9144000" cy="714356"/>
          </a:xfrm>
          <a:solidFill>
            <a:schemeClr val="bg1">
              <a:lumMod val="75000"/>
            </a:schemeClr>
          </a:solidFill>
        </p:grpSpPr>
        <p:sp>
          <p:nvSpPr>
            <p:cNvPr id="4" name="矩形 3"/>
            <p:cNvSpPr/>
            <p:nvPr/>
          </p:nvSpPr>
          <p:spPr>
            <a:xfrm>
              <a:off x="0" y="71438"/>
              <a:ext cx="9144000" cy="714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5720" y="71438"/>
              <a:ext cx="714380" cy="714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华康俪金黑W8(P)" pitchFamily="34" charset="-122"/>
                  <a:ea typeface="华康俪金黑W8(P)" pitchFamily="34" charset="-122"/>
                </a:rPr>
                <a:t>作者简介</a:t>
              </a:r>
              <a:endParaRPr lang="zh-CN" altLang="en-US" sz="2000" dirty="0">
                <a:solidFill>
                  <a:schemeClr val="tx1"/>
                </a:solidFill>
                <a:latin typeface="华康俪金黑W8(P)" pitchFamily="34" charset="-122"/>
                <a:ea typeface="华康俪金黑W8(P)" pitchFamily="34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2" descr="http://img1.cache.netease.com/catchpic/E/E9/E9AD81634F63B1B7C44F774760BF926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928802"/>
            <a:ext cx="2143120" cy="297179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3929058" y="3526697"/>
            <a:ext cx="21226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雅克 </a:t>
            </a:r>
            <a:r>
              <a:rPr lang="en-US" altLang="zh-CN" sz="2400" b="1" dirty="0" smtClean="0">
                <a:solidFill>
                  <a:srgbClr val="FF0000"/>
                </a:solidFill>
                <a:latin typeface="HanWangGSolid06cut1" pitchFamily="18" charset="-120"/>
                <a:ea typeface="HanWangGSolid06cut1" pitchFamily="18" charset="-120"/>
              </a:rPr>
              <a:t>·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纳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斯海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29058" y="3845486"/>
            <a:ext cx="2000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Jack   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Nasher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929058" y="4221163"/>
            <a:ext cx="38811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教授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德国慕尼黑商学院的领导统御暨组织学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成员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知名学术社群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人格与社会心理学学会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”</a:t>
            </a:r>
          </a:p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顾问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获许多国际企业聘请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86185" y="3143248"/>
            <a:ext cx="71438" cy="17573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/>
        </p:nvGrpSpPr>
        <p:grpSpPr>
          <a:xfrm>
            <a:off x="0" y="214314"/>
            <a:ext cx="9144000" cy="714356"/>
            <a:chOff x="0" y="71438"/>
            <a:chExt cx="9144000" cy="714356"/>
          </a:xfrm>
          <a:solidFill>
            <a:schemeClr val="bg1">
              <a:lumMod val="75000"/>
            </a:schemeClr>
          </a:solidFill>
        </p:grpSpPr>
        <p:sp>
          <p:nvSpPr>
            <p:cNvPr id="4" name="矩形 3"/>
            <p:cNvSpPr/>
            <p:nvPr/>
          </p:nvSpPr>
          <p:spPr>
            <a:xfrm>
              <a:off x="0" y="71438"/>
              <a:ext cx="9144000" cy="714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5720" y="71438"/>
              <a:ext cx="714380" cy="714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华康俪金黑W8(P)" pitchFamily="34" charset="-122"/>
                  <a:ea typeface="华康俪金黑W8(P)" pitchFamily="34" charset="-122"/>
                </a:rPr>
                <a:t>笔记</a:t>
              </a:r>
              <a:endParaRPr lang="en-US" altLang="zh-CN" sz="2000" dirty="0" smtClean="0">
                <a:solidFill>
                  <a:schemeClr val="tx1"/>
                </a:solidFill>
                <a:latin typeface="华康俪金黑W8(P)" pitchFamily="34" charset="-122"/>
                <a:ea typeface="华康俪金黑W8(P)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华康俪金黑W8(P)" pitchFamily="34" charset="-122"/>
                  <a:ea typeface="华康俪金黑W8(P)" pitchFamily="34" charset="-122"/>
                </a:rPr>
                <a:t>目录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142976" y="1643050"/>
            <a:ext cx="2681514" cy="929436"/>
            <a:chOff x="1142976" y="1643050"/>
            <a:chExt cx="2681514" cy="929436"/>
          </a:xfrm>
        </p:grpSpPr>
        <p:sp>
          <p:nvSpPr>
            <p:cNvPr id="14" name="矩形 1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WHAT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357422" y="217237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什么是谎言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857752" y="1642308"/>
            <a:ext cx="3194475" cy="929436"/>
            <a:chOff x="1142976" y="1643050"/>
            <a:chExt cx="3194475" cy="929436"/>
          </a:xfrm>
        </p:grpSpPr>
        <p:sp>
          <p:nvSpPr>
            <p:cNvPr id="30" name="矩形 29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WHY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357422" y="2172376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为什么谎言难破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214414" y="3291727"/>
            <a:ext cx="2937995" cy="929436"/>
            <a:chOff x="1142976" y="1643050"/>
            <a:chExt cx="2937995" cy="929436"/>
          </a:xfrm>
        </p:grpSpPr>
        <p:sp>
          <p:nvSpPr>
            <p:cNvPr id="34" name="矩形 3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HOW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怎样揭穿谎言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857752" y="3291727"/>
            <a:ext cx="2937995" cy="929436"/>
            <a:chOff x="1142976" y="1643050"/>
            <a:chExt cx="2937995" cy="929436"/>
          </a:xfrm>
        </p:grpSpPr>
        <p:sp>
          <p:nvSpPr>
            <p:cNvPr id="38" name="矩形 37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START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揭谎前的准备</a:t>
              </a:r>
            </a:p>
          </p:txBody>
        </p:sp>
      </p:grpSp>
      <p:sp>
        <p:nvSpPr>
          <p:cNvPr id="41" name="椭圆形标注 40"/>
          <p:cNvSpPr/>
          <p:nvPr/>
        </p:nvSpPr>
        <p:spPr>
          <a:xfrm>
            <a:off x="3714744" y="1928802"/>
            <a:ext cx="285752" cy="285752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2" name="椭圆形标注 41"/>
          <p:cNvSpPr/>
          <p:nvPr/>
        </p:nvSpPr>
        <p:spPr>
          <a:xfrm>
            <a:off x="7929586" y="1857364"/>
            <a:ext cx="285752" cy="285752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3" name="椭圆形标注 42"/>
          <p:cNvSpPr/>
          <p:nvPr/>
        </p:nvSpPr>
        <p:spPr>
          <a:xfrm>
            <a:off x="4000496" y="3571876"/>
            <a:ext cx="285752" cy="285752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44" name="椭圆形标注 43"/>
          <p:cNvSpPr/>
          <p:nvPr/>
        </p:nvSpPr>
        <p:spPr>
          <a:xfrm>
            <a:off x="7643834" y="3571876"/>
            <a:ext cx="285752" cy="285752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圆角矩形 57"/>
          <p:cNvSpPr/>
          <p:nvPr/>
        </p:nvSpPr>
        <p:spPr bwMode="auto">
          <a:xfrm>
            <a:off x="5929290" y="5336561"/>
            <a:ext cx="2571800" cy="714379"/>
          </a:xfrm>
          <a:prstGeom prst="roundRect">
            <a:avLst>
              <a:gd name="adj" fmla="val 12202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3600" dirty="0"/>
          </a:p>
        </p:txBody>
      </p:sp>
      <p:sp>
        <p:nvSpPr>
          <p:cNvPr id="53" name="圆角矩形 52"/>
          <p:cNvSpPr/>
          <p:nvPr/>
        </p:nvSpPr>
        <p:spPr bwMode="auto">
          <a:xfrm>
            <a:off x="3214678" y="4500570"/>
            <a:ext cx="2857520" cy="714379"/>
          </a:xfrm>
          <a:prstGeom prst="roundRect">
            <a:avLst>
              <a:gd name="adj" fmla="val 12202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3600" dirty="0"/>
          </a:p>
        </p:txBody>
      </p:sp>
      <p:sp>
        <p:nvSpPr>
          <p:cNvPr id="52" name="圆角矩形 51"/>
          <p:cNvSpPr/>
          <p:nvPr/>
        </p:nvSpPr>
        <p:spPr bwMode="auto">
          <a:xfrm>
            <a:off x="571472" y="4071942"/>
            <a:ext cx="2500330" cy="690086"/>
          </a:xfrm>
          <a:prstGeom prst="roundRect">
            <a:avLst>
              <a:gd name="adj" fmla="val 12202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3600" dirty="0"/>
          </a:p>
        </p:txBody>
      </p:sp>
      <p:sp>
        <p:nvSpPr>
          <p:cNvPr id="51" name="矩形 3"/>
          <p:cNvSpPr/>
          <p:nvPr/>
        </p:nvSpPr>
        <p:spPr bwMode="auto">
          <a:xfrm>
            <a:off x="1285852" y="1714488"/>
            <a:ext cx="6911997" cy="1200329"/>
          </a:xfrm>
          <a:custGeom>
            <a:avLst/>
            <a:gdLst>
              <a:gd name="connsiteX0" fmla="*/ 0 w 8016784"/>
              <a:gd name="connsiteY0" fmla="*/ 0 h 1059658"/>
              <a:gd name="connsiteX1" fmla="*/ 8016784 w 8016784"/>
              <a:gd name="connsiteY1" fmla="*/ 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  <a:gd name="connsiteX0" fmla="*/ 0 w 8016784"/>
              <a:gd name="connsiteY0" fmla="*/ 0 h 1059658"/>
              <a:gd name="connsiteX1" fmla="*/ 7522108 w 8016784"/>
              <a:gd name="connsiteY1" fmla="*/ 1499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6784" h="1059658">
                <a:moveTo>
                  <a:pt x="0" y="0"/>
                </a:moveTo>
                <a:lnTo>
                  <a:pt x="7522108" y="14990"/>
                </a:lnTo>
                <a:lnTo>
                  <a:pt x="8016784" y="1059658"/>
                </a:lnTo>
                <a:lnTo>
                  <a:pt x="0" y="1059658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 sz="72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214290"/>
            <a:ext cx="9144000" cy="785818"/>
            <a:chOff x="0" y="214290"/>
            <a:chExt cx="9144000" cy="785818"/>
          </a:xfrm>
          <a:solidFill>
            <a:schemeClr val="bg1">
              <a:lumMod val="85000"/>
            </a:schemeClr>
          </a:solidFill>
        </p:grpSpPr>
        <p:sp>
          <p:nvSpPr>
            <p:cNvPr id="4" name="矩形 3"/>
            <p:cNvSpPr/>
            <p:nvPr/>
          </p:nvSpPr>
          <p:spPr>
            <a:xfrm>
              <a:off x="0" y="214314"/>
              <a:ext cx="9144000" cy="71435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23850" y="214290"/>
              <a:ext cx="2747952" cy="7858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7"/>
          <p:cNvGrpSpPr/>
          <p:nvPr/>
        </p:nvGrpSpPr>
        <p:grpSpPr>
          <a:xfrm>
            <a:off x="357158" y="-24"/>
            <a:ext cx="2681514" cy="929436"/>
            <a:chOff x="1142976" y="1643050"/>
            <a:chExt cx="2681514" cy="929436"/>
          </a:xfrm>
        </p:grpSpPr>
        <p:sp>
          <p:nvSpPr>
            <p:cNvPr id="14" name="矩形 1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WHAT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357422" y="217237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什么是谎言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23850" y="1285860"/>
            <a:ext cx="490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在美国的法庭里，证人在进行陈述之前必须先宣誓：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1604" y="1901927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我将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陈述事实，完整的事实，纯粹的事实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1604" y="2338486"/>
            <a:ext cx="5715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will tell 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the truth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the whole truth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, and 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nothing but the truth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3850" y="3571876"/>
            <a:ext cx="3793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这么做的目的是要打倒欺骗的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大支柱：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642910" y="4071942"/>
            <a:ext cx="2152177" cy="610886"/>
            <a:chOff x="642910" y="4071942"/>
            <a:chExt cx="2152177" cy="610886"/>
          </a:xfrm>
        </p:grpSpPr>
        <p:sp>
          <p:nvSpPr>
            <p:cNvPr id="29" name="TextBox 28"/>
            <p:cNvSpPr txBox="1"/>
            <p:nvPr/>
          </p:nvSpPr>
          <p:spPr>
            <a:xfrm>
              <a:off x="1071538" y="4221163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典型的谎言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642910" y="4071942"/>
              <a:ext cx="42511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 rot="5400000">
              <a:off x="864770" y="4298641"/>
              <a:ext cx="369332" cy="2689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3214678" y="4500570"/>
            <a:ext cx="2767730" cy="610886"/>
            <a:chOff x="642910" y="4071942"/>
            <a:chExt cx="2767730" cy="610886"/>
          </a:xfrm>
        </p:grpSpPr>
        <p:sp>
          <p:nvSpPr>
            <p:cNvPr id="44" name="TextBox 43"/>
            <p:cNvSpPr txBox="1"/>
            <p:nvPr/>
          </p:nvSpPr>
          <p:spPr>
            <a:xfrm>
              <a:off x="1071538" y="4221163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真假交杂的陈述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642910" y="4071942"/>
              <a:ext cx="42511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>
            <a:xfrm rot="5400000">
              <a:off x="851122" y="4298641"/>
              <a:ext cx="369332" cy="2689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6000760" y="5357826"/>
            <a:ext cx="2152177" cy="610886"/>
            <a:chOff x="642910" y="4071942"/>
            <a:chExt cx="2152177" cy="610886"/>
          </a:xfrm>
        </p:grpSpPr>
        <p:sp>
          <p:nvSpPr>
            <p:cNvPr id="48" name="TextBox 47"/>
            <p:cNvSpPr txBox="1"/>
            <p:nvPr/>
          </p:nvSpPr>
          <p:spPr>
            <a:xfrm>
              <a:off x="1071538" y="4221163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误导的陈述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642910" y="4071942"/>
              <a:ext cx="42511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50" name="直接连接符 49"/>
            <p:cNvCxnSpPr/>
            <p:nvPr/>
          </p:nvCxnSpPr>
          <p:spPr>
            <a:xfrm rot="5400000">
              <a:off x="851122" y="4298641"/>
              <a:ext cx="369332" cy="2689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"/>
          <p:cNvSpPr/>
          <p:nvPr/>
        </p:nvSpPr>
        <p:spPr bwMode="auto">
          <a:xfrm>
            <a:off x="1285852" y="3786190"/>
            <a:ext cx="6911997" cy="923330"/>
          </a:xfrm>
          <a:custGeom>
            <a:avLst/>
            <a:gdLst>
              <a:gd name="connsiteX0" fmla="*/ 0 w 8016784"/>
              <a:gd name="connsiteY0" fmla="*/ 0 h 1059658"/>
              <a:gd name="connsiteX1" fmla="*/ 8016784 w 8016784"/>
              <a:gd name="connsiteY1" fmla="*/ 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  <a:gd name="connsiteX0" fmla="*/ 0 w 8016784"/>
              <a:gd name="connsiteY0" fmla="*/ 0 h 1059658"/>
              <a:gd name="connsiteX1" fmla="*/ 7522108 w 8016784"/>
              <a:gd name="connsiteY1" fmla="*/ 1499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6784" h="1059658">
                <a:moveTo>
                  <a:pt x="0" y="0"/>
                </a:moveTo>
                <a:lnTo>
                  <a:pt x="7522108" y="14990"/>
                </a:lnTo>
                <a:lnTo>
                  <a:pt x="8016784" y="1059658"/>
                </a:lnTo>
                <a:lnTo>
                  <a:pt x="0" y="1059658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 sz="5400" dirty="0"/>
          </a:p>
        </p:txBody>
      </p:sp>
      <p:sp>
        <p:nvSpPr>
          <p:cNvPr id="37" name="矩形 3"/>
          <p:cNvSpPr/>
          <p:nvPr/>
        </p:nvSpPr>
        <p:spPr bwMode="auto">
          <a:xfrm>
            <a:off x="1285852" y="1899896"/>
            <a:ext cx="6911997" cy="923330"/>
          </a:xfrm>
          <a:custGeom>
            <a:avLst/>
            <a:gdLst>
              <a:gd name="connsiteX0" fmla="*/ 0 w 8016784"/>
              <a:gd name="connsiteY0" fmla="*/ 0 h 1059658"/>
              <a:gd name="connsiteX1" fmla="*/ 8016784 w 8016784"/>
              <a:gd name="connsiteY1" fmla="*/ 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  <a:gd name="connsiteX0" fmla="*/ 0 w 8016784"/>
              <a:gd name="connsiteY0" fmla="*/ 0 h 1059658"/>
              <a:gd name="connsiteX1" fmla="*/ 7522108 w 8016784"/>
              <a:gd name="connsiteY1" fmla="*/ 1499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6784" h="1059658">
                <a:moveTo>
                  <a:pt x="0" y="0"/>
                </a:moveTo>
                <a:lnTo>
                  <a:pt x="7522108" y="14990"/>
                </a:lnTo>
                <a:lnTo>
                  <a:pt x="8016784" y="1059658"/>
                </a:lnTo>
                <a:lnTo>
                  <a:pt x="0" y="1059658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 sz="5400" dirty="0"/>
          </a:p>
        </p:txBody>
      </p:sp>
      <p:grpSp>
        <p:nvGrpSpPr>
          <p:cNvPr id="2" name="组合 22"/>
          <p:cNvGrpSpPr/>
          <p:nvPr/>
        </p:nvGrpSpPr>
        <p:grpSpPr>
          <a:xfrm>
            <a:off x="0" y="214290"/>
            <a:ext cx="9144000" cy="785818"/>
            <a:chOff x="0" y="214290"/>
            <a:chExt cx="9144000" cy="785818"/>
          </a:xfrm>
          <a:solidFill>
            <a:schemeClr val="bg1">
              <a:lumMod val="85000"/>
            </a:schemeClr>
          </a:solidFill>
        </p:grpSpPr>
        <p:sp>
          <p:nvSpPr>
            <p:cNvPr id="4" name="矩形 3"/>
            <p:cNvSpPr/>
            <p:nvPr/>
          </p:nvSpPr>
          <p:spPr>
            <a:xfrm>
              <a:off x="0" y="214314"/>
              <a:ext cx="9144000" cy="71435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23850" y="214290"/>
              <a:ext cx="2747952" cy="7858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7"/>
          <p:cNvGrpSpPr/>
          <p:nvPr/>
        </p:nvGrpSpPr>
        <p:grpSpPr>
          <a:xfrm>
            <a:off x="357158" y="-24"/>
            <a:ext cx="2681514" cy="929436"/>
            <a:chOff x="1142976" y="1643050"/>
            <a:chExt cx="2681514" cy="929436"/>
          </a:xfrm>
        </p:grpSpPr>
        <p:sp>
          <p:nvSpPr>
            <p:cNvPr id="14" name="矩形 1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WHAT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357422" y="217237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什么是谎言</a:t>
              </a:r>
            </a:p>
          </p:txBody>
        </p:sp>
      </p:grpSp>
      <p:grpSp>
        <p:nvGrpSpPr>
          <p:cNvPr id="5" name="组合 41"/>
          <p:cNvGrpSpPr/>
          <p:nvPr/>
        </p:nvGrpSpPr>
        <p:grpSpPr>
          <a:xfrm>
            <a:off x="323850" y="1258560"/>
            <a:ext cx="2152177" cy="610886"/>
            <a:chOff x="642910" y="4071942"/>
            <a:chExt cx="2152177" cy="610886"/>
          </a:xfrm>
        </p:grpSpPr>
        <p:sp>
          <p:nvSpPr>
            <p:cNvPr id="29" name="TextBox 28"/>
            <p:cNvSpPr txBox="1"/>
            <p:nvPr/>
          </p:nvSpPr>
          <p:spPr>
            <a:xfrm>
              <a:off x="1071538" y="4221163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典型的谎言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642910" y="4071942"/>
              <a:ext cx="42511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 rot="5400000">
              <a:off x="864770" y="4298641"/>
              <a:ext cx="369332" cy="2689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42"/>
          <p:cNvGrpSpPr/>
          <p:nvPr/>
        </p:nvGrpSpPr>
        <p:grpSpPr>
          <a:xfrm>
            <a:off x="323850" y="3187386"/>
            <a:ext cx="2767730" cy="610886"/>
            <a:chOff x="642910" y="4071942"/>
            <a:chExt cx="2767730" cy="610886"/>
          </a:xfrm>
        </p:grpSpPr>
        <p:sp>
          <p:nvSpPr>
            <p:cNvPr id="44" name="TextBox 43"/>
            <p:cNvSpPr txBox="1"/>
            <p:nvPr/>
          </p:nvSpPr>
          <p:spPr>
            <a:xfrm>
              <a:off x="1071538" y="4221163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真假交杂的陈述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642910" y="4071942"/>
              <a:ext cx="42511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>
            <a:xfrm rot="5400000">
              <a:off x="851122" y="4298641"/>
              <a:ext cx="369332" cy="2689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500166" y="204437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  <a:gridCol w="571504"/>
                <a:gridCol w="273841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说谎者的陈述：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真相是：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我昨天没有喝酒。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他昨天跟朋友在酒吧喝酒。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右箭头 30"/>
          <p:cNvSpPr/>
          <p:nvPr/>
        </p:nvSpPr>
        <p:spPr>
          <a:xfrm>
            <a:off x="4214810" y="2193445"/>
            <a:ext cx="214314" cy="2989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`</a:t>
            </a:r>
            <a:endParaRPr lang="zh-CN" altLang="en-US" dirty="0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1524000" y="390176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  <a:gridCol w="571504"/>
                <a:gridCol w="273841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说谎者的陈述：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真相是：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我昨天去看电影了。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他是上个星期去看的。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" name="右箭头 33"/>
          <p:cNvSpPr/>
          <p:nvPr/>
        </p:nvSpPr>
        <p:spPr>
          <a:xfrm>
            <a:off x="4214810" y="4071698"/>
            <a:ext cx="214314" cy="2989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`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3"/>
          <p:cNvSpPr/>
          <p:nvPr/>
        </p:nvSpPr>
        <p:spPr bwMode="auto">
          <a:xfrm>
            <a:off x="1285852" y="3276567"/>
            <a:ext cx="6911997" cy="923330"/>
          </a:xfrm>
          <a:custGeom>
            <a:avLst/>
            <a:gdLst>
              <a:gd name="connsiteX0" fmla="*/ 0 w 8016784"/>
              <a:gd name="connsiteY0" fmla="*/ 0 h 1059658"/>
              <a:gd name="connsiteX1" fmla="*/ 8016784 w 8016784"/>
              <a:gd name="connsiteY1" fmla="*/ 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  <a:gd name="connsiteX0" fmla="*/ 0 w 8016784"/>
              <a:gd name="connsiteY0" fmla="*/ 0 h 1059658"/>
              <a:gd name="connsiteX1" fmla="*/ 7522108 w 8016784"/>
              <a:gd name="connsiteY1" fmla="*/ 1499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6784" h="1059658">
                <a:moveTo>
                  <a:pt x="0" y="0"/>
                </a:moveTo>
                <a:lnTo>
                  <a:pt x="7522108" y="14990"/>
                </a:lnTo>
                <a:lnTo>
                  <a:pt x="8016784" y="1059658"/>
                </a:lnTo>
                <a:lnTo>
                  <a:pt x="0" y="1059658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 sz="5400" dirty="0"/>
          </a:p>
        </p:txBody>
      </p:sp>
      <p:sp>
        <p:nvSpPr>
          <p:cNvPr id="43" name="矩形 3"/>
          <p:cNvSpPr/>
          <p:nvPr/>
        </p:nvSpPr>
        <p:spPr bwMode="auto">
          <a:xfrm>
            <a:off x="1285852" y="4572008"/>
            <a:ext cx="6911997" cy="923330"/>
          </a:xfrm>
          <a:custGeom>
            <a:avLst/>
            <a:gdLst>
              <a:gd name="connsiteX0" fmla="*/ 0 w 8016784"/>
              <a:gd name="connsiteY0" fmla="*/ 0 h 1059658"/>
              <a:gd name="connsiteX1" fmla="*/ 8016784 w 8016784"/>
              <a:gd name="connsiteY1" fmla="*/ 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  <a:gd name="connsiteX0" fmla="*/ 0 w 8016784"/>
              <a:gd name="connsiteY0" fmla="*/ 0 h 1059658"/>
              <a:gd name="connsiteX1" fmla="*/ 7522108 w 8016784"/>
              <a:gd name="connsiteY1" fmla="*/ 1499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6784" h="1059658">
                <a:moveTo>
                  <a:pt x="0" y="0"/>
                </a:moveTo>
                <a:lnTo>
                  <a:pt x="7522108" y="14990"/>
                </a:lnTo>
                <a:lnTo>
                  <a:pt x="8016784" y="1059658"/>
                </a:lnTo>
                <a:lnTo>
                  <a:pt x="0" y="1059658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 sz="5400" dirty="0"/>
          </a:p>
        </p:txBody>
      </p:sp>
      <p:sp>
        <p:nvSpPr>
          <p:cNvPr id="40" name="矩形 3"/>
          <p:cNvSpPr/>
          <p:nvPr/>
        </p:nvSpPr>
        <p:spPr bwMode="auto">
          <a:xfrm>
            <a:off x="1285852" y="2005604"/>
            <a:ext cx="6911997" cy="923330"/>
          </a:xfrm>
          <a:custGeom>
            <a:avLst/>
            <a:gdLst>
              <a:gd name="connsiteX0" fmla="*/ 0 w 8016784"/>
              <a:gd name="connsiteY0" fmla="*/ 0 h 1059658"/>
              <a:gd name="connsiteX1" fmla="*/ 8016784 w 8016784"/>
              <a:gd name="connsiteY1" fmla="*/ 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  <a:gd name="connsiteX0" fmla="*/ 0 w 8016784"/>
              <a:gd name="connsiteY0" fmla="*/ 0 h 1059658"/>
              <a:gd name="connsiteX1" fmla="*/ 7522108 w 8016784"/>
              <a:gd name="connsiteY1" fmla="*/ 14990 h 1059658"/>
              <a:gd name="connsiteX2" fmla="*/ 8016784 w 8016784"/>
              <a:gd name="connsiteY2" fmla="*/ 1059658 h 1059658"/>
              <a:gd name="connsiteX3" fmla="*/ 0 w 8016784"/>
              <a:gd name="connsiteY3" fmla="*/ 1059658 h 1059658"/>
              <a:gd name="connsiteX4" fmla="*/ 0 w 8016784"/>
              <a:gd name="connsiteY4" fmla="*/ 0 h 105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6784" h="1059658">
                <a:moveTo>
                  <a:pt x="0" y="0"/>
                </a:moveTo>
                <a:lnTo>
                  <a:pt x="7522108" y="14990"/>
                </a:lnTo>
                <a:lnTo>
                  <a:pt x="8016784" y="1059658"/>
                </a:lnTo>
                <a:lnTo>
                  <a:pt x="0" y="1059658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 sz="5400" dirty="0"/>
          </a:p>
        </p:txBody>
      </p:sp>
      <p:grpSp>
        <p:nvGrpSpPr>
          <p:cNvPr id="2" name="组合 22"/>
          <p:cNvGrpSpPr/>
          <p:nvPr/>
        </p:nvGrpSpPr>
        <p:grpSpPr>
          <a:xfrm>
            <a:off x="0" y="214290"/>
            <a:ext cx="9144000" cy="785818"/>
            <a:chOff x="0" y="214290"/>
            <a:chExt cx="9144000" cy="785818"/>
          </a:xfrm>
          <a:solidFill>
            <a:schemeClr val="bg1">
              <a:lumMod val="85000"/>
            </a:schemeClr>
          </a:solidFill>
        </p:grpSpPr>
        <p:sp>
          <p:nvSpPr>
            <p:cNvPr id="4" name="矩形 3"/>
            <p:cNvSpPr/>
            <p:nvPr/>
          </p:nvSpPr>
          <p:spPr>
            <a:xfrm>
              <a:off x="0" y="214314"/>
              <a:ext cx="9144000" cy="71435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23850" y="214290"/>
              <a:ext cx="2747952" cy="7858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7"/>
          <p:cNvGrpSpPr/>
          <p:nvPr/>
        </p:nvGrpSpPr>
        <p:grpSpPr>
          <a:xfrm>
            <a:off x="357158" y="-24"/>
            <a:ext cx="2681514" cy="929436"/>
            <a:chOff x="1142976" y="1643050"/>
            <a:chExt cx="2681514" cy="929436"/>
          </a:xfrm>
        </p:grpSpPr>
        <p:sp>
          <p:nvSpPr>
            <p:cNvPr id="14" name="矩形 1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WHAT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357422" y="217237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什么是谎言</a:t>
              </a:r>
            </a:p>
          </p:txBody>
        </p:sp>
      </p:grpSp>
      <p:grpSp>
        <p:nvGrpSpPr>
          <p:cNvPr id="8" name="组合 46"/>
          <p:cNvGrpSpPr/>
          <p:nvPr/>
        </p:nvGrpSpPr>
        <p:grpSpPr>
          <a:xfrm>
            <a:off x="323850" y="1285860"/>
            <a:ext cx="2152177" cy="610886"/>
            <a:chOff x="642910" y="4071942"/>
            <a:chExt cx="2152177" cy="610886"/>
          </a:xfrm>
        </p:grpSpPr>
        <p:sp>
          <p:nvSpPr>
            <p:cNvPr id="48" name="TextBox 47"/>
            <p:cNvSpPr txBox="1"/>
            <p:nvPr/>
          </p:nvSpPr>
          <p:spPr>
            <a:xfrm>
              <a:off x="1071538" y="4221163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误导的陈述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642910" y="4071942"/>
              <a:ext cx="42511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50" name="直接连接符 49"/>
            <p:cNvCxnSpPr/>
            <p:nvPr/>
          </p:nvCxnSpPr>
          <p:spPr>
            <a:xfrm rot="5400000">
              <a:off x="851122" y="4298641"/>
              <a:ext cx="369332" cy="2689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1524000" y="2121535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  <a:gridCol w="571504"/>
                <a:gridCol w="273841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误导的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陈述</a:t>
                      </a:r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：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真相是：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我再没跟她讲过电话。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私底下他们继续书信来往。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右箭头 35"/>
          <p:cNvSpPr/>
          <p:nvPr/>
        </p:nvSpPr>
        <p:spPr>
          <a:xfrm>
            <a:off x="4429124" y="2323921"/>
            <a:ext cx="214314" cy="2989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1524000" y="3286124"/>
          <a:ext cx="60960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  <a:gridCol w="571504"/>
                <a:gridCol w="273841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误导的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陈述</a:t>
                      </a:r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：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真相是：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是啊，她给我家里打过电话，不过那只是打错电话而已。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她本来不是要打家里的座机，而是要打手机。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524000" y="4643446"/>
          <a:ext cx="60960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082"/>
                <a:gridCol w="571504"/>
                <a:gridCol w="273841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误导的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陈述</a:t>
                      </a:r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：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真相是：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我昨天好累，所以早去睡了。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" pitchFamily="34" charset="-122"/>
                          <a:ea typeface="微软雅黑" pitchFamily="34" charset="-122"/>
                        </a:rPr>
                        <a:t>睡到晚上十一点又偷偷爬起出门约会去了。</a:t>
                      </a:r>
                      <a:endParaRPr lang="zh-CN" altLang="en-US" sz="14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右箭头 37"/>
          <p:cNvSpPr/>
          <p:nvPr/>
        </p:nvSpPr>
        <p:spPr>
          <a:xfrm>
            <a:off x="4429124" y="3571876"/>
            <a:ext cx="214314" cy="2989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右箭头 38"/>
          <p:cNvSpPr/>
          <p:nvPr/>
        </p:nvSpPr>
        <p:spPr>
          <a:xfrm>
            <a:off x="4429124" y="4857760"/>
            <a:ext cx="214314" cy="2989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746643" y="1830655"/>
            <a:ext cx="89639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微软雅黑" pitchFamily="34" charset="-122"/>
              </a:rPr>
              <a:t>A</a:t>
            </a:r>
            <a:endParaRPr lang="zh-CN" altLang="en-US" sz="8000" dirty="0">
              <a:solidFill>
                <a:schemeClr val="bg1">
                  <a:lumMod val="75000"/>
                </a:schemeClr>
              </a:solidFill>
              <a:latin typeface="Berlin Sans FB Demi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6643" y="3105693"/>
            <a:ext cx="84029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微软雅黑" pitchFamily="34" charset="-122"/>
              </a:rPr>
              <a:t>B</a:t>
            </a:r>
            <a:endParaRPr lang="zh-CN" altLang="en-US" sz="8000" dirty="0">
              <a:solidFill>
                <a:schemeClr val="bg1">
                  <a:lumMod val="75000"/>
                </a:schemeClr>
              </a:solidFill>
              <a:latin typeface="Berlin Sans FB Demi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46643" y="4391577"/>
            <a:ext cx="84029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微软雅黑" pitchFamily="34" charset="-122"/>
              </a:rPr>
              <a:t>C</a:t>
            </a:r>
            <a:endParaRPr lang="zh-CN" altLang="en-US" sz="8000" dirty="0">
              <a:solidFill>
                <a:schemeClr val="bg1">
                  <a:lumMod val="75000"/>
                </a:schemeClr>
              </a:solidFill>
              <a:latin typeface="Berlin Sans FB Dem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3176580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8"/>
          <p:cNvGrpSpPr/>
          <p:nvPr/>
        </p:nvGrpSpPr>
        <p:grpSpPr>
          <a:xfrm>
            <a:off x="323850" y="0"/>
            <a:ext cx="3194475" cy="929436"/>
            <a:chOff x="1142976" y="1643050"/>
            <a:chExt cx="3194475" cy="929436"/>
          </a:xfrm>
        </p:grpSpPr>
        <p:sp>
          <p:nvSpPr>
            <p:cNvPr id="30" name="矩形 29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WHY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357422" y="2172376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为什么谎言难破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85786" y="1000108"/>
            <a:ext cx="7358114" cy="1631216"/>
            <a:chOff x="785786" y="1000108"/>
            <a:chExt cx="7358114" cy="1631216"/>
          </a:xfrm>
        </p:grpSpPr>
        <p:grpSp>
          <p:nvGrpSpPr>
            <p:cNvPr id="21" name="组合 20"/>
            <p:cNvGrpSpPr/>
            <p:nvPr/>
          </p:nvGrpSpPr>
          <p:grpSpPr>
            <a:xfrm>
              <a:off x="1643042" y="1329404"/>
              <a:ext cx="6357982" cy="1077218"/>
              <a:chOff x="1643042" y="1329404"/>
              <a:chExt cx="6357982" cy="1077218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1643042" y="1329404"/>
                <a:ext cx="1054064" cy="1077218"/>
                <a:chOff x="1643042" y="1329404"/>
                <a:chExt cx="1054064" cy="1077218"/>
              </a:xfrm>
            </p:grpSpPr>
            <p:sp>
              <p:nvSpPr>
                <p:cNvPr id="47" name="矩形 46"/>
                <p:cNvSpPr/>
                <p:nvPr/>
              </p:nvSpPr>
              <p:spPr bwMode="auto">
                <a:xfrm>
                  <a:off x="1643042" y="1445455"/>
                  <a:ext cx="1000132" cy="928694"/>
                </a:xfrm>
                <a:prstGeom prst="rect">
                  <a:avLst/>
                </a:prstGeom>
                <a:pattFill prst="wdDnDiag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/>
              </p:spPr>
              <p:txBody>
                <a:bodyPr wrap="square" rtlCol="0" anchor="ctr">
                  <a:spAutoFit/>
                </a:bodyPr>
                <a:lstStyle/>
                <a:p>
                  <a:pPr algn="ctr" eaLnBrk="1" hangingPunct="1"/>
                  <a:endParaRPr lang="zh-CN" altLang="en-US" sz="7200" dirty="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1691703" y="1329404"/>
                  <a:ext cx="100540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 smtClean="0">
                      <a:solidFill>
                        <a:srgbClr val="FF0000"/>
                      </a:solidFill>
                      <a:latin typeface="华康俪金黑W8(P)" pitchFamily="34" charset="-122"/>
                      <a:ea typeface="华康俪金黑W8(P)" pitchFamily="34" charset="-122"/>
                    </a:rPr>
                    <a:t>欺诈</a:t>
                  </a:r>
                  <a:endParaRPr lang="en-US" altLang="zh-CN" sz="3200" dirty="0" smtClean="0">
                    <a:solidFill>
                      <a:srgbClr val="FF0000"/>
                    </a:solidFill>
                    <a:latin typeface="华康俪金黑W8(P)" pitchFamily="34" charset="-122"/>
                    <a:ea typeface="华康俪金黑W8(P)" pitchFamily="34" charset="-122"/>
                  </a:endParaRPr>
                </a:p>
                <a:p>
                  <a:r>
                    <a:rPr lang="zh-CN" altLang="en-US" sz="3200" dirty="0" smtClean="0">
                      <a:solidFill>
                        <a:srgbClr val="FF0000"/>
                      </a:solidFill>
                      <a:latin typeface="华康俪金黑W8(P)" pitchFamily="34" charset="-122"/>
                      <a:ea typeface="华康俪金黑W8(P)" pitchFamily="34" charset="-122"/>
                    </a:rPr>
                    <a:t>高手</a:t>
                  </a:r>
                </a:p>
              </p:txBody>
            </p:sp>
          </p:grpSp>
          <p:sp>
            <p:nvSpPr>
              <p:cNvPr id="44" name="矩形 43"/>
              <p:cNvSpPr/>
              <p:nvPr/>
            </p:nvSpPr>
            <p:spPr>
              <a:xfrm>
                <a:off x="2686749" y="2000240"/>
                <a:ext cx="531427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演化</a:t>
                </a:r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让人类成为了欺诈高手，而不是揭谎高手</a:t>
                </a:r>
                <a:endParaRPr lang="en-US" altLang="zh-CN" sz="2000" dirty="0" smtClean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785786" y="1000108"/>
              <a:ext cx="1074333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0" b="1" dirty="0" smtClean="0">
                  <a:solidFill>
                    <a:schemeClr val="bg1">
                      <a:lumMod val="75000"/>
                    </a:schemeClr>
                  </a:solidFill>
                  <a:latin typeface="Berlin Sans FB Demi" pitchFamily="34" charset="0"/>
                  <a:ea typeface="HanWangGSolid06cut1" pitchFamily="18" charset="-120"/>
                </a:rPr>
                <a:t>A</a:t>
              </a:r>
              <a:endParaRPr lang="zh-CN" altLang="en-US" sz="10000" b="1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HanWangGSolid06cut1" pitchFamily="18" charset="-120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1357290" y="2490787"/>
              <a:ext cx="6786610" cy="158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785786" y="2492375"/>
            <a:ext cx="7358114" cy="1631216"/>
            <a:chOff x="785786" y="2492375"/>
            <a:chExt cx="7358114" cy="1631216"/>
          </a:xfrm>
        </p:grpSpPr>
        <p:grpSp>
          <p:nvGrpSpPr>
            <p:cNvPr id="23" name="组合 22"/>
            <p:cNvGrpSpPr/>
            <p:nvPr/>
          </p:nvGrpSpPr>
          <p:grpSpPr>
            <a:xfrm>
              <a:off x="1643042" y="2796944"/>
              <a:ext cx="6072230" cy="1103604"/>
              <a:chOff x="1643042" y="2796944"/>
              <a:chExt cx="6072230" cy="1103604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1643042" y="2796944"/>
                <a:ext cx="1054064" cy="1079386"/>
                <a:chOff x="1750199" y="2796944"/>
                <a:chExt cx="1054064" cy="1079386"/>
              </a:xfrm>
            </p:grpSpPr>
            <p:sp>
              <p:nvSpPr>
                <p:cNvPr id="50" name="矩形 49"/>
                <p:cNvSpPr/>
                <p:nvPr/>
              </p:nvSpPr>
              <p:spPr bwMode="auto">
                <a:xfrm>
                  <a:off x="1750199" y="2947636"/>
                  <a:ext cx="1000132" cy="928694"/>
                </a:xfrm>
                <a:prstGeom prst="rect">
                  <a:avLst/>
                </a:prstGeom>
                <a:pattFill prst="wdDnDiag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/>
              </p:spPr>
              <p:txBody>
                <a:bodyPr wrap="square" rtlCol="0" anchor="ctr">
                  <a:spAutoFit/>
                </a:bodyPr>
                <a:lstStyle/>
                <a:p>
                  <a:pPr algn="ctr" eaLnBrk="1" hangingPunct="1"/>
                  <a:endParaRPr lang="zh-CN" altLang="en-US" sz="7200" dirty="0"/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1798860" y="2796944"/>
                  <a:ext cx="100540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 smtClean="0">
                      <a:solidFill>
                        <a:srgbClr val="FF0000"/>
                      </a:solidFill>
                      <a:latin typeface="华康俪金黑W8(P)" pitchFamily="34" charset="-122"/>
                      <a:ea typeface="华康俪金黑W8(P)" pitchFamily="34" charset="-122"/>
                    </a:rPr>
                    <a:t>御除</a:t>
                  </a:r>
                  <a:endParaRPr lang="en-US" altLang="zh-CN" sz="3200" dirty="0" smtClean="0">
                    <a:solidFill>
                      <a:srgbClr val="FF0000"/>
                    </a:solidFill>
                    <a:latin typeface="华康俪金黑W8(P)" pitchFamily="34" charset="-122"/>
                    <a:ea typeface="华康俪金黑W8(P)" pitchFamily="34" charset="-122"/>
                  </a:endParaRPr>
                </a:p>
                <a:p>
                  <a:r>
                    <a:rPr lang="zh-CN" altLang="en-US" sz="3200" dirty="0">
                      <a:solidFill>
                        <a:srgbClr val="FF0000"/>
                      </a:solidFill>
                      <a:latin typeface="华康俪金黑W8(P)" pitchFamily="34" charset="-122"/>
                      <a:ea typeface="华康俪金黑W8(P)" pitchFamily="34" charset="-122"/>
                    </a:rPr>
                    <a:t>武装</a:t>
                  </a:r>
                  <a:endParaRPr lang="zh-CN" altLang="en-US" sz="3200" dirty="0" smtClean="0">
                    <a:solidFill>
                      <a:srgbClr val="FF0000"/>
                    </a:solidFill>
                    <a:latin typeface="华康俪金黑W8(P)" pitchFamily="34" charset="-122"/>
                    <a:ea typeface="华康俪金黑W8(P)" pitchFamily="34" charset="-122"/>
                  </a:endParaRPr>
                </a:p>
              </p:txBody>
            </p:sp>
          </p:grpSp>
          <p:sp>
            <p:nvSpPr>
              <p:cNvPr id="45" name="矩形 44"/>
              <p:cNvSpPr/>
              <p:nvPr/>
            </p:nvSpPr>
            <p:spPr>
              <a:xfrm>
                <a:off x="2657477" y="3500438"/>
                <a:ext cx="505779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从小</a:t>
                </a:r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，父母帮我们卸除揭穿谎言的必要武装</a:t>
                </a:r>
                <a:endParaRPr lang="en-US" altLang="zh-CN" sz="2000" dirty="0" smtClean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785786" y="2492375"/>
              <a:ext cx="1003801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0" dirty="0" smtClean="0">
                  <a:solidFill>
                    <a:schemeClr val="bg1">
                      <a:lumMod val="75000"/>
                    </a:schemeClr>
                  </a:solidFill>
                  <a:latin typeface="Berlin Sans FB Demi" pitchFamily="34" charset="0"/>
                  <a:ea typeface="HanWangGSolid06cut1" pitchFamily="18" charset="-120"/>
                </a:rPr>
                <a:t>B</a:t>
              </a:r>
              <a:endParaRPr lang="zh-CN" altLang="en-US" sz="10000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HanWangGSolid06cut1" pitchFamily="18" charset="-12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1357290" y="4000504"/>
              <a:ext cx="6786610" cy="158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785786" y="4029809"/>
            <a:ext cx="7358114" cy="1631216"/>
            <a:chOff x="785786" y="4029809"/>
            <a:chExt cx="7358114" cy="1631216"/>
          </a:xfrm>
        </p:grpSpPr>
        <p:grpSp>
          <p:nvGrpSpPr>
            <p:cNvPr id="24" name="组合 23"/>
            <p:cNvGrpSpPr/>
            <p:nvPr/>
          </p:nvGrpSpPr>
          <p:grpSpPr>
            <a:xfrm>
              <a:off x="1643042" y="4335922"/>
              <a:ext cx="4786346" cy="1077218"/>
              <a:chOff x="1643042" y="4335922"/>
              <a:chExt cx="4786346" cy="1077218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1643042" y="4335922"/>
                <a:ext cx="1054064" cy="1077218"/>
                <a:chOff x="1643042" y="4335922"/>
                <a:chExt cx="1054064" cy="1077218"/>
              </a:xfrm>
            </p:grpSpPr>
            <p:sp>
              <p:nvSpPr>
                <p:cNvPr id="51" name="矩形 50"/>
                <p:cNvSpPr/>
                <p:nvPr/>
              </p:nvSpPr>
              <p:spPr bwMode="auto">
                <a:xfrm>
                  <a:off x="1643042" y="4449817"/>
                  <a:ext cx="1000132" cy="928694"/>
                </a:xfrm>
                <a:prstGeom prst="rect">
                  <a:avLst/>
                </a:prstGeom>
                <a:pattFill prst="wdDnDiag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/>
              </p:spPr>
              <p:txBody>
                <a:bodyPr wrap="square" rtlCol="0" anchor="ctr">
                  <a:spAutoFit/>
                </a:bodyPr>
                <a:lstStyle/>
                <a:p>
                  <a:pPr algn="ctr" eaLnBrk="1" hangingPunct="1"/>
                  <a:endParaRPr lang="zh-CN" altLang="en-US" sz="7200" dirty="0"/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1691703" y="4335922"/>
                  <a:ext cx="100540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3200" dirty="0" smtClean="0">
                      <a:solidFill>
                        <a:srgbClr val="FF0000"/>
                      </a:solidFill>
                      <a:latin typeface="华康俪金黑W8(P)" pitchFamily="34" charset="-122"/>
                      <a:ea typeface="华康俪金黑W8(P)" pitchFamily="34" charset="-122"/>
                    </a:rPr>
                    <a:t>不想</a:t>
                  </a:r>
                  <a:endParaRPr lang="en-US" altLang="zh-CN" sz="3200" dirty="0" smtClean="0">
                    <a:solidFill>
                      <a:srgbClr val="FF0000"/>
                    </a:solidFill>
                    <a:latin typeface="华康俪金黑W8(P)" pitchFamily="34" charset="-122"/>
                    <a:ea typeface="华康俪金黑W8(P)" pitchFamily="34" charset="-122"/>
                  </a:endParaRPr>
                </a:p>
                <a:p>
                  <a:r>
                    <a:rPr lang="zh-CN" altLang="en-US" sz="3200" dirty="0" smtClean="0">
                      <a:solidFill>
                        <a:srgbClr val="FF0000"/>
                      </a:solidFill>
                      <a:latin typeface="华康俪金黑W8(P)" pitchFamily="34" charset="-122"/>
                      <a:ea typeface="华康俪金黑W8(P)" pitchFamily="34" charset="-122"/>
                    </a:rPr>
                    <a:t>承认</a:t>
                  </a:r>
                </a:p>
              </p:txBody>
            </p:sp>
          </p:grpSp>
          <p:sp>
            <p:nvSpPr>
              <p:cNvPr id="46" name="矩形 45"/>
              <p:cNvSpPr/>
              <p:nvPr/>
            </p:nvSpPr>
            <p:spPr>
              <a:xfrm>
                <a:off x="2653995" y="5000636"/>
                <a:ext cx="377539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人类</a:t>
                </a:r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根本不想承认有骗人这回事</a:t>
                </a: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785786" y="4029809"/>
              <a:ext cx="982961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0" dirty="0" smtClean="0">
                  <a:solidFill>
                    <a:schemeClr val="bg1">
                      <a:lumMod val="75000"/>
                    </a:schemeClr>
                  </a:solidFill>
                  <a:latin typeface="Berlin Sans FB Demi" pitchFamily="34" charset="0"/>
                  <a:ea typeface="HanWangGSolid06cut1" pitchFamily="18" charset="-120"/>
                </a:rPr>
                <a:t>C</a:t>
              </a:r>
              <a:endParaRPr lang="zh-CN" altLang="en-US" sz="10000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HanWangGSolid06cut1" pitchFamily="18" charset="-120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357290" y="5429264"/>
              <a:ext cx="6786610" cy="158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2890828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32"/>
          <p:cNvGrpSpPr/>
          <p:nvPr/>
        </p:nvGrpSpPr>
        <p:grpSpPr>
          <a:xfrm>
            <a:off x="323850" y="0"/>
            <a:ext cx="2937995" cy="929436"/>
            <a:chOff x="1142976" y="1643050"/>
            <a:chExt cx="2937995" cy="929436"/>
          </a:xfrm>
        </p:grpSpPr>
        <p:sp>
          <p:nvSpPr>
            <p:cNvPr id="34" name="矩形 3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HOW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怎样揭穿谎言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4256" y="857232"/>
            <a:ext cx="4535487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72" name="组合 71"/>
          <p:cNvGrpSpPr/>
          <p:nvPr/>
        </p:nvGrpSpPr>
        <p:grpSpPr>
          <a:xfrm>
            <a:off x="323850" y="5661025"/>
            <a:ext cx="3171269" cy="596977"/>
            <a:chOff x="5572132" y="5597224"/>
            <a:chExt cx="3171269" cy="596977"/>
          </a:xfrm>
        </p:grpSpPr>
        <p:sp>
          <p:nvSpPr>
            <p:cNvPr id="68" name="TextBox 67"/>
            <p:cNvSpPr txBox="1"/>
            <p:nvPr/>
          </p:nvSpPr>
          <p:spPr>
            <a:xfrm>
              <a:off x="5715008" y="5794091"/>
              <a:ext cx="30283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掌握这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个技巧，就能成为揭谎高手</a:t>
              </a: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572132" y="5597224"/>
              <a:ext cx="161405" cy="500066"/>
              <a:chOff x="5572132" y="5597224"/>
              <a:chExt cx="161405" cy="500066"/>
            </a:xfrm>
          </p:grpSpPr>
          <p:sp>
            <p:nvSpPr>
              <p:cNvPr id="69" name="任意多边形 68"/>
              <p:cNvSpPr/>
              <p:nvPr/>
            </p:nvSpPr>
            <p:spPr bwMode="auto">
              <a:xfrm>
                <a:off x="5572132" y="5597224"/>
                <a:ext cx="161405" cy="400110"/>
              </a:xfrm>
              <a:custGeom>
                <a:avLst/>
                <a:gdLst>
                  <a:gd name="connsiteX0" fmla="*/ 0 w 107577"/>
                  <a:gd name="connsiteY0" fmla="*/ 0 h 228600"/>
                  <a:gd name="connsiteX1" fmla="*/ 107577 w 107577"/>
                  <a:gd name="connsiteY1" fmla="*/ 0 h 228600"/>
                  <a:gd name="connsiteX2" fmla="*/ 94130 w 107577"/>
                  <a:gd name="connsiteY2" fmla="*/ 228600 h 228600"/>
                  <a:gd name="connsiteX3" fmla="*/ 13447 w 107577"/>
                  <a:gd name="connsiteY3" fmla="*/ 228600 h 228600"/>
                  <a:gd name="connsiteX4" fmla="*/ 0 w 107577"/>
                  <a:gd name="connsiteY4" fmla="*/ 0 h 228600"/>
                  <a:gd name="connsiteX0" fmla="*/ 0 w 179047"/>
                  <a:gd name="connsiteY0" fmla="*/ 0 h 300062"/>
                  <a:gd name="connsiteX1" fmla="*/ 179047 w 179047"/>
                  <a:gd name="connsiteY1" fmla="*/ 71462 h 300062"/>
                  <a:gd name="connsiteX2" fmla="*/ 165600 w 179047"/>
                  <a:gd name="connsiteY2" fmla="*/ 300062 h 300062"/>
                  <a:gd name="connsiteX3" fmla="*/ 84917 w 179047"/>
                  <a:gd name="connsiteY3" fmla="*/ 300062 h 300062"/>
                  <a:gd name="connsiteX4" fmla="*/ 0 w 179047"/>
                  <a:gd name="connsiteY4" fmla="*/ 0 h 300062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0 h 371524"/>
                  <a:gd name="connsiteX1" fmla="*/ 250453 w 250453"/>
                  <a:gd name="connsiteY1" fmla="*/ 24 h 371524"/>
                  <a:gd name="connsiteX2" fmla="*/ 165600 w 250453"/>
                  <a:gd name="connsiteY2" fmla="*/ 371524 h 371524"/>
                  <a:gd name="connsiteX3" fmla="*/ 84917 w 250453"/>
                  <a:gd name="connsiteY3" fmla="*/ 371524 h 371524"/>
                  <a:gd name="connsiteX4" fmla="*/ 0 w 250453"/>
                  <a:gd name="connsiteY4" fmla="*/ 0 h 371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453" h="371524">
                    <a:moveTo>
                      <a:pt x="0" y="0"/>
                    </a:moveTo>
                    <a:lnTo>
                      <a:pt x="250453" y="24"/>
                    </a:lnTo>
                    <a:lnTo>
                      <a:pt x="165600" y="371524"/>
                    </a:lnTo>
                    <a:lnTo>
                      <a:pt x="84917" y="371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2000" dirty="0"/>
              </a:p>
            </p:txBody>
          </p:sp>
          <p:sp>
            <p:nvSpPr>
              <p:cNvPr id="70" name="矩形 69"/>
              <p:cNvSpPr/>
              <p:nvPr/>
            </p:nvSpPr>
            <p:spPr bwMode="auto">
              <a:xfrm>
                <a:off x="5618286" y="6025852"/>
                <a:ext cx="71438" cy="7143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7200" dirty="0"/>
              </a:p>
            </p:txBody>
          </p:sp>
        </p:grpSp>
      </p:grpSp>
      <p:grpSp>
        <p:nvGrpSpPr>
          <p:cNvPr id="57" name="组合 56"/>
          <p:cNvGrpSpPr/>
          <p:nvPr/>
        </p:nvGrpSpPr>
        <p:grpSpPr>
          <a:xfrm>
            <a:off x="1392420" y="1919057"/>
            <a:ext cx="6049742" cy="2715961"/>
            <a:chOff x="1392420" y="1919057"/>
            <a:chExt cx="6049742" cy="2715961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5202300" y="4134878"/>
              <a:ext cx="2160000" cy="158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472082" y="3343346"/>
              <a:ext cx="2160000" cy="158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组合 48"/>
            <p:cNvGrpSpPr/>
            <p:nvPr/>
          </p:nvGrpSpPr>
          <p:grpSpPr>
            <a:xfrm>
              <a:off x="2262169" y="4033838"/>
              <a:ext cx="2000264" cy="501654"/>
              <a:chOff x="2285984" y="4071942"/>
              <a:chExt cx="2000264" cy="501654"/>
            </a:xfrm>
          </p:grpSpPr>
          <p:cxnSp>
            <p:nvCxnSpPr>
              <p:cNvPr id="26" name="直接连接符 25"/>
              <p:cNvCxnSpPr/>
              <p:nvPr/>
            </p:nvCxnSpPr>
            <p:spPr>
              <a:xfrm>
                <a:off x="2285984" y="4572008"/>
                <a:ext cx="1714512" cy="158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rot="5400000" flipH="1" flipV="1">
                <a:off x="3893339" y="4179099"/>
                <a:ext cx="500066" cy="28575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23"/>
            <p:cNvCxnSpPr/>
            <p:nvPr/>
          </p:nvCxnSpPr>
          <p:spPr>
            <a:xfrm>
              <a:off x="1740645" y="2286880"/>
              <a:ext cx="1980000" cy="158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组合 42"/>
            <p:cNvGrpSpPr/>
            <p:nvPr/>
          </p:nvGrpSpPr>
          <p:grpSpPr>
            <a:xfrm>
              <a:off x="3632856" y="2287218"/>
              <a:ext cx="3653788" cy="1361793"/>
              <a:chOff x="3632856" y="2287218"/>
              <a:chExt cx="3653788" cy="1361793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5572132" y="2714620"/>
                <a:ext cx="1714512" cy="158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10800000" flipV="1">
                <a:off x="5072066" y="2714620"/>
                <a:ext cx="500066" cy="42862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10800000">
                <a:off x="3718145" y="2287218"/>
                <a:ext cx="444162" cy="30189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10800000">
                <a:off x="3632856" y="3347112"/>
                <a:ext cx="444162" cy="30189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椭圆 44"/>
            <p:cNvSpPr>
              <a:spLocks noChangeAspect="1"/>
            </p:cNvSpPr>
            <p:nvPr/>
          </p:nvSpPr>
          <p:spPr bwMode="auto">
            <a:xfrm>
              <a:off x="5038163" y="3114108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46" name="椭圆 45"/>
            <p:cNvSpPr>
              <a:spLocks noChangeAspect="1"/>
            </p:cNvSpPr>
            <p:nvPr/>
          </p:nvSpPr>
          <p:spPr bwMode="auto">
            <a:xfrm>
              <a:off x="4805366" y="3814768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47" name="椭圆 46"/>
            <p:cNvSpPr>
              <a:spLocks noChangeAspect="1"/>
            </p:cNvSpPr>
            <p:nvPr/>
          </p:nvSpPr>
          <p:spPr bwMode="auto">
            <a:xfrm>
              <a:off x="4019548" y="3614736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48" name="椭圆 47"/>
            <p:cNvSpPr>
              <a:spLocks noChangeAspect="1"/>
            </p:cNvSpPr>
            <p:nvPr/>
          </p:nvSpPr>
          <p:spPr bwMode="auto">
            <a:xfrm>
              <a:off x="4238625" y="3981452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825292" y="2011565"/>
              <a:ext cx="18004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注意行为模式的改变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45837" y="3061808"/>
              <a:ext cx="18004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辨识三种说谎的情绪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340566" y="4256958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观察不协调的信号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581982" y="2436341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增强说谎的紧张感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28346" y="3849675"/>
              <a:ext cx="1980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检视说谎者的行为控制</a:t>
              </a:r>
            </a:p>
          </p:txBody>
        </p:sp>
        <p:sp>
          <p:nvSpPr>
            <p:cNvPr id="55" name="矩形 54"/>
            <p:cNvSpPr/>
            <p:nvPr/>
          </p:nvSpPr>
          <p:spPr bwMode="auto">
            <a:xfrm>
              <a:off x="1650300" y="1919057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1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1392420" y="2981942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2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2185048" y="4173353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3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7076544" y="2353216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4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62" name="矩形 61"/>
            <p:cNvSpPr/>
            <p:nvPr/>
          </p:nvSpPr>
          <p:spPr bwMode="auto">
            <a:xfrm>
              <a:off x="7156410" y="3774023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5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>
            <a:xfrm rot="16200000" flipH="1">
              <a:off x="4898876" y="3827314"/>
              <a:ext cx="267156" cy="3481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/>
            <p:cNvSpPr>
              <a:spLocks noChangeAspect="1"/>
            </p:cNvSpPr>
            <p:nvPr/>
          </p:nvSpPr>
          <p:spPr bwMode="auto">
            <a:xfrm>
              <a:off x="4122106" y="2561111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 bwMode="auto">
          <a:xfrm>
            <a:off x="6786578" y="785794"/>
            <a:ext cx="2000264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42" name="圆角矩形 41"/>
          <p:cNvSpPr/>
          <p:nvPr/>
        </p:nvSpPr>
        <p:spPr bwMode="auto">
          <a:xfrm>
            <a:off x="323850" y="1714488"/>
            <a:ext cx="8496300" cy="1464231"/>
          </a:xfrm>
          <a:prstGeom prst="roundRect">
            <a:avLst>
              <a:gd name="adj" fmla="val 13828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8000" dirty="0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2890828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32"/>
          <p:cNvGrpSpPr/>
          <p:nvPr/>
        </p:nvGrpSpPr>
        <p:grpSpPr>
          <a:xfrm>
            <a:off x="323850" y="0"/>
            <a:ext cx="2937995" cy="929436"/>
            <a:chOff x="1142976" y="1643050"/>
            <a:chExt cx="2937995" cy="929436"/>
          </a:xfrm>
        </p:grpSpPr>
        <p:sp>
          <p:nvSpPr>
            <p:cNvPr id="34" name="矩形 3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HOW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怎样揭穿谎言</a:t>
              </a:r>
            </a:p>
          </p:txBody>
        </p:sp>
      </p:grpSp>
      <p:grpSp>
        <p:nvGrpSpPr>
          <p:cNvPr id="8" name="组合 71"/>
          <p:cNvGrpSpPr/>
          <p:nvPr/>
        </p:nvGrpSpPr>
        <p:grpSpPr>
          <a:xfrm>
            <a:off x="323850" y="5661025"/>
            <a:ext cx="3713084" cy="589340"/>
            <a:chOff x="5572132" y="5597224"/>
            <a:chExt cx="3713084" cy="589340"/>
          </a:xfrm>
        </p:grpSpPr>
        <p:sp>
          <p:nvSpPr>
            <p:cNvPr id="68" name="TextBox 67"/>
            <p:cNvSpPr txBox="1"/>
            <p:nvPr/>
          </p:nvSpPr>
          <p:spPr>
            <a:xfrm>
              <a:off x="5715008" y="5786454"/>
              <a:ext cx="35702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固定的征兆并非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重点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“</a:t>
              </a:r>
              <a:r>
                <a:rPr lang="zh-CN" altLang="en-US" sz="20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改变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”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才是关键</a:t>
              </a:r>
            </a:p>
          </p:txBody>
        </p:sp>
        <p:grpSp>
          <p:nvGrpSpPr>
            <p:cNvPr id="9" name="组合 70"/>
            <p:cNvGrpSpPr/>
            <p:nvPr/>
          </p:nvGrpSpPr>
          <p:grpSpPr>
            <a:xfrm>
              <a:off x="5572132" y="5597224"/>
              <a:ext cx="161405" cy="500066"/>
              <a:chOff x="5572132" y="5597224"/>
              <a:chExt cx="161405" cy="500066"/>
            </a:xfrm>
          </p:grpSpPr>
          <p:sp>
            <p:nvSpPr>
              <p:cNvPr id="69" name="任意多边形 68"/>
              <p:cNvSpPr/>
              <p:nvPr/>
            </p:nvSpPr>
            <p:spPr bwMode="auto">
              <a:xfrm>
                <a:off x="5572132" y="5597224"/>
                <a:ext cx="161405" cy="400110"/>
              </a:xfrm>
              <a:custGeom>
                <a:avLst/>
                <a:gdLst>
                  <a:gd name="connsiteX0" fmla="*/ 0 w 107577"/>
                  <a:gd name="connsiteY0" fmla="*/ 0 h 228600"/>
                  <a:gd name="connsiteX1" fmla="*/ 107577 w 107577"/>
                  <a:gd name="connsiteY1" fmla="*/ 0 h 228600"/>
                  <a:gd name="connsiteX2" fmla="*/ 94130 w 107577"/>
                  <a:gd name="connsiteY2" fmla="*/ 228600 h 228600"/>
                  <a:gd name="connsiteX3" fmla="*/ 13447 w 107577"/>
                  <a:gd name="connsiteY3" fmla="*/ 228600 h 228600"/>
                  <a:gd name="connsiteX4" fmla="*/ 0 w 107577"/>
                  <a:gd name="connsiteY4" fmla="*/ 0 h 228600"/>
                  <a:gd name="connsiteX0" fmla="*/ 0 w 179047"/>
                  <a:gd name="connsiteY0" fmla="*/ 0 h 300062"/>
                  <a:gd name="connsiteX1" fmla="*/ 179047 w 179047"/>
                  <a:gd name="connsiteY1" fmla="*/ 71462 h 300062"/>
                  <a:gd name="connsiteX2" fmla="*/ 165600 w 179047"/>
                  <a:gd name="connsiteY2" fmla="*/ 300062 h 300062"/>
                  <a:gd name="connsiteX3" fmla="*/ 84917 w 179047"/>
                  <a:gd name="connsiteY3" fmla="*/ 300062 h 300062"/>
                  <a:gd name="connsiteX4" fmla="*/ 0 w 179047"/>
                  <a:gd name="connsiteY4" fmla="*/ 0 h 300062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0 h 371524"/>
                  <a:gd name="connsiteX1" fmla="*/ 250453 w 250453"/>
                  <a:gd name="connsiteY1" fmla="*/ 24 h 371524"/>
                  <a:gd name="connsiteX2" fmla="*/ 165600 w 250453"/>
                  <a:gd name="connsiteY2" fmla="*/ 371524 h 371524"/>
                  <a:gd name="connsiteX3" fmla="*/ 84917 w 250453"/>
                  <a:gd name="connsiteY3" fmla="*/ 371524 h 371524"/>
                  <a:gd name="connsiteX4" fmla="*/ 0 w 250453"/>
                  <a:gd name="connsiteY4" fmla="*/ 0 h 371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453" h="371524">
                    <a:moveTo>
                      <a:pt x="0" y="0"/>
                    </a:moveTo>
                    <a:lnTo>
                      <a:pt x="250453" y="24"/>
                    </a:lnTo>
                    <a:lnTo>
                      <a:pt x="165600" y="371524"/>
                    </a:lnTo>
                    <a:lnTo>
                      <a:pt x="84917" y="371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2000" dirty="0"/>
              </a:p>
            </p:txBody>
          </p:sp>
          <p:sp>
            <p:nvSpPr>
              <p:cNvPr id="70" name="矩形 69"/>
              <p:cNvSpPr/>
              <p:nvPr/>
            </p:nvSpPr>
            <p:spPr bwMode="auto">
              <a:xfrm>
                <a:off x="5618286" y="6025852"/>
                <a:ext cx="71438" cy="7143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7200" dirty="0"/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6825900" y="678998"/>
            <a:ext cx="1975485" cy="461665"/>
            <a:chOff x="6825900" y="693286"/>
            <a:chExt cx="1975485" cy="461665"/>
          </a:xfrm>
        </p:grpSpPr>
        <p:sp>
          <p:nvSpPr>
            <p:cNvPr id="41" name="TextBox 40"/>
            <p:cNvSpPr txBox="1"/>
            <p:nvPr/>
          </p:nvSpPr>
          <p:spPr>
            <a:xfrm>
              <a:off x="7000892" y="785794"/>
              <a:ext cx="18004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注意行为模式的改变</a:t>
              </a: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6825900" y="693286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1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7" name="直接连接符 56"/>
          <p:cNvCxnSpPr/>
          <p:nvPr/>
        </p:nvCxnSpPr>
        <p:spPr>
          <a:xfrm>
            <a:off x="1458904" y="2547916"/>
            <a:ext cx="72000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3850" y="240365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行为基准线</a:t>
            </a:r>
          </a:p>
        </p:txBody>
      </p:sp>
      <p:sp>
        <p:nvSpPr>
          <p:cNvPr id="65" name="任意多边形 64"/>
          <p:cNvSpPr/>
          <p:nvPr/>
        </p:nvSpPr>
        <p:spPr>
          <a:xfrm>
            <a:off x="1781191" y="1643050"/>
            <a:ext cx="6686550" cy="1464469"/>
          </a:xfrm>
          <a:custGeom>
            <a:avLst/>
            <a:gdLst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1700212 w 6686550"/>
              <a:gd name="connsiteY2" fmla="*/ 1257300 h 1326287"/>
              <a:gd name="connsiteX3" fmla="*/ 2514600 w 6686550"/>
              <a:gd name="connsiteY3" fmla="*/ 228600 h 1326287"/>
              <a:gd name="connsiteX4" fmla="*/ 3314700 w 6686550"/>
              <a:gd name="connsiteY4" fmla="*/ 1314450 h 1326287"/>
              <a:gd name="connsiteX5" fmla="*/ 3357562 w 6686550"/>
              <a:gd name="connsiteY5" fmla="*/ 1300163 h 1326287"/>
              <a:gd name="connsiteX6" fmla="*/ 3414712 w 6686550"/>
              <a:gd name="connsiteY6" fmla="*/ 1257300 h 1326287"/>
              <a:gd name="connsiteX7" fmla="*/ 4443412 w 6686550"/>
              <a:gd name="connsiteY7" fmla="*/ 128588 h 1326287"/>
              <a:gd name="connsiteX8" fmla="*/ 5029200 w 6686550"/>
              <a:gd name="connsiteY8" fmla="*/ 1300163 h 1326287"/>
              <a:gd name="connsiteX9" fmla="*/ 5957887 w 6686550"/>
              <a:gd name="connsiteY9" fmla="*/ 0 h 1326287"/>
              <a:gd name="connsiteX10" fmla="*/ 6686550 w 6686550"/>
              <a:gd name="connsiteY10" fmla="*/ 80010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1700212 w 6686550"/>
              <a:gd name="connsiteY2" fmla="*/ 1257300 h 1326287"/>
              <a:gd name="connsiteX3" fmla="*/ 2514600 w 6686550"/>
              <a:gd name="connsiteY3" fmla="*/ 228600 h 1326287"/>
              <a:gd name="connsiteX4" fmla="*/ 3314700 w 6686550"/>
              <a:gd name="connsiteY4" fmla="*/ 1314450 h 1326287"/>
              <a:gd name="connsiteX5" fmla="*/ 3357562 w 6686550"/>
              <a:gd name="connsiteY5" fmla="*/ 1300163 h 1326287"/>
              <a:gd name="connsiteX6" fmla="*/ 3414712 w 6686550"/>
              <a:gd name="connsiteY6" fmla="*/ 1257300 h 1326287"/>
              <a:gd name="connsiteX7" fmla="*/ 4443412 w 6686550"/>
              <a:gd name="connsiteY7" fmla="*/ 128588 h 1326287"/>
              <a:gd name="connsiteX8" fmla="*/ 5029200 w 6686550"/>
              <a:gd name="connsiteY8" fmla="*/ 1300163 h 1326287"/>
              <a:gd name="connsiteX9" fmla="*/ 5957887 w 6686550"/>
              <a:gd name="connsiteY9" fmla="*/ 0 h 1326287"/>
              <a:gd name="connsiteX10" fmla="*/ 6686550 w 6686550"/>
              <a:gd name="connsiteY10" fmla="*/ 80010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571500 w 6686550"/>
              <a:gd name="connsiteY2" fmla="*/ 228600 h 1326287"/>
              <a:gd name="connsiteX3" fmla="*/ 1700212 w 6686550"/>
              <a:gd name="connsiteY3" fmla="*/ 1257300 h 1326287"/>
              <a:gd name="connsiteX4" fmla="*/ 2514600 w 6686550"/>
              <a:gd name="connsiteY4" fmla="*/ 228600 h 1326287"/>
              <a:gd name="connsiteX5" fmla="*/ 3314700 w 6686550"/>
              <a:gd name="connsiteY5" fmla="*/ 1314450 h 1326287"/>
              <a:gd name="connsiteX6" fmla="*/ 3357562 w 6686550"/>
              <a:gd name="connsiteY6" fmla="*/ 1300163 h 1326287"/>
              <a:gd name="connsiteX7" fmla="*/ 3414712 w 6686550"/>
              <a:gd name="connsiteY7" fmla="*/ 1257300 h 1326287"/>
              <a:gd name="connsiteX8" fmla="*/ 4443412 w 6686550"/>
              <a:gd name="connsiteY8" fmla="*/ 128588 h 1326287"/>
              <a:gd name="connsiteX9" fmla="*/ 5029200 w 6686550"/>
              <a:gd name="connsiteY9" fmla="*/ 1300163 h 1326287"/>
              <a:gd name="connsiteX10" fmla="*/ 5957887 w 6686550"/>
              <a:gd name="connsiteY10" fmla="*/ 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13" fmla="*/ 6686550 w 6686550"/>
              <a:gd name="connsiteY13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571500 w 6686550"/>
              <a:gd name="connsiteY2" fmla="*/ 228600 h 1326287"/>
              <a:gd name="connsiteX3" fmla="*/ 1700212 w 6686550"/>
              <a:gd name="connsiteY3" fmla="*/ 1257300 h 1326287"/>
              <a:gd name="connsiteX4" fmla="*/ 2514600 w 6686550"/>
              <a:gd name="connsiteY4" fmla="*/ 228600 h 1326287"/>
              <a:gd name="connsiteX5" fmla="*/ 3314700 w 6686550"/>
              <a:gd name="connsiteY5" fmla="*/ 1314450 h 1326287"/>
              <a:gd name="connsiteX6" fmla="*/ 3357562 w 6686550"/>
              <a:gd name="connsiteY6" fmla="*/ 1300163 h 1326287"/>
              <a:gd name="connsiteX7" fmla="*/ 3414712 w 6686550"/>
              <a:gd name="connsiteY7" fmla="*/ 1257300 h 1326287"/>
              <a:gd name="connsiteX8" fmla="*/ 4443412 w 6686550"/>
              <a:gd name="connsiteY8" fmla="*/ 128588 h 1326287"/>
              <a:gd name="connsiteX9" fmla="*/ 5029200 w 6686550"/>
              <a:gd name="connsiteY9" fmla="*/ 1300163 h 1326287"/>
              <a:gd name="connsiteX10" fmla="*/ 5957887 w 6686550"/>
              <a:gd name="connsiteY10" fmla="*/ 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13" fmla="*/ 6686550 w 6686550"/>
              <a:gd name="connsiteY13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571500 w 6686550"/>
              <a:gd name="connsiteY2" fmla="*/ 228600 h 1326287"/>
              <a:gd name="connsiteX3" fmla="*/ 1700212 w 6686550"/>
              <a:gd name="connsiteY3" fmla="*/ 1257300 h 1326287"/>
              <a:gd name="connsiteX4" fmla="*/ 2514600 w 6686550"/>
              <a:gd name="connsiteY4" fmla="*/ 228600 h 1326287"/>
              <a:gd name="connsiteX5" fmla="*/ 3314700 w 6686550"/>
              <a:gd name="connsiteY5" fmla="*/ 1314450 h 1326287"/>
              <a:gd name="connsiteX6" fmla="*/ 3357562 w 6686550"/>
              <a:gd name="connsiteY6" fmla="*/ 1300163 h 1326287"/>
              <a:gd name="connsiteX7" fmla="*/ 3414712 w 6686550"/>
              <a:gd name="connsiteY7" fmla="*/ 1257300 h 1326287"/>
              <a:gd name="connsiteX8" fmla="*/ 4443412 w 6686550"/>
              <a:gd name="connsiteY8" fmla="*/ 128588 h 1326287"/>
              <a:gd name="connsiteX9" fmla="*/ 5029200 w 6686550"/>
              <a:gd name="connsiteY9" fmla="*/ 1300163 h 1326287"/>
              <a:gd name="connsiteX10" fmla="*/ 5957887 w 6686550"/>
              <a:gd name="connsiteY10" fmla="*/ 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13" fmla="*/ 6686550 w 6686550"/>
              <a:gd name="connsiteY13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571500 w 6686550"/>
              <a:gd name="connsiteY2" fmla="*/ 228600 h 1326287"/>
              <a:gd name="connsiteX3" fmla="*/ 1700212 w 6686550"/>
              <a:gd name="connsiteY3" fmla="*/ 1257300 h 1326287"/>
              <a:gd name="connsiteX4" fmla="*/ 2514600 w 6686550"/>
              <a:gd name="connsiteY4" fmla="*/ 228600 h 1326287"/>
              <a:gd name="connsiteX5" fmla="*/ 3314700 w 6686550"/>
              <a:gd name="connsiteY5" fmla="*/ 1314450 h 1326287"/>
              <a:gd name="connsiteX6" fmla="*/ 3357562 w 6686550"/>
              <a:gd name="connsiteY6" fmla="*/ 1300163 h 1326287"/>
              <a:gd name="connsiteX7" fmla="*/ 3414712 w 6686550"/>
              <a:gd name="connsiteY7" fmla="*/ 1257300 h 1326287"/>
              <a:gd name="connsiteX8" fmla="*/ 4443412 w 6686550"/>
              <a:gd name="connsiteY8" fmla="*/ 128588 h 1326287"/>
              <a:gd name="connsiteX9" fmla="*/ 5029200 w 6686550"/>
              <a:gd name="connsiteY9" fmla="*/ 1300163 h 1326287"/>
              <a:gd name="connsiteX10" fmla="*/ 5957887 w 6686550"/>
              <a:gd name="connsiteY10" fmla="*/ 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13" fmla="*/ 6686550 w 6686550"/>
              <a:gd name="connsiteY13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571500 w 6686550"/>
              <a:gd name="connsiteY2" fmla="*/ 228600 h 1326287"/>
              <a:gd name="connsiteX3" fmla="*/ 1700212 w 6686550"/>
              <a:gd name="connsiteY3" fmla="*/ 1257300 h 1326287"/>
              <a:gd name="connsiteX4" fmla="*/ 2514600 w 6686550"/>
              <a:gd name="connsiteY4" fmla="*/ 228600 h 1326287"/>
              <a:gd name="connsiteX5" fmla="*/ 3314700 w 6686550"/>
              <a:gd name="connsiteY5" fmla="*/ 1314450 h 1326287"/>
              <a:gd name="connsiteX6" fmla="*/ 3357562 w 6686550"/>
              <a:gd name="connsiteY6" fmla="*/ 1300163 h 1326287"/>
              <a:gd name="connsiteX7" fmla="*/ 3414712 w 6686550"/>
              <a:gd name="connsiteY7" fmla="*/ 1257300 h 1326287"/>
              <a:gd name="connsiteX8" fmla="*/ 4443412 w 6686550"/>
              <a:gd name="connsiteY8" fmla="*/ 128588 h 1326287"/>
              <a:gd name="connsiteX9" fmla="*/ 5029200 w 6686550"/>
              <a:gd name="connsiteY9" fmla="*/ 1300163 h 1326287"/>
              <a:gd name="connsiteX10" fmla="*/ 5957887 w 6686550"/>
              <a:gd name="connsiteY10" fmla="*/ 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13" fmla="*/ 6686550 w 6686550"/>
              <a:gd name="connsiteY13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571500 w 6686550"/>
              <a:gd name="connsiteY2" fmla="*/ 228600 h 1326287"/>
              <a:gd name="connsiteX3" fmla="*/ 1700212 w 6686550"/>
              <a:gd name="connsiteY3" fmla="*/ 1257300 h 1326287"/>
              <a:gd name="connsiteX4" fmla="*/ 2514600 w 6686550"/>
              <a:gd name="connsiteY4" fmla="*/ 228600 h 1326287"/>
              <a:gd name="connsiteX5" fmla="*/ 3314700 w 6686550"/>
              <a:gd name="connsiteY5" fmla="*/ 1314450 h 1326287"/>
              <a:gd name="connsiteX6" fmla="*/ 3357562 w 6686550"/>
              <a:gd name="connsiteY6" fmla="*/ 1300163 h 1326287"/>
              <a:gd name="connsiteX7" fmla="*/ 3414712 w 6686550"/>
              <a:gd name="connsiteY7" fmla="*/ 1257300 h 1326287"/>
              <a:gd name="connsiteX8" fmla="*/ 4443412 w 6686550"/>
              <a:gd name="connsiteY8" fmla="*/ 128588 h 1326287"/>
              <a:gd name="connsiteX9" fmla="*/ 5029200 w 6686550"/>
              <a:gd name="connsiteY9" fmla="*/ 1300163 h 1326287"/>
              <a:gd name="connsiteX10" fmla="*/ 5957887 w 6686550"/>
              <a:gd name="connsiteY10" fmla="*/ 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13" fmla="*/ 6686550 w 6686550"/>
              <a:gd name="connsiteY13" fmla="*/ 800100 h 1326287"/>
              <a:gd name="connsiteX0" fmla="*/ 0 w 6686550"/>
              <a:gd name="connsiteY0" fmla="*/ 1057275 h 1326287"/>
              <a:gd name="connsiteX1" fmla="*/ 571500 w 6686550"/>
              <a:gd name="connsiteY1" fmla="*/ 228600 h 1326287"/>
              <a:gd name="connsiteX2" fmla="*/ 571500 w 6686550"/>
              <a:gd name="connsiteY2" fmla="*/ 228600 h 1326287"/>
              <a:gd name="connsiteX3" fmla="*/ 1700212 w 6686550"/>
              <a:gd name="connsiteY3" fmla="*/ 1257300 h 1326287"/>
              <a:gd name="connsiteX4" fmla="*/ 2514600 w 6686550"/>
              <a:gd name="connsiteY4" fmla="*/ 228600 h 1326287"/>
              <a:gd name="connsiteX5" fmla="*/ 3314700 w 6686550"/>
              <a:gd name="connsiteY5" fmla="*/ 1314450 h 1326287"/>
              <a:gd name="connsiteX6" fmla="*/ 3357562 w 6686550"/>
              <a:gd name="connsiteY6" fmla="*/ 1300163 h 1326287"/>
              <a:gd name="connsiteX7" fmla="*/ 3414712 w 6686550"/>
              <a:gd name="connsiteY7" fmla="*/ 1257300 h 1326287"/>
              <a:gd name="connsiteX8" fmla="*/ 4443412 w 6686550"/>
              <a:gd name="connsiteY8" fmla="*/ 128588 h 1326287"/>
              <a:gd name="connsiteX9" fmla="*/ 5029200 w 6686550"/>
              <a:gd name="connsiteY9" fmla="*/ 1300163 h 1326287"/>
              <a:gd name="connsiteX10" fmla="*/ 5957887 w 6686550"/>
              <a:gd name="connsiteY10" fmla="*/ 0 h 1326287"/>
              <a:gd name="connsiteX11" fmla="*/ 6686550 w 6686550"/>
              <a:gd name="connsiteY11" fmla="*/ 800100 h 1326287"/>
              <a:gd name="connsiteX12" fmla="*/ 6686550 w 6686550"/>
              <a:gd name="connsiteY12" fmla="*/ 800100 h 1326287"/>
              <a:gd name="connsiteX13" fmla="*/ 6686550 w 6686550"/>
              <a:gd name="connsiteY13" fmla="*/ 800100 h 1326287"/>
              <a:gd name="connsiteX0" fmla="*/ 0 w 6686550"/>
              <a:gd name="connsiteY0" fmla="*/ 1190625 h 1459637"/>
              <a:gd name="connsiteX1" fmla="*/ 571500 w 6686550"/>
              <a:gd name="connsiteY1" fmla="*/ 361950 h 1459637"/>
              <a:gd name="connsiteX2" fmla="*/ 571500 w 6686550"/>
              <a:gd name="connsiteY2" fmla="*/ 361950 h 1459637"/>
              <a:gd name="connsiteX3" fmla="*/ 1700212 w 6686550"/>
              <a:gd name="connsiteY3" fmla="*/ 1390650 h 1459637"/>
              <a:gd name="connsiteX4" fmla="*/ 2514600 w 6686550"/>
              <a:gd name="connsiteY4" fmla="*/ 361950 h 1459637"/>
              <a:gd name="connsiteX5" fmla="*/ 3314700 w 6686550"/>
              <a:gd name="connsiteY5" fmla="*/ 1447800 h 1459637"/>
              <a:gd name="connsiteX6" fmla="*/ 3357562 w 6686550"/>
              <a:gd name="connsiteY6" fmla="*/ 1433513 h 1459637"/>
              <a:gd name="connsiteX7" fmla="*/ 3414712 w 6686550"/>
              <a:gd name="connsiteY7" fmla="*/ 1390650 h 1459637"/>
              <a:gd name="connsiteX8" fmla="*/ 4443412 w 6686550"/>
              <a:gd name="connsiteY8" fmla="*/ 261938 h 1459637"/>
              <a:gd name="connsiteX9" fmla="*/ 5029200 w 6686550"/>
              <a:gd name="connsiteY9" fmla="*/ 1433513 h 1459637"/>
              <a:gd name="connsiteX10" fmla="*/ 5957887 w 6686550"/>
              <a:gd name="connsiteY10" fmla="*/ 133350 h 1459637"/>
              <a:gd name="connsiteX11" fmla="*/ 6686550 w 6686550"/>
              <a:gd name="connsiteY11" fmla="*/ 933450 h 1459637"/>
              <a:gd name="connsiteX12" fmla="*/ 6686550 w 6686550"/>
              <a:gd name="connsiteY12" fmla="*/ 933450 h 1459637"/>
              <a:gd name="connsiteX13" fmla="*/ 6686550 w 6686550"/>
              <a:gd name="connsiteY13" fmla="*/ 933450 h 1459637"/>
              <a:gd name="connsiteX0" fmla="*/ 0 w 6686550"/>
              <a:gd name="connsiteY0" fmla="*/ 1190625 h 1459637"/>
              <a:gd name="connsiteX1" fmla="*/ 571500 w 6686550"/>
              <a:gd name="connsiteY1" fmla="*/ 361950 h 1459637"/>
              <a:gd name="connsiteX2" fmla="*/ 571500 w 6686550"/>
              <a:gd name="connsiteY2" fmla="*/ 361950 h 1459637"/>
              <a:gd name="connsiteX3" fmla="*/ 1700212 w 6686550"/>
              <a:gd name="connsiteY3" fmla="*/ 1390650 h 1459637"/>
              <a:gd name="connsiteX4" fmla="*/ 2514600 w 6686550"/>
              <a:gd name="connsiteY4" fmla="*/ 361950 h 1459637"/>
              <a:gd name="connsiteX5" fmla="*/ 3314700 w 6686550"/>
              <a:gd name="connsiteY5" fmla="*/ 1447800 h 1459637"/>
              <a:gd name="connsiteX6" fmla="*/ 3357562 w 6686550"/>
              <a:gd name="connsiteY6" fmla="*/ 1433513 h 1459637"/>
              <a:gd name="connsiteX7" fmla="*/ 3414712 w 6686550"/>
              <a:gd name="connsiteY7" fmla="*/ 1390650 h 1459637"/>
              <a:gd name="connsiteX8" fmla="*/ 4443412 w 6686550"/>
              <a:gd name="connsiteY8" fmla="*/ 261938 h 1459637"/>
              <a:gd name="connsiteX9" fmla="*/ 5029200 w 6686550"/>
              <a:gd name="connsiteY9" fmla="*/ 1433513 h 1459637"/>
              <a:gd name="connsiteX10" fmla="*/ 5957887 w 6686550"/>
              <a:gd name="connsiteY10" fmla="*/ 133350 h 1459637"/>
              <a:gd name="connsiteX11" fmla="*/ 6686550 w 6686550"/>
              <a:gd name="connsiteY11" fmla="*/ 933450 h 1459637"/>
              <a:gd name="connsiteX12" fmla="*/ 6686550 w 6686550"/>
              <a:gd name="connsiteY12" fmla="*/ 933450 h 1459637"/>
              <a:gd name="connsiteX13" fmla="*/ 6686550 w 6686550"/>
              <a:gd name="connsiteY13" fmla="*/ 933450 h 1459637"/>
              <a:gd name="connsiteX0" fmla="*/ 0 w 6686550"/>
              <a:gd name="connsiteY0" fmla="*/ 1190625 h 1459637"/>
              <a:gd name="connsiteX1" fmla="*/ 571500 w 6686550"/>
              <a:gd name="connsiteY1" fmla="*/ 361950 h 1459637"/>
              <a:gd name="connsiteX2" fmla="*/ 571500 w 6686550"/>
              <a:gd name="connsiteY2" fmla="*/ 361950 h 1459637"/>
              <a:gd name="connsiteX3" fmla="*/ 1700212 w 6686550"/>
              <a:gd name="connsiteY3" fmla="*/ 1390650 h 1459637"/>
              <a:gd name="connsiteX4" fmla="*/ 2514600 w 6686550"/>
              <a:gd name="connsiteY4" fmla="*/ 361950 h 1459637"/>
              <a:gd name="connsiteX5" fmla="*/ 3314700 w 6686550"/>
              <a:gd name="connsiteY5" fmla="*/ 1447800 h 1459637"/>
              <a:gd name="connsiteX6" fmla="*/ 3357562 w 6686550"/>
              <a:gd name="connsiteY6" fmla="*/ 1433513 h 1459637"/>
              <a:gd name="connsiteX7" fmla="*/ 3414712 w 6686550"/>
              <a:gd name="connsiteY7" fmla="*/ 1390650 h 1459637"/>
              <a:gd name="connsiteX8" fmla="*/ 4443412 w 6686550"/>
              <a:gd name="connsiteY8" fmla="*/ 261938 h 1459637"/>
              <a:gd name="connsiteX9" fmla="*/ 5029200 w 6686550"/>
              <a:gd name="connsiteY9" fmla="*/ 1433513 h 1459637"/>
              <a:gd name="connsiteX10" fmla="*/ 5957887 w 6686550"/>
              <a:gd name="connsiteY10" fmla="*/ 133350 h 1459637"/>
              <a:gd name="connsiteX11" fmla="*/ 6686550 w 6686550"/>
              <a:gd name="connsiteY11" fmla="*/ 933450 h 1459637"/>
              <a:gd name="connsiteX12" fmla="*/ 6686550 w 6686550"/>
              <a:gd name="connsiteY12" fmla="*/ 933450 h 1459637"/>
              <a:gd name="connsiteX13" fmla="*/ 6686550 w 6686550"/>
              <a:gd name="connsiteY13" fmla="*/ 933450 h 1459637"/>
              <a:gd name="connsiteX0" fmla="*/ 0 w 6686550"/>
              <a:gd name="connsiteY0" fmla="*/ 1190625 h 1459637"/>
              <a:gd name="connsiteX1" fmla="*/ 571500 w 6686550"/>
              <a:gd name="connsiteY1" fmla="*/ 361950 h 1459637"/>
              <a:gd name="connsiteX2" fmla="*/ 571500 w 6686550"/>
              <a:gd name="connsiteY2" fmla="*/ 361950 h 1459637"/>
              <a:gd name="connsiteX3" fmla="*/ 1700212 w 6686550"/>
              <a:gd name="connsiteY3" fmla="*/ 1390650 h 1459637"/>
              <a:gd name="connsiteX4" fmla="*/ 2514600 w 6686550"/>
              <a:gd name="connsiteY4" fmla="*/ 361950 h 1459637"/>
              <a:gd name="connsiteX5" fmla="*/ 3314700 w 6686550"/>
              <a:gd name="connsiteY5" fmla="*/ 1447800 h 1459637"/>
              <a:gd name="connsiteX6" fmla="*/ 3357562 w 6686550"/>
              <a:gd name="connsiteY6" fmla="*/ 1433513 h 1459637"/>
              <a:gd name="connsiteX7" fmla="*/ 3414712 w 6686550"/>
              <a:gd name="connsiteY7" fmla="*/ 1390650 h 1459637"/>
              <a:gd name="connsiteX8" fmla="*/ 4443412 w 6686550"/>
              <a:gd name="connsiteY8" fmla="*/ 261938 h 1459637"/>
              <a:gd name="connsiteX9" fmla="*/ 5029200 w 6686550"/>
              <a:gd name="connsiteY9" fmla="*/ 1433513 h 1459637"/>
              <a:gd name="connsiteX10" fmla="*/ 5957887 w 6686550"/>
              <a:gd name="connsiteY10" fmla="*/ 133350 h 1459637"/>
              <a:gd name="connsiteX11" fmla="*/ 6686550 w 6686550"/>
              <a:gd name="connsiteY11" fmla="*/ 933450 h 1459637"/>
              <a:gd name="connsiteX12" fmla="*/ 6686550 w 6686550"/>
              <a:gd name="connsiteY12" fmla="*/ 933450 h 1459637"/>
              <a:gd name="connsiteX13" fmla="*/ 6686550 w 6686550"/>
              <a:gd name="connsiteY13" fmla="*/ 933450 h 1459637"/>
              <a:gd name="connsiteX0" fmla="*/ 0 w 6686550"/>
              <a:gd name="connsiteY0" fmla="*/ 1190625 h 1619250"/>
              <a:gd name="connsiteX1" fmla="*/ 571500 w 6686550"/>
              <a:gd name="connsiteY1" fmla="*/ 361950 h 1619250"/>
              <a:gd name="connsiteX2" fmla="*/ 571500 w 6686550"/>
              <a:gd name="connsiteY2" fmla="*/ 361950 h 1619250"/>
              <a:gd name="connsiteX3" fmla="*/ 1700212 w 6686550"/>
              <a:gd name="connsiteY3" fmla="*/ 1390650 h 1619250"/>
              <a:gd name="connsiteX4" fmla="*/ 2514600 w 6686550"/>
              <a:gd name="connsiteY4" fmla="*/ 361950 h 1619250"/>
              <a:gd name="connsiteX5" fmla="*/ 3314700 w 6686550"/>
              <a:gd name="connsiteY5" fmla="*/ 1447800 h 1619250"/>
              <a:gd name="connsiteX6" fmla="*/ 3414712 w 6686550"/>
              <a:gd name="connsiteY6" fmla="*/ 1390650 h 1619250"/>
              <a:gd name="connsiteX7" fmla="*/ 4443412 w 6686550"/>
              <a:gd name="connsiteY7" fmla="*/ 261938 h 1619250"/>
              <a:gd name="connsiteX8" fmla="*/ 5029200 w 6686550"/>
              <a:gd name="connsiteY8" fmla="*/ 1433513 h 1619250"/>
              <a:gd name="connsiteX9" fmla="*/ 5957887 w 6686550"/>
              <a:gd name="connsiteY9" fmla="*/ 133350 h 1619250"/>
              <a:gd name="connsiteX10" fmla="*/ 6686550 w 6686550"/>
              <a:gd name="connsiteY10" fmla="*/ 933450 h 1619250"/>
              <a:gd name="connsiteX11" fmla="*/ 6686550 w 6686550"/>
              <a:gd name="connsiteY11" fmla="*/ 933450 h 1619250"/>
              <a:gd name="connsiteX12" fmla="*/ 6686550 w 6686550"/>
              <a:gd name="connsiteY12" fmla="*/ 933450 h 1619250"/>
              <a:gd name="connsiteX0" fmla="*/ 0 w 6686550"/>
              <a:gd name="connsiteY0" fmla="*/ 1190625 h 1447800"/>
              <a:gd name="connsiteX1" fmla="*/ 571500 w 6686550"/>
              <a:gd name="connsiteY1" fmla="*/ 361950 h 1447800"/>
              <a:gd name="connsiteX2" fmla="*/ 571500 w 6686550"/>
              <a:gd name="connsiteY2" fmla="*/ 361950 h 1447800"/>
              <a:gd name="connsiteX3" fmla="*/ 1700212 w 6686550"/>
              <a:gd name="connsiteY3" fmla="*/ 1390650 h 1447800"/>
              <a:gd name="connsiteX4" fmla="*/ 2514600 w 6686550"/>
              <a:gd name="connsiteY4" fmla="*/ 361950 h 1447800"/>
              <a:gd name="connsiteX5" fmla="*/ 3314700 w 6686550"/>
              <a:gd name="connsiteY5" fmla="*/ 1447800 h 1447800"/>
              <a:gd name="connsiteX6" fmla="*/ 4443412 w 6686550"/>
              <a:gd name="connsiteY6" fmla="*/ 261938 h 1447800"/>
              <a:gd name="connsiteX7" fmla="*/ 5029200 w 6686550"/>
              <a:gd name="connsiteY7" fmla="*/ 1433513 h 1447800"/>
              <a:gd name="connsiteX8" fmla="*/ 5957887 w 6686550"/>
              <a:gd name="connsiteY8" fmla="*/ 133350 h 1447800"/>
              <a:gd name="connsiteX9" fmla="*/ 6686550 w 6686550"/>
              <a:gd name="connsiteY9" fmla="*/ 933450 h 1447800"/>
              <a:gd name="connsiteX10" fmla="*/ 6686550 w 6686550"/>
              <a:gd name="connsiteY10" fmla="*/ 933450 h 1447800"/>
              <a:gd name="connsiteX11" fmla="*/ 6686550 w 6686550"/>
              <a:gd name="connsiteY11" fmla="*/ 933450 h 1447800"/>
              <a:gd name="connsiteX0" fmla="*/ 0 w 6686550"/>
              <a:gd name="connsiteY0" fmla="*/ 1190625 h 1464469"/>
              <a:gd name="connsiteX1" fmla="*/ 571500 w 6686550"/>
              <a:gd name="connsiteY1" fmla="*/ 361950 h 1464469"/>
              <a:gd name="connsiteX2" fmla="*/ 571500 w 6686550"/>
              <a:gd name="connsiteY2" fmla="*/ 361950 h 1464469"/>
              <a:gd name="connsiteX3" fmla="*/ 1700212 w 6686550"/>
              <a:gd name="connsiteY3" fmla="*/ 1390650 h 1464469"/>
              <a:gd name="connsiteX4" fmla="*/ 2514600 w 6686550"/>
              <a:gd name="connsiteY4" fmla="*/ 361950 h 1464469"/>
              <a:gd name="connsiteX5" fmla="*/ 3314700 w 6686550"/>
              <a:gd name="connsiteY5" fmla="*/ 1447800 h 1464469"/>
              <a:gd name="connsiteX6" fmla="*/ 4443412 w 6686550"/>
              <a:gd name="connsiteY6" fmla="*/ 261938 h 1464469"/>
              <a:gd name="connsiteX7" fmla="*/ 5029200 w 6686550"/>
              <a:gd name="connsiteY7" fmla="*/ 1433513 h 1464469"/>
              <a:gd name="connsiteX8" fmla="*/ 5957887 w 6686550"/>
              <a:gd name="connsiteY8" fmla="*/ 133350 h 1464469"/>
              <a:gd name="connsiteX9" fmla="*/ 6686550 w 6686550"/>
              <a:gd name="connsiteY9" fmla="*/ 933450 h 1464469"/>
              <a:gd name="connsiteX10" fmla="*/ 6686550 w 6686550"/>
              <a:gd name="connsiteY10" fmla="*/ 933450 h 1464469"/>
              <a:gd name="connsiteX11" fmla="*/ 6686550 w 6686550"/>
              <a:gd name="connsiteY11" fmla="*/ 933450 h 1464469"/>
              <a:gd name="connsiteX0" fmla="*/ 0 w 6686550"/>
              <a:gd name="connsiteY0" fmla="*/ 1190625 h 1464469"/>
              <a:gd name="connsiteX1" fmla="*/ 571500 w 6686550"/>
              <a:gd name="connsiteY1" fmla="*/ 361950 h 1464469"/>
              <a:gd name="connsiteX2" fmla="*/ 571500 w 6686550"/>
              <a:gd name="connsiteY2" fmla="*/ 361950 h 1464469"/>
              <a:gd name="connsiteX3" fmla="*/ 1700212 w 6686550"/>
              <a:gd name="connsiteY3" fmla="*/ 1390650 h 1464469"/>
              <a:gd name="connsiteX4" fmla="*/ 2514600 w 6686550"/>
              <a:gd name="connsiteY4" fmla="*/ 361950 h 1464469"/>
              <a:gd name="connsiteX5" fmla="*/ 3314700 w 6686550"/>
              <a:gd name="connsiteY5" fmla="*/ 1447800 h 1464469"/>
              <a:gd name="connsiteX6" fmla="*/ 4443412 w 6686550"/>
              <a:gd name="connsiteY6" fmla="*/ 261938 h 1464469"/>
              <a:gd name="connsiteX7" fmla="*/ 5029200 w 6686550"/>
              <a:gd name="connsiteY7" fmla="*/ 1433513 h 1464469"/>
              <a:gd name="connsiteX8" fmla="*/ 5957887 w 6686550"/>
              <a:gd name="connsiteY8" fmla="*/ 133350 h 1464469"/>
              <a:gd name="connsiteX9" fmla="*/ 6686550 w 6686550"/>
              <a:gd name="connsiteY9" fmla="*/ 933450 h 1464469"/>
              <a:gd name="connsiteX10" fmla="*/ 6686550 w 6686550"/>
              <a:gd name="connsiteY10" fmla="*/ 933450 h 1464469"/>
              <a:gd name="connsiteX11" fmla="*/ 6686550 w 6686550"/>
              <a:gd name="connsiteY11" fmla="*/ 933450 h 1464469"/>
              <a:gd name="connsiteX0" fmla="*/ 0 w 6686550"/>
              <a:gd name="connsiteY0" fmla="*/ 1190625 h 1464469"/>
              <a:gd name="connsiteX1" fmla="*/ 571500 w 6686550"/>
              <a:gd name="connsiteY1" fmla="*/ 361950 h 1464469"/>
              <a:gd name="connsiteX2" fmla="*/ 571500 w 6686550"/>
              <a:gd name="connsiteY2" fmla="*/ 361950 h 1464469"/>
              <a:gd name="connsiteX3" fmla="*/ 1700212 w 6686550"/>
              <a:gd name="connsiteY3" fmla="*/ 1390650 h 1464469"/>
              <a:gd name="connsiteX4" fmla="*/ 2514600 w 6686550"/>
              <a:gd name="connsiteY4" fmla="*/ 361950 h 1464469"/>
              <a:gd name="connsiteX5" fmla="*/ 3314700 w 6686550"/>
              <a:gd name="connsiteY5" fmla="*/ 1447800 h 1464469"/>
              <a:gd name="connsiteX6" fmla="*/ 4443412 w 6686550"/>
              <a:gd name="connsiteY6" fmla="*/ 261938 h 1464469"/>
              <a:gd name="connsiteX7" fmla="*/ 5029200 w 6686550"/>
              <a:gd name="connsiteY7" fmla="*/ 1433513 h 1464469"/>
              <a:gd name="connsiteX8" fmla="*/ 5957887 w 6686550"/>
              <a:gd name="connsiteY8" fmla="*/ 133350 h 1464469"/>
              <a:gd name="connsiteX9" fmla="*/ 6686550 w 6686550"/>
              <a:gd name="connsiteY9" fmla="*/ 933450 h 1464469"/>
              <a:gd name="connsiteX10" fmla="*/ 6686550 w 6686550"/>
              <a:gd name="connsiteY10" fmla="*/ 933450 h 1464469"/>
              <a:gd name="connsiteX11" fmla="*/ 6686550 w 6686550"/>
              <a:gd name="connsiteY11" fmla="*/ 933450 h 1464469"/>
              <a:gd name="connsiteX0" fmla="*/ 0 w 6686550"/>
              <a:gd name="connsiteY0" fmla="*/ 1190625 h 1464469"/>
              <a:gd name="connsiteX1" fmla="*/ 571500 w 6686550"/>
              <a:gd name="connsiteY1" fmla="*/ 361950 h 1464469"/>
              <a:gd name="connsiteX2" fmla="*/ 571500 w 6686550"/>
              <a:gd name="connsiteY2" fmla="*/ 361950 h 1464469"/>
              <a:gd name="connsiteX3" fmla="*/ 1700212 w 6686550"/>
              <a:gd name="connsiteY3" fmla="*/ 1390650 h 1464469"/>
              <a:gd name="connsiteX4" fmla="*/ 2514600 w 6686550"/>
              <a:gd name="connsiteY4" fmla="*/ 361950 h 1464469"/>
              <a:gd name="connsiteX5" fmla="*/ 3314700 w 6686550"/>
              <a:gd name="connsiteY5" fmla="*/ 1447800 h 1464469"/>
              <a:gd name="connsiteX6" fmla="*/ 4443412 w 6686550"/>
              <a:gd name="connsiteY6" fmla="*/ 261938 h 1464469"/>
              <a:gd name="connsiteX7" fmla="*/ 5029200 w 6686550"/>
              <a:gd name="connsiteY7" fmla="*/ 1433513 h 1464469"/>
              <a:gd name="connsiteX8" fmla="*/ 5957887 w 6686550"/>
              <a:gd name="connsiteY8" fmla="*/ 133350 h 1464469"/>
              <a:gd name="connsiteX9" fmla="*/ 6686550 w 6686550"/>
              <a:gd name="connsiteY9" fmla="*/ 933450 h 1464469"/>
              <a:gd name="connsiteX10" fmla="*/ 6686550 w 6686550"/>
              <a:gd name="connsiteY10" fmla="*/ 933450 h 1464469"/>
              <a:gd name="connsiteX11" fmla="*/ 6686550 w 6686550"/>
              <a:gd name="connsiteY11" fmla="*/ 933450 h 1464469"/>
              <a:gd name="connsiteX0" fmla="*/ 0 w 6686550"/>
              <a:gd name="connsiteY0" fmla="*/ 1190625 h 1464469"/>
              <a:gd name="connsiteX1" fmla="*/ 571500 w 6686550"/>
              <a:gd name="connsiteY1" fmla="*/ 361950 h 1464469"/>
              <a:gd name="connsiteX2" fmla="*/ 1700212 w 6686550"/>
              <a:gd name="connsiteY2" fmla="*/ 1390650 h 1464469"/>
              <a:gd name="connsiteX3" fmla="*/ 2514600 w 6686550"/>
              <a:gd name="connsiteY3" fmla="*/ 361950 h 1464469"/>
              <a:gd name="connsiteX4" fmla="*/ 3314700 w 6686550"/>
              <a:gd name="connsiteY4" fmla="*/ 1447800 h 1464469"/>
              <a:gd name="connsiteX5" fmla="*/ 4443412 w 6686550"/>
              <a:gd name="connsiteY5" fmla="*/ 261938 h 1464469"/>
              <a:gd name="connsiteX6" fmla="*/ 5029200 w 6686550"/>
              <a:gd name="connsiteY6" fmla="*/ 1433513 h 1464469"/>
              <a:gd name="connsiteX7" fmla="*/ 5957887 w 6686550"/>
              <a:gd name="connsiteY7" fmla="*/ 133350 h 1464469"/>
              <a:gd name="connsiteX8" fmla="*/ 6686550 w 6686550"/>
              <a:gd name="connsiteY8" fmla="*/ 933450 h 1464469"/>
              <a:gd name="connsiteX9" fmla="*/ 6686550 w 6686550"/>
              <a:gd name="connsiteY9" fmla="*/ 933450 h 1464469"/>
              <a:gd name="connsiteX10" fmla="*/ 6686550 w 6686550"/>
              <a:gd name="connsiteY10" fmla="*/ 933450 h 1464469"/>
              <a:gd name="connsiteX0" fmla="*/ 0 w 6686550"/>
              <a:gd name="connsiteY0" fmla="*/ 1190625 h 1464469"/>
              <a:gd name="connsiteX1" fmla="*/ 571500 w 6686550"/>
              <a:gd name="connsiteY1" fmla="*/ 361950 h 1464469"/>
              <a:gd name="connsiteX2" fmla="*/ 1700212 w 6686550"/>
              <a:gd name="connsiteY2" fmla="*/ 1390650 h 1464469"/>
              <a:gd name="connsiteX3" fmla="*/ 2514600 w 6686550"/>
              <a:gd name="connsiteY3" fmla="*/ 361950 h 1464469"/>
              <a:gd name="connsiteX4" fmla="*/ 3314700 w 6686550"/>
              <a:gd name="connsiteY4" fmla="*/ 1447800 h 1464469"/>
              <a:gd name="connsiteX5" fmla="*/ 4443412 w 6686550"/>
              <a:gd name="connsiteY5" fmla="*/ 261938 h 1464469"/>
              <a:gd name="connsiteX6" fmla="*/ 5029200 w 6686550"/>
              <a:gd name="connsiteY6" fmla="*/ 1433513 h 1464469"/>
              <a:gd name="connsiteX7" fmla="*/ 5957887 w 6686550"/>
              <a:gd name="connsiteY7" fmla="*/ 133350 h 1464469"/>
              <a:gd name="connsiteX8" fmla="*/ 6686550 w 6686550"/>
              <a:gd name="connsiteY8" fmla="*/ 933450 h 1464469"/>
              <a:gd name="connsiteX9" fmla="*/ 6686550 w 6686550"/>
              <a:gd name="connsiteY9" fmla="*/ 933450 h 1464469"/>
              <a:gd name="connsiteX10" fmla="*/ 6686550 w 6686550"/>
              <a:gd name="connsiteY10" fmla="*/ 933450 h 1464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86550" h="1464469">
                <a:moveTo>
                  <a:pt x="0" y="1190625"/>
                </a:moveTo>
                <a:cubicBezTo>
                  <a:pt x="190500" y="914400"/>
                  <a:pt x="223844" y="495310"/>
                  <a:pt x="571500" y="361950"/>
                </a:cubicBezTo>
                <a:cubicBezTo>
                  <a:pt x="919156" y="228590"/>
                  <a:pt x="1376362" y="1390650"/>
                  <a:pt x="1700212" y="1390650"/>
                </a:cubicBezTo>
                <a:cubicBezTo>
                  <a:pt x="2024062" y="1390650"/>
                  <a:pt x="2247900" y="0"/>
                  <a:pt x="2514600" y="361950"/>
                </a:cubicBezTo>
                <a:cubicBezTo>
                  <a:pt x="2781300" y="723900"/>
                  <a:pt x="2993231" y="1464469"/>
                  <a:pt x="3314700" y="1447800"/>
                </a:cubicBezTo>
                <a:cubicBezTo>
                  <a:pt x="3636169" y="1431131"/>
                  <a:pt x="4157662" y="264319"/>
                  <a:pt x="4443412" y="261938"/>
                </a:cubicBezTo>
                <a:cubicBezTo>
                  <a:pt x="4729162" y="259557"/>
                  <a:pt x="4776788" y="1454944"/>
                  <a:pt x="5029200" y="1433513"/>
                </a:cubicBezTo>
                <a:cubicBezTo>
                  <a:pt x="5281612" y="1412082"/>
                  <a:pt x="5681662" y="216694"/>
                  <a:pt x="5957887" y="133350"/>
                </a:cubicBezTo>
                <a:cubicBezTo>
                  <a:pt x="6234112" y="50006"/>
                  <a:pt x="6565106" y="800100"/>
                  <a:pt x="6686550" y="933450"/>
                </a:cubicBezTo>
                <a:lnTo>
                  <a:pt x="6686550" y="933450"/>
                </a:lnTo>
                <a:lnTo>
                  <a:pt x="6686550" y="933450"/>
                </a:lnTo>
              </a:path>
            </a:pathLst>
          </a:cu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2071670" y="214311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测试线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4718" y="1500174"/>
            <a:ext cx="510909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出现越多的偏离基准线的现象，意味着越有可能在说谎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71603" y="3669119"/>
            <a:ext cx="1357322" cy="830997"/>
          </a:xfrm>
          <a:prstGeom prst="rect">
            <a:avLst/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dirty="0">
                <a:latin typeface="华康俪金黑W8(P)" pitchFamily="34" charset="-122"/>
                <a:ea typeface="华康俪金黑W8(P)" pitchFamily="34" charset="-122"/>
              </a:rPr>
              <a:t>找    </a:t>
            </a:r>
            <a:r>
              <a:rPr lang="zh-CN" altLang="en-US" sz="2400" dirty="0" smtClean="0">
                <a:latin typeface="华康俪金黑W8(P)" pitchFamily="34" charset="-122"/>
                <a:ea typeface="华康俪金黑W8(P)" pitchFamily="34" charset="-122"/>
              </a:rPr>
              <a:t>出基准线</a:t>
            </a:r>
            <a:endParaRPr lang="zh-CN" altLang="en-US" sz="2400" dirty="0">
              <a:latin typeface="华康俪金黑W8(P)" pitchFamily="34" charset="-122"/>
              <a:ea typeface="华康俪金黑W8(P)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893339" y="3669119"/>
            <a:ext cx="1285883" cy="830997"/>
          </a:xfrm>
          <a:prstGeom prst="rect">
            <a:avLst/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dirty="0">
                <a:latin typeface="华康俪金黑W8(P)" pitchFamily="34" charset="-122"/>
                <a:ea typeface="华康俪金黑W8(P)" pitchFamily="34" charset="-122"/>
              </a:rPr>
              <a:t>测   试</a:t>
            </a:r>
            <a:endParaRPr lang="en-US" altLang="zh-CN" sz="2400" dirty="0">
              <a:latin typeface="华康俪金黑W8(P)" pitchFamily="34" charset="-122"/>
              <a:ea typeface="华康俪金黑W8(P)" pitchFamily="34" charset="-122"/>
            </a:endParaRPr>
          </a:p>
          <a:p>
            <a:pPr algn="ctr">
              <a:defRPr/>
            </a:pPr>
            <a:r>
              <a:rPr lang="zh-CN" altLang="en-US" sz="2400" dirty="0">
                <a:latin typeface="华康俪金黑W8(P)" pitchFamily="34" charset="-122"/>
                <a:ea typeface="华康俪金黑W8(P)" pitchFamily="34" charset="-122"/>
              </a:rPr>
              <a:t>行   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3636" y="3669119"/>
            <a:ext cx="1214446" cy="830997"/>
          </a:xfrm>
          <a:prstGeom prst="rect">
            <a:avLst/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dirty="0">
                <a:latin typeface="华康俪金黑W8(P)" pitchFamily="34" charset="-122"/>
                <a:ea typeface="华康俪金黑W8(P)" pitchFamily="34" charset="-122"/>
              </a:rPr>
              <a:t>获   得</a:t>
            </a:r>
            <a:endParaRPr lang="en-US" altLang="zh-CN" sz="2400" dirty="0">
              <a:latin typeface="华康俪金黑W8(P)" pitchFamily="34" charset="-122"/>
              <a:ea typeface="华康俪金黑W8(P)" pitchFamily="34" charset="-122"/>
            </a:endParaRPr>
          </a:p>
          <a:p>
            <a:pPr algn="ctr">
              <a:defRPr/>
            </a:pPr>
            <a:r>
              <a:rPr lang="zh-CN" altLang="en-US" sz="2400" dirty="0">
                <a:latin typeface="华康俪金黑W8(P)" pitchFamily="34" charset="-122"/>
                <a:ea typeface="华康俪金黑W8(P)" pitchFamily="34" charset="-122"/>
              </a:rPr>
              <a:t>结   论</a:t>
            </a:r>
          </a:p>
        </p:txBody>
      </p:sp>
      <p:sp>
        <p:nvSpPr>
          <p:cNvPr id="76" name="右箭头 75"/>
          <p:cNvSpPr/>
          <p:nvPr/>
        </p:nvSpPr>
        <p:spPr>
          <a:xfrm>
            <a:off x="1214414" y="3990590"/>
            <a:ext cx="214314" cy="298930"/>
          </a:xfrm>
          <a:prstGeom prst="rightArrow">
            <a:avLst>
              <a:gd name="adj1" fmla="val 56673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右箭头 76"/>
          <p:cNvSpPr/>
          <p:nvPr/>
        </p:nvSpPr>
        <p:spPr>
          <a:xfrm>
            <a:off x="3286116" y="3990590"/>
            <a:ext cx="214314" cy="2989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" name="右箭头 77"/>
          <p:cNvSpPr/>
          <p:nvPr/>
        </p:nvSpPr>
        <p:spPr>
          <a:xfrm>
            <a:off x="5643570" y="3990590"/>
            <a:ext cx="214314" cy="2989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1712061" y="462142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检查性提问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76617" y="462142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询问关键重点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76617" y="490717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罪知感问题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71934" y="519292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反射性问题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12061" y="490717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平常的观察</a:t>
            </a:r>
          </a:p>
        </p:txBody>
      </p:sp>
      <p:cxnSp>
        <p:nvCxnSpPr>
          <p:cNvPr id="87" name="直接连接符 86"/>
          <p:cNvCxnSpPr/>
          <p:nvPr/>
        </p:nvCxnSpPr>
        <p:spPr>
          <a:xfrm rot="5400000">
            <a:off x="1373042" y="4775647"/>
            <a:ext cx="5400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1643042" y="5045211"/>
            <a:ext cx="142876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643042" y="4753706"/>
            <a:ext cx="142876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rot="5400000">
            <a:off x="3586496" y="4924485"/>
            <a:ext cx="8280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4000496" y="5050049"/>
            <a:ext cx="142876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4000496" y="4758544"/>
            <a:ext cx="142876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4000496" y="5335801"/>
            <a:ext cx="142876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23850" y="1071546"/>
            <a:ext cx="6468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原理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：人们在说谎时，行为会有所改变。注意观察这些改变就能有效揭穿谎言。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 bwMode="auto">
          <a:xfrm>
            <a:off x="6786578" y="785794"/>
            <a:ext cx="2000264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2890828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32"/>
          <p:cNvGrpSpPr/>
          <p:nvPr/>
        </p:nvGrpSpPr>
        <p:grpSpPr>
          <a:xfrm>
            <a:off x="323850" y="0"/>
            <a:ext cx="2937995" cy="929436"/>
            <a:chOff x="1142976" y="1643050"/>
            <a:chExt cx="2937995" cy="929436"/>
          </a:xfrm>
        </p:grpSpPr>
        <p:sp>
          <p:nvSpPr>
            <p:cNvPr id="34" name="矩形 3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HOW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怎样揭穿谎言</a:t>
              </a:r>
            </a:p>
          </p:txBody>
        </p:sp>
      </p:grpSp>
      <p:grpSp>
        <p:nvGrpSpPr>
          <p:cNvPr id="8" name="组合 71"/>
          <p:cNvGrpSpPr/>
          <p:nvPr/>
        </p:nvGrpSpPr>
        <p:grpSpPr>
          <a:xfrm>
            <a:off x="4632552" y="5654464"/>
            <a:ext cx="4167393" cy="583122"/>
            <a:chOff x="5715008" y="5619460"/>
            <a:chExt cx="4167393" cy="583122"/>
          </a:xfrm>
        </p:grpSpPr>
        <p:sp>
          <p:nvSpPr>
            <p:cNvPr id="68" name="TextBox 67"/>
            <p:cNvSpPr txBox="1"/>
            <p:nvPr/>
          </p:nvSpPr>
          <p:spPr>
            <a:xfrm>
              <a:off x="5715008" y="5802472"/>
              <a:ext cx="40062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为什么大多数政治人物是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“</a:t>
              </a:r>
              <a:r>
                <a:rPr lang="zh-CN" altLang="en-US" sz="20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扑克脸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”？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你懂的</a:t>
              </a:r>
              <a:endParaRPr lang="zh-CN" altLang="en-US" sz="14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9" name="组合 70"/>
            <p:cNvGrpSpPr/>
            <p:nvPr/>
          </p:nvGrpSpPr>
          <p:grpSpPr>
            <a:xfrm>
              <a:off x="9720996" y="5619460"/>
              <a:ext cx="161405" cy="500066"/>
              <a:chOff x="9720996" y="5619460"/>
              <a:chExt cx="161405" cy="500066"/>
            </a:xfrm>
          </p:grpSpPr>
          <p:sp>
            <p:nvSpPr>
              <p:cNvPr id="69" name="任意多边形 68"/>
              <p:cNvSpPr/>
              <p:nvPr/>
            </p:nvSpPr>
            <p:spPr bwMode="auto">
              <a:xfrm>
                <a:off x="9720996" y="5619460"/>
                <a:ext cx="161405" cy="400110"/>
              </a:xfrm>
              <a:custGeom>
                <a:avLst/>
                <a:gdLst>
                  <a:gd name="connsiteX0" fmla="*/ 0 w 107577"/>
                  <a:gd name="connsiteY0" fmla="*/ 0 h 228600"/>
                  <a:gd name="connsiteX1" fmla="*/ 107577 w 107577"/>
                  <a:gd name="connsiteY1" fmla="*/ 0 h 228600"/>
                  <a:gd name="connsiteX2" fmla="*/ 94130 w 107577"/>
                  <a:gd name="connsiteY2" fmla="*/ 228600 h 228600"/>
                  <a:gd name="connsiteX3" fmla="*/ 13447 w 107577"/>
                  <a:gd name="connsiteY3" fmla="*/ 228600 h 228600"/>
                  <a:gd name="connsiteX4" fmla="*/ 0 w 107577"/>
                  <a:gd name="connsiteY4" fmla="*/ 0 h 228600"/>
                  <a:gd name="connsiteX0" fmla="*/ 0 w 179047"/>
                  <a:gd name="connsiteY0" fmla="*/ 0 h 300062"/>
                  <a:gd name="connsiteX1" fmla="*/ 179047 w 179047"/>
                  <a:gd name="connsiteY1" fmla="*/ 71462 h 300062"/>
                  <a:gd name="connsiteX2" fmla="*/ 165600 w 179047"/>
                  <a:gd name="connsiteY2" fmla="*/ 300062 h 300062"/>
                  <a:gd name="connsiteX3" fmla="*/ 84917 w 179047"/>
                  <a:gd name="connsiteY3" fmla="*/ 300062 h 300062"/>
                  <a:gd name="connsiteX4" fmla="*/ 0 w 179047"/>
                  <a:gd name="connsiteY4" fmla="*/ 0 h 300062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0 h 371524"/>
                  <a:gd name="connsiteX1" fmla="*/ 250453 w 250453"/>
                  <a:gd name="connsiteY1" fmla="*/ 24 h 371524"/>
                  <a:gd name="connsiteX2" fmla="*/ 165600 w 250453"/>
                  <a:gd name="connsiteY2" fmla="*/ 371524 h 371524"/>
                  <a:gd name="connsiteX3" fmla="*/ 84917 w 250453"/>
                  <a:gd name="connsiteY3" fmla="*/ 371524 h 371524"/>
                  <a:gd name="connsiteX4" fmla="*/ 0 w 250453"/>
                  <a:gd name="connsiteY4" fmla="*/ 0 h 371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453" h="371524">
                    <a:moveTo>
                      <a:pt x="0" y="0"/>
                    </a:moveTo>
                    <a:lnTo>
                      <a:pt x="250453" y="24"/>
                    </a:lnTo>
                    <a:lnTo>
                      <a:pt x="165600" y="371524"/>
                    </a:lnTo>
                    <a:lnTo>
                      <a:pt x="84917" y="371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2000" dirty="0"/>
              </a:p>
            </p:txBody>
          </p:sp>
          <p:sp>
            <p:nvSpPr>
              <p:cNvPr id="70" name="矩形 69"/>
              <p:cNvSpPr/>
              <p:nvPr/>
            </p:nvSpPr>
            <p:spPr bwMode="auto">
              <a:xfrm>
                <a:off x="9767150" y="6048088"/>
                <a:ext cx="71438" cy="7143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7200" dirty="0"/>
              </a:p>
            </p:txBody>
          </p:sp>
        </p:grpSp>
      </p:grpSp>
      <p:grpSp>
        <p:nvGrpSpPr>
          <p:cNvPr id="57" name="组合 56"/>
          <p:cNvGrpSpPr/>
          <p:nvPr/>
        </p:nvGrpSpPr>
        <p:grpSpPr>
          <a:xfrm>
            <a:off x="6843728" y="685780"/>
            <a:ext cx="1953910" cy="461665"/>
            <a:chOff x="6990351" y="1205994"/>
            <a:chExt cx="1953910" cy="461665"/>
          </a:xfrm>
        </p:grpSpPr>
        <p:sp>
          <p:nvSpPr>
            <p:cNvPr id="49" name="TextBox 48"/>
            <p:cNvSpPr txBox="1"/>
            <p:nvPr/>
          </p:nvSpPr>
          <p:spPr>
            <a:xfrm>
              <a:off x="7143768" y="1285860"/>
              <a:ext cx="18004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辨识三种说谎的情绪</a:t>
              </a: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6990351" y="1205994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2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434093" y="1740747"/>
            <a:ext cx="851891" cy="830997"/>
          </a:xfrm>
          <a:prstGeom prst="rect">
            <a:avLst/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 smtClean="0">
                <a:latin typeface="华康俪金黑W8(P)" pitchFamily="34" charset="-122"/>
                <a:ea typeface="华康俪金黑W8(P)" pitchFamily="34" charset="-122"/>
              </a:rPr>
              <a:t>惶恐</a:t>
            </a:r>
            <a:endParaRPr lang="en-US" altLang="zh-CN" sz="2400" b="1" dirty="0" smtClean="0">
              <a:latin typeface="华康俪金黑W8(P)" pitchFamily="34" charset="-122"/>
              <a:ea typeface="华康俪金黑W8(P)" pitchFamily="34" charset="-122"/>
            </a:endParaRPr>
          </a:p>
          <a:p>
            <a:pPr algn="ctr"/>
            <a:r>
              <a:rPr lang="zh-CN" altLang="en-US" sz="2400" b="1" dirty="0" smtClean="0">
                <a:latin typeface="华康俪金黑W8(P)" pitchFamily="34" charset="-122"/>
                <a:ea typeface="华康俪金黑W8(P)" pitchFamily="34" charset="-122"/>
              </a:rPr>
              <a:t>不安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34093" y="3098069"/>
            <a:ext cx="800219" cy="830997"/>
          </a:xfrm>
          <a:prstGeom prst="rect">
            <a:avLst/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 smtClean="0">
                <a:latin typeface="华康俪金黑W8(P)" pitchFamily="34" charset="-122"/>
                <a:ea typeface="华康俪金黑W8(P)" pitchFamily="34" charset="-122"/>
              </a:rPr>
              <a:t>罪恶</a:t>
            </a:r>
            <a:endParaRPr lang="en-US" altLang="zh-CN" sz="2400" b="1" dirty="0" smtClean="0">
              <a:latin typeface="华康俪金黑W8(P)" pitchFamily="34" charset="-122"/>
              <a:ea typeface="华康俪金黑W8(P)" pitchFamily="34" charset="-122"/>
            </a:endParaRPr>
          </a:p>
          <a:p>
            <a:pPr algn="ctr"/>
            <a:r>
              <a:rPr lang="zh-CN" altLang="en-US" sz="2400" b="1" dirty="0">
                <a:latin typeface="华康俪金黑W8(P)" pitchFamily="34" charset="-122"/>
                <a:ea typeface="华康俪金黑W8(P)" pitchFamily="34" charset="-122"/>
              </a:rPr>
              <a:t>感</a:t>
            </a:r>
            <a:endParaRPr lang="zh-CN" altLang="en-US" sz="2400" b="1" dirty="0" smtClean="0">
              <a:latin typeface="华康俪金黑W8(P)" pitchFamily="34" charset="-122"/>
              <a:ea typeface="华康俪金黑W8(P)" pitchFamily="3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434093" y="4455391"/>
            <a:ext cx="800219" cy="830997"/>
          </a:xfrm>
          <a:prstGeom prst="rect">
            <a:avLst/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 smtClean="0">
                <a:latin typeface="华康俪金黑W8(P)" pitchFamily="34" charset="-122"/>
                <a:ea typeface="华康俪金黑W8(P)" pitchFamily="34" charset="-122"/>
              </a:rPr>
              <a:t>欢愉</a:t>
            </a:r>
            <a:endParaRPr lang="en-US" altLang="zh-CN" sz="2400" b="1" dirty="0" smtClean="0">
              <a:latin typeface="华康俪金黑W8(P)" pitchFamily="34" charset="-122"/>
              <a:ea typeface="华康俪金黑W8(P)" pitchFamily="34" charset="-122"/>
            </a:endParaRPr>
          </a:p>
          <a:p>
            <a:pPr algn="ctr"/>
            <a:r>
              <a:rPr lang="zh-CN" altLang="en-US" sz="2400" b="1" dirty="0">
                <a:latin typeface="华康俪金黑W8(P)" pitchFamily="34" charset="-122"/>
                <a:ea typeface="华康俪金黑W8(P)" pitchFamily="34" charset="-122"/>
              </a:rPr>
              <a:t>感</a:t>
            </a:r>
            <a:endParaRPr lang="zh-CN" altLang="en-US" sz="2400" b="1" dirty="0" smtClean="0">
              <a:latin typeface="华康俪金黑W8(P)" pitchFamily="34" charset="-122"/>
              <a:ea typeface="华康俪金黑W8(P)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428860" y="1996851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灌输谎言多么可怕的观念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强调说谎招致的具体苦果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28860" y="3357562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通过增强罪恶感来揭露谎言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行为被合理化后不会有罪恶感出现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28860" y="496579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防范经验丰富的说谎者特别有效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3850" y="1071546"/>
            <a:ext cx="6468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原理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：说谎时，有三种情绪相伴而生。观察或增强这三种情绪能有效揭穿谎言。</a:t>
            </a:r>
          </a:p>
        </p:txBody>
      </p:sp>
      <p:pic>
        <p:nvPicPr>
          <p:cNvPr id="12290" name="Picture 2" descr="c:\DOCUME~1\ADMINI~1\APPLIC~1\360se6\USERDA~1\Temp\MH9004~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578" y="3285870"/>
            <a:ext cx="784454" cy="784454"/>
          </a:xfrm>
          <a:prstGeom prst="rect">
            <a:avLst/>
          </a:prstGeom>
          <a:noFill/>
        </p:spPr>
      </p:pic>
      <p:pic>
        <p:nvPicPr>
          <p:cNvPr id="12292" name="Picture 4" descr="c:\DOCUME~1\ADMINI~1\APPLIC~1\360se6\USERDA~1\Temp\MH9004~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00826" y="1879383"/>
            <a:ext cx="785818" cy="785818"/>
          </a:xfrm>
          <a:prstGeom prst="rect">
            <a:avLst/>
          </a:prstGeom>
          <a:noFill/>
        </p:spPr>
      </p:pic>
      <p:sp>
        <p:nvSpPr>
          <p:cNvPr id="75" name="TextBox 74"/>
          <p:cNvSpPr txBox="1"/>
          <p:nvPr/>
        </p:nvSpPr>
        <p:spPr>
          <a:xfrm>
            <a:off x="6361627" y="171448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容易发现</a:t>
            </a:r>
          </a:p>
        </p:txBody>
      </p:sp>
      <p:pic>
        <p:nvPicPr>
          <p:cNvPr id="76" name="Picture 4" descr="c:\DOCUME~1\ADMINI~1\APPLIC~1\360se6\USERDA~1\Temp\MH9004~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4470" y="4665465"/>
            <a:ext cx="785818" cy="785818"/>
          </a:xfrm>
          <a:prstGeom prst="rect">
            <a:avLst/>
          </a:prstGeom>
          <a:noFill/>
        </p:spPr>
      </p:pic>
      <p:sp>
        <p:nvSpPr>
          <p:cNvPr id="77" name="TextBox 76"/>
          <p:cNvSpPr txBox="1"/>
          <p:nvPr/>
        </p:nvSpPr>
        <p:spPr>
          <a:xfrm>
            <a:off x="6455271" y="450057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容易发现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55271" y="314901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难以发现</a:t>
            </a:r>
          </a:p>
        </p:txBody>
      </p:sp>
      <p:cxnSp>
        <p:nvCxnSpPr>
          <p:cNvPr id="80" name="直接连接符 79"/>
          <p:cNvCxnSpPr/>
          <p:nvPr/>
        </p:nvCxnSpPr>
        <p:spPr>
          <a:xfrm>
            <a:off x="1000100" y="2714620"/>
            <a:ext cx="6786610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1000100" y="4071942"/>
            <a:ext cx="6786610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000100" y="5429264"/>
            <a:ext cx="6786610" cy="15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圆角矩形 88"/>
          <p:cNvSpPr/>
          <p:nvPr/>
        </p:nvSpPr>
        <p:spPr bwMode="auto">
          <a:xfrm>
            <a:off x="323850" y="1785926"/>
            <a:ext cx="3390894" cy="3714776"/>
          </a:xfrm>
          <a:prstGeom prst="roundRect">
            <a:avLst>
              <a:gd name="adj" fmla="val 7250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 bwMode="auto">
          <a:xfrm>
            <a:off x="6786578" y="785795"/>
            <a:ext cx="2000264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88" name="圆角矩形 87"/>
          <p:cNvSpPr/>
          <p:nvPr/>
        </p:nvSpPr>
        <p:spPr bwMode="auto">
          <a:xfrm>
            <a:off x="4071934" y="1785926"/>
            <a:ext cx="4786346" cy="3714776"/>
          </a:xfrm>
          <a:prstGeom prst="roundRect">
            <a:avLst>
              <a:gd name="adj" fmla="val 5337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82" name="椭圆 81"/>
          <p:cNvSpPr/>
          <p:nvPr/>
        </p:nvSpPr>
        <p:spPr bwMode="auto">
          <a:xfrm>
            <a:off x="6594470" y="3500438"/>
            <a:ext cx="571504" cy="5715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2890828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32"/>
          <p:cNvGrpSpPr/>
          <p:nvPr/>
        </p:nvGrpSpPr>
        <p:grpSpPr>
          <a:xfrm>
            <a:off x="323850" y="0"/>
            <a:ext cx="2937995" cy="929436"/>
            <a:chOff x="1142976" y="1643050"/>
            <a:chExt cx="2937995" cy="929436"/>
          </a:xfrm>
        </p:grpSpPr>
        <p:sp>
          <p:nvSpPr>
            <p:cNvPr id="34" name="矩形 3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HOW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怎样揭穿谎言</a:t>
              </a:r>
            </a:p>
          </p:txBody>
        </p:sp>
      </p:grpSp>
      <p:grpSp>
        <p:nvGrpSpPr>
          <p:cNvPr id="8" name="组合 71"/>
          <p:cNvGrpSpPr/>
          <p:nvPr/>
        </p:nvGrpSpPr>
        <p:grpSpPr>
          <a:xfrm>
            <a:off x="323850" y="5661025"/>
            <a:ext cx="3251419" cy="567949"/>
            <a:chOff x="5572132" y="5597224"/>
            <a:chExt cx="3251419" cy="567949"/>
          </a:xfrm>
        </p:grpSpPr>
        <p:sp>
          <p:nvSpPr>
            <p:cNvPr id="68" name="TextBox 67"/>
            <p:cNvSpPr txBox="1"/>
            <p:nvPr/>
          </p:nvSpPr>
          <p:spPr>
            <a:xfrm>
              <a:off x="5715008" y="5765063"/>
              <a:ext cx="3108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微表情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最能反应说谎者的真实情绪</a:t>
              </a:r>
            </a:p>
          </p:txBody>
        </p:sp>
        <p:grpSp>
          <p:nvGrpSpPr>
            <p:cNvPr id="9" name="组合 70"/>
            <p:cNvGrpSpPr/>
            <p:nvPr/>
          </p:nvGrpSpPr>
          <p:grpSpPr>
            <a:xfrm>
              <a:off x="5572132" y="5597224"/>
              <a:ext cx="161405" cy="500066"/>
              <a:chOff x="5572132" y="5597224"/>
              <a:chExt cx="161405" cy="500066"/>
            </a:xfrm>
          </p:grpSpPr>
          <p:sp>
            <p:nvSpPr>
              <p:cNvPr id="69" name="任意多边形 68"/>
              <p:cNvSpPr/>
              <p:nvPr/>
            </p:nvSpPr>
            <p:spPr bwMode="auto">
              <a:xfrm>
                <a:off x="5572132" y="5597224"/>
                <a:ext cx="161405" cy="400110"/>
              </a:xfrm>
              <a:custGeom>
                <a:avLst/>
                <a:gdLst>
                  <a:gd name="connsiteX0" fmla="*/ 0 w 107577"/>
                  <a:gd name="connsiteY0" fmla="*/ 0 h 228600"/>
                  <a:gd name="connsiteX1" fmla="*/ 107577 w 107577"/>
                  <a:gd name="connsiteY1" fmla="*/ 0 h 228600"/>
                  <a:gd name="connsiteX2" fmla="*/ 94130 w 107577"/>
                  <a:gd name="connsiteY2" fmla="*/ 228600 h 228600"/>
                  <a:gd name="connsiteX3" fmla="*/ 13447 w 107577"/>
                  <a:gd name="connsiteY3" fmla="*/ 228600 h 228600"/>
                  <a:gd name="connsiteX4" fmla="*/ 0 w 107577"/>
                  <a:gd name="connsiteY4" fmla="*/ 0 h 228600"/>
                  <a:gd name="connsiteX0" fmla="*/ 0 w 179047"/>
                  <a:gd name="connsiteY0" fmla="*/ 0 h 300062"/>
                  <a:gd name="connsiteX1" fmla="*/ 179047 w 179047"/>
                  <a:gd name="connsiteY1" fmla="*/ 71462 h 300062"/>
                  <a:gd name="connsiteX2" fmla="*/ 165600 w 179047"/>
                  <a:gd name="connsiteY2" fmla="*/ 300062 h 300062"/>
                  <a:gd name="connsiteX3" fmla="*/ 84917 w 179047"/>
                  <a:gd name="connsiteY3" fmla="*/ 300062 h 300062"/>
                  <a:gd name="connsiteX4" fmla="*/ 0 w 179047"/>
                  <a:gd name="connsiteY4" fmla="*/ 0 h 300062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0 h 371524"/>
                  <a:gd name="connsiteX1" fmla="*/ 250453 w 250453"/>
                  <a:gd name="connsiteY1" fmla="*/ 24 h 371524"/>
                  <a:gd name="connsiteX2" fmla="*/ 165600 w 250453"/>
                  <a:gd name="connsiteY2" fmla="*/ 371524 h 371524"/>
                  <a:gd name="connsiteX3" fmla="*/ 84917 w 250453"/>
                  <a:gd name="connsiteY3" fmla="*/ 371524 h 371524"/>
                  <a:gd name="connsiteX4" fmla="*/ 0 w 250453"/>
                  <a:gd name="connsiteY4" fmla="*/ 0 h 371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453" h="371524">
                    <a:moveTo>
                      <a:pt x="0" y="0"/>
                    </a:moveTo>
                    <a:lnTo>
                      <a:pt x="250453" y="24"/>
                    </a:lnTo>
                    <a:lnTo>
                      <a:pt x="165600" y="371524"/>
                    </a:lnTo>
                    <a:lnTo>
                      <a:pt x="84917" y="371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2000" dirty="0"/>
              </a:p>
            </p:txBody>
          </p:sp>
          <p:sp>
            <p:nvSpPr>
              <p:cNvPr id="70" name="矩形 69"/>
              <p:cNvSpPr/>
              <p:nvPr/>
            </p:nvSpPr>
            <p:spPr bwMode="auto">
              <a:xfrm>
                <a:off x="5618286" y="6025852"/>
                <a:ext cx="71438" cy="7143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7200" dirty="0"/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6910353" y="685780"/>
            <a:ext cx="1776475" cy="461665"/>
            <a:chOff x="2337448" y="4325753"/>
            <a:chExt cx="1776475" cy="461665"/>
          </a:xfrm>
        </p:grpSpPr>
        <p:sp>
          <p:nvSpPr>
            <p:cNvPr id="57" name="TextBox 56"/>
            <p:cNvSpPr txBox="1"/>
            <p:nvPr/>
          </p:nvSpPr>
          <p:spPr>
            <a:xfrm>
              <a:off x="2492966" y="4409358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观察不协调的信号</a:t>
              </a: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2337448" y="4325753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3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323850" y="192880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不协调的征兆：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348" y="2357430"/>
            <a:ext cx="2517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不对称与虚假的微笑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4348" y="2917922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错误的动作或说话顺序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4348" y="3478414"/>
            <a:ext cx="2517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不相称的延续与程度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4348" y="4038905"/>
            <a:ext cx="2055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忽冷忽热的情绪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0628" y="209226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还记得这两位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微笑哥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86314" y="300037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椭圆 75"/>
          <p:cNvSpPr/>
          <p:nvPr/>
        </p:nvSpPr>
        <p:spPr bwMode="auto">
          <a:xfrm>
            <a:off x="4429124" y="2857496"/>
            <a:ext cx="1643074" cy="1643074"/>
          </a:xfrm>
          <a:prstGeom prst="ellipse">
            <a:avLst/>
          </a:prstGeom>
          <a:blipFill>
            <a:blip r:embed="rId3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a:blipFill>
          <a:ln w="285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78" name="椭圆 77"/>
          <p:cNvSpPr/>
          <p:nvPr/>
        </p:nvSpPr>
        <p:spPr bwMode="auto">
          <a:xfrm>
            <a:off x="6786578" y="3500438"/>
            <a:ext cx="1643074" cy="1643074"/>
          </a:xfrm>
          <a:prstGeom prst="ellipse">
            <a:avLst/>
          </a:prstGeom>
          <a:blipFill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a:blipFill>
          <a:ln w="285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79" name="TextBox 78"/>
          <p:cNvSpPr txBox="1"/>
          <p:nvPr/>
        </p:nvSpPr>
        <p:spPr>
          <a:xfrm>
            <a:off x="323850" y="1071546"/>
            <a:ext cx="5319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原理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：说谎者难以顾及每个细节，故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容易因出现不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协调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而露馅。</a:t>
            </a:r>
            <a:endParaRPr lang="zh-CN" altLang="en-US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500562" y="450057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菲律宾人质事件的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阿基诺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三世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88232" y="319266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表叔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杨达才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”</a:t>
            </a:r>
            <a:endParaRPr lang="zh-CN" altLang="en-US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椭圆 83"/>
          <p:cNvSpPr/>
          <p:nvPr/>
        </p:nvSpPr>
        <p:spPr bwMode="auto">
          <a:xfrm>
            <a:off x="6215074" y="4143380"/>
            <a:ext cx="142876" cy="14287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85" name="椭圆 84"/>
          <p:cNvSpPr/>
          <p:nvPr/>
        </p:nvSpPr>
        <p:spPr bwMode="auto">
          <a:xfrm>
            <a:off x="6572264" y="4357694"/>
            <a:ext cx="142876" cy="14287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86" name="椭圆 85"/>
          <p:cNvSpPr/>
          <p:nvPr/>
        </p:nvSpPr>
        <p:spPr bwMode="auto">
          <a:xfrm>
            <a:off x="6143636" y="3786190"/>
            <a:ext cx="285752" cy="2857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87" name="椭圆 86"/>
          <p:cNvSpPr/>
          <p:nvPr/>
        </p:nvSpPr>
        <p:spPr bwMode="auto">
          <a:xfrm>
            <a:off x="6143636" y="3357562"/>
            <a:ext cx="142876" cy="14287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 bwMode="auto">
          <a:xfrm>
            <a:off x="4751451" y="1928802"/>
            <a:ext cx="4033836" cy="3571900"/>
          </a:xfrm>
          <a:prstGeom prst="roundRect">
            <a:avLst>
              <a:gd name="adj" fmla="val 3091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44" name="矩形 43"/>
          <p:cNvSpPr/>
          <p:nvPr/>
        </p:nvSpPr>
        <p:spPr bwMode="auto">
          <a:xfrm>
            <a:off x="6786578" y="785794"/>
            <a:ext cx="2000264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4800" dirty="0"/>
          </a:p>
        </p:txBody>
      </p:sp>
      <p:sp>
        <p:nvSpPr>
          <p:cNvPr id="82" name="圆角矩形 81"/>
          <p:cNvSpPr/>
          <p:nvPr/>
        </p:nvSpPr>
        <p:spPr bwMode="auto">
          <a:xfrm>
            <a:off x="7030152" y="1771296"/>
            <a:ext cx="1747820" cy="2857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79" name="圆角矩形 78"/>
          <p:cNvSpPr/>
          <p:nvPr/>
        </p:nvSpPr>
        <p:spPr bwMode="auto">
          <a:xfrm>
            <a:off x="323850" y="1928802"/>
            <a:ext cx="4033836" cy="3571900"/>
          </a:xfrm>
          <a:prstGeom prst="roundRect">
            <a:avLst>
              <a:gd name="adj" fmla="val 3091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81" name="圆角矩形 80"/>
          <p:cNvSpPr/>
          <p:nvPr/>
        </p:nvSpPr>
        <p:spPr bwMode="auto">
          <a:xfrm>
            <a:off x="323850" y="1765693"/>
            <a:ext cx="1747820" cy="2857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2890828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32"/>
          <p:cNvGrpSpPr/>
          <p:nvPr/>
        </p:nvGrpSpPr>
        <p:grpSpPr>
          <a:xfrm>
            <a:off x="323850" y="0"/>
            <a:ext cx="2937995" cy="929436"/>
            <a:chOff x="1142976" y="1643050"/>
            <a:chExt cx="2937995" cy="929436"/>
          </a:xfrm>
        </p:grpSpPr>
        <p:sp>
          <p:nvSpPr>
            <p:cNvPr id="34" name="矩形 3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HOW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怎样揭穿谎言</a:t>
              </a:r>
            </a:p>
          </p:txBody>
        </p:sp>
      </p:grpSp>
      <p:grpSp>
        <p:nvGrpSpPr>
          <p:cNvPr id="8" name="组合 71"/>
          <p:cNvGrpSpPr/>
          <p:nvPr/>
        </p:nvGrpSpPr>
        <p:grpSpPr>
          <a:xfrm>
            <a:off x="4071934" y="5629882"/>
            <a:ext cx="4714908" cy="556682"/>
            <a:chOff x="5756842" y="5629882"/>
            <a:chExt cx="4714908" cy="556682"/>
          </a:xfrm>
        </p:grpSpPr>
        <p:sp>
          <p:nvSpPr>
            <p:cNvPr id="68" name="TextBox 67"/>
            <p:cNvSpPr txBox="1"/>
            <p:nvPr/>
          </p:nvSpPr>
          <p:spPr>
            <a:xfrm>
              <a:off x="5756842" y="5786454"/>
              <a:ext cx="46474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抛出诱饵问题后，要提供道德赦免，最后要留一条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出路</a:t>
              </a:r>
            </a:p>
          </p:txBody>
        </p:sp>
        <p:grpSp>
          <p:nvGrpSpPr>
            <p:cNvPr id="9" name="组合 70"/>
            <p:cNvGrpSpPr/>
            <p:nvPr/>
          </p:nvGrpSpPr>
          <p:grpSpPr>
            <a:xfrm>
              <a:off x="10310345" y="5629882"/>
              <a:ext cx="161405" cy="500066"/>
              <a:chOff x="10310345" y="5629882"/>
              <a:chExt cx="161405" cy="500066"/>
            </a:xfrm>
          </p:grpSpPr>
          <p:sp>
            <p:nvSpPr>
              <p:cNvPr id="69" name="任意多边形 68"/>
              <p:cNvSpPr/>
              <p:nvPr/>
            </p:nvSpPr>
            <p:spPr bwMode="auto">
              <a:xfrm>
                <a:off x="10310345" y="5629882"/>
                <a:ext cx="161405" cy="400110"/>
              </a:xfrm>
              <a:custGeom>
                <a:avLst/>
                <a:gdLst>
                  <a:gd name="connsiteX0" fmla="*/ 0 w 107577"/>
                  <a:gd name="connsiteY0" fmla="*/ 0 h 228600"/>
                  <a:gd name="connsiteX1" fmla="*/ 107577 w 107577"/>
                  <a:gd name="connsiteY1" fmla="*/ 0 h 228600"/>
                  <a:gd name="connsiteX2" fmla="*/ 94130 w 107577"/>
                  <a:gd name="connsiteY2" fmla="*/ 228600 h 228600"/>
                  <a:gd name="connsiteX3" fmla="*/ 13447 w 107577"/>
                  <a:gd name="connsiteY3" fmla="*/ 228600 h 228600"/>
                  <a:gd name="connsiteX4" fmla="*/ 0 w 107577"/>
                  <a:gd name="connsiteY4" fmla="*/ 0 h 228600"/>
                  <a:gd name="connsiteX0" fmla="*/ 0 w 179047"/>
                  <a:gd name="connsiteY0" fmla="*/ 0 h 300062"/>
                  <a:gd name="connsiteX1" fmla="*/ 179047 w 179047"/>
                  <a:gd name="connsiteY1" fmla="*/ 71462 h 300062"/>
                  <a:gd name="connsiteX2" fmla="*/ 165600 w 179047"/>
                  <a:gd name="connsiteY2" fmla="*/ 300062 h 300062"/>
                  <a:gd name="connsiteX3" fmla="*/ 84917 w 179047"/>
                  <a:gd name="connsiteY3" fmla="*/ 300062 h 300062"/>
                  <a:gd name="connsiteX4" fmla="*/ 0 w 179047"/>
                  <a:gd name="connsiteY4" fmla="*/ 0 h 300062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0 h 371524"/>
                  <a:gd name="connsiteX1" fmla="*/ 250453 w 250453"/>
                  <a:gd name="connsiteY1" fmla="*/ 24 h 371524"/>
                  <a:gd name="connsiteX2" fmla="*/ 165600 w 250453"/>
                  <a:gd name="connsiteY2" fmla="*/ 371524 h 371524"/>
                  <a:gd name="connsiteX3" fmla="*/ 84917 w 250453"/>
                  <a:gd name="connsiteY3" fmla="*/ 371524 h 371524"/>
                  <a:gd name="connsiteX4" fmla="*/ 0 w 250453"/>
                  <a:gd name="connsiteY4" fmla="*/ 0 h 371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453" h="371524">
                    <a:moveTo>
                      <a:pt x="0" y="0"/>
                    </a:moveTo>
                    <a:lnTo>
                      <a:pt x="250453" y="24"/>
                    </a:lnTo>
                    <a:lnTo>
                      <a:pt x="165600" y="371524"/>
                    </a:lnTo>
                    <a:lnTo>
                      <a:pt x="84917" y="371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2000" dirty="0"/>
              </a:p>
            </p:txBody>
          </p:sp>
          <p:sp>
            <p:nvSpPr>
              <p:cNvPr id="70" name="矩形 69"/>
              <p:cNvSpPr/>
              <p:nvPr/>
            </p:nvSpPr>
            <p:spPr bwMode="auto">
              <a:xfrm>
                <a:off x="10356499" y="6058510"/>
                <a:ext cx="71438" cy="7143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7200" dirty="0"/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6922995" y="685780"/>
            <a:ext cx="1792409" cy="461665"/>
            <a:chOff x="7615258" y="2255361"/>
            <a:chExt cx="1792409" cy="461665"/>
          </a:xfrm>
        </p:grpSpPr>
        <p:sp>
          <p:nvSpPr>
            <p:cNvPr id="49" name="TextBox 48"/>
            <p:cNvSpPr txBox="1"/>
            <p:nvPr/>
          </p:nvSpPr>
          <p:spPr>
            <a:xfrm>
              <a:off x="7786710" y="2338486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增强说谎的紧张感</a:t>
              </a: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7615258" y="2255361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4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1734715" y="276506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声音、话语： 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提高声调；迟疑；复述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34715" y="447285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身体： 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眨眼；仪式性动作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99529" y="1932753"/>
            <a:ext cx="272382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在他聚精会神时突然发问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持续追问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时序错置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注意发问技巧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沉默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23850" y="1071546"/>
            <a:ext cx="7319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原理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：说谎是一种精神上的挑战，留意或增强说谎者的紧张情绪就可揭露谎言。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15589" y="3631621"/>
            <a:ext cx="79057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4235"/>
          <a:stretch>
            <a:fillRect/>
          </a:stretch>
        </p:blipFill>
        <p:spPr bwMode="auto">
          <a:xfrm>
            <a:off x="948898" y="2143116"/>
            <a:ext cx="733808" cy="1143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5" name="矩形 74"/>
          <p:cNvSpPr/>
          <p:nvPr/>
        </p:nvSpPr>
        <p:spPr bwMode="auto">
          <a:xfrm>
            <a:off x="1707005" y="4342612"/>
            <a:ext cx="3600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3600" dirty="0"/>
          </a:p>
        </p:txBody>
      </p:sp>
      <p:sp>
        <p:nvSpPr>
          <p:cNvPr id="76" name="矩形 75"/>
          <p:cNvSpPr/>
          <p:nvPr/>
        </p:nvSpPr>
        <p:spPr bwMode="auto">
          <a:xfrm>
            <a:off x="1716706" y="2589924"/>
            <a:ext cx="3600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3600" dirty="0"/>
          </a:p>
        </p:txBody>
      </p:sp>
      <p:sp>
        <p:nvSpPr>
          <p:cNvPr id="77" name="矩形 76"/>
          <p:cNvSpPr/>
          <p:nvPr/>
        </p:nvSpPr>
        <p:spPr>
          <a:xfrm>
            <a:off x="6986349" y="172911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增强紧张的技巧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23850" y="171448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紧张的典型征兆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 bwMode="auto">
          <a:xfrm>
            <a:off x="6786578" y="785794"/>
            <a:ext cx="2000264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4800" dirty="0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2890828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32"/>
          <p:cNvGrpSpPr/>
          <p:nvPr/>
        </p:nvGrpSpPr>
        <p:grpSpPr>
          <a:xfrm>
            <a:off x="323850" y="0"/>
            <a:ext cx="2937995" cy="929436"/>
            <a:chOff x="1142976" y="1643050"/>
            <a:chExt cx="2937995" cy="929436"/>
          </a:xfrm>
        </p:grpSpPr>
        <p:sp>
          <p:nvSpPr>
            <p:cNvPr id="34" name="矩形 33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HOW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怎样揭穿谎言</a:t>
              </a:r>
            </a:p>
          </p:txBody>
        </p:sp>
      </p:grpSp>
      <p:grpSp>
        <p:nvGrpSpPr>
          <p:cNvPr id="8" name="组合 71"/>
          <p:cNvGrpSpPr/>
          <p:nvPr/>
        </p:nvGrpSpPr>
        <p:grpSpPr>
          <a:xfrm>
            <a:off x="323850" y="5661025"/>
            <a:ext cx="2994939" cy="583122"/>
            <a:chOff x="5572132" y="5597224"/>
            <a:chExt cx="2994939" cy="583122"/>
          </a:xfrm>
        </p:grpSpPr>
        <p:sp>
          <p:nvSpPr>
            <p:cNvPr id="68" name="TextBox 67"/>
            <p:cNvSpPr txBox="1"/>
            <p:nvPr/>
          </p:nvSpPr>
          <p:spPr>
            <a:xfrm>
              <a:off x="5715008" y="5780236"/>
              <a:ext cx="28520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注意观察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细节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是发现谎言的关键</a:t>
              </a:r>
            </a:p>
          </p:txBody>
        </p:sp>
        <p:grpSp>
          <p:nvGrpSpPr>
            <p:cNvPr id="9" name="组合 70"/>
            <p:cNvGrpSpPr/>
            <p:nvPr/>
          </p:nvGrpSpPr>
          <p:grpSpPr>
            <a:xfrm>
              <a:off x="5572132" y="5597224"/>
              <a:ext cx="161405" cy="500066"/>
              <a:chOff x="5572132" y="5597224"/>
              <a:chExt cx="161405" cy="500066"/>
            </a:xfrm>
          </p:grpSpPr>
          <p:sp>
            <p:nvSpPr>
              <p:cNvPr id="69" name="任意多边形 68"/>
              <p:cNvSpPr/>
              <p:nvPr/>
            </p:nvSpPr>
            <p:spPr bwMode="auto">
              <a:xfrm>
                <a:off x="5572132" y="5597224"/>
                <a:ext cx="161405" cy="400110"/>
              </a:xfrm>
              <a:custGeom>
                <a:avLst/>
                <a:gdLst>
                  <a:gd name="connsiteX0" fmla="*/ 0 w 107577"/>
                  <a:gd name="connsiteY0" fmla="*/ 0 h 228600"/>
                  <a:gd name="connsiteX1" fmla="*/ 107577 w 107577"/>
                  <a:gd name="connsiteY1" fmla="*/ 0 h 228600"/>
                  <a:gd name="connsiteX2" fmla="*/ 94130 w 107577"/>
                  <a:gd name="connsiteY2" fmla="*/ 228600 h 228600"/>
                  <a:gd name="connsiteX3" fmla="*/ 13447 w 107577"/>
                  <a:gd name="connsiteY3" fmla="*/ 228600 h 228600"/>
                  <a:gd name="connsiteX4" fmla="*/ 0 w 107577"/>
                  <a:gd name="connsiteY4" fmla="*/ 0 h 228600"/>
                  <a:gd name="connsiteX0" fmla="*/ 0 w 179047"/>
                  <a:gd name="connsiteY0" fmla="*/ 0 h 300062"/>
                  <a:gd name="connsiteX1" fmla="*/ 179047 w 179047"/>
                  <a:gd name="connsiteY1" fmla="*/ 71462 h 300062"/>
                  <a:gd name="connsiteX2" fmla="*/ 165600 w 179047"/>
                  <a:gd name="connsiteY2" fmla="*/ 300062 h 300062"/>
                  <a:gd name="connsiteX3" fmla="*/ 84917 w 179047"/>
                  <a:gd name="connsiteY3" fmla="*/ 300062 h 300062"/>
                  <a:gd name="connsiteX4" fmla="*/ 0 w 179047"/>
                  <a:gd name="connsiteY4" fmla="*/ 0 h 300062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71438 h 371500"/>
                  <a:gd name="connsiteX1" fmla="*/ 250453 w 250453"/>
                  <a:gd name="connsiteY1" fmla="*/ 0 h 371500"/>
                  <a:gd name="connsiteX2" fmla="*/ 165600 w 250453"/>
                  <a:gd name="connsiteY2" fmla="*/ 371500 h 371500"/>
                  <a:gd name="connsiteX3" fmla="*/ 84917 w 250453"/>
                  <a:gd name="connsiteY3" fmla="*/ 371500 h 371500"/>
                  <a:gd name="connsiteX4" fmla="*/ 0 w 250453"/>
                  <a:gd name="connsiteY4" fmla="*/ 71438 h 371500"/>
                  <a:gd name="connsiteX0" fmla="*/ 0 w 250453"/>
                  <a:gd name="connsiteY0" fmla="*/ 0 h 371524"/>
                  <a:gd name="connsiteX1" fmla="*/ 250453 w 250453"/>
                  <a:gd name="connsiteY1" fmla="*/ 24 h 371524"/>
                  <a:gd name="connsiteX2" fmla="*/ 165600 w 250453"/>
                  <a:gd name="connsiteY2" fmla="*/ 371524 h 371524"/>
                  <a:gd name="connsiteX3" fmla="*/ 84917 w 250453"/>
                  <a:gd name="connsiteY3" fmla="*/ 371524 h 371524"/>
                  <a:gd name="connsiteX4" fmla="*/ 0 w 250453"/>
                  <a:gd name="connsiteY4" fmla="*/ 0 h 371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453" h="371524">
                    <a:moveTo>
                      <a:pt x="0" y="0"/>
                    </a:moveTo>
                    <a:lnTo>
                      <a:pt x="250453" y="24"/>
                    </a:lnTo>
                    <a:lnTo>
                      <a:pt x="165600" y="371524"/>
                    </a:lnTo>
                    <a:lnTo>
                      <a:pt x="84917" y="371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2000" dirty="0"/>
              </a:p>
            </p:txBody>
          </p:sp>
          <p:sp>
            <p:nvSpPr>
              <p:cNvPr id="70" name="矩形 69"/>
              <p:cNvSpPr/>
              <p:nvPr/>
            </p:nvSpPr>
            <p:spPr bwMode="auto">
              <a:xfrm>
                <a:off x="5618286" y="6025852"/>
                <a:ext cx="71438" cy="7143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sz="7200" dirty="0"/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6828435" y="681319"/>
            <a:ext cx="1958407" cy="461665"/>
            <a:chOff x="7800996" y="3643314"/>
            <a:chExt cx="1958407" cy="461665"/>
          </a:xfrm>
        </p:grpSpPr>
        <p:sp>
          <p:nvSpPr>
            <p:cNvPr id="57" name="TextBox 56"/>
            <p:cNvSpPr txBox="1"/>
            <p:nvPr/>
          </p:nvSpPr>
          <p:spPr>
            <a:xfrm>
              <a:off x="7958910" y="3718966"/>
              <a:ext cx="18004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检视说谎的行为控制</a:t>
              </a: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7800996" y="3643314"/>
              <a:ext cx="285752" cy="461665"/>
            </a:xfrm>
            <a:prstGeom prst="rect">
              <a:avLst/>
            </a:prstGeom>
            <a:noFill/>
            <a:ln w="9525"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r>
                <a:rPr lang="en-US" altLang="zh-CN" sz="2400" dirty="0" smtClean="0">
                  <a:solidFill>
                    <a:srgbClr val="FF0000"/>
                  </a:solidFill>
                </a:rPr>
                <a:t>5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891527" y="1048392"/>
            <a:ext cx="610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说谎者始终无法肯定自己会万无一失，因此会试图控制自己给外界的观感。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仔细观察这种由行为控制引起的各种典型反应，就能揭露谎言。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3850" y="2363354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观察生理动作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注意陈述内容的细节</a:t>
            </a:r>
          </a:p>
        </p:txBody>
      </p:sp>
      <p:sp>
        <p:nvSpPr>
          <p:cNvPr id="67" name="矩形 66"/>
          <p:cNvSpPr/>
          <p:nvPr/>
        </p:nvSpPr>
        <p:spPr>
          <a:xfrm>
            <a:off x="323850" y="1142984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原理：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71" name="圆角矩形 70"/>
          <p:cNvSpPr/>
          <p:nvPr/>
        </p:nvSpPr>
        <p:spPr bwMode="auto">
          <a:xfrm>
            <a:off x="4751451" y="1942657"/>
            <a:ext cx="4033836" cy="3571900"/>
          </a:xfrm>
          <a:prstGeom prst="roundRect">
            <a:avLst>
              <a:gd name="adj" fmla="val 3091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72" name="圆角矩形 71"/>
          <p:cNvSpPr/>
          <p:nvPr/>
        </p:nvSpPr>
        <p:spPr bwMode="auto">
          <a:xfrm>
            <a:off x="7030152" y="1785151"/>
            <a:ext cx="1747820" cy="2857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73" name="圆角矩形 72"/>
          <p:cNvSpPr/>
          <p:nvPr/>
        </p:nvSpPr>
        <p:spPr bwMode="auto">
          <a:xfrm>
            <a:off x="323850" y="1942657"/>
            <a:ext cx="4033836" cy="3571900"/>
          </a:xfrm>
          <a:prstGeom prst="roundRect">
            <a:avLst>
              <a:gd name="adj" fmla="val 3091"/>
            </a:avLst>
          </a:prstGeom>
          <a:pattFill prst="wd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74" name="圆角矩形 73"/>
          <p:cNvSpPr/>
          <p:nvPr/>
        </p:nvSpPr>
        <p:spPr bwMode="auto">
          <a:xfrm>
            <a:off x="323850" y="1779548"/>
            <a:ext cx="1747820" cy="2857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 eaLnBrk="1" hangingPunct="1"/>
            <a:endParaRPr lang="zh-CN" altLang="en-US" sz="7200" dirty="0"/>
          </a:p>
        </p:txBody>
      </p:sp>
      <p:sp>
        <p:nvSpPr>
          <p:cNvPr id="75" name="矩形 74"/>
          <p:cNvSpPr/>
          <p:nvPr/>
        </p:nvSpPr>
        <p:spPr>
          <a:xfrm>
            <a:off x="6986349" y="174297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说话内容的特征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82285" y="174219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身体方面的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特征</a:t>
            </a:r>
            <a:endParaRPr lang="zh-CN" altLang="en-US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121705" y="2054947"/>
            <a:ext cx="2236510" cy="333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丰富的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细节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不寻常的细节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无法理解的细节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涉及想法与感官的细节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涉及时间与空间的细节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涉及对话的细节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描述复杂的事情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协调的细节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可信的记忆缺口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毫无章法的陈述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14348" y="1928802"/>
            <a:ext cx="3185487" cy="1920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木然、呆板的肢体语言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刻意减少细致、无意识的动作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2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注意观察行为改变的现象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192868" y="5286388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如经常缺少以上细节，八成是在说谎！</a:t>
            </a:r>
            <a:endParaRPr lang="zh-CN" altLang="en-US" sz="14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14348" y="5214950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如经常出现以上细节，八成是在说谎！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4314"/>
            <a:ext cx="9144000" cy="714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23850" y="214290"/>
            <a:ext cx="2890828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215082"/>
            <a:ext cx="9144000" cy="285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36"/>
          <p:cNvGrpSpPr/>
          <p:nvPr/>
        </p:nvGrpSpPr>
        <p:grpSpPr>
          <a:xfrm>
            <a:off x="323850" y="-24"/>
            <a:ext cx="2937995" cy="929436"/>
            <a:chOff x="1142976" y="1643050"/>
            <a:chExt cx="2937995" cy="929436"/>
          </a:xfrm>
        </p:grpSpPr>
        <p:sp>
          <p:nvSpPr>
            <p:cNvPr id="38" name="矩形 37"/>
            <p:cNvSpPr/>
            <p:nvPr/>
          </p:nvSpPr>
          <p:spPr>
            <a:xfrm>
              <a:off x="1142976" y="1643050"/>
              <a:ext cx="135732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3600" b="1" dirty="0" smtClean="0">
                  <a:solidFill>
                    <a:srgbClr val="FF0000"/>
                  </a:solidFill>
                </a:rPr>
                <a:t>START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 rot="10800000" flipV="1">
              <a:off x="2130190" y="2007206"/>
              <a:ext cx="557218" cy="4778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2357422" y="217237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华康俪金黑W8(P)" pitchFamily="34" charset="-122"/>
                  <a:ea typeface="华康俪金黑W8(P)" pitchFamily="34" charset="-122"/>
                </a:rPr>
                <a:t>揭谎前的准备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201654" y="1500174"/>
            <a:ext cx="3101970" cy="4160851"/>
            <a:chOff x="4827616" y="1500174"/>
            <a:chExt cx="3101970" cy="4160851"/>
          </a:xfrm>
        </p:grpSpPr>
        <p:sp>
          <p:nvSpPr>
            <p:cNvPr id="54" name="圆角矩形 53"/>
            <p:cNvSpPr/>
            <p:nvPr/>
          </p:nvSpPr>
          <p:spPr bwMode="auto">
            <a:xfrm>
              <a:off x="4827616" y="1643050"/>
              <a:ext cx="3101970" cy="4017975"/>
            </a:xfrm>
            <a:prstGeom prst="roundRect">
              <a:avLst>
                <a:gd name="adj" fmla="val 5437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55" name="圆角矩形 54"/>
            <p:cNvSpPr/>
            <p:nvPr/>
          </p:nvSpPr>
          <p:spPr bwMode="auto">
            <a:xfrm>
              <a:off x="5483846" y="1500174"/>
              <a:ext cx="2357454" cy="3571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15159" y="1500174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latin typeface="微软雅黑" pitchFamily="34" charset="-122"/>
                  <a:ea typeface="微软雅黑" pitchFamily="34" charset="-122"/>
                </a:rPr>
                <a:t>记住三项基本规则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4998068" y="2249318"/>
              <a:ext cx="2802497" cy="657844"/>
              <a:chOff x="4998068" y="2249318"/>
              <a:chExt cx="2802497" cy="657844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5626722" y="2500306"/>
                <a:ext cx="19800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尽可能多找证据</a:t>
                </a:r>
              </a:p>
            </p:txBody>
          </p:sp>
          <p:sp>
            <p:nvSpPr>
              <p:cNvPr id="23" name="椭圆 22"/>
              <p:cNvSpPr>
                <a:spLocks noChangeAspect="1"/>
              </p:cNvSpPr>
              <p:nvPr/>
            </p:nvSpPr>
            <p:spPr bwMode="auto">
              <a:xfrm>
                <a:off x="4998068" y="2249318"/>
                <a:ext cx="628654" cy="65784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r>
                  <a:rPr lang="en-US" altLang="zh-CN" sz="32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</a:t>
                </a:r>
                <a:endParaRPr lang="zh-CN" alt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29" name="直接连接符 28"/>
              <p:cNvCxnSpPr/>
              <p:nvPr/>
            </p:nvCxnSpPr>
            <p:spPr>
              <a:xfrm>
                <a:off x="5300235" y="2905574"/>
                <a:ext cx="2500330" cy="158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4998068" y="3379147"/>
              <a:ext cx="2865164" cy="664277"/>
              <a:chOff x="4998068" y="2236139"/>
              <a:chExt cx="2865164" cy="66427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5626722" y="2500306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一并思考其他因素</a:t>
                </a:r>
              </a:p>
            </p:txBody>
          </p:sp>
          <p:sp>
            <p:nvSpPr>
              <p:cNvPr id="33" name="椭圆 32"/>
              <p:cNvSpPr>
                <a:spLocks noChangeAspect="1"/>
              </p:cNvSpPr>
              <p:nvPr/>
            </p:nvSpPr>
            <p:spPr bwMode="auto">
              <a:xfrm>
                <a:off x="4998068" y="2236139"/>
                <a:ext cx="628654" cy="65784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r>
                  <a:rPr lang="en-US" altLang="zh-CN" sz="32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</a:t>
                </a:r>
                <a:endParaRPr lang="zh-CN" alt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5300235" y="2892395"/>
                <a:ext cx="2500330" cy="158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>
              <a:off x="4998068" y="4557106"/>
              <a:ext cx="2865164" cy="657844"/>
              <a:chOff x="4998068" y="2271090"/>
              <a:chExt cx="2865164" cy="657844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5626722" y="2528824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找安静的处所谈话</a:t>
                </a:r>
              </a:p>
            </p:txBody>
          </p:sp>
          <p:sp>
            <p:nvSpPr>
              <p:cNvPr id="43" name="椭圆 42"/>
              <p:cNvSpPr>
                <a:spLocks noChangeAspect="1"/>
              </p:cNvSpPr>
              <p:nvPr/>
            </p:nvSpPr>
            <p:spPr bwMode="auto">
              <a:xfrm>
                <a:off x="4998068" y="2271090"/>
                <a:ext cx="628654" cy="65784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  <a:extLst/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r>
                  <a:rPr lang="en-US" altLang="zh-CN" sz="32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3</a:t>
                </a:r>
                <a:endParaRPr lang="zh-CN" alt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44" name="直接连接符 43"/>
              <p:cNvCxnSpPr/>
              <p:nvPr/>
            </p:nvCxnSpPr>
            <p:spPr>
              <a:xfrm>
                <a:off x="5300235" y="2927346"/>
                <a:ext cx="2500330" cy="158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组合 55"/>
          <p:cNvGrpSpPr/>
          <p:nvPr/>
        </p:nvGrpSpPr>
        <p:grpSpPr>
          <a:xfrm>
            <a:off x="827088" y="1500174"/>
            <a:ext cx="3101970" cy="4160851"/>
            <a:chOff x="827088" y="1500174"/>
            <a:chExt cx="3101970" cy="4160851"/>
          </a:xfrm>
        </p:grpSpPr>
        <p:sp>
          <p:nvSpPr>
            <p:cNvPr id="52" name="圆角矩形 51"/>
            <p:cNvSpPr/>
            <p:nvPr/>
          </p:nvSpPr>
          <p:spPr bwMode="auto">
            <a:xfrm>
              <a:off x="827088" y="1643050"/>
              <a:ext cx="3101970" cy="4017975"/>
            </a:xfrm>
            <a:prstGeom prst="roundRect">
              <a:avLst>
                <a:gd name="adj" fmla="val 5437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53" name="圆角矩形 52"/>
            <p:cNvSpPr/>
            <p:nvPr/>
          </p:nvSpPr>
          <p:spPr bwMode="auto">
            <a:xfrm>
              <a:off x="928662" y="1500174"/>
              <a:ext cx="2357454" cy="3571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/>
          </p:spPr>
          <p:txBody>
            <a:bodyPr wrap="square" rtlCol="0" anchor="ctr">
              <a:spAutoFit/>
            </a:bodyPr>
            <a:lstStyle/>
            <a:p>
              <a:pPr algn="ctr" eaLnBrk="1" hangingPunct="1"/>
              <a:endParaRPr lang="zh-CN" altLang="en-US" sz="72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0100" y="1500174"/>
              <a:ext cx="21515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latin typeface="微软雅黑" pitchFamily="34" charset="-122"/>
                  <a:ea typeface="微软雅黑" pitchFamily="34" charset="-122"/>
                </a:rPr>
                <a:t>应用</a:t>
              </a:r>
              <a:r>
                <a:rPr lang="en-US" altLang="zh-CN" sz="1600" b="1" dirty="0" smtClean="0">
                  <a:latin typeface="微软雅黑" pitchFamily="34" charset="-122"/>
                  <a:ea typeface="微软雅黑" pitchFamily="34" charset="-122"/>
                </a:rPr>
                <a:t>5</a:t>
              </a:r>
              <a:r>
                <a:rPr lang="zh-CN" altLang="en-US" sz="1600" b="1" dirty="0" smtClean="0">
                  <a:latin typeface="微软雅黑" pitchFamily="34" charset="-122"/>
                  <a:ea typeface="微软雅黑" pitchFamily="34" charset="-122"/>
                </a:rPr>
                <a:t>大技巧时的顺序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71604" y="2707207"/>
              <a:ext cx="1285884" cy="954107"/>
            </a:xfrm>
            <a:prstGeom prst="rect">
              <a:avLst/>
            </a:prstGeom>
            <a:pattFill prst="wd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800" dirty="0" smtClean="0">
                  <a:solidFill>
                    <a:srgbClr val="FF0000"/>
                  </a:solidFill>
                  <a:latin typeface="华康俪金黑W8(P)" pitchFamily="34" charset="-122"/>
                  <a:ea typeface="华康俪金黑W8(P)" pitchFamily="34" charset="-122"/>
                </a:rPr>
                <a:t>小   心</a:t>
              </a:r>
              <a:endParaRPr lang="en-US" altLang="zh-CN" sz="2800" dirty="0" smtClean="0">
                <a:solidFill>
                  <a:srgbClr val="FF0000"/>
                </a:solidFill>
                <a:latin typeface="华康俪金黑W8(P)" pitchFamily="34" charset="-122"/>
                <a:ea typeface="华康俪金黑W8(P)" pitchFamily="34" charset="-122"/>
              </a:endParaRPr>
            </a:p>
            <a:p>
              <a:pPr algn="ctr">
                <a:defRPr/>
              </a:pPr>
              <a:r>
                <a:rPr lang="zh-CN" altLang="en-US" sz="2800" dirty="0" smtClean="0">
                  <a:solidFill>
                    <a:srgbClr val="FF0000"/>
                  </a:solidFill>
                  <a:latin typeface="华康俪金黑W8(P)" pitchFamily="34" charset="-122"/>
                  <a:ea typeface="华康俪金黑W8(P)" pitchFamily="34" charset="-122"/>
                </a:rPr>
                <a:t>观   察</a:t>
              </a:r>
              <a:endParaRPr lang="zh-CN" altLang="en-US" sz="2800" dirty="0">
                <a:solidFill>
                  <a:srgbClr val="FF0000"/>
                </a:solidFill>
                <a:latin typeface="华康俪金黑W8(P)" pitchFamily="34" charset="-122"/>
                <a:ea typeface="华康俪金黑W8(P)" pitchFamily="34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71605" y="4149725"/>
              <a:ext cx="1285883" cy="954107"/>
            </a:xfrm>
            <a:prstGeom prst="rect">
              <a:avLst/>
            </a:prstGeom>
            <a:pattFill prst="wd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800" dirty="0" smtClean="0">
                  <a:solidFill>
                    <a:srgbClr val="FF0000"/>
                  </a:solidFill>
                  <a:latin typeface="华康俪金黑W8(P)" pitchFamily="34" charset="-122"/>
                  <a:ea typeface="华康俪金黑W8(P)" pitchFamily="34" charset="-122"/>
                </a:rPr>
                <a:t>主   动</a:t>
              </a:r>
              <a:endParaRPr lang="en-US" altLang="zh-CN" sz="2800" dirty="0">
                <a:solidFill>
                  <a:srgbClr val="FF0000"/>
                </a:solidFill>
                <a:latin typeface="华康俪金黑W8(P)" pitchFamily="34" charset="-122"/>
                <a:ea typeface="华康俪金黑W8(P)" pitchFamily="34" charset="-122"/>
              </a:endParaRPr>
            </a:p>
            <a:p>
              <a:pPr algn="ctr">
                <a:defRPr/>
              </a:pPr>
              <a:r>
                <a:rPr lang="zh-CN" altLang="en-US" sz="2800" dirty="0">
                  <a:solidFill>
                    <a:srgbClr val="FF0000"/>
                  </a:solidFill>
                  <a:latin typeface="华康俪金黑W8(P)" pitchFamily="34" charset="-122"/>
                  <a:ea typeface="华康俪金黑W8(P)" pitchFamily="34" charset="-122"/>
                </a:rPr>
                <a:t>出</a:t>
              </a:r>
              <a:r>
                <a:rPr lang="zh-CN" altLang="en-US" sz="2800" dirty="0" smtClean="0">
                  <a:solidFill>
                    <a:srgbClr val="FF0000"/>
                  </a:solidFill>
                  <a:latin typeface="华康俪金黑W8(P)" pitchFamily="34" charset="-122"/>
                  <a:ea typeface="华康俪金黑W8(P)" pitchFamily="34" charset="-122"/>
                </a:rPr>
                <a:t>   击</a:t>
              </a:r>
              <a:endParaRPr lang="zh-CN" altLang="en-US" sz="2800" dirty="0">
                <a:solidFill>
                  <a:srgbClr val="FF0000"/>
                </a:solidFill>
                <a:latin typeface="华康俪金黑W8(P)" pitchFamily="34" charset="-122"/>
                <a:ea typeface="华康俪金黑W8(P)" pitchFamily="34" charset="-122"/>
              </a:endParaRPr>
            </a:p>
          </p:txBody>
        </p:sp>
        <p:sp>
          <p:nvSpPr>
            <p:cNvPr id="20" name="右箭头 19"/>
            <p:cNvSpPr/>
            <p:nvPr/>
          </p:nvSpPr>
          <p:spPr>
            <a:xfrm rot="5400000">
              <a:off x="2107389" y="3756055"/>
              <a:ext cx="214314" cy="29893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右箭头 20"/>
            <p:cNvSpPr/>
            <p:nvPr/>
          </p:nvSpPr>
          <p:spPr>
            <a:xfrm rot="5400000">
              <a:off x="2107389" y="2313536"/>
              <a:ext cx="214314" cy="29893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1000100" y="2338486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微软雅黑" pitchFamily="34" charset="-122"/>
              </a:rPr>
              <a:t>Step 1:</a:t>
            </a:r>
            <a:endParaRPr lang="zh-CN" altLang="en-US" sz="1400" dirty="0" smtClean="0">
              <a:solidFill>
                <a:schemeClr val="bg1">
                  <a:lumMod val="75000"/>
                </a:schemeClr>
              </a:solidFill>
              <a:latin typeface="Berlin Sans FB Demi" pitchFamily="34" charset="0"/>
              <a:ea typeface="微软雅黑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0100" y="3786190"/>
            <a:ext cx="705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75000"/>
                  </a:schemeClr>
                </a:solidFill>
                <a:latin typeface="Berlin Sans FB Demi" pitchFamily="34" charset="0"/>
                <a:ea typeface="微软雅黑" pitchFamily="34" charset="-122"/>
              </a:rPr>
              <a:t>Step 2:</a:t>
            </a:r>
            <a:endParaRPr lang="zh-CN" altLang="en-US" sz="1400" dirty="0" smtClean="0">
              <a:solidFill>
                <a:schemeClr val="bg1">
                  <a:lumMod val="75000"/>
                </a:schemeClr>
              </a:solidFill>
              <a:latin typeface="Berlin Sans FB Demi" pitchFamily="34" charset="0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pattFill prst="wdDnDiag">
          <a:fgClr>
            <a:schemeClr val="bg1">
              <a:lumMod val="95000"/>
            </a:schemeClr>
          </a:fgClr>
          <a:bgClr>
            <a:schemeClr val="bg1"/>
          </a:bgClr>
        </a:pattFill>
        <a:ln>
          <a:noFill/>
        </a:ln>
        <a:effectLst/>
        <a:extLst/>
      </a:spPr>
      <a:bodyPr wrap="square">
        <a:spAutoFit/>
      </a:bodyPr>
      <a:lstStyle>
        <a:defPPr eaLnBrk="1" hangingPunct="1">
          <a:defRPr sz="7200" dirty="0"/>
        </a:defPPr>
      </a:lstStyle>
    </a:spDef>
    <a:txDef>
      <a:spPr>
        <a:noFill/>
      </a:spPr>
      <a:bodyPr wrap="none" rtlCol="0">
        <a:spAutoFit/>
      </a:bodyPr>
      <a:lstStyle>
        <a:defPPr>
          <a:defRPr sz="1400" dirty="0" smtClean="0"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989</Words>
  <Application>Microsoft Office PowerPoint</Application>
  <PresentationFormat>全屏显示(4:3)</PresentationFormat>
  <Paragraphs>220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Calibri</vt:lpstr>
      <vt:lpstr>微软雅黑</vt:lpstr>
      <vt:lpstr>华康俪金黑W8(P)</vt:lpstr>
      <vt:lpstr>HanWangGSolid06cut1</vt:lpstr>
      <vt:lpstr>Berlin Sans FB Demi</vt:lpstr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Company>WwW.YlmF.CoM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akin</dc:creator>
  <cp:lastModifiedBy>akin</cp:lastModifiedBy>
  <cp:revision>102</cp:revision>
  <dcterms:created xsi:type="dcterms:W3CDTF">2014-02-22T01:29:01Z</dcterms:created>
  <dcterms:modified xsi:type="dcterms:W3CDTF">2014-03-30T10:04:59Z</dcterms:modified>
</cp:coreProperties>
</file>