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6"/>
  </p:notesMasterIdLst>
  <p:sldIdLst>
    <p:sldId id="277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</p:sldIdLst>
  <p:sldSz cx="10160000" cy="571500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F26D22"/>
    <a:srgbClr val="C4504C"/>
    <a:srgbClr val="44B250"/>
    <a:srgbClr val="C34D48"/>
    <a:srgbClr val="CF716D"/>
    <a:srgbClr val="4293C4"/>
    <a:srgbClr val="379142"/>
    <a:srgbClr val="32823C"/>
    <a:srgbClr val="BBB3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424" autoAdjust="0"/>
  </p:normalViewPr>
  <p:slideViewPr>
    <p:cSldViewPr snapToGrid="0">
      <p:cViewPr varScale="1">
        <p:scale>
          <a:sx n="83" d="100"/>
          <a:sy n="83" d="100"/>
        </p:scale>
        <p:origin x="99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198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7AA6F-61AC-4751-8B47-45432FFC3524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593D9-1658-46B9-9891-0528A7D365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77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2"/>
            <a:ext cx="76200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22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15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/>
          <a:lstStyle>
            <a:lvl1pPr>
              <a:defRPr sz="5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48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521354"/>
            <a:ext cx="43180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521354"/>
            <a:ext cx="43180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324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3" y="304271"/>
            <a:ext cx="8763000" cy="110463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824" y="1400969"/>
            <a:ext cx="4298156" cy="68659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824" y="2087563"/>
            <a:ext cx="4298156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3500" y="1400969"/>
            <a:ext cx="4319323" cy="68659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3500" y="2087563"/>
            <a:ext cx="4319323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49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16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71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4" y="381000"/>
            <a:ext cx="3276864" cy="1333500"/>
          </a:xfrm>
        </p:spPr>
        <p:txBody>
          <a:bodyPr anchor="b"/>
          <a:lstStyle>
            <a:lvl1pPr>
              <a:defRPr sz="2667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9323" y="822855"/>
            <a:ext cx="5143500" cy="406135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9824" y="1714500"/>
            <a:ext cx="3276864" cy="3176323"/>
          </a:xfrm>
        </p:spPr>
        <p:txBody>
          <a:bodyPr/>
          <a:lstStyle>
            <a:lvl1pPr marL="0" indent="0">
              <a:buNone/>
              <a:defRPr sz="1333"/>
            </a:lvl1pPr>
            <a:lvl2pPr marL="380985" indent="0">
              <a:buNone/>
              <a:defRPr sz="1167"/>
            </a:lvl2pPr>
            <a:lvl3pPr marL="761970" indent="0">
              <a:buNone/>
              <a:defRPr sz="1000"/>
            </a:lvl3pPr>
            <a:lvl4pPr marL="1142954" indent="0">
              <a:buNone/>
              <a:defRPr sz="833"/>
            </a:lvl4pPr>
            <a:lvl5pPr marL="1523939" indent="0">
              <a:buNone/>
              <a:defRPr sz="833"/>
            </a:lvl5pPr>
            <a:lvl6pPr marL="1904924" indent="0">
              <a:buNone/>
              <a:defRPr sz="833"/>
            </a:lvl6pPr>
            <a:lvl7pPr marL="2285909" indent="0">
              <a:buNone/>
              <a:defRPr sz="833"/>
            </a:lvl7pPr>
            <a:lvl8pPr marL="2666893" indent="0">
              <a:buNone/>
              <a:defRPr sz="833"/>
            </a:lvl8pPr>
            <a:lvl9pPr marL="3047878" indent="0">
              <a:buNone/>
              <a:defRPr sz="8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890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4" y="381000"/>
            <a:ext cx="3276864" cy="1333500"/>
          </a:xfrm>
        </p:spPr>
        <p:txBody>
          <a:bodyPr anchor="b"/>
          <a:lstStyle>
            <a:lvl1pPr>
              <a:defRPr sz="2667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19323" y="822855"/>
            <a:ext cx="5143500" cy="4061354"/>
          </a:xfrm>
        </p:spPr>
        <p:txBody>
          <a:bodyPr anchor="t"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9824" y="1714500"/>
            <a:ext cx="3276864" cy="3176323"/>
          </a:xfrm>
        </p:spPr>
        <p:txBody>
          <a:bodyPr/>
          <a:lstStyle>
            <a:lvl1pPr marL="0" indent="0">
              <a:buNone/>
              <a:defRPr sz="1333"/>
            </a:lvl1pPr>
            <a:lvl2pPr marL="380985" indent="0">
              <a:buNone/>
              <a:defRPr sz="1167"/>
            </a:lvl2pPr>
            <a:lvl3pPr marL="761970" indent="0">
              <a:buNone/>
              <a:defRPr sz="1000"/>
            </a:lvl3pPr>
            <a:lvl4pPr marL="1142954" indent="0">
              <a:buNone/>
              <a:defRPr sz="833"/>
            </a:lvl4pPr>
            <a:lvl5pPr marL="1523939" indent="0">
              <a:buNone/>
              <a:defRPr sz="833"/>
            </a:lvl5pPr>
            <a:lvl6pPr marL="1904924" indent="0">
              <a:buNone/>
              <a:defRPr sz="833"/>
            </a:lvl6pPr>
            <a:lvl7pPr marL="2285909" indent="0">
              <a:buNone/>
              <a:defRPr sz="833"/>
            </a:lvl7pPr>
            <a:lvl8pPr marL="2666893" indent="0">
              <a:buNone/>
              <a:defRPr sz="833"/>
            </a:lvl8pPr>
            <a:lvl9pPr marL="3047878" indent="0">
              <a:buNone/>
              <a:defRPr sz="8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19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70750" y="304271"/>
            <a:ext cx="2190750" cy="484319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304271"/>
            <a:ext cx="6445250" cy="484319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03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3"/>
            <a:ext cx="7620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9"/>
            <a:ext cx="7620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6" indent="0" algn="ctr">
              <a:buNone/>
              <a:defRPr sz="1500"/>
            </a:lvl2pPr>
            <a:lvl3pPr marL="685773" indent="0" algn="ctr">
              <a:buNone/>
              <a:defRPr sz="1350"/>
            </a:lvl3pPr>
            <a:lvl4pPr marL="1028659" indent="0" algn="ctr">
              <a:buNone/>
              <a:defRPr sz="1200"/>
            </a:lvl4pPr>
            <a:lvl5pPr marL="1371545" indent="0" algn="ctr">
              <a:buNone/>
              <a:defRPr sz="1200"/>
            </a:lvl5pPr>
            <a:lvl6pPr marL="1714431" indent="0" algn="ctr">
              <a:buNone/>
              <a:defRPr sz="1200"/>
            </a:lvl6pPr>
            <a:lvl7pPr marL="2057318" indent="0" algn="ctr">
              <a:buNone/>
              <a:defRPr sz="1200"/>
            </a:lvl7pPr>
            <a:lvl8pPr marL="2400204" indent="0" algn="ctr">
              <a:buNone/>
              <a:defRPr sz="1200"/>
            </a:lvl8pPr>
            <a:lvl9pPr marL="274309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646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3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9" y="1424782"/>
            <a:ext cx="8763000" cy="237728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9" y="3824555"/>
            <a:ext cx="87630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0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821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521356"/>
            <a:ext cx="43180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521356"/>
            <a:ext cx="4318000" cy="362611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114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3" y="304271"/>
            <a:ext cx="8763000" cy="110463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825" y="1400971"/>
            <a:ext cx="4298156" cy="6865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6" indent="0">
              <a:buNone/>
              <a:defRPr sz="1500" b="1"/>
            </a:lvl2pPr>
            <a:lvl3pPr marL="685773" indent="0">
              <a:buNone/>
              <a:defRPr sz="1350" b="1"/>
            </a:lvl3pPr>
            <a:lvl4pPr marL="1028659" indent="0">
              <a:buNone/>
              <a:defRPr sz="1200" b="1"/>
            </a:lvl4pPr>
            <a:lvl5pPr marL="1371545" indent="0">
              <a:buNone/>
              <a:defRPr sz="1200" b="1"/>
            </a:lvl5pPr>
            <a:lvl6pPr marL="1714431" indent="0">
              <a:buNone/>
              <a:defRPr sz="1200" b="1"/>
            </a:lvl6pPr>
            <a:lvl7pPr marL="2057318" indent="0">
              <a:buNone/>
              <a:defRPr sz="1200" b="1"/>
            </a:lvl7pPr>
            <a:lvl8pPr marL="2400204" indent="0">
              <a:buNone/>
              <a:defRPr sz="1200" b="1"/>
            </a:lvl8pPr>
            <a:lvl9pPr marL="274309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825" y="2087563"/>
            <a:ext cx="4298156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3502" y="1400971"/>
            <a:ext cx="4319323" cy="6865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6" indent="0">
              <a:buNone/>
              <a:defRPr sz="1500" b="1"/>
            </a:lvl2pPr>
            <a:lvl3pPr marL="685773" indent="0">
              <a:buNone/>
              <a:defRPr sz="1350" b="1"/>
            </a:lvl3pPr>
            <a:lvl4pPr marL="1028659" indent="0">
              <a:buNone/>
              <a:defRPr sz="1200" b="1"/>
            </a:lvl4pPr>
            <a:lvl5pPr marL="1371545" indent="0">
              <a:buNone/>
              <a:defRPr sz="1200" b="1"/>
            </a:lvl5pPr>
            <a:lvl6pPr marL="1714431" indent="0">
              <a:buNone/>
              <a:defRPr sz="1200" b="1"/>
            </a:lvl6pPr>
            <a:lvl7pPr marL="2057318" indent="0">
              <a:buNone/>
              <a:defRPr sz="1200" b="1"/>
            </a:lvl7pPr>
            <a:lvl8pPr marL="2400204" indent="0">
              <a:buNone/>
              <a:defRPr sz="1200" b="1"/>
            </a:lvl8pPr>
            <a:lvl9pPr marL="274309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3502" y="2087563"/>
            <a:ext cx="4319323" cy="307049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801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366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215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4" y="381001"/>
            <a:ext cx="3276864" cy="13335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9323" y="822855"/>
            <a:ext cx="514350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9824" y="1714500"/>
            <a:ext cx="3276864" cy="3176324"/>
          </a:xfrm>
        </p:spPr>
        <p:txBody>
          <a:bodyPr/>
          <a:lstStyle>
            <a:lvl1pPr marL="0" indent="0">
              <a:buNone/>
              <a:defRPr sz="1200"/>
            </a:lvl1pPr>
            <a:lvl2pPr marL="342886" indent="0">
              <a:buNone/>
              <a:defRPr sz="1050"/>
            </a:lvl2pPr>
            <a:lvl3pPr marL="685773" indent="0">
              <a:buNone/>
              <a:defRPr sz="900"/>
            </a:lvl3pPr>
            <a:lvl4pPr marL="1028659" indent="0">
              <a:buNone/>
              <a:defRPr sz="750"/>
            </a:lvl4pPr>
            <a:lvl5pPr marL="1371545" indent="0">
              <a:buNone/>
              <a:defRPr sz="750"/>
            </a:lvl5pPr>
            <a:lvl6pPr marL="1714431" indent="0">
              <a:buNone/>
              <a:defRPr sz="750"/>
            </a:lvl6pPr>
            <a:lvl7pPr marL="2057318" indent="0">
              <a:buNone/>
              <a:defRPr sz="750"/>
            </a:lvl7pPr>
            <a:lvl8pPr marL="2400204" indent="0">
              <a:buNone/>
              <a:defRPr sz="750"/>
            </a:lvl8pPr>
            <a:lvl9pPr marL="274309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154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4" y="381001"/>
            <a:ext cx="3276864" cy="13335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19323" y="822855"/>
            <a:ext cx="514350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6" indent="0">
              <a:buNone/>
              <a:defRPr sz="2100"/>
            </a:lvl2pPr>
            <a:lvl3pPr marL="685773" indent="0">
              <a:buNone/>
              <a:defRPr sz="1800"/>
            </a:lvl3pPr>
            <a:lvl4pPr marL="1028659" indent="0">
              <a:buNone/>
              <a:defRPr sz="1500"/>
            </a:lvl4pPr>
            <a:lvl5pPr marL="1371545" indent="0">
              <a:buNone/>
              <a:defRPr sz="1500"/>
            </a:lvl5pPr>
            <a:lvl6pPr marL="1714431" indent="0">
              <a:buNone/>
              <a:defRPr sz="1500"/>
            </a:lvl6pPr>
            <a:lvl7pPr marL="2057318" indent="0">
              <a:buNone/>
              <a:defRPr sz="1500"/>
            </a:lvl7pPr>
            <a:lvl8pPr marL="2400204" indent="0">
              <a:buNone/>
              <a:defRPr sz="1500"/>
            </a:lvl8pPr>
            <a:lvl9pPr marL="274309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9824" y="1714500"/>
            <a:ext cx="3276864" cy="3176324"/>
          </a:xfrm>
        </p:spPr>
        <p:txBody>
          <a:bodyPr/>
          <a:lstStyle>
            <a:lvl1pPr marL="0" indent="0">
              <a:buNone/>
              <a:defRPr sz="1200"/>
            </a:lvl1pPr>
            <a:lvl2pPr marL="342886" indent="0">
              <a:buNone/>
              <a:defRPr sz="1050"/>
            </a:lvl2pPr>
            <a:lvl3pPr marL="685773" indent="0">
              <a:buNone/>
              <a:defRPr sz="900"/>
            </a:lvl3pPr>
            <a:lvl4pPr marL="1028659" indent="0">
              <a:buNone/>
              <a:defRPr sz="750"/>
            </a:lvl4pPr>
            <a:lvl5pPr marL="1371545" indent="0">
              <a:buNone/>
              <a:defRPr sz="750"/>
            </a:lvl5pPr>
            <a:lvl6pPr marL="1714431" indent="0">
              <a:buNone/>
              <a:defRPr sz="750"/>
            </a:lvl6pPr>
            <a:lvl7pPr marL="2057318" indent="0">
              <a:buNone/>
              <a:defRPr sz="750"/>
            </a:lvl7pPr>
            <a:lvl8pPr marL="2400204" indent="0">
              <a:buNone/>
              <a:defRPr sz="750"/>
            </a:lvl8pPr>
            <a:lvl9pPr marL="274309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33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2982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70752" y="304271"/>
            <a:ext cx="2190750" cy="484319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2" y="304271"/>
            <a:ext cx="6445250" cy="484319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35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84591-7A54-4DA0-B822-B9CB4E1178A0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39E8E-BF99-4EFD-8F60-DA1027D0AD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81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6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60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60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60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49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77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3" indent="-171443" algn="l" defTabSz="68577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9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6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02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8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75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61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47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33" indent="-171443" algn="l" defTabSz="68577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1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8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0" algn="l" defTabSz="68577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751870" y="4377475"/>
            <a:ext cx="4408130" cy="10772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751870" y="3188182"/>
            <a:ext cx="4408129" cy="1189294"/>
          </a:xfrm>
          <a:prstGeom prst="rect">
            <a:avLst/>
          </a:prstGeom>
          <a:solidFill>
            <a:srgbClr val="F26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866826" y="4471706"/>
            <a:ext cx="348626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26D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作者：</a:t>
            </a:r>
            <a:r>
              <a:rPr lang="zh-CN" altLang="en-US" sz="2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古典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新精英生涯总裁）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866826" y="4929530"/>
            <a:ext cx="3486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26D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>
                <a:solidFill>
                  <a:srgbClr val="F26D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snape</a:t>
            </a:r>
            <a:r>
              <a:rPr lang="zh-CN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晓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8607" y="220066"/>
            <a:ext cx="4518093" cy="373107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815" y="582035"/>
            <a:ext cx="1609344" cy="427939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866826" y="3305775"/>
            <a:ext cx="41782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拆掉思维里的墙</a:t>
            </a:r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lvl="0"/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又一全新力作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51870" y="3070589"/>
            <a:ext cx="4408130" cy="58603"/>
          </a:xfrm>
          <a:prstGeom prst="rect">
            <a:avLst/>
          </a:prstGeom>
          <a:solidFill>
            <a:srgbClr val="F26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91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359151" y="2062795"/>
            <a:ext cx="1924050" cy="748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092200" y="4756205"/>
            <a:ext cx="1473200" cy="32379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27" b="89946" l="9911" r="8996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304801"/>
            <a:ext cx="3738450" cy="528809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359151" y="2062795"/>
            <a:ext cx="45719" cy="748985"/>
          </a:xfrm>
          <a:prstGeom prst="rect">
            <a:avLst/>
          </a:prstGeom>
          <a:solidFill>
            <a:srgbClr val="F26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432800" y="0"/>
            <a:ext cx="1117600" cy="1101918"/>
          </a:xfrm>
          <a:prstGeom prst="rect">
            <a:avLst/>
          </a:prstGeom>
          <a:solidFill>
            <a:srgbClr val="F26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414575" y="376885"/>
            <a:ext cx="1384301" cy="138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你的生命</a:t>
            </a:r>
            <a:endParaRPr lang="en-US" altLang="zh-CN" sz="2000" dirty="0" smtClean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lang="zh-CN" altLang="en-US" sz="2000" dirty="0" smtClean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什么</a:t>
            </a:r>
            <a:endParaRPr lang="en-US" altLang="zh-CN" sz="2000" dirty="0" smtClean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3600" dirty="0">
                <a:solidFill>
                  <a:srgbClr val="F26D2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可能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25801" y="2063790"/>
            <a:ext cx="648969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4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古 典</a:t>
            </a:r>
            <a:endParaRPr lang="en-US" altLang="zh-CN" sz="2400" dirty="0" smtClean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Char char="̵"/>
            </a:pPr>
            <a:r>
              <a:rPr lang="zh-CN" altLang="en-US" sz="1600" dirty="0" smtClean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著名生涯</a:t>
            </a:r>
            <a:r>
              <a:rPr lang="zh-CN" altLang="en-US" sz="1600" dirty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规划</a:t>
            </a:r>
            <a:r>
              <a:rPr lang="zh-CN" altLang="en-US" sz="1600" dirty="0" smtClean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师，</a:t>
            </a:r>
            <a:r>
              <a:rPr lang="zh-CN" altLang="en-US" sz="1600" dirty="0" smtClean="0">
                <a:solidFill>
                  <a:srgbClr val="F26D22"/>
                </a:solidFill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新精英生涯</a:t>
            </a:r>
            <a:r>
              <a:rPr lang="zh-CN" altLang="en-US" sz="1600" dirty="0" smtClean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创始人。</a:t>
            </a:r>
            <a:endParaRPr lang="en-US" altLang="zh-CN" sz="1600" dirty="0" smtClean="0">
              <a:latin typeface="方正中等线简体" panose="02010601030101010101" pitchFamily="2" charset="-122"/>
              <a:ea typeface="方正中等线简体" panose="02010601030101010101" pitchFamily="2" charset="-122"/>
            </a:endParaRP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Char char="̵"/>
            </a:pPr>
            <a:r>
              <a:rPr lang="zh-CN" altLang="en-US" sz="1600" dirty="0" smtClean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曾出版</a:t>
            </a:r>
            <a:r>
              <a:rPr lang="en-US" altLang="zh-CN" sz="1600" dirty="0" smtClean="0">
                <a:solidFill>
                  <a:srgbClr val="F26D22"/>
                </a:solidFill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《</a:t>
            </a:r>
            <a:r>
              <a:rPr lang="zh-CN" altLang="en-US" sz="1600" dirty="0" smtClean="0">
                <a:solidFill>
                  <a:srgbClr val="F26D22"/>
                </a:solidFill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拆掉思维里的墙</a:t>
            </a:r>
            <a:r>
              <a:rPr lang="en-US" altLang="zh-CN" sz="1600" dirty="0" smtClean="0">
                <a:solidFill>
                  <a:srgbClr val="F26D22"/>
                </a:solidFill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》</a:t>
            </a:r>
            <a:r>
              <a:rPr lang="zh-CN" altLang="en-US" sz="1600" dirty="0" smtClean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，畅销</a:t>
            </a:r>
            <a:r>
              <a:rPr lang="en-US" altLang="zh-CN" sz="1600" dirty="0" smtClean="0">
                <a:solidFill>
                  <a:srgbClr val="F26D22"/>
                </a:solidFill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70</a:t>
            </a:r>
            <a:r>
              <a:rPr lang="zh-CN" altLang="en-US" sz="1600" dirty="0" smtClean="0">
                <a:solidFill>
                  <a:srgbClr val="F26D22"/>
                </a:solidFill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多万册</a:t>
            </a:r>
            <a:r>
              <a:rPr lang="zh-CN" altLang="en-US" sz="1600" dirty="0" smtClean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。</a:t>
            </a:r>
            <a:endParaRPr lang="en-US" altLang="zh-CN" sz="1600" dirty="0" smtClean="0">
              <a:latin typeface="方正中等线简体" panose="02010601030101010101" pitchFamily="2" charset="-122"/>
              <a:ea typeface="方正中等线简体" panose="02010601030101010101" pitchFamily="2" charset="-122"/>
            </a:endParaRP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Char char="̵"/>
            </a:pPr>
            <a:r>
              <a:rPr lang="en-US" altLang="zh-CN" sz="1600" dirty="0" smtClean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2007</a:t>
            </a:r>
            <a:r>
              <a:rPr lang="zh-CN" altLang="en-US" sz="1600" dirty="0" smtClean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年创办的新精英生涯，现已成为中国最专业、培养认证生涯规划师最多的生涯教育机构。</a:t>
            </a:r>
            <a:endParaRPr lang="en-US" altLang="zh-CN" sz="1600" dirty="0" smtClean="0">
              <a:latin typeface="方正中等线简体" panose="02010601030101010101" pitchFamily="2" charset="-122"/>
              <a:ea typeface="方正中等线简体" panose="02010601030101010101" pitchFamily="2" charset="-122"/>
            </a:endParaRP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Char char="̵"/>
            </a:pPr>
            <a:r>
              <a:rPr lang="zh-CN" altLang="en-US" sz="1600" dirty="0" smtClean="0"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他相信，更多人将：</a:t>
            </a:r>
            <a:r>
              <a:rPr lang="zh-CN" altLang="en-US" sz="1600" b="1" dirty="0" smtClean="0">
                <a:solidFill>
                  <a:srgbClr val="F26D22"/>
                </a:solidFill>
                <a:latin typeface="方正中等线简体" panose="02010601030101010101" pitchFamily="2" charset="-122"/>
                <a:ea typeface="方正中等线简体" panose="02010601030101010101" pitchFamily="2" charset="-122"/>
              </a:rPr>
              <a:t>成长，长成自己的样子。</a:t>
            </a:r>
            <a:endParaRPr lang="en-US" altLang="zh-CN" sz="1600" b="1" dirty="0" smtClean="0">
              <a:solidFill>
                <a:srgbClr val="F26D22"/>
              </a:solidFill>
              <a:latin typeface="方正中等线简体" panose="02010601030101010101" pitchFamily="2" charset="-122"/>
              <a:ea typeface="方正中等线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44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b="36639"/>
          <a:stretch/>
        </p:blipFill>
        <p:spPr>
          <a:xfrm>
            <a:off x="3705643" y="1978681"/>
            <a:ext cx="2727454" cy="101282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32"/>
          <a:stretch/>
        </p:blipFill>
        <p:spPr>
          <a:xfrm>
            <a:off x="3784773" y="1267002"/>
            <a:ext cx="2590453" cy="279745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-126941" y="250267"/>
            <a:ext cx="233355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dirty="0" smtClean="0">
                <a:solidFill>
                  <a:srgbClr val="ECE555"/>
                </a:solidFill>
                <a:latin typeface="Hobo Std" panose="020B0803040709020204" pitchFamily="34" charset="0"/>
              </a:rPr>
              <a:t>Chapter 1</a:t>
            </a:r>
          </a:p>
          <a:p>
            <a:pPr algn="ctr"/>
            <a:r>
              <a:rPr lang="zh-CN" altLang="en-US" sz="2600" dirty="0" smtClean="0">
                <a:solidFill>
                  <a:srgbClr val="ECE555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人生金三角</a:t>
            </a:r>
            <a:endParaRPr lang="zh-CN" altLang="en-US" sz="2600" dirty="0">
              <a:solidFill>
                <a:srgbClr val="ECE555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74278" y="4136197"/>
            <a:ext cx="2611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职业生涯三叶草模型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41451" y="231217"/>
            <a:ext cx="8118549" cy="830997"/>
          </a:xfrm>
          <a:prstGeom prst="rect">
            <a:avLst/>
          </a:prstGeom>
          <a:gradFill flip="none" rotWithShape="1">
            <a:gsLst>
              <a:gs pos="40000">
                <a:srgbClr val="F4F09A"/>
              </a:gs>
              <a:gs pos="100000">
                <a:schemeClr val="bg1"/>
              </a:gs>
              <a:gs pos="0">
                <a:srgbClr val="ECE552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接纳自己是成长的第一步。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厌倦需要变化，焦虑需要学习，失落需要价值。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68519" y="4534255"/>
            <a:ext cx="4822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ECE555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rPr>
              <a:t>在热爱的领域努力的</a:t>
            </a:r>
            <a:r>
              <a:rPr lang="zh-CN" altLang="en-US" sz="3600" dirty="0" smtClean="0">
                <a:solidFill>
                  <a:srgbClr val="ECE555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rPr>
              <a:t>玩</a:t>
            </a:r>
            <a:endParaRPr lang="en-US" altLang="zh-CN" sz="3600" dirty="0" smtClean="0">
              <a:solidFill>
                <a:srgbClr val="ECE555"/>
              </a:solidFill>
              <a:latin typeface="经典繁仿圆" panose="02010609000101010101" pitchFamily="49" charset="-122"/>
              <a:ea typeface="经典繁仿圆" panose="02010609000101010101" pitchFamily="49" charset="-122"/>
              <a:cs typeface="经典繁仿圆" panose="0201060900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5614988"/>
            <a:ext cx="10160000" cy="100012"/>
          </a:xfrm>
          <a:prstGeom prst="rect">
            <a:avLst/>
          </a:prstGeom>
          <a:solidFill>
            <a:srgbClr val="ECE5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5410200"/>
            <a:ext cx="10160000" cy="204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4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b="36639"/>
          <a:stretch/>
        </p:blipFill>
        <p:spPr>
          <a:xfrm>
            <a:off x="3705643" y="1978681"/>
            <a:ext cx="2727454" cy="101282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46659" y="4097236"/>
            <a:ext cx="1470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兴趣金字塔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668519" y="4534255"/>
            <a:ext cx="4822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rgbClr val="ECE555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44B250"/>
                </a:solidFill>
              </a:rPr>
              <a:t>兴趣是生活对你的提醒。</a:t>
            </a:r>
            <a:endParaRPr lang="en-US" altLang="zh-CN" dirty="0">
              <a:solidFill>
                <a:srgbClr val="44B25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5614988"/>
            <a:ext cx="10160000" cy="100012"/>
          </a:xfrm>
          <a:prstGeom prst="rect">
            <a:avLst/>
          </a:prstGeom>
          <a:solidFill>
            <a:srgbClr val="44B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5410200"/>
            <a:ext cx="10160000" cy="204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479" y="299181"/>
            <a:ext cx="20029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solidFill>
                  <a:srgbClr val="ECE555"/>
                </a:solidFill>
                <a:latin typeface="Hobo Std" panose="020B0803040709020204" pitchFamily="34" charset="0"/>
              </a:defRPr>
            </a:lvl1pPr>
          </a:lstStyle>
          <a:p>
            <a:r>
              <a:rPr lang="en-US" altLang="zh-CN" dirty="0">
                <a:solidFill>
                  <a:srgbClr val="45B351"/>
                </a:solidFill>
              </a:rPr>
              <a:t>Chapter 2</a:t>
            </a:r>
          </a:p>
          <a:p>
            <a:r>
              <a:rPr lang="zh-CN" altLang="en-US" dirty="0">
                <a:solidFill>
                  <a:srgbClr val="45B35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兴趣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041450" y="279159"/>
            <a:ext cx="8118549" cy="830997"/>
            <a:chOff x="2041451" y="3233270"/>
            <a:chExt cx="7298962" cy="830997"/>
          </a:xfrm>
        </p:grpSpPr>
        <p:sp>
          <p:nvSpPr>
            <p:cNvPr id="14" name="文本框 13"/>
            <p:cNvSpPr txBox="1"/>
            <p:nvPr/>
          </p:nvSpPr>
          <p:spPr>
            <a:xfrm>
              <a:off x="2041451" y="3233270"/>
              <a:ext cx="7298962" cy="830997"/>
            </a:xfrm>
            <a:prstGeom prst="rect">
              <a:avLst/>
            </a:prstGeom>
            <a:gradFill flip="none" rotWithShape="1">
              <a:gsLst>
                <a:gs pos="26000">
                  <a:srgbClr val="54B65B"/>
                </a:gs>
                <a:gs pos="100000">
                  <a:schemeClr val="bg1"/>
                </a:gs>
                <a:gs pos="0">
                  <a:srgbClr val="43B24F"/>
                </a:gs>
              </a:gsLst>
              <a:lin ang="0" scaled="1"/>
              <a:tileRect/>
            </a:gradFill>
          </p:spPr>
          <p:txBody>
            <a:bodyPr wrap="square" rtlCol="0">
              <a:spAutoFit/>
            </a:bodyPr>
            <a:lstStyle/>
            <a:p>
              <a:endPara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endPara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041451" y="3421776"/>
              <a:ext cx="7298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chemeClr val="bg1">
                      <a:lumMod val="50000"/>
                    </a:schemeClr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defRPr>
              </a:lvl1pPr>
            </a:lstStyle>
            <a:p>
              <a:r>
                <a:rPr lang="zh-CN" altLang="en-US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兴趣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与其说是一种天赋，不如说是一种自我技能。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808362" y="1371202"/>
            <a:ext cx="2522013" cy="2563403"/>
            <a:chOff x="3508323" y="827281"/>
            <a:chExt cx="3223337" cy="3276237"/>
          </a:xfrm>
        </p:grpSpPr>
        <p:sp>
          <p:nvSpPr>
            <p:cNvPr id="16" name="上箭头 15"/>
            <p:cNvSpPr/>
            <p:nvPr/>
          </p:nvSpPr>
          <p:spPr>
            <a:xfrm>
              <a:off x="3659272" y="827281"/>
              <a:ext cx="2948613" cy="3276237"/>
            </a:xfrm>
            <a:prstGeom prst="upArrow">
              <a:avLst>
                <a:gd name="adj1" fmla="val 54444"/>
                <a:gd name="adj2" fmla="val 26666"/>
              </a:avLst>
            </a:prstGeom>
            <a:solidFill>
              <a:srgbClr val="44B250"/>
            </a:solidFill>
            <a:ln>
              <a:noFill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3508323" y="1154906"/>
              <a:ext cx="3223337" cy="278480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/>
            <p:cNvCxnSpPr>
              <a:stCxn id="18" idx="1"/>
              <a:endCxn id="18" idx="5"/>
            </p:cNvCxnSpPr>
            <p:nvPr/>
          </p:nvCxnSpPr>
          <p:spPr>
            <a:xfrm>
              <a:off x="4314157" y="2547306"/>
              <a:ext cx="1611669" cy="0"/>
            </a:xfrm>
            <a:prstGeom prst="line">
              <a:avLst/>
            </a:prstGeom>
            <a:noFill/>
            <a:ln w="28575">
              <a:solidFill>
                <a:srgbClr val="44B2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659273" y="3284458"/>
              <a:ext cx="294861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TextBox 135"/>
            <p:cNvSpPr txBox="1"/>
            <p:nvPr/>
          </p:nvSpPr>
          <p:spPr>
            <a:xfrm>
              <a:off x="4676596" y="1946209"/>
              <a:ext cx="923710" cy="531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100" b="1" dirty="0">
                  <a:solidFill>
                    <a:srgbClr val="47B352"/>
                  </a:solidFill>
                </a:rPr>
                <a:t>志趣</a:t>
              </a:r>
            </a:p>
          </p:txBody>
        </p:sp>
        <p:sp>
          <p:nvSpPr>
            <p:cNvPr id="22" name="TextBox 136"/>
            <p:cNvSpPr txBox="1"/>
            <p:nvPr/>
          </p:nvSpPr>
          <p:spPr>
            <a:xfrm>
              <a:off x="4325988" y="2635595"/>
              <a:ext cx="1624933" cy="5276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100" b="1" dirty="0">
                  <a:solidFill>
                    <a:srgbClr val="47B352"/>
                  </a:solidFill>
                </a:rPr>
                <a:t>自觉兴趣</a:t>
              </a:r>
            </a:p>
          </p:txBody>
        </p:sp>
        <p:sp>
          <p:nvSpPr>
            <p:cNvPr id="23" name="TextBox 137"/>
            <p:cNvSpPr txBox="1"/>
            <p:nvPr/>
          </p:nvSpPr>
          <p:spPr>
            <a:xfrm>
              <a:off x="4325988" y="3321877"/>
              <a:ext cx="1624933" cy="5276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8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100" b="1" dirty="0">
                  <a:solidFill>
                    <a:srgbClr val="47B352"/>
                  </a:solidFill>
                </a:rPr>
                <a:t>感官兴趣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4314157" y="3284458"/>
              <a:ext cx="1611669" cy="0"/>
            </a:xfrm>
            <a:prstGeom prst="line">
              <a:avLst/>
            </a:prstGeom>
            <a:noFill/>
            <a:ln w="28575">
              <a:solidFill>
                <a:srgbClr val="44B2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93183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b="36639"/>
          <a:stretch/>
        </p:blipFill>
        <p:spPr>
          <a:xfrm>
            <a:off x="3705643" y="1978681"/>
            <a:ext cx="2727454" cy="10128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5614988"/>
            <a:ext cx="10160000" cy="100012"/>
          </a:xfrm>
          <a:prstGeom prst="rect">
            <a:avLst/>
          </a:prstGeom>
          <a:solidFill>
            <a:srgbClr val="4293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5410200"/>
            <a:ext cx="10160000" cy="204788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479" y="281044"/>
            <a:ext cx="20029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solidFill>
                  <a:srgbClr val="ECE555"/>
                </a:solidFill>
                <a:latin typeface="Hobo Std" panose="020B0803040709020204" pitchFamily="34" charset="0"/>
              </a:defRPr>
            </a:lvl1pPr>
          </a:lstStyle>
          <a:p>
            <a:r>
              <a:rPr lang="en-US" altLang="zh-CN" dirty="0">
                <a:solidFill>
                  <a:srgbClr val="4494C5"/>
                </a:solidFill>
              </a:rPr>
              <a:t>Chapter 3</a:t>
            </a:r>
          </a:p>
          <a:p>
            <a:r>
              <a:rPr lang="zh-CN" altLang="en-US" dirty="0">
                <a:solidFill>
                  <a:srgbClr val="4494C5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价值观</a:t>
            </a:r>
            <a:endParaRPr lang="en-US" altLang="zh-CN" dirty="0">
              <a:solidFill>
                <a:srgbClr val="4494C5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41451" y="281044"/>
            <a:ext cx="8185617" cy="83099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39000">
                <a:srgbClr val="76B0D4">
                  <a:alpha val="69000"/>
                </a:srgbClr>
              </a:gs>
              <a:gs pos="0">
                <a:srgbClr val="4192C4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启体简体" panose="03000509000000000000" pitchFamily="65" charset="-122"/>
                <a:ea typeface="方正启体简体" panose="03000509000000000000" pitchFamily="65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什么是最好的选择？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付出自己能付出的，换回来自己最重要的，就是最好的选择。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487199" y="4133894"/>
            <a:ext cx="3326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稳定的价值观体系形成过程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3469955" y="1405180"/>
            <a:ext cx="3386501" cy="2682789"/>
            <a:chOff x="3686756" y="1619792"/>
            <a:chExt cx="2718636" cy="2153708"/>
          </a:xfrm>
        </p:grpSpPr>
        <p:sp>
          <p:nvSpPr>
            <p:cNvPr id="18" name="矩形 17"/>
            <p:cNvSpPr/>
            <p:nvPr/>
          </p:nvSpPr>
          <p:spPr>
            <a:xfrm>
              <a:off x="3722814" y="3233500"/>
              <a:ext cx="433505" cy="540000"/>
            </a:xfrm>
            <a:prstGeom prst="rect">
              <a:avLst/>
            </a:prstGeom>
            <a:solidFill>
              <a:srgbClr val="429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4270144" y="2945500"/>
              <a:ext cx="433505" cy="828000"/>
            </a:xfrm>
            <a:prstGeom prst="rect">
              <a:avLst/>
            </a:prstGeom>
            <a:solidFill>
              <a:srgbClr val="429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4817474" y="2657500"/>
              <a:ext cx="433505" cy="1116000"/>
            </a:xfrm>
            <a:prstGeom prst="rect">
              <a:avLst/>
            </a:prstGeom>
            <a:solidFill>
              <a:srgbClr val="429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5364803" y="2369500"/>
              <a:ext cx="433505" cy="1404000"/>
            </a:xfrm>
            <a:prstGeom prst="rect">
              <a:avLst/>
            </a:prstGeom>
            <a:solidFill>
              <a:srgbClr val="429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686756" y="3233500"/>
              <a:ext cx="549722" cy="29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体验</a:t>
              </a:r>
              <a:endPara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237513" y="2945500"/>
              <a:ext cx="549722" cy="29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确认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785538" y="2658112"/>
              <a:ext cx="549722" cy="29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主张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328549" y="2369500"/>
              <a:ext cx="549722" cy="29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践行</a:t>
              </a:r>
            </a:p>
          </p:txBody>
        </p:sp>
        <p:sp>
          <p:nvSpPr>
            <p:cNvPr id="26" name="五角星 25"/>
            <p:cNvSpPr/>
            <p:nvPr/>
          </p:nvSpPr>
          <p:spPr>
            <a:xfrm>
              <a:off x="5898483" y="1619792"/>
              <a:ext cx="434991" cy="434991"/>
            </a:xfrm>
            <a:prstGeom prst="star5">
              <a:avLst/>
            </a:prstGeom>
            <a:solidFill>
              <a:srgbClr val="429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855672" y="2075506"/>
              <a:ext cx="549720" cy="29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4293C4"/>
                  </a:solidFill>
                </a:rPr>
                <a:t>定见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5916833" y="3716905"/>
              <a:ext cx="433505" cy="45719"/>
            </a:xfrm>
            <a:prstGeom prst="rect">
              <a:avLst/>
            </a:prstGeom>
            <a:solidFill>
              <a:srgbClr val="429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270610" y="4534255"/>
            <a:ext cx="7618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rgbClr val="ECE555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4494C5"/>
                </a:solidFill>
              </a:rPr>
              <a:t>好的生活，不是对不对，而是值不值。</a:t>
            </a:r>
            <a:endParaRPr lang="en-US" altLang="zh-CN" dirty="0">
              <a:solidFill>
                <a:srgbClr val="4494C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53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b="36639"/>
          <a:stretch/>
        </p:blipFill>
        <p:spPr>
          <a:xfrm>
            <a:off x="3705643" y="1978681"/>
            <a:ext cx="2727454" cy="10128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5614988"/>
            <a:ext cx="10160000" cy="100012"/>
          </a:xfrm>
          <a:prstGeom prst="rect">
            <a:avLst/>
          </a:prstGeom>
          <a:solidFill>
            <a:srgbClr val="C34D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5410200"/>
            <a:ext cx="10160000" cy="204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29" y="287560"/>
            <a:ext cx="20029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solidFill>
                  <a:srgbClr val="ECE555"/>
                </a:solidFill>
                <a:latin typeface="Hobo Std" panose="020B0803040709020204" pitchFamily="34" charset="0"/>
              </a:defRPr>
            </a:lvl1pPr>
          </a:lstStyle>
          <a:p>
            <a:r>
              <a:rPr lang="en-US" altLang="zh-CN" dirty="0">
                <a:solidFill>
                  <a:srgbClr val="C34D48"/>
                </a:solidFill>
              </a:rPr>
              <a:t>Chapter 4</a:t>
            </a:r>
          </a:p>
          <a:p>
            <a:r>
              <a:rPr lang="zh-CN" altLang="en-US" dirty="0">
                <a:solidFill>
                  <a:srgbClr val="C34D48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能力</a:t>
            </a:r>
            <a:endParaRPr lang="en-US" altLang="zh-CN" dirty="0">
              <a:solidFill>
                <a:srgbClr val="C34D48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41451" y="285085"/>
            <a:ext cx="8118549" cy="83099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66000"/>
                </a:schemeClr>
              </a:gs>
              <a:gs pos="0">
                <a:srgbClr val="C34D48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defRPr>
            </a:lvl1pPr>
          </a:lstStyle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对于大部分工作，认真努力就有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80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以大部分人努力程度之浅，他们根本没有做到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80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404462" y="4134145"/>
            <a:ext cx="1329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能力三核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35436" y="1466224"/>
            <a:ext cx="2467867" cy="2467866"/>
            <a:chOff x="399733" y="2037279"/>
            <a:chExt cx="2704774" cy="2704773"/>
          </a:xfrm>
          <a:solidFill>
            <a:srgbClr val="C34D48"/>
          </a:solidFill>
        </p:grpSpPr>
        <p:grpSp>
          <p:nvGrpSpPr>
            <p:cNvPr id="16" name="组合 15"/>
            <p:cNvGrpSpPr/>
            <p:nvPr/>
          </p:nvGrpSpPr>
          <p:grpSpPr>
            <a:xfrm>
              <a:off x="399733" y="2037279"/>
              <a:ext cx="2704774" cy="2704773"/>
              <a:chOff x="5037158" y="4814975"/>
              <a:chExt cx="1440000" cy="1440000"/>
            </a:xfrm>
            <a:grpFill/>
          </p:grpSpPr>
          <p:sp>
            <p:nvSpPr>
              <p:cNvPr id="21" name="椭圆 20"/>
              <p:cNvSpPr/>
              <p:nvPr/>
            </p:nvSpPr>
            <p:spPr>
              <a:xfrm>
                <a:off x="5037158" y="4814975"/>
                <a:ext cx="1440000" cy="1440000"/>
              </a:xfrm>
              <a:prstGeom prst="ellipse">
                <a:avLst/>
              </a:prstGeom>
              <a:grpFill/>
              <a:ln w="31750" cmpd="sng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5267782" y="5282452"/>
                <a:ext cx="972522" cy="972522"/>
              </a:xfrm>
              <a:prstGeom prst="ellipse">
                <a:avLst/>
              </a:prstGeom>
              <a:grpFill/>
              <a:ln w="31750" cmpd="sng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5442158" y="5624975"/>
                <a:ext cx="630000" cy="630000"/>
              </a:xfrm>
              <a:prstGeom prst="ellipse">
                <a:avLst/>
              </a:prstGeom>
              <a:grpFill/>
              <a:ln w="31750" cmpd="sng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" name="TextBox 168"/>
            <p:cNvSpPr txBox="1"/>
            <p:nvPr/>
          </p:nvSpPr>
          <p:spPr>
            <a:xfrm>
              <a:off x="1337726" y="2313683"/>
              <a:ext cx="855208" cy="455384"/>
            </a:xfrm>
            <a:prstGeom prst="rect">
              <a:avLst/>
            </a:prstGeom>
            <a:noFill/>
            <a:ln w="31750" cmpd="sng"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100" b="1" dirty="0">
                  <a:solidFill>
                    <a:schemeClr val="bg1"/>
                  </a:solidFill>
                </a:rPr>
                <a:t>知识</a:t>
              </a:r>
            </a:p>
          </p:txBody>
        </p:sp>
        <p:sp>
          <p:nvSpPr>
            <p:cNvPr id="19" name="TextBox 177"/>
            <p:cNvSpPr txBox="1"/>
            <p:nvPr/>
          </p:nvSpPr>
          <p:spPr>
            <a:xfrm>
              <a:off x="1337726" y="3071021"/>
              <a:ext cx="828789" cy="455384"/>
            </a:xfrm>
            <a:prstGeom prst="rect">
              <a:avLst/>
            </a:prstGeom>
            <a:noFill/>
            <a:ln w="31750" cmpd="sng"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100" b="1" dirty="0">
                  <a:solidFill>
                    <a:schemeClr val="bg1"/>
                  </a:solidFill>
                </a:rPr>
                <a:t>技能</a:t>
              </a:r>
            </a:p>
          </p:txBody>
        </p:sp>
        <p:sp>
          <p:nvSpPr>
            <p:cNvPr id="20" name="TextBox 178"/>
            <p:cNvSpPr txBox="1"/>
            <p:nvPr/>
          </p:nvSpPr>
          <p:spPr>
            <a:xfrm>
              <a:off x="1337726" y="3946587"/>
              <a:ext cx="828789" cy="455384"/>
            </a:xfrm>
            <a:prstGeom prst="rect">
              <a:avLst/>
            </a:prstGeom>
            <a:noFill/>
            <a:ln w="31750" cmpd="sng"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zh-CN" altLang="en-US" sz="2100" b="1" dirty="0">
                  <a:solidFill>
                    <a:schemeClr val="bg1"/>
                  </a:solidFill>
                </a:rPr>
                <a:t>才干</a:t>
              </a: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798378" y="4534254"/>
            <a:ext cx="4563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rgbClr val="ECE555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C34D48"/>
                </a:solidFill>
              </a:rPr>
              <a:t>功不唐捐，连点成线。</a:t>
            </a:r>
            <a:endParaRPr lang="en-US" altLang="zh-CN" dirty="0">
              <a:solidFill>
                <a:srgbClr val="C34D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3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-126941" y="250267"/>
            <a:ext cx="233355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solidFill>
                  <a:srgbClr val="ECE555"/>
                </a:solidFill>
                <a:latin typeface="Hobo Std" panose="020B0803040709020204" pitchFamily="34" charset="0"/>
              </a:defRPr>
            </a:lvl1pPr>
          </a:lstStyle>
          <a:p>
            <a:r>
              <a:rPr lang="en-US" altLang="zh-CN" dirty="0"/>
              <a:t>Chapter 5</a:t>
            </a:r>
          </a:p>
          <a:p>
            <a:r>
              <a:rPr lang="zh-CN" altLang="en-US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成功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b="36639"/>
          <a:stretch/>
        </p:blipFill>
        <p:spPr>
          <a:xfrm>
            <a:off x="3705189" y="2012658"/>
            <a:ext cx="2727454" cy="10128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5614988"/>
            <a:ext cx="10160000" cy="100012"/>
          </a:xfrm>
          <a:prstGeom prst="rect">
            <a:avLst/>
          </a:prstGeom>
          <a:solidFill>
            <a:srgbClr val="ECE5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5410200"/>
            <a:ext cx="10160000" cy="204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041451" y="281044"/>
            <a:ext cx="8118549" cy="830997"/>
          </a:xfrm>
          <a:prstGeom prst="rect">
            <a:avLst/>
          </a:prstGeom>
          <a:gradFill flip="none" rotWithShape="1">
            <a:gsLst>
              <a:gs pos="40000">
                <a:srgbClr val="F4F09A"/>
              </a:gs>
              <a:gs pos="100000">
                <a:schemeClr val="bg1"/>
              </a:gs>
              <a:gs pos="0">
                <a:srgbClr val="ECE552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 smtClean="0"/>
              <a:t>后悔</a:t>
            </a:r>
            <a:r>
              <a:rPr lang="zh-CN" altLang="en-US" dirty="0"/>
              <a:t>没试过和后悔做砸了的量级永远</a:t>
            </a:r>
            <a:r>
              <a:rPr lang="zh-CN" altLang="en-US" dirty="0" smtClean="0"/>
              <a:t>不一样：</a:t>
            </a:r>
            <a:endParaRPr lang="en-US" altLang="zh-CN" dirty="0" smtClean="0"/>
          </a:p>
          <a:p>
            <a:r>
              <a:rPr lang="zh-CN" altLang="en-US" dirty="0" smtClean="0"/>
              <a:t>前者</a:t>
            </a:r>
            <a:r>
              <a:rPr lang="zh-CN" altLang="en-US" dirty="0"/>
              <a:t>让你更懦弱，后者让你更智慧。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209520" y="4123913"/>
            <a:ext cx="17133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成功漏斗模型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358163" y="2000455"/>
            <a:ext cx="833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/>
              <a:t>观众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966760" y="2038063"/>
            <a:ext cx="133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/>
              <a:t>看到趋势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966760" y="2707291"/>
            <a:ext cx="1384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/>
              <a:t>拥有才干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966760" y="3254845"/>
            <a:ext cx="1549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/>
              <a:t>计划</a:t>
            </a:r>
            <a:r>
              <a:rPr lang="en-US" altLang="zh-CN" b="0" dirty="0"/>
              <a:t>&amp;</a:t>
            </a:r>
            <a:r>
              <a:rPr lang="zh-CN" altLang="en-US" b="0" dirty="0"/>
              <a:t>机遇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174029" y="3729126"/>
            <a:ext cx="1037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/>
              <a:t>成功者</a:t>
            </a:r>
          </a:p>
        </p:txBody>
      </p:sp>
      <p:sp>
        <p:nvSpPr>
          <p:cNvPr id="28" name="椭圆 27"/>
          <p:cNvSpPr/>
          <p:nvPr/>
        </p:nvSpPr>
        <p:spPr>
          <a:xfrm>
            <a:off x="4958398" y="3813066"/>
            <a:ext cx="232229" cy="232229"/>
          </a:xfrm>
          <a:prstGeom prst="ellipse">
            <a:avLst/>
          </a:prstGeom>
          <a:solidFill>
            <a:srgbClr val="ECE554"/>
          </a:solidFill>
          <a:ln>
            <a:solidFill>
              <a:srgbClr val="BBB3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311044" y="2452002"/>
            <a:ext cx="1054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0" dirty="0"/>
              <a:t>参与者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6079387" y="1843142"/>
            <a:ext cx="1440015" cy="0"/>
          </a:xfrm>
          <a:prstGeom prst="line">
            <a:avLst/>
          </a:prstGeom>
          <a:ln w="19050">
            <a:solidFill>
              <a:srgbClr val="BBB31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5622394" y="2618083"/>
            <a:ext cx="1690454" cy="0"/>
          </a:xfrm>
          <a:prstGeom prst="line">
            <a:avLst/>
          </a:prstGeom>
          <a:ln w="19050">
            <a:solidFill>
              <a:srgbClr val="BBB31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5258732" y="3230155"/>
            <a:ext cx="2054116" cy="0"/>
          </a:xfrm>
          <a:prstGeom prst="line">
            <a:avLst/>
          </a:prstGeom>
          <a:ln w="19050">
            <a:solidFill>
              <a:srgbClr val="BBB31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082739" y="3653115"/>
            <a:ext cx="2230109" cy="0"/>
          </a:xfrm>
          <a:prstGeom prst="line">
            <a:avLst/>
          </a:prstGeom>
          <a:ln w="19050">
            <a:solidFill>
              <a:srgbClr val="BBB31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>
          <a:xfrm>
            <a:off x="4096570" y="1702093"/>
            <a:ext cx="1945599" cy="1951021"/>
            <a:chOff x="3705073" y="991787"/>
            <a:chExt cx="2742778" cy="2750422"/>
          </a:xfrm>
        </p:grpSpPr>
        <p:sp>
          <p:nvSpPr>
            <p:cNvPr id="15" name="等腰三角形 14"/>
            <p:cNvSpPr/>
            <p:nvPr/>
          </p:nvSpPr>
          <p:spPr>
            <a:xfrm rot="10800000">
              <a:off x="3705073" y="1187559"/>
              <a:ext cx="2742208" cy="2554650"/>
            </a:xfrm>
            <a:prstGeom prst="triangle">
              <a:avLst/>
            </a:prstGeom>
            <a:gradFill flip="none" rotWithShape="1">
              <a:gsLst>
                <a:gs pos="31000">
                  <a:srgbClr val="FBFADD"/>
                </a:gs>
                <a:gs pos="1000">
                  <a:srgbClr val="ECE553"/>
                </a:gs>
                <a:gs pos="100000">
                  <a:srgbClr val="ECE554"/>
                </a:gs>
              </a:gsLst>
              <a:lin ang="0" scaled="1"/>
              <a:tileRect/>
            </a:gra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3705643" y="991787"/>
              <a:ext cx="2742208" cy="319481"/>
            </a:xfrm>
            <a:prstGeom prst="ellipse">
              <a:avLst/>
            </a:prstGeom>
            <a:solidFill>
              <a:srgbClr val="BBB3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4763121" y="3145949"/>
              <a:ext cx="633413" cy="0"/>
            </a:xfrm>
            <a:prstGeom prst="line">
              <a:avLst/>
            </a:prstGeom>
            <a:ln w="25400">
              <a:solidFill>
                <a:srgbClr val="BBB3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4763121" y="1311269"/>
              <a:ext cx="0" cy="1834680"/>
            </a:xfrm>
            <a:prstGeom prst="line">
              <a:avLst/>
            </a:prstGeom>
            <a:ln w="25400">
              <a:solidFill>
                <a:srgbClr val="BBB3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300771" y="1265507"/>
              <a:ext cx="0" cy="1031229"/>
            </a:xfrm>
            <a:prstGeom prst="line">
              <a:avLst/>
            </a:prstGeom>
            <a:ln w="25400">
              <a:solidFill>
                <a:srgbClr val="BBB3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4300771" y="2291479"/>
              <a:ext cx="1547485" cy="0"/>
            </a:xfrm>
            <a:prstGeom prst="line">
              <a:avLst/>
            </a:prstGeom>
            <a:ln w="25400">
              <a:solidFill>
                <a:srgbClr val="BBB3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5848255" y="1265507"/>
              <a:ext cx="0" cy="1031229"/>
            </a:xfrm>
            <a:prstGeom prst="line">
              <a:avLst/>
            </a:prstGeom>
            <a:ln w="25400">
              <a:solidFill>
                <a:srgbClr val="BBB3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V="1">
              <a:off x="5396534" y="1311269"/>
              <a:ext cx="0" cy="1834680"/>
            </a:xfrm>
            <a:prstGeom prst="line">
              <a:avLst/>
            </a:prstGeom>
            <a:ln w="25400">
              <a:solidFill>
                <a:srgbClr val="BBB3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任意多边形 40"/>
          <p:cNvSpPr/>
          <p:nvPr/>
        </p:nvSpPr>
        <p:spPr>
          <a:xfrm>
            <a:off x="3358162" y="2052440"/>
            <a:ext cx="1004683" cy="326562"/>
          </a:xfrm>
          <a:custGeom>
            <a:avLst/>
            <a:gdLst>
              <a:gd name="connsiteX0" fmla="*/ 1306285 w 1306285"/>
              <a:gd name="connsiteY0" fmla="*/ 0 h 319315"/>
              <a:gd name="connsiteX1" fmla="*/ 1045028 w 1306285"/>
              <a:gd name="connsiteY1" fmla="*/ 319315 h 319315"/>
              <a:gd name="connsiteX2" fmla="*/ 0 w 1306285"/>
              <a:gd name="connsiteY2" fmla="*/ 319315 h 319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319315">
                <a:moveTo>
                  <a:pt x="1306285" y="0"/>
                </a:moveTo>
                <a:lnTo>
                  <a:pt x="1045028" y="319315"/>
                </a:lnTo>
                <a:lnTo>
                  <a:pt x="0" y="319315"/>
                </a:lnTo>
              </a:path>
            </a:pathLst>
          </a:custGeom>
          <a:noFill/>
          <a:ln>
            <a:solidFill>
              <a:srgbClr val="BBB3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3338076" y="2532797"/>
            <a:ext cx="1306285" cy="319315"/>
          </a:xfrm>
          <a:custGeom>
            <a:avLst/>
            <a:gdLst>
              <a:gd name="connsiteX0" fmla="*/ 1306285 w 1306285"/>
              <a:gd name="connsiteY0" fmla="*/ 0 h 319315"/>
              <a:gd name="connsiteX1" fmla="*/ 1045028 w 1306285"/>
              <a:gd name="connsiteY1" fmla="*/ 319315 h 319315"/>
              <a:gd name="connsiteX2" fmla="*/ 0 w 1306285"/>
              <a:gd name="connsiteY2" fmla="*/ 319315 h 319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319315">
                <a:moveTo>
                  <a:pt x="1306285" y="0"/>
                </a:moveTo>
                <a:lnTo>
                  <a:pt x="1045028" y="319315"/>
                </a:lnTo>
                <a:lnTo>
                  <a:pt x="0" y="319315"/>
                </a:lnTo>
              </a:path>
            </a:pathLst>
          </a:custGeom>
          <a:noFill/>
          <a:ln>
            <a:solidFill>
              <a:srgbClr val="BBB3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7312848" y="1474470"/>
            <a:ext cx="928182" cy="28494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1769408" y="4541785"/>
            <a:ext cx="6610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rgbClr val="ECE555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defRPr>
            </a:lvl1pPr>
          </a:lstStyle>
          <a:p>
            <a:r>
              <a:rPr lang="zh-CN" altLang="en-US" dirty="0"/>
              <a:t>成功就是用自己的节奏越走越近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908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b="36639"/>
          <a:stretch/>
        </p:blipFill>
        <p:spPr>
          <a:xfrm>
            <a:off x="3705643" y="1978681"/>
            <a:ext cx="2727454" cy="10128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5614988"/>
            <a:ext cx="10160000" cy="100012"/>
          </a:xfrm>
          <a:prstGeom prst="rect">
            <a:avLst/>
          </a:prstGeom>
          <a:solidFill>
            <a:srgbClr val="44B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5410200"/>
            <a:ext cx="10160000" cy="204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8479" y="328492"/>
            <a:ext cx="20029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solidFill>
                  <a:srgbClr val="45B351"/>
                </a:solidFill>
                <a:latin typeface="Hobo Std" panose="020B0803040709020204" pitchFamily="34" charset="0"/>
              </a:defRPr>
            </a:lvl1pPr>
          </a:lstStyle>
          <a:p>
            <a:r>
              <a:rPr lang="en-US" altLang="zh-CN" dirty="0"/>
              <a:t>Chapter 6</a:t>
            </a:r>
          </a:p>
          <a:p>
            <a:r>
              <a:rPr lang="zh-CN" altLang="en-US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可能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041450" y="328492"/>
            <a:ext cx="8118550" cy="830997"/>
          </a:xfrm>
          <a:prstGeom prst="rect">
            <a:avLst/>
          </a:prstGeom>
          <a:gradFill flip="none" rotWithShape="1">
            <a:gsLst>
              <a:gs pos="26000">
                <a:srgbClr val="54B65B"/>
              </a:gs>
              <a:gs pos="100000">
                <a:schemeClr val="bg1"/>
              </a:gs>
              <a:gs pos="0">
                <a:srgbClr val="43B24F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好的生命：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是有事做、有人爱、有问题可想、有选择的自由。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268847" y="4120123"/>
            <a:ext cx="1237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生涯四度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3276981" y="1343180"/>
            <a:ext cx="3888239" cy="2725161"/>
            <a:chOff x="3107475" y="1409341"/>
            <a:chExt cx="3888239" cy="2725161"/>
          </a:xfrm>
        </p:grpSpPr>
        <p:grpSp>
          <p:nvGrpSpPr>
            <p:cNvPr id="29" name="组合 28"/>
            <p:cNvGrpSpPr/>
            <p:nvPr/>
          </p:nvGrpSpPr>
          <p:grpSpPr>
            <a:xfrm>
              <a:off x="3107475" y="1409341"/>
              <a:ext cx="3583405" cy="2275832"/>
              <a:chOff x="3562851" y="1789537"/>
              <a:chExt cx="3191696" cy="2027057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3562851" y="1789537"/>
                <a:ext cx="3191696" cy="2027057"/>
                <a:chOff x="3562851" y="1789537"/>
                <a:chExt cx="3191696" cy="2027057"/>
              </a:xfrm>
            </p:grpSpPr>
            <p:cxnSp>
              <p:nvCxnSpPr>
                <p:cNvPr id="37" name="直接箭头连接符 36"/>
                <p:cNvCxnSpPr/>
                <p:nvPr/>
              </p:nvCxnSpPr>
              <p:spPr>
                <a:xfrm>
                  <a:off x="4649975" y="3298109"/>
                  <a:ext cx="2104572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箭头连接符 37"/>
                <p:cNvCxnSpPr/>
                <p:nvPr/>
              </p:nvCxnSpPr>
              <p:spPr>
                <a:xfrm flipV="1">
                  <a:off x="4649975" y="1789537"/>
                  <a:ext cx="0" cy="2027057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箭头连接符 38"/>
                <p:cNvCxnSpPr/>
                <p:nvPr/>
              </p:nvCxnSpPr>
              <p:spPr>
                <a:xfrm rot="13500000" flipV="1">
                  <a:off x="4201480" y="3111060"/>
                  <a:ext cx="0" cy="1277257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任意多边形 39"/>
                <p:cNvSpPr/>
                <p:nvPr/>
              </p:nvSpPr>
              <p:spPr>
                <a:xfrm>
                  <a:off x="4216400" y="2362200"/>
                  <a:ext cx="1981200" cy="1371600"/>
                </a:xfrm>
                <a:custGeom>
                  <a:avLst/>
                  <a:gdLst>
                    <a:gd name="connsiteX0" fmla="*/ 0 w 1981200"/>
                    <a:gd name="connsiteY0" fmla="*/ 1371600 h 1371600"/>
                    <a:gd name="connsiteX1" fmla="*/ 0 w 1981200"/>
                    <a:gd name="connsiteY1" fmla="*/ 381000 h 1371600"/>
                    <a:gd name="connsiteX2" fmla="*/ 381000 w 1981200"/>
                    <a:gd name="connsiteY2" fmla="*/ 0 h 1371600"/>
                    <a:gd name="connsiteX3" fmla="*/ 1981200 w 1981200"/>
                    <a:gd name="connsiteY3" fmla="*/ 0 h 1371600"/>
                    <a:gd name="connsiteX4" fmla="*/ 1981200 w 1981200"/>
                    <a:gd name="connsiteY4" fmla="*/ 952500 h 1371600"/>
                    <a:gd name="connsiteX5" fmla="*/ 1562100 w 1981200"/>
                    <a:gd name="connsiteY5" fmla="*/ 1371600 h 1371600"/>
                    <a:gd name="connsiteX6" fmla="*/ 0 w 1981200"/>
                    <a:gd name="connsiteY6" fmla="*/ 1371600 h 1371600"/>
                    <a:gd name="connsiteX0" fmla="*/ 0 w 1981200"/>
                    <a:gd name="connsiteY0" fmla="*/ 1371600 h 1371600"/>
                    <a:gd name="connsiteX1" fmla="*/ 0 w 1981200"/>
                    <a:gd name="connsiteY1" fmla="*/ 381000 h 1371600"/>
                    <a:gd name="connsiteX2" fmla="*/ 438150 w 1981200"/>
                    <a:gd name="connsiteY2" fmla="*/ 0 h 1371600"/>
                    <a:gd name="connsiteX3" fmla="*/ 1981200 w 1981200"/>
                    <a:gd name="connsiteY3" fmla="*/ 0 h 1371600"/>
                    <a:gd name="connsiteX4" fmla="*/ 1981200 w 1981200"/>
                    <a:gd name="connsiteY4" fmla="*/ 952500 h 1371600"/>
                    <a:gd name="connsiteX5" fmla="*/ 1562100 w 1981200"/>
                    <a:gd name="connsiteY5" fmla="*/ 1371600 h 1371600"/>
                    <a:gd name="connsiteX6" fmla="*/ 0 w 1981200"/>
                    <a:gd name="connsiteY6" fmla="*/ 1371600 h 1371600"/>
                    <a:gd name="connsiteX0" fmla="*/ 0 w 1981200"/>
                    <a:gd name="connsiteY0" fmla="*/ 1371600 h 1371600"/>
                    <a:gd name="connsiteX1" fmla="*/ 0 w 1981200"/>
                    <a:gd name="connsiteY1" fmla="*/ 381000 h 1371600"/>
                    <a:gd name="connsiteX2" fmla="*/ 431006 w 1981200"/>
                    <a:gd name="connsiteY2" fmla="*/ 0 h 1371600"/>
                    <a:gd name="connsiteX3" fmla="*/ 1981200 w 1981200"/>
                    <a:gd name="connsiteY3" fmla="*/ 0 h 1371600"/>
                    <a:gd name="connsiteX4" fmla="*/ 1981200 w 1981200"/>
                    <a:gd name="connsiteY4" fmla="*/ 952500 h 1371600"/>
                    <a:gd name="connsiteX5" fmla="*/ 1562100 w 1981200"/>
                    <a:gd name="connsiteY5" fmla="*/ 1371600 h 1371600"/>
                    <a:gd name="connsiteX6" fmla="*/ 0 w 1981200"/>
                    <a:gd name="connsiteY6" fmla="*/ 1371600 h 1371600"/>
                    <a:gd name="connsiteX0" fmla="*/ 0 w 1981200"/>
                    <a:gd name="connsiteY0" fmla="*/ 1371600 h 1371600"/>
                    <a:gd name="connsiteX1" fmla="*/ 0 w 1981200"/>
                    <a:gd name="connsiteY1" fmla="*/ 381000 h 1371600"/>
                    <a:gd name="connsiteX2" fmla="*/ 435769 w 1981200"/>
                    <a:gd name="connsiteY2" fmla="*/ 0 h 1371600"/>
                    <a:gd name="connsiteX3" fmla="*/ 1981200 w 1981200"/>
                    <a:gd name="connsiteY3" fmla="*/ 0 h 1371600"/>
                    <a:gd name="connsiteX4" fmla="*/ 1981200 w 1981200"/>
                    <a:gd name="connsiteY4" fmla="*/ 952500 h 1371600"/>
                    <a:gd name="connsiteX5" fmla="*/ 1562100 w 1981200"/>
                    <a:gd name="connsiteY5" fmla="*/ 1371600 h 1371600"/>
                    <a:gd name="connsiteX6" fmla="*/ 0 w 1981200"/>
                    <a:gd name="connsiteY6" fmla="*/ 1371600 h 1371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81200" h="1371600">
                      <a:moveTo>
                        <a:pt x="0" y="1371600"/>
                      </a:moveTo>
                      <a:lnTo>
                        <a:pt x="0" y="381000"/>
                      </a:lnTo>
                      <a:lnTo>
                        <a:pt x="435769" y="0"/>
                      </a:lnTo>
                      <a:lnTo>
                        <a:pt x="1981200" y="0"/>
                      </a:lnTo>
                      <a:lnTo>
                        <a:pt x="1981200" y="952500"/>
                      </a:lnTo>
                      <a:lnTo>
                        <a:pt x="1562100" y="1371600"/>
                      </a:lnTo>
                      <a:lnTo>
                        <a:pt x="0" y="137160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44B2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1" name="直接连接符 40"/>
                <p:cNvCxnSpPr>
                  <a:stCxn id="40" idx="1"/>
                </p:cNvCxnSpPr>
                <p:nvPr/>
              </p:nvCxnSpPr>
              <p:spPr>
                <a:xfrm>
                  <a:off x="4216400" y="2743200"/>
                  <a:ext cx="1562100" cy="0"/>
                </a:xfrm>
                <a:prstGeom prst="line">
                  <a:avLst/>
                </a:prstGeom>
                <a:ln w="38100">
                  <a:solidFill>
                    <a:srgbClr val="44B2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 41"/>
                <p:cNvCxnSpPr>
                  <a:stCxn id="40" idx="3"/>
                </p:cNvCxnSpPr>
                <p:nvPr/>
              </p:nvCxnSpPr>
              <p:spPr>
                <a:xfrm flipH="1">
                  <a:off x="5778500" y="2362200"/>
                  <a:ext cx="419100" cy="381000"/>
                </a:xfrm>
                <a:prstGeom prst="line">
                  <a:avLst/>
                </a:prstGeom>
                <a:ln w="38100">
                  <a:solidFill>
                    <a:srgbClr val="44B2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>
                  <a:stCxn id="40" idx="5"/>
                </p:cNvCxnSpPr>
                <p:nvPr/>
              </p:nvCxnSpPr>
              <p:spPr>
                <a:xfrm flipH="1" flipV="1">
                  <a:off x="5772150" y="2747964"/>
                  <a:ext cx="6350" cy="985836"/>
                </a:xfrm>
                <a:prstGeom prst="line">
                  <a:avLst/>
                </a:prstGeom>
                <a:ln w="38100">
                  <a:solidFill>
                    <a:srgbClr val="44B2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>
                  <a:stCxn id="40" idx="2"/>
                </p:cNvCxnSpPr>
                <p:nvPr/>
              </p:nvCxnSpPr>
              <p:spPr>
                <a:xfrm flipH="1">
                  <a:off x="4649976" y="2362200"/>
                  <a:ext cx="2193" cy="935909"/>
                </a:xfrm>
                <a:prstGeom prst="line">
                  <a:avLst/>
                </a:prstGeom>
                <a:ln w="38100">
                  <a:solidFill>
                    <a:srgbClr val="3791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/>
                <p:nvPr/>
              </p:nvCxnSpPr>
              <p:spPr>
                <a:xfrm flipH="1">
                  <a:off x="4652262" y="3298108"/>
                  <a:ext cx="1544194" cy="0"/>
                </a:xfrm>
                <a:prstGeom prst="line">
                  <a:avLst/>
                </a:prstGeom>
                <a:ln w="38100">
                  <a:solidFill>
                    <a:srgbClr val="37914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直接连接符 35"/>
              <p:cNvCxnSpPr/>
              <p:nvPr/>
            </p:nvCxnSpPr>
            <p:spPr>
              <a:xfrm flipV="1">
                <a:off x="4216399" y="3293345"/>
                <a:ext cx="443773" cy="440456"/>
              </a:xfrm>
              <a:prstGeom prst="line">
                <a:avLst/>
              </a:prstGeom>
              <a:ln w="44450">
                <a:solidFill>
                  <a:srgbClr val="37914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文本框 29"/>
            <p:cNvSpPr txBox="1"/>
            <p:nvPr/>
          </p:nvSpPr>
          <p:spPr>
            <a:xfrm>
              <a:off x="6031305" y="3124480"/>
              <a:ext cx="9644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000" b="1" dirty="0">
                  <a:solidFill>
                    <a:srgbClr val="44B250"/>
                  </a:solidFill>
                </a:rPr>
                <a:t>深度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847027" y="1446272"/>
              <a:ext cx="492443" cy="78449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rgbClr val="44B2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高度</a:t>
              </a:r>
              <a:endParaRPr lang="zh-CN" altLang="en-US" sz="2000" b="1" dirty="0">
                <a:solidFill>
                  <a:srgbClr val="44B25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 rot="19015381">
              <a:off x="3364086" y="3734392"/>
              <a:ext cx="9644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000" b="1" dirty="0" smtClean="0">
                  <a:solidFill>
                    <a:srgbClr val="44B250"/>
                  </a:solidFill>
                </a:rPr>
                <a:t>宽度</a:t>
              </a:r>
              <a:endParaRPr lang="zh-CN" altLang="en-US" sz="2000" b="1" dirty="0">
                <a:solidFill>
                  <a:srgbClr val="44B250"/>
                </a:solidFill>
              </a:endParaRPr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01" t="66116" r="6999" b="20325"/>
            <a:stretch/>
          </p:blipFill>
          <p:spPr>
            <a:xfrm>
              <a:off x="4339467" y="1798214"/>
              <a:ext cx="1761843" cy="93979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4839504" y="1414401"/>
              <a:ext cx="7158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2000" b="1" dirty="0" smtClean="0">
                  <a:solidFill>
                    <a:srgbClr val="44B250"/>
                  </a:solidFill>
                </a:rPr>
                <a:t>温度</a:t>
              </a:r>
              <a:endParaRPr lang="zh-CN" altLang="en-US" sz="2000" b="1" dirty="0">
                <a:solidFill>
                  <a:srgbClr val="44B250"/>
                </a:solidFill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1422374" y="4539718"/>
            <a:ext cx="763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44B250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rPr>
              <a:t>你问自己</a:t>
            </a:r>
            <a:r>
              <a:rPr lang="en-US" altLang="zh-CN" sz="3600" dirty="0">
                <a:solidFill>
                  <a:srgbClr val="44B250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rPr>
              <a:t>:</a:t>
            </a:r>
            <a:r>
              <a:rPr lang="zh-CN" altLang="en-US" sz="3600" dirty="0">
                <a:solidFill>
                  <a:srgbClr val="44B250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rPr>
              <a:t>“人生真的</a:t>
            </a:r>
            <a:r>
              <a:rPr lang="zh-CN" altLang="en-US" sz="3600" dirty="0" smtClean="0">
                <a:solidFill>
                  <a:srgbClr val="44B250"/>
                </a:solidFill>
                <a:latin typeface="经典粗仿黑" panose="02010609000101010101" pitchFamily="49" charset="-122"/>
                <a:ea typeface="经典粗仿黑" panose="02010609000101010101" pitchFamily="49" charset="-122"/>
                <a:cs typeface="经典粗仿黑" panose="02010609000101010101" pitchFamily="49" charset="-122"/>
              </a:rPr>
              <a:t>只</a:t>
            </a:r>
            <a:r>
              <a:rPr lang="zh-CN" altLang="en-US" sz="3600" dirty="0">
                <a:solidFill>
                  <a:srgbClr val="44B250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rPr>
              <a:t>能这样吗？”</a:t>
            </a:r>
            <a:endParaRPr lang="en-US" altLang="zh-CN" sz="3600" dirty="0">
              <a:solidFill>
                <a:srgbClr val="44B250"/>
              </a:solidFill>
              <a:latin typeface="经典繁仿圆" panose="02010609000101010101" pitchFamily="49" charset="-122"/>
              <a:ea typeface="经典繁仿圆" panose="02010609000101010101" pitchFamily="49" charset="-122"/>
              <a:cs typeface="经典繁仿圆" panose="0201060900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368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b="36639"/>
          <a:stretch/>
        </p:blipFill>
        <p:spPr>
          <a:xfrm>
            <a:off x="3705643" y="1978681"/>
            <a:ext cx="2727454" cy="101282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5614988"/>
            <a:ext cx="10160000" cy="100012"/>
          </a:xfrm>
          <a:prstGeom prst="rect">
            <a:avLst/>
          </a:prstGeom>
          <a:solidFill>
            <a:srgbClr val="4293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5410200"/>
            <a:ext cx="10160000" cy="204788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0" y="330576"/>
            <a:ext cx="20029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solidFill>
                  <a:srgbClr val="4494C5"/>
                </a:solidFill>
                <a:latin typeface="Hobo Std" panose="020B0803040709020204" pitchFamily="34" charset="0"/>
              </a:defRPr>
            </a:lvl1pPr>
          </a:lstStyle>
          <a:p>
            <a:r>
              <a:rPr lang="en-US" altLang="zh-CN" dirty="0"/>
              <a:t>Chapter 7</a:t>
            </a:r>
          </a:p>
          <a:p>
            <a:r>
              <a:rPr lang="zh-CN" altLang="en-US" dirty="0">
                <a:latin typeface="方正粗宋简体" panose="03000509000000000000" pitchFamily="65" charset="-122"/>
                <a:ea typeface="方正粗宋简体" panose="03000509000000000000" pitchFamily="65" charset="-122"/>
              </a:rPr>
              <a:t>路径</a:t>
            </a:r>
            <a:endParaRPr lang="en-US" altLang="zh-CN" dirty="0"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041451" y="311821"/>
            <a:ext cx="8118549" cy="83099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39000">
                <a:srgbClr val="76B0D4">
                  <a:alpha val="69000"/>
                </a:srgbClr>
              </a:gs>
              <a:gs pos="0">
                <a:srgbClr val="4192C4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 smtClean="0"/>
              <a:t>所谓</a:t>
            </a:r>
            <a:r>
              <a:rPr lang="zh-CN" altLang="en-US" dirty="0"/>
              <a:t>“道”，并不是地上画好的</a:t>
            </a:r>
            <a:r>
              <a:rPr lang="zh-CN" altLang="en-US" dirty="0" smtClean="0"/>
              <a:t>线条</a:t>
            </a:r>
            <a:endParaRPr lang="en-US" altLang="zh-CN" dirty="0" smtClean="0"/>
          </a:p>
          <a:p>
            <a:r>
              <a:rPr lang="zh-CN" altLang="en-US" dirty="0" smtClean="0"/>
              <a:t>而是</a:t>
            </a:r>
            <a:r>
              <a:rPr lang="zh-CN" altLang="en-US" dirty="0"/>
              <a:t>你回首的时候自己踏出来的那条路。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062003" y="4128662"/>
            <a:ext cx="20072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生涯发展三阶段</a:t>
            </a:r>
            <a:endParaRPr lang="en-US" altLang="zh-CN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796387" y="1558358"/>
            <a:ext cx="3522730" cy="2529853"/>
            <a:chOff x="3431793" y="1283856"/>
            <a:chExt cx="4044080" cy="2904264"/>
          </a:xfrm>
        </p:grpSpPr>
        <p:sp>
          <p:nvSpPr>
            <p:cNvPr id="34" name="文本框 33"/>
            <p:cNvSpPr txBox="1"/>
            <p:nvPr/>
          </p:nvSpPr>
          <p:spPr>
            <a:xfrm rot="21286311">
              <a:off x="3536631" y="2173103"/>
              <a:ext cx="1132115" cy="423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生存期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 rot="21106095">
              <a:off x="4639696" y="1525608"/>
              <a:ext cx="1132115" cy="423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发展期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 rot="21306554">
              <a:off x="5842092" y="1532139"/>
              <a:ext cx="1169173" cy="423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4293C4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rPr>
                <a:t>进入期</a:t>
              </a:r>
              <a:endParaRPr lang="zh-CN" altLang="en-US" sz="1800" dirty="0">
                <a:solidFill>
                  <a:srgbClr val="4293C4"/>
                </a:solidFill>
                <a:latin typeface="华文隶书" panose="02010800040101010101" pitchFamily="2" charset="-122"/>
                <a:ea typeface="华文隶书" panose="02010800040101010101" pitchFamily="2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431793" y="1283856"/>
              <a:ext cx="4044080" cy="2904264"/>
              <a:chOff x="3431793" y="1283856"/>
              <a:chExt cx="4044080" cy="2904264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3562597" y="1283856"/>
                <a:ext cx="2838203" cy="2555070"/>
                <a:chOff x="3562597" y="1105867"/>
                <a:chExt cx="2838203" cy="2555070"/>
              </a:xfrm>
            </p:grpSpPr>
            <p:cxnSp>
              <p:nvCxnSpPr>
                <p:cNvPr id="43" name="直接箭头连接符 42"/>
                <p:cNvCxnSpPr/>
                <p:nvPr/>
              </p:nvCxnSpPr>
              <p:spPr>
                <a:xfrm flipV="1">
                  <a:off x="3570514" y="1105867"/>
                  <a:ext cx="0" cy="2233343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箭头连接符 43"/>
                <p:cNvCxnSpPr/>
                <p:nvPr/>
              </p:nvCxnSpPr>
              <p:spPr>
                <a:xfrm>
                  <a:off x="3570514" y="3339210"/>
                  <a:ext cx="2830286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任意多边形 44"/>
                <p:cNvSpPr/>
                <p:nvPr/>
              </p:nvSpPr>
              <p:spPr>
                <a:xfrm>
                  <a:off x="3562597" y="1711427"/>
                  <a:ext cx="2584059" cy="1622503"/>
                </a:xfrm>
                <a:custGeom>
                  <a:avLst/>
                  <a:gdLst>
                    <a:gd name="connsiteX0" fmla="*/ 0 w 2588821"/>
                    <a:gd name="connsiteY0" fmla="*/ 1381472 h 1381472"/>
                    <a:gd name="connsiteX1" fmla="*/ 950026 w 2588821"/>
                    <a:gd name="connsiteY1" fmla="*/ 277066 h 1381472"/>
                    <a:gd name="connsiteX2" fmla="*/ 1983180 w 2588821"/>
                    <a:gd name="connsiteY2" fmla="*/ 15809 h 1381472"/>
                    <a:gd name="connsiteX3" fmla="*/ 2588821 w 2588821"/>
                    <a:gd name="connsiteY3" fmla="*/ 51435 h 1381472"/>
                    <a:gd name="connsiteX0" fmla="*/ 0 w 2588821"/>
                    <a:gd name="connsiteY0" fmla="*/ 1393165 h 1393165"/>
                    <a:gd name="connsiteX1" fmla="*/ 950026 w 2588821"/>
                    <a:gd name="connsiteY1" fmla="*/ 288759 h 1393165"/>
                    <a:gd name="connsiteX2" fmla="*/ 1987942 w 2588821"/>
                    <a:gd name="connsiteY2" fmla="*/ 13215 h 1393165"/>
                    <a:gd name="connsiteX3" fmla="*/ 2588821 w 2588821"/>
                    <a:gd name="connsiteY3" fmla="*/ 63128 h 1393165"/>
                    <a:gd name="connsiteX0" fmla="*/ 0 w 2588821"/>
                    <a:gd name="connsiteY0" fmla="*/ 1544445 h 1544445"/>
                    <a:gd name="connsiteX1" fmla="*/ 950026 w 2588821"/>
                    <a:gd name="connsiteY1" fmla="*/ 440039 h 1544445"/>
                    <a:gd name="connsiteX2" fmla="*/ 1987942 w 2588821"/>
                    <a:gd name="connsiteY2" fmla="*/ 164495 h 1544445"/>
                    <a:gd name="connsiteX3" fmla="*/ 2588821 w 2588821"/>
                    <a:gd name="connsiteY3" fmla="*/ 214408 h 1544445"/>
                    <a:gd name="connsiteX0" fmla="*/ 0 w 2588821"/>
                    <a:gd name="connsiteY0" fmla="*/ 1387276 h 1387276"/>
                    <a:gd name="connsiteX1" fmla="*/ 950026 w 2588821"/>
                    <a:gd name="connsiteY1" fmla="*/ 282870 h 1387276"/>
                    <a:gd name="connsiteX2" fmla="*/ 1987942 w 2588821"/>
                    <a:gd name="connsiteY2" fmla="*/ 7326 h 1387276"/>
                    <a:gd name="connsiteX3" fmla="*/ 2588821 w 2588821"/>
                    <a:gd name="connsiteY3" fmla="*/ 57239 h 1387276"/>
                    <a:gd name="connsiteX0" fmla="*/ 0 w 2603109"/>
                    <a:gd name="connsiteY0" fmla="*/ 1382882 h 1382882"/>
                    <a:gd name="connsiteX1" fmla="*/ 950026 w 2603109"/>
                    <a:gd name="connsiteY1" fmla="*/ 278476 h 1382882"/>
                    <a:gd name="connsiteX2" fmla="*/ 1987942 w 2603109"/>
                    <a:gd name="connsiteY2" fmla="*/ 2932 h 1382882"/>
                    <a:gd name="connsiteX3" fmla="*/ 2603109 w 2603109"/>
                    <a:gd name="connsiteY3" fmla="*/ 138570 h 1382882"/>
                    <a:gd name="connsiteX0" fmla="*/ 0 w 2603109"/>
                    <a:gd name="connsiteY0" fmla="*/ 1383905 h 1383905"/>
                    <a:gd name="connsiteX1" fmla="*/ 950026 w 2603109"/>
                    <a:gd name="connsiteY1" fmla="*/ 279499 h 1383905"/>
                    <a:gd name="connsiteX2" fmla="*/ 1987942 w 2603109"/>
                    <a:gd name="connsiteY2" fmla="*/ 3955 h 1383905"/>
                    <a:gd name="connsiteX3" fmla="*/ 2603109 w 2603109"/>
                    <a:gd name="connsiteY3" fmla="*/ 139593 h 1383905"/>
                    <a:gd name="connsiteX0" fmla="*/ 0 w 2603109"/>
                    <a:gd name="connsiteY0" fmla="*/ 1388499 h 1388499"/>
                    <a:gd name="connsiteX1" fmla="*/ 950026 w 2603109"/>
                    <a:gd name="connsiteY1" fmla="*/ 284093 h 1388499"/>
                    <a:gd name="connsiteX2" fmla="*/ 1983179 w 2603109"/>
                    <a:gd name="connsiteY2" fmla="*/ 3786 h 1388499"/>
                    <a:gd name="connsiteX3" fmla="*/ 2603109 w 2603109"/>
                    <a:gd name="connsiteY3" fmla="*/ 144187 h 1388499"/>
                    <a:gd name="connsiteX0" fmla="*/ 0 w 2603109"/>
                    <a:gd name="connsiteY0" fmla="*/ 1385458 h 1385458"/>
                    <a:gd name="connsiteX1" fmla="*/ 950026 w 2603109"/>
                    <a:gd name="connsiteY1" fmla="*/ 281052 h 1385458"/>
                    <a:gd name="connsiteX2" fmla="*/ 1983179 w 2603109"/>
                    <a:gd name="connsiteY2" fmla="*/ 745 h 1385458"/>
                    <a:gd name="connsiteX3" fmla="*/ 2603109 w 2603109"/>
                    <a:gd name="connsiteY3" fmla="*/ 141146 h 1385458"/>
                    <a:gd name="connsiteX0" fmla="*/ 0 w 2603109"/>
                    <a:gd name="connsiteY0" fmla="*/ 1385458 h 1385458"/>
                    <a:gd name="connsiteX1" fmla="*/ 950026 w 2603109"/>
                    <a:gd name="connsiteY1" fmla="*/ 281052 h 1385458"/>
                    <a:gd name="connsiteX2" fmla="*/ 1983179 w 2603109"/>
                    <a:gd name="connsiteY2" fmla="*/ 745 h 1385458"/>
                    <a:gd name="connsiteX3" fmla="*/ 2603109 w 2603109"/>
                    <a:gd name="connsiteY3" fmla="*/ 141146 h 1385458"/>
                    <a:gd name="connsiteX0" fmla="*/ 0 w 2603109"/>
                    <a:gd name="connsiteY0" fmla="*/ 1385458 h 1385458"/>
                    <a:gd name="connsiteX1" fmla="*/ 950026 w 2603109"/>
                    <a:gd name="connsiteY1" fmla="*/ 281052 h 1385458"/>
                    <a:gd name="connsiteX2" fmla="*/ 1983179 w 2603109"/>
                    <a:gd name="connsiteY2" fmla="*/ 745 h 1385458"/>
                    <a:gd name="connsiteX3" fmla="*/ 2603109 w 2603109"/>
                    <a:gd name="connsiteY3" fmla="*/ 141146 h 1385458"/>
                    <a:gd name="connsiteX0" fmla="*/ 0 w 2603109"/>
                    <a:gd name="connsiteY0" fmla="*/ 1385458 h 1385458"/>
                    <a:gd name="connsiteX1" fmla="*/ 950026 w 2603109"/>
                    <a:gd name="connsiteY1" fmla="*/ 281052 h 1385458"/>
                    <a:gd name="connsiteX2" fmla="*/ 1983179 w 2603109"/>
                    <a:gd name="connsiteY2" fmla="*/ 745 h 1385458"/>
                    <a:gd name="connsiteX3" fmla="*/ 2603109 w 2603109"/>
                    <a:gd name="connsiteY3" fmla="*/ 141146 h 1385458"/>
                    <a:gd name="connsiteX0" fmla="*/ 0 w 2603109"/>
                    <a:gd name="connsiteY0" fmla="*/ 1565921 h 1565921"/>
                    <a:gd name="connsiteX1" fmla="*/ 950026 w 2603109"/>
                    <a:gd name="connsiteY1" fmla="*/ 461515 h 1565921"/>
                    <a:gd name="connsiteX2" fmla="*/ 1987942 w 2603109"/>
                    <a:gd name="connsiteY2" fmla="*/ 233 h 1565921"/>
                    <a:gd name="connsiteX3" fmla="*/ 2603109 w 2603109"/>
                    <a:gd name="connsiteY3" fmla="*/ 321609 h 1565921"/>
                    <a:gd name="connsiteX0" fmla="*/ 0 w 2645971"/>
                    <a:gd name="connsiteY0" fmla="*/ 1573753 h 1573753"/>
                    <a:gd name="connsiteX1" fmla="*/ 950026 w 2645971"/>
                    <a:gd name="connsiteY1" fmla="*/ 469347 h 1573753"/>
                    <a:gd name="connsiteX2" fmla="*/ 1987942 w 2645971"/>
                    <a:gd name="connsiteY2" fmla="*/ 8065 h 1573753"/>
                    <a:gd name="connsiteX3" fmla="*/ 2645971 w 2645971"/>
                    <a:gd name="connsiteY3" fmla="*/ 196091 h 1573753"/>
                    <a:gd name="connsiteX0" fmla="*/ 0 w 2584059"/>
                    <a:gd name="connsiteY0" fmla="*/ 1583686 h 1583686"/>
                    <a:gd name="connsiteX1" fmla="*/ 950026 w 2584059"/>
                    <a:gd name="connsiteY1" fmla="*/ 479280 h 1583686"/>
                    <a:gd name="connsiteX2" fmla="*/ 1987942 w 2584059"/>
                    <a:gd name="connsiteY2" fmla="*/ 17998 h 1583686"/>
                    <a:gd name="connsiteX3" fmla="*/ 2584059 w 2584059"/>
                    <a:gd name="connsiteY3" fmla="*/ 129824 h 1583686"/>
                    <a:gd name="connsiteX0" fmla="*/ 0 w 2584059"/>
                    <a:gd name="connsiteY0" fmla="*/ 1622503 h 1622503"/>
                    <a:gd name="connsiteX1" fmla="*/ 950026 w 2584059"/>
                    <a:gd name="connsiteY1" fmla="*/ 518097 h 1622503"/>
                    <a:gd name="connsiteX2" fmla="*/ 1883167 w 2584059"/>
                    <a:gd name="connsiteY2" fmla="*/ 13953 h 1622503"/>
                    <a:gd name="connsiteX3" fmla="*/ 2584059 w 2584059"/>
                    <a:gd name="connsiteY3" fmla="*/ 168641 h 16225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84059" h="1622503">
                      <a:moveTo>
                        <a:pt x="0" y="1622503"/>
                      </a:moveTo>
                      <a:cubicBezTo>
                        <a:pt x="309748" y="1184105"/>
                        <a:pt x="636165" y="786189"/>
                        <a:pt x="950026" y="518097"/>
                      </a:cubicBezTo>
                      <a:cubicBezTo>
                        <a:pt x="1263887" y="250005"/>
                        <a:pt x="1610828" y="72196"/>
                        <a:pt x="1883167" y="13953"/>
                      </a:cubicBezTo>
                      <a:cubicBezTo>
                        <a:pt x="2155506" y="-44290"/>
                        <a:pt x="2451142" y="93925"/>
                        <a:pt x="2584059" y="168641"/>
                      </a:cubicBezTo>
                    </a:path>
                  </a:pathLst>
                </a:custGeom>
                <a:noFill/>
                <a:ln w="28575">
                  <a:solidFill>
                    <a:srgbClr val="4293C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6" name="直接连接符 45"/>
                <p:cNvCxnSpPr/>
                <p:nvPr/>
              </p:nvCxnSpPr>
              <p:spPr>
                <a:xfrm flipV="1">
                  <a:off x="3570514" y="2090981"/>
                  <a:ext cx="2595192" cy="420872"/>
                </a:xfrm>
                <a:prstGeom prst="line">
                  <a:avLst/>
                </a:prstGeom>
                <a:ln w="28575">
                  <a:solidFill>
                    <a:srgbClr val="4293C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任意多边形 46"/>
                <p:cNvSpPr/>
                <p:nvPr/>
              </p:nvSpPr>
              <p:spPr>
                <a:xfrm>
                  <a:off x="4332807" y="1105867"/>
                  <a:ext cx="1765935" cy="2555070"/>
                </a:xfrm>
                <a:custGeom>
                  <a:avLst/>
                  <a:gdLst>
                    <a:gd name="connsiteX0" fmla="*/ 0 w 2124075"/>
                    <a:gd name="connsiteY0" fmla="*/ 2324100 h 2803417"/>
                    <a:gd name="connsiteX1" fmla="*/ 104775 w 2124075"/>
                    <a:gd name="connsiteY1" fmla="*/ 2486025 h 2803417"/>
                    <a:gd name="connsiteX2" fmla="*/ 295275 w 2124075"/>
                    <a:gd name="connsiteY2" fmla="*/ 2381250 h 2803417"/>
                    <a:gd name="connsiteX3" fmla="*/ 428625 w 2124075"/>
                    <a:gd name="connsiteY3" fmla="*/ 2562225 h 2803417"/>
                    <a:gd name="connsiteX4" fmla="*/ 790575 w 2124075"/>
                    <a:gd name="connsiteY4" fmla="*/ 2619375 h 2803417"/>
                    <a:gd name="connsiteX5" fmla="*/ 2124075 w 2124075"/>
                    <a:gd name="connsiteY5" fmla="*/ 0 h 2803417"/>
                    <a:gd name="connsiteX0" fmla="*/ 0 w 2124075"/>
                    <a:gd name="connsiteY0" fmla="*/ 2324100 h 2599092"/>
                    <a:gd name="connsiteX1" fmla="*/ 104775 w 2124075"/>
                    <a:gd name="connsiteY1" fmla="*/ 2486025 h 2599092"/>
                    <a:gd name="connsiteX2" fmla="*/ 295275 w 2124075"/>
                    <a:gd name="connsiteY2" fmla="*/ 2381250 h 2599092"/>
                    <a:gd name="connsiteX3" fmla="*/ 428625 w 2124075"/>
                    <a:gd name="connsiteY3" fmla="*/ 2562225 h 2599092"/>
                    <a:gd name="connsiteX4" fmla="*/ 988695 w 2124075"/>
                    <a:gd name="connsiteY4" fmla="*/ 2322195 h 2599092"/>
                    <a:gd name="connsiteX5" fmla="*/ 2124075 w 2124075"/>
                    <a:gd name="connsiteY5" fmla="*/ 0 h 2599092"/>
                    <a:gd name="connsiteX0" fmla="*/ 0 w 2124075"/>
                    <a:gd name="connsiteY0" fmla="*/ 2324100 h 2598592"/>
                    <a:gd name="connsiteX1" fmla="*/ 104775 w 2124075"/>
                    <a:gd name="connsiteY1" fmla="*/ 2486025 h 2598592"/>
                    <a:gd name="connsiteX2" fmla="*/ 371475 w 2124075"/>
                    <a:gd name="connsiteY2" fmla="*/ 2388870 h 2598592"/>
                    <a:gd name="connsiteX3" fmla="*/ 428625 w 2124075"/>
                    <a:gd name="connsiteY3" fmla="*/ 2562225 h 2598592"/>
                    <a:gd name="connsiteX4" fmla="*/ 988695 w 2124075"/>
                    <a:gd name="connsiteY4" fmla="*/ 2322195 h 2598592"/>
                    <a:gd name="connsiteX5" fmla="*/ 2124075 w 2124075"/>
                    <a:gd name="connsiteY5" fmla="*/ 0 h 2598592"/>
                    <a:gd name="connsiteX0" fmla="*/ 0 w 2124075"/>
                    <a:gd name="connsiteY0" fmla="*/ 2324100 h 2617643"/>
                    <a:gd name="connsiteX1" fmla="*/ 104775 w 2124075"/>
                    <a:gd name="connsiteY1" fmla="*/ 2486025 h 2617643"/>
                    <a:gd name="connsiteX2" fmla="*/ 371475 w 2124075"/>
                    <a:gd name="connsiteY2" fmla="*/ 2388870 h 2617643"/>
                    <a:gd name="connsiteX3" fmla="*/ 382905 w 2124075"/>
                    <a:gd name="connsiteY3" fmla="*/ 2592705 h 2617643"/>
                    <a:gd name="connsiteX4" fmla="*/ 988695 w 2124075"/>
                    <a:gd name="connsiteY4" fmla="*/ 2322195 h 2617643"/>
                    <a:gd name="connsiteX5" fmla="*/ 2124075 w 2124075"/>
                    <a:gd name="connsiteY5" fmla="*/ 0 h 2617643"/>
                    <a:gd name="connsiteX0" fmla="*/ 0 w 2124075"/>
                    <a:gd name="connsiteY0" fmla="*/ 2324100 h 2585323"/>
                    <a:gd name="connsiteX1" fmla="*/ 104775 w 2124075"/>
                    <a:gd name="connsiteY1" fmla="*/ 2486025 h 2585323"/>
                    <a:gd name="connsiteX2" fmla="*/ 371475 w 2124075"/>
                    <a:gd name="connsiteY2" fmla="*/ 2388870 h 2585323"/>
                    <a:gd name="connsiteX3" fmla="*/ 390525 w 2124075"/>
                    <a:gd name="connsiteY3" fmla="*/ 2539365 h 2585323"/>
                    <a:gd name="connsiteX4" fmla="*/ 988695 w 2124075"/>
                    <a:gd name="connsiteY4" fmla="*/ 2322195 h 2585323"/>
                    <a:gd name="connsiteX5" fmla="*/ 2124075 w 2124075"/>
                    <a:gd name="connsiteY5" fmla="*/ 0 h 2585323"/>
                    <a:gd name="connsiteX0" fmla="*/ 0 w 2124075"/>
                    <a:gd name="connsiteY0" fmla="*/ 2324100 h 2585323"/>
                    <a:gd name="connsiteX1" fmla="*/ 188595 w 2124075"/>
                    <a:gd name="connsiteY1" fmla="*/ 2417445 h 2585323"/>
                    <a:gd name="connsiteX2" fmla="*/ 371475 w 2124075"/>
                    <a:gd name="connsiteY2" fmla="*/ 2388870 h 2585323"/>
                    <a:gd name="connsiteX3" fmla="*/ 390525 w 2124075"/>
                    <a:gd name="connsiteY3" fmla="*/ 2539365 h 2585323"/>
                    <a:gd name="connsiteX4" fmla="*/ 988695 w 2124075"/>
                    <a:gd name="connsiteY4" fmla="*/ 2322195 h 2585323"/>
                    <a:gd name="connsiteX5" fmla="*/ 2124075 w 2124075"/>
                    <a:gd name="connsiteY5" fmla="*/ 0 h 2585323"/>
                    <a:gd name="connsiteX0" fmla="*/ 0 w 2124075"/>
                    <a:gd name="connsiteY0" fmla="*/ 2324100 h 2585323"/>
                    <a:gd name="connsiteX1" fmla="*/ 127635 w 2124075"/>
                    <a:gd name="connsiteY1" fmla="*/ 2516505 h 2585323"/>
                    <a:gd name="connsiteX2" fmla="*/ 371475 w 2124075"/>
                    <a:gd name="connsiteY2" fmla="*/ 2388870 h 2585323"/>
                    <a:gd name="connsiteX3" fmla="*/ 390525 w 2124075"/>
                    <a:gd name="connsiteY3" fmla="*/ 2539365 h 2585323"/>
                    <a:gd name="connsiteX4" fmla="*/ 988695 w 2124075"/>
                    <a:gd name="connsiteY4" fmla="*/ 2322195 h 2585323"/>
                    <a:gd name="connsiteX5" fmla="*/ 2124075 w 2124075"/>
                    <a:gd name="connsiteY5" fmla="*/ 0 h 2585323"/>
                    <a:gd name="connsiteX0" fmla="*/ 3203 w 2012978"/>
                    <a:gd name="connsiteY0" fmla="*/ 2316480 h 2585323"/>
                    <a:gd name="connsiteX1" fmla="*/ 16538 w 2012978"/>
                    <a:gd name="connsiteY1" fmla="*/ 2516505 h 2585323"/>
                    <a:gd name="connsiteX2" fmla="*/ 260378 w 2012978"/>
                    <a:gd name="connsiteY2" fmla="*/ 2388870 h 2585323"/>
                    <a:gd name="connsiteX3" fmla="*/ 279428 w 2012978"/>
                    <a:gd name="connsiteY3" fmla="*/ 2539365 h 2585323"/>
                    <a:gd name="connsiteX4" fmla="*/ 877598 w 2012978"/>
                    <a:gd name="connsiteY4" fmla="*/ 2322195 h 2585323"/>
                    <a:gd name="connsiteX5" fmla="*/ 2012978 w 2012978"/>
                    <a:gd name="connsiteY5" fmla="*/ 0 h 2585323"/>
                    <a:gd name="connsiteX0" fmla="*/ 0 w 2009775"/>
                    <a:gd name="connsiteY0" fmla="*/ 2316480 h 2585323"/>
                    <a:gd name="connsiteX1" fmla="*/ 13335 w 2009775"/>
                    <a:gd name="connsiteY1" fmla="*/ 2516505 h 2585323"/>
                    <a:gd name="connsiteX2" fmla="*/ 257175 w 2009775"/>
                    <a:gd name="connsiteY2" fmla="*/ 2388870 h 2585323"/>
                    <a:gd name="connsiteX3" fmla="*/ 276225 w 2009775"/>
                    <a:gd name="connsiteY3" fmla="*/ 2539365 h 2585323"/>
                    <a:gd name="connsiteX4" fmla="*/ 874395 w 2009775"/>
                    <a:gd name="connsiteY4" fmla="*/ 2322195 h 2585323"/>
                    <a:gd name="connsiteX5" fmla="*/ 2009775 w 2009775"/>
                    <a:gd name="connsiteY5" fmla="*/ 0 h 2585323"/>
                    <a:gd name="connsiteX0" fmla="*/ 0 w 2009775"/>
                    <a:gd name="connsiteY0" fmla="*/ 2316480 h 2615054"/>
                    <a:gd name="connsiteX1" fmla="*/ 13335 w 2009775"/>
                    <a:gd name="connsiteY1" fmla="*/ 2516505 h 2615054"/>
                    <a:gd name="connsiteX2" fmla="*/ 257175 w 2009775"/>
                    <a:gd name="connsiteY2" fmla="*/ 2388870 h 2615054"/>
                    <a:gd name="connsiteX3" fmla="*/ 276225 w 2009775"/>
                    <a:gd name="connsiteY3" fmla="*/ 2539365 h 2615054"/>
                    <a:gd name="connsiteX4" fmla="*/ 874395 w 2009775"/>
                    <a:gd name="connsiteY4" fmla="*/ 2322195 h 2615054"/>
                    <a:gd name="connsiteX5" fmla="*/ 2009775 w 2009775"/>
                    <a:gd name="connsiteY5" fmla="*/ 0 h 2615054"/>
                    <a:gd name="connsiteX0" fmla="*/ 0 w 2009775"/>
                    <a:gd name="connsiteY0" fmla="*/ 2316480 h 2587233"/>
                    <a:gd name="connsiteX1" fmla="*/ 13335 w 2009775"/>
                    <a:gd name="connsiteY1" fmla="*/ 2516505 h 2587233"/>
                    <a:gd name="connsiteX2" fmla="*/ 219075 w 2009775"/>
                    <a:gd name="connsiteY2" fmla="*/ 2358390 h 2587233"/>
                    <a:gd name="connsiteX3" fmla="*/ 276225 w 2009775"/>
                    <a:gd name="connsiteY3" fmla="*/ 2539365 h 2587233"/>
                    <a:gd name="connsiteX4" fmla="*/ 874395 w 2009775"/>
                    <a:gd name="connsiteY4" fmla="*/ 2322195 h 2587233"/>
                    <a:gd name="connsiteX5" fmla="*/ 2009775 w 2009775"/>
                    <a:gd name="connsiteY5" fmla="*/ 0 h 2587233"/>
                    <a:gd name="connsiteX0" fmla="*/ 0 w 2009775"/>
                    <a:gd name="connsiteY0" fmla="*/ 2316480 h 2587233"/>
                    <a:gd name="connsiteX1" fmla="*/ 13335 w 2009775"/>
                    <a:gd name="connsiteY1" fmla="*/ 2516505 h 2587233"/>
                    <a:gd name="connsiteX2" fmla="*/ 219075 w 2009775"/>
                    <a:gd name="connsiteY2" fmla="*/ 2358390 h 2587233"/>
                    <a:gd name="connsiteX3" fmla="*/ 276225 w 2009775"/>
                    <a:gd name="connsiteY3" fmla="*/ 2539365 h 2587233"/>
                    <a:gd name="connsiteX4" fmla="*/ 874395 w 2009775"/>
                    <a:gd name="connsiteY4" fmla="*/ 2322195 h 2587233"/>
                    <a:gd name="connsiteX5" fmla="*/ 2009775 w 2009775"/>
                    <a:gd name="connsiteY5" fmla="*/ 0 h 2587233"/>
                    <a:gd name="connsiteX0" fmla="*/ 0 w 2009775"/>
                    <a:gd name="connsiteY0" fmla="*/ 2316480 h 2623302"/>
                    <a:gd name="connsiteX1" fmla="*/ 13335 w 2009775"/>
                    <a:gd name="connsiteY1" fmla="*/ 2516505 h 2623302"/>
                    <a:gd name="connsiteX2" fmla="*/ 219075 w 2009775"/>
                    <a:gd name="connsiteY2" fmla="*/ 2358390 h 2623302"/>
                    <a:gd name="connsiteX3" fmla="*/ 276225 w 2009775"/>
                    <a:gd name="connsiteY3" fmla="*/ 2539365 h 2623302"/>
                    <a:gd name="connsiteX4" fmla="*/ 874395 w 2009775"/>
                    <a:gd name="connsiteY4" fmla="*/ 2322195 h 2623302"/>
                    <a:gd name="connsiteX5" fmla="*/ 2009775 w 2009775"/>
                    <a:gd name="connsiteY5" fmla="*/ 0 h 2623302"/>
                    <a:gd name="connsiteX0" fmla="*/ 0 w 2009775"/>
                    <a:gd name="connsiteY0" fmla="*/ 2316480 h 2623302"/>
                    <a:gd name="connsiteX1" fmla="*/ 13335 w 2009775"/>
                    <a:gd name="connsiteY1" fmla="*/ 2516505 h 2623302"/>
                    <a:gd name="connsiteX2" fmla="*/ 276225 w 2009775"/>
                    <a:gd name="connsiteY2" fmla="*/ 2539365 h 2623302"/>
                    <a:gd name="connsiteX3" fmla="*/ 874395 w 2009775"/>
                    <a:gd name="connsiteY3" fmla="*/ 2322195 h 2623302"/>
                    <a:gd name="connsiteX4" fmla="*/ 2009775 w 2009775"/>
                    <a:gd name="connsiteY4" fmla="*/ 0 h 2623302"/>
                    <a:gd name="connsiteX0" fmla="*/ 36697 w 2046472"/>
                    <a:gd name="connsiteY0" fmla="*/ 2316480 h 2577182"/>
                    <a:gd name="connsiteX1" fmla="*/ 50032 w 2046472"/>
                    <a:gd name="connsiteY1" fmla="*/ 2516505 h 2577182"/>
                    <a:gd name="connsiteX2" fmla="*/ 911092 w 2046472"/>
                    <a:gd name="connsiteY2" fmla="*/ 2322195 h 2577182"/>
                    <a:gd name="connsiteX3" fmla="*/ 2046472 w 2046472"/>
                    <a:gd name="connsiteY3" fmla="*/ 0 h 2577182"/>
                    <a:gd name="connsiteX0" fmla="*/ 0 w 2009775"/>
                    <a:gd name="connsiteY0" fmla="*/ 2316480 h 2492577"/>
                    <a:gd name="connsiteX1" fmla="*/ 874395 w 2009775"/>
                    <a:gd name="connsiteY1" fmla="*/ 2322195 h 2492577"/>
                    <a:gd name="connsiteX2" fmla="*/ 2009775 w 2009775"/>
                    <a:gd name="connsiteY2" fmla="*/ 0 h 2492577"/>
                    <a:gd name="connsiteX0" fmla="*/ 0 w 1765935"/>
                    <a:gd name="connsiteY0" fmla="*/ 2385060 h 2517090"/>
                    <a:gd name="connsiteX1" fmla="*/ 630555 w 1765935"/>
                    <a:gd name="connsiteY1" fmla="*/ 2322195 h 2517090"/>
                    <a:gd name="connsiteX2" fmla="*/ 1765935 w 1765935"/>
                    <a:gd name="connsiteY2" fmla="*/ 0 h 2517090"/>
                    <a:gd name="connsiteX0" fmla="*/ 0 w 1765935"/>
                    <a:gd name="connsiteY0" fmla="*/ 2385060 h 2567710"/>
                    <a:gd name="connsiteX1" fmla="*/ 630555 w 1765935"/>
                    <a:gd name="connsiteY1" fmla="*/ 2322195 h 2567710"/>
                    <a:gd name="connsiteX2" fmla="*/ 1765935 w 1765935"/>
                    <a:gd name="connsiteY2" fmla="*/ 0 h 2567710"/>
                    <a:gd name="connsiteX0" fmla="*/ 0 w 1765935"/>
                    <a:gd name="connsiteY0" fmla="*/ 2385060 h 2555070"/>
                    <a:gd name="connsiteX1" fmla="*/ 630555 w 1765935"/>
                    <a:gd name="connsiteY1" fmla="*/ 2322195 h 2555070"/>
                    <a:gd name="connsiteX2" fmla="*/ 1765935 w 1765935"/>
                    <a:gd name="connsiteY2" fmla="*/ 0 h 2555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65935" h="2555070">
                      <a:moveTo>
                        <a:pt x="0" y="2385060"/>
                      </a:moveTo>
                      <a:cubicBezTo>
                        <a:pt x="197406" y="2515791"/>
                        <a:pt x="336233" y="2719705"/>
                        <a:pt x="630555" y="2322195"/>
                      </a:cubicBezTo>
                      <a:cubicBezTo>
                        <a:pt x="924878" y="1924685"/>
                        <a:pt x="1765935" y="0"/>
                        <a:pt x="1765935" y="0"/>
                      </a:cubicBezTo>
                    </a:path>
                  </a:pathLst>
                </a:custGeom>
                <a:noFill/>
                <a:ln w="28575">
                  <a:solidFill>
                    <a:srgbClr val="4293C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任意多边形 47"/>
                <p:cNvSpPr/>
                <p:nvPr/>
              </p:nvSpPr>
              <p:spPr>
                <a:xfrm>
                  <a:off x="3968381" y="3387817"/>
                  <a:ext cx="329299" cy="217561"/>
                </a:xfrm>
                <a:custGeom>
                  <a:avLst/>
                  <a:gdLst>
                    <a:gd name="connsiteX0" fmla="*/ 1639 w 329299"/>
                    <a:gd name="connsiteY0" fmla="*/ 71663 h 217561"/>
                    <a:gd name="connsiteX1" fmla="*/ 39739 w 329299"/>
                    <a:gd name="connsiteY1" fmla="*/ 216443 h 217561"/>
                    <a:gd name="connsiteX2" fmla="*/ 268339 w 329299"/>
                    <a:gd name="connsiteY2" fmla="*/ 3083 h 217561"/>
                    <a:gd name="connsiteX3" fmla="*/ 329299 w 329299"/>
                    <a:gd name="connsiteY3" fmla="*/ 109763 h 2175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9299" h="217561">
                      <a:moveTo>
                        <a:pt x="1639" y="71663"/>
                      </a:moveTo>
                      <a:cubicBezTo>
                        <a:pt x="-1536" y="149768"/>
                        <a:pt x="-4711" y="227873"/>
                        <a:pt x="39739" y="216443"/>
                      </a:cubicBezTo>
                      <a:cubicBezTo>
                        <a:pt x="84189" y="205013"/>
                        <a:pt x="220079" y="20863"/>
                        <a:pt x="268339" y="3083"/>
                      </a:cubicBezTo>
                      <a:cubicBezTo>
                        <a:pt x="316599" y="-14697"/>
                        <a:pt x="322949" y="47533"/>
                        <a:pt x="329299" y="109763"/>
                      </a:cubicBezTo>
                    </a:path>
                  </a:pathLst>
                </a:custGeom>
                <a:noFill/>
                <a:ln w="28575">
                  <a:solidFill>
                    <a:srgbClr val="4293C4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9" name="文本框 38"/>
              <p:cNvSpPr txBox="1"/>
              <p:nvPr/>
            </p:nvSpPr>
            <p:spPr>
              <a:xfrm rot="21106095">
                <a:off x="5509712" y="2256748"/>
                <a:ext cx="1966161" cy="423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自我实现期</a:t>
                </a:r>
                <a:endPara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 rot="21306554">
                <a:off x="3431793" y="3733104"/>
                <a:ext cx="1387066" cy="423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 smtClean="0">
                    <a:solidFill>
                      <a:srgbClr val="4293C4"/>
                    </a:solidFill>
                    <a:latin typeface="华文隶书" panose="02010800040101010101" pitchFamily="2" charset="-122"/>
                    <a:ea typeface="华文隶书" panose="02010800040101010101" pitchFamily="2" charset="-122"/>
                  </a:rPr>
                  <a:t>探索期</a:t>
                </a:r>
                <a:endParaRPr lang="zh-CN" altLang="en-US" sz="1800" dirty="0">
                  <a:solidFill>
                    <a:srgbClr val="4293C4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 rot="21306554">
                <a:off x="4501273" y="3764128"/>
                <a:ext cx="1107448" cy="423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 smtClean="0">
                    <a:solidFill>
                      <a:srgbClr val="4293C4"/>
                    </a:solidFill>
                    <a:latin typeface="华文隶书" panose="02010800040101010101" pitchFamily="2" charset="-122"/>
                    <a:ea typeface="华文隶书" panose="02010800040101010101" pitchFamily="2" charset="-122"/>
                  </a:rPr>
                  <a:t>投入期</a:t>
                </a:r>
                <a:endParaRPr lang="zh-CN" altLang="en-US" sz="1800" dirty="0">
                  <a:solidFill>
                    <a:srgbClr val="4293C4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 rot="21306554">
                <a:off x="5132664" y="3037169"/>
                <a:ext cx="1169173" cy="423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 dirty="0" smtClean="0">
                    <a:solidFill>
                      <a:srgbClr val="4293C4"/>
                    </a:solidFill>
                    <a:latin typeface="华文隶书" panose="02010800040101010101" pitchFamily="2" charset="-122"/>
                    <a:ea typeface="华文隶书" panose="02010800040101010101" pitchFamily="2" charset="-122"/>
                  </a:rPr>
                  <a:t>建立期</a:t>
                </a:r>
                <a:endParaRPr lang="zh-CN" altLang="en-US" sz="1800" dirty="0">
                  <a:solidFill>
                    <a:srgbClr val="4293C4"/>
                  </a:solidFill>
                  <a:latin typeface="华文隶书" panose="02010800040101010101" pitchFamily="2" charset="-122"/>
                  <a:ea typeface="华文隶书" panose="02010800040101010101" pitchFamily="2" charset="-122"/>
                </a:endParaRPr>
              </a:p>
            </p:txBody>
          </p:sp>
        </p:grpSp>
      </p:grpSp>
      <p:sp>
        <p:nvSpPr>
          <p:cNvPr id="49" name="文本框 48"/>
          <p:cNvSpPr txBox="1"/>
          <p:nvPr/>
        </p:nvSpPr>
        <p:spPr>
          <a:xfrm>
            <a:off x="1148350" y="4550234"/>
            <a:ext cx="7774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rgbClr val="4494C5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defRPr>
            </a:lvl1pPr>
          </a:lstStyle>
          <a:p>
            <a:r>
              <a:rPr lang="zh-CN" altLang="en-US" dirty="0"/>
              <a:t>怎样从现在的现实，走到未来的现实？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8164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5614988"/>
            <a:ext cx="10160000" cy="100012"/>
          </a:xfrm>
          <a:prstGeom prst="rect">
            <a:avLst/>
          </a:prstGeom>
          <a:solidFill>
            <a:srgbClr val="C34D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5410200"/>
            <a:ext cx="10160000" cy="204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29" y="287560"/>
            <a:ext cx="20029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600">
                <a:solidFill>
                  <a:srgbClr val="ECE555"/>
                </a:solidFill>
                <a:latin typeface="Hobo Std" panose="020B0803040709020204" pitchFamily="34" charset="0"/>
              </a:defRPr>
            </a:lvl1pPr>
          </a:lstStyle>
          <a:p>
            <a:r>
              <a:rPr lang="en-US" altLang="zh-CN" dirty="0">
                <a:solidFill>
                  <a:srgbClr val="C34D48"/>
                </a:solidFill>
              </a:rPr>
              <a:t>Chapter 4</a:t>
            </a:r>
          </a:p>
          <a:p>
            <a:r>
              <a:rPr lang="zh-CN" altLang="en-US" dirty="0">
                <a:solidFill>
                  <a:srgbClr val="C34D48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你</a:t>
            </a:r>
            <a:r>
              <a:rPr lang="en-US" altLang="zh-CN" dirty="0">
                <a:solidFill>
                  <a:srgbClr val="C34D48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-</a:t>
            </a:r>
            <a:r>
              <a:rPr lang="zh-CN" altLang="en-US" dirty="0">
                <a:solidFill>
                  <a:srgbClr val="C34D48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我</a:t>
            </a:r>
            <a:endParaRPr lang="en-US" altLang="zh-CN" dirty="0">
              <a:solidFill>
                <a:srgbClr val="C34D48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41451" y="285085"/>
            <a:ext cx="8118549" cy="83099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66000"/>
                </a:schemeClr>
              </a:gs>
              <a:gs pos="0">
                <a:srgbClr val="C34D48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方正喵呜体" panose="02010600010101010101" pitchFamily="2" charset="-122"/>
                <a:ea typeface="方正喵呜体" panose="02010600010101010101" pitchFamily="2" charset="-122"/>
              </a:defRPr>
            </a:lvl1pPr>
          </a:lstStyle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能力，是自由的第一要务。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自由的另一个因素，就是欲望。 自由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=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能力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欲望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33905" y="4534695"/>
            <a:ext cx="5692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600">
                <a:solidFill>
                  <a:srgbClr val="C34D48"/>
                </a:solidFill>
                <a:latin typeface="经典繁仿圆" panose="02010609000101010101" pitchFamily="49" charset="-122"/>
                <a:ea typeface="经典繁仿圆" panose="02010609000101010101" pitchFamily="49" charset="-122"/>
                <a:cs typeface="经典繁仿圆" panose="02010609000101010101" pitchFamily="49" charset="-122"/>
              </a:defRPr>
            </a:lvl1pPr>
          </a:lstStyle>
          <a:p>
            <a:r>
              <a:rPr lang="zh-CN" altLang="en-US" dirty="0"/>
              <a:t>自由的选择，并且承担后果</a:t>
            </a:r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3114922" y="1698451"/>
            <a:ext cx="1787865" cy="1330777"/>
            <a:chOff x="131537" y="1634747"/>
            <a:chExt cx="1787865" cy="1330777"/>
          </a:xfrm>
        </p:grpSpPr>
        <p:sp>
          <p:nvSpPr>
            <p:cNvPr id="2" name="矩形 1"/>
            <p:cNvSpPr/>
            <p:nvPr/>
          </p:nvSpPr>
          <p:spPr>
            <a:xfrm>
              <a:off x="174152" y="1634747"/>
              <a:ext cx="1745249" cy="575829"/>
            </a:xfrm>
            <a:prstGeom prst="rect">
              <a:avLst/>
            </a:prstGeom>
            <a:solidFill>
              <a:srgbClr val="C4504C">
                <a:alpha val="80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31537" y="2226860"/>
              <a:ext cx="1787865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spcBef>
                  <a:spcPts val="1400"/>
                </a:spcBef>
                <a:defRPr sz="2400">
                  <a:solidFill>
                    <a:srgbClr val="EB61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 smtClean="0">
                  <a:solidFill>
                    <a:schemeClr val="bg1">
                      <a:lumMod val="50000"/>
                    </a:schemeClr>
                  </a:solidFill>
                </a:rPr>
                <a:t>如果你面对一个苦难，你一定已经拥有了资源去做些什么。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45558" y="1718669"/>
              <a:ext cx="1433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关于苦难</a:t>
              </a:r>
              <a:endParaRPr lang="zh-CN" altLang="en-US" sz="24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206792" y="1698451"/>
            <a:ext cx="1787865" cy="1115333"/>
            <a:chOff x="131537" y="1634747"/>
            <a:chExt cx="1787865" cy="1115333"/>
          </a:xfrm>
        </p:grpSpPr>
        <p:sp>
          <p:nvSpPr>
            <p:cNvPr id="42" name="矩形 41"/>
            <p:cNvSpPr/>
            <p:nvPr/>
          </p:nvSpPr>
          <p:spPr>
            <a:xfrm>
              <a:off x="174152" y="1634747"/>
              <a:ext cx="1745249" cy="575829"/>
            </a:xfrm>
            <a:prstGeom prst="rect">
              <a:avLst/>
            </a:prstGeom>
            <a:solidFill>
              <a:srgbClr val="C4504C">
                <a:alpha val="80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31537" y="2226860"/>
              <a:ext cx="1787865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spcBef>
                  <a:spcPts val="1400"/>
                </a:spcBef>
                <a:defRPr sz="2400">
                  <a:solidFill>
                    <a:srgbClr val="EB61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</a:rPr>
                <a:t>愤怒也是无能的代名词。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45558" y="1718669"/>
              <a:ext cx="1433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关于愤怒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228098" y="3136874"/>
            <a:ext cx="1787865" cy="1115333"/>
            <a:chOff x="131537" y="1634747"/>
            <a:chExt cx="1787865" cy="1115333"/>
          </a:xfrm>
        </p:grpSpPr>
        <p:sp>
          <p:nvSpPr>
            <p:cNvPr id="46" name="矩形 45"/>
            <p:cNvSpPr/>
            <p:nvPr/>
          </p:nvSpPr>
          <p:spPr>
            <a:xfrm>
              <a:off x="174152" y="1634747"/>
              <a:ext cx="1745249" cy="575829"/>
            </a:xfrm>
            <a:prstGeom prst="rect">
              <a:avLst/>
            </a:prstGeom>
            <a:solidFill>
              <a:srgbClr val="C4504C">
                <a:alpha val="80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31537" y="2226860"/>
              <a:ext cx="1787865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spcBef>
                  <a:spcPts val="1400"/>
                </a:spcBef>
                <a:defRPr sz="14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你不走点弯路，怎么知道什么是直线呢？ 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45558" y="1718669"/>
              <a:ext cx="1433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关于弯路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157537" y="3139362"/>
            <a:ext cx="1787865" cy="1330777"/>
            <a:chOff x="131537" y="1634747"/>
            <a:chExt cx="1787865" cy="1330777"/>
          </a:xfrm>
        </p:grpSpPr>
        <p:sp>
          <p:nvSpPr>
            <p:cNvPr id="50" name="矩形 49"/>
            <p:cNvSpPr/>
            <p:nvPr/>
          </p:nvSpPr>
          <p:spPr>
            <a:xfrm>
              <a:off x="174152" y="1634747"/>
              <a:ext cx="1745249" cy="575829"/>
            </a:xfrm>
            <a:prstGeom prst="rect">
              <a:avLst/>
            </a:prstGeom>
            <a:solidFill>
              <a:srgbClr val="C4504C">
                <a:alpha val="80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31537" y="2226860"/>
              <a:ext cx="1787865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just">
                <a:spcBef>
                  <a:spcPts val="1400"/>
                </a:spcBef>
                <a:defRPr sz="140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如果你相信一个东西，总得有人为它做些什么。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45558" y="1718669"/>
              <a:ext cx="14335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关于装睡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674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5614988"/>
            <a:ext cx="10160000" cy="100012"/>
          </a:xfrm>
          <a:prstGeom prst="rect">
            <a:avLst/>
          </a:prstGeom>
          <a:solidFill>
            <a:srgbClr val="F26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0" y="5410200"/>
            <a:ext cx="10160000" cy="204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0" y="0"/>
            <a:ext cx="10160000" cy="966383"/>
          </a:xfrm>
          <a:prstGeom prst="rect">
            <a:avLst/>
          </a:prstGeom>
          <a:solidFill>
            <a:srgbClr val="F26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95" y="1090533"/>
            <a:ext cx="3748080" cy="210763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95" y="3178413"/>
            <a:ext cx="3748080" cy="210763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111" y="1102412"/>
            <a:ext cx="3748080" cy="210763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111" y="3178413"/>
            <a:ext cx="3748080" cy="210763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171" y="-37841"/>
            <a:ext cx="848692" cy="2256748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118095" y="252358"/>
            <a:ext cx="3921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1990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耐心指导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983367" y="83035"/>
            <a:ext cx="3232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在网易云课堂等你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8811" y="2101289"/>
            <a:ext cx="923330" cy="19696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963478" y="2101289"/>
            <a:ext cx="923330" cy="19696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  <a:endParaRPr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061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4303" y="902720"/>
            <a:ext cx="6171396" cy="341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533976" y="2372158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5024249" y="2372158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579462" y="2372158"/>
            <a:ext cx="97201" cy="1808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15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66775" y="3324866"/>
            <a:ext cx="6171396" cy="148886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defTabSz="761970" eaLnBrk="0" fontAlgn="base" hangingPunct="0">
              <a:spcBef>
                <a:spcPts val="1215"/>
              </a:spcBef>
              <a:spcAft>
                <a:spcPct val="0"/>
              </a:spcAft>
            </a:pP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1970" eaLnBrk="0" fontAlgn="base" hangingPunct="0">
              <a:spcBef>
                <a:spcPts val="1215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21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1970" eaLnBrk="0" fontAlgn="base" hangingPunct="0">
              <a:spcBef>
                <a:spcPts val="810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defTabSz="761970" eaLnBrk="0" fontAlgn="base" hangingPunct="0">
              <a:spcBef>
                <a:spcPts val="810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defTabSz="761970" eaLnBrk="0" fontAlgn="base" hangingPunct="0">
              <a:spcBef>
                <a:spcPts val="810"/>
              </a:spcBef>
              <a:spcAft>
                <a:spcPct val="0"/>
              </a:spcAft>
            </a:pP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21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12576" y="3586507"/>
            <a:ext cx="573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66774" y="1909795"/>
            <a:ext cx="1312212" cy="90531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601366" y="1909794"/>
            <a:ext cx="1312212" cy="1081436"/>
            <a:chOff x="107380" y="2024805"/>
            <a:chExt cx="1944270" cy="1602333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4"/>
              <a:ext cx="1728239" cy="12449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13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110825" y="1909795"/>
            <a:ext cx="1312212" cy="90531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215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628059" y="1909795"/>
            <a:ext cx="1312212" cy="90531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15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679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13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15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043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96990" y="3294894"/>
            <a:ext cx="6188272" cy="1088016"/>
            <a:chOff x="0" y="3359571"/>
            <a:chExt cx="9169004" cy="1612087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3" cy="56775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6208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945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945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945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6285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5"/>
              <a:ext cx="594123" cy="598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1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025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0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91671" cy="950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1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03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62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62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62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62851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532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1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1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1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1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710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1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1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710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1"/>
              <a:ext cx="757239" cy="783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1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18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62851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1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62851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1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59396" cy="367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62851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0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807117" y="1155920"/>
            <a:ext cx="4568019" cy="197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43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defTabSz="761970" eaLnBrk="0" fontAlgn="base" hangingPunct="0">
              <a:spcBef>
                <a:spcPts val="2025"/>
              </a:spcBef>
              <a:spcAft>
                <a:spcPct val="0"/>
              </a:spcAft>
            </a:pPr>
            <a:r>
              <a:rPr lang="zh-CN" altLang="en-US" sz="297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119</a:t>
            </a:r>
            <a:r>
              <a:rPr lang="zh-CN" altLang="en-US" sz="297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97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761970" eaLnBrk="0" fontAlgn="base" hangingPunct="0">
              <a:spcBef>
                <a:spcPts val="2025"/>
              </a:spcBef>
              <a:spcAft>
                <a:spcPct val="0"/>
              </a:spcAft>
            </a:pP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89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89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96605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1923</TotalTime>
  <Words>753</Words>
  <Application>Microsoft Office PowerPoint</Application>
  <PresentationFormat>自定义</PresentationFormat>
  <Paragraphs>126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Hobo Std</vt:lpstr>
      <vt:lpstr>方正粗宋简体</vt:lpstr>
      <vt:lpstr>方正正黑简体</vt:lpstr>
      <vt:lpstr>方正正中黑简体</vt:lpstr>
      <vt:lpstr>方正中等线简体</vt:lpstr>
      <vt:lpstr>华文隶书</vt:lpstr>
      <vt:lpstr>华文中宋</vt:lpstr>
      <vt:lpstr>经典粗仿黑</vt:lpstr>
      <vt:lpstr>经典繁仿圆</vt:lpstr>
      <vt:lpstr>宋体</vt:lpstr>
      <vt:lpstr>微软雅黑</vt:lpstr>
      <vt:lpstr>幼圆</vt:lpstr>
      <vt:lpstr>Arial</vt:lpstr>
      <vt:lpstr>Calibri</vt:lpstr>
      <vt:lpstr>Calibri Light</vt:lpstr>
      <vt:lpstr>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Sky123.Org</dc:creator>
  <cp:lastModifiedBy>小巴</cp:lastModifiedBy>
  <cp:revision>276</cp:revision>
  <dcterms:created xsi:type="dcterms:W3CDTF">2014-04-13T09:12:12Z</dcterms:created>
  <dcterms:modified xsi:type="dcterms:W3CDTF">2014-06-12T11:25:44Z</dcterms:modified>
</cp:coreProperties>
</file>