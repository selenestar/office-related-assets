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7" r:id="rId3"/>
    <p:sldId id="260" r:id="rId4"/>
    <p:sldId id="282" r:id="rId5"/>
    <p:sldId id="259" r:id="rId6"/>
    <p:sldId id="275" r:id="rId7"/>
    <p:sldId id="262" r:id="rId8"/>
    <p:sldId id="268" r:id="rId9"/>
    <p:sldId id="273" r:id="rId10"/>
    <p:sldId id="279" r:id="rId11"/>
    <p:sldId id="280" r:id="rId12"/>
    <p:sldId id="281" r:id="rId13"/>
    <p:sldId id="270" r:id="rId14"/>
    <p:sldId id="283" r:id="rId15"/>
    <p:sldId id="284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AEFF"/>
    <a:srgbClr val="4FC7FF"/>
    <a:srgbClr val="FB7BBB"/>
    <a:srgbClr val="00B0F0"/>
    <a:srgbClr val="F5676A"/>
    <a:srgbClr val="FA62AE"/>
    <a:srgbClr val="6BE4F1"/>
    <a:srgbClr val="CC5C97"/>
    <a:srgbClr val="FF8E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44" autoAdjust="0"/>
    <p:restoredTop sz="94424" autoAdjust="0"/>
  </p:normalViewPr>
  <p:slideViewPr>
    <p:cSldViewPr snapToGrid="0">
      <p:cViewPr varScale="1">
        <p:scale>
          <a:sx n="70" d="100"/>
          <a:sy n="70" d="100"/>
        </p:scale>
        <p:origin x="576" y="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865E5-40F8-47AA-BF8C-7E781EAA3AB9}" type="datetimeFigureOut">
              <a:rPr lang="zh-CN" altLang="en-US" smtClean="0"/>
              <a:t>2014/5/1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C92E6-7D96-4523-ADBE-0B046B2E01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2479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865E5-40F8-47AA-BF8C-7E781EAA3AB9}" type="datetimeFigureOut">
              <a:rPr lang="zh-CN" altLang="en-US" smtClean="0"/>
              <a:t>2014/5/1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C92E6-7D96-4523-ADBE-0B046B2E01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2328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865E5-40F8-47AA-BF8C-7E781EAA3AB9}" type="datetimeFigureOut">
              <a:rPr lang="zh-CN" altLang="en-US" smtClean="0"/>
              <a:t>2014/5/1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C92E6-7D96-4523-ADBE-0B046B2E01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190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865E5-40F8-47AA-BF8C-7E781EAA3AB9}" type="datetimeFigureOut">
              <a:rPr lang="zh-CN" altLang="en-US" smtClean="0"/>
              <a:t>2014/5/1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C92E6-7D96-4523-ADBE-0B046B2E01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4204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865E5-40F8-47AA-BF8C-7E781EAA3AB9}" type="datetimeFigureOut">
              <a:rPr lang="zh-CN" altLang="en-US" smtClean="0"/>
              <a:t>2014/5/1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C92E6-7D96-4523-ADBE-0B046B2E01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6384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865E5-40F8-47AA-BF8C-7E781EAA3AB9}" type="datetimeFigureOut">
              <a:rPr lang="zh-CN" altLang="en-US" smtClean="0"/>
              <a:t>2014/5/1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C92E6-7D96-4523-ADBE-0B046B2E01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6223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865E5-40F8-47AA-BF8C-7E781EAA3AB9}" type="datetimeFigureOut">
              <a:rPr lang="zh-CN" altLang="en-US" smtClean="0"/>
              <a:t>2014/5/1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C92E6-7D96-4523-ADBE-0B046B2E01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8979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865E5-40F8-47AA-BF8C-7E781EAA3AB9}" type="datetimeFigureOut">
              <a:rPr lang="zh-CN" altLang="en-US" smtClean="0"/>
              <a:t>2014/5/1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C92E6-7D96-4523-ADBE-0B046B2E01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1782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865E5-40F8-47AA-BF8C-7E781EAA3AB9}" type="datetimeFigureOut">
              <a:rPr lang="zh-CN" altLang="en-US" smtClean="0"/>
              <a:t>2014/5/1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C92E6-7D96-4523-ADBE-0B046B2E01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9882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865E5-40F8-47AA-BF8C-7E781EAA3AB9}" type="datetimeFigureOut">
              <a:rPr lang="zh-CN" altLang="en-US" smtClean="0"/>
              <a:t>2014/5/1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C92E6-7D96-4523-ADBE-0B046B2E01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9843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865E5-40F8-47AA-BF8C-7E781EAA3AB9}" type="datetimeFigureOut">
              <a:rPr lang="zh-CN" altLang="en-US" smtClean="0"/>
              <a:t>2014/5/1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C92E6-7D96-4523-ADBE-0B046B2E01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40275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160"/>
            </a:lvl1pPr>
            <a:lvl2pPr marL="411470" indent="0" algn="ctr">
              <a:buNone/>
              <a:defRPr sz="1800"/>
            </a:lvl2pPr>
            <a:lvl3pPr marL="822939" indent="0" algn="ctr">
              <a:buNone/>
              <a:defRPr sz="1620"/>
            </a:lvl3pPr>
            <a:lvl4pPr marL="1234409" indent="0" algn="ctr">
              <a:buNone/>
              <a:defRPr sz="1440"/>
            </a:lvl4pPr>
            <a:lvl5pPr marL="1645879" indent="0" algn="ctr">
              <a:buNone/>
              <a:defRPr sz="1440"/>
            </a:lvl5pPr>
            <a:lvl6pPr marL="2057349" indent="0" algn="ctr">
              <a:buNone/>
              <a:defRPr sz="1440"/>
            </a:lvl6pPr>
            <a:lvl7pPr marL="2468818" indent="0" algn="ctr">
              <a:buNone/>
              <a:defRPr sz="1440"/>
            </a:lvl7pPr>
            <a:lvl8pPr marL="2880288" indent="0" algn="ctr">
              <a:buNone/>
              <a:defRPr sz="1440"/>
            </a:lvl8pPr>
            <a:lvl9pPr marL="3291758" indent="0" algn="ctr">
              <a:buNone/>
              <a:defRPr sz="144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65350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99994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1pPr>
            <a:lvl2pPr marL="41147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822939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3pPr>
            <a:lvl4pPr marL="1234409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4pPr>
            <a:lvl5pPr marL="1645879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5pPr>
            <a:lvl6pPr marL="2057349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6pPr>
            <a:lvl7pPr marL="2468818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7pPr>
            <a:lvl8pPr marL="2880288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8pPr>
            <a:lvl9pPr marL="3291758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74509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46931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70" indent="0">
              <a:buNone/>
              <a:defRPr sz="1800" b="1"/>
            </a:lvl2pPr>
            <a:lvl3pPr marL="822939" indent="0">
              <a:buNone/>
              <a:defRPr sz="1620" b="1"/>
            </a:lvl3pPr>
            <a:lvl4pPr marL="1234409" indent="0">
              <a:buNone/>
              <a:defRPr sz="1440" b="1"/>
            </a:lvl4pPr>
            <a:lvl5pPr marL="1645879" indent="0">
              <a:buNone/>
              <a:defRPr sz="1440" b="1"/>
            </a:lvl5pPr>
            <a:lvl6pPr marL="2057349" indent="0">
              <a:buNone/>
              <a:defRPr sz="1440" b="1"/>
            </a:lvl6pPr>
            <a:lvl7pPr marL="2468818" indent="0">
              <a:buNone/>
              <a:defRPr sz="1440" b="1"/>
            </a:lvl7pPr>
            <a:lvl8pPr marL="2880288" indent="0">
              <a:buNone/>
              <a:defRPr sz="1440" b="1"/>
            </a:lvl8pPr>
            <a:lvl9pPr marL="3291758" indent="0">
              <a:buNone/>
              <a:defRPr sz="144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7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70" indent="0">
              <a:buNone/>
              <a:defRPr sz="1800" b="1"/>
            </a:lvl2pPr>
            <a:lvl3pPr marL="822939" indent="0">
              <a:buNone/>
              <a:defRPr sz="1620" b="1"/>
            </a:lvl3pPr>
            <a:lvl4pPr marL="1234409" indent="0">
              <a:buNone/>
              <a:defRPr sz="1440" b="1"/>
            </a:lvl4pPr>
            <a:lvl5pPr marL="1645879" indent="0">
              <a:buNone/>
              <a:defRPr sz="1440" b="1"/>
            </a:lvl5pPr>
            <a:lvl6pPr marL="2057349" indent="0">
              <a:buNone/>
              <a:defRPr sz="1440" b="1"/>
            </a:lvl6pPr>
            <a:lvl7pPr marL="2468818" indent="0">
              <a:buNone/>
              <a:defRPr sz="1440" b="1"/>
            </a:lvl7pPr>
            <a:lvl8pPr marL="2880288" indent="0">
              <a:buNone/>
              <a:defRPr sz="1440" b="1"/>
            </a:lvl8pPr>
            <a:lvl9pPr marL="3291758" indent="0">
              <a:buNone/>
              <a:defRPr sz="144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2" y="2505077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98123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98501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26661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440"/>
            </a:lvl1pPr>
            <a:lvl2pPr marL="411470" indent="0">
              <a:buNone/>
              <a:defRPr sz="1260"/>
            </a:lvl2pPr>
            <a:lvl3pPr marL="822939" indent="0">
              <a:buNone/>
              <a:defRPr sz="1080"/>
            </a:lvl3pPr>
            <a:lvl4pPr marL="1234409" indent="0">
              <a:buNone/>
              <a:defRPr sz="900"/>
            </a:lvl4pPr>
            <a:lvl5pPr marL="1645879" indent="0">
              <a:buNone/>
              <a:defRPr sz="900"/>
            </a:lvl5pPr>
            <a:lvl6pPr marL="2057349" indent="0">
              <a:buNone/>
              <a:defRPr sz="900"/>
            </a:lvl6pPr>
            <a:lvl7pPr marL="2468818" indent="0">
              <a:buNone/>
              <a:defRPr sz="900"/>
            </a:lvl7pPr>
            <a:lvl8pPr marL="2880288" indent="0">
              <a:buNone/>
              <a:defRPr sz="900"/>
            </a:lvl8pPr>
            <a:lvl9pPr marL="3291758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78080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 marL="0" indent="0">
              <a:buNone/>
              <a:defRPr sz="2880"/>
            </a:lvl1pPr>
            <a:lvl2pPr marL="411470" indent="0">
              <a:buNone/>
              <a:defRPr sz="2520"/>
            </a:lvl2pPr>
            <a:lvl3pPr marL="822939" indent="0">
              <a:buNone/>
              <a:defRPr sz="2160"/>
            </a:lvl3pPr>
            <a:lvl4pPr marL="1234409" indent="0">
              <a:buNone/>
              <a:defRPr sz="1800"/>
            </a:lvl4pPr>
            <a:lvl5pPr marL="1645879" indent="0">
              <a:buNone/>
              <a:defRPr sz="1800"/>
            </a:lvl5pPr>
            <a:lvl6pPr marL="2057349" indent="0">
              <a:buNone/>
              <a:defRPr sz="1800"/>
            </a:lvl6pPr>
            <a:lvl7pPr marL="2468818" indent="0">
              <a:buNone/>
              <a:defRPr sz="1800"/>
            </a:lvl7pPr>
            <a:lvl8pPr marL="2880288" indent="0">
              <a:buNone/>
              <a:defRPr sz="1800"/>
            </a:lvl8pPr>
            <a:lvl9pPr marL="3291758" indent="0">
              <a:buNone/>
              <a:defRPr sz="18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440"/>
            </a:lvl1pPr>
            <a:lvl2pPr marL="411470" indent="0">
              <a:buNone/>
              <a:defRPr sz="1260"/>
            </a:lvl2pPr>
            <a:lvl3pPr marL="822939" indent="0">
              <a:buNone/>
              <a:defRPr sz="1080"/>
            </a:lvl3pPr>
            <a:lvl4pPr marL="1234409" indent="0">
              <a:buNone/>
              <a:defRPr sz="900"/>
            </a:lvl4pPr>
            <a:lvl5pPr marL="1645879" indent="0">
              <a:buNone/>
              <a:defRPr sz="900"/>
            </a:lvl5pPr>
            <a:lvl6pPr marL="2057349" indent="0">
              <a:buNone/>
              <a:defRPr sz="900"/>
            </a:lvl6pPr>
            <a:lvl7pPr marL="2468818" indent="0">
              <a:buNone/>
              <a:defRPr sz="900"/>
            </a:lvl7pPr>
            <a:lvl8pPr marL="2880288" indent="0">
              <a:buNone/>
              <a:defRPr sz="900"/>
            </a:lvl8pPr>
            <a:lvl9pPr marL="3291758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55526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69584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2" y="365126"/>
            <a:ext cx="2628900" cy="5811839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2" y="365126"/>
            <a:ext cx="7734300" cy="5811839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1471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9865E5-40F8-47AA-BF8C-7E781EAA3AB9}" type="datetimeFigureOut">
              <a:rPr lang="zh-CN" altLang="en-US" smtClean="0"/>
              <a:t>2014/5/1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DC92E6-7D96-4523-ADBE-0B046B2E01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0542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0501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22939" rtl="0" eaLnBrk="1" latinLnBrk="0" hangingPunct="1">
        <a:lnSpc>
          <a:spcPct val="90000"/>
        </a:lnSpc>
        <a:spcBef>
          <a:spcPct val="0"/>
        </a:spcBef>
        <a:buNone/>
        <a:defRPr sz="39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5735" indent="-205735" algn="l" defTabSz="822939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17205" indent="-205735" algn="l" defTabSz="822939" rtl="0" eaLnBrk="1" latinLnBrk="0" hangingPunct="1">
        <a:lnSpc>
          <a:spcPct val="90000"/>
        </a:lnSpc>
        <a:spcBef>
          <a:spcPts val="451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28674" indent="-205735" algn="l" defTabSz="822939" rtl="0" eaLnBrk="1" latinLnBrk="0" hangingPunct="1">
        <a:lnSpc>
          <a:spcPct val="90000"/>
        </a:lnSpc>
        <a:spcBef>
          <a:spcPts val="45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44" indent="-205735" algn="l" defTabSz="822939" rtl="0" eaLnBrk="1" latinLnBrk="0" hangingPunct="1">
        <a:lnSpc>
          <a:spcPct val="90000"/>
        </a:lnSpc>
        <a:spcBef>
          <a:spcPts val="451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851614" indent="-205735" algn="l" defTabSz="822939" rtl="0" eaLnBrk="1" latinLnBrk="0" hangingPunct="1">
        <a:lnSpc>
          <a:spcPct val="90000"/>
        </a:lnSpc>
        <a:spcBef>
          <a:spcPts val="451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263083" indent="-205735" algn="l" defTabSz="822939" rtl="0" eaLnBrk="1" latinLnBrk="0" hangingPunct="1">
        <a:lnSpc>
          <a:spcPct val="90000"/>
        </a:lnSpc>
        <a:spcBef>
          <a:spcPts val="451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674553" indent="-205735" algn="l" defTabSz="822939" rtl="0" eaLnBrk="1" latinLnBrk="0" hangingPunct="1">
        <a:lnSpc>
          <a:spcPct val="90000"/>
        </a:lnSpc>
        <a:spcBef>
          <a:spcPts val="451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3086023" indent="-205735" algn="l" defTabSz="822939" rtl="0" eaLnBrk="1" latinLnBrk="0" hangingPunct="1">
        <a:lnSpc>
          <a:spcPct val="90000"/>
        </a:lnSpc>
        <a:spcBef>
          <a:spcPts val="451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497493" indent="-205735" algn="l" defTabSz="822939" rtl="0" eaLnBrk="1" latinLnBrk="0" hangingPunct="1">
        <a:lnSpc>
          <a:spcPct val="90000"/>
        </a:lnSpc>
        <a:spcBef>
          <a:spcPts val="451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22939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70" algn="l" defTabSz="822939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39" algn="l" defTabSz="822939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09" algn="l" defTabSz="822939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879" algn="l" defTabSz="822939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349" algn="l" defTabSz="822939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18" algn="l" defTabSz="822939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288" algn="l" defTabSz="822939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758" algn="l" defTabSz="822939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组合 37"/>
          <p:cNvGrpSpPr/>
          <p:nvPr/>
        </p:nvGrpSpPr>
        <p:grpSpPr>
          <a:xfrm>
            <a:off x="5246667" y="936811"/>
            <a:ext cx="1740309" cy="1681315"/>
            <a:chOff x="5014451" y="840658"/>
            <a:chExt cx="1902545" cy="1946787"/>
          </a:xfrm>
        </p:grpSpPr>
        <p:sp>
          <p:nvSpPr>
            <p:cNvPr id="39" name="流程图: 过程 38"/>
            <p:cNvSpPr/>
            <p:nvPr/>
          </p:nvSpPr>
          <p:spPr>
            <a:xfrm>
              <a:off x="5014451" y="840658"/>
              <a:ext cx="1902543" cy="1946787"/>
            </a:xfrm>
            <a:prstGeom prst="flowChartProcess">
              <a:avLst/>
            </a:prstGeom>
            <a:solidFill>
              <a:srgbClr val="00B0F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0" name="直接连接符 39"/>
            <p:cNvCxnSpPr>
              <a:stCxn id="39" idx="1"/>
            </p:cNvCxnSpPr>
            <p:nvPr/>
          </p:nvCxnSpPr>
          <p:spPr>
            <a:xfrm>
              <a:off x="5014451" y="1814052"/>
              <a:ext cx="1902545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>
              <a:stCxn id="39" idx="0"/>
              <a:endCxn id="39" idx="2"/>
            </p:cNvCxnSpPr>
            <p:nvPr/>
          </p:nvCxnSpPr>
          <p:spPr>
            <a:xfrm>
              <a:off x="5965723" y="840658"/>
              <a:ext cx="0" cy="1946787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文本框 5"/>
          <p:cNvSpPr txBox="1"/>
          <p:nvPr/>
        </p:nvSpPr>
        <p:spPr>
          <a:xfrm>
            <a:off x="3247473" y="1177302"/>
            <a:ext cx="114511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2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当众             的艺术</a:t>
            </a:r>
            <a:endParaRPr lang="zh-CN" altLang="en-US" sz="7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049990" y="2922698"/>
            <a:ext cx="335537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b="1" dirty="0" smtClean="0">
                <a:solidFill>
                  <a:schemeClr val="bg1"/>
                </a:solidFill>
              </a:rPr>
              <a:t>John   Hasling</a:t>
            </a:r>
            <a:endParaRPr lang="zh-CN" altLang="en-US" sz="4400" b="1" dirty="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734238" y="3765487"/>
            <a:ext cx="26711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By</a:t>
            </a:r>
            <a:r>
              <a:rPr lang="en-US" altLang="zh-CN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@ME</a:t>
            </a:r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李小可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椭圆 2"/>
          <p:cNvSpPr/>
          <p:nvPr/>
        </p:nvSpPr>
        <p:spPr>
          <a:xfrm rot="21439353">
            <a:off x="1261833" y="4365746"/>
            <a:ext cx="678426" cy="66446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 rot="21439353">
            <a:off x="1630973" y="5023395"/>
            <a:ext cx="50800" cy="740376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rot="21439353">
            <a:off x="1624464" y="5227561"/>
            <a:ext cx="457200" cy="332045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rot="21439353" flipH="1">
            <a:off x="1317160" y="5191981"/>
            <a:ext cx="332456" cy="367625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 rot="21439353">
            <a:off x="1692374" y="5678814"/>
            <a:ext cx="288413" cy="64138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rot="21439353" flipH="1">
            <a:off x="1476373" y="5683055"/>
            <a:ext cx="222460" cy="64138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梯形 25"/>
          <p:cNvSpPr/>
          <p:nvPr/>
        </p:nvSpPr>
        <p:spPr>
          <a:xfrm rot="14494902">
            <a:off x="2249388" y="4143778"/>
            <a:ext cx="443624" cy="545193"/>
          </a:xfrm>
          <a:prstGeom prst="trapezoid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闪电形 33"/>
          <p:cNvSpPr/>
          <p:nvPr/>
        </p:nvSpPr>
        <p:spPr>
          <a:xfrm rot="2826580">
            <a:off x="2626287" y="3707130"/>
            <a:ext cx="267937" cy="252066"/>
          </a:xfrm>
          <a:prstGeom prst="lightningBol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闪电形 34"/>
          <p:cNvSpPr/>
          <p:nvPr/>
        </p:nvSpPr>
        <p:spPr>
          <a:xfrm rot="9057415">
            <a:off x="2894855" y="4287603"/>
            <a:ext cx="339130" cy="269238"/>
          </a:xfrm>
          <a:prstGeom prst="lightningBol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闪电形 35"/>
          <p:cNvSpPr/>
          <p:nvPr/>
        </p:nvSpPr>
        <p:spPr>
          <a:xfrm rot="5968690">
            <a:off x="2935022" y="3867745"/>
            <a:ext cx="330244" cy="261935"/>
          </a:xfrm>
          <a:prstGeom prst="lightningBol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/>
          <p:cNvSpPr/>
          <p:nvPr/>
        </p:nvSpPr>
        <p:spPr>
          <a:xfrm rot="20155504">
            <a:off x="2646295" y="4045689"/>
            <a:ext cx="115086" cy="463053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1699038" y="4608624"/>
            <a:ext cx="183271" cy="136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 flipV="1">
            <a:off x="1955409" y="6325631"/>
            <a:ext cx="133350" cy="95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 flipV="1">
            <a:off x="1454253" y="6324681"/>
            <a:ext cx="133350" cy="95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26"/>
          <p:cNvGrpSpPr/>
          <p:nvPr/>
        </p:nvGrpSpPr>
        <p:grpSpPr>
          <a:xfrm>
            <a:off x="6856584" y="936810"/>
            <a:ext cx="1740309" cy="1681315"/>
            <a:chOff x="5014451" y="840658"/>
            <a:chExt cx="1902545" cy="1946787"/>
          </a:xfrm>
        </p:grpSpPr>
        <p:sp>
          <p:nvSpPr>
            <p:cNvPr id="11" name="流程图: 过程 10"/>
            <p:cNvSpPr/>
            <p:nvPr/>
          </p:nvSpPr>
          <p:spPr>
            <a:xfrm>
              <a:off x="5014451" y="840658"/>
              <a:ext cx="1902543" cy="1946787"/>
            </a:xfrm>
            <a:prstGeom prst="flowChartProcess">
              <a:avLst/>
            </a:prstGeom>
            <a:solidFill>
              <a:srgbClr val="00B0F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4" name="直接连接符 13"/>
            <p:cNvCxnSpPr>
              <a:stCxn id="11" idx="1"/>
              <a:endCxn id="24" idx="1"/>
            </p:cNvCxnSpPr>
            <p:nvPr/>
          </p:nvCxnSpPr>
          <p:spPr>
            <a:xfrm>
              <a:off x="5014451" y="1814052"/>
              <a:ext cx="1902545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>
              <a:stCxn id="11" idx="0"/>
              <a:endCxn id="11" idx="2"/>
            </p:cNvCxnSpPr>
            <p:nvPr/>
          </p:nvCxnSpPr>
          <p:spPr>
            <a:xfrm>
              <a:off x="5965723" y="840658"/>
              <a:ext cx="0" cy="1946787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文本框 3"/>
          <p:cNvSpPr txBox="1"/>
          <p:nvPr/>
        </p:nvSpPr>
        <p:spPr>
          <a:xfrm>
            <a:off x="5005997" y="568527"/>
            <a:ext cx="6087986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3800" b="1" dirty="0" smtClean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讲话</a:t>
            </a:r>
            <a:endParaRPr lang="zh-CN" altLang="en-US" sz="13800" b="1" dirty="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82869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334496">
            <a:off x="805937" y="1540942"/>
            <a:ext cx="11120068" cy="5584420"/>
          </a:xfrm>
          <a:prstGeom prst="rect">
            <a:avLst/>
          </a:prstGeom>
        </p:spPr>
      </p:pic>
      <p:sp>
        <p:nvSpPr>
          <p:cNvPr id="6" name="弦形 5"/>
          <p:cNvSpPr/>
          <p:nvPr/>
        </p:nvSpPr>
        <p:spPr>
          <a:xfrm rot="15881712">
            <a:off x="398410" y="-2796660"/>
            <a:ext cx="5091599" cy="5036995"/>
          </a:xfrm>
          <a:prstGeom prst="chord">
            <a:avLst>
              <a:gd name="adj1" fmla="val 6071748"/>
              <a:gd name="adj2" fmla="val 16163654"/>
            </a:avLst>
          </a:prstGeom>
          <a:solidFill>
            <a:srgbClr val="A5A5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805787" y="478691"/>
            <a:ext cx="57289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 篇 精 彩 的 演 讲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01226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676A">
            <a:alpha val="89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4070198" y="1596039"/>
            <a:ext cx="2332318" cy="2332318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7198569" y="2690280"/>
            <a:ext cx="1750928" cy="1749956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" name="椭圆 3"/>
          <p:cNvSpPr/>
          <p:nvPr/>
        </p:nvSpPr>
        <p:spPr>
          <a:xfrm>
            <a:off x="1272478" y="2690280"/>
            <a:ext cx="1750928" cy="1749956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1424024" y="3284717"/>
            <a:ext cx="138371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rgbClr val="F567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听 </a:t>
            </a:r>
            <a:r>
              <a:rPr lang="zh-CN" altLang="en-US" sz="3600" b="1" dirty="0" smtClean="0">
                <a:solidFill>
                  <a:srgbClr val="F567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众</a:t>
            </a:r>
            <a:endParaRPr lang="en-US" altLang="zh-CN" sz="3600" b="1" dirty="0">
              <a:solidFill>
                <a:srgbClr val="F567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570917" y="2143492"/>
            <a:ext cx="133088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3600" b="1" dirty="0">
                <a:solidFill>
                  <a:srgbClr val="F567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 讲 </a:t>
            </a:r>
            <a:endParaRPr lang="en-US" altLang="zh-CN" sz="3600" b="1" dirty="0" smtClean="0">
              <a:solidFill>
                <a:srgbClr val="F567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/>
            <a:r>
              <a:rPr lang="zh-CN" altLang="en-US" sz="3600" b="1" dirty="0" smtClean="0">
                <a:solidFill>
                  <a:srgbClr val="F567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 </a:t>
            </a:r>
            <a:r>
              <a:rPr lang="zh-CN" altLang="en-US" sz="3600" b="1" dirty="0">
                <a:solidFill>
                  <a:srgbClr val="F567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息</a:t>
            </a:r>
            <a:endParaRPr lang="en-US" altLang="zh-CN" sz="3600" b="1" dirty="0">
              <a:solidFill>
                <a:srgbClr val="F567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298862" y="2174031"/>
            <a:ext cx="178900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3600" b="1" dirty="0">
              <a:solidFill>
                <a:srgbClr val="F567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3600" b="1" dirty="0">
              <a:solidFill>
                <a:srgbClr val="F567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3600" b="1" dirty="0" smtClean="0">
                <a:solidFill>
                  <a:srgbClr val="F567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演讲者 </a:t>
            </a:r>
            <a:endParaRPr lang="zh-CN" altLang="en-US" sz="3600" b="1" dirty="0">
              <a:solidFill>
                <a:srgbClr val="F567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 flipH="1">
            <a:off x="612458" y="-146000"/>
            <a:ext cx="4009" cy="1724077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1272478" y="712219"/>
            <a:ext cx="34511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cxnSp>
        <p:nvCxnSpPr>
          <p:cNvPr id="24" name="直接连接符 23"/>
          <p:cNvCxnSpPr/>
          <p:nvPr/>
        </p:nvCxnSpPr>
        <p:spPr>
          <a:xfrm>
            <a:off x="925277" y="0"/>
            <a:ext cx="12797" cy="878503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图片 17"/>
          <p:cNvPicPr>
            <a:picLocks noChangeAspect="1" noChangeArrowheads="1"/>
          </p:cNvPicPr>
          <p:nvPr/>
        </p:nvPicPr>
        <p:blipFill>
          <a:blip r:embed="rId2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780"/>
          <a:stretch>
            <a:fillRect/>
          </a:stretch>
        </p:blipFill>
        <p:spPr bwMode="auto">
          <a:xfrm>
            <a:off x="8949497" y="1019865"/>
            <a:ext cx="3156155" cy="3384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" name="图片 3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6557" y="5865963"/>
            <a:ext cx="968778" cy="386015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0810" y="5243194"/>
            <a:ext cx="848684" cy="354904"/>
          </a:xfrm>
          <a:prstGeom prst="rect">
            <a:avLst/>
          </a:prstGeom>
        </p:spPr>
      </p:pic>
      <p:pic>
        <p:nvPicPr>
          <p:cNvPr id="39" name="图片 3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473" y="5756425"/>
            <a:ext cx="715760" cy="299318"/>
          </a:xfrm>
          <a:prstGeom prst="rect">
            <a:avLst/>
          </a:prstGeom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3390" y="5865963"/>
            <a:ext cx="923079" cy="386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356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A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103141" y="492191"/>
            <a:ext cx="26165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交流过程</a:t>
            </a:r>
            <a:endParaRPr lang="zh-CN" altLang="en-US" sz="3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192693" y="1809064"/>
            <a:ext cx="26165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信息质量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117059" y="775383"/>
            <a:ext cx="40116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有组织的沟通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954216" y="2132230"/>
            <a:ext cx="261659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inventio</a:t>
            </a:r>
            <a:endParaRPr lang="zh-CN" altLang="en-US" sz="4400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691615" y="3943370"/>
            <a:ext cx="26165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后勤信息</a:t>
            </a:r>
            <a:endParaRPr lang="zh-CN" altLang="en-US" sz="4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914227" y="2846894"/>
            <a:ext cx="26165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人员信息</a:t>
            </a:r>
            <a:endParaRPr lang="zh-CN" altLang="en-US" sz="3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192693" y="3907475"/>
            <a:ext cx="54336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让你的演讲适应听众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30811" y="3081953"/>
            <a:ext cx="26165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尊重听众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954216" y="5672199"/>
            <a:ext cx="59535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zh-CN" altLang="en-US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你无法改变的差异放在一边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70619" y="4989453"/>
            <a:ext cx="59535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多元化文化的影响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030577" y="5620418"/>
            <a:ext cx="59535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了解你自己和别人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0" y="21315"/>
            <a:ext cx="12182993" cy="6858000"/>
          </a:xfrm>
          <a:prstGeom prst="rect">
            <a:avLst/>
          </a:prstGeom>
          <a:solidFill>
            <a:srgbClr val="00AEFF">
              <a:alpha val="4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3322339" y="633933"/>
            <a:ext cx="5217317" cy="5217317"/>
          </a:xfrm>
          <a:prstGeom prst="ellipse">
            <a:avLst/>
          </a:prstGeom>
          <a:solidFill>
            <a:schemeClr val="accent1">
              <a:lumMod val="20000"/>
              <a:lumOff val="80000"/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4006948" y="1584698"/>
            <a:ext cx="61897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沟通始于听众</a:t>
            </a:r>
            <a:endParaRPr lang="zh-CN" altLang="en-US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316877" y="2954219"/>
            <a:ext cx="61897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准备见听众</a:t>
            </a:r>
            <a:endParaRPr lang="zh-CN" altLang="en-US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316877" y="4267448"/>
            <a:ext cx="61897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发现共同点</a:t>
            </a:r>
            <a:endParaRPr lang="zh-CN" altLang="en-US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62544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FE4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4228989" y="149358"/>
            <a:ext cx="6559747" cy="6559747"/>
          </a:xfrm>
          <a:prstGeom prst="ellipse">
            <a:avLst/>
          </a:prstGeom>
          <a:solidFill>
            <a:schemeClr val="accent4">
              <a:lumMod val="20000"/>
              <a:lumOff val="80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5249220" y="1393118"/>
            <a:ext cx="51841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让你的演讲        听众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5273525" y="2782901"/>
            <a:ext cx="5181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站在听众的          上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4538015" y="4210433"/>
            <a:ext cx="60539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你的演讲要让人们            听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椭圆 46"/>
          <p:cNvSpPr/>
          <p:nvPr/>
        </p:nvSpPr>
        <p:spPr>
          <a:xfrm>
            <a:off x="7697651" y="2535182"/>
            <a:ext cx="1214298" cy="113171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/>
          <p:cNvSpPr txBox="1"/>
          <p:nvPr/>
        </p:nvSpPr>
        <p:spPr>
          <a:xfrm>
            <a:off x="7784202" y="2802020"/>
            <a:ext cx="14673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 smtClean="0">
                <a:solidFill>
                  <a:srgbClr val="9FE4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角度</a:t>
            </a:r>
            <a:endParaRPr lang="zh-CN" altLang="en-US" sz="3600" b="1" dirty="0">
              <a:solidFill>
                <a:srgbClr val="9FE4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4399" y="3810927"/>
            <a:ext cx="1464766" cy="1445341"/>
          </a:xfrm>
          <a:prstGeom prst="rect">
            <a:avLst/>
          </a:prstGeom>
        </p:spPr>
      </p:pic>
      <p:sp>
        <p:nvSpPr>
          <p:cNvPr id="50" name="文本框 49"/>
          <p:cNvSpPr txBox="1"/>
          <p:nvPr/>
        </p:nvSpPr>
        <p:spPr>
          <a:xfrm>
            <a:off x="8455388" y="4133845"/>
            <a:ext cx="15009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dirty="0" smtClean="0">
                <a:solidFill>
                  <a:srgbClr val="9FE4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愿意</a:t>
            </a:r>
            <a:endParaRPr lang="zh-CN" altLang="en-US" sz="4400" b="1" dirty="0">
              <a:solidFill>
                <a:srgbClr val="9FE4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1" name="图片 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890" y="1236620"/>
            <a:ext cx="1021894" cy="959816"/>
          </a:xfrm>
          <a:prstGeom prst="rect">
            <a:avLst/>
          </a:prstGeom>
        </p:spPr>
      </p:pic>
      <p:sp>
        <p:nvSpPr>
          <p:cNvPr id="52" name="文本框 51"/>
          <p:cNvSpPr txBox="1"/>
          <p:nvPr/>
        </p:nvSpPr>
        <p:spPr>
          <a:xfrm>
            <a:off x="7697651" y="1447237"/>
            <a:ext cx="11996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9FE4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适应</a:t>
            </a:r>
          </a:p>
        </p:txBody>
      </p:sp>
      <p:sp>
        <p:nvSpPr>
          <p:cNvPr id="14" name="椭圆 13"/>
          <p:cNvSpPr/>
          <p:nvPr/>
        </p:nvSpPr>
        <p:spPr>
          <a:xfrm>
            <a:off x="2261445" y="2752259"/>
            <a:ext cx="1173192" cy="109317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>
            <a:stCxn id="14" idx="4"/>
          </p:cNvCxnSpPr>
          <p:nvPr/>
        </p:nvCxnSpPr>
        <p:spPr>
          <a:xfrm flipH="1">
            <a:off x="2199590" y="3845432"/>
            <a:ext cx="648451" cy="861826"/>
          </a:xfrm>
          <a:prstGeom prst="line">
            <a:avLst/>
          </a:prstGeom>
          <a:ln w="730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2226939" y="4707258"/>
            <a:ext cx="914400" cy="914400"/>
          </a:xfrm>
          <a:prstGeom prst="line">
            <a:avLst/>
          </a:prstGeom>
          <a:ln w="730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>
            <a:stCxn id="14" idx="4"/>
          </p:cNvCxnSpPr>
          <p:nvPr/>
        </p:nvCxnSpPr>
        <p:spPr>
          <a:xfrm flipV="1">
            <a:off x="2848041" y="3701405"/>
            <a:ext cx="1380948" cy="144027"/>
          </a:xfrm>
          <a:prstGeom prst="line">
            <a:avLst/>
          </a:prstGeom>
          <a:ln w="730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 flipH="1">
            <a:off x="1881830" y="4678228"/>
            <a:ext cx="322994" cy="943430"/>
          </a:xfrm>
          <a:prstGeom prst="line">
            <a:avLst/>
          </a:prstGeom>
          <a:ln w="730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文本框 83"/>
          <p:cNvSpPr txBox="1"/>
          <p:nvPr/>
        </p:nvSpPr>
        <p:spPr>
          <a:xfrm>
            <a:off x="3056983" y="1167158"/>
            <a:ext cx="139667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800" dirty="0" smtClean="0">
                <a:solidFill>
                  <a:schemeClr val="bg1"/>
                </a:solidFill>
              </a:rPr>
              <a:t>“</a:t>
            </a:r>
            <a:endParaRPr lang="zh-CN" altLang="en-US" sz="8800" dirty="0">
              <a:solidFill>
                <a:schemeClr val="bg1"/>
              </a:solidFill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10503071" y="1393118"/>
            <a:ext cx="139667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800" dirty="0" smtClean="0">
                <a:solidFill>
                  <a:schemeClr val="bg1"/>
                </a:solidFill>
              </a:rPr>
              <a:t>”</a:t>
            </a:r>
            <a:endParaRPr lang="zh-CN" altLang="en-US" sz="8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3560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5222487" y="862252"/>
            <a:ext cx="8169415" cy="8169415"/>
          </a:xfrm>
          <a:prstGeom prst="ellipse">
            <a:avLst/>
          </a:prstGeom>
          <a:solidFill>
            <a:srgbClr val="00AE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74766" y="594915"/>
            <a:ext cx="5439966" cy="1298377"/>
          </a:xfrm>
          <a:prstGeom prst="teardrop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>
                <a:solidFill>
                  <a:srgbClr val="00AE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演讲信息</a:t>
            </a:r>
            <a:endParaRPr lang="zh-CN" altLang="en-US" sz="5400" dirty="0">
              <a:solidFill>
                <a:srgbClr val="00AE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674766" y="1752615"/>
            <a:ext cx="4744790" cy="0"/>
          </a:xfrm>
          <a:prstGeom prst="line">
            <a:avLst/>
          </a:prstGeom>
          <a:ln w="34925">
            <a:solidFill>
              <a:srgbClr val="00AE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6192031" y="2364987"/>
            <a:ext cx="61406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当你寻找一个演讲</a:t>
            </a:r>
            <a:r>
              <a:rPr lang="zh-CN" altLang="en-US" sz="32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主题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</a:t>
            </a:r>
            <a:endParaRPr lang="en-US" altLang="zh-CN" sz="2400" dirty="0" smtClean="0">
              <a:solidFill>
                <a:schemeClr val="accent3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可以思考你的个人经历和你喜欢做的事情</a:t>
            </a:r>
            <a:endParaRPr lang="zh-CN" altLang="en-US" sz="2400" dirty="0">
              <a:solidFill>
                <a:schemeClr val="accent3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192031" y="3371734"/>
            <a:ext cx="951422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根据不同的</a:t>
            </a:r>
            <a:r>
              <a:rPr lang="zh-CN" altLang="en-US" sz="32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目的</a:t>
            </a:r>
            <a:endParaRPr lang="en-US" altLang="zh-CN" sz="20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确定不同的演讲形式</a:t>
            </a:r>
            <a:endParaRPr lang="zh-CN" altLang="en-US" sz="2400" dirty="0">
              <a:solidFill>
                <a:schemeClr val="accent3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114732" y="4378481"/>
            <a:ext cx="80958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用开放的心态收集信息</a:t>
            </a:r>
            <a:endParaRPr lang="en-US" altLang="zh-CN" sz="2400" dirty="0" smtClean="0">
              <a:solidFill>
                <a:schemeClr val="accent3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找到论据资料，完成</a:t>
            </a:r>
            <a:r>
              <a:rPr lang="zh-CN" altLang="en-US" sz="32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部分</a:t>
            </a:r>
            <a:endParaRPr lang="zh-CN" altLang="en-US" sz="3200" b="1" dirty="0">
              <a:solidFill>
                <a:srgbClr val="00AE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192031" y="5271772"/>
            <a:ext cx="84658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撰写</a:t>
            </a:r>
            <a:r>
              <a:rPr lang="zh-CN" altLang="en-US" sz="32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大纲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，看清演讲内容的结构</a:t>
            </a:r>
            <a:endParaRPr lang="zh-CN" altLang="en-US" sz="2400" dirty="0">
              <a:solidFill>
                <a:schemeClr val="accent3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71834" y="2075279"/>
            <a:ext cx="43506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rgbClr val="00AE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演讲前足够的</a:t>
            </a:r>
            <a:r>
              <a:rPr lang="zh-CN" altLang="en-US" sz="3200" b="1" dirty="0" smtClean="0">
                <a:solidFill>
                  <a:srgbClr val="00AE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准备工作</a:t>
            </a:r>
            <a:r>
              <a:rPr lang="zh-CN" altLang="en-US" sz="2400" dirty="0" smtClean="0">
                <a:solidFill>
                  <a:srgbClr val="00AE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能让</a:t>
            </a:r>
            <a:endParaRPr lang="zh-CN" altLang="en-US" sz="3200" b="1" dirty="0">
              <a:solidFill>
                <a:srgbClr val="00AE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358531" y="2842041"/>
            <a:ext cx="274947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00AE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你更加</a:t>
            </a:r>
            <a:r>
              <a:rPr lang="zh-CN" altLang="en-US" sz="3200" b="1" dirty="0">
                <a:solidFill>
                  <a:srgbClr val="00AE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从容自如</a:t>
            </a:r>
          </a:p>
        </p:txBody>
      </p:sp>
    </p:spTree>
    <p:extLst>
      <p:ext uri="{BB962C8B-B14F-4D97-AF65-F5344CB8AC3E}">
        <p14:creationId xmlns:p14="http://schemas.microsoft.com/office/powerpoint/2010/main" val="2499248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8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椭圆 31"/>
          <p:cNvSpPr/>
          <p:nvPr/>
        </p:nvSpPr>
        <p:spPr>
          <a:xfrm>
            <a:off x="5222487" y="862252"/>
            <a:ext cx="8169415" cy="8169415"/>
          </a:xfrm>
          <a:prstGeom prst="ellipse">
            <a:avLst/>
          </a:prstGeom>
          <a:solidFill>
            <a:schemeClr val="accent4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242113" y="626086"/>
            <a:ext cx="48845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2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综 合</a:t>
            </a:r>
            <a:r>
              <a:rPr lang="zh-CN" altLang="en-US" sz="4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式演讲</a:t>
            </a:r>
            <a:endParaRPr lang="zh-CN" altLang="en-US" sz="4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448501" y="2160432"/>
            <a:ext cx="63643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包含</a:t>
            </a:r>
            <a:r>
              <a:rPr lang="zh-CN" altLang="en-US" sz="32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</a:t>
            </a:r>
            <a:r>
              <a:rPr lang="zh-CN" altLang="en-US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32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幽默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74038" y="2815024"/>
            <a:ext cx="1222257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28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以一种</a:t>
            </a:r>
            <a:r>
              <a:rPr lang="zh-CN" altLang="en-US" sz="32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激励人心</a:t>
            </a:r>
            <a:r>
              <a:rPr lang="zh-CN" altLang="en-US" sz="28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的方式表达出来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456303" y="1933518"/>
            <a:ext cx="5501991" cy="0"/>
          </a:xfrm>
          <a:prstGeom prst="line">
            <a:avLst/>
          </a:prstGeom>
          <a:ln w="349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椭圆 27"/>
          <p:cNvSpPr/>
          <p:nvPr/>
        </p:nvSpPr>
        <p:spPr>
          <a:xfrm>
            <a:off x="8448745" y="4528693"/>
            <a:ext cx="416959" cy="4278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椭圆 28"/>
          <p:cNvSpPr/>
          <p:nvPr/>
        </p:nvSpPr>
        <p:spPr>
          <a:xfrm>
            <a:off x="9629435" y="4458794"/>
            <a:ext cx="163494" cy="13979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椭圆 29"/>
          <p:cNvSpPr/>
          <p:nvPr/>
        </p:nvSpPr>
        <p:spPr>
          <a:xfrm flipH="1">
            <a:off x="10214274" y="3633471"/>
            <a:ext cx="133207" cy="1219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/>
          <p:cNvSpPr/>
          <p:nvPr/>
        </p:nvSpPr>
        <p:spPr>
          <a:xfrm>
            <a:off x="7169853" y="1747993"/>
            <a:ext cx="2337730" cy="23377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7390851" y="2254291"/>
            <a:ext cx="2619477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</a:t>
            </a:r>
            <a:r>
              <a:rPr lang="zh-CN" altLang="en-US" sz="4000" dirty="0" smtClean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式</a:t>
            </a:r>
            <a:endParaRPr lang="en-US" altLang="zh-CN" sz="4000" dirty="0" smtClean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40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4000" dirty="0" smtClean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4000" dirty="0" smtClean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演讲</a:t>
            </a:r>
            <a:endParaRPr lang="en-US" altLang="zh-CN" sz="2800" dirty="0" smtClean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8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dirty="0" smtClean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</a:t>
            </a:r>
            <a:endParaRPr lang="zh-CN" altLang="en-US" sz="2800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9733902" y="2012930"/>
            <a:ext cx="299146" cy="29914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6247861" y="4224061"/>
            <a:ext cx="2404949" cy="240494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0033048" y="1915359"/>
            <a:ext cx="1747390" cy="174739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9874235" y="4003908"/>
            <a:ext cx="2074643" cy="207464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10257294" y="2393248"/>
            <a:ext cx="275962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 smtClean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劝说</a:t>
            </a:r>
            <a:r>
              <a:rPr lang="zh-CN" altLang="en-US" sz="2800" dirty="0" smtClean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式</a:t>
            </a:r>
            <a:endParaRPr lang="en-US" altLang="zh-CN" sz="2800" dirty="0" smtClean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8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800" dirty="0" smtClean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演讲</a:t>
            </a:r>
            <a:endParaRPr lang="zh-CN" altLang="en-US" sz="2800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6642215" y="4818420"/>
            <a:ext cx="2702261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激励</a:t>
            </a:r>
            <a:r>
              <a:rPr lang="zh-CN" altLang="en-US" sz="2800" dirty="0" smtClean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式</a:t>
            </a:r>
            <a:endParaRPr lang="en-US" altLang="zh-CN" sz="2800" dirty="0" smtClean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8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dirty="0" smtClean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800" dirty="0" smtClean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演讲</a:t>
            </a:r>
            <a:endParaRPr lang="zh-CN" altLang="en-US" sz="2800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10159631" y="4493072"/>
            <a:ext cx="4064738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 smtClean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娱乐</a:t>
            </a:r>
            <a:r>
              <a:rPr lang="zh-CN" altLang="en-US" sz="2800" dirty="0" smtClean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式</a:t>
            </a:r>
            <a:endParaRPr lang="en-US" altLang="zh-CN" sz="2800" dirty="0" smtClean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8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dirty="0" smtClean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800" dirty="0" smtClean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演讲</a:t>
            </a:r>
            <a:endParaRPr lang="zh-CN" altLang="en-US" sz="2800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3704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8F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-1338196" y="1186269"/>
            <a:ext cx="7195710" cy="7195710"/>
          </a:xfrm>
          <a:prstGeom prst="ellipse">
            <a:avLst/>
          </a:prstGeom>
          <a:solidFill>
            <a:schemeClr val="accent4">
              <a:lumMod val="20000"/>
              <a:lumOff val="80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7204747" y="338514"/>
            <a:ext cx="414515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</a:t>
            </a:r>
            <a:r>
              <a:rPr lang="zh-CN" altLang="en-US" sz="4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式演</a:t>
            </a:r>
            <a:r>
              <a:rPr lang="zh-CN" altLang="en-US" sz="4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讲</a:t>
            </a:r>
            <a:r>
              <a:rPr lang="en-US" altLang="zh-CN" sz="3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6034209" y="1446510"/>
            <a:ext cx="5879629" cy="55868"/>
          </a:xfrm>
          <a:prstGeom prst="line">
            <a:avLst/>
          </a:prstGeom>
          <a:ln w="349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/>
          <p:cNvSpPr/>
          <p:nvPr/>
        </p:nvSpPr>
        <p:spPr>
          <a:xfrm>
            <a:off x="6756751" y="1996102"/>
            <a:ext cx="36215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zh-CN" altLang="en-US" sz="28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一定</a:t>
            </a:r>
            <a:r>
              <a:rPr lang="zh-CN" altLang="en-US" sz="32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</a:t>
            </a:r>
            <a:r>
              <a:rPr lang="zh-CN" altLang="en-US" sz="28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能带有</a:t>
            </a:r>
            <a:r>
              <a:rPr lang="zh-CN" altLang="en-US" sz="32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主观</a:t>
            </a:r>
            <a:r>
              <a:rPr lang="zh-CN" altLang="en-US" sz="28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</a:t>
            </a:r>
          </a:p>
        </p:txBody>
      </p:sp>
      <p:sp>
        <p:nvSpPr>
          <p:cNvPr id="33" name="矩形 32"/>
          <p:cNvSpPr/>
          <p:nvPr/>
        </p:nvSpPr>
        <p:spPr>
          <a:xfrm>
            <a:off x="6565022" y="2732025"/>
            <a:ext cx="433965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对各种依据给予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同等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重视</a:t>
            </a:r>
          </a:p>
        </p:txBody>
      </p:sp>
      <p:sp>
        <p:nvSpPr>
          <p:cNvPr id="4" name="椭圆 3"/>
          <p:cNvSpPr/>
          <p:nvPr/>
        </p:nvSpPr>
        <p:spPr>
          <a:xfrm>
            <a:off x="888831" y="1768384"/>
            <a:ext cx="2105705" cy="210570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3114391" y="2748509"/>
            <a:ext cx="2035615" cy="203561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545245" y="4326778"/>
            <a:ext cx="2084611" cy="208461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3547684" y="3166153"/>
            <a:ext cx="12388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 smtClean="0">
                <a:solidFill>
                  <a:srgbClr val="48F65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说明要点</a:t>
            </a:r>
            <a:endParaRPr lang="zh-CN" altLang="en-US" sz="3600" b="1" dirty="0">
              <a:solidFill>
                <a:srgbClr val="48F65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002203" y="4794671"/>
            <a:ext cx="12388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 smtClean="0">
                <a:solidFill>
                  <a:srgbClr val="48F65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中立态度</a:t>
            </a:r>
            <a:endParaRPr lang="zh-CN" altLang="en-US" sz="3600" b="1" dirty="0">
              <a:solidFill>
                <a:srgbClr val="48F65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322252" y="2221073"/>
            <a:ext cx="12388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 smtClean="0">
                <a:solidFill>
                  <a:srgbClr val="48F65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熟悉主题</a:t>
            </a:r>
            <a:endParaRPr lang="zh-CN" altLang="en-US" sz="3600" b="1" dirty="0">
              <a:solidFill>
                <a:srgbClr val="48F65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2574904" y="5177354"/>
            <a:ext cx="383458" cy="38345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2801176" y="4173122"/>
            <a:ext cx="193360" cy="19336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347113" y="2339444"/>
            <a:ext cx="343586" cy="34358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5025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365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椭圆 15"/>
          <p:cNvSpPr/>
          <p:nvPr/>
        </p:nvSpPr>
        <p:spPr>
          <a:xfrm>
            <a:off x="-1338196" y="1186269"/>
            <a:ext cx="7195710" cy="7195710"/>
          </a:xfrm>
          <a:prstGeom prst="ellipse">
            <a:avLst/>
          </a:prstGeom>
          <a:solidFill>
            <a:schemeClr val="accent4">
              <a:lumMod val="20000"/>
              <a:lumOff val="80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888831" y="1768384"/>
            <a:ext cx="2105705" cy="210570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3114391" y="2748509"/>
            <a:ext cx="2035615" cy="203561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545245" y="4326778"/>
            <a:ext cx="2084611" cy="208461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2574904" y="5177354"/>
            <a:ext cx="383458" cy="38345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/>
        </p:nvSpPr>
        <p:spPr>
          <a:xfrm>
            <a:off x="2801176" y="4173122"/>
            <a:ext cx="193360" cy="19336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347113" y="2339444"/>
            <a:ext cx="343586" cy="34358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7204747" y="338514"/>
            <a:ext cx="414515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劝说</a:t>
            </a:r>
            <a:r>
              <a:rPr lang="zh-CN" altLang="en-US" sz="4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式演</a:t>
            </a:r>
            <a:r>
              <a:rPr lang="zh-CN" altLang="en-US" sz="4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讲</a:t>
            </a:r>
            <a:r>
              <a:rPr lang="en-US" altLang="zh-CN" sz="3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6034209" y="1446510"/>
            <a:ext cx="5879629" cy="55868"/>
          </a:xfrm>
          <a:prstGeom prst="line">
            <a:avLst/>
          </a:prstGeom>
          <a:ln w="349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/>
          <p:cNvSpPr/>
          <p:nvPr/>
        </p:nvSpPr>
        <p:spPr>
          <a:xfrm>
            <a:off x="6565022" y="1906716"/>
            <a:ext cx="531427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zh-CN" altLang="en-US" sz="28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支持</a:t>
            </a:r>
            <a:r>
              <a:rPr lang="zh-CN" altLang="en-US" sz="32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争议</a:t>
            </a:r>
            <a:r>
              <a:rPr lang="zh-CN" altLang="en-US" sz="28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性问题一方观点的演说</a:t>
            </a:r>
          </a:p>
        </p:txBody>
      </p:sp>
      <p:sp>
        <p:nvSpPr>
          <p:cNvPr id="33" name="矩形 32"/>
          <p:cNvSpPr/>
          <p:nvPr/>
        </p:nvSpPr>
        <p:spPr>
          <a:xfrm>
            <a:off x="7529091" y="2822661"/>
            <a:ext cx="349647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归纳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法         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演绎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法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624252" y="3166153"/>
            <a:ext cx="12388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 smtClean="0">
                <a:solidFill>
                  <a:srgbClr val="A365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建立论证</a:t>
            </a:r>
            <a:endParaRPr lang="zh-CN" altLang="en-US" sz="3600" b="1" dirty="0">
              <a:solidFill>
                <a:srgbClr val="A365D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1044666" y="4768918"/>
            <a:ext cx="12388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 smtClean="0">
                <a:solidFill>
                  <a:srgbClr val="A365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情感诉求</a:t>
            </a:r>
            <a:endParaRPr lang="zh-CN" altLang="en-US" sz="3600" b="1" dirty="0">
              <a:solidFill>
                <a:srgbClr val="A365D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1390991" y="2223112"/>
            <a:ext cx="12388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 smtClean="0">
                <a:solidFill>
                  <a:srgbClr val="A365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选取立场</a:t>
            </a:r>
            <a:endParaRPr lang="zh-CN" altLang="en-US" sz="3600" b="1" dirty="0">
              <a:solidFill>
                <a:srgbClr val="A365D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72919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DF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>
            <a:off x="6973906" y="-1165672"/>
            <a:ext cx="6036472" cy="6036472"/>
          </a:xfrm>
          <a:prstGeom prst="ellipse">
            <a:avLst/>
          </a:prstGeom>
          <a:solidFill>
            <a:schemeClr val="accent1">
              <a:lumMod val="20000"/>
              <a:lumOff val="80000"/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7579850" y="766631"/>
            <a:ext cx="90051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 smtClean="0">
                <a:solidFill>
                  <a:srgbClr val="4CDFE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想让别人聆听的欲望</a:t>
            </a:r>
            <a:endParaRPr lang="zh-CN" altLang="en-US" sz="3600" b="1" dirty="0">
              <a:solidFill>
                <a:srgbClr val="4CDFE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788786" y="1852564"/>
            <a:ext cx="60121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 smtClean="0">
                <a:solidFill>
                  <a:srgbClr val="4CDFE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建立新的自我形象</a:t>
            </a:r>
            <a:endParaRPr lang="zh-CN" altLang="en-US" sz="3600" b="1" dirty="0">
              <a:solidFill>
                <a:srgbClr val="4CDFE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160537" y="2938497"/>
            <a:ext cx="62723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 smtClean="0">
                <a:solidFill>
                  <a:srgbClr val="4CDFE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赋予全新形象</a:t>
            </a:r>
            <a:endParaRPr lang="zh-CN" altLang="en-US" sz="3600" b="1" dirty="0">
              <a:solidFill>
                <a:srgbClr val="4CDFE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172238" y="2412727"/>
            <a:ext cx="27268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演讲者</a:t>
            </a:r>
            <a:endParaRPr lang="zh-CN" altLang="en-US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831642" y="3328819"/>
            <a:ext cx="4881716" cy="33625"/>
          </a:xfrm>
          <a:prstGeom prst="line">
            <a:avLst/>
          </a:prstGeom>
          <a:ln w="349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1033333" y="3812778"/>
            <a:ext cx="513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积极</a:t>
            </a:r>
            <a:r>
              <a:rPr lang="zh-CN" altLang="en-US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的态度有助于缓解焦虑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642933" y="4662204"/>
            <a:ext cx="3683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符合</a:t>
            </a:r>
            <a:r>
              <a:rPr lang="zh-CN" altLang="en-US" sz="32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道德</a:t>
            </a:r>
            <a:r>
              <a:rPr lang="zh-CN" altLang="en-US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标准的言语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713358" y="1089796"/>
            <a:ext cx="835046" cy="828486"/>
          </a:xfrm>
          <a:prstGeom prst="ellipse">
            <a:avLst/>
          </a:prstGeom>
          <a:solidFill>
            <a:schemeClr val="accent1">
              <a:lumMod val="20000"/>
              <a:lumOff val="80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6120477" y="3158972"/>
            <a:ext cx="835046" cy="828486"/>
          </a:xfrm>
          <a:prstGeom prst="ellipse">
            <a:avLst/>
          </a:prstGeom>
          <a:solidFill>
            <a:schemeClr val="accent1">
              <a:lumMod val="20000"/>
              <a:lumOff val="80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7579850" y="4696120"/>
            <a:ext cx="835046" cy="828486"/>
          </a:xfrm>
          <a:prstGeom prst="ellipse">
            <a:avLst/>
          </a:prstGeom>
          <a:solidFill>
            <a:schemeClr val="accent1">
              <a:lumMod val="20000"/>
              <a:lumOff val="80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/>
          <p:cNvSpPr/>
          <p:nvPr/>
        </p:nvSpPr>
        <p:spPr>
          <a:xfrm>
            <a:off x="9872283" y="5233101"/>
            <a:ext cx="835046" cy="828486"/>
          </a:xfrm>
          <a:prstGeom prst="ellipse">
            <a:avLst/>
          </a:prstGeom>
          <a:solidFill>
            <a:schemeClr val="accent1">
              <a:lumMod val="20000"/>
              <a:lumOff val="80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4399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8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椭圆 14"/>
          <p:cNvSpPr/>
          <p:nvPr/>
        </p:nvSpPr>
        <p:spPr>
          <a:xfrm>
            <a:off x="6973906" y="-1165672"/>
            <a:ext cx="6036472" cy="6036472"/>
          </a:xfrm>
          <a:prstGeom prst="ellipse">
            <a:avLst/>
          </a:prstGeom>
          <a:solidFill>
            <a:schemeClr val="accent2">
              <a:lumMod val="20000"/>
              <a:lumOff val="80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5713358" y="1089796"/>
            <a:ext cx="835046" cy="828486"/>
          </a:xfrm>
          <a:prstGeom prst="ellipse">
            <a:avLst/>
          </a:prstGeom>
          <a:solidFill>
            <a:schemeClr val="accent2">
              <a:lumMod val="20000"/>
              <a:lumOff val="8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6120477" y="3158972"/>
            <a:ext cx="835046" cy="828486"/>
          </a:xfrm>
          <a:prstGeom prst="ellipse">
            <a:avLst/>
          </a:prstGeom>
          <a:solidFill>
            <a:schemeClr val="accent2">
              <a:lumMod val="20000"/>
              <a:lumOff val="8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/>
          <p:cNvSpPr/>
          <p:nvPr/>
        </p:nvSpPr>
        <p:spPr>
          <a:xfrm>
            <a:off x="7579850" y="4696120"/>
            <a:ext cx="835046" cy="828486"/>
          </a:xfrm>
          <a:prstGeom prst="ellipse">
            <a:avLst/>
          </a:prstGeom>
          <a:solidFill>
            <a:schemeClr val="accent2">
              <a:lumMod val="20000"/>
              <a:lumOff val="8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/>
          <p:cNvSpPr/>
          <p:nvPr/>
        </p:nvSpPr>
        <p:spPr>
          <a:xfrm>
            <a:off x="9872283" y="5233101"/>
            <a:ext cx="835046" cy="828486"/>
          </a:xfrm>
          <a:prstGeom prst="ellipse">
            <a:avLst/>
          </a:prstGeom>
          <a:solidFill>
            <a:schemeClr val="accent2">
              <a:lumMod val="20000"/>
              <a:lumOff val="8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8132007" y="766631"/>
            <a:ext cx="90051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rgbClr val="FF8E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视觉工具的力量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8620713" y="1852563"/>
            <a:ext cx="60121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 smtClean="0">
                <a:solidFill>
                  <a:srgbClr val="FF8E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非语言沟通</a:t>
            </a:r>
            <a:endParaRPr lang="zh-CN" altLang="en-US" sz="3600" b="1" dirty="0">
              <a:solidFill>
                <a:srgbClr val="FF8E1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974846" y="2893478"/>
            <a:ext cx="62723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 smtClean="0">
                <a:solidFill>
                  <a:srgbClr val="FF8E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有声沟通</a:t>
            </a:r>
            <a:endParaRPr lang="zh-CN" altLang="en-US" sz="3600" b="1" dirty="0">
              <a:solidFill>
                <a:srgbClr val="FF8E1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101196" y="2351183"/>
            <a:ext cx="27268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发表演讲</a:t>
            </a:r>
            <a:endParaRPr lang="zh-CN" altLang="en-US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831642" y="3328819"/>
            <a:ext cx="4881716" cy="33625"/>
          </a:xfrm>
          <a:prstGeom prst="line">
            <a:avLst/>
          </a:prstGeom>
          <a:ln w="349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970243" y="3584828"/>
            <a:ext cx="5130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良好的姿势能让听众看到你</a:t>
            </a:r>
            <a:r>
              <a:rPr lang="zh-CN" altLang="en-US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头  脑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清晰、精力充沛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908251" y="4767160"/>
            <a:ext cx="57607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音量、投射、音调、重音、语速</a:t>
            </a:r>
          </a:p>
        </p:txBody>
      </p:sp>
    </p:spTree>
    <p:extLst>
      <p:ext uri="{BB962C8B-B14F-4D97-AF65-F5344CB8AC3E}">
        <p14:creationId xmlns:p14="http://schemas.microsoft.com/office/powerpoint/2010/main" val="1133281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7B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7568553" y="834003"/>
            <a:ext cx="896699" cy="904523"/>
            <a:chOff x="5014451" y="840658"/>
            <a:chExt cx="1902545" cy="1946787"/>
          </a:xfrm>
          <a:solidFill>
            <a:srgbClr val="FB7BBB"/>
          </a:solidFill>
        </p:grpSpPr>
        <p:sp>
          <p:nvSpPr>
            <p:cNvPr id="15" name="流程图: 过程 14"/>
            <p:cNvSpPr/>
            <p:nvPr/>
          </p:nvSpPr>
          <p:spPr>
            <a:xfrm>
              <a:off x="5014451" y="840658"/>
              <a:ext cx="1902543" cy="1946787"/>
            </a:xfrm>
            <a:prstGeom prst="flowChartProcess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6" name="直接连接符 15"/>
            <p:cNvCxnSpPr>
              <a:stCxn id="15" idx="1"/>
            </p:cNvCxnSpPr>
            <p:nvPr/>
          </p:nvCxnSpPr>
          <p:spPr>
            <a:xfrm>
              <a:off x="5014451" y="1814052"/>
              <a:ext cx="1902545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>
              <a:stCxn id="15" idx="0"/>
              <a:endCxn id="15" idx="2"/>
            </p:cNvCxnSpPr>
            <p:nvPr/>
          </p:nvCxnSpPr>
          <p:spPr>
            <a:xfrm>
              <a:off x="5965723" y="840658"/>
              <a:ext cx="0" cy="1946787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组合 21"/>
          <p:cNvGrpSpPr/>
          <p:nvPr/>
        </p:nvGrpSpPr>
        <p:grpSpPr>
          <a:xfrm>
            <a:off x="8465250" y="834003"/>
            <a:ext cx="896699" cy="904524"/>
            <a:chOff x="5014451" y="840658"/>
            <a:chExt cx="1902545" cy="1946787"/>
          </a:xfrm>
          <a:solidFill>
            <a:srgbClr val="FB7BBB"/>
          </a:solidFill>
        </p:grpSpPr>
        <p:sp>
          <p:nvSpPr>
            <p:cNvPr id="23" name="流程图: 过程 22"/>
            <p:cNvSpPr/>
            <p:nvPr/>
          </p:nvSpPr>
          <p:spPr>
            <a:xfrm>
              <a:off x="5014451" y="840658"/>
              <a:ext cx="1902543" cy="1946787"/>
            </a:xfrm>
            <a:prstGeom prst="flowChartProcess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4" name="直接连接符 23"/>
            <p:cNvCxnSpPr>
              <a:stCxn id="23" idx="1"/>
            </p:cNvCxnSpPr>
            <p:nvPr/>
          </p:nvCxnSpPr>
          <p:spPr>
            <a:xfrm>
              <a:off x="5014451" y="1814052"/>
              <a:ext cx="1902545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>
              <a:stCxn id="23" idx="0"/>
              <a:endCxn id="23" idx="2"/>
            </p:cNvCxnSpPr>
            <p:nvPr/>
          </p:nvCxnSpPr>
          <p:spPr>
            <a:xfrm>
              <a:off x="5965723" y="840658"/>
              <a:ext cx="0" cy="1946787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/>
        </p:nvGrpSpPr>
        <p:grpSpPr>
          <a:xfrm>
            <a:off x="9347117" y="837568"/>
            <a:ext cx="896699" cy="900958"/>
            <a:chOff x="5014451" y="840658"/>
            <a:chExt cx="1902545" cy="1946787"/>
          </a:xfrm>
          <a:solidFill>
            <a:srgbClr val="FB7BBB"/>
          </a:solidFill>
        </p:grpSpPr>
        <p:sp>
          <p:nvSpPr>
            <p:cNvPr id="27" name="流程图: 过程 26"/>
            <p:cNvSpPr/>
            <p:nvPr/>
          </p:nvSpPr>
          <p:spPr>
            <a:xfrm>
              <a:off x="5014451" y="840658"/>
              <a:ext cx="1902543" cy="1946787"/>
            </a:xfrm>
            <a:prstGeom prst="flowChartProcess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8" name="直接连接符 27"/>
            <p:cNvCxnSpPr>
              <a:stCxn id="27" idx="1"/>
            </p:cNvCxnSpPr>
            <p:nvPr/>
          </p:nvCxnSpPr>
          <p:spPr>
            <a:xfrm>
              <a:off x="5014451" y="1814052"/>
              <a:ext cx="1902545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>
              <a:stCxn id="27" idx="0"/>
              <a:endCxn id="27" idx="2"/>
            </p:cNvCxnSpPr>
            <p:nvPr/>
          </p:nvCxnSpPr>
          <p:spPr>
            <a:xfrm>
              <a:off x="5965723" y="840658"/>
              <a:ext cx="0" cy="1946787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组合 29"/>
          <p:cNvGrpSpPr/>
          <p:nvPr/>
        </p:nvGrpSpPr>
        <p:grpSpPr>
          <a:xfrm>
            <a:off x="10243814" y="841132"/>
            <a:ext cx="896699" cy="897394"/>
            <a:chOff x="5014451" y="840658"/>
            <a:chExt cx="1902545" cy="1946787"/>
          </a:xfrm>
          <a:solidFill>
            <a:srgbClr val="FB7BBB"/>
          </a:solidFill>
        </p:grpSpPr>
        <p:sp>
          <p:nvSpPr>
            <p:cNvPr id="31" name="流程图: 过程 30"/>
            <p:cNvSpPr/>
            <p:nvPr/>
          </p:nvSpPr>
          <p:spPr>
            <a:xfrm>
              <a:off x="5014451" y="840658"/>
              <a:ext cx="1902543" cy="1946787"/>
            </a:xfrm>
            <a:prstGeom prst="flowChartProcess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2" name="直接连接符 31"/>
            <p:cNvCxnSpPr>
              <a:stCxn id="31" idx="1"/>
            </p:cNvCxnSpPr>
            <p:nvPr/>
          </p:nvCxnSpPr>
          <p:spPr>
            <a:xfrm>
              <a:off x="5014451" y="1814052"/>
              <a:ext cx="1902545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>
              <a:stCxn id="31" idx="0"/>
              <a:endCxn id="31" idx="2"/>
            </p:cNvCxnSpPr>
            <p:nvPr/>
          </p:nvCxnSpPr>
          <p:spPr>
            <a:xfrm>
              <a:off x="5965723" y="840658"/>
              <a:ext cx="0" cy="1946787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文本框 5"/>
          <p:cNvSpPr txBox="1"/>
          <p:nvPr/>
        </p:nvSpPr>
        <p:spPr>
          <a:xfrm>
            <a:off x="3467820" y="645595"/>
            <a:ext cx="82014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你能面对多少人</a:t>
            </a:r>
            <a:r>
              <a:rPr lang="zh-CN" altLang="en-US" sz="7200" b="1" dirty="0" smtClean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当众讲话</a:t>
            </a:r>
            <a:endParaRPr lang="zh-CN" altLang="en-US" sz="7200" b="1" dirty="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252111" y="2034332"/>
            <a:ext cx="52927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你的事业就会有多大</a:t>
            </a:r>
            <a:endParaRPr lang="zh-CN" altLang="en-US" sz="4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898472" y="2992181"/>
            <a:ext cx="26906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3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丘吉尔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504962" y="3821424"/>
            <a:ext cx="1008419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sz="2800" dirty="0" smtClean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HOW  MANY  PEOPLE  ONE  CAN  TALK  TO  MEANS HOW  MUCH  ACCOMPLISHMENT   HE   MADE.</a:t>
            </a:r>
            <a:endParaRPr lang="zh-CN" altLang="en-US" sz="2800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pSp>
        <p:nvGrpSpPr>
          <p:cNvPr id="10" name="组合 9"/>
          <p:cNvGrpSpPr/>
          <p:nvPr/>
        </p:nvGrpSpPr>
        <p:grpSpPr>
          <a:xfrm rot="20363680">
            <a:off x="690060" y="5378009"/>
            <a:ext cx="954316" cy="666209"/>
            <a:chOff x="956602" y="4189952"/>
            <a:chExt cx="850611" cy="854637"/>
          </a:xfrm>
          <a:solidFill>
            <a:schemeClr val="bg1"/>
          </a:solidFill>
        </p:grpSpPr>
        <p:sp>
          <p:nvSpPr>
            <p:cNvPr id="11" name="矩形 10"/>
            <p:cNvSpPr/>
            <p:nvPr/>
          </p:nvSpPr>
          <p:spPr>
            <a:xfrm>
              <a:off x="956602" y="4443416"/>
              <a:ext cx="364198" cy="34771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直角三角形 11"/>
            <p:cNvSpPr/>
            <p:nvPr/>
          </p:nvSpPr>
          <p:spPr>
            <a:xfrm rot="2866542">
              <a:off x="1110445" y="4347822"/>
              <a:ext cx="854637" cy="538898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弧形 1"/>
          <p:cNvSpPr/>
          <p:nvPr/>
        </p:nvSpPr>
        <p:spPr>
          <a:xfrm rot="475924">
            <a:off x="1351599" y="5276085"/>
            <a:ext cx="503473" cy="833165"/>
          </a:xfrm>
          <a:prstGeom prst="arc">
            <a:avLst>
              <a:gd name="adj1" fmla="val 16200000"/>
              <a:gd name="adj2" fmla="val 503441"/>
            </a:avLst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弧形 2"/>
          <p:cNvSpPr/>
          <p:nvPr/>
        </p:nvSpPr>
        <p:spPr>
          <a:xfrm rot="660380">
            <a:off x="1311213" y="5020333"/>
            <a:ext cx="780517" cy="1371823"/>
          </a:xfrm>
          <a:prstGeom prst="arc">
            <a:avLst>
              <a:gd name="adj1" fmla="val 16200000"/>
              <a:gd name="adj2" fmla="val 255717"/>
            </a:avLst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弧形 12"/>
          <p:cNvSpPr/>
          <p:nvPr/>
        </p:nvSpPr>
        <p:spPr>
          <a:xfrm rot="21203311">
            <a:off x="1469593" y="5396557"/>
            <a:ext cx="180572" cy="541442"/>
          </a:xfrm>
          <a:prstGeom prst="arc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6041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93164" y="1092486"/>
            <a:ext cx="7405675" cy="39151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94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你也想免费得到出版社赠书做</a:t>
            </a:r>
            <a:r>
              <a:rPr lang="en-US" altLang="zh-CN" sz="194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94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读书笔记？</a:t>
            </a:r>
          </a:p>
        </p:txBody>
      </p:sp>
      <p:sp>
        <p:nvSpPr>
          <p:cNvPr id="9" name="右箭头 8"/>
          <p:cNvSpPr/>
          <p:nvPr/>
        </p:nvSpPr>
        <p:spPr>
          <a:xfrm>
            <a:off x="4240772" y="2846588"/>
            <a:ext cx="116641" cy="217027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59">
              <a:solidFill>
                <a:prstClr val="white"/>
              </a:solidFill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6029098" y="2846588"/>
            <a:ext cx="116641" cy="217027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59">
              <a:solidFill>
                <a:prstClr val="white"/>
              </a:solidFill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7895354" y="2846588"/>
            <a:ext cx="116641" cy="217027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59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80129" y="3987081"/>
            <a:ext cx="7405675" cy="1792157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pPr>
              <a:spcBef>
                <a:spcPts val="1459"/>
              </a:spcBef>
            </a:pP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友情提示：马上就去新浪微博</a:t>
            </a:r>
            <a:endParaRPr lang="en-US" altLang="zh-CN" sz="1459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1459"/>
              </a:spcBef>
            </a:pP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1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时间卡片  ，可以看到其它学员读书</a:t>
            </a: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制作约定</a:t>
            </a:r>
            <a:endParaRPr lang="en-US" altLang="zh-CN" sz="1459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972"/>
              </a:spcBef>
            </a:pP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2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</a:t>
            </a: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，可以看到其它学员已经提交的读书</a:t>
            </a: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>
              <a:spcBef>
                <a:spcPts val="972"/>
              </a:spcBef>
            </a:pP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3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、搜</a:t>
            </a: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和秋叶一起学</a:t>
            </a: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PPT#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标签，可以看到其它学员已经提交的作业</a:t>
            </a: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>
              <a:spcBef>
                <a:spcPts val="972"/>
              </a:spcBef>
            </a:pP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4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、国内主流出版社都已经和</a:t>
            </a: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秋叶 老师合作，有本事，不花钱好书随时让你选！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2655091" y="4303808"/>
            <a:ext cx="68818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2480130" y="2291753"/>
            <a:ext cx="1574655" cy="1086374"/>
            <a:chOff x="107380" y="2024805"/>
            <a:chExt cx="1944270" cy="1341376"/>
          </a:xfrm>
        </p:grpSpPr>
        <p:sp>
          <p:nvSpPr>
            <p:cNvPr id="1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59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23410" y="2382196"/>
              <a:ext cx="1728240" cy="94577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</a:t>
              </a:r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99</a:t>
              </a:r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元</a:t>
              </a:r>
              <a:endParaRPr lang="en-US" altLang="zh-CN" sz="1459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网易云课堂</a:t>
              </a:r>
              <a:endParaRPr lang="en-US" altLang="zh-CN" sz="1459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在线课程</a:t>
              </a:r>
              <a:endParaRPr lang="en-US" altLang="zh-CN" sz="1459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07380" y="2060810"/>
              <a:ext cx="504070" cy="3912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4321639" y="2291755"/>
            <a:ext cx="1574655" cy="1279976"/>
            <a:chOff x="107380" y="2024805"/>
            <a:chExt cx="1944270" cy="1580420"/>
          </a:xfrm>
        </p:grpSpPr>
        <p:sp>
          <p:nvSpPr>
            <p:cNvPr id="21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59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323410" y="2382194"/>
              <a:ext cx="1728240" cy="12230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购买后去微博私信</a:t>
              </a:r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秋叶</a:t>
              </a:r>
              <a:endParaRPr lang="en-US" altLang="zh-CN" sz="1459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要福利</a:t>
              </a:r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QQ</a:t>
              </a:r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群号</a:t>
              </a:r>
              <a:endParaRPr lang="en-US" altLang="zh-CN" sz="1459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07380" y="2060811"/>
              <a:ext cx="504070" cy="3912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6132990" y="2291753"/>
            <a:ext cx="1574655" cy="1086374"/>
            <a:chOff x="107380" y="2024805"/>
            <a:chExt cx="1944270" cy="1341376"/>
          </a:xfrm>
        </p:grpSpPr>
        <p:sp>
          <p:nvSpPr>
            <p:cNvPr id="2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59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323410" y="2382196"/>
              <a:ext cx="1728240" cy="94577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新浪微博晒作业被老师肯定奖励内部选书</a:t>
              </a:r>
              <a:endParaRPr lang="en-US" altLang="zh-CN" sz="1459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07380" y="2060810"/>
              <a:ext cx="504070" cy="3912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7953671" y="2291753"/>
            <a:ext cx="1574655" cy="1086374"/>
            <a:chOff x="107380" y="2024805"/>
            <a:chExt cx="1944270" cy="1341376"/>
          </a:xfrm>
        </p:grpSpPr>
        <p:sp>
          <p:nvSpPr>
            <p:cNvPr id="29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59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23410" y="2382196"/>
              <a:ext cx="1728240" cy="94577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出版社寄书到后约</a:t>
              </a:r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时间卡片 晒读书</a:t>
              </a:r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107380" y="2060810"/>
              <a:ext cx="504070" cy="3912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075663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96389" y="3953872"/>
            <a:ext cx="7425927" cy="1301778"/>
            <a:chOff x="0" y="3359571"/>
            <a:chExt cx="9169004" cy="1607344"/>
          </a:xfrm>
        </p:grpSpPr>
        <p:sp>
          <p:nvSpPr>
            <p:cNvPr id="5" name="矩形 4"/>
            <p:cNvSpPr/>
            <p:nvPr/>
          </p:nvSpPr>
          <p:spPr>
            <a:xfrm>
              <a:off x="1245140" y="3973770"/>
              <a:ext cx="4572002" cy="54533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defTabSz="74502">
                <a:defRPr/>
              </a:pPr>
              <a:r>
                <a:rPr lang="en-US" altLang="zh-CN" sz="1135" kern="0" dirty="0">
                  <a:solidFill>
                    <a:prstClr val="black"/>
                  </a:solidFill>
                </a:rPr>
                <a:t/>
              </a:r>
              <a:br>
                <a:rPr lang="en-US" altLang="zh-CN" sz="1135" kern="0" dirty="0">
                  <a:solidFill>
                    <a:prstClr val="black"/>
                  </a:solidFill>
                </a:rPr>
              </a:br>
              <a:endParaRPr lang="en-US" altLang="zh-CN" sz="1135" kern="0" dirty="0">
                <a:solidFill>
                  <a:prstClr val="black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0" y="3359571"/>
              <a:ext cx="9169004" cy="1297781"/>
            </a:xfrm>
            <a:prstGeom prst="rect">
              <a:avLst/>
            </a:prstGeom>
            <a:solidFill>
              <a:srgbClr val="E5051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270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defTabSz="55542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095" kern="0">
                <a:solidFill>
                  <a:prstClr val="white"/>
                </a:solidFill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4692254" y="4134667"/>
              <a:ext cx="3763565" cy="485775"/>
            </a:xfrm>
            <a:prstGeom prst="roundRect">
              <a:avLst/>
            </a:prstGeom>
            <a:solidFill>
              <a:srgbClr val="3E404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55429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852" kern="0">
                <a:solidFill>
                  <a:prstClr val="white"/>
                </a:solidFill>
              </a:endParaRPr>
            </a:p>
          </p:txBody>
        </p:sp>
        <p:pic>
          <p:nvPicPr>
            <p:cNvPr id="8" name="图片 1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564"/>
            <a:stretch>
              <a:fillRect/>
            </a:stretch>
          </p:blipFill>
          <p:spPr bwMode="auto">
            <a:xfrm>
              <a:off x="3392092" y="3423865"/>
              <a:ext cx="1172765" cy="1231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文本框 9"/>
            <p:cNvSpPr txBox="1">
              <a:spLocks noChangeArrowheads="1"/>
            </p:cNvSpPr>
            <p:nvPr/>
          </p:nvSpPr>
          <p:spPr bwMode="auto">
            <a:xfrm>
              <a:off x="4647013" y="3613175"/>
              <a:ext cx="594123" cy="5758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29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243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搜</a:t>
              </a:r>
              <a:endParaRPr lang="zh-CN" altLang="en-US" sz="4859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</p:txBody>
        </p:sp>
        <p:sp>
          <p:nvSpPr>
            <p:cNvPr id="10" name="矩形 13"/>
            <p:cNvSpPr>
              <a:spLocks noChangeArrowheads="1"/>
            </p:cNvSpPr>
            <p:nvPr/>
          </p:nvSpPr>
          <p:spPr bwMode="auto">
            <a:xfrm>
              <a:off x="5160170" y="3441723"/>
              <a:ext cx="3543296" cy="9284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29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944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和</a:t>
              </a:r>
              <a:r>
                <a:rPr lang="zh-CN" altLang="en-US" sz="1944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3647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秋叶</a:t>
              </a:r>
              <a:r>
                <a:rPr lang="zh-CN" altLang="en-US" sz="1944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1944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一起学</a:t>
              </a:r>
              <a:r>
                <a:rPr lang="en-US" altLang="zh-CN" sz="1944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PPT</a:t>
              </a:r>
              <a:endParaRPr lang="zh-CN" altLang="en-US" sz="1944" kern="0" dirty="0">
                <a:solidFill>
                  <a:srgbClr val="FA7F6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  <a:p>
              <a:pPr defTabSz="555429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endParaRPr lang="zh-CN" altLang="en-US" sz="639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4802924" y="4185981"/>
              <a:ext cx="393496" cy="413243"/>
              <a:chOff x="9704022" y="1833544"/>
              <a:chExt cx="2309787" cy="2425700"/>
            </a:xfrm>
            <a:effectLst>
              <a:outerShdw blurRad="228600" sx="108000" sy="108000" algn="ctr" rotWithShape="0">
                <a:prstClr val="black">
                  <a:alpha val="36000"/>
                </a:prstClr>
              </a:outerShdw>
            </a:effectLst>
          </p:grpSpPr>
          <p:sp>
            <p:nvSpPr>
              <p:cNvPr id="23" name="矩形 5"/>
              <p:cNvSpPr/>
              <p:nvPr/>
            </p:nvSpPr>
            <p:spPr>
              <a:xfrm>
                <a:off x="9704022" y="2120283"/>
                <a:ext cx="2309787" cy="1754805"/>
              </a:xfrm>
              <a:custGeom>
                <a:avLst/>
                <a:gdLst>
                  <a:gd name="connsiteX0" fmla="*/ 0 w 2294005"/>
                  <a:gd name="connsiteY0" fmla="*/ 0 h 1754805"/>
                  <a:gd name="connsiteX1" fmla="*/ 2294005 w 2294005"/>
                  <a:gd name="connsiteY1" fmla="*/ 0 h 1754805"/>
                  <a:gd name="connsiteX2" fmla="*/ 2294005 w 2294005"/>
                  <a:gd name="connsiteY2" fmla="*/ 1754805 h 1754805"/>
                  <a:gd name="connsiteX3" fmla="*/ 0 w 2294005"/>
                  <a:gd name="connsiteY3" fmla="*/ 1754805 h 1754805"/>
                  <a:gd name="connsiteX4" fmla="*/ 0 w 2294005"/>
                  <a:gd name="connsiteY4" fmla="*/ 0 h 1754805"/>
                  <a:gd name="connsiteX0" fmla="*/ 0 w 2322140"/>
                  <a:gd name="connsiteY0" fmla="*/ 0 h 1754805"/>
                  <a:gd name="connsiteX1" fmla="*/ 2294005 w 2322140"/>
                  <a:gd name="connsiteY1" fmla="*/ 0 h 1754805"/>
                  <a:gd name="connsiteX2" fmla="*/ 2322140 w 2322140"/>
                  <a:gd name="connsiteY2" fmla="*/ 1628196 h 1754805"/>
                  <a:gd name="connsiteX3" fmla="*/ 0 w 2322140"/>
                  <a:gd name="connsiteY3" fmla="*/ 1754805 h 1754805"/>
                  <a:gd name="connsiteX4" fmla="*/ 0 w 2322140"/>
                  <a:gd name="connsiteY4" fmla="*/ 0 h 1754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2140" h="1754805">
                    <a:moveTo>
                      <a:pt x="0" y="0"/>
                    </a:moveTo>
                    <a:lnTo>
                      <a:pt x="2294005" y="0"/>
                    </a:lnTo>
                    <a:lnTo>
                      <a:pt x="2322140" y="1628196"/>
                    </a:lnTo>
                    <a:lnTo>
                      <a:pt x="0" y="17548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A9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2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24" name="任意多边形 23"/>
              <p:cNvSpPr/>
              <p:nvPr/>
            </p:nvSpPr>
            <p:spPr>
              <a:xfrm>
                <a:off x="9718090" y="2001444"/>
                <a:ext cx="2295719" cy="1828421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59643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19304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62546"/>
                    </a:lnTo>
                    <a:cubicBezTo>
                      <a:pt x="939619" y="1845915"/>
                      <a:pt x="885794" y="1842589"/>
                      <a:pt x="986971" y="1830615"/>
                    </a:cubicBezTo>
                    <a:cubicBezTo>
                      <a:pt x="1088148" y="1818641"/>
                      <a:pt x="1180495" y="1820636"/>
                      <a:pt x="1384300" y="1790700"/>
                    </a:cubicBez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2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25" name="任意多边形 24"/>
              <p:cNvSpPr/>
              <p:nvPr/>
            </p:nvSpPr>
            <p:spPr>
              <a:xfrm>
                <a:off x="9704022" y="1833544"/>
                <a:ext cx="2209800" cy="2425700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24257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77060"/>
                    </a:lnTo>
                    <a:lnTo>
                      <a:pt x="711200" y="2425700"/>
                    </a:lnTo>
                    <a:lnTo>
                      <a:pt x="1384300" y="1790700"/>
                    </a:ln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21A55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2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2" name="文本框 11"/>
            <p:cNvSpPr txBox="1">
              <a:spLocks noChangeArrowheads="1"/>
            </p:cNvSpPr>
            <p:nvPr/>
          </p:nvSpPr>
          <p:spPr bwMode="auto">
            <a:xfrm>
              <a:off x="5110678" y="4188246"/>
              <a:ext cx="1709734" cy="4375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29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703" kern="0" dirty="0">
                  <a:solidFill>
                    <a:srgbClr val="FFFFFF"/>
                  </a:solidFill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网易云课堂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6697267" y="4179911"/>
              <a:ext cx="1650206" cy="395288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55429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852" kern="0">
                <a:solidFill>
                  <a:prstClr val="white"/>
                </a:solidFill>
              </a:endParaRPr>
            </a:p>
          </p:txBody>
        </p:sp>
        <p:grpSp>
          <p:nvGrpSpPr>
            <p:cNvPr id="14" name="组合 13"/>
            <p:cNvGrpSpPr>
              <a:grpSpLocks/>
            </p:cNvGrpSpPr>
            <p:nvPr/>
          </p:nvGrpSpPr>
          <p:grpSpPr bwMode="auto">
            <a:xfrm>
              <a:off x="6742510" y="4271590"/>
              <a:ext cx="291703" cy="205978"/>
              <a:chOff x="6744072" y="3965894"/>
              <a:chExt cx="409599" cy="289318"/>
            </a:xfrm>
          </p:grpSpPr>
          <p:sp>
            <p:nvSpPr>
              <p:cNvPr id="21" name="同心圆 20"/>
              <p:cNvSpPr/>
              <p:nvPr/>
            </p:nvSpPr>
            <p:spPr>
              <a:xfrm>
                <a:off x="6744072" y="3965894"/>
                <a:ext cx="265821" cy="265905"/>
              </a:xfrm>
              <a:prstGeom prst="donut">
                <a:avLst>
                  <a:gd name="adj" fmla="val 18732"/>
                </a:avLst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2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2" name="流程图: 终止 21"/>
              <p:cNvSpPr/>
              <p:nvPr/>
            </p:nvSpPr>
            <p:spPr>
              <a:xfrm rot="2172947">
                <a:off x="6938005" y="4210059"/>
                <a:ext cx="215666" cy="45153"/>
              </a:xfrm>
              <a:prstGeom prst="flowChartTerminator">
                <a:avLst/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2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5" name="文本框 14"/>
            <p:cNvSpPr txBox="1">
              <a:spLocks noChangeArrowheads="1"/>
            </p:cNvSpPr>
            <p:nvPr/>
          </p:nvSpPr>
          <p:spPr bwMode="auto">
            <a:xfrm>
              <a:off x="7008018" y="4183482"/>
              <a:ext cx="757239" cy="761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29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703" b="1" ker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秋叶</a:t>
              </a:r>
            </a:p>
          </p:txBody>
        </p:sp>
        <p:sp>
          <p:nvSpPr>
            <p:cNvPr id="16" name="流程图: 终止 15"/>
            <p:cNvSpPr/>
            <p:nvPr/>
          </p:nvSpPr>
          <p:spPr>
            <a:xfrm rot="2459239">
              <a:off x="7556898" y="4838327"/>
              <a:ext cx="607219" cy="128588"/>
            </a:xfrm>
            <a:prstGeom prst="flowChartTerminator">
              <a:avLst/>
            </a:prstGeom>
            <a:solidFill>
              <a:srgbClr val="5D617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55429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095" kern="0">
                <a:solidFill>
                  <a:prstClr val="white"/>
                </a:solidFill>
              </a:endParaRPr>
            </a:p>
          </p:txBody>
        </p:sp>
        <p:grpSp>
          <p:nvGrpSpPr>
            <p:cNvPr id="17" name="组合 7"/>
            <p:cNvGrpSpPr>
              <a:grpSpLocks/>
            </p:cNvGrpSpPr>
            <p:nvPr/>
          </p:nvGrpSpPr>
          <p:grpSpPr bwMode="auto">
            <a:xfrm>
              <a:off x="6967538" y="4056086"/>
              <a:ext cx="846535" cy="846535"/>
              <a:chOff x="9216452" y="7221413"/>
              <a:chExt cx="998633" cy="998634"/>
            </a:xfrm>
          </p:grpSpPr>
          <p:sp>
            <p:nvSpPr>
              <p:cNvPr id="19" name="同心圆 18"/>
              <p:cNvSpPr/>
              <p:nvPr/>
            </p:nvSpPr>
            <p:spPr>
              <a:xfrm>
                <a:off x="9216452" y="7221413"/>
                <a:ext cx="998633" cy="998634"/>
              </a:xfrm>
              <a:prstGeom prst="donut">
                <a:avLst>
                  <a:gd name="adj" fmla="val 8808"/>
                </a:avLst>
              </a:prstGeom>
              <a:solidFill>
                <a:srgbClr val="5D617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2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095" kern="0">
                  <a:solidFill>
                    <a:prstClr val="black"/>
                  </a:solidFill>
                </a:endParaRPr>
              </a:p>
            </p:txBody>
          </p:sp>
          <p:pic>
            <p:nvPicPr>
              <p:cNvPr id="20" name="图片 1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93373" y="7298335"/>
                <a:ext cx="844790" cy="844790"/>
              </a:xfrm>
              <a:prstGeom prst="ellipse">
                <a:avLst/>
              </a:prstGeom>
            </p:spPr>
          </p:pic>
        </p:grpSp>
        <p:sp>
          <p:nvSpPr>
            <p:cNvPr id="18" name="矩形 23"/>
            <p:cNvSpPr>
              <a:spLocks noChangeArrowheads="1"/>
            </p:cNvSpPr>
            <p:nvPr/>
          </p:nvSpPr>
          <p:spPr bwMode="auto">
            <a:xfrm>
              <a:off x="20243" y="4353745"/>
              <a:ext cx="3107856" cy="3450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29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216" kern="0">
                  <a:solidFill>
                    <a:srgbClr val="F96551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rPr>
                <a:t>网易云课堂最受欢迎的付费职场课</a:t>
              </a: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3500712" y="1387842"/>
            <a:ext cx="5190581" cy="2353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916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916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和秋叶一起学</a:t>
            </a:r>
            <a:r>
              <a:rPr lang="en-US" altLang="zh-CN" sz="2916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PPT#</a:t>
            </a:r>
          </a:p>
          <a:p>
            <a:pPr algn="ctr">
              <a:spcBef>
                <a:spcPts val="2431"/>
              </a:spcBef>
            </a:pPr>
            <a:r>
              <a:rPr lang="zh-CN" altLang="en-US" sz="356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学员寒假读书笔记</a:t>
            </a:r>
            <a:r>
              <a:rPr lang="en-US" altLang="zh-CN" sz="3564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095</a:t>
            </a:r>
            <a:r>
              <a:rPr lang="zh-CN" altLang="en-US" sz="3564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endParaRPr lang="en-US" altLang="zh-CN" sz="3564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2431"/>
              </a:spcBef>
            </a:pPr>
            <a:r>
              <a:rPr lang="zh-CN" altLang="en-US" sz="226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你也想做？请马上</a:t>
            </a:r>
            <a:r>
              <a:rPr lang="en-US" altLang="zh-CN" sz="226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26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时间卡片 约定</a:t>
            </a:r>
            <a:endParaRPr lang="en-US" altLang="zh-CN" sz="2268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94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我们免费指导你做出好读书笔记</a:t>
            </a:r>
            <a:r>
              <a:rPr lang="en-US" altLang="zh-CN" sz="194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94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1527413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1348</TotalTime>
  <Words>541</Words>
  <Application>Microsoft Office PowerPoint</Application>
  <PresentationFormat>宽屏</PresentationFormat>
  <Paragraphs>111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7" baseType="lpstr">
      <vt:lpstr>Arial Unicode MS</vt:lpstr>
      <vt:lpstr>Microsoft JhengHei</vt:lpstr>
      <vt:lpstr>方正正黑简体</vt:lpstr>
      <vt:lpstr>方正正中黑简体</vt:lpstr>
      <vt:lpstr>华文新魏</vt:lpstr>
      <vt:lpstr>宋体</vt:lpstr>
      <vt:lpstr>微软雅黑</vt:lpstr>
      <vt:lpstr>Arial</vt:lpstr>
      <vt:lpstr>Calibri</vt:lpstr>
      <vt:lpstr>Calibri Light</vt:lpstr>
      <vt:lpstr>Wingdings</vt:lpstr>
      <vt:lpstr>Office 主题</vt:lpstr>
      <vt:lpstr>4_Office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1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</dc:creator>
  <cp:lastModifiedBy>小巴</cp:lastModifiedBy>
  <cp:revision>123</cp:revision>
  <dcterms:created xsi:type="dcterms:W3CDTF">2014-04-12T13:42:33Z</dcterms:created>
  <dcterms:modified xsi:type="dcterms:W3CDTF">2014-05-01T01:00:55Z</dcterms:modified>
</cp:coreProperties>
</file>