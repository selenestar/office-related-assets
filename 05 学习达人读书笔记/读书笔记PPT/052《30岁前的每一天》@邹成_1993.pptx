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32"/>
  </p:notesMasterIdLst>
  <p:sldIdLst>
    <p:sldId id="290" r:id="rId4"/>
    <p:sldId id="291" r:id="rId5"/>
    <p:sldId id="292" r:id="rId6"/>
    <p:sldId id="289" r:id="rId7"/>
    <p:sldId id="270" r:id="rId8"/>
    <p:sldId id="260" r:id="rId9"/>
    <p:sldId id="272" r:id="rId10"/>
    <p:sldId id="273" r:id="rId11"/>
    <p:sldId id="261" r:id="rId12"/>
    <p:sldId id="274" r:id="rId13"/>
    <p:sldId id="283" r:id="rId14"/>
    <p:sldId id="264" r:id="rId15"/>
    <p:sldId id="285" r:id="rId16"/>
    <p:sldId id="287" r:id="rId17"/>
    <p:sldId id="275" r:id="rId18"/>
    <p:sldId id="276" r:id="rId19"/>
    <p:sldId id="284" r:id="rId20"/>
    <p:sldId id="265" r:id="rId21"/>
    <p:sldId id="278" r:id="rId22"/>
    <p:sldId id="279" r:id="rId23"/>
    <p:sldId id="280" r:id="rId24"/>
    <p:sldId id="281" r:id="rId25"/>
    <p:sldId id="282" r:id="rId26"/>
    <p:sldId id="288" r:id="rId27"/>
    <p:sldId id="293" r:id="rId28"/>
    <p:sldId id="294" r:id="rId29"/>
    <p:sldId id="295" r:id="rId30"/>
    <p:sldId id="296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A0A0"/>
    <a:srgbClr val="C52227"/>
    <a:srgbClr val="D9D9D9"/>
    <a:srgbClr val="FFFFFF"/>
    <a:srgbClr val="CCAA8B"/>
    <a:srgbClr val="F3F1E8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7" autoAdjust="0"/>
    <p:restoredTop sz="94424" autoAdjust="0"/>
  </p:normalViewPr>
  <p:slideViewPr>
    <p:cSldViewPr snapToGrid="0">
      <p:cViewPr varScale="1">
        <p:scale>
          <a:sx n="70" d="100"/>
          <a:sy n="70" d="100"/>
        </p:scale>
        <p:origin x="738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49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CB5F3-EF94-4528-9C38-294068303BC2}" type="datetimeFigureOut">
              <a:rPr lang="zh-CN" altLang="en-US" smtClean="0"/>
              <a:t>2014/3/12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81F69-0FA9-4FF1-B0C9-613E0832D7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377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181F69-0FA9-4FF1-B0C9-613E0832D75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657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2D4C-59C9-4BAE-9927-542DD73BCC52}" type="datetimeFigureOut">
              <a:rPr lang="zh-CN" altLang="en-US" smtClean="0"/>
              <a:t>2014/3/12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8FC9-92FD-441D-8D01-130D57F153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01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2D4C-59C9-4BAE-9927-542DD73BCC52}" type="datetimeFigureOut">
              <a:rPr lang="zh-CN" altLang="en-US" smtClean="0"/>
              <a:t>2014/3/12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8FC9-92FD-441D-8D01-130D57F153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11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2D4C-59C9-4BAE-9927-542DD73BCC52}" type="datetimeFigureOut">
              <a:rPr lang="zh-CN" altLang="en-US" smtClean="0"/>
              <a:t>2014/3/12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8FC9-92FD-441D-8D01-130D57F153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385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2D4C-59C9-4BAE-9927-542DD73BCC52}" type="datetimeFigureOut">
              <a:rPr lang="zh-CN" altLang="en-US" smtClean="0"/>
              <a:t>2014/3/12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8FC9-92FD-441D-8D01-130D57F153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894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2D4C-59C9-4BAE-9927-542DD73BCC52}" type="datetimeFigureOut">
              <a:rPr lang="zh-CN" altLang="en-US" smtClean="0"/>
              <a:t>2014/3/12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8FC9-92FD-441D-8D01-130D57F153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362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2D4C-59C9-4BAE-9927-542DD73BCC52}" type="datetimeFigureOut">
              <a:rPr lang="zh-CN" altLang="en-US" smtClean="0"/>
              <a:t>2014/3/12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8FC9-92FD-441D-8D01-130D57F153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675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2D4C-59C9-4BAE-9927-542DD73BCC52}" type="datetimeFigureOut">
              <a:rPr lang="zh-CN" altLang="en-US" smtClean="0"/>
              <a:t>2014/3/12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8FC9-92FD-441D-8D01-130D57F153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608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2D4C-59C9-4BAE-9927-542DD73BCC52}" type="datetimeFigureOut">
              <a:rPr lang="zh-CN" altLang="en-US" smtClean="0"/>
              <a:t>2014/3/12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8FC9-92FD-441D-8D01-130D57F153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59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2D4C-59C9-4BAE-9927-542DD73BCC52}" type="datetimeFigureOut">
              <a:rPr lang="zh-CN" altLang="en-US" smtClean="0"/>
              <a:t>2014/3/12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8FC9-92FD-441D-8D01-130D57F153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00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2D4C-59C9-4BAE-9927-542DD73BCC52}" type="datetimeFigureOut">
              <a:rPr lang="zh-CN" altLang="en-US" smtClean="0"/>
              <a:t>2014/3/12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8FC9-92FD-441D-8D01-130D57F153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116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2D4C-59C9-4BAE-9927-542DD73BCC52}" type="datetimeFigureOut">
              <a:rPr lang="zh-CN" altLang="en-US" smtClean="0"/>
              <a:t>2014/3/12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98FC9-92FD-441D-8D01-130D57F153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435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32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442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991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3"/>
            <a:ext cx="10363200" cy="1362076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308571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144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71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28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285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42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00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57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07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6"/>
            <a:ext cx="53848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379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2" y="1535115"/>
            <a:ext cx="5389033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779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2722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3375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3"/>
            <a:ext cx="4011084" cy="1162051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6" y="273058"/>
            <a:ext cx="6815667" cy="5853113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7710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160"/>
            </a:lvl1pPr>
            <a:lvl2pPr marL="308571" indent="0">
              <a:buNone/>
              <a:defRPr sz="1890"/>
            </a:lvl2pPr>
            <a:lvl3pPr marL="617144" indent="0">
              <a:buNone/>
              <a:defRPr sz="1620"/>
            </a:lvl3pPr>
            <a:lvl4pPr marL="925715" indent="0">
              <a:buNone/>
              <a:defRPr sz="1350"/>
            </a:lvl4pPr>
            <a:lvl5pPr marL="1234286" indent="0">
              <a:buNone/>
              <a:defRPr sz="1350"/>
            </a:lvl5pPr>
            <a:lvl6pPr marL="1542857" indent="0">
              <a:buNone/>
              <a:defRPr sz="1350"/>
            </a:lvl6pPr>
            <a:lvl7pPr marL="1851429" indent="0">
              <a:buNone/>
              <a:defRPr sz="1350"/>
            </a:lvl7pPr>
            <a:lvl8pPr marL="2160000" indent="0">
              <a:buNone/>
              <a:defRPr sz="1350"/>
            </a:lvl8pPr>
            <a:lvl9pPr marL="2468571" indent="0">
              <a:buNone/>
              <a:defRPr sz="13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1348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402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5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3892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32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2795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980728"/>
            <a:ext cx="109728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" y="0"/>
            <a:ext cx="12192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6170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3787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3"/>
            <a:ext cx="10363200" cy="1362076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308571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144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71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28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285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42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00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57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7453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6"/>
            <a:ext cx="53848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009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2" y="1535115"/>
            <a:ext cx="5389033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1365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1432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262" y="-51325"/>
            <a:ext cx="12186739" cy="706828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1193136" y="585521"/>
            <a:ext cx="624069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5261" y="26340"/>
            <a:ext cx="144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5594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3"/>
            <a:ext cx="4011084" cy="1162051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6" y="273058"/>
            <a:ext cx="6815667" cy="5853113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768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160"/>
            </a:lvl1pPr>
            <a:lvl2pPr marL="308571" indent="0">
              <a:buNone/>
              <a:defRPr sz="1890"/>
            </a:lvl2pPr>
            <a:lvl3pPr marL="617144" indent="0">
              <a:buNone/>
              <a:defRPr sz="1620"/>
            </a:lvl3pPr>
            <a:lvl4pPr marL="925715" indent="0">
              <a:buNone/>
              <a:defRPr sz="1350"/>
            </a:lvl4pPr>
            <a:lvl5pPr marL="1234286" indent="0">
              <a:buNone/>
              <a:defRPr sz="1350"/>
            </a:lvl5pPr>
            <a:lvl6pPr marL="1542857" indent="0">
              <a:buNone/>
              <a:defRPr sz="1350"/>
            </a:lvl6pPr>
            <a:lvl7pPr marL="1851429" indent="0">
              <a:buNone/>
              <a:defRPr sz="1350"/>
            </a:lvl7pPr>
            <a:lvl8pPr marL="2160000" indent="0">
              <a:buNone/>
              <a:defRPr sz="1350"/>
            </a:lvl8pPr>
            <a:lvl9pPr marL="2468571" indent="0">
              <a:buNone/>
              <a:defRPr sz="13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2886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642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5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192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m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02D4C-59C9-4BAE-9927-542DD73BCC52}" type="datetimeFigureOut">
              <a:rPr lang="zh-CN" altLang="en-US" smtClean="0"/>
              <a:t>2014/3/12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98FC9-92FD-441D-8D01-130D57F153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25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8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03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17144" rtl="0" eaLnBrk="1" latinLnBrk="0" hangingPunct="1"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428" indent="-231428" algn="l" defTabSz="617144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01430" indent="-192858" algn="l" defTabSz="617144" rtl="0" eaLnBrk="1" latinLnBrk="0" hangingPunct="1">
        <a:spcBef>
          <a:spcPct val="20000"/>
        </a:spcBef>
        <a:buFont typeface="Arial" pitchFamily="34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771429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154286" algn="l" defTabSz="617144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88571" indent="-154286" algn="l" defTabSz="617144" rtl="0" eaLnBrk="1" latinLnBrk="0" hangingPunct="1">
        <a:spcBef>
          <a:spcPct val="20000"/>
        </a:spcBef>
        <a:buFont typeface="Arial" pitchFamily="34" charset="0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697144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05715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14286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22857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144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715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286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2857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429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00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8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42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617144" rtl="0" eaLnBrk="1" latinLnBrk="0" hangingPunct="1"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428" indent="-231428" algn="l" defTabSz="617144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01430" indent="-192858" algn="l" defTabSz="617144" rtl="0" eaLnBrk="1" latinLnBrk="0" hangingPunct="1">
        <a:spcBef>
          <a:spcPct val="20000"/>
        </a:spcBef>
        <a:buFont typeface="Arial" pitchFamily="34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771429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154286" algn="l" defTabSz="617144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88571" indent="-154286" algn="l" defTabSz="617144" rtl="0" eaLnBrk="1" latinLnBrk="0" hangingPunct="1">
        <a:spcBef>
          <a:spcPct val="20000"/>
        </a:spcBef>
        <a:buFont typeface="Arial" pitchFamily="34" charset="0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697144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05715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14286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22857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144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715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286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2857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429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00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068" y="2115403"/>
            <a:ext cx="12192000" cy="249754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76892" y="2447976"/>
            <a:ext cx="5816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rgbClr val="C522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6000" b="1" dirty="0" smtClean="0">
                <a:solidFill>
                  <a:srgbClr val="C522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岁前的每一天</a:t>
            </a:r>
            <a:endParaRPr lang="zh-CN" altLang="en-US" sz="6000" b="1" dirty="0">
              <a:solidFill>
                <a:srgbClr val="C5222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76892" y="4622247"/>
            <a:ext cx="24730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A0A0A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作者</a:t>
            </a:r>
            <a:r>
              <a:rPr lang="zh-CN" altLang="en-US" sz="2200" dirty="0">
                <a:solidFill>
                  <a:srgbClr val="A0A0A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：</a:t>
            </a:r>
            <a:r>
              <a:rPr lang="zh-CN" altLang="en-US" sz="2200" dirty="0" smtClean="0">
                <a:solidFill>
                  <a:srgbClr val="A0A0A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水湄物语</a:t>
            </a:r>
            <a:endParaRPr lang="zh-CN" altLang="en-US" sz="2200" dirty="0">
              <a:solidFill>
                <a:srgbClr val="A0A0A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54282" y="4663190"/>
            <a:ext cx="31165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 smtClean="0">
                <a:solidFill>
                  <a:srgbClr val="A0A0A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en-US" sz="2200" dirty="0" smtClean="0">
                <a:solidFill>
                  <a:srgbClr val="A0A0A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制作：</a:t>
            </a:r>
            <a:r>
              <a:rPr lang="en-US" altLang="zh-CN" sz="2200" dirty="0" smtClean="0">
                <a:solidFill>
                  <a:srgbClr val="A0A0A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@</a:t>
            </a:r>
            <a:r>
              <a:rPr lang="zh-CN" altLang="en-US" sz="2200" dirty="0" smtClean="0">
                <a:solidFill>
                  <a:srgbClr val="A0A0A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邹成</a:t>
            </a:r>
            <a:r>
              <a:rPr lang="en-US" altLang="zh-CN" sz="2200" dirty="0" smtClean="0">
                <a:solidFill>
                  <a:srgbClr val="A0A0A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_1993</a:t>
            </a:r>
            <a:endParaRPr lang="zh-CN" altLang="en-US" sz="2200" dirty="0">
              <a:solidFill>
                <a:srgbClr val="A0A0A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00" t="3125" r="17845" b="2996"/>
          <a:stretch>
            <a:fillRect/>
          </a:stretch>
        </p:blipFill>
        <p:spPr>
          <a:xfrm>
            <a:off x="859390" y="1000277"/>
            <a:ext cx="3411941" cy="4954137"/>
          </a:xfrm>
          <a:custGeom>
            <a:avLst/>
            <a:gdLst>
              <a:gd name="connsiteX0" fmla="*/ 300251 w 3411941"/>
              <a:gd name="connsiteY0" fmla="*/ 0 h 4954137"/>
              <a:gd name="connsiteX1" fmla="*/ 3398293 w 3411941"/>
              <a:gd name="connsiteY1" fmla="*/ 177420 h 4954137"/>
              <a:gd name="connsiteX2" fmla="*/ 3411941 w 3411941"/>
              <a:gd name="connsiteY2" fmla="*/ 4749420 h 4954137"/>
              <a:gd name="connsiteX3" fmla="*/ 327547 w 3411941"/>
              <a:gd name="connsiteY3" fmla="*/ 4954137 h 4954137"/>
              <a:gd name="connsiteX4" fmla="*/ 13648 w 3411941"/>
              <a:gd name="connsiteY4" fmla="*/ 4899546 h 4954137"/>
              <a:gd name="connsiteX5" fmla="*/ 0 w 3411941"/>
              <a:gd name="connsiteY5" fmla="*/ 54591 h 495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11941" h="4954137">
                <a:moveTo>
                  <a:pt x="300251" y="0"/>
                </a:moveTo>
                <a:lnTo>
                  <a:pt x="3398293" y="177420"/>
                </a:lnTo>
                <a:cubicBezTo>
                  <a:pt x="3402842" y="1701420"/>
                  <a:pt x="3407392" y="3225420"/>
                  <a:pt x="3411941" y="4749420"/>
                </a:cubicBezTo>
                <a:lnTo>
                  <a:pt x="327547" y="4954137"/>
                </a:lnTo>
                <a:lnTo>
                  <a:pt x="13648" y="4899546"/>
                </a:lnTo>
                <a:cubicBezTo>
                  <a:pt x="9099" y="3284561"/>
                  <a:pt x="4549" y="1669576"/>
                  <a:pt x="0" y="54591"/>
                </a:cubicBezTo>
                <a:close/>
              </a:path>
            </a:pathLst>
          </a:custGeom>
        </p:spPr>
      </p:pic>
      <p:sp>
        <p:nvSpPr>
          <p:cNvPr id="3" name="流程图: 终止 2"/>
          <p:cNvSpPr/>
          <p:nvPr/>
        </p:nvSpPr>
        <p:spPr>
          <a:xfrm>
            <a:off x="9003323" y="1298672"/>
            <a:ext cx="2006221" cy="631880"/>
          </a:xfrm>
          <a:prstGeom prst="flowChartTerminator">
            <a:avLst/>
          </a:prstGeom>
          <a:noFill/>
          <a:ln w="25400">
            <a:solidFill>
              <a:srgbClr val="A0A0A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rgbClr val="C52227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读书笔记</a:t>
            </a:r>
            <a:endParaRPr lang="zh-CN" altLang="en-US" sz="3200" dirty="0">
              <a:solidFill>
                <a:srgbClr val="C52227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936" y="3437498"/>
            <a:ext cx="6078239" cy="9693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18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/>
          <p:cNvSpPr/>
          <p:nvPr/>
        </p:nvSpPr>
        <p:spPr>
          <a:xfrm>
            <a:off x="731520" y="2011680"/>
            <a:ext cx="10592973" cy="354505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64869" y="2432514"/>
            <a:ext cx="3300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32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梦想改变生活</a:t>
            </a:r>
            <a:endParaRPr lang="zh-CN" altLang="en-US" sz="3200" dirty="0">
              <a:solidFill>
                <a:srgbClr val="C5222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64869" y="3088839"/>
            <a:ext cx="401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聚集正能量的人生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364869" y="3745164"/>
            <a:ext cx="4419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职业学习爱情的规划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364869" y="4401489"/>
            <a:ext cx="4431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踏上财富自由之路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433759" y="2432514"/>
            <a:ext cx="4747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打败梦想路上的小怪兽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433759" y="3088839"/>
            <a:ext cx="376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记事本改变生活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433759" y="3745164"/>
            <a:ext cx="4445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en-US" altLang="zh-CN" sz="32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30</a:t>
            </a:r>
            <a:r>
              <a:rPr lang="zh-CN" altLang="en-US" sz="32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岁前改变</a:t>
            </a:r>
            <a:r>
              <a:rPr lang="zh-CN" altLang="en-US" sz="32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自己</a:t>
            </a:r>
            <a:endParaRPr lang="en-US" altLang="zh-CN" sz="3200" dirty="0">
              <a:solidFill>
                <a:srgbClr val="C5222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039" y="-222592"/>
            <a:ext cx="1423916" cy="120874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392667" y="204716"/>
            <a:ext cx="1344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目录</a:t>
            </a:r>
            <a:r>
              <a:rPr lang="en-US" altLang="zh-CN" sz="32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/</a:t>
            </a:r>
            <a:endParaRPr lang="zh-CN" altLang="en-US" sz="3200" dirty="0">
              <a:solidFill>
                <a:srgbClr val="C5222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33759" y="4401489"/>
            <a:ext cx="35734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en-US" altLang="zh-CN" sz="32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30</a:t>
            </a:r>
            <a:r>
              <a:rPr lang="zh-CN" altLang="en-US" sz="32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岁后改变世界</a:t>
            </a:r>
          </a:p>
        </p:txBody>
      </p:sp>
    </p:spTree>
    <p:extLst>
      <p:ext uri="{BB962C8B-B14F-4D97-AF65-F5344CB8AC3E}">
        <p14:creationId xmlns:p14="http://schemas.microsoft.com/office/powerpoint/2010/main" val="3514260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>
            <a:off x="0" y="3432727"/>
            <a:ext cx="12192000" cy="1"/>
          </a:xfrm>
          <a:prstGeom prst="line">
            <a:avLst/>
          </a:prstGeom>
          <a:ln w="28575">
            <a:solidFill>
              <a:srgbClr val="A0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2518119" y="2811649"/>
            <a:ext cx="7188590" cy="12942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88431" y="2894190"/>
            <a:ext cx="4832237" cy="716700"/>
          </a:xfrm>
        </p:spPr>
        <p:txBody>
          <a:bodyPr>
            <a:noAutofit/>
          </a:bodyPr>
          <a:lstStyle/>
          <a:p>
            <a:r>
              <a:rPr lang="zh-CN" altLang="en-US" sz="60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梦想改变生活</a:t>
            </a:r>
            <a:endParaRPr lang="zh-CN" altLang="en-US" sz="6000" dirty="0">
              <a:solidFill>
                <a:srgbClr val="C5222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00860" y="3662157"/>
            <a:ext cx="46652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梦想摘星的人才有可能登上月球</a:t>
            </a:r>
            <a:endParaRPr lang="zh-CN" altLang="en-US" sz="2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0699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1269" y="-28134"/>
            <a:ext cx="3025462" cy="716700"/>
          </a:xfrm>
        </p:spPr>
        <p:txBody>
          <a:bodyPr>
            <a:normAutofit/>
          </a:bodyPr>
          <a:lstStyle/>
          <a:p>
            <a:r>
              <a:rPr lang="zh-CN" altLang="en-US" sz="32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梦想</a:t>
            </a:r>
            <a:r>
              <a:rPr lang="zh-CN" altLang="en-US" sz="3200" dirty="0" smtClean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改变生活</a:t>
            </a:r>
            <a:endParaRPr lang="zh-CN" altLang="en-US" sz="3200" dirty="0">
              <a:solidFill>
                <a:srgbClr val="A0A0A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742006" y="2349308"/>
            <a:ext cx="4708517" cy="4228072"/>
            <a:chOff x="3719998" y="2189708"/>
            <a:chExt cx="4660185" cy="4289195"/>
          </a:xfrm>
        </p:grpSpPr>
        <p:sp>
          <p:nvSpPr>
            <p:cNvPr id="48" name="六边形 47"/>
            <p:cNvSpPr/>
            <p:nvPr/>
          </p:nvSpPr>
          <p:spPr>
            <a:xfrm rot="5400000">
              <a:off x="5426688" y="2267794"/>
              <a:ext cx="1201330" cy="1045157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9" name="六边形 4"/>
            <p:cNvSpPr/>
            <p:nvPr/>
          </p:nvSpPr>
          <p:spPr>
            <a:xfrm>
              <a:off x="5667644" y="2376915"/>
              <a:ext cx="719417" cy="8269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b="1" dirty="0" smtClean="0">
                  <a:solidFill>
                    <a:prstClr val="white">
                      <a:lumMod val="95000"/>
                    </a:prst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改变世界</a:t>
              </a:r>
              <a:endParaRPr lang="zh-CN" altLang="en-US" sz="2000" b="1" dirty="0">
                <a:solidFill>
                  <a:prstClr val="white">
                    <a:lumMod val="95000"/>
                  </a:prst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46" name="六边形 45"/>
            <p:cNvSpPr/>
            <p:nvPr/>
          </p:nvSpPr>
          <p:spPr>
            <a:xfrm rot="5400000">
              <a:off x="5321169" y="4337254"/>
              <a:ext cx="1201330" cy="1045157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六边形 7"/>
            <p:cNvSpPr/>
            <p:nvPr/>
          </p:nvSpPr>
          <p:spPr>
            <a:xfrm>
              <a:off x="5562125" y="4446375"/>
              <a:ext cx="719417" cy="8269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做科研</a:t>
              </a:r>
              <a:endParaRPr lang="zh-CN" altLang="en-US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44" name="六边形 43"/>
            <p:cNvSpPr/>
            <p:nvPr/>
          </p:nvSpPr>
          <p:spPr>
            <a:xfrm rot="5400000">
              <a:off x="4236422" y="4329433"/>
              <a:ext cx="1201330" cy="1045157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六边形 9"/>
            <p:cNvSpPr/>
            <p:nvPr/>
          </p:nvSpPr>
          <p:spPr>
            <a:xfrm>
              <a:off x="4477378" y="4438554"/>
              <a:ext cx="719417" cy="8269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当军人</a:t>
              </a:r>
              <a:endPara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42" name="六边形 41"/>
            <p:cNvSpPr/>
            <p:nvPr/>
          </p:nvSpPr>
          <p:spPr>
            <a:xfrm rot="5400000">
              <a:off x="6995627" y="5355657"/>
              <a:ext cx="1201330" cy="1045157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000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六边形 12"/>
            <p:cNvSpPr/>
            <p:nvPr/>
          </p:nvSpPr>
          <p:spPr>
            <a:xfrm>
              <a:off x="7236583" y="5464778"/>
              <a:ext cx="719417" cy="8269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b="1" dirty="0" smtClean="0">
                  <a:solidFill>
                    <a:prstClr val="white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买车买房</a:t>
              </a:r>
              <a:endParaRPr lang="zh-CN" altLang="en-US" sz="2000" b="1" dirty="0">
                <a:solidFill>
                  <a:prstClr val="white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40" name="六边形 39"/>
            <p:cNvSpPr/>
            <p:nvPr/>
          </p:nvSpPr>
          <p:spPr>
            <a:xfrm rot="5400000">
              <a:off x="6465689" y="4336269"/>
              <a:ext cx="1201330" cy="1045157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1" name="六边形 14"/>
            <p:cNvSpPr/>
            <p:nvPr/>
          </p:nvSpPr>
          <p:spPr>
            <a:xfrm>
              <a:off x="6706645" y="4445390"/>
              <a:ext cx="719417" cy="8269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当作家</a:t>
              </a:r>
              <a:endPara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38" name="六边形 37"/>
            <p:cNvSpPr/>
            <p:nvPr/>
          </p:nvSpPr>
          <p:spPr>
            <a:xfrm rot="5400000">
              <a:off x="5901910" y="3290282"/>
              <a:ext cx="1201330" cy="1045157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六边形 17"/>
            <p:cNvSpPr/>
            <p:nvPr/>
          </p:nvSpPr>
          <p:spPr>
            <a:xfrm>
              <a:off x="6142866" y="3399403"/>
              <a:ext cx="719417" cy="82691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dirty="0" smtClean="0">
                  <a:solidFill>
                    <a:prstClr val="white">
                      <a:lumMod val="95000"/>
                    </a:prst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周游世界</a:t>
              </a:r>
              <a:endParaRPr lang="zh-CN" altLang="en-US" sz="2800" dirty="0">
                <a:solidFill>
                  <a:prstClr val="white">
                    <a:lumMod val="95000"/>
                  </a:prst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36" name="六边形 35"/>
            <p:cNvSpPr/>
            <p:nvPr/>
          </p:nvSpPr>
          <p:spPr>
            <a:xfrm rot="5400000">
              <a:off x="4772807" y="3246806"/>
              <a:ext cx="1201330" cy="1045157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六边形 19"/>
            <p:cNvSpPr/>
            <p:nvPr/>
          </p:nvSpPr>
          <p:spPr>
            <a:xfrm>
              <a:off x="5013763" y="3355927"/>
              <a:ext cx="719417" cy="82691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dirty="0" smtClean="0">
                  <a:solidFill>
                    <a:prstClr val="white">
                      <a:lumMod val="95000"/>
                    </a:prst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做慈善家</a:t>
              </a:r>
              <a:endParaRPr lang="zh-CN" altLang="en-US" dirty="0">
                <a:solidFill>
                  <a:prstClr val="white">
                    <a:lumMod val="95000"/>
                  </a:prst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4055394" y="4496983"/>
              <a:ext cx="1297436" cy="72079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4" name="六边形 33"/>
            <p:cNvSpPr/>
            <p:nvPr/>
          </p:nvSpPr>
          <p:spPr>
            <a:xfrm rot="5400000">
              <a:off x="4777301" y="5355657"/>
              <a:ext cx="1201330" cy="1045157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5" name="六边形 22"/>
            <p:cNvSpPr/>
            <p:nvPr/>
          </p:nvSpPr>
          <p:spPr>
            <a:xfrm>
              <a:off x="5018257" y="5464778"/>
              <a:ext cx="719417" cy="8269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7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当企业家</a:t>
              </a:r>
              <a:endParaRPr lang="zh-CN" altLang="en-US" sz="2700" dirty="0">
                <a:solidFill>
                  <a:prstClr val="black">
                    <a:lumMod val="65000"/>
                    <a:lumOff val="35000"/>
                  </a:prst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32" name="六边形 31"/>
            <p:cNvSpPr/>
            <p:nvPr/>
          </p:nvSpPr>
          <p:spPr>
            <a:xfrm rot="5400000">
              <a:off x="3641912" y="5355659"/>
              <a:ext cx="1201330" cy="1045157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000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六边形 24"/>
            <p:cNvSpPr/>
            <p:nvPr/>
          </p:nvSpPr>
          <p:spPr>
            <a:xfrm>
              <a:off x="3882868" y="5464780"/>
              <a:ext cx="719417" cy="8269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b="1" dirty="0" smtClean="0">
                  <a:solidFill>
                    <a:prstClr val="white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当公务员</a:t>
              </a:r>
              <a:endParaRPr lang="zh-CN" altLang="en-US" sz="2000" b="1" dirty="0">
                <a:solidFill>
                  <a:prstClr val="white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039499" y="5516672"/>
              <a:ext cx="1340684" cy="72079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六边形 29"/>
            <p:cNvSpPr/>
            <p:nvPr/>
          </p:nvSpPr>
          <p:spPr>
            <a:xfrm rot="5400000">
              <a:off x="5877383" y="5355658"/>
              <a:ext cx="1201330" cy="1045157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1" name="六边形 27"/>
            <p:cNvSpPr/>
            <p:nvPr/>
          </p:nvSpPr>
          <p:spPr>
            <a:xfrm>
              <a:off x="6118339" y="5464779"/>
              <a:ext cx="719417" cy="8269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创办学校</a:t>
              </a:r>
              <a:endPara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</p:grpSp>
      <p:sp>
        <p:nvSpPr>
          <p:cNvPr id="50" name="文本框 3"/>
          <p:cNvSpPr txBox="1"/>
          <p:nvPr/>
        </p:nvSpPr>
        <p:spPr>
          <a:xfrm>
            <a:off x="2986774" y="1766220"/>
            <a:ext cx="7015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当初愿望实现了吗？事到如今只好祭奠吗？</a:t>
            </a:r>
            <a:endParaRPr lang="zh-CN" altLang="en-US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285342" y="569788"/>
            <a:ext cx="2443789" cy="3519"/>
            <a:chOff x="341614" y="572398"/>
            <a:chExt cx="2566696" cy="808"/>
          </a:xfrm>
        </p:grpSpPr>
        <p:cxnSp>
          <p:nvCxnSpPr>
            <p:cNvPr id="52" name="直接连接符 51"/>
            <p:cNvCxnSpPr/>
            <p:nvPr/>
          </p:nvCxnSpPr>
          <p:spPr>
            <a:xfrm>
              <a:off x="341614" y="573206"/>
              <a:ext cx="826005" cy="0"/>
            </a:xfrm>
            <a:prstGeom prst="line">
              <a:avLst/>
            </a:prstGeom>
            <a:ln w="66675">
              <a:solidFill>
                <a:srgbClr val="A0A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1153551" y="572398"/>
              <a:ext cx="1754759" cy="0"/>
            </a:xfrm>
            <a:prstGeom prst="line">
              <a:avLst/>
            </a:prstGeom>
            <a:ln w="66675">
              <a:solidFill>
                <a:srgbClr val="C5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/>
        </p:nvGrpSpPr>
        <p:grpSpPr>
          <a:xfrm>
            <a:off x="1399279" y="1572618"/>
            <a:ext cx="9010813" cy="5126229"/>
            <a:chOff x="1399279" y="1572618"/>
            <a:chExt cx="9010813" cy="5126229"/>
          </a:xfrm>
        </p:grpSpPr>
        <p:sp>
          <p:nvSpPr>
            <p:cNvPr id="60" name="矩形 3"/>
            <p:cNvSpPr/>
            <p:nvPr/>
          </p:nvSpPr>
          <p:spPr>
            <a:xfrm>
              <a:off x="1786597" y="1696943"/>
              <a:ext cx="8623495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 rot="19174672">
              <a:off x="1399279" y="1572618"/>
              <a:ext cx="1568634" cy="70525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700" dirty="0" smtClean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唤醒梦想</a:t>
              </a:r>
              <a:endParaRPr lang="zh-CN" altLang="en-US" sz="2700" dirty="0">
                <a:solidFill>
                  <a:srgbClr val="C52227"/>
                </a:solidFill>
                <a:latin typeface="华康少女文字W5(P)" panose="040F0500000000000000" pitchFamily="82" charset="-122"/>
                <a:ea typeface="华康少女文字W5(P)" panose="040F0500000000000000" pitchFamily="82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10959152" y="-476201"/>
            <a:ext cx="1423916" cy="1631852"/>
            <a:chOff x="10959152" y="-476201"/>
            <a:chExt cx="1423916" cy="1631852"/>
          </a:xfrm>
        </p:grpSpPr>
        <p:sp>
          <p:nvSpPr>
            <p:cNvPr id="55" name="流程图: 文档 54"/>
            <p:cNvSpPr/>
            <p:nvPr/>
          </p:nvSpPr>
          <p:spPr>
            <a:xfrm>
              <a:off x="11256252" y="-476201"/>
              <a:ext cx="867508" cy="1631852"/>
            </a:xfrm>
            <a:prstGeom prst="flowChartDocument">
              <a:avLst/>
            </a:prstGeom>
            <a:solidFill>
              <a:srgbClr val="D9D9D9"/>
            </a:solidFill>
            <a:ln w="25400">
              <a:solidFill>
                <a:srgbClr val="C52227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9152" y="-136477"/>
              <a:ext cx="1423916" cy="12087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71722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>
            <a:off x="0" y="3406691"/>
            <a:ext cx="12192000" cy="27296"/>
          </a:xfrm>
          <a:prstGeom prst="line">
            <a:avLst/>
          </a:prstGeom>
          <a:ln w="28575">
            <a:solidFill>
              <a:srgbClr val="A0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1087409" y="2771547"/>
            <a:ext cx="10044333" cy="12942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55299" y="2847791"/>
            <a:ext cx="9187289" cy="716700"/>
          </a:xfrm>
        </p:spPr>
        <p:txBody>
          <a:bodyPr>
            <a:noAutofit/>
          </a:bodyPr>
          <a:lstStyle/>
          <a:p>
            <a:pPr algn="dist"/>
            <a:r>
              <a:rPr lang="zh-CN" altLang="en-US" sz="60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聚集正能量的人生</a:t>
            </a:r>
            <a:endParaRPr lang="zh-CN" altLang="en-US" sz="6000" dirty="0">
              <a:solidFill>
                <a:srgbClr val="C5222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55300" y="3629675"/>
            <a:ext cx="91908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当你长成参天大树的时候，那些曾阻碍你成长的力量都会微弱到可以忽略</a:t>
            </a:r>
            <a:endParaRPr lang="zh-CN" altLang="en-US" sz="2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785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剪去单角的矩形 27"/>
          <p:cNvSpPr/>
          <p:nvPr/>
        </p:nvSpPr>
        <p:spPr>
          <a:xfrm>
            <a:off x="3233226" y="2405573"/>
            <a:ext cx="6105379" cy="1615440"/>
          </a:xfrm>
          <a:prstGeom prst="snip1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剪去单角的矩形 17"/>
          <p:cNvSpPr/>
          <p:nvPr/>
        </p:nvSpPr>
        <p:spPr>
          <a:xfrm>
            <a:off x="3235569" y="4726747"/>
            <a:ext cx="6105379" cy="1828800"/>
          </a:xfrm>
          <a:prstGeom prst="snip1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3106614" y="4023361"/>
            <a:ext cx="2510768" cy="647114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如何面对选择</a:t>
            </a:r>
            <a:endParaRPr lang="zh-CN" altLang="en-US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57359" y="4856833"/>
            <a:ext cx="6000023" cy="1597093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不是只有一种假设，一种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做好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才是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最好的选择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人生是一次长跑，暂时的落后和领先都不算什么</a:t>
            </a:r>
          </a:p>
        </p:txBody>
      </p:sp>
      <p:sp>
        <p:nvSpPr>
          <p:cNvPr id="10" name="矩形 9"/>
          <p:cNvSpPr/>
          <p:nvPr/>
        </p:nvSpPr>
        <p:spPr>
          <a:xfrm>
            <a:off x="3235570" y="2489982"/>
            <a:ext cx="6356987" cy="1617783"/>
          </a:xfrm>
          <a:prstGeom prst="rect">
            <a:avLst/>
          </a:prstGeom>
        </p:spPr>
        <p:txBody>
          <a:bodyPr/>
          <a:lstStyle/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为什么你从来没有做过发起者</a:t>
            </a:r>
          </a:p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通过反复的练习和总结，没有天分也能和天才一样</a:t>
            </a:r>
          </a:p>
          <a:p>
            <a:pPr marL="342900" lvl="2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面对机会，就是要以开放的心态尝试，尝试，尝试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3106614" y="1721717"/>
            <a:ext cx="3826412" cy="647114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这件事你真的做不了吗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3235569" y="4597407"/>
            <a:ext cx="572555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3235570" y="2302028"/>
            <a:ext cx="572555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标题 1"/>
          <p:cNvSpPr>
            <a:spLocks noGrp="1"/>
          </p:cNvSpPr>
          <p:nvPr>
            <p:ph type="title"/>
          </p:nvPr>
        </p:nvSpPr>
        <p:spPr>
          <a:xfrm>
            <a:off x="562714" y="0"/>
            <a:ext cx="3624776" cy="600790"/>
          </a:xfrm>
          <a:noFill/>
        </p:spPr>
        <p:txBody>
          <a:bodyPr>
            <a:noAutofit/>
          </a:bodyPr>
          <a:lstStyle/>
          <a:p>
            <a:r>
              <a:rPr lang="zh-CN" altLang="en-US" sz="32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聚集</a:t>
            </a:r>
            <a:r>
              <a:rPr lang="zh-CN" altLang="en-US" sz="3200" dirty="0" smtClean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正能量的人生</a:t>
            </a:r>
            <a:endParaRPr lang="zh-CN" altLang="en-US" sz="3200" dirty="0">
              <a:solidFill>
                <a:srgbClr val="A0A0A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665170" y="559558"/>
            <a:ext cx="3231580" cy="3150"/>
            <a:chOff x="341614" y="559558"/>
            <a:chExt cx="3231580" cy="3150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341614" y="559558"/>
              <a:ext cx="826005" cy="0"/>
            </a:xfrm>
            <a:prstGeom prst="line">
              <a:avLst/>
            </a:prstGeom>
            <a:ln w="66675">
              <a:solidFill>
                <a:srgbClr val="A0A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1153551" y="562708"/>
              <a:ext cx="2419643" cy="0"/>
            </a:xfrm>
            <a:prstGeom prst="line">
              <a:avLst/>
            </a:prstGeom>
            <a:ln w="66675">
              <a:solidFill>
                <a:srgbClr val="C5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/>
          <p:cNvGrpSpPr/>
          <p:nvPr/>
        </p:nvGrpSpPr>
        <p:grpSpPr>
          <a:xfrm>
            <a:off x="10959152" y="-476201"/>
            <a:ext cx="1423916" cy="1631852"/>
            <a:chOff x="10959152" y="-476201"/>
            <a:chExt cx="1423916" cy="1631852"/>
          </a:xfrm>
        </p:grpSpPr>
        <p:sp>
          <p:nvSpPr>
            <p:cNvPr id="38" name="流程图: 文档 37"/>
            <p:cNvSpPr/>
            <p:nvPr/>
          </p:nvSpPr>
          <p:spPr>
            <a:xfrm>
              <a:off x="11256252" y="-476201"/>
              <a:ext cx="867508" cy="1631852"/>
            </a:xfrm>
            <a:prstGeom prst="flowChartDocument">
              <a:avLst/>
            </a:prstGeom>
            <a:solidFill>
              <a:srgbClr val="D9D9D9"/>
            </a:solidFill>
            <a:ln w="25400">
              <a:solidFill>
                <a:srgbClr val="C52227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9152" y="-136477"/>
              <a:ext cx="1423916" cy="120874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" name="组合 18"/>
          <p:cNvGrpSpPr/>
          <p:nvPr/>
        </p:nvGrpSpPr>
        <p:grpSpPr>
          <a:xfrm>
            <a:off x="1399279" y="1572618"/>
            <a:ext cx="9010813" cy="5126229"/>
            <a:chOff x="1399279" y="1572618"/>
            <a:chExt cx="9010813" cy="5126229"/>
          </a:xfrm>
        </p:grpSpPr>
        <p:sp>
          <p:nvSpPr>
            <p:cNvPr id="21" name="矩形 3"/>
            <p:cNvSpPr/>
            <p:nvPr/>
          </p:nvSpPr>
          <p:spPr>
            <a:xfrm>
              <a:off x="1786597" y="1696943"/>
              <a:ext cx="8623495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 rot="19174672">
              <a:off x="1399279" y="1572618"/>
              <a:ext cx="1568634" cy="70525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dirty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正能量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991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3209075" y="2491839"/>
            <a:ext cx="6105379" cy="1608158"/>
            <a:chOff x="3715509" y="1844726"/>
            <a:chExt cx="6105379" cy="1608158"/>
          </a:xfrm>
        </p:grpSpPr>
        <p:sp>
          <p:nvSpPr>
            <p:cNvPr id="32" name="剪去单角的矩形 31"/>
            <p:cNvSpPr/>
            <p:nvPr/>
          </p:nvSpPr>
          <p:spPr>
            <a:xfrm>
              <a:off x="3715509" y="1844726"/>
              <a:ext cx="6105379" cy="1608158"/>
            </a:xfrm>
            <a:prstGeom prst="snip1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3733808" y="1855482"/>
              <a:ext cx="5595582" cy="1565907"/>
            </a:xfrm>
            <a:prstGeom prst="rect">
              <a:avLst/>
            </a:prstGeom>
          </p:spPr>
          <p:txBody>
            <a:bodyPr/>
            <a:lstStyle/>
            <a:p>
              <a:pPr marL="342900" lvl="0" indent="-34290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人生本来就不公平，你能改变的只有你态度</a:t>
              </a:r>
            </a:p>
            <a:p>
              <a:pPr marL="342900" lvl="0" indent="-34290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不要成为错误和失败的奴隶</a:t>
              </a:r>
            </a:p>
            <a:p>
              <a:pPr marL="342900" lvl="0" indent="-34290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把所有失败当做成功的练习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212883" y="4839284"/>
            <a:ext cx="6115213" cy="1659988"/>
            <a:chOff x="3719323" y="4923691"/>
            <a:chExt cx="6115213" cy="1659988"/>
          </a:xfrm>
        </p:grpSpPr>
        <p:sp>
          <p:nvSpPr>
            <p:cNvPr id="31" name="剪去单角的矩形 30"/>
            <p:cNvSpPr/>
            <p:nvPr/>
          </p:nvSpPr>
          <p:spPr>
            <a:xfrm>
              <a:off x="3729157" y="4923691"/>
              <a:ext cx="6105379" cy="1659988"/>
            </a:xfrm>
            <a:prstGeom prst="snip1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3719323" y="5015133"/>
              <a:ext cx="5243471" cy="1484142"/>
            </a:xfrm>
            <a:prstGeom prst="rect">
              <a:avLst/>
            </a:prstGeom>
          </p:spPr>
          <p:txBody>
            <a:bodyPr/>
            <a:lstStyle/>
            <a:p>
              <a:pPr marL="342900" indent="-34290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该吃饭的时候吃饭，该睡觉的时候睡觉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只有得到的东西才是最好的东西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开始你的“小确幸”日记</a:t>
              </a:r>
            </a:p>
          </p:txBody>
        </p:sp>
      </p:grpSp>
      <p:sp>
        <p:nvSpPr>
          <p:cNvPr id="12" name="圆角矩形 11"/>
          <p:cNvSpPr/>
          <p:nvPr/>
        </p:nvSpPr>
        <p:spPr>
          <a:xfrm>
            <a:off x="3121538" y="1820190"/>
            <a:ext cx="3878711" cy="647114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痛苦和失败都不值一提</a:t>
            </a:r>
            <a:endParaRPr lang="zh-CN" altLang="en-US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121538" y="4190284"/>
            <a:ext cx="3189819" cy="647114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变乐观的超级英雄</a:t>
            </a:r>
            <a:endParaRPr lang="zh-CN" altLang="en-US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标题 1"/>
          <p:cNvSpPr>
            <a:spLocks noGrp="1"/>
          </p:cNvSpPr>
          <p:nvPr>
            <p:ph type="title"/>
          </p:nvPr>
        </p:nvSpPr>
        <p:spPr>
          <a:xfrm>
            <a:off x="235168" y="0"/>
            <a:ext cx="3624776" cy="600790"/>
          </a:xfrm>
          <a:noFill/>
        </p:spPr>
        <p:txBody>
          <a:bodyPr>
            <a:noAutofit/>
          </a:bodyPr>
          <a:lstStyle/>
          <a:p>
            <a:r>
              <a:rPr lang="zh-CN" altLang="en-US" sz="32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聚集</a:t>
            </a:r>
            <a:r>
              <a:rPr lang="zh-CN" altLang="en-US" sz="3200" dirty="0" smtClean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正能量的人生</a:t>
            </a:r>
            <a:endParaRPr lang="zh-CN" altLang="en-US" sz="3200" dirty="0">
              <a:solidFill>
                <a:srgbClr val="A0A0A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37624" y="559558"/>
            <a:ext cx="3231580" cy="3150"/>
            <a:chOff x="341614" y="559558"/>
            <a:chExt cx="3231580" cy="3150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341614" y="559558"/>
              <a:ext cx="826005" cy="0"/>
            </a:xfrm>
            <a:prstGeom prst="line">
              <a:avLst/>
            </a:prstGeom>
            <a:ln w="66675">
              <a:solidFill>
                <a:srgbClr val="A0A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1153551" y="562708"/>
              <a:ext cx="2419643" cy="0"/>
            </a:xfrm>
            <a:prstGeom prst="line">
              <a:avLst/>
            </a:prstGeom>
            <a:ln w="66675">
              <a:solidFill>
                <a:srgbClr val="C5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连接符 28"/>
          <p:cNvCxnSpPr/>
          <p:nvPr/>
        </p:nvCxnSpPr>
        <p:spPr>
          <a:xfrm>
            <a:off x="3236786" y="2378910"/>
            <a:ext cx="572555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36786" y="4735739"/>
            <a:ext cx="572555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/>
        </p:nvGrpSpPr>
        <p:grpSpPr>
          <a:xfrm>
            <a:off x="10959152" y="-476201"/>
            <a:ext cx="1423916" cy="1631852"/>
            <a:chOff x="10959152" y="-476201"/>
            <a:chExt cx="1423916" cy="1631852"/>
          </a:xfrm>
        </p:grpSpPr>
        <p:sp>
          <p:nvSpPr>
            <p:cNvPr id="35" name="流程图: 文档 34"/>
            <p:cNvSpPr/>
            <p:nvPr/>
          </p:nvSpPr>
          <p:spPr>
            <a:xfrm>
              <a:off x="11256252" y="-476201"/>
              <a:ext cx="867508" cy="1631852"/>
            </a:xfrm>
            <a:prstGeom prst="flowChartDocument">
              <a:avLst/>
            </a:prstGeom>
            <a:solidFill>
              <a:srgbClr val="D9D9D9"/>
            </a:solidFill>
            <a:ln w="25400">
              <a:solidFill>
                <a:srgbClr val="C52227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9152" y="-136477"/>
              <a:ext cx="1423916" cy="120874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" name="组合 40"/>
          <p:cNvGrpSpPr/>
          <p:nvPr/>
        </p:nvGrpSpPr>
        <p:grpSpPr>
          <a:xfrm>
            <a:off x="1399279" y="1572618"/>
            <a:ext cx="9010813" cy="5126229"/>
            <a:chOff x="1399279" y="1572618"/>
            <a:chExt cx="9010813" cy="5126229"/>
          </a:xfrm>
        </p:grpSpPr>
        <p:sp>
          <p:nvSpPr>
            <p:cNvPr id="42" name="矩形 3"/>
            <p:cNvSpPr/>
            <p:nvPr/>
          </p:nvSpPr>
          <p:spPr>
            <a:xfrm>
              <a:off x="1786597" y="1696943"/>
              <a:ext cx="8623495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 rot="19174672">
              <a:off x="1399279" y="1572618"/>
              <a:ext cx="1568634" cy="70525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dirty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正能量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248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0" y="3109799"/>
            <a:ext cx="12192000" cy="27296"/>
          </a:xfrm>
          <a:prstGeom prst="line">
            <a:avLst/>
          </a:prstGeom>
          <a:ln w="28575">
            <a:solidFill>
              <a:srgbClr val="A0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1448973" y="2504050"/>
            <a:ext cx="9453489" cy="12942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0963" y="2566226"/>
            <a:ext cx="8646941" cy="716700"/>
          </a:xfrm>
        </p:spPr>
        <p:txBody>
          <a:bodyPr>
            <a:noAutofit/>
          </a:bodyPr>
          <a:lstStyle/>
          <a:p>
            <a:r>
              <a:rPr lang="zh-CN" altLang="en-US" sz="60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职业，</a:t>
            </a:r>
            <a:r>
              <a:rPr lang="zh-CN" altLang="en-US" sz="60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爱情</a:t>
            </a:r>
            <a:r>
              <a:rPr lang="zh-CN" altLang="en-US" sz="60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，学习的规划</a:t>
            </a:r>
            <a:endParaRPr lang="zh-CN" altLang="en-US" sz="6000" dirty="0">
              <a:solidFill>
                <a:srgbClr val="C5222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03489" y="3291420"/>
            <a:ext cx="8454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梦想的遥远需要现在的努力去充实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7852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/>
          <p:nvPr/>
        </p:nvSpPr>
        <p:spPr>
          <a:xfrm>
            <a:off x="3205086" y="2417297"/>
            <a:ext cx="6105379" cy="1758464"/>
          </a:xfrm>
          <a:prstGeom prst="snip1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剪去单角的矩形 24"/>
          <p:cNvSpPr/>
          <p:nvPr/>
        </p:nvSpPr>
        <p:spPr>
          <a:xfrm>
            <a:off x="3221499" y="4797083"/>
            <a:ext cx="6105379" cy="1758464"/>
          </a:xfrm>
          <a:prstGeom prst="snip1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70432" y="0"/>
            <a:ext cx="4040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职业</a:t>
            </a:r>
            <a:r>
              <a:rPr lang="zh-CN" altLang="en-US" sz="32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，</a:t>
            </a:r>
            <a:r>
              <a:rPr lang="zh-CN" altLang="en-US" sz="32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爱情</a:t>
            </a:r>
            <a:r>
              <a:rPr lang="zh-CN" altLang="en-US" sz="3200" dirty="0" smtClean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的规划</a:t>
            </a:r>
            <a:endParaRPr lang="zh-CN" altLang="en-US" sz="3200" dirty="0">
              <a:solidFill>
                <a:srgbClr val="A0A0A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111888" y="1653690"/>
            <a:ext cx="2586775" cy="647114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职业规划三问</a:t>
            </a:r>
            <a:endParaRPr lang="zh-CN" altLang="en-US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111888" y="4079208"/>
            <a:ext cx="3823479" cy="647114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爱情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规划之脱单小技巧</a:t>
            </a:r>
            <a:endParaRPr lang="zh-CN" altLang="en-US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52579" y="2545415"/>
            <a:ext cx="284755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我能做什么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该职业途径是什么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我还能做些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236408" y="4909206"/>
            <a:ext cx="616164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寻找“联系员”，制定一定的标准，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保持一定的接触频率，增加目标对象的基数</a:t>
            </a:r>
          </a:p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增加样本选择的典型性，针对目标对象集中的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235571" y="2275400"/>
            <a:ext cx="57958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3221502" y="4651327"/>
            <a:ext cx="582402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93307" y="559138"/>
            <a:ext cx="3189376" cy="420"/>
            <a:chOff x="313478" y="559138"/>
            <a:chExt cx="3189376" cy="420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313478" y="559138"/>
              <a:ext cx="2006641" cy="0"/>
            </a:xfrm>
            <a:prstGeom prst="line">
              <a:avLst/>
            </a:prstGeom>
            <a:ln w="66675">
              <a:solidFill>
                <a:srgbClr val="A0A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2306472" y="559558"/>
              <a:ext cx="1196382" cy="0"/>
            </a:xfrm>
            <a:prstGeom prst="line">
              <a:avLst/>
            </a:prstGeom>
            <a:ln w="66675">
              <a:solidFill>
                <a:srgbClr val="C5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流程图: 文档 29"/>
          <p:cNvSpPr/>
          <p:nvPr/>
        </p:nvSpPr>
        <p:spPr>
          <a:xfrm>
            <a:off x="11213212" y="-392690"/>
            <a:ext cx="867508" cy="1631852"/>
          </a:xfrm>
          <a:prstGeom prst="flowChartDocument">
            <a:avLst/>
          </a:prstGeom>
          <a:solidFill>
            <a:srgbClr val="D9D9D9"/>
          </a:solidFill>
          <a:ln w="25400">
            <a:solidFill>
              <a:srgbClr val="C52227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3022" y="-98404"/>
            <a:ext cx="1423916" cy="12087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组合 31"/>
          <p:cNvGrpSpPr/>
          <p:nvPr/>
        </p:nvGrpSpPr>
        <p:grpSpPr>
          <a:xfrm>
            <a:off x="1399279" y="1572618"/>
            <a:ext cx="9010813" cy="5126229"/>
            <a:chOff x="1399279" y="1572618"/>
            <a:chExt cx="9010813" cy="5126229"/>
          </a:xfrm>
        </p:grpSpPr>
        <p:sp>
          <p:nvSpPr>
            <p:cNvPr id="33" name="矩形 3"/>
            <p:cNvSpPr/>
            <p:nvPr/>
          </p:nvSpPr>
          <p:spPr>
            <a:xfrm>
              <a:off x="1786597" y="1696943"/>
              <a:ext cx="8623495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 rot="19174672">
              <a:off x="1399279" y="1572618"/>
              <a:ext cx="1568634" cy="70525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000" dirty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规划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196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954211" y="1969131"/>
            <a:ext cx="7118253" cy="4388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读指导</a:t>
            </a:r>
            <a:r>
              <a:rPr lang="en-US" altLang="zh-CN" sz="2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</a:t>
            </a:r>
            <a:r>
              <a:rPr lang="en-US" altLang="zh-CN" sz="2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的书，指导</a:t>
            </a:r>
            <a:r>
              <a:rPr lang="en-US" altLang="zh-CN" sz="2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的书，知行合一</a:t>
            </a:r>
            <a:endParaRPr lang="en-US" altLang="zh-CN" sz="23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lvl="1" indent="-342900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“知”：比较理论性的书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lvl="1" indent="-342900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“行”：比较实践性的书</a:t>
            </a: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读旧书的好处</a:t>
            </a:r>
          </a:p>
          <a:p>
            <a:pPr marL="720000" lvl="1" indent="-342900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省时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省事，温故知新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读懒书的好处</a:t>
            </a:r>
          </a:p>
          <a:p>
            <a:pPr marL="720000" lvl="1" indent="-342900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借时间之手，筛无用之书</a:t>
            </a:r>
          </a:p>
          <a:p>
            <a:pPr marL="720000" lvl="1" indent="-342900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借他人之手，读自己书</a:t>
            </a:r>
          </a:p>
          <a:p>
            <a:pPr marL="720000" lvl="1" indent="-342900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实在读不懂，先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放一放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54876" y="3802266"/>
            <a:ext cx="6396111" cy="2872854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buFont typeface="Wingdings" panose="05000000000000000000" pitchFamily="2" charset="2"/>
              <a:buChar char="l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8877" y="0"/>
            <a:ext cx="1828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学习</a:t>
            </a:r>
            <a:r>
              <a:rPr lang="zh-CN" altLang="en-US" sz="3200" dirty="0" smtClean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规划</a:t>
            </a:r>
            <a:endParaRPr lang="zh-CN" altLang="en-US" sz="3200" dirty="0">
              <a:solidFill>
                <a:srgbClr val="A0A0A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1189" y="559138"/>
            <a:ext cx="846161" cy="0"/>
          </a:xfrm>
          <a:prstGeom prst="line">
            <a:avLst/>
          </a:prstGeom>
          <a:ln w="66675">
            <a:solidFill>
              <a:srgbClr val="A0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117854" y="559558"/>
            <a:ext cx="806480" cy="0"/>
          </a:xfrm>
          <a:prstGeom prst="line">
            <a:avLst/>
          </a:prstGeom>
          <a:ln w="66675">
            <a:solidFill>
              <a:srgbClr val="C5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>
            <a:off x="1399279" y="1572618"/>
            <a:ext cx="9010813" cy="5126229"/>
            <a:chOff x="1399279" y="1572618"/>
            <a:chExt cx="9010813" cy="5126229"/>
          </a:xfrm>
        </p:grpSpPr>
        <p:sp>
          <p:nvSpPr>
            <p:cNvPr id="30" name="矩形 3"/>
            <p:cNvSpPr/>
            <p:nvPr/>
          </p:nvSpPr>
          <p:spPr>
            <a:xfrm>
              <a:off x="1786597" y="1696943"/>
              <a:ext cx="8623495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 rot="19174672">
              <a:off x="1399279" y="1572618"/>
              <a:ext cx="1568634" cy="70525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000" dirty="0" smtClean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读书</a:t>
              </a:r>
              <a:endParaRPr lang="zh-CN" altLang="en-US" sz="4000" dirty="0">
                <a:solidFill>
                  <a:srgbClr val="C52227"/>
                </a:solidFill>
                <a:latin typeface="华康少女文字W5(P)" panose="040F0500000000000000" pitchFamily="82" charset="-122"/>
                <a:ea typeface="华康少女文字W5(P)" panose="040F0500000000000000" pitchFamily="8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959152" y="-476201"/>
            <a:ext cx="1423916" cy="1631852"/>
            <a:chOff x="10959152" y="-476201"/>
            <a:chExt cx="1423916" cy="1631852"/>
          </a:xfrm>
        </p:grpSpPr>
        <p:sp>
          <p:nvSpPr>
            <p:cNvPr id="16" name="流程图: 文档 15"/>
            <p:cNvSpPr/>
            <p:nvPr/>
          </p:nvSpPr>
          <p:spPr>
            <a:xfrm>
              <a:off x="11256252" y="-476201"/>
              <a:ext cx="867508" cy="1631852"/>
            </a:xfrm>
            <a:prstGeom prst="flowChartDocument">
              <a:avLst/>
            </a:prstGeom>
            <a:solidFill>
              <a:srgbClr val="D9D9D9"/>
            </a:solidFill>
            <a:ln w="25400">
              <a:solidFill>
                <a:srgbClr val="C52227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9152" y="-136477"/>
              <a:ext cx="1423916" cy="12087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5876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 flipV="1">
            <a:off x="0" y="3422858"/>
            <a:ext cx="12192000" cy="16378"/>
          </a:xfrm>
          <a:prstGeom prst="line">
            <a:avLst/>
          </a:prstGeom>
          <a:ln w="28575">
            <a:solidFill>
              <a:srgbClr val="A0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1009934" y="2774491"/>
            <a:ext cx="10181229" cy="12942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1003" y="2963668"/>
            <a:ext cx="9539785" cy="604911"/>
          </a:xfrm>
        </p:spPr>
        <p:txBody>
          <a:bodyPr>
            <a:noAutofit/>
          </a:bodyPr>
          <a:lstStyle/>
          <a:p>
            <a:pPr algn="dist"/>
            <a:r>
              <a:rPr lang="zh-CN" altLang="en-US" sz="60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打败梦想路上的小怪兽</a:t>
            </a:r>
            <a:endParaRPr lang="zh-CN" altLang="en-US" sz="6000" dirty="0">
              <a:solidFill>
                <a:srgbClr val="C52227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3021" y="3590208"/>
            <a:ext cx="100819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站起来，用奥特曼的信心和勇气，以及一点点小技巧，击败所有的“小怪兽”</a:t>
            </a:r>
            <a:endParaRPr lang="zh-CN" altLang="en-US" sz="2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070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5176709" y="3573198"/>
            <a:ext cx="3991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79944" y="2084386"/>
            <a:ext cx="7497170" cy="4773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五分钟拖延症改变法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lvl="1" indent="-342900">
              <a:lnSpc>
                <a:spcPct val="120000"/>
              </a:lnSpc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立即挑选最有成就感的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部分行动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，不要思考</a:t>
            </a:r>
          </a:p>
          <a:p>
            <a:pPr marL="720000" lvl="1" indent="-342900">
              <a:lnSpc>
                <a:spcPct val="120000"/>
              </a:lnSpc>
              <a:buFont typeface="微软雅黑" panose="020B0503020204020204" pitchFamily="34" charset="-122"/>
              <a:buChar char="-"/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切记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这只是一个开头，还需要更多的努力</a:t>
            </a: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积分奖励法</a:t>
            </a:r>
          </a:p>
          <a:p>
            <a:pPr marL="720000" lvl="1" indent="-342900">
              <a:lnSpc>
                <a:spcPct val="120000"/>
              </a:lnSpc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攒满一定的积分换取一定的奖励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任务竞赛法</a:t>
            </a:r>
          </a:p>
          <a:p>
            <a:pPr marL="720000" lvl="1" indent="-342900">
              <a:lnSpc>
                <a:spcPct val="120000"/>
              </a:lnSpc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与他人或者自己进行比赛，并且下定决心要胜过他</a:t>
            </a: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以毒攻毒法</a:t>
            </a:r>
          </a:p>
          <a:p>
            <a:pPr marL="720000" lvl="1" indent="-342900">
              <a:lnSpc>
                <a:spcPct val="120000"/>
              </a:lnSpc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倒计时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分钟，只能坐着，其他什么都不能做</a:t>
            </a:r>
          </a:p>
          <a:p>
            <a:pPr marL="781200" lvl="1" indent="-2520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0" y="106232"/>
            <a:ext cx="5024896" cy="436354"/>
          </a:xfrm>
          <a:prstGeom prst="roundRect">
            <a:avLst/>
          </a:prstGeom>
          <a:noFill/>
          <a:ln w="3810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600" dirty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+mj-cs"/>
              </a:rPr>
              <a:t>“小怪兽”一：</a:t>
            </a:r>
            <a:r>
              <a:rPr lang="zh-CN" altLang="en-US" sz="36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+mj-cs"/>
              </a:rPr>
              <a:t>拖延症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1399279" y="1572618"/>
            <a:ext cx="9010813" cy="5126229"/>
            <a:chOff x="1399279" y="1572618"/>
            <a:chExt cx="9010813" cy="5126229"/>
          </a:xfrm>
        </p:grpSpPr>
        <p:sp>
          <p:nvSpPr>
            <p:cNvPr id="17" name="矩形 3"/>
            <p:cNvSpPr/>
            <p:nvPr/>
          </p:nvSpPr>
          <p:spPr>
            <a:xfrm>
              <a:off x="1786597" y="1696943"/>
              <a:ext cx="8623495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 rot="19174672">
              <a:off x="1399279" y="1572618"/>
              <a:ext cx="1568634" cy="70525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dirty="0" smtClean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Tips</a:t>
              </a:r>
              <a:endParaRPr lang="zh-CN" altLang="en-US" sz="4000" dirty="0">
                <a:solidFill>
                  <a:srgbClr val="C52227"/>
                </a:solidFill>
                <a:latin typeface="华康少女文字W5(P)" panose="040F0500000000000000" pitchFamily="82" charset="-122"/>
                <a:ea typeface="华康少女文字W5(P)" panose="040F0500000000000000" pitchFamily="8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54842" y="586854"/>
            <a:ext cx="4376729" cy="3569"/>
            <a:chOff x="354842" y="586854"/>
            <a:chExt cx="4376729" cy="3569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354842" y="586854"/>
              <a:ext cx="2627509" cy="0"/>
            </a:xfrm>
            <a:prstGeom prst="line">
              <a:avLst/>
            </a:prstGeom>
            <a:ln w="66675">
              <a:solidFill>
                <a:srgbClr val="C5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2968280" y="590423"/>
              <a:ext cx="1763291" cy="0"/>
            </a:xfrm>
            <a:prstGeom prst="line">
              <a:avLst/>
            </a:prstGeom>
            <a:ln w="66675">
              <a:solidFill>
                <a:srgbClr val="A0A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10959152" y="-476201"/>
            <a:ext cx="1423916" cy="1631852"/>
            <a:chOff x="10959152" y="-476201"/>
            <a:chExt cx="1423916" cy="1631852"/>
          </a:xfrm>
        </p:grpSpPr>
        <p:sp>
          <p:nvSpPr>
            <p:cNvPr id="25" name="流程图: 文档 24"/>
            <p:cNvSpPr/>
            <p:nvPr/>
          </p:nvSpPr>
          <p:spPr>
            <a:xfrm>
              <a:off x="11256252" y="-476201"/>
              <a:ext cx="867508" cy="1631852"/>
            </a:xfrm>
            <a:prstGeom prst="flowChartDocument">
              <a:avLst/>
            </a:prstGeom>
            <a:solidFill>
              <a:srgbClr val="D9D9D9"/>
            </a:solidFill>
            <a:ln w="25400">
              <a:solidFill>
                <a:srgbClr val="C52227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9152" y="-136477"/>
              <a:ext cx="1423916" cy="12087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1035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圆角矩形 35"/>
          <p:cNvSpPr/>
          <p:nvPr/>
        </p:nvSpPr>
        <p:spPr>
          <a:xfrm>
            <a:off x="0" y="56272"/>
            <a:ext cx="5866227" cy="436354"/>
          </a:xfrm>
          <a:prstGeom prst="roundRect">
            <a:avLst/>
          </a:prstGeom>
          <a:noFill/>
          <a:ln w="3810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b="1" dirty="0" smtClean="0">
                <a:solidFill>
                  <a:srgbClr val="A0A0A0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“小怪兽”二：</a:t>
            </a:r>
            <a:r>
              <a:rPr lang="zh-CN" altLang="en-US" sz="3600" b="1" dirty="0" smtClean="0">
                <a:solidFill>
                  <a:srgbClr val="C5222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完美主义者</a:t>
            </a:r>
            <a:endParaRPr lang="zh-CN" altLang="en-US" sz="3600" b="1" dirty="0">
              <a:solidFill>
                <a:srgbClr val="C5222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924187" y="2458068"/>
            <a:ext cx="6950074" cy="359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刻意放低对自己的要求</a:t>
            </a:r>
          </a:p>
          <a:p>
            <a:pPr marL="720000" lvl="1" indent="-342900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对于完美主义者，应该在不影响大局的情况下，适当放低对自己的要求</a:t>
            </a:r>
          </a:p>
          <a:p>
            <a:pPr marL="720000" lvl="1" indent="-342900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告诉自己：就算不那没么完美，天也不会塌下来嘛</a:t>
            </a: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不要害怕犯错</a:t>
            </a:r>
          </a:p>
          <a:p>
            <a:pPr marL="720000" lvl="1" indent="-342900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人非圣贤，岂能无过，有时候错误和失败并非坏事，它已“试错”的方式教会我们更多</a:t>
            </a:r>
          </a:p>
          <a:p>
            <a:pPr marL="457200" indent="-457200">
              <a:buFont typeface="Wingdings" panose="05000000000000000000" pitchFamily="2" charset="2"/>
              <a:buChar char="p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399279" y="1572618"/>
            <a:ext cx="9010813" cy="5126229"/>
            <a:chOff x="1399279" y="1572618"/>
            <a:chExt cx="9010813" cy="5126229"/>
          </a:xfrm>
        </p:grpSpPr>
        <p:sp>
          <p:nvSpPr>
            <p:cNvPr id="23" name="矩形 3"/>
            <p:cNvSpPr/>
            <p:nvPr/>
          </p:nvSpPr>
          <p:spPr>
            <a:xfrm>
              <a:off x="1786597" y="1696943"/>
              <a:ext cx="8623495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 rot="19174672">
              <a:off x="1399279" y="1572618"/>
              <a:ext cx="1568634" cy="70525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dirty="0" smtClean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Tips</a:t>
              </a:r>
              <a:endParaRPr lang="zh-CN" altLang="en-US" sz="4000" dirty="0">
                <a:solidFill>
                  <a:srgbClr val="C52227"/>
                </a:solidFill>
                <a:latin typeface="华康少女文字W5(P)" panose="040F0500000000000000" pitchFamily="82" charset="-122"/>
                <a:ea typeface="华康少女文字W5(P)" panose="040F0500000000000000" pitchFamily="8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54842" y="586854"/>
            <a:ext cx="5230032" cy="3569"/>
            <a:chOff x="354842" y="586854"/>
            <a:chExt cx="5230032" cy="3569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54842" y="586854"/>
              <a:ext cx="2613441" cy="0"/>
            </a:xfrm>
            <a:prstGeom prst="line">
              <a:avLst/>
            </a:prstGeom>
            <a:ln w="66675">
              <a:solidFill>
                <a:srgbClr val="C5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2954215" y="590423"/>
              <a:ext cx="2630659" cy="0"/>
            </a:xfrm>
            <a:prstGeom prst="line">
              <a:avLst/>
            </a:prstGeom>
            <a:ln w="66675">
              <a:solidFill>
                <a:srgbClr val="A0A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10959152" y="-476201"/>
            <a:ext cx="1423916" cy="1631852"/>
            <a:chOff x="10959152" y="-476201"/>
            <a:chExt cx="1423916" cy="1631852"/>
          </a:xfrm>
        </p:grpSpPr>
        <p:sp>
          <p:nvSpPr>
            <p:cNvPr id="25" name="流程图: 文档 24"/>
            <p:cNvSpPr/>
            <p:nvPr/>
          </p:nvSpPr>
          <p:spPr>
            <a:xfrm>
              <a:off x="11256252" y="-476201"/>
              <a:ext cx="867508" cy="1631852"/>
            </a:xfrm>
            <a:prstGeom prst="flowChartDocument">
              <a:avLst/>
            </a:prstGeom>
            <a:solidFill>
              <a:srgbClr val="D9D9D9"/>
            </a:solidFill>
            <a:ln w="25400">
              <a:solidFill>
                <a:srgbClr val="C52227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9152" y="-136477"/>
              <a:ext cx="1423916" cy="12087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31840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2935744" y="2024279"/>
            <a:ext cx="7613975" cy="433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目标明确，日起有功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lvl="1" indent="-342900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SMART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原则，明确和清晰自己的目标</a:t>
            </a: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安排详细的计划，避免懒惰</a:t>
            </a:r>
          </a:p>
          <a:p>
            <a:pPr marL="720000" lvl="1" indent="-342900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SMART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原则，将计划细化至每月，每周，乃至每日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步骤标准化，做到不用想就行动</a:t>
            </a:r>
          </a:p>
          <a:p>
            <a:pPr marL="720000" lvl="1" indent="-342900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将麻烦的事情，彻底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lvl="1" indent="-342900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所有行动细节都予以规定，让自己不需思考就能轻松的完成每天的任务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-14279" y="42815"/>
            <a:ext cx="5950843" cy="436354"/>
          </a:xfrm>
          <a:prstGeom prst="roundRect">
            <a:avLst/>
          </a:prstGeom>
          <a:noFill/>
          <a:ln w="3810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b="1" dirty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“小怪兽”三：</a:t>
            </a:r>
            <a:r>
              <a:rPr lang="zh-CN" altLang="en-US" sz="3600" b="1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三分钟热度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399279" y="1572618"/>
            <a:ext cx="9010813" cy="5126229"/>
            <a:chOff x="1399279" y="1572618"/>
            <a:chExt cx="9010813" cy="5126229"/>
          </a:xfrm>
        </p:grpSpPr>
        <p:sp>
          <p:nvSpPr>
            <p:cNvPr id="22" name="矩形 3"/>
            <p:cNvSpPr/>
            <p:nvPr/>
          </p:nvSpPr>
          <p:spPr>
            <a:xfrm>
              <a:off x="1786597" y="1696943"/>
              <a:ext cx="8623495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 rot="19174672">
              <a:off x="1399279" y="1572618"/>
              <a:ext cx="1568634" cy="70525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dirty="0" smtClean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Tips</a:t>
              </a:r>
              <a:endParaRPr lang="zh-CN" altLang="en-US" sz="4000" dirty="0">
                <a:solidFill>
                  <a:srgbClr val="C52227"/>
                </a:solidFill>
                <a:latin typeface="华康少女文字W5(P)" panose="040F0500000000000000" pitchFamily="82" charset="-122"/>
                <a:ea typeface="华康少女文字W5(P)" panose="040F0500000000000000" pitchFamily="8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54842" y="586854"/>
            <a:ext cx="5286302" cy="3989"/>
            <a:chOff x="354842" y="586854"/>
            <a:chExt cx="5286302" cy="3989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354842" y="586854"/>
              <a:ext cx="2613441" cy="3989"/>
            </a:xfrm>
            <a:prstGeom prst="line">
              <a:avLst/>
            </a:prstGeom>
            <a:ln w="66675">
              <a:solidFill>
                <a:srgbClr val="C5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2940147" y="590423"/>
              <a:ext cx="2700997" cy="0"/>
            </a:xfrm>
            <a:prstGeom prst="line">
              <a:avLst/>
            </a:prstGeom>
            <a:ln w="66675">
              <a:solidFill>
                <a:srgbClr val="A0A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/>
          <p:cNvGrpSpPr/>
          <p:nvPr/>
        </p:nvGrpSpPr>
        <p:grpSpPr>
          <a:xfrm>
            <a:off x="10959152" y="-476201"/>
            <a:ext cx="1423916" cy="1631852"/>
            <a:chOff x="10959152" y="-476201"/>
            <a:chExt cx="1423916" cy="1631852"/>
          </a:xfrm>
        </p:grpSpPr>
        <p:sp>
          <p:nvSpPr>
            <p:cNvPr id="29" name="流程图: 文档 28"/>
            <p:cNvSpPr/>
            <p:nvPr/>
          </p:nvSpPr>
          <p:spPr>
            <a:xfrm>
              <a:off x="11256252" y="-476201"/>
              <a:ext cx="867508" cy="1631852"/>
            </a:xfrm>
            <a:prstGeom prst="flowChartDocument">
              <a:avLst/>
            </a:prstGeom>
            <a:solidFill>
              <a:srgbClr val="D9D9D9"/>
            </a:solidFill>
            <a:ln w="25400">
              <a:solidFill>
                <a:srgbClr val="C52227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9152" y="-136477"/>
              <a:ext cx="1423916" cy="12087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727568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689856" y="1925244"/>
            <a:ext cx="7530149" cy="4619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“唵字诀”彻底放松头脑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lvl="1" indent="-342900" algn="just">
              <a:lnSpc>
                <a:spcPct val="120000"/>
              </a:lnSpc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现代人头脑每天被大量信息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轰炸几乎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不得片刻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休息，通过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“唵字诀”法能使内心平静，减少杂念，提高专注力</a:t>
            </a: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重视休息，适当运动</a:t>
            </a:r>
          </a:p>
          <a:p>
            <a:pPr marL="720000" lvl="1" indent="-342900" algn="just">
              <a:lnSpc>
                <a:spcPct val="120000"/>
              </a:lnSpc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注意力涣散很大的一个原因就是体力上的疲乏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倒计时工作法</a:t>
            </a:r>
          </a:p>
          <a:p>
            <a:pPr marL="720000" lvl="1" indent="-342900" algn="just">
              <a:lnSpc>
                <a:spcPct val="120000"/>
              </a:lnSpc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通过对截止时间本能的焦虑感，来达到增加刺激的目的，从而使自己更加集中注意力</a:t>
            </a: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改变环境，专注当下</a:t>
            </a:r>
          </a:p>
          <a:p>
            <a:pPr marL="720000" lvl="1" indent="-342900" algn="just">
              <a:lnSpc>
                <a:spcPct val="120000"/>
              </a:lnSpc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创造一个不让外部打扰的环境，并集中注意力于当下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-2" y="56272"/>
            <a:ext cx="6175717" cy="436354"/>
          </a:xfrm>
          <a:prstGeom prst="roundRect">
            <a:avLst/>
          </a:prstGeom>
          <a:noFill/>
          <a:ln w="3810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600" dirty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+mj-cs"/>
              </a:rPr>
              <a:t>“小怪兽”四：</a:t>
            </a:r>
            <a:r>
              <a:rPr lang="zh-CN" altLang="en-US" sz="36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+mj-cs"/>
              </a:rPr>
              <a:t>注意力涣散症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54842" y="586854"/>
            <a:ext cx="5680198" cy="3569"/>
            <a:chOff x="354842" y="586854"/>
            <a:chExt cx="5680198" cy="3569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354842" y="586854"/>
              <a:ext cx="2613441" cy="0"/>
            </a:xfrm>
            <a:prstGeom prst="line">
              <a:avLst/>
            </a:prstGeom>
            <a:ln w="66675">
              <a:solidFill>
                <a:srgbClr val="C5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2968283" y="590423"/>
              <a:ext cx="3066757" cy="0"/>
            </a:xfrm>
            <a:prstGeom prst="line">
              <a:avLst/>
            </a:prstGeom>
            <a:ln w="66675">
              <a:solidFill>
                <a:srgbClr val="A0A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1399279" y="1572618"/>
            <a:ext cx="9010813" cy="5126229"/>
            <a:chOff x="1399279" y="1572618"/>
            <a:chExt cx="9010813" cy="5126229"/>
          </a:xfrm>
        </p:grpSpPr>
        <p:sp>
          <p:nvSpPr>
            <p:cNvPr id="24" name="矩形 3"/>
            <p:cNvSpPr/>
            <p:nvPr/>
          </p:nvSpPr>
          <p:spPr>
            <a:xfrm>
              <a:off x="1786597" y="1696943"/>
              <a:ext cx="8623495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 rot="19174672">
              <a:off x="1399279" y="1572618"/>
              <a:ext cx="1568634" cy="70525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dirty="0" smtClean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Tips</a:t>
              </a:r>
              <a:endParaRPr lang="zh-CN" altLang="en-US" sz="4000" dirty="0">
                <a:solidFill>
                  <a:srgbClr val="C52227"/>
                </a:solidFill>
                <a:latin typeface="华康少女文字W5(P)" panose="040F0500000000000000" pitchFamily="82" charset="-122"/>
                <a:ea typeface="华康少女文字W5(P)" panose="040F0500000000000000" pitchFamily="8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0959152" y="-476201"/>
            <a:ext cx="1423916" cy="1631852"/>
            <a:chOff x="10959152" y="-476201"/>
            <a:chExt cx="1423916" cy="1631852"/>
          </a:xfrm>
        </p:grpSpPr>
        <p:sp>
          <p:nvSpPr>
            <p:cNvPr id="18" name="流程图: 文档 17"/>
            <p:cNvSpPr/>
            <p:nvPr/>
          </p:nvSpPr>
          <p:spPr>
            <a:xfrm>
              <a:off x="11256252" y="-476201"/>
              <a:ext cx="867508" cy="1631852"/>
            </a:xfrm>
            <a:prstGeom prst="flowChartDocument">
              <a:avLst/>
            </a:prstGeom>
            <a:solidFill>
              <a:srgbClr val="D9D9D9"/>
            </a:solidFill>
            <a:ln w="25400">
              <a:solidFill>
                <a:srgbClr val="C52227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9152" y="-136477"/>
              <a:ext cx="1423916" cy="12087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8264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71334" y="2058615"/>
            <a:ext cx="7310790" cy="4992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何不试着说一次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</a:t>
            </a:r>
          </a:p>
          <a:p>
            <a:pPr marL="720000" lvl="1" indent="-342900" algn="just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害怕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say no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的人，不妨试着在一些小事件上，强迫自己试着说一次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以此增强自己对不重要的事情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say no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的勇气</a:t>
            </a: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哪边会更有利</a:t>
            </a:r>
          </a:p>
          <a:p>
            <a:pPr marL="720000" lvl="1" indent="-342900" algn="just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把最糟糕的结果与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say no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的好处做一下对比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Say no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也要讲究技巧</a:t>
            </a:r>
          </a:p>
          <a:p>
            <a:pPr marL="720000" lvl="1" indent="-342900" algn="just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要积极地倾听对方的要求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lvl="1" indent="-342900" algn="just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用抱歉舒缓对方的情绪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lvl="1" indent="-342900" algn="just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应明白干脆地说出“不”字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lvl="1" indent="-342900" algn="just">
              <a:lnSpc>
                <a:spcPct val="120000"/>
              </a:lnSpc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清楚地说明拒绝理由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-28136" y="0"/>
            <a:ext cx="5598940" cy="436354"/>
          </a:xfrm>
          <a:prstGeom prst="roundRect">
            <a:avLst/>
          </a:prstGeom>
          <a:noFill/>
          <a:ln w="3810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+mj-cs"/>
              </a:rPr>
              <a:t>“小怪兽”五：</a:t>
            </a:r>
            <a:r>
              <a:rPr lang="zh-CN" altLang="en-US" sz="36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+mj-cs"/>
              </a:rPr>
              <a:t>无法</a:t>
            </a:r>
            <a:r>
              <a:rPr lang="en-US" altLang="zh-CN" sz="36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cs typeface="+mj-cs"/>
              </a:rPr>
              <a:t>say no</a:t>
            </a:r>
            <a:endParaRPr lang="zh-CN" altLang="en-US" sz="3600" dirty="0">
              <a:solidFill>
                <a:srgbClr val="C5222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  <a:cs typeface="+mj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99279" y="1572618"/>
            <a:ext cx="9010813" cy="5126229"/>
            <a:chOff x="1399279" y="1572618"/>
            <a:chExt cx="9010813" cy="5126229"/>
          </a:xfrm>
        </p:grpSpPr>
        <p:sp>
          <p:nvSpPr>
            <p:cNvPr id="13" name="矩形 3"/>
            <p:cNvSpPr/>
            <p:nvPr/>
          </p:nvSpPr>
          <p:spPr>
            <a:xfrm>
              <a:off x="1786597" y="1696943"/>
              <a:ext cx="8623495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 rot="19174672">
              <a:off x="1399279" y="1572618"/>
              <a:ext cx="1568634" cy="70525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dirty="0" smtClean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Tips</a:t>
              </a:r>
              <a:endParaRPr lang="zh-CN" altLang="en-US" sz="4000" dirty="0">
                <a:solidFill>
                  <a:srgbClr val="C52227"/>
                </a:solidFill>
                <a:latin typeface="华康少女文字W5(P)" panose="040F0500000000000000" pitchFamily="82" charset="-122"/>
                <a:ea typeface="华康少女文字W5(P)" panose="040F0500000000000000" pitchFamily="8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54842" y="586854"/>
            <a:ext cx="5061220" cy="3569"/>
            <a:chOff x="354842" y="586854"/>
            <a:chExt cx="5061220" cy="3569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354842" y="586854"/>
              <a:ext cx="2627509" cy="0"/>
            </a:xfrm>
            <a:prstGeom prst="line">
              <a:avLst/>
            </a:prstGeom>
            <a:ln w="66675">
              <a:solidFill>
                <a:srgbClr val="C5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2968283" y="590423"/>
              <a:ext cx="2447779" cy="0"/>
            </a:xfrm>
            <a:prstGeom prst="line">
              <a:avLst/>
            </a:prstGeom>
            <a:ln w="66675">
              <a:solidFill>
                <a:srgbClr val="A0A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10959152" y="-476201"/>
            <a:ext cx="1423916" cy="1631852"/>
            <a:chOff x="10959152" y="-476201"/>
            <a:chExt cx="1423916" cy="1631852"/>
          </a:xfrm>
        </p:grpSpPr>
        <p:sp>
          <p:nvSpPr>
            <p:cNvPr id="24" name="流程图: 文档 23"/>
            <p:cNvSpPr/>
            <p:nvPr/>
          </p:nvSpPr>
          <p:spPr>
            <a:xfrm>
              <a:off x="11256252" y="-476201"/>
              <a:ext cx="867508" cy="1631852"/>
            </a:xfrm>
            <a:prstGeom prst="flowChartDocument">
              <a:avLst/>
            </a:prstGeom>
            <a:solidFill>
              <a:srgbClr val="D9D9D9"/>
            </a:solidFill>
            <a:ln w="25400">
              <a:solidFill>
                <a:srgbClr val="C52227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9152" y="-136477"/>
              <a:ext cx="1423916" cy="12087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63207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3425588"/>
            <a:ext cx="12192000" cy="6719"/>
          </a:xfrm>
          <a:prstGeom prst="line">
            <a:avLst/>
          </a:prstGeom>
          <a:ln w="28575">
            <a:solidFill>
              <a:srgbClr val="A0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/>
        </p:nvSpPr>
        <p:spPr>
          <a:xfrm>
            <a:off x="2503211" y="2769868"/>
            <a:ext cx="7188590" cy="12942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3038" y="2859435"/>
            <a:ext cx="6485206" cy="716700"/>
          </a:xfrm>
        </p:spPr>
        <p:txBody>
          <a:bodyPr>
            <a:noAutofit/>
          </a:bodyPr>
          <a:lstStyle/>
          <a:p>
            <a:r>
              <a:rPr lang="zh-CN" altLang="en-US" sz="60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踏上财富自由之路</a:t>
            </a:r>
            <a:endParaRPr lang="zh-CN" altLang="en-US" sz="6000" dirty="0">
              <a:solidFill>
                <a:srgbClr val="C5222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83039" y="3548345"/>
            <a:ext cx="6231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你的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梦想，需要金钱来</a:t>
            </a:r>
            <a:r>
              <a:rPr lang="zh-CN" altLang="en-US" sz="28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支撑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518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123373" y="4509153"/>
            <a:ext cx="603070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对于大笔金钱，想到玩，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想到购买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奢侈品，想到分掉，都是人的第一反应，也是典型的穷人思维</a:t>
            </a:r>
          </a:p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用富人的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方式去思考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，把金钱当作奴隶，让它不断为你所用，为你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39149" y="0"/>
            <a:ext cx="3530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踏上</a:t>
            </a:r>
            <a:r>
              <a:rPr lang="zh-CN" altLang="en-US" sz="32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财富自由</a:t>
            </a:r>
            <a:r>
              <a:rPr lang="zh-CN" altLang="en-US" sz="3200" dirty="0" smtClean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之路</a:t>
            </a:r>
            <a:endParaRPr lang="zh-CN" altLang="en-US" sz="3200" dirty="0">
              <a:solidFill>
                <a:srgbClr val="A0A0A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3088907" y="1820324"/>
            <a:ext cx="2758950" cy="436354"/>
          </a:xfrm>
          <a:prstGeom prst="roundRect">
            <a:avLst/>
          </a:prstGeom>
          <a:noFill/>
          <a:ln w="3810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投资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理财的理由</a:t>
            </a:r>
            <a:endParaRPr lang="zh-CN" altLang="en-US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138644" y="590843"/>
            <a:ext cx="1617785" cy="0"/>
          </a:xfrm>
          <a:prstGeom prst="line">
            <a:avLst/>
          </a:prstGeom>
          <a:ln w="66675">
            <a:solidFill>
              <a:srgbClr val="A0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9"/>
          <p:cNvSpPr>
            <a:spLocks noGrp="1"/>
          </p:cNvSpPr>
          <p:nvPr>
            <p:ph type="body" idx="1"/>
          </p:nvPr>
        </p:nvSpPr>
        <p:spPr>
          <a:xfrm>
            <a:off x="3121973" y="2447576"/>
            <a:ext cx="5808277" cy="1417476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金钱不是万能的，但没钱是万万不能的</a:t>
            </a:r>
          </a:p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实现了财富自由，可以不用考虑生活的压力，追求你真正的梦想</a:t>
            </a:r>
          </a:p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742361" y="590843"/>
            <a:ext cx="815925" cy="0"/>
          </a:xfrm>
          <a:prstGeom prst="line">
            <a:avLst/>
          </a:prstGeom>
          <a:ln w="66675">
            <a:solidFill>
              <a:srgbClr val="C5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348508" y="588499"/>
            <a:ext cx="790136" cy="0"/>
          </a:xfrm>
          <a:prstGeom prst="line">
            <a:avLst/>
          </a:prstGeom>
          <a:ln w="66675">
            <a:solidFill>
              <a:srgbClr val="C5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207781" y="4406096"/>
            <a:ext cx="579155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组合 36"/>
          <p:cNvGrpSpPr/>
          <p:nvPr/>
        </p:nvGrpSpPr>
        <p:grpSpPr>
          <a:xfrm>
            <a:off x="10959152" y="-476201"/>
            <a:ext cx="1423916" cy="1631852"/>
            <a:chOff x="10959152" y="-476201"/>
            <a:chExt cx="1423916" cy="1631852"/>
          </a:xfrm>
        </p:grpSpPr>
        <p:sp>
          <p:nvSpPr>
            <p:cNvPr id="38" name="流程图: 文档 37"/>
            <p:cNvSpPr/>
            <p:nvPr/>
          </p:nvSpPr>
          <p:spPr>
            <a:xfrm>
              <a:off x="11256252" y="-476201"/>
              <a:ext cx="867508" cy="1631852"/>
            </a:xfrm>
            <a:prstGeom prst="flowChartDocument">
              <a:avLst/>
            </a:prstGeom>
            <a:solidFill>
              <a:srgbClr val="D9D9D9"/>
            </a:solidFill>
            <a:ln w="25400">
              <a:solidFill>
                <a:srgbClr val="C52227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9152" y="-136477"/>
              <a:ext cx="1423916" cy="120874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" name="组合 39"/>
          <p:cNvGrpSpPr/>
          <p:nvPr/>
        </p:nvGrpSpPr>
        <p:grpSpPr>
          <a:xfrm>
            <a:off x="1147264" y="1440474"/>
            <a:ext cx="9003100" cy="5128191"/>
            <a:chOff x="1406992" y="1570656"/>
            <a:chExt cx="9003100" cy="5128191"/>
          </a:xfrm>
        </p:grpSpPr>
        <p:sp>
          <p:nvSpPr>
            <p:cNvPr id="42" name="矩形 3"/>
            <p:cNvSpPr/>
            <p:nvPr/>
          </p:nvSpPr>
          <p:spPr>
            <a:xfrm>
              <a:off x="1786597" y="1696943"/>
              <a:ext cx="8623495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 rot="19174672">
              <a:off x="1406992" y="1570656"/>
              <a:ext cx="1570706" cy="74026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700" dirty="0" smtClean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投资理财</a:t>
              </a:r>
              <a:endParaRPr lang="zh-CN" altLang="en-US" sz="2700" dirty="0">
                <a:solidFill>
                  <a:srgbClr val="C52227"/>
                </a:solidFill>
                <a:latin typeface="华康少女文字W5(P)" panose="040F0500000000000000" pitchFamily="82" charset="-122"/>
                <a:ea typeface="华康少女文字W5(P)" panose="040F0500000000000000" pitchFamily="82" charset="-122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>
          <a:xfrm>
            <a:off x="3219501" y="2293602"/>
            <a:ext cx="579155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/>
        </p:nvSpPr>
        <p:spPr>
          <a:xfrm>
            <a:off x="3088907" y="3914336"/>
            <a:ext cx="2805981" cy="436354"/>
          </a:xfrm>
          <a:prstGeom prst="roundRect">
            <a:avLst/>
          </a:prstGeom>
          <a:noFill/>
          <a:ln w="3810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投资理财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的思维</a:t>
            </a:r>
            <a:endParaRPr lang="zh-CN" altLang="en-US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815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715065" y="2214457"/>
            <a:ext cx="7549663" cy="3775804"/>
          </a:xfrm>
        </p:spPr>
        <p:txBody>
          <a:bodyPr>
            <a:normAutofit/>
          </a:bodyPr>
          <a:lstStyle/>
          <a:p>
            <a:pPr marL="342900" lvl="1" indent="-3429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薪水高了就有余钱了吗</a:t>
            </a:r>
          </a:p>
          <a:p>
            <a:pPr marL="720000" lvl="1" indent="-34290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适当控制消费欲望，把钱储蓄起来， 是走上财富自由的重要关键点</a:t>
            </a:r>
          </a:p>
          <a:p>
            <a:pPr marL="342900" lvl="1" indent="-3429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理财，就是永远挑软柿子捏</a:t>
            </a:r>
          </a:p>
          <a:p>
            <a:pPr marL="720000" lvl="1" indent="-34290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理财的过程，就像一个不断与人性的弱点搏斗的过程</a:t>
            </a:r>
          </a:p>
          <a:p>
            <a:pPr marL="342900" lvl="1" indent="-3429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建立数字化思维，避免被忽悠</a:t>
            </a:r>
          </a:p>
          <a:p>
            <a:pPr marL="720000" lvl="1" indent="-34290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几乎任何投资产品，都可以通过简单的计算，来解决“合不合算”的疑问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39149" y="0"/>
            <a:ext cx="3530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踏上</a:t>
            </a:r>
            <a:r>
              <a:rPr lang="zh-CN" altLang="en-US" sz="32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财富自由</a:t>
            </a:r>
            <a:r>
              <a:rPr lang="zh-CN" altLang="en-US" sz="3200" dirty="0" smtClean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之路</a:t>
            </a:r>
            <a:endParaRPr lang="zh-CN" altLang="en-US" sz="3200" dirty="0">
              <a:solidFill>
                <a:srgbClr val="A0A0A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111348" y="590843"/>
            <a:ext cx="1617785" cy="0"/>
          </a:xfrm>
          <a:prstGeom prst="line">
            <a:avLst/>
          </a:prstGeom>
          <a:ln w="66675">
            <a:solidFill>
              <a:srgbClr val="A0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715065" y="590843"/>
            <a:ext cx="815925" cy="0"/>
          </a:xfrm>
          <a:prstGeom prst="line">
            <a:avLst/>
          </a:prstGeom>
          <a:ln w="66675">
            <a:solidFill>
              <a:srgbClr val="C5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334860" y="588499"/>
            <a:ext cx="790136" cy="0"/>
          </a:xfrm>
          <a:prstGeom prst="line">
            <a:avLst/>
          </a:prstGeom>
          <a:ln w="66675">
            <a:solidFill>
              <a:srgbClr val="C5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1399279" y="1477082"/>
            <a:ext cx="9010813" cy="5126229"/>
            <a:chOff x="1399279" y="1572618"/>
            <a:chExt cx="9010813" cy="5126229"/>
          </a:xfrm>
        </p:grpSpPr>
        <p:sp>
          <p:nvSpPr>
            <p:cNvPr id="22" name="矩形 3"/>
            <p:cNvSpPr/>
            <p:nvPr/>
          </p:nvSpPr>
          <p:spPr>
            <a:xfrm>
              <a:off x="1786597" y="1696943"/>
              <a:ext cx="8623495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 rot="19174672">
              <a:off x="1399279" y="1572618"/>
              <a:ext cx="1568634" cy="70525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dirty="0" smtClean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Tips</a:t>
              </a:r>
              <a:endParaRPr lang="zh-CN" altLang="en-US" sz="4000" dirty="0">
                <a:solidFill>
                  <a:srgbClr val="C52227"/>
                </a:solidFill>
                <a:latin typeface="华康少女文字W5(P)" panose="040F0500000000000000" pitchFamily="82" charset="-122"/>
                <a:ea typeface="华康少女文字W5(P)" panose="040F0500000000000000" pitchFamily="8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0959152" y="-476201"/>
            <a:ext cx="1423916" cy="1631852"/>
            <a:chOff x="10959152" y="-476201"/>
            <a:chExt cx="1423916" cy="1631852"/>
          </a:xfrm>
        </p:grpSpPr>
        <p:sp>
          <p:nvSpPr>
            <p:cNvPr id="19" name="流程图: 文档 18"/>
            <p:cNvSpPr/>
            <p:nvPr/>
          </p:nvSpPr>
          <p:spPr>
            <a:xfrm>
              <a:off x="11256252" y="-476201"/>
              <a:ext cx="867508" cy="1631852"/>
            </a:xfrm>
            <a:prstGeom prst="flowChartDocument">
              <a:avLst/>
            </a:prstGeom>
            <a:solidFill>
              <a:srgbClr val="D9D9D9"/>
            </a:solidFill>
            <a:ln w="25400">
              <a:solidFill>
                <a:srgbClr val="C52227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9152" y="-136477"/>
              <a:ext cx="1423916" cy="12087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7676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0" y="3425588"/>
            <a:ext cx="12192000" cy="7559"/>
          </a:xfrm>
          <a:prstGeom prst="line">
            <a:avLst/>
          </a:prstGeom>
          <a:ln w="28575">
            <a:solidFill>
              <a:srgbClr val="A0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2805562" y="2757899"/>
            <a:ext cx="6682154" cy="12942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230" y="2806008"/>
            <a:ext cx="5720861" cy="716700"/>
          </a:xfrm>
          <a:effectLst>
            <a:outerShdw blurRad="63500" sx="102000" sy="102000" algn="ctr" rotWithShape="0">
              <a:srgbClr val="FFFFFF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r>
              <a:rPr lang="zh-CN" altLang="en-US" sz="60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如何使用记事本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96404" y="3517555"/>
            <a:ext cx="551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书写是为了更好地思考</a:t>
            </a:r>
            <a:endParaRPr lang="zh-CN" altLang="en-US" sz="3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933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10959152" y="-476201"/>
            <a:ext cx="1423916" cy="1631852"/>
            <a:chOff x="10959152" y="-476201"/>
            <a:chExt cx="1423916" cy="1631852"/>
          </a:xfrm>
        </p:grpSpPr>
        <p:sp>
          <p:nvSpPr>
            <p:cNvPr id="24" name="流程图: 文档 23"/>
            <p:cNvSpPr/>
            <p:nvPr/>
          </p:nvSpPr>
          <p:spPr>
            <a:xfrm>
              <a:off x="11256252" y="-476201"/>
              <a:ext cx="867508" cy="1631852"/>
            </a:xfrm>
            <a:prstGeom prst="flowChartDocument">
              <a:avLst/>
            </a:prstGeom>
            <a:solidFill>
              <a:srgbClr val="D9D9D9"/>
            </a:solidFill>
            <a:ln w="25400">
              <a:solidFill>
                <a:srgbClr val="C52227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9152" y="-136477"/>
              <a:ext cx="1423916" cy="12087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123657" y="4265447"/>
            <a:ext cx="6761871" cy="1775465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lvl="1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每天记录时间，随时把记事本带在身上</a:t>
            </a:r>
          </a:p>
          <a:p>
            <a:pPr marL="342900" lvl="1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根据独立事件，而不是时间间隔来记录</a:t>
            </a:r>
          </a:p>
          <a:p>
            <a:pPr marL="342900" lvl="1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记录时间的检查标准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117591" y="3954067"/>
            <a:ext cx="1853997" cy="715561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怎样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endParaRPr lang="zh-CN" altLang="en-US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122536" y="2521803"/>
            <a:ext cx="5353701" cy="1582816"/>
          </a:xfrm>
          <a:prstGeom prst="rect">
            <a:avLst/>
          </a:prstGeom>
        </p:spPr>
        <p:txBody>
          <a:bodyPr/>
          <a:lstStyle/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记事本是记忆的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延展，是经验的总结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能对信息进行在加工</a:t>
            </a:r>
          </a:p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记事本帮助你战胜自己</a:t>
            </a:r>
          </a:p>
        </p:txBody>
      </p:sp>
      <p:sp>
        <p:nvSpPr>
          <p:cNvPr id="8" name="矩形 7"/>
          <p:cNvSpPr/>
          <p:nvPr/>
        </p:nvSpPr>
        <p:spPr>
          <a:xfrm>
            <a:off x="3117591" y="1928268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记事本的优点</a:t>
            </a:r>
          </a:p>
        </p:txBody>
      </p:sp>
      <p:cxnSp>
        <p:nvCxnSpPr>
          <p:cNvPr id="37" name="直接连接符 36"/>
          <p:cNvCxnSpPr/>
          <p:nvPr/>
        </p:nvCxnSpPr>
        <p:spPr>
          <a:xfrm>
            <a:off x="3225632" y="2445819"/>
            <a:ext cx="5791551" cy="0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/>
        </p:nvGrpSpPr>
        <p:grpSpPr>
          <a:xfrm>
            <a:off x="1399279" y="1477082"/>
            <a:ext cx="9010813" cy="5126229"/>
            <a:chOff x="1399279" y="1572618"/>
            <a:chExt cx="9010813" cy="5126229"/>
          </a:xfrm>
        </p:grpSpPr>
        <p:sp>
          <p:nvSpPr>
            <p:cNvPr id="29" name="矩形 3"/>
            <p:cNvSpPr/>
            <p:nvPr/>
          </p:nvSpPr>
          <p:spPr>
            <a:xfrm>
              <a:off x="1786597" y="1696943"/>
              <a:ext cx="8623495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 rot="19174672">
              <a:off x="1399279" y="1572618"/>
              <a:ext cx="1568634" cy="70525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dirty="0" smtClean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记事本</a:t>
              </a:r>
              <a:endParaRPr lang="zh-CN" altLang="en-US" sz="3600" dirty="0">
                <a:solidFill>
                  <a:srgbClr val="C52227"/>
                </a:solidFill>
                <a:latin typeface="华康少女文字W5(P)" panose="040F0500000000000000" pitchFamily="82" charset="-122"/>
                <a:ea typeface="华康少女文字W5(P)" panose="040F0500000000000000" pitchFamily="82" charset="-122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218712" y="0"/>
            <a:ext cx="3068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记事本</a:t>
            </a:r>
            <a:r>
              <a:rPr lang="zh-CN" altLang="en-US" sz="3200" dirty="0" smtClean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改变生活</a:t>
            </a:r>
            <a:endParaRPr lang="zh-CN" altLang="en-US" sz="3200" dirty="0">
              <a:solidFill>
                <a:srgbClr val="A0A0A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327546" y="562556"/>
            <a:ext cx="1205832" cy="10653"/>
          </a:xfrm>
          <a:prstGeom prst="line">
            <a:avLst/>
          </a:prstGeom>
          <a:ln w="66675">
            <a:solidFill>
              <a:srgbClr val="A0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1448972" y="562708"/>
            <a:ext cx="1659988" cy="0"/>
          </a:xfrm>
          <a:prstGeom prst="line">
            <a:avLst/>
          </a:prstGeom>
          <a:ln w="66675">
            <a:solidFill>
              <a:srgbClr val="C5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3225632" y="4553623"/>
            <a:ext cx="5791551" cy="0"/>
          </a:xfrm>
          <a:prstGeom prst="line">
            <a:avLst/>
          </a:prstGeom>
          <a:ln w="635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73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2948951" y="2258596"/>
            <a:ext cx="7521525" cy="5240214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（计划）</a:t>
            </a:r>
          </a:p>
          <a:p>
            <a:pPr marL="720000" lvl="1" indent="-342900">
              <a:lnSpc>
                <a:spcPct val="120000"/>
              </a:lnSpc>
              <a:spcBef>
                <a:spcPts val="0"/>
              </a:spcBef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写下任务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估算时间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作出取舍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分解任务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预留空间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（执行）</a:t>
            </a:r>
          </a:p>
          <a:p>
            <a:pPr marL="720000" lvl="1" indent="-3429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集中注意力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按照重要性完成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懂得变通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立即原则 </a:t>
            </a: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（反馈）</a:t>
            </a:r>
          </a:p>
          <a:p>
            <a:pPr marL="720000" lvl="1" indent="-3429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发现问题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找出不足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自我反省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（调整）</a:t>
            </a:r>
          </a:p>
          <a:p>
            <a:pPr marL="720000" lvl="1" indent="-3429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改进方法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不断尝试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寻找有效的方法</a:t>
            </a:r>
          </a:p>
          <a:p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218712" y="0"/>
            <a:ext cx="3068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记事本</a:t>
            </a:r>
            <a:r>
              <a:rPr lang="zh-CN" altLang="en-US" sz="3200" dirty="0" smtClean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改变生活</a:t>
            </a:r>
            <a:endParaRPr lang="zh-CN" altLang="en-US" sz="3200" dirty="0">
              <a:solidFill>
                <a:srgbClr val="A0A0A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327546" y="562556"/>
            <a:ext cx="1205832" cy="10653"/>
          </a:xfrm>
          <a:prstGeom prst="line">
            <a:avLst/>
          </a:prstGeom>
          <a:ln w="66675">
            <a:solidFill>
              <a:srgbClr val="A0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448972" y="562708"/>
            <a:ext cx="1659988" cy="0"/>
          </a:xfrm>
          <a:prstGeom prst="line">
            <a:avLst/>
          </a:prstGeom>
          <a:ln w="66675">
            <a:solidFill>
              <a:srgbClr val="C5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>
            <a:off x="1399279" y="1572618"/>
            <a:ext cx="9010813" cy="5126229"/>
            <a:chOff x="1399279" y="1572618"/>
            <a:chExt cx="9010813" cy="5126229"/>
          </a:xfrm>
        </p:grpSpPr>
        <p:sp>
          <p:nvSpPr>
            <p:cNvPr id="23" name="矩形 3"/>
            <p:cNvSpPr/>
            <p:nvPr/>
          </p:nvSpPr>
          <p:spPr>
            <a:xfrm>
              <a:off x="1786597" y="1696943"/>
              <a:ext cx="8623495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 rot="19174672">
              <a:off x="1399279" y="1572618"/>
              <a:ext cx="1568634" cy="70525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500" dirty="0" smtClean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PDCA</a:t>
              </a:r>
              <a:endParaRPr lang="zh-CN" altLang="en-US" sz="3500" dirty="0">
                <a:solidFill>
                  <a:srgbClr val="C52227"/>
                </a:solidFill>
                <a:latin typeface="华康少女文字W5(P)" panose="040F0500000000000000" pitchFamily="82" charset="-122"/>
                <a:ea typeface="华康少女文字W5(P)" panose="040F0500000000000000" pitchFamily="8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0959152" y="-476201"/>
            <a:ext cx="1423916" cy="1631852"/>
            <a:chOff x="10959152" y="-476201"/>
            <a:chExt cx="1423916" cy="1631852"/>
          </a:xfrm>
        </p:grpSpPr>
        <p:sp>
          <p:nvSpPr>
            <p:cNvPr id="11" name="流程图: 文档 10"/>
            <p:cNvSpPr/>
            <p:nvPr/>
          </p:nvSpPr>
          <p:spPr>
            <a:xfrm>
              <a:off x="11256252" y="-476201"/>
              <a:ext cx="867508" cy="1631852"/>
            </a:xfrm>
            <a:prstGeom prst="flowChartDocument">
              <a:avLst/>
            </a:prstGeom>
            <a:solidFill>
              <a:srgbClr val="D9D9D9"/>
            </a:solidFill>
            <a:ln w="25400">
              <a:solidFill>
                <a:srgbClr val="C52227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9152" y="-136477"/>
              <a:ext cx="1423916" cy="12087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81488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/>
          <p:cNvCxnSpPr/>
          <p:nvPr/>
        </p:nvCxnSpPr>
        <p:spPr>
          <a:xfrm>
            <a:off x="0" y="3447423"/>
            <a:ext cx="12146507" cy="0"/>
          </a:xfrm>
          <a:prstGeom prst="line">
            <a:avLst/>
          </a:prstGeom>
          <a:ln w="28575">
            <a:solidFill>
              <a:srgbClr val="A0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791573" y="2544576"/>
            <a:ext cx="10740786" cy="1679933"/>
          </a:xfrm>
          <a:prstGeom prst="roundRect">
            <a:avLst/>
          </a:prstGeom>
          <a:solidFill>
            <a:srgbClr val="FFFFFF"/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5362" y="2813540"/>
            <a:ext cx="10024385" cy="651848"/>
          </a:xfrm>
        </p:spPr>
        <p:txBody>
          <a:bodyPr>
            <a:noAutofit/>
          </a:bodyPr>
          <a:lstStyle/>
          <a:p>
            <a:r>
              <a:rPr lang="en-US" altLang="zh-CN" sz="5400" dirty="0" smtClean="0">
                <a:solidFill>
                  <a:srgbClr val="00206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/>
            </a:r>
            <a:br>
              <a:rPr lang="en-US" altLang="zh-CN" sz="5400" dirty="0" smtClean="0">
                <a:solidFill>
                  <a:srgbClr val="00206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</a:br>
            <a:r>
              <a:rPr lang="en-US" altLang="zh-CN" sz="54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30</a:t>
            </a:r>
            <a:r>
              <a:rPr lang="zh-CN" altLang="en-US" sz="54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岁前改变</a:t>
            </a:r>
            <a:r>
              <a:rPr lang="zh-CN" altLang="en-US" sz="54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自己</a:t>
            </a:r>
            <a:r>
              <a:rPr lang="en-US" altLang="zh-CN" sz="54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30</a:t>
            </a:r>
            <a:r>
              <a:rPr lang="zh-CN" altLang="en-US" sz="54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岁后改变世界</a:t>
            </a:r>
            <a:r>
              <a:rPr lang="zh-CN" altLang="en-US" sz="60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/>
            </a:r>
            <a:br>
              <a:rPr lang="zh-CN" altLang="en-US" sz="6000" dirty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</a:br>
            <a:endParaRPr lang="zh-CN" altLang="en-US" sz="6000" dirty="0">
              <a:solidFill>
                <a:srgbClr val="C5222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9483" y="3497396"/>
            <a:ext cx="9959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改变自己的同时，可以通过帮助他人改变世界</a:t>
            </a:r>
            <a:endParaRPr lang="zh-CN" altLang="en-US" sz="3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9253182" y="340564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42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051" y="78522"/>
            <a:ext cx="3081858" cy="549274"/>
          </a:xfrm>
        </p:spPr>
        <p:txBody>
          <a:bodyPr/>
          <a:lstStyle/>
          <a:p>
            <a:r>
              <a:rPr lang="en-US" altLang="zh-CN" sz="3200" dirty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30</a:t>
            </a:r>
            <a:r>
              <a:rPr lang="zh-CN" altLang="en-US" sz="3200" dirty="0" smtClean="0">
                <a:solidFill>
                  <a:srgbClr val="A0A0A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岁后</a:t>
            </a:r>
            <a:r>
              <a:rPr lang="zh-CN" altLang="en-US" sz="3200" dirty="0" smtClean="0">
                <a:solidFill>
                  <a:srgbClr val="C5222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改变世界</a:t>
            </a:r>
            <a:endParaRPr lang="zh-CN" altLang="en-US" dirty="0">
              <a:solidFill>
                <a:srgbClr val="C52227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00161" y="2296712"/>
            <a:ext cx="7519843" cy="4561288"/>
          </a:xfrm>
        </p:spPr>
        <p:txBody>
          <a:bodyPr>
            <a:normAutofit fontScale="92500"/>
          </a:bodyPr>
          <a:lstStyle/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NGO</a:t>
            </a:r>
          </a:p>
          <a:p>
            <a:pPr marL="360000" lvl="1" indent="0">
              <a:lnSpc>
                <a:spcPct val="130000"/>
              </a:lnSpc>
              <a:spcBef>
                <a:spcPts val="0"/>
              </a:spcBef>
              <a:buFont typeface="微软雅黑" panose="020B0503020204020204" pitchFamily="34" charset="-122"/>
              <a:buChar char="-"/>
            </a:pP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政府组织</a:t>
            </a:r>
            <a:r>
              <a:rPr lang="zh-CN" altLang="en-US" sz="17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7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Non-Governmental Organization</a:t>
            </a:r>
            <a:r>
              <a:rPr lang="zh-CN" altLang="en-US" sz="17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英文缩写</a:t>
            </a:r>
          </a:p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NGO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精神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00" lvl="1" indent="0">
              <a:lnSpc>
                <a:spcPct val="130000"/>
              </a:lnSpc>
              <a:spcBef>
                <a:spcPts val="0"/>
              </a:spcBef>
              <a:buFont typeface="微软雅黑" panose="020B0503020204020204" pitchFamily="34" charset="-122"/>
              <a:buChar char="-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好高骛远，脚踏实地</a:t>
            </a:r>
          </a:p>
          <a:p>
            <a:pPr marL="360000" lvl="1" indent="0">
              <a:lnSpc>
                <a:spcPct val="130000"/>
              </a:lnSpc>
              <a:spcBef>
                <a:spcPts val="600"/>
              </a:spcBef>
              <a:buFont typeface="微软雅黑" panose="020B0503020204020204" pitchFamily="34" charset="-122"/>
              <a:buChar char="-"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NGO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的资金来源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00" lvl="1" indent="0">
              <a:lnSpc>
                <a:spcPct val="130000"/>
              </a:lnSpc>
              <a:spcBef>
                <a:spcPts val="0"/>
              </a:spcBef>
              <a:buFont typeface="微软雅黑" panose="020B0503020204020204" pitchFamily="34" charset="-122"/>
              <a:buChar char="-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整合人脉资源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拿企业品牌宣传费 ，直接赚钱</a:t>
            </a:r>
          </a:p>
          <a:p>
            <a:pPr marL="342900" lvl="1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什么样的人适合从事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NGO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00" lvl="1" indent="0">
              <a:lnSpc>
                <a:spcPct val="130000"/>
              </a:lnSpc>
              <a:spcBef>
                <a:spcPts val="0"/>
              </a:spcBef>
              <a:buFont typeface="微软雅黑" panose="020B0503020204020204" pitchFamily="34" charset="-122"/>
              <a:buChar char="-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态度决定一切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结果导向型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和善热情的性格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创新能力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382558" y="559558"/>
            <a:ext cx="1228298" cy="0"/>
          </a:xfrm>
          <a:prstGeom prst="line">
            <a:avLst/>
          </a:prstGeom>
          <a:ln w="66675">
            <a:solidFill>
              <a:srgbClr val="C5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610016" y="559558"/>
            <a:ext cx="1569492" cy="0"/>
          </a:xfrm>
          <a:prstGeom prst="line">
            <a:avLst/>
          </a:prstGeom>
          <a:ln w="66675">
            <a:solidFill>
              <a:srgbClr val="A0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399279" y="1572618"/>
            <a:ext cx="9045808" cy="5126229"/>
            <a:chOff x="1399279" y="1572618"/>
            <a:chExt cx="9045808" cy="5126229"/>
          </a:xfrm>
        </p:grpSpPr>
        <p:sp>
          <p:nvSpPr>
            <p:cNvPr id="19" name="矩形 3"/>
            <p:cNvSpPr/>
            <p:nvPr/>
          </p:nvSpPr>
          <p:spPr>
            <a:xfrm>
              <a:off x="1786597" y="1696943"/>
              <a:ext cx="8658490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 rot="19174672">
              <a:off x="1399279" y="1572618"/>
              <a:ext cx="1568634" cy="70525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dirty="0" smtClean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NGO</a:t>
              </a:r>
              <a:endParaRPr lang="zh-CN" altLang="en-US" sz="4000" dirty="0">
                <a:solidFill>
                  <a:srgbClr val="C52227"/>
                </a:solidFill>
                <a:latin typeface="华康少女文字W5(P)" panose="040F0500000000000000" pitchFamily="82" charset="-122"/>
                <a:ea typeface="华康少女文字W5(P)" panose="040F0500000000000000" pitchFamily="8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0959152" y="-476201"/>
            <a:ext cx="1423916" cy="1631852"/>
            <a:chOff x="10959152" y="-476201"/>
            <a:chExt cx="1423916" cy="1631852"/>
          </a:xfrm>
        </p:grpSpPr>
        <p:sp>
          <p:nvSpPr>
            <p:cNvPr id="11" name="流程图: 文档 10"/>
            <p:cNvSpPr/>
            <p:nvPr/>
          </p:nvSpPr>
          <p:spPr>
            <a:xfrm>
              <a:off x="11256252" y="-476201"/>
              <a:ext cx="867508" cy="1631852"/>
            </a:xfrm>
            <a:prstGeom prst="flowChartDocument">
              <a:avLst/>
            </a:prstGeom>
            <a:solidFill>
              <a:srgbClr val="D9D9D9"/>
            </a:solidFill>
            <a:ln w="25400">
              <a:solidFill>
                <a:srgbClr val="C52227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9152" y="-136477"/>
              <a:ext cx="1423916" cy="12087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21805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剪去对角的矩形 12"/>
          <p:cNvSpPr/>
          <p:nvPr/>
        </p:nvSpPr>
        <p:spPr>
          <a:xfrm flipV="1">
            <a:off x="2363584" y="1507533"/>
            <a:ext cx="7558337" cy="3883332"/>
          </a:xfrm>
          <a:prstGeom prst="snip2Diag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392924" y="867259"/>
            <a:ext cx="9003100" cy="5128191"/>
            <a:chOff x="1406992" y="1570656"/>
            <a:chExt cx="9003100" cy="5128191"/>
          </a:xfrm>
        </p:grpSpPr>
        <p:sp>
          <p:nvSpPr>
            <p:cNvPr id="7" name="矩形 3"/>
            <p:cNvSpPr/>
            <p:nvPr/>
          </p:nvSpPr>
          <p:spPr>
            <a:xfrm>
              <a:off x="1786597" y="1696943"/>
              <a:ext cx="8623495" cy="5001904"/>
            </a:xfrm>
            <a:custGeom>
              <a:avLst/>
              <a:gdLst>
                <a:gd name="connsiteX0" fmla="*/ 0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0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4068 w 7574507"/>
                <a:gd name="connsiteY4" fmla="*/ 0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105508 w 7574507"/>
                <a:gd name="connsiteY4" fmla="*/ 91440 h 5001904"/>
                <a:gd name="connsiteX0" fmla="*/ 50558 w 7610997"/>
                <a:gd name="connsiteY0" fmla="*/ 0 h 5001904"/>
                <a:gd name="connsiteX1" fmla="*/ 7610997 w 7610997"/>
                <a:gd name="connsiteY1" fmla="*/ 0 h 5001904"/>
                <a:gd name="connsiteX2" fmla="*/ 7610997 w 7610997"/>
                <a:gd name="connsiteY2" fmla="*/ 5001904 h 5001904"/>
                <a:gd name="connsiteX3" fmla="*/ 36490 w 7610997"/>
                <a:gd name="connsiteY3" fmla="*/ 5001904 h 5001904"/>
                <a:gd name="connsiteX4" fmla="*/ 43525 w 7610997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31819 w 7592258"/>
                <a:gd name="connsiteY0" fmla="*/ 0 h 5001904"/>
                <a:gd name="connsiteX1" fmla="*/ 7592258 w 7592258"/>
                <a:gd name="connsiteY1" fmla="*/ 0 h 5001904"/>
                <a:gd name="connsiteX2" fmla="*/ 7592258 w 7592258"/>
                <a:gd name="connsiteY2" fmla="*/ 5001904 h 5001904"/>
                <a:gd name="connsiteX3" fmla="*/ 17751 w 7592258"/>
                <a:gd name="connsiteY3" fmla="*/ 5001904 h 5001904"/>
                <a:gd name="connsiteX4" fmla="*/ 24786 w 7592258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7035 w 7574507"/>
                <a:gd name="connsiteY4" fmla="*/ 513471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4068 w 7574507"/>
                <a:gd name="connsiteY0" fmla="*/ 0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35170 w 7574507"/>
                <a:gd name="connsiteY4" fmla="*/ 1019907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181687 w 7574507"/>
                <a:gd name="connsiteY0" fmla="*/ 28136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  <a:gd name="connsiteX0" fmla="*/ 1097281 w 7574507"/>
                <a:gd name="connsiteY0" fmla="*/ 1 h 5001904"/>
                <a:gd name="connsiteX1" fmla="*/ 7574507 w 7574507"/>
                <a:gd name="connsiteY1" fmla="*/ 0 h 5001904"/>
                <a:gd name="connsiteX2" fmla="*/ 7574507 w 7574507"/>
                <a:gd name="connsiteY2" fmla="*/ 5001904 h 5001904"/>
                <a:gd name="connsiteX3" fmla="*/ 0 w 7574507"/>
                <a:gd name="connsiteY3" fmla="*/ 5001904 h 5001904"/>
                <a:gd name="connsiteX4" fmla="*/ 21102 w 7574507"/>
                <a:gd name="connsiteY4" fmla="*/ 1005839 h 500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507" h="5001904">
                  <a:moveTo>
                    <a:pt x="1097281" y="1"/>
                  </a:moveTo>
                  <a:lnTo>
                    <a:pt x="7574507" y="0"/>
                  </a:lnTo>
                  <a:lnTo>
                    <a:pt x="7574507" y="5001904"/>
                  </a:lnTo>
                  <a:lnTo>
                    <a:pt x="0" y="5001904"/>
                  </a:lnTo>
                  <a:lnTo>
                    <a:pt x="21102" y="1005839"/>
                  </a:lnTo>
                </a:path>
              </a:pathLst>
            </a:custGeom>
            <a:noFill/>
            <a:ln w="44450">
              <a:solidFill>
                <a:srgbClr val="A0A0A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 rot="19174672">
              <a:off x="1406992" y="1570656"/>
              <a:ext cx="1570706" cy="740263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dirty="0" smtClean="0">
                  <a:solidFill>
                    <a:srgbClr val="C52227"/>
                  </a:solidFill>
                  <a:latin typeface="华康少女文字W5(P)" panose="040F0500000000000000" pitchFamily="82" charset="-122"/>
                  <a:ea typeface="华康少女文字W5(P)" panose="040F0500000000000000" pitchFamily="82" charset="-122"/>
                </a:rPr>
                <a:t>碎碎念</a:t>
              </a:r>
              <a:endParaRPr lang="zh-CN" altLang="en-US" sz="3600" dirty="0">
                <a:solidFill>
                  <a:srgbClr val="C52227"/>
                </a:solidFill>
                <a:latin typeface="华康少女文字W5(P)" panose="040F0500000000000000" pitchFamily="82" charset="-122"/>
                <a:ea typeface="华康少女文字W5(P)" panose="040F0500000000000000" pitchFamily="82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430350" y="1981372"/>
            <a:ext cx="7424804" cy="371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40000"/>
              </a:lnSpc>
              <a:buClr>
                <a:srgbClr val="002060"/>
              </a:buClr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梦想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，是专属于青春的烂漫色彩，倘若在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岁之前不能实现它，随岁月尘封，只剩唏嘘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。你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岁还有多久，有哪些事情，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岁前不做一定会后悔呢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buClr>
                <a:srgbClr val="002060"/>
              </a:buClr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岁以前，改变自己，养成好习惯，每天离梦想近一点。在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岁以后，过上你想要的生活，或许你还可以影响别人，改变世界。</a:t>
            </a:r>
          </a:p>
          <a:p>
            <a:pPr algn="just">
              <a:lnSpc>
                <a:spcPct val="140000"/>
              </a:lnSpc>
            </a:pP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0959152" y="-476201"/>
            <a:ext cx="1423916" cy="1631852"/>
            <a:chOff x="10959152" y="-476201"/>
            <a:chExt cx="1423916" cy="1631852"/>
          </a:xfrm>
        </p:grpSpPr>
        <p:sp>
          <p:nvSpPr>
            <p:cNvPr id="17" name="流程图: 文档 16"/>
            <p:cNvSpPr/>
            <p:nvPr/>
          </p:nvSpPr>
          <p:spPr>
            <a:xfrm>
              <a:off x="11256252" y="-476201"/>
              <a:ext cx="867508" cy="1631852"/>
            </a:xfrm>
            <a:prstGeom prst="flowChartDocument">
              <a:avLst/>
            </a:prstGeom>
            <a:solidFill>
              <a:srgbClr val="D9D9D9"/>
            </a:solidFill>
            <a:ln w="25400">
              <a:solidFill>
                <a:srgbClr val="C52227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9152" y="-136477"/>
              <a:ext cx="1423916" cy="12087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71212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395" y="1171789"/>
            <a:ext cx="4210026" cy="23681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239" y="1171789"/>
            <a:ext cx="4182809" cy="23528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987" y="3832195"/>
            <a:ext cx="4212128" cy="23693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086" y="3824767"/>
            <a:ext cx="4225335" cy="23767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矩形 12"/>
          <p:cNvSpPr/>
          <p:nvPr/>
        </p:nvSpPr>
        <p:spPr>
          <a:xfrm>
            <a:off x="2090382" y="136477"/>
            <a:ext cx="8011236" cy="1091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</a:t>
            </a:r>
            <a:r>
              <a:rPr lang="en-US" altLang="zh-CN" sz="2400" dirty="0" smtClean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dirty="0" smtClean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秋叶</a:t>
            </a:r>
            <a:r>
              <a:rPr lang="en-US" altLang="zh-CN" sz="2400" dirty="0" smtClean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dirty="0" smtClean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小巴</a:t>
            </a:r>
            <a:r>
              <a:rPr lang="en-US" altLang="zh-CN" sz="2400" dirty="0" smtClean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_1990</a:t>
            </a:r>
            <a:r>
              <a:rPr lang="zh-CN" altLang="en-US" sz="2400" dirty="0" smtClean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的反复耐心指导</a:t>
            </a:r>
            <a:endParaRPr lang="en-US" altLang="zh-CN" sz="2400" dirty="0" smtClean="0">
              <a:solidFill>
                <a:srgbClr val="A0A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 smtClean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dirty="0" smtClean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400" dirty="0" err="1" smtClean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en-US" altLang="zh-CN" sz="2400" dirty="0" smtClean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dirty="0" smtClean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我在网易云课堂等你</a:t>
            </a:r>
            <a:endParaRPr lang="zh-CN" altLang="en-US" sz="2400" dirty="0">
              <a:solidFill>
                <a:srgbClr val="A0A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48791" y="6358596"/>
            <a:ext cx="3077147" cy="342456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40544" y="6358596"/>
            <a:ext cx="3013358" cy="373706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3234519" y="351237"/>
            <a:ext cx="0" cy="659292"/>
          </a:xfrm>
          <a:prstGeom prst="line">
            <a:avLst/>
          </a:prstGeom>
          <a:ln w="66675">
            <a:solidFill>
              <a:srgbClr val="C5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85867" y="351237"/>
            <a:ext cx="0" cy="703839"/>
          </a:xfrm>
          <a:prstGeom prst="line">
            <a:avLst/>
          </a:prstGeom>
          <a:ln w="66675">
            <a:solidFill>
              <a:srgbClr val="C5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43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10302" y="1474220"/>
            <a:ext cx="6171396" cy="341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549976" y="2943657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40249" y="2943657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595462" y="2943657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82774" y="3896367"/>
            <a:ext cx="6171396" cy="148886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215"/>
              </a:spcBef>
            </a:pP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15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3228577" y="4158007"/>
            <a:ext cx="5734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082774" y="2481294"/>
            <a:ext cx="1312212" cy="90531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617366" y="2481296"/>
            <a:ext cx="1312212" cy="1081437"/>
            <a:chOff x="107380" y="2024805"/>
            <a:chExt cx="1944270" cy="160233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12449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26825" y="2481294"/>
            <a:ext cx="1312212" cy="90531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644059" y="2481294"/>
            <a:ext cx="1312212" cy="90531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0172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012990" y="3866394"/>
            <a:ext cx="6188273" cy="1084816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69"/>
              <a:ext cx="4572000" cy="56775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62086">
                <a:defRPr/>
              </a:pPr>
              <a:r>
                <a:rPr lang="en-US" altLang="zh-CN" sz="945" kern="0" dirty="0">
                  <a:solidFill>
                    <a:prstClr val="black"/>
                  </a:solidFill>
                </a:rPr>
                <a:t/>
              </a:r>
              <a:br>
                <a:rPr lang="en-US" altLang="zh-CN" sz="945" kern="0" dirty="0">
                  <a:solidFill>
                    <a:prstClr val="black"/>
                  </a:solidFill>
                </a:rPr>
              </a:br>
              <a:endParaRPr lang="en-US" altLang="zh-CN" sz="945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46285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5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98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025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04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91670" cy="950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038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62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532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2" y="4188246"/>
              <a:ext cx="1787129" cy="46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18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5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78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18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5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12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59396" cy="367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013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933260" y="1728034"/>
            <a:ext cx="4325484" cy="1976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025"/>
              </a:spcBef>
            </a:pPr>
            <a:r>
              <a:rPr lang="zh-CN" altLang="en-US" sz="297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297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052</a:t>
            </a:r>
            <a:r>
              <a:rPr lang="zh-CN" altLang="en-US" sz="297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97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025"/>
              </a:spcBef>
            </a:pP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89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639509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3399</TotalTime>
  <Words>1625</Words>
  <Application>Microsoft Office PowerPoint</Application>
  <PresentationFormat>宽屏</PresentationFormat>
  <Paragraphs>211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44" baseType="lpstr">
      <vt:lpstr>方正姚体</vt:lpstr>
      <vt:lpstr>方正正黑简体</vt:lpstr>
      <vt:lpstr>方正正中黑简体</vt:lpstr>
      <vt:lpstr>华康俪金黑W8</vt:lpstr>
      <vt:lpstr>华康俪金黑W8(P)</vt:lpstr>
      <vt:lpstr>华康少女文字W5(P)</vt:lpstr>
      <vt:lpstr>华文细黑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1_Office 主题​​</vt:lpstr>
      <vt:lpstr>2_Office 主题​​</vt:lpstr>
      <vt:lpstr>PowerPoint 演示文稿</vt:lpstr>
      <vt:lpstr>PowerPoint 演示文稿</vt:lpstr>
      <vt:lpstr>梦想改变生活</vt:lpstr>
      <vt:lpstr>梦想改变生活</vt:lpstr>
      <vt:lpstr>聚集正能量的人生</vt:lpstr>
      <vt:lpstr>聚集正能量的人生</vt:lpstr>
      <vt:lpstr>聚集正能量的人生</vt:lpstr>
      <vt:lpstr>职业，爱情，学习的规划</vt:lpstr>
      <vt:lpstr>PowerPoint 演示文稿</vt:lpstr>
      <vt:lpstr>PowerPoint 演示文稿</vt:lpstr>
      <vt:lpstr>打败梦想路上的小怪兽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踏上财富自由之路</vt:lpstr>
      <vt:lpstr>PowerPoint 演示文稿</vt:lpstr>
      <vt:lpstr>PowerPoint 演示文稿</vt:lpstr>
      <vt:lpstr>如何使用记事本</vt:lpstr>
      <vt:lpstr>PowerPoint 演示文稿</vt:lpstr>
      <vt:lpstr>PowerPoint 演示文稿</vt:lpstr>
      <vt:lpstr> 30岁前改变自己30岁后改变世界 </vt:lpstr>
      <vt:lpstr>30岁后改变世界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zoucheng用户</dc:creator>
  <cp:lastModifiedBy>小巴</cp:lastModifiedBy>
  <cp:revision>323</cp:revision>
  <dcterms:created xsi:type="dcterms:W3CDTF">2014-01-29T12:08:20Z</dcterms:created>
  <dcterms:modified xsi:type="dcterms:W3CDTF">2014-03-12T15:18:08Z</dcterms:modified>
</cp:coreProperties>
</file>