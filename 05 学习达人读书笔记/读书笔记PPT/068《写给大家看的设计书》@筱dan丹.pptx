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20"/>
  </p:notesMasterIdLst>
  <p:handoutMasterIdLst>
    <p:handoutMasterId r:id="rId21"/>
  </p:handoutMasterIdLst>
  <p:sldIdLst>
    <p:sldId id="256" r:id="rId4"/>
    <p:sldId id="299" r:id="rId5"/>
    <p:sldId id="301" r:id="rId6"/>
    <p:sldId id="282" r:id="rId7"/>
    <p:sldId id="302" r:id="rId8"/>
    <p:sldId id="293" r:id="rId9"/>
    <p:sldId id="304" r:id="rId10"/>
    <p:sldId id="303" r:id="rId11"/>
    <p:sldId id="288" r:id="rId12"/>
    <p:sldId id="290" r:id="rId13"/>
    <p:sldId id="284" r:id="rId14"/>
    <p:sldId id="262" r:id="rId15"/>
    <p:sldId id="291" r:id="rId16"/>
    <p:sldId id="305" r:id="rId17"/>
    <p:sldId id="306" r:id="rId18"/>
    <p:sldId id="307" r:id="rId19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7829"/>
    <a:srgbClr val="F1F8EC"/>
    <a:srgbClr val="DFCDBD"/>
    <a:srgbClr val="DBC3A9"/>
    <a:srgbClr val="F2F2F2"/>
    <a:srgbClr val="607DFA"/>
    <a:srgbClr val="041972"/>
    <a:srgbClr val="FFFFFF"/>
    <a:srgbClr val="B2A07C"/>
    <a:srgbClr val="DE2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24" autoAdjust="0"/>
  </p:normalViewPr>
  <p:slideViewPr>
    <p:cSldViewPr snapToGrid="0">
      <p:cViewPr varScale="1">
        <p:scale>
          <a:sx n="70" d="100"/>
          <a:sy n="70" d="100"/>
        </p:scale>
        <p:origin x="138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46"/>
    </p:cViewPr>
  </p:sorter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7C93D-1E21-4D5F-9D19-1106B8EA266C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366E2-6839-4565-AD49-22BE7703FA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4913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D2774-7663-4703-A33C-A3524190CA70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CA3EC-DEF6-467E-9959-0B3C58B866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51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268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422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 smtClean="0"/>
              <a:t>根据亲密性原则，将彼此相关的项分在一组建立更近的亲密性；相互之间没有之间关联的项要分开。</a:t>
            </a:r>
            <a:endParaRPr lang="en-US" altLang="zh-CN" sz="1200" dirty="0" smtClean="0"/>
          </a:p>
          <a:p>
            <a:r>
              <a:rPr lang="zh-CN" altLang="en-US" sz="1200" dirty="0" smtClean="0"/>
              <a:t>通过设置不同间隔来指各项的接近程度或关系的重要性。</a:t>
            </a:r>
          </a:p>
          <a:p>
            <a:r>
              <a:rPr lang="zh-CN" altLang="en-US" dirty="0" smtClean="0"/>
              <a:t>是不是看起来有条理了些呢？同时你也发现了，整个画面是居中对齐的。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471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 smtClean="0"/>
              <a:t>根据亲密性原则，将彼此相关的项分在一组建立更近的亲密性；相互之间没有之间关联的项要分开。</a:t>
            </a:r>
            <a:endParaRPr lang="en-US" altLang="zh-CN" sz="1200" dirty="0" smtClean="0"/>
          </a:p>
          <a:p>
            <a:r>
              <a:rPr lang="zh-CN" altLang="en-US" sz="1200" dirty="0" smtClean="0"/>
              <a:t>通过设置不同间隔来指各项的接近程度或关系的重要性。</a:t>
            </a:r>
          </a:p>
          <a:p>
            <a:r>
              <a:rPr lang="zh-CN" altLang="en-US" dirty="0" smtClean="0"/>
              <a:t>是不是看起来有条理了些呢？同时你也发现了，整个画面是居中对齐的。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853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 smtClean="0"/>
              <a:t>根据亲密性原则，将彼此相关的项分在一组建立更近的亲密性；相互之间没有之间关联的项要分开。</a:t>
            </a:r>
            <a:endParaRPr lang="en-US" altLang="zh-CN" sz="1200" dirty="0" smtClean="0"/>
          </a:p>
          <a:p>
            <a:r>
              <a:rPr lang="zh-CN" altLang="en-US" sz="1200" dirty="0" smtClean="0"/>
              <a:t>通过设置不同间隔来指各项的接近程度或关系的重要性。</a:t>
            </a:r>
          </a:p>
          <a:p>
            <a:r>
              <a:rPr lang="zh-CN" altLang="en-US" dirty="0" smtClean="0"/>
              <a:t>是不是看起来有条理了些呢？同时你也发现了，整个画面是居中对齐的。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61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Robin</a:t>
            </a:r>
            <a:r>
              <a:rPr lang="zh-CN" altLang="en-US" dirty="0" smtClean="0"/>
              <a:t>对齐原则指出：任何元素都不能在页面上随意安放。每一项都应当与画面的某个内容存在某种视觉联系。</a:t>
            </a:r>
          </a:p>
          <a:p>
            <a:r>
              <a:rPr lang="zh-CN" altLang="en-US" dirty="0" smtClean="0"/>
              <a:t>相对于居中对齐，左对齐或右对齐能让文本的联系更明确。</a:t>
            </a:r>
            <a:endParaRPr lang="en-US" altLang="zh-CN" dirty="0" smtClean="0"/>
          </a:p>
          <a:p>
            <a:r>
              <a:rPr lang="zh-CN" altLang="en-US" dirty="0" smtClean="0"/>
              <a:t>这样能使页面看起来统一。能否让页面更加统一呢？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19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Robin</a:t>
            </a:r>
            <a:r>
              <a:rPr lang="zh-CN" altLang="en-US" dirty="0" smtClean="0"/>
              <a:t>对齐原则指出：任何元素都不能在页面上随意安放。每一项都应当与画面的某个内容存在某种视觉联系。</a:t>
            </a:r>
          </a:p>
          <a:p>
            <a:r>
              <a:rPr lang="zh-CN" altLang="en-US" dirty="0" smtClean="0"/>
              <a:t>相对于居中对齐，左对齐或右对齐能让文本的联系更明确。</a:t>
            </a:r>
            <a:endParaRPr lang="en-US" altLang="zh-CN" dirty="0" smtClean="0"/>
          </a:p>
          <a:p>
            <a:r>
              <a:rPr lang="zh-CN" altLang="en-US" dirty="0" smtClean="0"/>
              <a:t>这样能使页面看起来统一。能否让页面更加统一呢？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526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Robin</a:t>
            </a:r>
            <a:r>
              <a:rPr lang="zh-CN" altLang="en-US" dirty="0" smtClean="0"/>
              <a:t>对齐原则指出：任何元素都不能在页面上随意安放。每一项都应当与画面的某个内容存在某种视觉联系。</a:t>
            </a:r>
          </a:p>
          <a:p>
            <a:r>
              <a:rPr lang="zh-CN" altLang="en-US" dirty="0" smtClean="0"/>
              <a:t>相对于居中对齐，左对齐或右对齐能让文本的联系更明确。</a:t>
            </a:r>
            <a:endParaRPr lang="en-US" altLang="zh-CN" dirty="0" smtClean="0"/>
          </a:p>
          <a:p>
            <a:r>
              <a:rPr lang="zh-CN" altLang="en-US" dirty="0" smtClean="0"/>
              <a:t>这样能使页面看起来统一。能否让页面更加统一呢？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668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那就是重复原则了。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在这个案例中：标题与作者名（字体）重复，可以增强它们之间的联系；</a:t>
            </a:r>
            <a:endParaRPr lang="en-US" altLang="zh-CN" sz="1200" dirty="0" smtClean="0">
              <a:solidFill>
                <a:srgbClr val="4D57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小三角的颜色重复，有助于把设计中的不同部分联系在一起。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重复的设计使得页面更加统一，而且增强了视觉效果。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但似乎视觉效果增强得还不够？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那让我们试试增强视觉效果最有效另一个途径：对比。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 smtClean="0">
              <a:solidFill>
                <a:srgbClr val="4D57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855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在这个案例中：</a:t>
            </a:r>
            <a:r>
              <a:rPr lang="zh-CN" altLang="en-US" sz="1200" dirty="0" smtClean="0"/>
              <a:t>黑色框的添加，增加了字体与背景、标题、作者名与其他项目的对比。</a:t>
            </a:r>
            <a:endParaRPr lang="en-US" altLang="zh-CN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/>
              <a:t>对比的使用，让页面很容易吸引读者的眼球，还能够在不同元素之间建立一种有组织的层次结构。</a:t>
            </a:r>
            <a:endParaRPr lang="en-US" altLang="zh-CN" sz="12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/>
              <a:t>要记住一个重要规则：要想实现有效的对比，对比就必须强烈。千万不要畏畏缩缩。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047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169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806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0339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CA3EC-DEF6-467E-9959-0B3C58B8661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060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26FB-9B99-4E98-B1EF-D9FD43BD4835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F907-2630-4362-B972-1209D89D3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9800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447" y="0"/>
            <a:ext cx="7886700" cy="632012"/>
          </a:xfr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>
            <a:noAutofit/>
          </a:bodyPr>
          <a:lstStyle>
            <a:lvl1pPr indent="241200">
              <a:lnSpc>
                <a:spcPct val="150000"/>
              </a:lnSpc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1635"/>
            <a:ext cx="7886700" cy="5195328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26FB-9B99-4E98-B1EF-D9FD43BD4835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F907-2630-4362-B972-1209D89D3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8666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26FB-9B99-4E98-B1EF-D9FD43BD4835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F907-2630-4362-B972-1209D89D3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089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26FB-9B99-4E98-B1EF-D9FD43BD4835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F907-2630-4362-B972-1209D89D3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861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26FB-9B99-4E98-B1EF-D9FD43BD4835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F907-2630-4362-B972-1209D89D3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038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26FB-9B99-4E98-B1EF-D9FD43BD4835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F907-2630-4362-B972-1209D89D3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869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26FB-9B99-4E98-B1EF-D9FD43BD4835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F907-2630-4362-B972-1209D89D3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613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26FB-9B99-4E98-B1EF-D9FD43BD4835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F907-2630-4362-B972-1209D89D3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0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26FB-9B99-4E98-B1EF-D9FD43BD4835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F907-2630-4362-B972-1209D89D3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311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26FB-9B99-4E98-B1EF-D9FD43BD4835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F907-2630-4362-B972-1209D89D3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86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826FB-9B99-4E98-B1EF-D9FD43BD4835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CF907-2630-4362-B972-1209D89D3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12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2130431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254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199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3"/>
            <a:ext cx="7772400" cy="1362076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3"/>
            <a:ext cx="7772400" cy="1500187"/>
          </a:xfrm>
        </p:spPr>
        <p:txBody>
          <a:bodyPr anchor="b"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308571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144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71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28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285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42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00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57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461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5"/>
            <a:ext cx="40386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5"/>
            <a:ext cx="40386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666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4"/>
            <a:ext cx="4041775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305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410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639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2"/>
            <a:ext cx="3008313" cy="1162051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2" y="273057"/>
            <a:ext cx="5111750" cy="5853113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4"/>
            <a:ext cx="3008313" cy="46910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8993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160"/>
            </a:lvl1pPr>
            <a:lvl2pPr marL="308571" indent="0">
              <a:buNone/>
              <a:defRPr sz="1890"/>
            </a:lvl2pPr>
            <a:lvl3pPr marL="617144" indent="0">
              <a:buNone/>
              <a:defRPr sz="1620"/>
            </a:lvl3pPr>
            <a:lvl4pPr marL="925715" indent="0">
              <a:buNone/>
              <a:defRPr sz="1350"/>
            </a:lvl4pPr>
            <a:lvl5pPr marL="1234286" indent="0">
              <a:buNone/>
              <a:defRPr sz="1350"/>
            </a:lvl5pPr>
            <a:lvl6pPr marL="1542857" indent="0">
              <a:buNone/>
              <a:defRPr sz="1350"/>
            </a:lvl6pPr>
            <a:lvl7pPr marL="1851429" indent="0">
              <a:buNone/>
              <a:defRPr sz="1350"/>
            </a:lvl7pPr>
            <a:lvl8pPr marL="2160000" indent="0">
              <a:buNone/>
              <a:defRPr sz="1350"/>
            </a:lvl8pPr>
            <a:lvl9pPr marL="2468571" indent="0">
              <a:buNone/>
              <a:defRPr sz="13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4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562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44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969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2130431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6330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98072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9144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2482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0862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3"/>
            <a:ext cx="7772400" cy="1362076"/>
          </a:xfrm>
        </p:spPr>
        <p:txBody>
          <a:bodyPr anchor="t"/>
          <a:lstStyle>
            <a:lvl1pPr algn="l">
              <a:defRPr sz="27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3"/>
            <a:ext cx="7772400" cy="1500187"/>
          </a:xfrm>
        </p:spPr>
        <p:txBody>
          <a:bodyPr anchor="b"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308571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144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71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28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285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42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00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57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9368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5"/>
            <a:ext cx="40386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5"/>
            <a:ext cx="4038600" cy="4525963"/>
          </a:xfrm>
        </p:spPr>
        <p:txBody>
          <a:bodyPr/>
          <a:lstStyle>
            <a:lvl1pPr>
              <a:defRPr sz="1890"/>
            </a:lvl1pPr>
            <a:lvl2pPr>
              <a:defRPr sz="1620"/>
            </a:lvl2pPr>
            <a:lvl3pPr>
              <a:defRPr sz="1350"/>
            </a:lvl3pPr>
            <a:lvl4pPr>
              <a:defRPr sz="1215"/>
            </a:lvl4pPr>
            <a:lvl5pPr>
              <a:defRPr sz="1215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0437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4"/>
            <a:ext cx="4041775" cy="639763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571" indent="0">
              <a:buNone/>
              <a:defRPr sz="1350" b="1"/>
            </a:lvl2pPr>
            <a:lvl3pPr marL="617144" indent="0">
              <a:buNone/>
              <a:defRPr sz="1215" b="1"/>
            </a:lvl3pPr>
            <a:lvl4pPr marL="925715" indent="0">
              <a:buNone/>
              <a:defRPr sz="1080" b="1"/>
            </a:lvl4pPr>
            <a:lvl5pPr marL="1234286" indent="0">
              <a:buNone/>
              <a:defRPr sz="1080" b="1"/>
            </a:lvl5pPr>
            <a:lvl6pPr marL="1542857" indent="0">
              <a:buNone/>
              <a:defRPr sz="1080" b="1"/>
            </a:lvl6pPr>
            <a:lvl7pPr marL="1851429" indent="0">
              <a:buNone/>
              <a:defRPr sz="1080" b="1"/>
            </a:lvl7pPr>
            <a:lvl8pPr marL="2160000" indent="0">
              <a:buNone/>
              <a:defRPr sz="1080" b="1"/>
            </a:lvl8pPr>
            <a:lvl9pPr marL="2468571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620"/>
            </a:lvl1pPr>
            <a:lvl2pPr>
              <a:defRPr sz="1350"/>
            </a:lvl2pPr>
            <a:lvl3pPr>
              <a:defRPr sz="1215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1078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5696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7" y="-51325"/>
            <a:ext cx="9140054" cy="706828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2" y="585521"/>
            <a:ext cx="468052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6340"/>
            <a:ext cx="108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2872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2"/>
            <a:ext cx="3008313" cy="1162051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2" y="273057"/>
            <a:ext cx="5111750" cy="5853113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4"/>
            <a:ext cx="3008313" cy="46910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9448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135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160"/>
            </a:lvl1pPr>
            <a:lvl2pPr marL="308571" indent="0">
              <a:buNone/>
              <a:defRPr sz="1890"/>
            </a:lvl2pPr>
            <a:lvl3pPr marL="617144" indent="0">
              <a:buNone/>
              <a:defRPr sz="1620"/>
            </a:lvl3pPr>
            <a:lvl4pPr marL="925715" indent="0">
              <a:buNone/>
              <a:defRPr sz="1350"/>
            </a:lvl4pPr>
            <a:lvl5pPr marL="1234286" indent="0">
              <a:buNone/>
              <a:defRPr sz="1350"/>
            </a:lvl5pPr>
            <a:lvl6pPr marL="1542857" indent="0">
              <a:buNone/>
              <a:defRPr sz="1350"/>
            </a:lvl6pPr>
            <a:lvl7pPr marL="1851429" indent="0">
              <a:buNone/>
              <a:defRPr sz="1350"/>
            </a:lvl7pPr>
            <a:lvl8pPr marL="2160000" indent="0">
              <a:buNone/>
              <a:defRPr sz="1350"/>
            </a:lvl8pPr>
            <a:lvl9pPr marL="2468571" indent="0">
              <a:buNone/>
              <a:defRPr sz="13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945"/>
            </a:lvl1pPr>
            <a:lvl2pPr marL="308571" indent="0">
              <a:buNone/>
              <a:defRPr sz="810"/>
            </a:lvl2pPr>
            <a:lvl3pPr marL="617144" indent="0">
              <a:buNone/>
              <a:defRPr sz="675"/>
            </a:lvl3pPr>
            <a:lvl4pPr marL="925715" indent="0">
              <a:buNone/>
              <a:defRPr sz="608"/>
            </a:lvl4pPr>
            <a:lvl5pPr marL="1234286" indent="0">
              <a:buNone/>
              <a:defRPr sz="608"/>
            </a:lvl5pPr>
            <a:lvl6pPr marL="1542857" indent="0">
              <a:buNone/>
              <a:defRPr sz="608"/>
            </a:lvl6pPr>
            <a:lvl7pPr marL="1851429" indent="0">
              <a:buNone/>
              <a:defRPr sz="608"/>
            </a:lvl7pPr>
            <a:lvl8pPr marL="2160000" indent="0">
              <a:buNone/>
              <a:defRPr sz="608"/>
            </a:lvl8pPr>
            <a:lvl9pPr marL="2468571" indent="0">
              <a:buNone/>
              <a:defRPr sz="6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6255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5679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44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75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826FB-9B99-4E98-B1EF-D9FD43BD4835}" type="datetimeFigureOut">
              <a:rPr lang="zh-CN" altLang="en-US" smtClean="0"/>
              <a:t>2014/4/2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CF907-2630-4362-B972-1209D89D3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77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6002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635635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25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17144" rtl="0" eaLnBrk="1" latinLnBrk="0" hangingPunct="1"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428" indent="-231428" algn="l" defTabSz="617144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01430" indent="-192858" algn="l" defTabSz="617144" rtl="0" eaLnBrk="1" latinLnBrk="0" hangingPunct="1">
        <a:spcBef>
          <a:spcPct val="20000"/>
        </a:spcBef>
        <a:buFont typeface="Arial" pitchFamily="34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771429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154286" algn="l" defTabSz="617144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88571" indent="-154286" algn="l" defTabSz="617144" rtl="0" eaLnBrk="1" latinLnBrk="0" hangingPunct="1">
        <a:spcBef>
          <a:spcPct val="20000"/>
        </a:spcBef>
        <a:buFont typeface="Arial" pitchFamily="34" charset="0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697144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05715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14286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22857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144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715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286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857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429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00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6002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635635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63563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4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ctr" defTabSz="617144" rtl="0" eaLnBrk="1" latinLnBrk="0" hangingPunct="1"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428" indent="-231428" algn="l" defTabSz="617144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01430" indent="-192858" algn="l" defTabSz="617144" rtl="0" eaLnBrk="1" latinLnBrk="0" hangingPunct="1">
        <a:spcBef>
          <a:spcPct val="20000"/>
        </a:spcBef>
        <a:buFont typeface="Arial" pitchFamily="34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771429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154286" algn="l" defTabSz="617144" rtl="0" eaLnBrk="1" latinLnBrk="0" hangingPunct="1">
        <a:spcBef>
          <a:spcPct val="20000"/>
        </a:spcBef>
        <a:buFont typeface="Arial" pitchFamily="34" charset="0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88571" indent="-154286" algn="l" defTabSz="617144" rtl="0" eaLnBrk="1" latinLnBrk="0" hangingPunct="1">
        <a:spcBef>
          <a:spcPct val="20000"/>
        </a:spcBef>
        <a:buFont typeface="Arial" pitchFamily="34" charset="0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697144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05715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14286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22857" indent="-154286" algn="l" defTabSz="61714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144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715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286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2857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429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000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571" algn="l" defTabSz="61714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768545"/>
            <a:ext cx="9144000" cy="230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531759" y="2938783"/>
            <a:ext cx="4122058" cy="607105"/>
          </a:xfrm>
        </p:spPr>
        <p:txBody>
          <a:bodyPr>
            <a:normAutofit fontScale="90000"/>
          </a:bodyPr>
          <a:lstStyle/>
          <a:p>
            <a:pPr algn="r"/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写给大家看的设计书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507846" y="3821275"/>
            <a:ext cx="3145971" cy="978582"/>
          </a:xfrm>
        </p:spPr>
        <p:txBody>
          <a:bodyPr>
            <a:no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Robin William 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著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4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苏金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 刘亮  译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40000"/>
              </a:lnSpc>
              <a:spcBef>
                <a:spcPts val="0"/>
              </a:spcBef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筱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dan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29" y="1773136"/>
            <a:ext cx="3249280" cy="40962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963" y="403065"/>
            <a:ext cx="1120854" cy="111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93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0" y="0"/>
            <a:ext cx="3396343" cy="632012"/>
          </a:xfrm>
        </p:spPr>
        <p:txBody>
          <a:bodyPr/>
          <a:lstStyle/>
          <a:p>
            <a:r>
              <a:rPr lang="zh-CN" altLang="en-US" dirty="0" smtClean="0"/>
              <a:t>设计的基本原则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1979890" y="3806717"/>
            <a:ext cx="6799607" cy="1382400"/>
          </a:xfrm>
          <a:prstGeom prst="rect">
            <a:avLst/>
          </a:prstGeom>
          <a:solidFill>
            <a:srgbClr val="F1F8EC"/>
          </a:solidFill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457200" algn="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设计的某些方面需要在整个作品中</a:t>
            </a:r>
            <a:r>
              <a:rPr lang="zh-CN" altLang="en-US" sz="2000" b="1" dirty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  <a:endParaRPr lang="en-US" altLang="zh-CN" sz="2000" b="1" dirty="0">
              <a:solidFill>
                <a:srgbClr val="4878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5760" y="3800923"/>
            <a:ext cx="1335144" cy="1068115"/>
          </a:xfrm>
          <a:prstGeom prst="rect">
            <a:avLst/>
          </a:prstGeom>
          <a:solidFill>
            <a:srgbClr val="EBF1E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50000"/>
              <a:hueOff val="-4896237"/>
              <a:satOff val="-10250"/>
              <a:lumOff val="7043"/>
              <a:alphaOff val="0"/>
            </a:schemeClr>
          </a:fillRef>
          <a:effectRef idx="0">
            <a:schemeClr val="accent5">
              <a:tint val="50000"/>
              <a:hueOff val="-4896237"/>
              <a:satOff val="-10250"/>
              <a:lumOff val="7043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5" name="组合 24"/>
          <p:cNvGrpSpPr/>
          <p:nvPr/>
        </p:nvGrpSpPr>
        <p:grpSpPr>
          <a:xfrm>
            <a:off x="453831" y="3847785"/>
            <a:ext cx="1307039" cy="1257902"/>
            <a:chOff x="525496" y="4021364"/>
            <a:chExt cx="1307039" cy="1257902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54" t="11494" r="10286" b="4098"/>
            <a:stretch/>
          </p:blipFill>
          <p:spPr>
            <a:xfrm>
              <a:off x="525496" y="4021364"/>
              <a:ext cx="1307039" cy="10566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13" name="任意多边形 12"/>
            <p:cNvSpPr/>
            <p:nvPr/>
          </p:nvSpPr>
          <p:spPr>
            <a:xfrm>
              <a:off x="632745" y="4905426"/>
              <a:ext cx="1188279" cy="373840"/>
            </a:xfrm>
            <a:custGeom>
              <a:avLst/>
              <a:gdLst>
                <a:gd name="connsiteX0" fmla="*/ 0 w 1627329"/>
                <a:gd name="connsiteY0" fmla="*/ 0 h 511968"/>
                <a:gd name="connsiteX1" fmla="*/ 949275 w 1627329"/>
                <a:gd name="connsiteY1" fmla="*/ 0 h 511968"/>
                <a:gd name="connsiteX2" fmla="*/ 1143199 w 1627329"/>
                <a:gd name="connsiteY2" fmla="*/ -54781 h 511968"/>
                <a:gd name="connsiteX3" fmla="*/ 1356108 w 1627329"/>
                <a:gd name="connsiteY3" fmla="*/ 0 h 511968"/>
                <a:gd name="connsiteX4" fmla="*/ 1627329 w 1627329"/>
                <a:gd name="connsiteY4" fmla="*/ 0 h 511968"/>
                <a:gd name="connsiteX5" fmla="*/ 1627329 w 1627329"/>
                <a:gd name="connsiteY5" fmla="*/ 85328 h 511968"/>
                <a:gd name="connsiteX6" fmla="*/ 1627329 w 1627329"/>
                <a:gd name="connsiteY6" fmla="*/ 85328 h 511968"/>
                <a:gd name="connsiteX7" fmla="*/ 1627329 w 1627329"/>
                <a:gd name="connsiteY7" fmla="*/ 213320 h 511968"/>
                <a:gd name="connsiteX8" fmla="*/ 1627329 w 1627329"/>
                <a:gd name="connsiteY8" fmla="*/ 511968 h 511968"/>
                <a:gd name="connsiteX9" fmla="*/ 1356108 w 1627329"/>
                <a:gd name="connsiteY9" fmla="*/ 511968 h 511968"/>
                <a:gd name="connsiteX10" fmla="*/ 949275 w 1627329"/>
                <a:gd name="connsiteY10" fmla="*/ 511968 h 511968"/>
                <a:gd name="connsiteX11" fmla="*/ 949275 w 1627329"/>
                <a:gd name="connsiteY11" fmla="*/ 511968 h 511968"/>
                <a:gd name="connsiteX12" fmla="*/ 0 w 1627329"/>
                <a:gd name="connsiteY12" fmla="*/ 511968 h 511968"/>
                <a:gd name="connsiteX13" fmla="*/ 0 w 1627329"/>
                <a:gd name="connsiteY13" fmla="*/ 213320 h 511968"/>
                <a:gd name="connsiteX14" fmla="*/ 0 w 1627329"/>
                <a:gd name="connsiteY14" fmla="*/ 85328 h 511968"/>
                <a:gd name="connsiteX15" fmla="*/ 0 w 1627329"/>
                <a:gd name="connsiteY15" fmla="*/ 85328 h 511968"/>
                <a:gd name="connsiteX16" fmla="*/ 0 w 1627329"/>
                <a:gd name="connsiteY16" fmla="*/ 0 h 511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7329" h="511968">
                  <a:moveTo>
                    <a:pt x="0" y="0"/>
                  </a:moveTo>
                  <a:lnTo>
                    <a:pt x="949275" y="0"/>
                  </a:lnTo>
                  <a:lnTo>
                    <a:pt x="1143199" y="-54781"/>
                  </a:lnTo>
                  <a:lnTo>
                    <a:pt x="1356108" y="0"/>
                  </a:lnTo>
                  <a:lnTo>
                    <a:pt x="1627329" y="0"/>
                  </a:lnTo>
                  <a:lnTo>
                    <a:pt x="1627329" y="85328"/>
                  </a:lnTo>
                  <a:lnTo>
                    <a:pt x="1627329" y="85328"/>
                  </a:lnTo>
                  <a:lnTo>
                    <a:pt x="1627329" y="213320"/>
                  </a:lnTo>
                  <a:lnTo>
                    <a:pt x="1627329" y="511968"/>
                  </a:lnTo>
                  <a:lnTo>
                    <a:pt x="1356108" y="511968"/>
                  </a:lnTo>
                  <a:lnTo>
                    <a:pt x="949275" y="511968"/>
                  </a:lnTo>
                  <a:lnTo>
                    <a:pt x="949275" y="511968"/>
                  </a:lnTo>
                  <a:lnTo>
                    <a:pt x="0" y="511968"/>
                  </a:lnTo>
                  <a:lnTo>
                    <a:pt x="0" y="213320"/>
                  </a:lnTo>
                  <a:lnTo>
                    <a:pt x="0" y="85328"/>
                  </a:lnTo>
                  <a:lnTo>
                    <a:pt x="0" y="85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902230"/>
                <a:satOff val="-6819"/>
                <a:lumOff val="-2615"/>
                <a:alphaOff val="0"/>
              </a:schemeClr>
            </a:fillRef>
            <a:effectRef idx="0">
              <a:schemeClr val="accent5">
                <a:hueOff val="-4902230"/>
                <a:satOff val="-6819"/>
                <a:lumOff val="-261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重复</a:t>
              </a:r>
              <a:endPara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01" t="23034" r="7854" b="19273"/>
          <a:stretch/>
        </p:blipFill>
        <p:spPr>
          <a:xfrm>
            <a:off x="3338063" y="66898"/>
            <a:ext cx="1206826" cy="61765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967022" y="771721"/>
            <a:ext cx="6799607" cy="1381390"/>
          </a:xfrm>
          <a:prstGeom prst="rect">
            <a:avLst/>
          </a:prstGeom>
          <a:solidFill>
            <a:srgbClr val="F1F8EC"/>
          </a:solidFill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0" indent="457200" algn="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如果某些元素在</a:t>
            </a:r>
            <a:r>
              <a:rPr lang="zh-CN" altLang="en-US" sz="2000" b="1" dirty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理解上存在</a:t>
            </a:r>
            <a:r>
              <a:rPr lang="zh-CN" altLang="en-US" sz="2000" b="1" dirty="0" smtClean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关联</a:t>
            </a:r>
            <a:r>
              <a:rPr lang="en-US" altLang="zh-CN" sz="2000" dirty="0" smtClean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2000" dirty="0" smtClean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相互之间存在某种</a:t>
            </a:r>
            <a:r>
              <a:rPr lang="zh-CN" altLang="en-US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</a:t>
            </a:r>
            <a:r>
              <a:rPr lang="en-US" altLang="zh-CN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那么</a:t>
            </a:r>
            <a:r>
              <a:rPr lang="zh-CN" altLang="en-US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这些元素在</a:t>
            </a:r>
            <a:r>
              <a:rPr lang="zh-CN" altLang="en-US" sz="2000" b="1" dirty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视觉上</a:t>
            </a:r>
            <a:r>
              <a:rPr lang="zh-CN" altLang="en-US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也应该</a:t>
            </a:r>
            <a:r>
              <a:rPr lang="zh-CN" altLang="en-US" sz="2000" b="1" dirty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有关联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442442" y="771722"/>
            <a:ext cx="1298463" cy="1298464"/>
            <a:chOff x="626297" y="2554685"/>
            <a:chExt cx="1828459" cy="1828460"/>
          </a:xfrm>
        </p:grpSpPr>
        <p:sp>
          <p:nvSpPr>
            <p:cNvPr id="8" name="矩形 7"/>
            <p:cNvSpPr/>
            <p:nvPr/>
          </p:nvSpPr>
          <p:spPr>
            <a:xfrm>
              <a:off x="626297" y="2554685"/>
              <a:ext cx="1828459" cy="1462767"/>
            </a:xfrm>
            <a:prstGeom prst="rect">
              <a:avLst/>
            </a:prstGeom>
            <a:solidFill>
              <a:srgbClr val="EBF1E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15347"/>
            <a:stretch/>
          </p:blipFill>
          <p:spPr>
            <a:xfrm>
              <a:off x="644581" y="2569658"/>
              <a:ext cx="1810174" cy="14812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9" name="任意多边形 8"/>
            <p:cNvSpPr/>
            <p:nvPr/>
          </p:nvSpPr>
          <p:spPr>
            <a:xfrm>
              <a:off x="790857" y="3871177"/>
              <a:ext cx="1627328" cy="511968"/>
            </a:xfrm>
            <a:custGeom>
              <a:avLst/>
              <a:gdLst>
                <a:gd name="connsiteX0" fmla="*/ 0 w 1627329"/>
                <a:gd name="connsiteY0" fmla="*/ 0 h 511968"/>
                <a:gd name="connsiteX1" fmla="*/ 949275 w 1627329"/>
                <a:gd name="connsiteY1" fmla="*/ 0 h 511968"/>
                <a:gd name="connsiteX2" fmla="*/ 1143199 w 1627329"/>
                <a:gd name="connsiteY2" fmla="*/ -54781 h 511968"/>
                <a:gd name="connsiteX3" fmla="*/ 1356108 w 1627329"/>
                <a:gd name="connsiteY3" fmla="*/ 0 h 511968"/>
                <a:gd name="connsiteX4" fmla="*/ 1627329 w 1627329"/>
                <a:gd name="connsiteY4" fmla="*/ 0 h 511968"/>
                <a:gd name="connsiteX5" fmla="*/ 1627329 w 1627329"/>
                <a:gd name="connsiteY5" fmla="*/ 85328 h 511968"/>
                <a:gd name="connsiteX6" fmla="*/ 1627329 w 1627329"/>
                <a:gd name="connsiteY6" fmla="*/ 85328 h 511968"/>
                <a:gd name="connsiteX7" fmla="*/ 1627329 w 1627329"/>
                <a:gd name="connsiteY7" fmla="*/ 213320 h 511968"/>
                <a:gd name="connsiteX8" fmla="*/ 1627329 w 1627329"/>
                <a:gd name="connsiteY8" fmla="*/ 511968 h 511968"/>
                <a:gd name="connsiteX9" fmla="*/ 1356108 w 1627329"/>
                <a:gd name="connsiteY9" fmla="*/ 511968 h 511968"/>
                <a:gd name="connsiteX10" fmla="*/ 949275 w 1627329"/>
                <a:gd name="connsiteY10" fmla="*/ 511968 h 511968"/>
                <a:gd name="connsiteX11" fmla="*/ 949275 w 1627329"/>
                <a:gd name="connsiteY11" fmla="*/ 511968 h 511968"/>
                <a:gd name="connsiteX12" fmla="*/ 0 w 1627329"/>
                <a:gd name="connsiteY12" fmla="*/ 511968 h 511968"/>
                <a:gd name="connsiteX13" fmla="*/ 0 w 1627329"/>
                <a:gd name="connsiteY13" fmla="*/ 213320 h 511968"/>
                <a:gd name="connsiteX14" fmla="*/ 0 w 1627329"/>
                <a:gd name="connsiteY14" fmla="*/ 85328 h 511968"/>
                <a:gd name="connsiteX15" fmla="*/ 0 w 1627329"/>
                <a:gd name="connsiteY15" fmla="*/ 85328 h 511968"/>
                <a:gd name="connsiteX16" fmla="*/ 0 w 1627329"/>
                <a:gd name="connsiteY16" fmla="*/ 0 h 511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7329" h="511968">
                  <a:moveTo>
                    <a:pt x="0" y="0"/>
                  </a:moveTo>
                  <a:lnTo>
                    <a:pt x="949275" y="0"/>
                  </a:lnTo>
                  <a:lnTo>
                    <a:pt x="1143199" y="-54781"/>
                  </a:lnTo>
                  <a:lnTo>
                    <a:pt x="1356108" y="0"/>
                  </a:lnTo>
                  <a:lnTo>
                    <a:pt x="1627329" y="0"/>
                  </a:lnTo>
                  <a:lnTo>
                    <a:pt x="1627329" y="85328"/>
                  </a:lnTo>
                  <a:lnTo>
                    <a:pt x="1627329" y="85328"/>
                  </a:lnTo>
                  <a:lnTo>
                    <a:pt x="1627329" y="213320"/>
                  </a:lnTo>
                  <a:lnTo>
                    <a:pt x="1627329" y="511968"/>
                  </a:lnTo>
                  <a:lnTo>
                    <a:pt x="1356108" y="511968"/>
                  </a:lnTo>
                  <a:lnTo>
                    <a:pt x="949275" y="511968"/>
                  </a:lnTo>
                  <a:lnTo>
                    <a:pt x="949275" y="511968"/>
                  </a:lnTo>
                  <a:lnTo>
                    <a:pt x="0" y="511968"/>
                  </a:lnTo>
                  <a:lnTo>
                    <a:pt x="0" y="213320"/>
                  </a:lnTo>
                  <a:lnTo>
                    <a:pt x="0" y="85328"/>
                  </a:lnTo>
                  <a:lnTo>
                    <a:pt x="0" y="85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亲密性</a:t>
              </a:r>
              <a:endPara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1967022" y="2288714"/>
            <a:ext cx="6799607" cy="1382400"/>
          </a:xfrm>
          <a:prstGeom prst="rect">
            <a:avLst/>
          </a:prstGeom>
          <a:solidFill>
            <a:srgbClr val="F1F8EC"/>
          </a:solidFill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457200" algn="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任何元素都不能在页面上随意</a:t>
            </a:r>
            <a:r>
              <a:rPr lang="zh-CN" altLang="en-US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安放</a:t>
            </a:r>
            <a:r>
              <a:rPr lang="en-US" altLang="zh-CN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</a:t>
            </a:r>
            <a:r>
              <a:rPr lang="zh-CN" altLang="en-US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要确保每一</a:t>
            </a:r>
            <a:r>
              <a:rPr lang="zh-CN" altLang="en-US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en-US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与页面上</a:t>
            </a:r>
            <a:r>
              <a:rPr lang="zh-CN" altLang="en-US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的其它元素</a:t>
            </a:r>
            <a:r>
              <a:rPr lang="zh-CN" altLang="en-US" sz="2000" b="1" dirty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</a:t>
            </a:r>
            <a:endParaRPr lang="en-US" altLang="zh-CN" sz="2000" b="1" dirty="0">
              <a:solidFill>
                <a:srgbClr val="4878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33420" y="2282243"/>
            <a:ext cx="1338393" cy="1286936"/>
            <a:chOff x="526351" y="2472601"/>
            <a:chExt cx="1338393" cy="1286936"/>
          </a:xfrm>
        </p:grpSpPr>
        <p:sp>
          <p:nvSpPr>
            <p:cNvPr id="10" name="矩形 9"/>
            <p:cNvSpPr/>
            <p:nvPr/>
          </p:nvSpPr>
          <p:spPr>
            <a:xfrm>
              <a:off x="526351" y="2472601"/>
              <a:ext cx="1338393" cy="1070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50000"/>
                <a:hueOff val="-2448118"/>
                <a:satOff val="-5125"/>
                <a:lumOff val="3521"/>
                <a:alphaOff val="0"/>
              </a:schemeClr>
            </a:fillRef>
            <a:effectRef idx="0">
              <a:schemeClr val="accent5">
                <a:tint val="50000"/>
                <a:hueOff val="-2448118"/>
                <a:satOff val="-5125"/>
                <a:lumOff val="3521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任意多边形 10"/>
            <p:cNvSpPr/>
            <p:nvPr/>
          </p:nvSpPr>
          <p:spPr>
            <a:xfrm>
              <a:off x="613199" y="3384787"/>
              <a:ext cx="1191170" cy="374750"/>
            </a:xfrm>
            <a:custGeom>
              <a:avLst/>
              <a:gdLst>
                <a:gd name="connsiteX0" fmla="*/ 0 w 1627329"/>
                <a:gd name="connsiteY0" fmla="*/ 0 h 511968"/>
                <a:gd name="connsiteX1" fmla="*/ 949275 w 1627329"/>
                <a:gd name="connsiteY1" fmla="*/ 0 h 511968"/>
                <a:gd name="connsiteX2" fmla="*/ 1143199 w 1627329"/>
                <a:gd name="connsiteY2" fmla="*/ -54781 h 511968"/>
                <a:gd name="connsiteX3" fmla="*/ 1356108 w 1627329"/>
                <a:gd name="connsiteY3" fmla="*/ 0 h 511968"/>
                <a:gd name="connsiteX4" fmla="*/ 1627329 w 1627329"/>
                <a:gd name="connsiteY4" fmla="*/ 0 h 511968"/>
                <a:gd name="connsiteX5" fmla="*/ 1627329 w 1627329"/>
                <a:gd name="connsiteY5" fmla="*/ 85328 h 511968"/>
                <a:gd name="connsiteX6" fmla="*/ 1627329 w 1627329"/>
                <a:gd name="connsiteY6" fmla="*/ 85328 h 511968"/>
                <a:gd name="connsiteX7" fmla="*/ 1627329 w 1627329"/>
                <a:gd name="connsiteY7" fmla="*/ 213320 h 511968"/>
                <a:gd name="connsiteX8" fmla="*/ 1627329 w 1627329"/>
                <a:gd name="connsiteY8" fmla="*/ 511968 h 511968"/>
                <a:gd name="connsiteX9" fmla="*/ 1356108 w 1627329"/>
                <a:gd name="connsiteY9" fmla="*/ 511968 h 511968"/>
                <a:gd name="connsiteX10" fmla="*/ 949275 w 1627329"/>
                <a:gd name="connsiteY10" fmla="*/ 511968 h 511968"/>
                <a:gd name="connsiteX11" fmla="*/ 949275 w 1627329"/>
                <a:gd name="connsiteY11" fmla="*/ 511968 h 511968"/>
                <a:gd name="connsiteX12" fmla="*/ 0 w 1627329"/>
                <a:gd name="connsiteY12" fmla="*/ 511968 h 511968"/>
                <a:gd name="connsiteX13" fmla="*/ 0 w 1627329"/>
                <a:gd name="connsiteY13" fmla="*/ 213320 h 511968"/>
                <a:gd name="connsiteX14" fmla="*/ 0 w 1627329"/>
                <a:gd name="connsiteY14" fmla="*/ 85328 h 511968"/>
                <a:gd name="connsiteX15" fmla="*/ 0 w 1627329"/>
                <a:gd name="connsiteY15" fmla="*/ 85328 h 511968"/>
                <a:gd name="connsiteX16" fmla="*/ 0 w 1627329"/>
                <a:gd name="connsiteY16" fmla="*/ 0 h 511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7329" h="511968">
                  <a:moveTo>
                    <a:pt x="0" y="0"/>
                  </a:moveTo>
                  <a:lnTo>
                    <a:pt x="949275" y="0"/>
                  </a:lnTo>
                  <a:lnTo>
                    <a:pt x="1143199" y="-54781"/>
                  </a:lnTo>
                  <a:lnTo>
                    <a:pt x="1356108" y="0"/>
                  </a:lnTo>
                  <a:lnTo>
                    <a:pt x="1627329" y="0"/>
                  </a:lnTo>
                  <a:lnTo>
                    <a:pt x="1627329" y="85328"/>
                  </a:lnTo>
                  <a:lnTo>
                    <a:pt x="1627329" y="85328"/>
                  </a:lnTo>
                  <a:lnTo>
                    <a:pt x="1627329" y="213320"/>
                  </a:lnTo>
                  <a:lnTo>
                    <a:pt x="1627329" y="511968"/>
                  </a:lnTo>
                  <a:lnTo>
                    <a:pt x="1356108" y="511968"/>
                  </a:lnTo>
                  <a:lnTo>
                    <a:pt x="949275" y="511968"/>
                  </a:lnTo>
                  <a:lnTo>
                    <a:pt x="949275" y="511968"/>
                  </a:lnTo>
                  <a:lnTo>
                    <a:pt x="0" y="511968"/>
                  </a:lnTo>
                  <a:lnTo>
                    <a:pt x="0" y="213320"/>
                  </a:lnTo>
                  <a:lnTo>
                    <a:pt x="0" y="85328"/>
                  </a:lnTo>
                  <a:lnTo>
                    <a:pt x="0" y="85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2451115"/>
                <a:satOff val="-3409"/>
                <a:lumOff val="-1307"/>
                <a:alphaOff val="0"/>
              </a:schemeClr>
            </a:fillRef>
            <a:effectRef idx="0">
              <a:schemeClr val="accent5">
                <a:hueOff val="-2451115"/>
                <a:satOff val="-3409"/>
                <a:lumOff val="-130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对齐</a:t>
              </a:r>
              <a:endPara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753666" y="2679830"/>
              <a:ext cx="790537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753666" y="2860624"/>
              <a:ext cx="527025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753666" y="3041417"/>
              <a:ext cx="790537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753666" y="3222211"/>
              <a:ext cx="527025" cy="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矩形 45"/>
          <p:cNvSpPr/>
          <p:nvPr/>
        </p:nvSpPr>
        <p:spPr>
          <a:xfrm>
            <a:off x="1979890" y="5324721"/>
            <a:ext cx="6799607" cy="1382400"/>
          </a:xfrm>
          <a:prstGeom prst="rect">
            <a:avLst/>
          </a:prstGeom>
          <a:solidFill>
            <a:srgbClr val="F1F8EC"/>
          </a:solidFill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457200" algn="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如果两个元素不同，就会产生</a:t>
            </a:r>
            <a:r>
              <a:rPr lang="zh-CN" altLang="en-US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r>
              <a:rPr lang="en-US" altLang="zh-CN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两项不完全</a:t>
            </a:r>
            <a:r>
              <a:rPr lang="zh-CN" altLang="en-US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en-US" altLang="zh-CN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 smtClean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</a:t>
            </a:r>
            <a:r>
              <a:rPr lang="zh-CN" altLang="en-US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应使之</a:t>
            </a:r>
            <a:r>
              <a:rPr lang="zh-CN" altLang="en-US" sz="2000" b="1" dirty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完全不同</a:t>
            </a:r>
            <a:r>
              <a:rPr lang="zh-CN" altLang="en-US" sz="2000" dirty="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，而且是</a:t>
            </a:r>
            <a:r>
              <a:rPr lang="zh-CN" altLang="en-US" sz="2000" b="1" dirty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截然不同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440917" y="5321704"/>
            <a:ext cx="1272844" cy="1272844"/>
            <a:chOff x="6660214" y="2554685"/>
            <a:chExt cx="1828459" cy="1828459"/>
          </a:xfrm>
        </p:grpSpPr>
        <p:sp>
          <p:nvSpPr>
            <p:cNvPr id="14" name="矩形 13"/>
            <p:cNvSpPr/>
            <p:nvPr/>
          </p:nvSpPr>
          <p:spPr>
            <a:xfrm>
              <a:off x="6660214" y="2554685"/>
              <a:ext cx="1828459" cy="146276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50000"/>
                <a:hueOff val="-7344354"/>
                <a:satOff val="-15375"/>
                <a:lumOff val="10564"/>
                <a:alphaOff val="0"/>
              </a:schemeClr>
            </a:fillRef>
            <a:effectRef idx="0">
              <a:schemeClr val="accent5">
                <a:tint val="50000"/>
                <a:hueOff val="-7344354"/>
                <a:satOff val="-15375"/>
                <a:lumOff val="10564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263" t="11950" r="-477" b="17710"/>
            <a:stretch/>
          </p:blipFill>
          <p:spPr>
            <a:xfrm>
              <a:off x="6660214" y="2584562"/>
              <a:ext cx="1828459" cy="14819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15" name="任意多边形 14"/>
            <p:cNvSpPr/>
            <p:nvPr/>
          </p:nvSpPr>
          <p:spPr>
            <a:xfrm>
              <a:off x="6824775" y="3871176"/>
              <a:ext cx="1627329" cy="511968"/>
            </a:xfrm>
            <a:custGeom>
              <a:avLst/>
              <a:gdLst>
                <a:gd name="connsiteX0" fmla="*/ 0 w 1627329"/>
                <a:gd name="connsiteY0" fmla="*/ 0 h 511968"/>
                <a:gd name="connsiteX1" fmla="*/ 949275 w 1627329"/>
                <a:gd name="connsiteY1" fmla="*/ 0 h 511968"/>
                <a:gd name="connsiteX2" fmla="*/ 1143199 w 1627329"/>
                <a:gd name="connsiteY2" fmla="*/ -54781 h 511968"/>
                <a:gd name="connsiteX3" fmla="*/ 1356108 w 1627329"/>
                <a:gd name="connsiteY3" fmla="*/ 0 h 511968"/>
                <a:gd name="connsiteX4" fmla="*/ 1627329 w 1627329"/>
                <a:gd name="connsiteY4" fmla="*/ 0 h 511968"/>
                <a:gd name="connsiteX5" fmla="*/ 1627329 w 1627329"/>
                <a:gd name="connsiteY5" fmla="*/ 85328 h 511968"/>
                <a:gd name="connsiteX6" fmla="*/ 1627329 w 1627329"/>
                <a:gd name="connsiteY6" fmla="*/ 85328 h 511968"/>
                <a:gd name="connsiteX7" fmla="*/ 1627329 w 1627329"/>
                <a:gd name="connsiteY7" fmla="*/ 213320 h 511968"/>
                <a:gd name="connsiteX8" fmla="*/ 1627329 w 1627329"/>
                <a:gd name="connsiteY8" fmla="*/ 511968 h 511968"/>
                <a:gd name="connsiteX9" fmla="*/ 1356108 w 1627329"/>
                <a:gd name="connsiteY9" fmla="*/ 511968 h 511968"/>
                <a:gd name="connsiteX10" fmla="*/ 949275 w 1627329"/>
                <a:gd name="connsiteY10" fmla="*/ 511968 h 511968"/>
                <a:gd name="connsiteX11" fmla="*/ 949275 w 1627329"/>
                <a:gd name="connsiteY11" fmla="*/ 511968 h 511968"/>
                <a:gd name="connsiteX12" fmla="*/ 0 w 1627329"/>
                <a:gd name="connsiteY12" fmla="*/ 511968 h 511968"/>
                <a:gd name="connsiteX13" fmla="*/ 0 w 1627329"/>
                <a:gd name="connsiteY13" fmla="*/ 213320 h 511968"/>
                <a:gd name="connsiteX14" fmla="*/ 0 w 1627329"/>
                <a:gd name="connsiteY14" fmla="*/ 85328 h 511968"/>
                <a:gd name="connsiteX15" fmla="*/ 0 w 1627329"/>
                <a:gd name="connsiteY15" fmla="*/ 85328 h 511968"/>
                <a:gd name="connsiteX16" fmla="*/ 0 w 1627329"/>
                <a:gd name="connsiteY16" fmla="*/ 0 h 511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27329" h="511968">
                  <a:moveTo>
                    <a:pt x="0" y="0"/>
                  </a:moveTo>
                  <a:lnTo>
                    <a:pt x="949275" y="0"/>
                  </a:lnTo>
                  <a:lnTo>
                    <a:pt x="1143199" y="-54781"/>
                  </a:lnTo>
                  <a:lnTo>
                    <a:pt x="1356108" y="0"/>
                  </a:lnTo>
                  <a:lnTo>
                    <a:pt x="1627329" y="0"/>
                  </a:lnTo>
                  <a:lnTo>
                    <a:pt x="1627329" y="85328"/>
                  </a:lnTo>
                  <a:lnTo>
                    <a:pt x="1627329" y="85328"/>
                  </a:lnTo>
                  <a:lnTo>
                    <a:pt x="1627329" y="213320"/>
                  </a:lnTo>
                  <a:lnTo>
                    <a:pt x="1627329" y="511968"/>
                  </a:lnTo>
                  <a:lnTo>
                    <a:pt x="1356108" y="511968"/>
                  </a:lnTo>
                  <a:lnTo>
                    <a:pt x="949275" y="511968"/>
                  </a:lnTo>
                  <a:lnTo>
                    <a:pt x="949275" y="511968"/>
                  </a:lnTo>
                  <a:lnTo>
                    <a:pt x="0" y="511968"/>
                  </a:lnTo>
                  <a:lnTo>
                    <a:pt x="0" y="213320"/>
                  </a:lnTo>
                  <a:lnTo>
                    <a:pt x="0" y="85328"/>
                  </a:lnTo>
                  <a:lnTo>
                    <a:pt x="0" y="85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7353344"/>
                <a:satOff val="-10228"/>
                <a:lumOff val="-3922"/>
                <a:alphaOff val="0"/>
              </a:schemeClr>
            </a:fillRef>
            <a:effectRef idx="0">
              <a:schemeClr val="accent5">
                <a:hueOff val="-7353344"/>
                <a:satOff val="-10228"/>
                <a:lumOff val="-392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对比</a:t>
              </a:r>
              <a:endParaRPr lang="zh-CN" altLang="en-US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008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3447" y="0"/>
            <a:ext cx="3820676" cy="632012"/>
          </a:xfrm>
        </p:spPr>
        <p:txBody>
          <a:bodyPr/>
          <a:lstStyle/>
          <a:p>
            <a:r>
              <a:rPr lang="zh-CN" altLang="en-US" dirty="0" smtClean="0"/>
              <a:t>如何实现亲密性？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35786" y="3647546"/>
            <a:ext cx="3925615" cy="106788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487829"/>
                </a:solidFill>
              </a:rPr>
              <a:t>隔行间隔均匀，充满整个画面 </a:t>
            </a:r>
            <a:endParaRPr lang="en-US" altLang="zh-CN" sz="2000" b="1" dirty="0">
              <a:solidFill>
                <a:srgbClr val="487829"/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487829"/>
                </a:solidFill>
              </a:rPr>
              <a:t>看不出各行内容之间的联系</a:t>
            </a:r>
          </a:p>
        </p:txBody>
      </p:sp>
      <p:sp>
        <p:nvSpPr>
          <p:cNvPr id="5" name="矩形 4"/>
          <p:cNvSpPr/>
          <p:nvPr/>
        </p:nvSpPr>
        <p:spPr>
          <a:xfrm>
            <a:off x="447136" y="1001045"/>
            <a:ext cx="4031486" cy="5472000"/>
          </a:xfrm>
          <a:prstGeom prst="rect">
            <a:avLst/>
          </a:prstGeom>
          <a:ln/>
          <a:effectLst>
            <a:outerShdw blurRad="50800" dist="889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Your </a:t>
            </a: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Attitude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Is </a:t>
            </a: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Your Life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Lessons from raising three children</a:t>
            </a: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single mom</a:t>
            </a: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Robin William</a:t>
            </a: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October 9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757204" y="2482389"/>
            <a:ext cx="3925615" cy="29875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dirty="0"/>
          </a:p>
        </p:txBody>
      </p:sp>
      <p:cxnSp>
        <p:nvCxnSpPr>
          <p:cNvPr id="12" name="直接连接符 11"/>
          <p:cNvCxnSpPr/>
          <p:nvPr/>
        </p:nvCxnSpPr>
        <p:spPr>
          <a:xfrm>
            <a:off x="2458577" y="1867744"/>
            <a:ext cx="0" cy="540000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444063" y="2891847"/>
            <a:ext cx="0" cy="479649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458577" y="3932020"/>
            <a:ext cx="0" cy="531855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435211" y="4744456"/>
            <a:ext cx="0" cy="468000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458577" y="5459457"/>
            <a:ext cx="0" cy="540000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279537" y="1851119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2278577" y="2392589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2278577" y="2891847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278577" y="3379491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2278577" y="3934800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278577" y="4463875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2264063" y="4715428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2278577" y="5203880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2278577" y="5453757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2278577" y="5999457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48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3447" y="0"/>
            <a:ext cx="3820676" cy="632012"/>
          </a:xfrm>
        </p:spPr>
        <p:txBody>
          <a:bodyPr/>
          <a:lstStyle/>
          <a:p>
            <a:r>
              <a:rPr lang="zh-CN" altLang="en-US" dirty="0" smtClean="0"/>
              <a:t>如何实现亲密性？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7204" y="3251151"/>
            <a:ext cx="3925615" cy="1067882"/>
          </a:xfrm>
        </p:spPr>
        <p:txBody>
          <a:bodyPr>
            <a:normAutofit/>
          </a:bodyPr>
          <a:lstStyle/>
          <a:p>
            <a:r>
              <a:rPr lang="zh-CN" altLang="en-US" sz="2000" dirty="0" smtClean="0"/>
              <a:t>隔行间隔均匀，充满整个画面 </a:t>
            </a:r>
            <a:endParaRPr lang="en-US" altLang="zh-CN" sz="2000" dirty="0" smtClean="0"/>
          </a:p>
          <a:p>
            <a:r>
              <a:rPr lang="zh-CN" altLang="en-US" sz="2000" dirty="0" smtClean="0"/>
              <a:t>看不出各行内容之间的联系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447136" y="1001045"/>
            <a:ext cx="4031486" cy="5472000"/>
          </a:xfrm>
          <a:prstGeom prst="rect">
            <a:avLst/>
          </a:prstGeom>
          <a:ln/>
          <a:effectLst>
            <a:outerShdw blurRad="50800" dist="889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Your </a:t>
            </a: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Attitude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Is </a:t>
            </a: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Your Life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Lessons from raising three children</a:t>
            </a: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single mom</a:t>
            </a: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Robin William</a:t>
            </a: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October 9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757204" y="2482389"/>
            <a:ext cx="3925615" cy="29875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dirty="0"/>
          </a:p>
        </p:txBody>
      </p:sp>
      <p:cxnSp>
        <p:nvCxnSpPr>
          <p:cNvPr id="12" name="直接连接符 11"/>
          <p:cNvCxnSpPr/>
          <p:nvPr/>
        </p:nvCxnSpPr>
        <p:spPr>
          <a:xfrm>
            <a:off x="2458577" y="1867744"/>
            <a:ext cx="0" cy="540000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444063" y="2891847"/>
            <a:ext cx="0" cy="479649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458577" y="3932020"/>
            <a:ext cx="0" cy="531855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435211" y="4744456"/>
            <a:ext cx="0" cy="468000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458577" y="5459457"/>
            <a:ext cx="0" cy="540000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279537" y="1851119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2278577" y="2392589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2278577" y="2891847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278577" y="3379491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2278577" y="3934800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278577" y="4463875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2264063" y="4715428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2278577" y="5203880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2278577" y="5453757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2278577" y="5999457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581740" y="1206466"/>
            <a:ext cx="3823388" cy="16573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581740" y="3280923"/>
            <a:ext cx="3823388" cy="156259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581740" y="5133531"/>
            <a:ext cx="3823388" cy="11559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4750193" y="1009817"/>
            <a:ext cx="4032000" cy="5472000"/>
          </a:xfrm>
          <a:prstGeom prst="rect">
            <a:avLst/>
          </a:prstGeom>
          <a:ln/>
          <a:effectLst>
            <a:outerShdw blurRad="50800" dist="889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Your Attitude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is Your Life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Lessons 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from</a:t>
            </a:r>
          </a:p>
          <a:p>
            <a:pPr algn="ctr"/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raising three children</a:t>
            </a:r>
          </a:p>
          <a:p>
            <a:pPr algn="ctr"/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single 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mom</a:t>
            </a: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50000"/>
              </a:lnSpc>
              <a:spcBef>
                <a:spcPts val="4800"/>
              </a:spcBef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Robin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William</a:t>
            </a:r>
          </a:p>
          <a:p>
            <a:pPr algn="ctr">
              <a:lnSpc>
                <a:spcPct val="5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October 9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8" name="右箭头 47"/>
          <p:cNvSpPr/>
          <p:nvPr/>
        </p:nvSpPr>
        <p:spPr>
          <a:xfrm>
            <a:off x="4499667" y="2957898"/>
            <a:ext cx="623877" cy="1575837"/>
          </a:xfrm>
          <a:prstGeom prst="rightArrow">
            <a:avLst>
              <a:gd name="adj1" fmla="val 50000"/>
              <a:gd name="adj2" fmla="val 59306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844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3447" y="0"/>
            <a:ext cx="3820676" cy="632012"/>
          </a:xfrm>
        </p:spPr>
        <p:txBody>
          <a:bodyPr/>
          <a:lstStyle/>
          <a:p>
            <a:r>
              <a:rPr lang="zh-CN" altLang="en-US" dirty="0" smtClean="0"/>
              <a:t>如何实现亲密性？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7204" y="3251151"/>
            <a:ext cx="3925615" cy="1067882"/>
          </a:xfrm>
        </p:spPr>
        <p:txBody>
          <a:bodyPr>
            <a:normAutofit/>
          </a:bodyPr>
          <a:lstStyle/>
          <a:p>
            <a:r>
              <a:rPr lang="zh-CN" altLang="en-US" sz="2000" dirty="0" smtClean="0"/>
              <a:t>隔行间隔均匀，充满整个画面 </a:t>
            </a:r>
            <a:endParaRPr lang="en-US" altLang="zh-CN" sz="2000" dirty="0" smtClean="0"/>
          </a:p>
          <a:p>
            <a:r>
              <a:rPr lang="zh-CN" altLang="en-US" sz="2000" dirty="0" smtClean="0"/>
              <a:t>看不出各行内容之间的联系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447136" y="1001045"/>
            <a:ext cx="4031486" cy="5472000"/>
          </a:xfrm>
          <a:prstGeom prst="rect">
            <a:avLst/>
          </a:prstGeom>
          <a:ln/>
          <a:effectLst>
            <a:outerShdw blurRad="50800" dist="889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Your </a:t>
            </a: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Attitude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Is </a:t>
            </a: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Your Life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Lessons from raising three children</a:t>
            </a: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single mom</a:t>
            </a: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Robin William</a:t>
            </a:r>
          </a:p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October 9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757204" y="2482389"/>
            <a:ext cx="3925615" cy="29875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dirty="0"/>
          </a:p>
        </p:txBody>
      </p:sp>
      <p:cxnSp>
        <p:nvCxnSpPr>
          <p:cNvPr id="12" name="直接连接符 11"/>
          <p:cNvCxnSpPr/>
          <p:nvPr/>
        </p:nvCxnSpPr>
        <p:spPr>
          <a:xfrm>
            <a:off x="2458577" y="1867744"/>
            <a:ext cx="0" cy="540000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444063" y="2891847"/>
            <a:ext cx="0" cy="479649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458577" y="3932020"/>
            <a:ext cx="0" cy="531855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435211" y="4744456"/>
            <a:ext cx="0" cy="468000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458577" y="5459457"/>
            <a:ext cx="0" cy="540000"/>
          </a:xfrm>
          <a:prstGeom prst="line">
            <a:avLst/>
          </a:prstGeom>
          <a:ln w="38100"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279537" y="1851119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2278577" y="2392589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2278577" y="2891847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278577" y="3379491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2278577" y="3934800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278577" y="4463875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2264063" y="4715428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2278577" y="5203880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2278577" y="5453757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2278577" y="5999457"/>
            <a:ext cx="360000" cy="0"/>
          </a:xfrm>
          <a:prstGeom prst="line">
            <a:avLst/>
          </a:prstGeom>
          <a:ln w="3175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581740" y="1206466"/>
            <a:ext cx="3823388" cy="16573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581740" y="3280923"/>
            <a:ext cx="3823388" cy="156259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581740" y="5133531"/>
            <a:ext cx="3823388" cy="11559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4750193" y="1009817"/>
            <a:ext cx="4032000" cy="5472000"/>
          </a:xfrm>
          <a:prstGeom prst="rect">
            <a:avLst/>
          </a:prstGeom>
          <a:ln/>
          <a:effectLst>
            <a:outerShdw blurRad="50800" dist="889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Your Attitude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is Your Life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Lessons 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from</a:t>
            </a:r>
          </a:p>
          <a:p>
            <a:pPr algn="ctr"/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raising three children</a:t>
            </a:r>
          </a:p>
          <a:p>
            <a:pPr algn="ctr"/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single 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mom</a:t>
            </a: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50000"/>
              </a:lnSpc>
              <a:spcBef>
                <a:spcPts val="4800"/>
              </a:spcBef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Robin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William</a:t>
            </a:r>
          </a:p>
          <a:p>
            <a:pPr algn="ctr">
              <a:lnSpc>
                <a:spcPct val="5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October 9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8" name="右箭头 47"/>
          <p:cNvSpPr/>
          <p:nvPr/>
        </p:nvSpPr>
        <p:spPr>
          <a:xfrm>
            <a:off x="4499667" y="2957898"/>
            <a:ext cx="623877" cy="1575837"/>
          </a:xfrm>
          <a:prstGeom prst="rightArrow">
            <a:avLst>
              <a:gd name="adj1" fmla="val 50000"/>
              <a:gd name="adj2" fmla="val 59306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447137" y="1001045"/>
            <a:ext cx="4031486" cy="54720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889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indent="4572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通过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设置</a:t>
            </a:r>
            <a:r>
              <a:rPr lang="zh-CN" altLang="en-US" sz="2800" b="1" dirty="0">
                <a:solidFill>
                  <a:srgbClr val="48782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不同间隔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来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指示各项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en-US" sz="2800" b="1" dirty="0">
                <a:solidFill>
                  <a:srgbClr val="48782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接近程度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关系重要性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1112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3447" y="0"/>
            <a:ext cx="3366247" cy="632012"/>
          </a:xfrm>
        </p:spPr>
        <p:txBody>
          <a:bodyPr/>
          <a:lstStyle/>
          <a:p>
            <a:r>
              <a:rPr lang="zh-CN" altLang="en-US" dirty="0" smtClean="0"/>
              <a:t>如何实现对齐？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51677" y="2032160"/>
            <a:ext cx="3912677" cy="342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居中对齐是一种合法的对齐方式，但边界是“软”的，看不出“对齐线”的强度。</a:t>
            </a: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457200"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而文本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左对齐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lang="zh-CN" alt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右对齐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能够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让文本联系起来的线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更</a:t>
            </a:r>
            <a:r>
              <a:rPr lang="zh-CN" alt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明确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。文本外观更清晰、效果更分明。</a:t>
            </a:r>
          </a:p>
        </p:txBody>
      </p:sp>
      <p:sp>
        <p:nvSpPr>
          <p:cNvPr id="9" name="矩形 8"/>
          <p:cNvSpPr/>
          <p:nvPr/>
        </p:nvSpPr>
        <p:spPr>
          <a:xfrm>
            <a:off x="4721554" y="1010475"/>
            <a:ext cx="4032000" cy="5472000"/>
          </a:xfrm>
          <a:prstGeom prst="rect">
            <a:avLst/>
          </a:prstGeom>
          <a:ln/>
          <a:effectLst>
            <a:outerShdw blurRad="50800" dist="889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Your Attitude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is Your Life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Lessons 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from</a:t>
            </a:r>
          </a:p>
          <a:p>
            <a:pPr algn="ctr"/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raising three children</a:t>
            </a:r>
          </a:p>
          <a:p>
            <a:pPr algn="ctr"/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single 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mom</a:t>
            </a: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50000"/>
              </a:lnSpc>
              <a:spcBef>
                <a:spcPts val="4800"/>
              </a:spcBef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Robin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William</a:t>
            </a:r>
          </a:p>
          <a:p>
            <a:pPr algn="ctr">
              <a:lnSpc>
                <a:spcPct val="5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October 9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763553" y="674710"/>
            <a:ext cx="0" cy="6048000"/>
          </a:xfrm>
          <a:prstGeom prst="line">
            <a:avLst/>
          </a:prstGeom>
          <a:noFill/>
          <a:ln w="3175">
            <a:solidFill>
              <a:srgbClr val="832E4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41050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3447" y="0"/>
            <a:ext cx="3366247" cy="632012"/>
          </a:xfrm>
        </p:spPr>
        <p:txBody>
          <a:bodyPr/>
          <a:lstStyle/>
          <a:p>
            <a:r>
              <a:rPr lang="zh-CN" altLang="en-US" dirty="0" smtClean="0"/>
              <a:t>如何实现对齐？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51677" y="2032160"/>
            <a:ext cx="3912677" cy="342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居中对齐是一种合法的对齐方式，但边界是“软”的，看不出“对齐线”的强度。</a:t>
            </a: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457200"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而文本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左对齐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lang="zh-CN" alt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右对齐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能够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让文本联系起来的线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更</a:t>
            </a:r>
            <a:r>
              <a:rPr lang="zh-CN" alt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明确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。文本外观更清晰、效果更分明。</a:t>
            </a:r>
          </a:p>
        </p:txBody>
      </p:sp>
      <p:sp>
        <p:nvSpPr>
          <p:cNvPr id="9" name="矩形 8"/>
          <p:cNvSpPr/>
          <p:nvPr/>
        </p:nvSpPr>
        <p:spPr>
          <a:xfrm>
            <a:off x="4721554" y="1010475"/>
            <a:ext cx="4032000" cy="5472000"/>
          </a:xfrm>
          <a:prstGeom prst="rect">
            <a:avLst/>
          </a:prstGeom>
          <a:ln/>
          <a:effectLst>
            <a:outerShdw blurRad="50800" dist="889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Your Attitude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is Your Life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Lessons 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from</a:t>
            </a:r>
          </a:p>
          <a:p>
            <a:pPr algn="ctr"/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raising three children</a:t>
            </a:r>
          </a:p>
          <a:p>
            <a:pPr algn="ctr"/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single 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mom</a:t>
            </a: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50000"/>
              </a:lnSpc>
              <a:spcBef>
                <a:spcPts val="4800"/>
              </a:spcBef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Robin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William</a:t>
            </a:r>
          </a:p>
          <a:p>
            <a:pPr algn="ctr">
              <a:lnSpc>
                <a:spcPct val="5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October 9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763553" y="674710"/>
            <a:ext cx="0" cy="6048000"/>
          </a:xfrm>
          <a:prstGeom prst="line">
            <a:avLst/>
          </a:prstGeom>
          <a:noFill/>
          <a:ln w="3175">
            <a:solidFill>
              <a:srgbClr val="832E4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" name="组合 19"/>
          <p:cNvGrpSpPr/>
          <p:nvPr/>
        </p:nvGrpSpPr>
        <p:grpSpPr>
          <a:xfrm>
            <a:off x="453343" y="1010475"/>
            <a:ext cx="4032000" cy="5472000"/>
            <a:chOff x="4675553" y="851254"/>
            <a:chExt cx="4032000" cy="5472000"/>
          </a:xfrm>
        </p:grpSpPr>
        <p:sp>
          <p:nvSpPr>
            <p:cNvPr id="21" name="矩形 20"/>
            <p:cNvSpPr/>
            <p:nvPr/>
          </p:nvSpPr>
          <p:spPr>
            <a:xfrm>
              <a:off x="4675553" y="851254"/>
              <a:ext cx="4032000" cy="5472000"/>
            </a:xfrm>
            <a:prstGeom prst="rect">
              <a:avLst/>
            </a:prstGeom>
            <a:solidFill>
              <a:schemeClr val="bg1"/>
            </a:solidFill>
            <a:ln/>
            <a:effectLst>
              <a:outerShdw blurRad="50800" dist="88900" dir="18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 algn="r">
                <a:spcBef>
                  <a:spcPts val="1200"/>
                </a:spcBef>
                <a:spcAft>
                  <a:spcPts val="600"/>
                </a:spcAft>
              </a:pP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 rotWithShape="1">
            <a:blip r:embed="rId3"/>
            <a:srcRect l="8186" t="-321"/>
            <a:stretch/>
          </p:blipFill>
          <p:spPr>
            <a:xfrm>
              <a:off x="4810436" y="923077"/>
              <a:ext cx="3873463" cy="5284300"/>
            </a:xfrm>
            <a:prstGeom prst="rect">
              <a:avLst/>
            </a:prstGeom>
          </p:spPr>
        </p:pic>
      </p:grpSp>
      <p:cxnSp>
        <p:nvCxnSpPr>
          <p:cNvPr id="23" name="直接连接符 22"/>
          <p:cNvCxnSpPr/>
          <p:nvPr/>
        </p:nvCxnSpPr>
        <p:spPr>
          <a:xfrm>
            <a:off x="4313829" y="674710"/>
            <a:ext cx="0" cy="6048000"/>
          </a:xfrm>
          <a:prstGeom prst="line">
            <a:avLst/>
          </a:prstGeom>
          <a:noFill/>
          <a:ln w="3175">
            <a:solidFill>
              <a:srgbClr val="832E4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右箭头 14"/>
          <p:cNvSpPr/>
          <p:nvPr/>
        </p:nvSpPr>
        <p:spPr>
          <a:xfrm flipH="1">
            <a:off x="4264354" y="2881057"/>
            <a:ext cx="914400" cy="1575837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69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3447" y="0"/>
            <a:ext cx="3366247" cy="632012"/>
          </a:xfrm>
        </p:spPr>
        <p:txBody>
          <a:bodyPr/>
          <a:lstStyle/>
          <a:p>
            <a:r>
              <a:rPr lang="zh-CN" altLang="en-US" dirty="0" smtClean="0"/>
              <a:t>如何实现对齐？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51677" y="2032160"/>
            <a:ext cx="3912677" cy="342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居中对齐是一种合法的对齐方式，但边界是“软”的，看不出“对齐线”的强度。</a:t>
            </a: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457200"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而文本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左对齐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lang="zh-CN" alt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右对齐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能够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让文本联系起来的线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更</a:t>
            </a:r>
            <a:r>
              <a:rPr lang="zh-CN" alt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明确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。文本外观更清晰、效果更分明。</a:t>
            </a:r>
          </a:p>
        </p:txBody>
      </p:sp>
      <p:sp>
        <p:nvSpPr>
          <p:cNvPr id="9" name="矩形 8"/>
          <p:cNvSpPr/>
          <p:nvPr/>
        </p:nvSpPr>
        <p:spPr>
          <a:xfrm>
            <a:off x="4721554" y="1010475"/>
            <a:ext cx="4032000" cy="5472000"/>
          </a:xfrm>
          <a:prstGeom prst="rect">
            <a:avLst/>
          </a:prstGeom>
          <a:ln/>
          <a:effectLst>
            <a:outerShdw blurRad="50800" dist="889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600"/>
              </a:spcAft>
            </a:pP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Your Attitude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zh-CN" sz="4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is Your Life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latin typeface="Elephant" panose="020209040905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Lessons 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from</a:t>
            </a:r>
          </a:p>
          <a:p>
            <a:pPr algn="ctr"/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raising three children</a:t>
            </a:r>
          </a:p>
          <a:p>
            <a:pPr algn="ctr"/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single 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mom</a:t>
            </a: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50000"/>
              </a:lnSpc>
              <a:spcBef>
                <a:spcPts val="4800"/>
              </a:spcBef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Robin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William</a:t>
            </a:r>
          </a:p>
          <a:p>
            <a:pPr algn="ctr">
              <a:lnSpc>
                <a:spcPct val="5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October 9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763553" y="674710"/>
            <a:ext cx="0" cy="6048000"/>
          </a:xfrm>
          <a:prstGeom prst="line">
            <a:avLst/>
          </a:prstGeom>
          <a:noFill/>
          <a:ln w="3175">
            <a:solidFill>
              <a:srgbClr val="832E4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" name="组合 19"/>
          <p:cNvGrpSpPr/>
          <p:nvPr/>
        </p:nvGrpSpPr>
        <p:grpSpPr>
          <a:xfrm>
            <a:off x="453343" y="1010475"/>
            <a:ext cx="4032000" cy="5472000"/>
            <a:chOff x="4675553" y="851254"/>
            <a:chExt cx="4032000" cy="5472000"/>
          </a:xfrm>
        </p:grpSpPr>
        <p:sp>
          <p:nvSpPr>
            <p:cNvPr id="21" name="矩形 20"/>
            <p:cNvSpPr/>
            <p:nvPr/>
          </p:nvSpPr>
          <p:spPr>
            <a:xfrm>
              <a:off x="4675553" y="851254"/>
              <a:ext cx="4032000" cy="5472000"/>
            </a:xfrm>
            <a:prstGeom prst="rect">
              <a:avLst/>
            </a:prstGeom>
            <a:solidFill>
              <a:schemeClr val="bg1"/>
            </a:solidFill>
            <a:ln/>
            <a:effectLst>
              <a:outerShdw blurRad="50800" dist="88900" dir="18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 algn="r">
                <a:spcBef>
                  <a:spcPts val="1200"/>
                </a:spcBef>
                <a:spcAft>
                  <a:spcPts val="600"/>
                </a:spcAft>
              </a:pP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 rotWithShape="1">
            <a:blip r:embed="rId3"/>
            <a:srcRect l="8186" t="-321"/>
            <a:stretch/>
          </p:blipFill>
          <p:spPr>
            <a:xfrm>
              <a:off x="4810436" y="923077"/>
              <a:ext cx="3873463" cy="5284300"/>
            </a:xfrm>
            <a:prstGeom prst="rect">
              <a:avLst/>
            </a:prstGeom>
          </p:spPr>
        </p:pic>
      </p:grpSp>
      <p:cxnSp>
        <p:nvCxnSpPr>
          <p:cNvPr id="23" name="直接连接符 22"/>
          <p:cNvCxnSpPr/>
          <p:nvPr/>
        </p:nvCxnSpPr>
        <p:spPr>
          <a:xfrm>
            <a:off x="4313829" y="674710"/>
            <a:ext cx="0" cy="6048000"/>
          </a:xfrm>
          <a:prstGeom prst="line">
            <a:avLst/>
          </a:prstGeom>
          <a:noFill/>
          <a:ln w="3175">
            <a:solidFill>
              <a:srgbClr val="832E4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右箭头 14"/>
          <p:cNvSpPr/>
          <p:nvPr/>
        </p:nvSpPr>
        <p:spPr>
          <a:xfrm flipH="1">
            <a:off x="4264354" y="2881057"/>
            <a:ext cx="914400" cy="1575837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673028" y="988448"/>
            <a:ext cx="4032000" cy="54720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889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indent="457200">
              <a:spcBef>
                <a:spcPts val="1200"/>
              </a:spcBef>
              <a:spcAft>
                <a:spcPts val="1200"/>
              </a:spcAft>
            </a:pP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699881" y="3854017"/>
            <a:ext cx="4005147" cy="994258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50800" dist="889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indent="457200">
              <a:spcBef>
                <a:spcPts val="1200"/>
              </a:spcBef>
              <a:spcAft>
                <a:spcPts val="1200"/>
              </a:spcAft>
            </a:pPr>
            <a:r>
              <a:rPr lang="zh-CN" altLang="en-US" sz="3200" b="1" dirty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能否</a:t>
            </a:r>
            <a:r>
              <a:rPr lang="zh-CN" altLang="en-US" sz="3200" b="1" dirty="0" smtClean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更进一步</a:t>
            </a:r>
            <a:endParaRPr lang="zh-CN" altLang="en-US" sz="3200" b="1" dirty="0">
              <a:solidFill>
                <a:srgbClr val="4878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ttp://img.juimg.com/tuku/yulantu/120816/214789-120Q621442579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164" y="2632682"/>
            <a:ext cx="1661695" cy="2215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92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3447" y="0"/>
            <a:ext cx="3421666" cy="632012"/>
          </a:xfrm>
        </p:spPr>
        <p:txBody>
          <a:bodyPr/>
          <a:lstStyle/>
          <a:p>
            <a:r>
              <a:rPr lang="zh-CN" altLang="en-US" dirty="0" smtClean="0"/>
              <a:t>如何实现重复？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478058" y="2243467"/>
            <a:ext cx="43929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标题与作者名（字体）重复</a:t>
            </a:r>
            <a:r>
              <a:rPr lang="zh-CN" altLang="en-US" sz="2000" b="1" dirty="0" smtClean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，可以增强</a:t>
            </a:r>
            <a:r>
              <a:rPr lang="zh-CN" altLang="en-US" sz="2000" b="1" dirty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它们之间的联系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478058" y="4962013"/>
            <a:ext cx="43929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  <a:defRPr sz="2000">
                <a:solidFill>
                  <a:srgbClr val="4D57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487829"/>
                </a:solidFill>
              </a:rPr>
              <a:t>小三角的颜色重复，有助于把设计中的不同部分联系在一起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58" y="1000800"/>
            <a:ext cx="4032000" cy="54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0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3447" y="0"/>
            <a:ext cx="3454916" cy="632012"/>
          </a:xfrm>
        </p:spPr>
        <p:txBody>
          <a:bodyPr/>
          <a:lstStyle/>
          <a:p>
            <a:r>
              <a:rPr lang="zh-CN" altLang="en-US" dirty="0" smtClean="0"/>
              <a:t>如何实现对比？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64257" y="3159951"/>
            <a:ext cx="4193139" cy="1246495"/>
          </a:xfr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487829"/>
                </a:solidFill>
              </a:rPr>
              <a:t>黑色框的添加，增加了字体与背景、标题、作者名与其他项目的对比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75430" y="1047199"/>
            <a:ext cx="4042660" cy="5472000"/>
            <a:chOff x="1168105" y="807491"/>
            <a:chExt cx="4042660" cy="5472000"/>
          </a:xfrm>
        </p:grpSpPr>
        <p:sp>
          <p:nvSpPr>
            <p:cNvPr id="8" name="矩形 7"/>
            <p:cNvSpPr/>
            <p:nvPr/>
          </p:nvSpPr>
          <p:spPr>
            <a:xfrm>
              <a:off x="1168105" y="807491"/>
              <a:ext cx="4032000" cy="5472000"/>
            </a:xfrm>
            <a:prstGeom prst="rect">
              <a:avLst/>
            </a:prstGeom>
            <a:ln/>
            <a:effectLst>
              <a:outerShdw blurRad="50800" dist="88900" dir="18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spcBef>
                  <a:spcPts val="1200"/>
                </a:spcBef>
                <a:spcAft>
                  <a:spcPts val="600"/>
                </a:spcAft>
              </a:pPr>
              <a:r>
                <a:rPr lang="en-US" altLang="zh-CN" sz="3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Elephant" panose="02020904090505020303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Your Attitude</a:t>
              </a:r>
              <a:endPara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Elephant" panose="02020904090505020303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is Your Life</a:t>
              </a:r>
              <a:endPara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phant" panose="02020904090505020303" pitchFamily="18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r"/>
              <a:endPara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r"/>
              <a:r>
                <a:rPr lang="en-US" altLang="zh-CN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Lessons from</a:t>
              </a:r>
            </a:p>
            <a:p>
              <a:pPr algn="r"/>
              <a:r>
                <a:rPr lang="en-US" altLang="zh-CN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raising three children</a:t>
              </a:r>
            </a:p>
            <a:p>
              <a:pPr algn="r"/>
              <a:r>
                <a:rPr lang="en-US" altLang="zh-CN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as </a:t>
              </a:r>
              <a:r>
                <a:rPr lang="en-US" altLang="zh-C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 single </a:t>
              </a:r>
              <a:r>
                <a:rPr lang="en-US" altLang="zh-CN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mom</a:t>
              </a:r>
            </a:p>
            <a:p>
              <a:pPr algn="ctr">
                <a:spcBef>
                  <a:spcPts val="1200"/>
                </a:spcBef>
                <a:spcAft>
                  <a:spcPts val="1200"/>
                </a:spcAft>
              </a:pPr>
              <a:endPara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>
                <a:spcBef>
                  <a:spcPts val="1200"/>
                </a:spcBef>
                <a:spcAft>
                  <a:spcPts val="1200"/>
                </a:spcAft>
              </a:pPr>
              <a:endPara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r">
                <a:lnSpc>
                  <a:spcPct val="50000"/>
                </a:lnSpc>
                <a:spcBef>
                  <a:spcPts val="4800"/>
                </a:spcBef>
                <a:spcAft>
                  <a:spcPts val="600"/>
                </a:spcAft>
              </a:pPr>
              <a:r>
                <a:rPr lang="en-US" altLang="zh-CN" sz="4000" b="1" dirty="0" smtClean="0">
                  <a:solidFill>
                    <a:schemeClr val="bg1"/>
                  </a:solidFill>
                  <a:latin typeface="Elephant" panose="02020904090505020303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Robin William</a:t>
              </a:r>
            </a:p>
            <a:p>
              <a:pPr algn="r">
                <a:lnSpc>
                  <a:spcPct val="50000"/>
                </a:lnSpc>
                <a:spcBef>
                  <a:spcPts val="1200"/>
                </a:spcBef>
              </a:pPr>
              <a:r>
                <a:rPr lang="en-US" altLang="zh-CN" sz="2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October </a:t>
              </a:r>
              <a:r>
                <a:rPr lang="en-US" altLang="zh-CN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9</a:t>
              </a: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766732" y="1131062"/>
              <a:ext cx="3444033" cy="139653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>
                <a:spcAft>
                  <a:spcPts val="600"/>
                </a:spcAft>
              </a:pPr>
              <a:r>
                <a:rPr lang="en-US" altLang="zh-CN" sz="3600" b="1" dirty="0">
                  <a:solidFill>
                    <a:schemeClr val="bg1"/>
                  </a:solidFill>
                  <a:latin typeface="Elephant" panose="02020904090505020303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Your Attitude</a:t>
              </a:r>
            </a:p>
            <a:p>
              <a:pPr algn="r">
                <a:spcAft>
                  <a:spcPts val="600"/>
                </a:spcAft>
              </a:pPr>
              <a:r>
                <a:rPr lang="en-US" altLang="zh-CN" sz="3600" b="1" dirty="0">
                  <a:solidFill>
                    <a:schemeClr val="bg1"/>
                  </a:solidFill>
                  <a:latin typeface="Elephant" panose="02020904090505020303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is Your Life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724415" y="5110612"/>
              <a:ext cx="2475690" cy="51538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>
                <a:lnSpc>
                  <a:spcPct val="50000"/>
                </a:lnSpc>
                <a:spcBef>
                  <a:spcPts val="4800"/>
                </a:spcBef>
                <a:spcAft>
                  <a:spcPts val="600"/>
                </a:spcAft>
              </a:pPr>
              <a:r>
                <a:rPr lang="en-US" altLang="zh-CN" sz="2400" b="1" dirty="0">
                  <a:solidFill>
                    <a:schemeClr val="bg1"/>
                  </a:solidFill>
                  <a:latin typeface="Elephant" panose="02020904090505020303" pitchFamily="18" charset="0"/>
                  <a:ea typeface="微软雅黑" panose="020B0503020204020204" pitchFamily="34" charset="-122"/>
                  <a:cs typeface="Arial" panose="020B0604020202020204" pitchFamily="34" charset="0"/>
                </a:rPr>
                <a:t>Robin William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353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3447" y="0"/>
            <a:ext cx="1326858" cy="632012"/>
          </a:xfrm>
        </p:spPr>
        <p:txBody>
          <a:bodyPr/>
          <a:lstStyle/>
          <a:p>
            <a:r>
              <a:rPr lang="zh-CN" altLang="en-US" dirty="0" smtClean="0"/>
              <a:t>回顾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013"/>
            <a:ext cx="9144000" cy="6225988"/>
          </a:xfrm>
          <a:prstGeom prst="rect">
            <a:avLst/>
          </a:prstGeom>
        </p:spPr>
      </p:pic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3569928" y="3277601"/>
            <a:ext cx="1871143" cy="7353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3200" b="1" dirty="0" smtClean="0">
                <a:solidFill>
                  <a:srgbClr val="487829"/>
                </a:solidFill>
              </a:rPr>
              <a:t>排版原则</a:t>
            </a:r>
            <a:endParaRPr lang="zh-CN" altLang="en-US" sz="3200" b="1" dirty="0">
              <a:solidFill>
                <a:srgbClr val="487829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71597" y="266081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亲密性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371660" y="266154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71659" y="437195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05801" y="435098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305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97" y="4024050"/>
            <a:ext cx="3105740" cy="26313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330" b="49092"/>
          <a:stretch/>
        </p:blipFill>
        <p:spPr>
          <a:xfrm>
            <a:off x="5007049" y="4031496"/>
            <a:ext cx="3060070" cy="26245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3447" y="0"/>
            <a:ext cx="3062439" cy="632012"/>
          </a:xfrm>
        </p:spPr>
        <p:txBody>
          <a:bodyPr/>
          <a:lstStyle/>
          <a:p>
            <a:r>
              <a:rPr lang="zh-CN" altLang="en-US" dirty="0" smtClean="0"/>
              <a:t>要避免的问题</a:t>
            </a:r>
            <a:endParaRPr lang="zh-CN" altLang="en-US" dirty="0"/>
          </a:p>
        </p:txBody>
      </p:sp>
      <p:pic>
        <p:nvPicPr>
          <p:cNvPr id="2050" name="Picture 2" descr="qmx_1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423" r="48322"/>
          <a:stretch/>
        </p:blipFill>
        <p:spPr bwMode="auto">
          <a:xfrm>
            <a:off x="1027014" y="1161742"/>
            <a:ext cx="3182307" cy="20636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1380571" y="747898"/>
            <a:ext cx="2475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过多孤立元素</a:t>
            </a:r>
            <a:endParaRPr lang="zh-CN" altLang="en-US" sz="2400" b="1" dirty="0">
              <a:solidFill>
                <a:srgbClr val="4878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379" y="1252426"/>
            <a:ext cx="3144740" cy="2045322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309061" y="756929"/>
            <a:ext cx="245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多种对齐方式</a:t>
            </a:r>
            <a:endParaRPr lang="zh-CN" altLang="en-US" sz="2400" b="1" dirty="0">
              <a:solidFill>
                <a:srgbClr val="4878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00500" y="3551161"/>
            <a:ext cx="2435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对比不明显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028316" y="3564037"/>
            <a:ext cx="2967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不同元素间距相</a:t>
            </a:r>
            <a:r>
              <a:rPr lang="zh-CN" altLang="en-US" sz="2400" b="1" dirty="0">
                <a:solidFill>
                  <a:srgbClr val="4878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</a:t>
            </a:r>
          </a:p>
        </p:txBody>
      </p:sp>
    </p:spTree>
    <p:extLst>
      <p:ext uri="{BB962C8B-B14F-4D97-AF65-F5344CB8AC3E}">
        <p14:creationId xmlns:p14="http://schemas.microsoft.com/office/powerpoint/2010/main" val="78481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768545"/>
            <a:ext cx="9144000" cy="230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73540" y="3307183"/>
            <a:ext cx="4122058" cy="60710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谢谢聆听！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34569" y="3889955"/>
            <a:ext cx="1425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筱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dan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33551">
            <a:off x="943771" y="1463892"/>
            <a:ext cx="2286000" cy="2286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088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7" y="667658"/>
            <a:ext cx="9157447" cy="899884"/>
          </a:xfrm>
        </p:spPr>
        <p:txBody>
          <a:bodyPr/>
          <a:lstStyle/>
          <a:p>
            <a:pPr algn="ctr"/>
            <a:r>
              <a:rPr lang="zh-CN" altLang="en-US" sz="2800" dirty="0" smtClean="0"/>
              <a:t>感谢</a:t>
            </a:r>
            <a:r>
              <a:rPr lang="en-US" altLang="zh-CN" sz="2800" dirty="0" smtClean="0"/>
              <a:t>@</a:t>
            </a:r>
            <a:r>
              <a:rPr lang="zh-CN" altLang="en-US" sz="2800" dirty="0" smtClean="0"/>
              <a:t>秋叶 大叔，</a:t>
            </a:r>
            <a:r>
              <a:rPr lang="en-US" altLang="zh-CN" sz="2800" dirty="0" smtClean="0"/>
              <a:t>@</a:t>
            </a:r>
            <a:r>
              <a:rPr lang="zh-CN" altLang="en-US" sz="2800" dirty="0" smtClean="0"/>
              <a:t>小巴</a:t>
            </a:r>
            <a:r>
              <a:rPr lang="en-US" altLang="zh-CN" sz="2800" dirty="0" smtClean="0"/>
              <a:t>_1990</a:t>
            </a:r>
            <a:r>
              <a:rPr lang="zh-CN" altLang="en-US" sz="2800" dirty="0" smtClean="0"/>
              <a:t> 的细心、反复指导！</a:t>
            </a:r>
            <a:endParaRPr lang="zh-CN" altLang="en-US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280" y="2439973"/>
            <a:ext cx="3647999" cy="2736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8" y="2439973"/>
            <a:ext cx="3647999" cy="2736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8" name="直接连接符 7"/>
          <p:cNvCxnSpPr/>
          <p:nvPr/>
        </p:nvCxnSpPr>
        <p:spPr>
          <a:xfrm>
            <a:off x="4550762" y="2162628"/>
            <a:ext cx="0" cy="354148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744348" y="5528683"/>
            <a:ext cx="1107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197280" y="5528682"/>
            <a:ext cx="1107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</a:p>
        </p:txBody>
      </p:sp>
    </p:spTree>
    <p:extLst>
      <p:ext uri="{BB962C8B-B14F-4D97-AF65-F5344CB8AC3E}">
        <p14:creationId xmlns:p14="http://schemas.microsoft.com/office/powerpoint/2010/main" val="288384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86302" y="1474220"/>
            <a:ext cx="6171396" cy="341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025975" y="294365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16248" y="294365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071461" y="2943656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8774" y="3896366"/>
            <a:ext cx="6171396" cy="148886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215"/>
              </a:spcBef>
            </a:pP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15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810"/>
              </a:spcBef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704577" y="4158007"/>
            <a:ext cx="5734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558774" y="2481293"/>
            <a:ext cx="1312212" cy="90531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093366" y="2481295"/>
            <a:ext cx="1312212" cy="1081437"/>
            <a:chOff x="107380" y="2024805"/>
            <a:chExt cx="1944270" cy="160233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12449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02825" y="2481293"/>
            <a:ext cx="1312212" cy="90531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20059" y="2481293"/>
            <a:ext cx="1312212" cy="90531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048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488989" y="3866394"/>
            <a:ext cx="6188273" cy="1084816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69"/>
              <a:ext cx="4572000" cy="56775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62086">
                <a:defRPr/>
              </a:pPr>
              <a:r>
                <a:rPr lang="en-US" altLang="zh-CN" sz="945" kern="0" dirty="0">
                  <a:solidFill>
                    <a:prstClr val="black"/>
                  </a:solidFill>
                </a:rPr>
                <a:t/>
              </a:r>
              <a:br>
                <a:rPr lang="en-US" altLang="zh-CN" sz="945" kern="0" dirty="0">
                  <a:solidFill>
                    <a:prstClr val="black"/>
                  </a:solidFill>
                </a:rPr>
              </a:br>
              <a:endParaRPr lang="en-US" altLang="zh-CN" sz="94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6285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98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025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04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91670" cy="950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038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62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532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2" y="4188246"/>
              <a:ext cx="1787129" cy="46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418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418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7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7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12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59396" cy="367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013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409260" y="1728034"/>
            <a:ext cx="4325484" cy="1976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025"/>
              </a:spcBef>
            </a:pPr>
            <a:r>
              <a:rPr lang="zh-CN" altLang="en-US" sz="297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97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068</a:t>
            </a:r>
            <a:r>
              <a:rPr lang="zh-CN" altLang="en-US" sz="297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97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025"/>
              </a:spcBef>
            </a:pP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89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404572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66feb6b135fbab9ad3d6ede892e5e9e343f5e461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EBDAE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bg1">
              <a:lumMod val="50000"/>
            </a:schemeClr>
          </a:solidFill>
        </a:ln>
      </a:spPr>
      <a:bodyPr rtlCol="0" anchor="ctr"/>
      <a:lstStyle>
        <a:defPPr marL="228600" indent="457200" algn="r">
          <a:lnSpc>
            <a:spcPct val="120000"/>
          </a:lnSpc>
          <a:spcBef>
            <a:spcPts val="600"/>
          </a:spcBef>
          <a:spcAft>
            <a:spcPts val="600"/>
          </a:spcAft>
          <a:defRPr sz="2000" dirty="0">
            <a:solidFill>
              <a:srgbClr val="4D574D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1714</TotalTime>
  <Words>1336</Words>
  <Application>Microsoft Office PowerPoint</Application>
  <PresentationFormat>全屏显示(4:3)</PresentationFormat>
  <Paragraphs>198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方正正黑简体</vt:lpstr>
      <vt:lpstr>方正正中黑简体</vt:lpstr>
      <vt:lpstr>宋体</vt:lpstr>
      <vt:lpstr>微软雅黑</vt:lpstr>
      <vt:lpstr>Arial</vt:lpstr>
      <vt:lpstr>Calibri</vt:lpstr>
      <vt:lpstr>Calibri Light</vt:lpstr>
      <vt:lpstr>Elephant</vt:lpstr>
      <vt:lpstr>Wingdings</vt:lpstr>
      <vt:lpstr>Office 主题</vt:lpstr>
      <vt:lpstr>1_Office 主题​​</vt:lpstr>
      <vt:lpstr>2_Office 主题​​</vt:lpstr>
      <vt:lpstr>写给大家看的设计书</vt:lpstr>
      <vt:lpstr>设计的基本原则</vt:lpstr>
      <vt:lpstr>如何实现亲密性？</vt:lpstr>
      <vt:lpstr>如何实现亲密性？</vt:lpstr>
      <vt:lpstr>如何实现亲密性？</vt:lpstr>
      <vt:lpstr>如何实现对齐？</vt:lpstr>
      <vt:lpstr>如何实现对齐？</vt:lpstr>
      <vt:lpstr>如何实现对齐？</vt:lpstr>
      <vt:lpstr>如何实现重复？</vt:lpstr>
      <vt:lpstr>如何实现对比？</vt:lpstr>
      <vt:lpstr>回顾</vt:lpstr>
      <vt:lpstr>要避免的问题</vt:lpstr>
      <vt:lpstr>谢谢聆听！</vt:lpstr>
      <vt:lpstr>感谢@秋叶 大叔，@小巴_1990 的细心、反复指导！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xiaodan zheng</dc:creator>
  <cp:lastModifiedBy>小巴</cp:lastModifiedBy>
  <cp:revision>145</cp:revision>
  <dcterms:created xsi:type="dcterms:W3CDTF">2014-01-14T09:34:31Z</dcterms:created>
  <dcterms:modified xsi:type="dcterms:W3CDTF">2014-04-02T00:29:53Z</dcterms:modified>
</cp:coreProperties>
</file>