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8" r:id="rId3"/>
    <p:sldId id="263" r:id="rId4"/>
    <p:sldId id="261" r:id="rId5"/>
    <p:sldId id="264" r:id="rId6"/>
    <p:sldId id="267" r:id="rId7"/>
    <p:sldId id="269" r:id="rId8"/>
    <p:sldId id="270" r:id="rId9"/>
    <p:sldId id="271" r:id="rId10"/>
    <p:sldId id="265" r:id="rId11"/>
    <p:sldId id="266" r:id="rId12"/>
    <p:sldId id="272" r:id="rId13"/>
    <p:sldId id="273" r:id="rId14"/>
    <p:sldId id="274" r:id="rId15"/>
    <p:sldId id="275" r:id="rId16"/>
    <p:sldId id="276" r:id="rId17"/>
    <p:sldId id="278" r:id="rId18"/>
    <p:sldId id="279" r:id="rId19"/>
    <p:sldId id="257" r:id="rId20"/>
    <p:sldId id="280" r:id="rId21"/>
    <p:sldId id="281" r:id="rId22"/>
  </p:sldIdLst>
  <p:sldSz cx="12192000" cy="6858000"/>
  <p:notesSz cx="6858000" cy="9144000"/>
  <p:embeddedFontLst>
    <p:embeddedFont>
      <p:font typeface="Verdana" panose="020B0604030504040204" pitchFamily="34" charset="0"/>
      <p:regular r:id="rId24"/>
      <p:bold r:id="rId25"/>
      <p:italic r:id="rId26"/>
      <p:boldItalic r:id="rId27"/>
    </p:embeddedFont>
    <p:embeddedFont>
      <p:font typeface="微软雅黑" panose="020B0503020204020204" pitchFamily="34" charset="-122"/>
      <p:regular r:id="rId28"/>
      <p:bold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方正正黑简体" panose="02000000000000000000" pitchFamily="2" charset="-122"/>
      <p:regular r:id="rId32"/>
    </p:embeddedFont>
    <p:embeddedFont>
      <p:font typeface="华康俪金黑W8(P)" panose="020B0800000000000000" pitchFamily="34" charset="-122"/>
      <p:regular r:id="rId33"/>
    </p:embeddedFont>
    <p:embeddedFont>
      <p:font typeface="方正综艺简体" panose="02010601030101010101" pitchFamily="2" charset="-122"/>
      <p:regular r:id="rId34"/>
    </p:embeddedFont>
    <p:embeddedFont>
      <p:font typeface="黑体" panose="02010609060101010101" pitchFamily="49" charset="-122"/>
      <p:regular r:id="rId35"/>
    </p:embeddedFon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方正粗倩简体" panose="03000509000000000000" pitchFamily="65" charset="-122"/>
      <p:regular r:id="rId40"/>
    </p:embeddedFont>
    <p:embeddedFont>
      <p:font typeface="方正正中黑简体" panose="02000000000000000000" pitchFamily="2" charset="-122"/>
      <p:regular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916"/>
    <a:srgbClr val="1DACEE"/>
    <a:srgbClr val="D6E126"/>
    <a:srgbClr val="E7E7E7"/>
    <a:srgbClr val="00B1F1"/>
    <a:srgbClr val="04B2F3"/>
    <a:srgbClr val="229FD7"/>
    <a:srgbClr val="D6E027"/>
    <a:srgbClr val="1292CF"/>
    <a:srgbClr val="0A7F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4" autoAdjust="0"/>
    <p:restoredTop sz="94660"/>
  </p:normalViewPr>
  <p:slideViewPr>
    <p:cSldViewPr snapToGrid="0">
      <p:cViewPr varScale="1">
        <p:scale>
          <a:sx n="70" d="100"/>
          <a:sy n="70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49020-04C2-4F28-83C3-18573F3D4A96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9791B-F404-425C-B8AB-2B1BE57786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98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9791B-F404-425C-B8AB-2B1BE57786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08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67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10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8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8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83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9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050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692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12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1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336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531" indent="0" algn="ctr">
              <a:buNone/>
              <a:defRPr sz="1800"/>
            </a:lvl2pPr>
            <a:lvl3pPr marL="823063" indent="0" algn="ctr">
              <a:buNone/>
              <a:defRPr sz="1620"/>
            </a:lvl3pPr>
            <a:lvl4pPr marL="1234593" indent="0" algn="ctr">
              <a:buNone/>
              <a:defRPr sz="1440"/>
            </a:lvl4pPr>
            <a:lvl5pPr marL="1646124" indent="0" algn="ctr">
              <a:buNone/>
              <a:defRPr sz="1440"/>
            </a:lvl5pPr>
            <a:lvl6pPr marL="2057655" indent="0" algn="ctr">
              <a:buNone/>
              <a:defRPr sz="1440"/>
            </a:lvl6pPr>
            <a:lvl7pPr marL="2469187" indent="0" algn="ctr">
              <a:buNone/>
              <a:defRPr sz="1440"/>
            </a:lvl7pPr>
            <a:lvl8pPr marL="2880718" indent="0" algn="ctr">
              <a:buNone/>
              <a:defRPr sz="1440"/>
            </a:lvl8pPr>
            <a:lvl9pPr marL="329224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242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14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53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3063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593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6124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65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9187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7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224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252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64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531" indent="0">
              <a:buNone/>
              <a:defRPr sz="1800" b="1"/>
            </a:lvl2pPr>
            <a:lvl3pPr marL="823063" indent="0">
              <a:buNone/>
              <a:defRPr sz="1620" b="1"/>
            </a:lvl3pPr>
            <a:lvl4pPr marL="1234593" indent="0">
              <a:buNone/>
              <a:defRPr sz="1440" b="1"/>
            </a:lvl4pPr>
            <a:lvl5pPr marL="1646124" indent="0">
              <a:buNone/>
              <a:defRPr sz="1440" b="1"/>
            </a:lvl5pPr>
            <a:lvl6pPr marL="2057655" indent="0">
              <a:buNone/>
              <a:defRPr sz="1440" b="1"/>
            </a:lvl6pPr>
            <a:lvl7pPr marL="2469187" indent="0">
              <a:buNone/>
              <a:defRPr sz="1440" b="1"/>
            </a:lvl7pPr>
            <a:lvl8pPr marL="2880718" indent="0">
              <a:buNone/>
              <a:defRPr sz="1440" b="1"/>
            </a:lvl8pPr>
            <a:lvl9pPr marL="329224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531" indent="0">
              <a:buNone/>
              <a:defRPr sz="1800" b="1"/>
            </a:lvl2pPr>
            <a:lvl3pPr marL="823063" indent="0">
              <a:buNone/>
              <a:defRPr sz="1620" b="1"/>
            </a:lvl3pPr>
            <a:lvl4pPr marL="1234593" indent="0">
              <a:buNone/>
              <a:defRPr sz="1440" b="1"/>
            </a:lvl4pPr>
            <a:lvl5pPr marL="1646124" indent="0">
              <a:buNone/>
              <a:defRPr sz="1440" b="1"/>
            </a:lvl5pPr>
            <a:lvl6pPr marL="2057655" indent="0">
              <a:buNone/>
              <a:defRPr sz="1440" b="1"/>
            </a:lvl6pPr>
            <a:lvl7pPr marL="2469187" indent="0">
              <a:buNone/>
              <a:defRPr sz="1440" b="1"/>
            </a:lvl7pPr>
            <a:lvl8pPr marL="2880718" indent="0">
              <a:buNone/>
              <a:defRPr sz="1440" b="1"/>
            </a:lvl8pPr>
            <a:lvl9pPr marL="329224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964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859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56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>
              <a:defRPr sz="2881"/>
            </a:lvl1pPr>
            <a:lvl2pPr>
              <a:defRPr sz="2521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531" indent="0">
              <a:buNone/>
              <a:defRPr sz="1260"/>
            </a:lvl2pPr>
            <a:lvl3pPr marL="823063" indent="0">
              <a:buNone/>
              <a:defRPr sz="1080"/>
            </a:lvl3pPr>
            <a:lvl4pPr marL="1234593" indent="0">
              <a:buNone/>
              <a:defRPr sz="900"/>
            </a:lvl4pPr>
            <a:lvl5pPr marL="1646124" indent="0">
              <a:buNone/>
              <a:defRPr sz="900"/>
            </a:lvl5pPr>
            <a:lvl6pPr marL="2057655" indent="0">
              <a:buNone/>
              <a:defRPr sz="900"/>
            </a:lvl6pPr>
            <a:lvl7pPr marL="2469187" indent="0">
              <a:buNone/>
              <a:defRPr sz="900"/>
            </a:lvl7pPr>
            <a:lvl8pPr marL="2880718" indent="0">
              <a:buNone/>
              <a:defRPr sz="900"/>
            </a:lvl8pPr>
            <a:lvl9pPr marL="329224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10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</p:spPr>
        <p:txBody>
          <a:bodyPr/>
          <a:lstStyle>
            <a:lvl1pPr marL="0" indent="0">
              <a:buNone/>
              <a:defRPr sz="2881"/>
            </a:lvl1pPr>
            <a:lvl2pPr marL="411531" indent="0">
              <a:buNone/>
              <a:defRPr sz="2521"/>
            </a:lvl2pPr>
            <a:lvl3pPr marL="823063" indent="0">
              <a:buNone/>
              <a:defRPr sz="2160"/>
            </a:lvl3pPr>
            <a:lvl4pPr marL="1234593" indent="0">
              <a:buNone/>
              <a:defRPr sz="1800"/>
            </a:lvl4pPr>
            <a:lvl5pPr marL="1646124" indent="0">
              <a:buNone/>
              <a:defRPr sz="1800"/>
            </a:lvl5pPr>
            <a:lvl6pPr marL="2057655" indent="0">
              <a:buNone/>
              <a:defRPr sz="1800"/>
            </a:lvl6pPr>
            <a:lvl7pPr marL="2469187" indent="0">
              <a:buNone/>
              <a:defRPr sz="1800"/>
            </a:lvl7pPr>
            <a:lvl8pPr marL="2880718" indent="0">
              <a:buNone/>
              <a:defRPr sz="1800"/>
            </a:lvl8pPr>
            <a:lvl9pPr marL="329224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531" indent="0">
              <a:buNone/>
              <a:defRPr sz="1260"/>
            </a:lvl2pPr>
            <a:lvl3pPr marL="823063" indent="0">
              <a:buNone/>
              <a:defRPr sz="1080"/>
            </a:lvl3pPr>
            <a:lvl4pPr marL="1234593" indent="0">
              <a:buNone/>
              <a:defRPr sz="900"/>
            </a:lvl4pPr>
            <a:lvl5pPr marL="1646124" indent="0">
              <a:buNone/>
              <a:defRPr sz="900"/>
            </a:lvl5pPr>
            <a:lvl6pPr marL="2057655" indent="0">
              <a:buNone/>
              <a:defRPr sz="900"/>
            </a:lvl6pPr>
            <a:lvl7pPr marL="2469187" indent="0">
              <a:buNone/>
              <a:defRPr sz="900"/>
            </a:lvl7pPr>
            <a:lvl8pPr marL="2880718" indent="0">
              <a:buNone/>
              <a:defRPr sz="900"/>
            </a:lvl8pPr>
            <a:lvl9pPr marL="329224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792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761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8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F1BAF-5768-4383-A604-3DBD57CD6438}" type="datetimeFigureOut">
              <a:rPr lang="zh-CN" altLang="en-US" smtClean="0"/>
              <a:t>2014/4/1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C0198-83D1-438B-9B6C-3E407A2265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38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2014/4/1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75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3063" rtl="0" eaLnBrk="1" latinLnBrk="0" hangingPunct="1">
        <a:lnSpc>
          <a:spcPct val="90000"/>
        </a:lnSpc>
        <a:spcBef>
          <a:spcPct val="0"/>
        </a:spcBef>
        <a:buNone/>
        <a:defRPr sz="39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65" indent="-205765" algn="l" defTabSz="823063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1" kern="1200">
          <a:solidFill>
            <a:schemeClr val="tx1"/>
          </a:solidFill>
          <a:latin typeface="+mn-lt"/>
          <a:ea typeface="+mn-ea"/>
          <a:cs typeface="+mn-cs"/>
        </a:defRPr>
      </a:lvl1pPr>
      <a:lvl2pPr marL="617296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828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59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890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421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952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483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8014" indent="-205765" algn="l" defTabSz="823063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531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3063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593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6124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655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9187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718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2248" algn="l" defTabSz="823063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194132" y="1104423"/>
            <a:ext cx="11233611" cy="5974675"/>
            <a:chOff x="1194132" y="1104423"/>
            <a:chExt cx="11233611" cy="5974675"/>
          </a:xfrm>
        </p:grpSpPr>
        <p:sp>
          <p:nvSpPr>
            <p:cNvPr id="3" name="文本框 2"/>
            <p:cNvSpPr txBox="1"/>
            <p:nvPr/>
          </p:nvSpPr>
          <p:spPr>
            <a:xfrm>
              <a:off x="1194132" y="1104423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 smtClean="0">
                  <a:solidFill>
                    <a:srgbClr val="E7E7E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怪</a:t>
              </a:r>
              <a:endParaRPr lang="zh-CN" altLang="en-US" sz="16600" dirty="0">
                <a:solidFill>
                  <a:srgbClr val="E7E7E7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693046" y="3299098"/>
              <a:ext cx="262800" cy="3780000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7E7E7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091384" y="1792862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 smtClean="0">
                  <a:solidFill>
                    <a:srgbClr val="E7E7E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诞</a:t>
              </a:r>
              <a:endParaRPr lang="zh-CN" altLang="en-US" sz="16600" dirty="0">
                <a:solidFill>
                  <a:srgbClr val="E7E7E7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06143" y="3971267"/>
              <a:ext cx="7721600" cy="90000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7E7E7"/>
                </a:solidFill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603" y="1489489"/>
            <a:ext cx="2924855" cy="405823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08497" y="4439740"/>
            <a:ext cx="2031325" cy="830997"/>
          </a:xfrm>
          <a:prstGeom prst="rect">
            <a:avLst/>
          </a:prstGeom>
          <a:solidFill>
            <a:srgbClr val="1DACEE"/>
          </a:solidFill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现象学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426890" y="6047283"/>
            <a:ext cx="313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rgbClr val="FFFFFF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defRPr>
            </a:lvl1pPr>
          </a:lstStyle>
          <a:p>
            <a:r>
              <a:rPr lang="en-US" altLang="zh-CN" dirty="0">
                <a:solidFill>
                  <a:srgbClr val="E7E7E7"/>
                </a:solidFill>
              </a:rPr>
              <a:t> PPT</a:t>
            </a:r>
            <a:r>
              <a:rPr lang="zh-CN" altLang="en-US" dirty="0">
                <a:solidFill>
                  <a:srgbClr val="E7E7E7"/>
                </a:solidFill>
              </a:rPr>
              <a:t>：</a:t>
            </a:r>
            <a:r>
              <a:rPr lang="en-US" altLang="zh-CN" dirty="0">
                <a:solidFill>
                  <a:srgbClr val="E7E7E7"/>
                </a:solidFill>
              </a:rPr>
              <a:t>@</a:t>
            </a:r>
            <a:r>
              <a:rPr lang="zh-CN" altLang="en-US" dirty="0">
                <a:solidFill>
                  <a:srgbClr val="E7E7E7"/>
                </a:solidFill>
              </a:rPr>
              <a:t>少年</a:t>
            </a:r>
            <a:r>
              <a:rPr lang="en-US" altLang="zh-CN" dirty="0" err="1">
                <a:solidFill>
                  <a:srgbClr val="E7E7E7"/>
                </a:solidFill>
              </a:rPr>
              <a:t>MakerEasy</a:t>
            </a:r>
            <a:endParaRPr lang="zh-CN" altLang="en-US" dirty="0">
              <a:solidFill>
                <a:srgbClr val="E7E7E7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04838" y="6047283"/>
            <a:ext cx="27815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原著</a:t>
            </a:r>
            <a:r>
              <a:rPr lang="zh-CN" altLang="en-US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：小西奥多</a:t>
            </a:r>
            <a:r>
              <a:rPr lang="en-US" altLang="zh-CN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·</a:t>
            </a:r>
            <a:r>
              <a:rPr lang="zh-CN" altLang="en-US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席克</a:t>
            </a:r>
            <a:endParaRPr lang="en-US" altLang="zh-CN" sz="2000" dirty="0" smtClean="0">
              <a:solidFill>
                <a:srgbClr val="E7E7E7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  <a:p>
            <a:r>
              <a:rPr lang="en-US" altLang="zh-CN" sz="2000" dirty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</a:t>
            </a:r>
            <a:r>
              <a:rPr lang="en-US" altLang="zh-CN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              </a:t>
            </a:r>
            <a:r>
              <a:rPr lang="zh-CN" altLang="en-US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刘易斯</a:t>
            </a:r>
            <a:r>
              <a:rPr lang="en-US" altLang="zh-CN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·</a:t>
            </a:r>
            <a:r>
              <a:rPr lang="zh-CN" altLang="en-US" sz="2000" dirty="0" smtClean="0">
                <a:solidFill>
                  <a:srgbClr val="E7E7E7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沃恩</a:t>
            </a:r>
            <a:endParaRPr lang="zh-CN" altLang="en-US" sz="2000" dirty="0">
              <a:solidFill>
                <a:srgbClr val="E7E7E7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11" y="0"/>
            <a:ext cx="1282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372967" y="1142326"/>
            <a:ext cx="5166628" cy="5447052"/>
            <a:chOff x="6123867" y="826035"/>
            <a:chExt cx="5717080" cy="6027381"/>
          </a:xfrm>
        </p:grpSpPr>
        <p:sp>
          <p:nvSpPr>
            <p:cNvPr id="5" name="任意多边形 4"/>
            <p:cNvSpPr/>
            <p:nvPr/>
          </p:nvSpPr>
          <p:spPr>
            <a:xfrm>
              <a:off x="8241695" y="3496211"/>
              <a:ext cx="2980266" cy="2980266"/>
            </a:xfrm>
            <a:custGeom>
              <a:avLst/>
              <a:gdLst>
                <a:gd name="connsiteX0" fmla="*/ 2115406 w 2980266"/>
                <a:gd name="connsiteY0" fmla="*/ 475169 h 2980266"/>
                <a:gd name="connsiteX1" fmla="*/ 2347223 w 2980266"/>
                <a:gd name="connsiteY1" fmla="*/ 280641 h 2980266"/>
                <a:gd name="connsiteX2" fmla="*/ 2532418 w 2980266"/>
                <a:gd name="connsiteY2" fmla="*/ 436038 h 2980266"/>
                <a:gd name="connsiteX3" fmla="*/ 2381100 w 2980266"/>
                <a:gd name="connsiteY3" fmla="*/ 698113 h 2980266"/>
                <a:gd name="connsiteX4" fmla="*/ 2621526 w 2980266"/>
                <a:gd name="connsiteY4" fmla="*/ 1114543 h 2980266"/>
                <a:gd name="connsiteX5" fmla="*/ 2924149 w 2980266"/>
                <a:gd name="connsiteY5" fmla="*/ 1114535 h 2980266"/>
                <a:gd name="connsiteX6" fmla="*/ 2966129 w 2980266"/>
                <a:gd name="connsiteY6" fmla="*/ 1352617 h 2980266"/>
                <a:gd name="connsiteX7" fmla="*/ 2681754 w 2980266"/>
                <a:gd name="connsiteY7" fmla="*/ 1456113 h 2980266"/>
                <a:gd name="connsiteX8" fmla="*/ 2598255 w 2980266"/>
                <a:gd name="connsiteY8" fmla="*/ 1929659 h 2980266"/>
                <a:gd name="connsiteX9" fmla="*/ 2830082 w 2980266"/>
                <a:gd name="connsiteY9" fmla="*/ 2124176 h 2980266"/>
                <a:gd name="connsiteX10" fmla="*/ 2709205 w 2980266"/>
                <a:gd name="connsiteY10" fmla="*/ 2333542 h 2980266"/>
                <a:gd name="connsiteX11" fmla="*/ 2424835 w 2980266"/>
                <a:gd name="connsiteY11" fmla="*/ 2230031 h 2980266"/>
                <a:gd name="connsiteX12" fmla="*/ 2056481 w 2980266"/>
                <a:gd name="connsiteY12" fmla="*/ 2539116 h 2980266"/>
                <a:gd name="connsiteX13" fmla="*/ 2109039 w 2980266"/>
                <a:gd name="connsiteY13" fmla="*/ 2837141 h 2980266"/>
                <a:gd name="connsiteX14" fmla="*/ 1881863 w 2980266"/>
                <a:gd name="connsiteY14" fmla="*/ 2919826 h 2980266"/>
                <a:gd name="connsiteX15" fmla="*/ 1730559 w 2980266"/>
                <a:gd name="connsiteY15" fmla="*/ 2657743 h 2980266"/>
                <a:gd name="connsiteX16" fmla="*/ 1249707 w 2980266"/>
                <a:gd name="connsiteY16" fmla="*/ 2657743 h 2980266"/>
                <a:gd name="connsiteX17" fmla="*/ 1098403 w 2980266"/>
                <a:gd name="connsiteY17" fmla="*/ 2919826 h 2980266"/>
                <a:gd name="connsiteX18" fmla="*/ 871227 w 2980266"/>
                <a:gd name="connsiteY18" fmla="*/ 2837141 h 2980266"/>
                <a:gd name="connsiteX19" fmla="*/ 923785 w 2980266"/>
                <a:gd name="connsiteY19" fmla="*/ 2539117 h 2980266"/>
                <a:gd name="connsiteX20" fmla="*/ 555431 w 2980266"/>
                <a:gd name="connsiteY20" fmla="*/ 2230032 h 2980266"/>
                <a:gd name="connsiteX21" fmla="*/ 271061 w 2980266"/>
                <a:gd name="connsiteY21" fmla="*/ 2333542 h 2980266"/>
                <a:gd name="connsiteX22" fmla="*/ 150184 w 2980266"/>
                <a:gd name="connsiteY22" fmla="*/ 2124176 h 2980266"/>
                <a:gd name="connsiteX23" fmla="*/ 382011 w 2980266"/>
                <a:gd name="connsiteY23" fmla="*/ 1929660 h 2980266"/>
                <a:gd name="connsiteX24" fmla="*/ 298512 w 2980266"/>
                <a:gd name="connsiteY24" fmla="*/ 1456114 h 2980266"/>
                <a:gd name="connsiteX25" fmla="*/ 14137 w 2980266"/>
                <a:gd name="connsiteY25" fmla="*/ 1352617 h 2980266"/>
                <a:gd name="connsiteX26" fmla="*/ 56117 w 2980266"/>
                <a:gd name="connsiteY26" fmla="*/ 1114535 h 2980266"/>
                <a:gd name="connsiteX27" fmla="*/ 358740 w 2980266"/>
                <a:gd name="connsiteY27" fmla="*/ 1114543 h 2980266"/>
                <a:gd name="connsiteX28" fmla="*/ 599166 w 2980266"/>
                <a:gd name="connsiteY28" fmla="*/ 698113 h 2980266"/>
                <a:gd name="connsiteX29" fmla="*/ 447848 w 2980266"/>
                <a:gd name="connsiteY29" fmla="*/ 436038 h 2980266"/>
                <a:gd name="connsiteX30" fmla="*/ 633043 w 2980266"/>
                <a:gd name="connsiteY30" fmla="*/ 280641 h 2980266"/>
                <a:gd name="connsiteX31" fmla="*/ 864860 w 2980266"/>
                <a:gd name="connsiteY31" fmla="*/ 475169 h 2980266"/>
                <a:gd name="connsiteX32" fmla="*/ 1316713 w 2980266"/>
                <a:gd name="connsiteY32" fmla="*/ 310708 h 2980266"/>
                <a:gd name="connsiteX33" fmla="*/ 1369255 w 2980266"/>
                <a:gd name="connsiteY33" fmla="*/ 12681 h 2980266"/>
                <a:gd name="connsiteX34" fmla="*/ 1611011 w 2980266"/>
                <a:gd name="connsiteY34" fmla="*/ 12681 h 2980266"/>
                <a:gd name="connsiteX35" fmla="*/ 1663553 w 2980266"/>
                <a:gd name="connsiteY35" fmla="*/ 310708 h 2980266"/>
                <a:gd name="connsiteX36" fmla="*/ 2115406 w 2980266"/>
                <a:gd name="connsiteY36" fmla="*/ 475169 h 2980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80266" h="2980266">
                  <a:moveTo>
                    <a:pt x="2115406" y="475169"/>
                  </a:moveTo>
                  <a:lnTo>
                    <a:pt x="2347223" y="280641"/>
                  </a:lnTo>
                  <a:lnTo>
                    <a:pt x="2532418" y="436038"/>
                  </a:lnTo>
                  <a:lnTo>
                    <a:pt x="2381100" y="698113"/>
                  </a:lnTo>
                  <a:cubicBezTo>
                    <a:pt x="2488696" y="819151"/>
                    <a:pt x="2570502" y="960843"/>
                    <a:pt x="2621526" y="1114543"/>
                  </a:cubicBezTo>
                  <a:lnTo>
                    <a:pt x="2924149" y="1114535"/>
                  </a:lnTo>
                  <a:lnTo>
                    <a:pt x="2966129" y="1352617"/>
                  </a:lnTo>
                  <a:lnTo>
                    <a:pt x="2681754" y="1456113"/>
                  </a:lnTo>
                  <a:cubicBezTo>
                    <a:pt x="2686376" y="1617995"/>
                    <a:pt x="2657965" y="1779121"/>
                    <a:pt x="2598255" y="1929659"/>
                  </a:cubicBezTo>
                  <a:lnTo>
                    <a:pt x="2830082" y="2124176"/>
                  </a:lnTo>
                  <a:lnTo>
                    <a:pt x="2709205" y="2333542"/>
                  </a:lnTo>
                  <a:lnTo>
                    <a:pt x="2424835" y="2230031"/>
                  </a:lnTo>
                  <a:cubicBezTo>
                    <a:pt x="2324320" y="2357010"/>
                    <a:pt x="2198986" y="2462178"/>
                    <a:pt x="2056481" y="2539116"/>
                  </a:cubicBezTo>
                  <a:lnTo>
                    <a:pt x="2109039" y="2837141"/>
                  </a:lnTo>
                  <a:lnTo>
                    <a:pt x="1881863" y="2919826"/>
                  </a:lnTo>
                  <a:lnTo>
                    <a:pt x="1730559" y="2657743"/>
                  </a:lnTo>
                  <a:cubicBezTo>
                    <a:pt x="1571939" y="2690405"/>
                    <a:pt x="1408327" y="2690405"/>
                    <a:pt x="1249707" y="2657743"/>
                  </a:cubicBezTo>
                  <a:lnTo>
                    <a:pt x="1098403" y="2919826"/>
                  </a:lnTo>
                  <a:lnTo>
                    <a:pt x="871227" y="2837141"/>
                  </a:lnTo>
                  <a:lnTo>
                    <a:pt x="923785" y="2539117"/>
                  </a:lnTo>
                  <a:cubicBezTo>
                    <a:pt x="781280" y="2462179"/>
                    <a:pt x="655947" y="2357011"/>
                    <a:pt x="555431" y="2230032"/>
                  </a:cubicBezTo>
                  <a:lnTo>
                    <a:pt x="271061" y="2333542"/>
                  </a:lnTo>
                  <a:lnTo>
                    <a:pt x="150184" y="2124176"/>
                  </a:lnTo>
                  <a:lnTo>
                    <a:pt x="382011" y="1929660"/>
                  </a:lnTo>
                  <a:cubicBezTo>
                    <a:pt x="322301" y="1779122"/>
                    <a:pt x="293890" y="1617995"/>
                    <a:pt x="298512" y="1456114"/>
                  </a:cubicBezTo>
                  <a:lnTo>
                    <a:pt x="14137" y="1352617"/>
                  </a:lnTo>
                  <a:lnTo>
                    <a:pt x="56117" y="1114535"/>
                  </a:lnTo>
                  <a:lnTo>
                    <a:pt x="358740" y="1114543"/>
                  </a:lnTo>
                  <a:cubicBezTo>
                    <a:pt x="409764" y="960843"/>
                    <a:pt x="491570" y="819151"/>
                    <a:pt x="599166" y="698113"/>
                  </a:cubicBezTo>
                  <a:lnTo>
                    <a:pt x="447848" y="436038"/>
                  </a:lnTo>
                  <a:lnTo>
                    <a:pt x="633043" y="280641"/>
                  </a:lnTo>
                  <a:lnTo>
                    <a:pt x="864860" y="475169"/>
                  </a:lnTo>
                  <a:cubicBezTo>
                    <a:pt x="1002743" y="390226"/>
                    <a:pt x="1156488" y="334267"/>
                    <a:pt x="1316713" y="310708"/>
                  </a:cubicBezTo>
                  <a:lnTo>
                    <a:pt x="1369255" y="12681"/>
                  </a:lnTo>
                  <a:lnTo>
                    <a:pt x="1611011" y="12681"/>
                  </a:lnTo>
                  <a:lnTo>
                    <a:pt x="1663553" y="310708"/>
                  </a:lnTo>
                  <a:cubicBezTo>
                    <a:pt x="1823778" y="334267"/>
                    <a:pt x="1977523" y="390226"/>
                    <a:pt x="2115406" y="475169"/>
                  </a:cubicBezTo>
                  <a:close/>
                </a:path>
              </a:pathLst>
            </a:custGeom>
            <a:solidFill>
              <a:srgbClr val="1DACEE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39806" tIns="738753" rIns="639806" bIns="790875" numCol="1" spcCol="1270" anchor="ctr" anchorCtr="0">
              <a:noAutofit/>
            </a:bodyPr>
            <a:lstStyle/>
            <a:p>
              <a:pPr lvl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320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思考质量</a:t>
              </a:r>
              <a:endParaRPr lang="zh-CN" altLang="en-US" sz="32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6507722" y="2791784"/>
              <a:ext cx="2167466" cy="2167466"/>
            </a:xfrm>
            <a:custGeom>
              <a:avLst/>
              <a:gdLst>
                <a:gd name="connsiteX0" fmla="*/ 1621800 w 2167466"/>
                <a:gd name="connsiteY0" fmla="*/ 548964 h 2167466"/>
                <a:gd name="connsiteX1" fmla="*/ 1941574 w 2167466"/>
                <a:gd name="connsiteY1" fmla="*/ 452590 h 2167466"/>
                <a:gd name="connsiteX2" fmla="*/ 2059240 w 2167466"/>
                <a:gd name="connsiteY2" fmla="*/ 656392 h 2167466"/>
                <a:gd name="connsiteX3" fmla="*/ 1815890 w 2167466"/>
                <a:gd name="connsiteY3" fmla="*/ 885138 h 2167466"/>
                <a:gd name="connsiteX4" fmla="*/ 1815890 w 2167466"/>
                <a:gd name="connsiteY4" fmla="*/ 1282328 h 2167466"/>
                <a:gd name="connsiteX5" fmla="*/ 2059240 w 2167466"/>
                <a:gd name="connsiteY5" fmla="*/ 1511074 h 2167466"/>
                <a:gd name="connsiteX6" fmla="*/ 1941574 w 2167466"/>
                <a:gd name="connsiteY6" fmla="*/ 1714876 h 2167466"/>
                <a:gd name="connsiteX7" fmla="*/ 1621800 w 2167466"/>
                <a:gd name="connsiteY7" fmla="*/ 1618502 h 2167466"/>
                <a:gd name="connsiteX8" fmla="*/ 1277823 w 2167466"/>
                <a:gd name="connsiteY8" fmla="*/ 1817097 h 2167466"/>
                <a:gd name="connsiteX9" fmla="*/ 1201398 w 2167466"/>
                <a:gd name="connsiteY9" fmla="*/ 2142217 h 2167466"/>
                <a:gd name="connsiteX10" fmla="*/ 966068 w 2167466"/>
                <a:gd name="connsiteY10" fmla="*/ 2142217 h 2167466"/>
                <a:gd name="connsiteX11" fmla="*/ 889643 w 2167466"/>
                <a:gd name="connsiteY11" fmla="*/ 1817097 h 2167466"/>
                <a:gd name="connsiteX12" fmla="*/ 545666 w 2167466"/>
                <a:gd name="connsiteY12" fmla="*/ 1618502 h 2167466"/>
                <a:gd name="connsiteX13" fmla="*/ 225892 w 2167466"/>
                <a:gd name="connsiteY13" fmla="*/ 1714876 h 2167466"/>
                <a:gd name="connsiteX14" fmla="*/ 108226 w 2167466"/>
                <a:gd name="connsiteY14" fmla="*/ 1511074 h 2167466"/>
                <a:gd name="connsiteX15" fmla="*/ 351576 w 2167466"/>
                <a:gd name="connsiteY15" fmla="*/ 1282328 h 2167466"/>
                <a:gd name="connsiteX16" fmla="*/ 351576 w 2167466"/>
                <a:gd name="connsiteY16" fmla="*/ 885138 h 2167466"/>
                <a:gd name="connsiteX17" fmla="*/ 108226 w 2167466"/>
                <a:gd name="connsiteY17" fmla="*/ 656392 h 2167466"/>
                <a:gd name="connsiteX18" fmla="*/ 225892 w 2167466"/>
                <a:gd name="connsiteY18" fmla="*/ 452590 h 2167466"/>
                <a:gd name="connsiteX19" fmla="*/ 545666 w 2167466"/>
                <a:gd name="connsiteY19" fmla="*/ 548964 h 2167466"/>
                <a:gd name="connsiteX20" fmla="*/ 889643 w 2167466"/>
                <a:gd name="connsiteY20" fmla="*/ 350369 h 2167466"/>
                <a:gd name="connsiteX21" fmla="*/ 966068 w 2167466"/>
                <a:gd name="connsiteY21" fmla="*/ 25249 h 2167466"/>
                <a:gd name="connsiteX22" fmla="*/ 1201398 w 2167466"/>
                <a:gd name="connsiteY22" fmla="*/ 25249 h 2167466"/>
                <a:gd name="connsiteX23" fmla="*/ 1277823 w 2167466"/>
                <a:gd name="connsiteY23" fmla="*/ 350369 h 2167466"/>
                <a:gd name="connsiteX24" fmla="*/ 1621800 w 2167466"/>
                <a:gd name="connsiteY24" fmla="*/ 548964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67466" h="2167466">
                  <a:moveTo>
                    <a:pt x="1621800" y="548964"/>
                  </a:moveTo>
                  <a:lnTo>
                    <a:pt x="1941574" y="452590"/>
                  </a:lnTo>
                  <a:lnTo>
                    <a:pt x="2059240" y="656392"/>
                  </a:lnTo>
                  <a:lnTo>
                    <a:pt x="1815890" y="885138"/>
                  </a:lnTo>
                  <a:cubicBezTo>
                    <a:pt x="1851165" y="1015185"/>
                    <a:pt x="1851165" y="1152281"/>
                    <a:pt x="1815890" y="1282328"/>
                  </a:cubicBezTo>
                  <a:lnTo>
                    <a:pt x="2059240" y="1511074"/>
                  </a:lnTo>
                  <a:lnTo>
                    <a:pt x="1941574" y="1714876"/>
                  </a:lnTo>
                  <a:lnTo>
                    <a:pt x="1621800" y="1618502"/>
                  </a:lnTo>
                  <a:cubicBezTo>
                    <a:pt x="1526813" y="1714075"/>
                    <a:pt x="1408085" y="1782623"/>
                    <a:pt x="1277823" y="1817097"/>
                  </a:cubicBezTo>
                  <a:lnTo>
                    <a:pt x="1201398" y="2142217"/>
                  </a:lnTo>
                  <a:lnTo>
                    <a:pt x="966068" y="2142217"/>
                  </a:lnTo>
                  <a:lnTo>
                    <a:pt x="889643" y="1817097"/>
                  </a:lnTo>
                  <a:cubicBezTo>
                    <a:pt x="759381" y="1782622"/>
                    <a:pt x="640653" y="1714074"/>
                    <a:pt x="545666" y="1618502"/>
                  </a:cubicBezTo>
                  <a:lnTo>
                    <a:pt x="225892" y="1714876"/>
                  </a:lnTo>
                  <a:lnTo>
                    <a:pt x="108226" y="1511074"/>
                  </a:lnTo>
                  <a:lnTo>
                    <a:pt x="351576" y="1282328"/>
                  </a:lnTo>
                  <a:cubicBezTo>
                    <a:pt x="316301" y="1152281"/>
                    <a:pt x="316301" y="1015185"/>
                    <a:pt x="351576" y="885138"/>
                  </a:cubicBezTo>
                  <a:lnTo>
                    <a:pt x="108226" y="656392"/>
                  </a:lnTo>
                  <a:lnTo>
                    <a:pt x="225892" y="452590"/>
                  </a:lnTo>
                  <a:lnTo>
                    <a:pt x="545666" y="548964"/>
                  </a:lnTo>
                  <a:cubicBezTo>
                    <a:pt x="640653" y="453391"/>
                    <a:pt x="759381" y="384843"/>
                    <a:pt x="889643" y="350369"/>
                  </a:cubicBezTo>
                  <a:lnTo>
                    <a:pt x="966068" y="25249"/>
                  </a:lnTo>
                  <a:lnTo>
                    <a:pt x="1201398" y="25249"/>
                  </a:lnTo>
                  <a:lnTo>
                    <a:pt x="1277823" y="350369"/>
                  </a:lnTo>
                  <a:cubicBezTo>
                    <a:pt x="1408085" y="384844"/>
                    <a:pt x="1526813" y="453392"/>
                    <a:pt x="1621800" y="548964"/>
                  </a:cubicBezTo>
                  <a:close/>
                </a:path>
              </a:pathLst>
            </a:custGeom>
            <a:solidFill>
              <a:srgbClr val="FB8916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066" tIns="574364" rIns="571066" bIns="574364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决策质量</a:t>
              </a:r>
              <a:endParaRPr lang="zh-CN" altLang="en-US" sz="20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7483081" y="1057810"/>
              <a:ext cx="2600961" cy="2600961"/>
            </a:xfrm>
            <a:custGeom>
              <a:avLst/>
              <a:gdLst>
                <a:gd name="connsiteX0" fmla="*/ 1589033 w 2123675"/>
                <a:gd name="connsiteY0" fmla="*/ 537873 h 2123675"/>
                <a:gd name="connsiteX1" fmla="*/ 1902347 w 2123675"/>
                <a:gd name="connsiteY1" fmla="*/ 443446 h 2123675"/>
                <a:gd name="connsiteX2" fmla="*/ 2017635 w 2123675"/>
                <a:gd name="connsiteY2" fmla="*/ 643130 h 2123675"/>
                <a:gd name="connsiteX3" fmla="*/ 1779202 w 2123675"/>
                <a:gd name="connsiteY3" fmla="*/ 867255 h 2123675"/>
                <a:gd name="connsiteX4" fmla="*/ 1779202 w 2123675"/>
                <a:gd name="connsiteY4" fmla="*/ 1256420 h 2123675"/>
                <a:gd name="connsiteX5" fmla="*/ 2017635 w 2123675"/>
                <a:gd name="connsiteY5" fmla="*/ 1480545 h 2123675"/>
                <a:gd name="connsiteX6" fmla="*/ 1902347 w 2123675"/>
                <a:gd name="connsiteY6" fmla="*/ 1680229 h 2123675"/>
                <a:gd name="connsiteX7" fmla="*/ 1589033 w 2123675"/>
                <a:gd name="connsiteY7" fmla="*/ 1585802 h 2123675"/>
                <a:gd name="connsiteX8" fmla="*/ 1252006 w 2123675"/>
                <a:gd name="connsiteY8" fmla="*/ 1780385 h 2123675"/>
                <a:gd name="connsiteX9" fmla="*/ 1177125 w 2123675"/>
                <a:gd name="connsiteY9" fmla="*/ 2098936 h 2123675"/>
                <a:gd name="connsiteX10" fmla="*/ 946550 w 2123675"/>
                <a:gd name="connsiteY10" fmla="*/ 2098936 h 2123675"/>
                <a:gd name="connsiteX11" fmla="*/ 871669 w 2123675"/>
                <a:gd name="connsiteY11" fmla="*/ 1780385 h 2123675"/>
                <a:gd name="connsiteX12" fmla="*/ 534642 w 2123675"/>
                <a:gd name="connsiteY12" fmla="*/ 1585802 h 2123675"/>
                <a:gd name="connsiteX13" fmla="*/ 221328 w 2123675"/>
                <a:gd name="connsiteY13" fmla="*/ 1680229 h 2123675"/>
                <a:gd name="connsiteX14" fmla="*/ 106040 w 2123675"/>
                <a:gd name="connsiteY14" fmla="*/ 1480545 h 2123675"/>
                <a:gd name="connsiteX15" fmla="*/ 344473 w 2123675"/>
                <a:gd name="connsiteY15" fmla="*/ 1256420 h 2123675"/>
                <a:gd name="connsiteX16" fmla="*/ 344473 w 2123675"/>
                <a:gd name="connsiteY16" fmla="*/ 867255 h 2123675"/>
                <a:gd name="connsiteX17" fmla="*/ 106040 w 2123675"/>
                <a:gd name="connsiteY17" fmla="*/ 643130 h 2123675"/>
                <a:gd name="connsiteX18" fmla="*/ 221328 w 2123675"/>
                <a:gd name="connsiteY18" fmla="*/ 443446 h 2123675"/>
                <a:gd name="connsiteX19" fmla="*/ 534642 w 2123675"/>
                <a:gd name="connsiteY19" fmla="*/ 537873 h 2123675"/>
                <a:gd name="connsiteX20" fmla="*/ 871669 w 2123675"/>
                <a:gd name="connsiteY20" fmla="*/ 343290 h 2123675"/>
                <a:gd name="connsiteX21" fmla="*/ 946550 w 2123675"/>
                <a:gd name="connsiteY21" fmla="*/ 24739 h 2123675"/>
                <a:gd name="connsiteX22" fmla="*/ 1177125 w 2123675"/>
                <a:gd name="connsiteY22" fmla="*/ 24739 h 2123675"/>
                <a:gd name="connsiteX23" fmla="*/ 1252006 w 2123675"/>
                <a:gd name="connsiteY23" fmla="*/ 343290 h 2123675"/>
                <a:gd name="connsiteX24" fmla="*/ 1589033 w 2123675"/>
                <a:gd name="connsiteY24" fmla="*/ 537873 h 212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23675" h="2123675">
                  <a:moveTo>
                    <a:pt x="1366897" y="537190"/>
                  </a:moveTo>
                  <a:lnTo>
                    <a:pt x="1594045" y="396507"/>
                  </a:lnTo>
                  <a:lnTo>
                    <a:pt x="1727168" y="529630"/>
                  </a:lnTo>
                  <a:lnTo>
                    <a:pt x="1586485" y="756778"/>
                  </a:lnTo>
                  <a:cubicBezTo>
                    <a:pt x="1640670" y="849967"/>
                    <a:pt x="1669056" y="955907"/>
                    <a:pt x="1668725" y="1063703"/>
                  </a:cubicBezTo>
                  <a:lnTo>
                    <a:pt x="1904134" y="1190078"/>
                  </a:lnTo>
                  <a:lnTo>
                    <a:pt x="1855408" y="1371927"/>
                  </a:lnTo>
                  <a:lnTo>
                    <a:pt x="1588350" y="1363666"/>
                  </a:lnTo>
                  <a:cubicBezTo>
                    <a:pt x="1534739" y="1457186"/>
                    <a:pt x="1457186" y="1534739"/>
                    <a:pt x="1363666" y="1588351"/>
                  </a:cubicBezTo>
                  <a:lnTo>
                    <a:pt x="1371926" y="1855408"/>
                  </a:lnTo>
                  <a:lnTo>
                    <a:pt x="1190078" y="1904134"/>
                  </a:lnTo>
                  <a:lnTo>
                    <a:pt x="1063703" y="1668725"/>
                  </a:lnTo>
                  <a:cubicBezTo>
                    <a:pt x="955907" y="1669057"/>
                    <a:pt x="849967" y="1640670"/>
                    <a:pt x="756778" y="1586485"/>
                  </a:cubicBezTo>
                  <a:lnTo>
                    <a:pt x="529630" y="1727168"/>
                  </a:lnTo>
                  <a:lnTo>
                    <a:pt x="396507" y="1594045"/>
                  </a:lnTo>
                  <a:lnTo>
                    <a:pt x="537190" y="1366897"/>
                  </a:lnTo>
                  <a:cubicBezTo>
                    <a:pt x="483005" y="1273708"/>
                    <a:pt x="454619" y="1167768"/>
                    <a:pt x="454950" y="1059972"/>
                  </a:cubicBezTo>
                  <a:lnTo>
                    <a:pt x="219541" y="933597"/>
                  </a:lnTo>
                  <a:lnTo>
                    <a:pt x="268267" y="751748"/>
                  </a:lnTo>
                  <a:lnTo>
                    <a:pt x="535325" y="760009"/>
                  </a:lnTo>
                  <a:cubicBezTo>
                    <a:pt x="588936" y="666489"/>
                    <a:pt x="666489" y="588936"/>
                    <a:pt x="760009" y="535324"/>
                  </a:cubicBezTo>
                  <a:lnTo>
                    <a:pt x="751749" y="268267"/>
                  </a:lnTo>
                  <a:lnTo>
                    <a:pt x="933597" y="219541"/>
                  </a:lnTo>
                  <a:lnTo>
                    <a:pt x="1059972" y="454950"/>
                  </a:lnTo>
                  <a:cubicBezTo>
                    <a:pt x="1167768" y="454618"/>
                    <a:pt x="1273708" y="483005"/>
                    <a:pt x="1366897" y="537190"/>
                  </a:cubicBezTo>
                  <a:close/>
                </a:path>
              </a:pathLst>
            </a:custGeom>
            <a:solidFill>
              <a:srgbClr val="D6E126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29827" tIns="729827" rIns="729828" bIns="729828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kern="1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生活质量</a:t>
              </a:r>
              <a:endParaRPr lang="zh-CN" altLang="en-US" sz="2000" kern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环形箭头 10"/>
            <p:cNvSpPr/>
            <p:nvPr/>
          </p:nvSpPr>
          <p:spPr>
            <a:xfrm>
              <a:off x="8026206" y="3038675"/>
              <a:ext cx="3814741" cy="3814741"/>
            </a:xfrm>
            <a:prstGeom prst="circularArrow">
              <a:avLst>
                <a:gd name="adj1" fmla="val 4688"/>
                <a:gd name="adj2" fmla="val 299029"/>
                <a:gd name="adj3" fmla="val 2539295"/>
                <a:gd name="adj4" fmla="val 15812321"/>
                <a:gd name="adj5" fmla="val 546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形状 11"/>
            <p:cNvSpPr/>
            <p:nvPr/>
          </p:nvSpPr>
          <p:spPr>
            <a:xfrm>
              <a:off x="6123867" y="2306951"/>
              <a:ext cx="2771648" cy="2771648"/>
            </a:xfrm>
            <a:prstGeom prst="leftCircularArrow">
              <a:avLst>
                <a:gd name="adj1" fmla="val 6452"/>
                <a:gd name="adj2" fmla="val 429999"/>
                <a:gd name="adj3" fmla="val 10489124"/>
                <a:gd name="adj4" fmla="val 14837806"/>
                <a:gd name="adj5" fmla="val 7527"/>
              </a:avLst>
            </a:prstGeom>
            <a:solidFill>
              <a:srgbClr val="FB8916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环形箭头 12"/>
            <p:cNvSpPr/>
            <p:nvPr/>
          </p:nvSpPr>
          <p:spPr>
            <a:xfrm>
              <a:off x="7230496" y="826035"/>
              <a:ext cx="2988394" cy="2988394"/>
            </a:xfrm>
            <a:prstGeom prst="circularArrow">
              <a:avLst>
                <a:gd name="adj1" fmla="val 5984"/>
                <a:gd name="adj2" fmla="val 394124"/>
                <a:gd name="adj3" fmla="val 13313824"/>
                <a:gd name="adj4" fmla="val 10508221"/>
                <a:gd name="adj5" fmla="val 6981"/>
              </a:avLst>
            </a:prstGeom>
            <a:solidFill>
              <a:srgbClr val="D6E126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43" y="197228"/>
            <a:ext cx="611793" cy="61179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52892" y="937381"/>
            <a:ext cx="3125404" cy="243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</a:t>
            </a:r>
            <a:r>
              <a:rPr lang="zh-CN" altLang="en-US" sz="115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义</a:t>
            </a:r>
            <a:endParaRPr lang="en-US" altLang="zh-CN" sz="11500" b="1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52892" y="4210371"/>
            <a:ext cx="31254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冲破教育仅局限教授思考什么而不是如何思考的弊端。通过提升思考质量，最终提升你的生活质量！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79735" y="3087491"/>
            <a:ext cx="2671718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学会思考</a:t>
            </a:r>
            <a:endParaRPr lang="en-US" altLang="zh-CN" sz="4800" b="1" dirty="0" smtClean="0">
              <a:solidFill>
                <a:srgbClr val="1DAC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200640" y="149181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书教会了我们什么？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496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/>
          <p:cNvGrpSpPr/>
          <p:nvPr/>
        </p:nvGrpSpPr>
        <p:grpSpPr>
          <a:xfrm>
            <a:off x="1384683" y="3059438"/>
            <a:ext cx="2221932" cy="2160000"/>
            <a:chOff x="1384683" y="2536920"/>
            <a:chExt cx="2221932" cy="21600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70" b="98673" l="9840" r="89894"/>
                      </a14:imgEffect>
                    </a14:imgLayer>
                  </a14:imgProps>
                </a:ext>
              </a:extLst>
            </a:blip>
            <a:srcRect l="19038" r="19133"/>
            <a:stretch/>
          </p:blipFill>
          <p:spPr>
            <a:xfrm>
              <a:off x="1384683" y="2536920"/>
              <a:ext cx="2221932" cy="216000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870318" y="3201422"/>
              <a:ext cx="12506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 smtClean="0">
                  <a:solidFill>
                    <a:srgbClr val="04B2F3"/>
                  </a:solidFill>
                </a:rPr>
                <a:t>55%</a:t>
              </a:r>
              <a:endParaRPr lang="zh-CN" altLang="en-US" sz="4800" dirty="0">
                <a:solidFill>
                  <a:srgbClr val="04B2F3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751049" y="3059438"/>
            <a:ext cx="2262890" cy="2160000"/>
            <a:chOff x="3751049" y="2536920"/>
            <a:chExt cx="2262890" cy="2160000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991" b="97788" l="9840" r="89894"/>
                      </a14:imgEffect>
                    </a14:imgLayer>
                  </a14:imgProps>
                </a:ext>
              </a:extLst>
            </a:blip>
            <a:srcRect l="17613" r="19417"/>
            <a:stretch/>
          </p:blipFill>
          <p:spPr>
            <a:xfrm>
              <a:off x="3751049" y="2536920"/>
              <a:ext cx="2262890" cy="2160000"/>
            </a:xfrm>
            <a:prstGeom prst="rect">
              <a:avLst/>
            </a:prstGeom>
          </p:spPr>
        </p:pic>
        <p:sp>
          <p:nvSpPr>
            <p:cNvPr id="19" name="文本框 18"/>
            <p:cNvSpPr txBox="1"/>
            <p:nvPr/>
          </p:nvSpPr>
          <p:spPr>
            <a:xfrm>
              <a:off x="4257163" y="3201422"/>
              <a:ext cx="12506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 smtClean="0">
                  <a:solidFill>
                    <a:srgbClr val="04B2F3"/>
                  </a:solidFill>
                </a:rPr>
                <a:t>41%</a:t>
              </a:r>
              <a:endParaRPr lang="zh-CN" altLang="en-US" sz="4800" dirty="0">
                <a:solidFill>
                  <a:srgbClr val="04B2F3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158373" y="3059438"/>
            <a:ext cx="2314086" cy="2160000"/>
            <a:chOff x="6158373" y="2536920"/>
            <a:chExt cx="2314086" cy="216000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770" b="96681" l="9840" r="89894"/>
                      </a14:imgEffect>
                    </a14:imgLayer>
                  </a14:imgProps>
                </a:ext>
              </a:extLst>
            </a:blip>
            <a:srcRect l="18372" r="17234"/>
            <a:stretch/>
          </p:blipFill>
          <p:spPr>
            <a:xfrm>
              <a:off x="6158373" y="2536920"/>
              <a:ext cx="2314086" cy="2160000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6690085" y="3201422"/>
              <a:ext cx="12506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rgbClr val="04B2F3"/>
                  </a:solidFill>
                </a:rPr>
                <a:t>3</a:t>
              </a:r>
              <a:r>
                <a:rPr lang="en-US" altLang="zh-CN" sz="4800" dirty="0" smtClean="0">
                  <a:solidFill>
                    <a:srgbClr val="04B2F3"/>
                  </a:solidFill>
                </a:rPr>
                <a:t>1%</a:t>
              </a:r>
              <a:endParaRPr lang="zh-CN" altLang="en-US" sz="4800" dirty="0">
                <a:solidFill>
                  <a:srgbClr val="04B2F3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616892" y="3059438"/>
            <a:ext cx="2211692" cy="2160000"/>
            <a:chOff x="8616892" y="2536920"/>
            <a:chExt cx="2211692" cy="2160000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2876" b="98673" l="9840" r="89894"/>
                      </a14:imgEffect>
                    </a14:imgLayer>
                  </a14:imgProps>
                </a:ext>
              </a:extLst>
            </a:blip>
            <a:srcRect l="19090" t="-2370" r="19365" b="2370"/>
            <a:stretch/>
          </p:blipFill>
          <p:spPr>
            <a:xfrm>
              <a:off x="8616892" y="2536920"/>
              <a:ext cx="2211692" cy="216000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>
            <a:xfrm>
              <a:off x="9097407" y="3201422"/>
              <a:ext cx="12506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 smtClean="0">
                  <a:solidFill>
                    <a:srgbClr val="04B2F3"/>
                  </a:solidFill>
                </a:rPr>
                <a:t>25%</a:t>
              </a:r>
              <a:endParaRPr lang="zh-CN" altLang="en-US" sz="4800" dirty="0">
                <a:solidFill>
                  <a:srgbClr val="04B2F3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600844" y="5689040"/>
            <a:ext cx="1789610" cy="477095"/>
            <a:chOff x="2220686" y="1494483"/>
            <a:chExt cx="4176653" cy="477095"/>
          </a:xfrm>
        </p:grpSpPr>
        <p:sp>
          <p:nvSpPr>
            <p:cNvPr id="23" name="矩形 22"/>
            <p:cNvSpPr/>
            <p:nvPr/>
          </p:nvSpPr>
          <p:spPr>
            <a:xfrm>
              <a:off x="2220686" y="1494483"/>
              <a:ext cx="4176653" cy="477095"/>
            </a:xfrm>
            <a:prstGeom prst="rect">
              <a:avLst/>
            </a:prstGeom>
            <a:solidFill>
              <a:srgbClr val="229FD7"/>
            </a:solidFill>
            <a:ln>
              <a:noFill/>
            </a:ln>
          </p:spPr>
          <p:txBody>
            <a:bodyPr vert="horz" wrap="square" lIns="248536" tIns="0" rIns="248536" bIns="0" numCol="1" anchor="ctr" anchorCtr="0" compatLnSpc="1">
              <a:prstTxWarp prst="textNoShape">
                <a:avLst/>
              </a:prstTxWarp>
            </a:bodyPr>
            <a:lstStyle/>
            <a:p>
              <a:pPr defTabSz="1243147">
                <a:lnSpc>
                  <a:spcPct val="95000"/>
                </a:lnSpc>
                <a:spcBef>
                  <a:spcPct val="0"/>
                </a:spcBef>
                <a:spcAft>
                  <a:spcPts val="1632"/>
                </a:spcAft>
              </a:pPr>
              <a:endParaRPr lang="zh-CN" altLang="en-US" sz="4400">
                <a:solidFill>
                  <a:srgbClr val="E7E7E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293077" y="1532975"/>
              <a:ext cx="40224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相信灵性治疗</a:t>
              </a:r>
              <a:endPara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892480" y="5689040"/>
            <a:ext cx="1980029" cy="477095"/>
            <a:chOff x="2116522" y="2150018"/>
            <a:chExt cx="1980029" cy="477095"/>
          </a:xfrm>
        </p:grpSpPr>
        <p:sp>
          <p:nvSpPr>
            <p:cNvPr id="26" name="矩形 25"/>
            <p:cNvSpPr/>
            <p:nvPr/>
          </p:nvSpPr>
          <p:spPr>
            <a:xfrm>
              <a:off x="2194560" y="2150018"/>
              <a:ext cx="1789611" cy="477095"/>
            </a:xfrm>
            <a:prstGeom prst="rect">
              <a:avLst/>
            </a:prstGeom>
            <a:solidFill>
              <a:srgbClr val="229FD7"/>
            </a:solidFill>
            <a:ln>
              <a:noFill/>
            </a:ln>
          </p:spPr>
          <p:txBody>
            <a:bodyPr vert="horz" wrap="square" lIns="248536" tIns="0" rIns="248536" bIns="0" numCol="1" anchor="ctr" anchorCtr="0" compatLnSpc="1">
              <a:prstTxWarp prst="textNoShape">
                <a:avLst/>
              </a:prstTxWarp>
            </a:bodyPr>
            <a:lstStyle/>
            <a:p>
              <a:pPr defTabSz="1243147">
                <a:lnSpc>
                  <a:spcPct val="95000"/>
                </a:lnSpc>
                <a:spcBef>
                  <a:spcPct val="0"/>
                </a:spcBef>
                <a:spcAft>
                  <a:spcPts val="1632"/>
                </a:spcAft>
              </a:pPr>
              <a:endParaRPr lang="zh-CN" altLang="en-US" sz="4400">
                <a:solidFill>
                  <a:srgbClr val="E7E7E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116522" y="2188510"/>
              <a:ext cx="1980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相信超感官知觉</a:t>
              </a:r>
              <a:endPara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420611" y="5689040"/>
            <a:ext cx="1789611" cy="477095"/>
            <a:chOff x="2343855" y="3906605"/>
            <a:chExt cx="4176653" cy="477095"/>
          </a:xfrm>
          <a:solidFill>
            <a:srgbClr val="229FD7"/>
          </a:solidFill>
        </p:grpSpPr>
        <p:sp>
          <p:nvSpPr>
            <p:cNvPr id="29" name="矩形 28"/>
            <p:cNvSpPr/>
            <p:nvPr/>
          </p:nvSpPr>
          <p:spPr>
            <a:xfrm>
              <a:off x="2343855" y="3906605"/>
              <a:ext cx="4176653" cy="47709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248536" tIns="0" rIns="248536" bIns="0" numCol="1" anchor="ctr" anchorCtr="0" compatLnSpc="1">
              <a:prstTxWarp prst="textNoShape">
                <a:avLst/>
              </a:prstTxWarp>
            </a:bodyPr>
            <a:lstStyle/>
            <a:p>
              <a:pPr defTabSz="1243147">
                <a:lnSpc>
                  <a:spcPct val="95000"/>
                </a:lnSpc>
                <a:spcBef>
                  <a:spcPct val="0"/>
                </a:spcBef>
                <a:spcAft>
                  <a:spcPts val="1632"/>
                </a:spcAft>
              </a:pPr>
              <a:endParaRPr lang="zh-CN" altLang="en-US" sz="4400">
                <a:solidFill>
                  <a:srgbClr val="E7E7E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929206" y="3945097"/>
              <a:ext cx="3423892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相信传心术</a:t>
              </a:r>
              <a:endPara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827933" y="5689040"/>
            <a:ext cx="1789611" cy="477095"/>
            <a:chOff x="2302189" y="6206675"/>
            <a:chExt cx="4176653" cy="477095"/>
          </a:xfrm>
          <a:solidFill>
            <a:srgbClr val="229FD7"/>
          </a:solidFill>
        </p:grpSpPr>
        <p:sp>
          <p:nvSpPr>
            <p:cNvPr id="35" name="矩形 34"/>
            <p:cNvSpPr/>
            <p:nvPr/>
          </p:nvSpPr>
          <p:spPr>
            <a:xfrm>
              <a:off x="2302189" y="6206675"/>
              <a:ext cx="4176653" cy="47709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248536" tIns="0" rIns="248536" bIns="0" numCol="1" anchor="ctr" anchorCtr="0" compatLnSpc="1">
              <a:prstTxWarp prst="textNoShape">
                <a:avLst/>
              </a:prstTxWarp>
            </a:bodyPr>
            <a:lstStyle/>
            <a:p>
              <a:pPr defTabSz="1243147">
                <a:lnSpc>
                  <a:spcPct val="95000"/>
                </a:lnSpc>
                <a:spcBef>
                  <a:spcPct val="0"/>
                </a:spcBef>
                <a:spcAft>
                  <a:spcPts val="1632"/>
                </a:spcAft>
              </a:pPr>
              <a:endParaRPr lang="zh-CN" altLang="en-US" sz="4400">
                <a:solidFill>
                  <a:srgbClr val="E7E7E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2759298" y="6245167"/>
              <a:ext cx="3423892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相信占星术</a:t>
              </a:r>
              <a:endPara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3054142" y="1255944"/>
            <a:ext cx="6083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rgbClr val="04B2F3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怪 异 现 象 集 锦</a:t>
            </a:r>
            <a:endParaRPr lang="zh-CN" altLang="en-US" sz="6000" dirty="0">
              <a:solidFill>
                <a:srgbClr val="04B2F3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434601" y="2298208"/>
            <a:ext cx="3703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—2005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年盖洛普民意调查</a:t>
            </a:r>
            <a:endParaRPr lang="zh-CN" altLang="en-US" sz="2400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200640" y="149181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为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何从怪异现象入手？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28115" y="161343"/>
            <a:ext cx="612000" cy="633608"/>
            <a:chOff x="2398112" y="1359387"/>
            <a:chExt cx="760730" cy="818900"/>
          </a:xfrm>
        </p:grpSpPr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112" y="1359387"/>
              <a:ext cx="760730" cy="790973"/>
            </a:xfrm>
            <a:prstGeom prst="rect">
              <a:avLst/>
            </a:prstGeom>
          </p:spPr>
        </p:pic>
        <p:sp>
          <p:nvSpPr>
            <p:cNvPr id="55" name="椭圆 54"/>
            <p:cNvSpPr/>
            <p:nvPr/>
          </p:nvSpPr>
          <p:spPr>
            <a:xfrm>
              <a:off x="2409847" y="1438495"/>
              <a:ext cx="711133" cy="739792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4666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437556" y="222551"/>
            <a:ext cx="572100" cy="572400"/>
            <a:chOff x="437556" y="222551"/>
            <a:chExt cx="572100" cy="5724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268" y="315757"/>
              <a:ext cx="378000" cy="376192"/>
            </a:xfrm>
            <a:prstGeom prst="rect">
              <a:avLst/>
            </a:prstGeom>
          </p:spPr>
        </p:pic>
        <p:sp>
          <p:nvSpPr>
            <p:cNvPr id="8" name="椭圆 7"/>
            <p:cNvSpPr/>
            <p:nvPr/>
          </p:nvSpPr>
          <p:spPr>
            <a:xfrm>
              <a:off x="437556" y="222551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200640" y="149181"/>
            <a:ext cx="6853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教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给我们的思考工具是什么？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03166" y="2315996"/>
            <a:ext cx="2731524" cy="2731524"/>
            <a:chOff x="1546563" y="1774372"/>
            <a:chExt cx="2731524" cy="2731524"/>
          </a:xfrm>
        </p:grpSpPr>
        <p:sp>
          <p:nvSpPr>
            <p:cNvPr id="3" name="椭圆 2"/>
            <p:cNvSpPr/>
            <p:nvPr/>
          </p:nvSpPr>
          <p:spPr>
            <a:xfrm>
              <a:off x="1546563" y="1774372"/>
              <a:ext cx="2731524" cy="2731524"/>
            </a:xfrm>
            <a:prstGeom prst="ellipse">
              <a:avLst/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0926" y="3036948"/>
              <a:ext cx="706323" cy="97922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779500" y="2924314"/>
              <a:ext cx="12105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</a:t>
              </a:r>
              <a:r>
                <a:rPr lang="zh-CN" altLang="en-US" sz="4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式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779500" y="2335933"/>
              <a:ext cx="18172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Search</a:t>
              </a:r>
            </a:p>
          </p:txBody>
        </p:sp>
      </p:grpSp>
      <p:sp>
        <p:nvSpPr>
          <p:cNvPr id="27" name="椭圆 26"/>
          <p:cNvSpPr/>
          <p:nvPr/>
        </p:nvSpPr>
        <p:spPr>
          <a:xfrm>
            <a:off x="7436093" y="1380196"/>
            <a:ext cx="1132114" cy="1132114"/>
          </a:xfrm>
          <a:prstGeom prst="ellipse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>
            <a:stCxn id="3" idx="0"/>
          </p:cNvCxnSpPr>
          <p:nvPr/>
        </p:nvCxnSpPr>
        <p:spPr>
          <a:xfrm flipV="1">
            <a:off x="2968928" y="1946253"/>
            <a:ext cx="0" cy="369743"/>
          </a:xfrm>
          <a:prstGeom prst="line">
            <a:avLst/>
          </a:prstGeom>
          <a:ln w="38100">
            <a:solidFill>
              <a:srgbClr val="E7E7E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endCxn id="27" idx="2"/>
          </p:cNvCxnSpPr>
          <p:nvPr/>
        </p:nvCxnSpPr>
        <p:spPr>
          <a:xfrm>
            <a:off x="2968928" y="1946253"/>
            <a:ext cx="4467165" cy="0"/>
          </a:xfrm>
          <a:prstGeom prst="straightConnector1">
            <a:avLst/>
          </a:prstGeom>
          <a:ln w="38100">
            <a:solidFill>
              <a:srgbClr val="E7E7E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3" idx="7"/>
          </p:cNvCxnSpPr>
          <p:nvPr/>
        </p:nvCxnSpPr>
        <p:spPr>
          <a:xfrm>
            <a:off x="3934668" y="2716018"/>
            <a:ext cx="1140249" cy="0"/>
          </a:xfrm>
          <a:prstGeom prst="line">
            <a:avLst/>
          </a:prstGeom>
          <a:ln w="38100">
            <a:solidFill>
              <a:srgbClr val="E7E7E7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5074917" y="2702956"/>
            <a:ext cx="0" cy="1836000"/>
          </a:xfrm>
          <a:prstGeom prst="line">
            <a:avLst/>
          </a:prstGeom>
          <a:ln w="38100">
            <a:solidFill>
              <a:srgbClr val="E7E7E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5074917" y="4520671"/>
            <a:ext cx="2687141" cy="0"/>
          </a:xfrm>
          <a:prstGeom prst="straightConnector1">
            <a:avLst/>
          </a:prstGeom>
          <a:ln w="38100">
            <a:solidFill>
              <a:srgbClr val="E7E7E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2968928" y="5055588"/>
            <a:ext cx="0" cy="687603"/>
          </a:xfrm>
          <a:prstGeom prst="line">
            <a:avLst/>
          </a:prstGeom>
          <a:ln w="38100">
            <a:solidFill>
              <a:srgbClr val="E7E7E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V="1">
            <a:off x="2968928" y="5743191"/>
            <a:ext cx="2853358" cy="0"/>
          </a:xfrm>
          <a:prstGeom prst="straightConnector1">
            <a:avLst/>
          </a:prstGeom>
          <a:ln w="38100">
            <a:solidFill>
              <a:srgbClr val="E7E7E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3" idx="5"/>
          </p:cNvCxnSpPr>
          <p:nvPr/>
        </p:nvCxnSpPr>
        <p:spPr>
          <a:xfrm>
            <a:off x="3934668" y="4647498"/>
            <a:ext cx="715706" cy="0"/>
          </a:xfrm>
          <a:prstGeom prst="line">
            <a:avLst/>
          </a:prstGeom>
          <a:ln w="38100">
            <a:solidFill>
              <a:srgbClr val="E7E7E7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4650374" y="3301471"/>
            <a:ext cx="1324312" cy="0"/>
          </a:xfrm>
          <a:prstGeom prst="straightConnector1">
            <a:avLst/>
          </a:prstGeom>
          <a:ln w="38100">
            <a:solidFill>
              <a:srgbClr val="E7E7E7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4650374" y="3301471"/>
            <a:ext cx="0" cy="1346027"/>
          </a:xfrm>
          <a:prstGeom prst="line">
            <a:avLst/>
          </a:prstGeom>
          <a:ln w="38100">
            <a:solidFill>
              <a:srgbClr val="E7E7E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5977706" y="2722775"/>
            <a:ext cx="1271502" cy="1260000"/>
            <a:chOff x="5703389" y="2970972"/>
            <a:chExt cx="1271502" cy="1260000"/>
          </a:xfrm>
        </p:grpSpPr>
        <p:sp>
          <p:nvSpPr>
            <p:cNvPr id="28" name="椭圆 27"/>
            <p:cNvSpPr/>
            <p:nvPr/>
          </p:nvSpPr>
          <p:spPr>
            <a:xfrm>
              <a:off x="5709140" y="2970972"/>
              <a:ext cx="1260000" cy="1260000"/>
            </a:xfrm>
            <a:prstGeom prst="ellipse">
              <a:avLst/>
            </a:prstGeom>
            <a:solidFill>
              <a:srgbClr val="D6E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703389" y="3400917"/>
              <a:ext cx="127150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Evidence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7720670" y="3812293"/>
            <a:ext cx="1515736" cy="1368000"/>
            <a:chOff x="7446353" y="4138868"/>
            <a:chExt cx="1515736" cy="1368000"/>
          </a:xfrm>
        </p:grpSpPr>
        <p:sp>
          <p:nvSpPr>
            <p:cNvPr id="58" name="椭圆 57"/>
            <p:cNvSpPr/>
            <p:nvPr/>
          </p:nvSpPr>
          <p:spPr>
            <a:xfrm>
              <a:off x="7520221" y="4138868"/>
              <a:ext cx="1368000" cy="1368000"/>
            </a:xfrm>
            <a:prstGeom prst="ellips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7446353" y="4622813"/>
              <a:ext cx="151573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Alternative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822241" y="4964250"/>
            <a:ext cx="1680845" cy="1582699"/>
            <a:chOff x="5508735" y="4912000"/>
            <a:chExt cx="1680845" cy="1582699"/>
          </a:xfrm>
        </p:grpSpPr>
        <p:sp>
          <p:nvSpPr>
            <p:cNvPr id="30" name="椭圆 29"/>
            <p:cNvSpPr/>
            <p:nvPr/>
          </p:nvSpPr>
          <p:spPr>
            <a:xfrm>
              <a:off x="5557808" y="4912000"/>
              <a:ext cx="1582699" cy="1582699"/>
            </a:xfrm>
            <a:prstGeom prst="ellipse">
              <a:avLst/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5508735" y="5349406"/>
              <a:ext cx="1680845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Rate,Criteria</a:t>
              </a:r>
            </a:p>
            <a:p>
              <a:pPr algn="ctr"/>
              <a:r>
                <a: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Hypothesis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8568206" y="1700595"/>
            <a:ext cx="126748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陈述主张</a:t>
            </a:r>
            <a:endParaRPr lang="zh-CN" altLang="en-US" sz="2000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252228" y="3103290"/>
            <a:ext cx="22765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审查该主张的证据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9162538" y="4261273"/>
            <a:ext cx="18639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考察备择假说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7516191" y="5488513"/>
            <a:ext cx="3844074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根据妥适性标准，评价每一假说</a:t>
            </a:r>
          </a:p>
        </p:txBody>
      </p:sp>
    </p:spTree>
    <p:extLst>
      <p:ext uri="{BB962C8B-B14F-4D97-AF65-F5344CB8AC3E}">
        <p14:creationId xmlns:p14="http://schemas.microsoft.com/office/powerpoint/2010/main" val="249773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437242" y="1844287"/>
            <a:ext cx="9830163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在审视任何主张之前，你必须具有该主张是什么的最清晰最具体的理解。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0094508" y="396553"/>
            <a:ext cx="1132114" cy="1132114"/>
            <a:chOff x="10094508" y="396553"/>
            <a:chExt cx="1132114" cy="1132114"/>
          </a:xfrm>
        </p:grpSpPr>
        <p:sp>
          <p:nvSpPr>
            <p:cNvPr id="27" name="椭圆 26"/>
            <p:cNvSpPr/>
            <p:nvPr/>
          </p:nvSpPr>
          <p:spPr>
            <a:xfrm>
              <a:off x="10094508" y="396553"/>
              <a:ext cx="1132114" cy="1132114"/>
            </a:xfrm>
            <a:prstGeom prst="ellipse">
              <a:avLst/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0106567" y="639445"/>
              <a:ext cx="11079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主张</a:t>
              </a: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200640" y="14918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陈述主张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7556" y="232033"/>
            <a:ext cx="572100" cy="584775"/>
            <a:chOff x="437556" y="232033"/>
            <a:chExt cx="572100" cy="584775"/>
          </a:xfrm>
        </p:grpSpPr>
        <p:sp>
          <p:nvSpPr>
            <p:cNvPr id="43" name="椭圆 42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4636" y="232033"/>
              <a:ext cx="4379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37241" y="2636537"/>
            <a:ext cx="98301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B89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zh-CN" altLang="en-US" sz="2800" b="1" dirty="0">
                <a:solidFill>
                  <a:srgbClr val="FB89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的措辞来陈述主张！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9325886" y="4007459"/>
            <a:ext cx="1541417" cy="477054"/>
          </a:xfrm>
          <a:prstGeom prst="rect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不好</a:t>
            </a:r>
          </a:p>
        </p:txBody>
      </p:sp>
      <p:sp>
        <p:nvSpPr>
          <p:cNvPr id="68" name="矩形 67"/>
          <p:cNvSpPr/>
          <p:nvPr/>
        </p:nvSpPr>
        <p:spPr>
          <a:xfrm>
            <a:off x="4315124" y="3901932"/>
            <a:ext cx="5010762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en-US" altLang="zh-CN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、鬼魂是真是的    </a:t>
            </a:r>
            <a:r>
              <a:rPr lang="en-US" altLang="zh-CN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、占星术是真</a:t>
            </a:r>
            <a:r>
              <a:rPr lang="zh-CN" altLang="en-US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zh-CN" altLang="en-US" dirty="0">
              <a:solidFill>
                <a:srgbClr val="E7E7E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4862743" y="4332017"/>
            <a:ext cx="4463143" cy="151565"/>
          </a:xfrm>
          <a:prstGeom prst="roundRect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325886" y="5562147"/>
            <a:ext cx="1541417" cy="477054"/>
          </a:xfrm>
          <a:prstGeom prst="rect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845886" y="4963375"/>
            <a:ext cx="56807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、死人的无实体灵魂存在并且可以被人的肉眼看到</a:t>
            </a:r>
            <a:endParaRPr lang="en-US" altLang="zh-CN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、占星师能使用太阳星座准确判断一个人的性格特征</a:t>
            </a:r>
            <a:endParaRPr lang="en-US" altLang="zh-CN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2845886" y="5887636"/>
            <a:ext cx="6480000" cy="151565"/>
          </a:xfrm>
          <a:prstGeom prst="roundRect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89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0094508" y="396553"/>
            <a:ext cx="1132114" cy="1132114"/>
            <a:chOff x="10094508" y="396553"/>
            <a:chExt cx="1132114" cy="1132114"/>
          </a:xfrm>
        </p:grpSpPr>
        <p:sp>
          <p:nvSpPr>
            <p:cNvPr id="27" name="椭圆 26"/>
            <p:cNvSpPr/>
            <p:nvPr/>
          </p:nvSpPr>
          <p:spPr>
            <a:xfrm>
              <a:off x="10094508" y="396553"/>
              <a:ext cx="1132114" cy="1132114"/>
            </a:xfrm>
            <a:prstGeom prst="ellipse">
              <a:avLst/>
            </a:prstGeom>
            <a:solidFill>
              <a:srgbClr val="D6E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0106567" y="639445"/>
              <a:ext cx="11079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证据</a:t>
              </a: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200640" y="149181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审查支持主张的证据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7556" y="232033"/>
            <a:ext cx="572100" cy="584775"/>
            <a:chOff x="437556" y="232033"/>
            <a:chExt cx="572100" cy="584775"/>
          </a:xfrm>
        </p:grpSpPr>
        <p:sp>
          <p:nvSpPr>
            <p:cNvPr id="43" name="椭圆 42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4636" y="232033"/>
              <a:ext cx="4379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437242" y="1844287"/>
            <a:ext cx="98301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盘点下相信该主张为真，理由的</a:t>
            </a:r>
            <a:r>
              <a:rPr lang="zh-CN" altLang="en-US" sz="2800" b="1" dirty="0">
                <a:solidFill>
                  <a:srgbClr val="D6E1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和理由的</a:t>
            </a:r>
            <a:r>
              <a:rPr lang="zh-CN" altLang="en-US" sz="2800" b="1" dirty="0">
                <a:solidFill>
                  <a:srgbClr val="D6E1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endParaRPr lang="en-US" altLang="zh-CN" sz="2800" b="1" dirty="0">
              <a:solidFill>
                <a:srgbClr val="D6E1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04636" y="3616618"/>
            <a:ext cx="1541417" cy="477054"/>
          </a:xfrm>
          <a:prstGeom prst="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942038" y="3529599"/>
            <a:ext cx="5010762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en-US" altLang="zh-CN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、确定经验证据的确切性质与局限性</a:t>
            </a:r>
            <a:endParaRPr lang="zh-CN" altLang="en-US" dirty="0">
              <a:solidFill>
                <a:srgbClr val="E7E7E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046053" y="3942107"/>
            <a:ext cx="4463143" cy="151565"/>
          </a:xfrm>
          <a:prstGeom prst="round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4636" y="4624588"/>
            <a:ext cx="1541417" cy="477054"/>
          </a:xfrm>
          <a:prstGeom prst="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35379" y="4482321"/>
            <a:ext cx="568075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、发现这些理由是否是不合格的</a:t>
            </a:r>
            <a:endParaRPr lang="en-US" altLang="zh-CN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046053" y="5972305"/>
            <a:ext cx="6480000" cy="151565"/>
          </a:xfrm>
          <a:prstGeom prst="round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446265" y="5506705"/>
            <a:ext cx="568075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、判断所讨论的假说是否真的解释了证据</a:t>
            </a:r>
            <a:endParaRPr lang="en-US" altLang="zh-CN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4636" y="5646816"/>
            <a:ext cx="1541417" cy="477054"/>
          </a:xfrm>
          <a:prstGeom prst="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2046053" y="4957206"/>
            <a:ext cx="4463143" cy="151565"/>
          </a:xfrm>
          <a:prstGeom prst="roundRect">
            <a:avLst/>
          </a:prstGeom>
          <a:solidFill>
            <a:srgbClr val="D6E1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588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3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0094508" y="396553"/>
            <a:ext cx="1132114" cy="1132114"/>
            <a:chOff x="10094508" y="396553"/>
            <a:chExt cx="1132114" cy="1132114"/>
          </a:xfrm>
        </p:grpSpPr>
        <p:sp>
          <p:nvSpPr>
            <p:cNvPr id="27" name="椭圆 26"/>
            <p:cNvSpPr/>
            <p:nvPr/>
          </p:nvSpPr>
          <p:spPr>
            <a:xfrm>
              <a:off x="10094508" y="396553"/>
              <a:ext cx="1132114" cy="1132114"/>
            </a:xfrm>
            <a:prstGeom prst="ellips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0106567" y="639445"/>
              <a:ext cx="110799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备择</a:t>
              </a:r>
              <a:endPara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200640" y="149181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考虑备择假说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7556" y="232033"/>
            <a:ext cx="572100" cy="584775"/>
            <a:chOff x="437556" y="232033"/>
            <a:chExt cx="572100" cy="584775"/>
          </a:xfrm>
        </p:grpSpPr>
        <p:sp>
          <p:nvSpPr>
            <p:cNvPr id="43" name="椭圆 42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4636" y="232033"/>
              <a:ext cx="4379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437242" y="1844287"/>
            <a:ext cx="10067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如何你真想揭开事物的真相，还必须权衡备择假说及其理由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7241" y="2636537"/>
            <a:ext cx="98301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创造性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开放性</a:t>
            </a: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维，必不可少！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Picture 7" descr="\\MAGNUM\Projects\Microsoft\Cloud Power FY12\Design\Icons\PNGs\Pooled.png"/>
          <p:cNvPicPr>
            <a:picLocks noChangeAspect="1" noChangeArrowheads="1"/>
          </p:cNvPicPr>
          <p:nvPr/>
        </p:nvPicPr>
        <p:blipFill>
          <a:blip r:embed="rId2" cstate="print">
            <a:lum bright="100000"/>
          </a:blip>
          <a:srcRect/>
          <a:stretch>
            <a:fillRect/>
          </a:stretch>
        </p:blipFill>
        <p:spPr bwMode="auto">
          <a:xfrm>
            <a:off x="8895757" y="3202593"/>
            <a:ext cx="2743294" cy="3169922"/>
          </a:xfrm>
          <a:prstGeom prst="rect">
            <a:avLst/>
          </a:prstGeom>
          <a:noFill/>
        </p:spPr>
      </p:pic>
      <p:pic>
        <p:nvPicPr>
          <p:cNvPr id="14" name="Picture 7" descr="\\MAGNUM\Projects\Microsoft\Cloud Power FY12\Design\Icons\PNGs\Pooled.png"/>
          <p:cNvPicPr>
            <a:picLocks noChangeAspect="1" noChangeArrowheads="1"/>
          </p:cNvPicPr>
          <p:nvPr/>
        </p:nvPicPr>
        <p:blipFill>
          <a:blip r:embed="rId2" cstate="print">
            <a:lum bright="100000"/>
          </a:blip>
          <a:srcRect/>
          <a:stretch>
            <a:fillRect/>
          </a:stretch>
        </p:blipFill>
        <p:spPr bwMode="auto">
          <a:xfrm>
            <a:off x="6355757" y="3202593"/>
            <a:ext cx="2743294" cy="3169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1526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 46"/>
          <p:cNvSpPr/>
          <p:nvPr/>
        </p:nvSpPr>
        <p:spPr>
          <a:xfrm>
            <a:off x="504636" y="4110958"/>
            <a:ext cx="1738900" cy="1701300"/>
          </a:xfrm>
          <a:custGeom>
            <a:avLst/>
            <a:gdLst>
              <a:gd name="connsiteX0" fmla="*/ 1080000 w 2160000"/>
              <a:gd name="connsiteY0" fmla="*/ 0 h 2160000"/>
              <a:gd name="connsiteX1" fmla="*/ 2160000 w 2160000"/>
              <a:gd name="connsiteY1" fmla="*/ 0 h 2160000"/>
              <a:gd name="connsiteX2" fmla="*/ 2160000 w 2160000"/>
              <a:gd name="connsiteY2" fmla="*/ 1080000 h 2160000"/>
              <a:gd name="connsiteX3" fmla="*/ 1080000 w 2160000"/>
              <a:gd name="connsiteY3" fmla="*/ 2160000 h 2160000"/>
              <a:gd name="connsiteX4" fmla="*/ 0 w 2160000"/>
              <a:gd name="connsiteY4" fmla="*/ 1080000 h 2160000"/>
              <a:gd name="connsiteX5" fmla="*/ 1080000 w 2160000"/>
              <a:gd name="connsiteY5" fmla="*/ 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000" h="2160000">
                <a:moveTo>
                  <a:pt x="1080000" y="0"/>
                </a:moveTo>
                <a:lnTo>
                  <a:pt x="2160000" y="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2708568" y="4110958"/>
            <a:ext cx="1738900" cy="1701300"/>
          </a:xfrm>
          <a:custGeom>
            <a:avLst/>
            <a:gdLst>
              <a:gd name="connsiteX0" fmla="*/ 1080000 w 2160000"/>
              <a:gd name="connsiteY0" fmla="*/ 0 h 2160000"/>
              <a:gd name="connsiteX1" fmla="*/ 2160000 w 2160000"/>
              <a:gd name="connsiteY1" fmla="*/ 0 h 2160000"/>
              <a:gd name="connsiteX2" fmla="*/ 2160000 w 2160000"/>
              <a:gd name="connsiteY2" fmla="*/ 1080000 h 2160000"/>
              <a:gd name="connsiteX3" fmla="*/ 1080000 w 2160000"/>
              <a:gd name="connsiteY3" fmla="*/ 2160000 h 2160000"/>
              <a:gd name="connsiteX4" fmla="*/ 0 w 2160000"/>
              <a:gd name="connsiteY4" fmla="*/ 1080000 h 2160000"/>
              <a:gd name="connsiteX5" fmla="*/ 1080000 w 2160000"/>
              <a:gd name="connsiteY5" fmla="*/ 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000" h="2160000">
                <a:moveTo>
                  <a:pt x="1080000" y="0"/>
                </a:moveTo>
                <a:lnTo>
                  <a:pt x="2160000" y="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4912500" y="4110958"/>
            <a:ext cx="1738900" cy="1701300"/>
          </a:xfrm>
          <a:custGeom>
            <a:avLst/>
            <a:gdLst>
              <a:gd name="connsiteX0" fmla="*/ 1080000 w 2160000"/>
              <a:gd name="connsiteY0" fmla="*/ 0 h 2160000"/>
              <a:gd name="connsiteX1" fmla="*/ 2160000 w 2160000"/>
              <a:gd name="connsiteY1" fmla="*/ 0 h 2160000"/>
              <a:gd name="connsiteX2" fmla="*/ 2160000 w 2160000"/>
              <a:gd name="connsiteY2" fmla="*/ 1080000 h 2160000"/>
              <a:gd name="connsiteX3" fmla="*/ 1080000 w 2160000"/>
              <a:gd name="connsiteY3" fmla="*/ 2160000 h 2160000"/>
              <a:gd name="connsiteX4" fmla="*/ 0 w 2160000"/>
              <a:gd name="connsiteY4" fmla="*/ 1080000 h 2160000"/>
              <a:gd name="connsiteX5" fmla="*/ 1080000 w 2160000"/>
              <a:gd name="connsiteY5" fmla="*/ 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000" h="2160000">
                <a:moveTo>
                  <a:pt x="1080000" y="0"/>
                </a:moveTo>
                <a:lnTo>
                  <a:pt x="2160000" y="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/>
        </p:nvSpPr>
        <p:spPr>
          <a:xfrm>
            <a:off x="7116432" y="4110958"/>
            <a:ext cx="1738900" cy="1701300"/>
          </a:xfrm>
          <a:custGeom>
            <a:avLst/>
            <a:gdLst>
              <a:gd name="connsiteX0" fmla="*/ 1080000 w 2160000"/>
              <a:gd name="connsiteY0" fmla="*/ 0 h 2160000"/>
              <a:gd name="connsiteX1" fmla="*/ 2160000 w 2160000"/>
              <a:gd name="connsiteY1" fmla="*/ 0 h 2160000"/>
              <a:gd name="connsiteX2" fmla="*/ 2160000 w 2160000"/>
              <a:gd name="connsiteY2" fmla="*/ 1080000 h 2160000"/>
              <a:gd name="connsiteX3" fmla="*/ 1080000 w 2160000"/>
              <a:gd name="connsiteY3" fmla="*/ 2160000 h 2160000"/>
              <a:gd name="connsiteX4" fmla="*/ 0 w 2160000"/>
              <a:gd name="connsiteY4" fmla="*/ 1080000 h 2160000"/>
              <a:gd name="connsiteX5" fmla="*/ 1080000 w 2160000"/>
              <a:gd name="connsiteY5" fmla="*/ 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000" h="2160000">
                <a:moveTo>
                  <a:pt x="1080000" y="0"/>
                </a:moveTo>
                <a:lnTo>
                  <a:pt x="2160000" y="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9320363" y="4110958"/>
            <a:ext cx="1738900" cy="1701300"/>
          </a:xfrm>
          <a:custGeom>
            <a:avLst/>
            <a:gdLst>
              <a:gd name="connsiteX0" fmla="*/ 1080000 w 2160000"/>
              <a:gd name="connsiteY0" fmla="*/ 0 h 2160000"/>
              <a:gd name="connsiteX1" fmla="*/ 2160000 w 2160000"/>
              <a:gd name="connsiteY1" fmla="*/ 0 h 2160000"/>
              <a:gd name="connsiteX2" fmla="*/ 2160000 w 2160000"/>
              <a:gd name="connsiteY2" fmla="*/ 1080000 h 2160000"/>
              <a:gd name="connsiteX3" fmla="*/ 1080000 w 2160000"/>
              <a:gd name="connsiteY3" fmla="*/ 2160000 h 2160000"/>
              <a:gd name="connsiteX4" fmla="*/ 0 w 2160000"/>
              <a:gd name="connsiteY4" fmla="*/ 1080000 h 2160000"/>
              <a:gd name="connsiteX5" fmla="*/ 1080000 w 2160000"/>
              <a:gd name="connsiteY5" fmla="*/ 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000" h="2160000">
                <a:moveTo>
                  <a:pt x="1080000" y="0"/>
                </a:moveTo>
                <a:lnTo>
                  <a:pt x="2160000" y="0"/>
                </a:lnTo>
                <a:lnTo>
                  <a:pt x="2160000" y="1080000"/>
                </a:lnTo>
                <a:cubicBezTo>
                  <a:pt x="2160000" y="1676468"/>
                  <a:pt x="1676468" y="2160000"/>
                  <a:pt x="1080000" y="2160000"/>
                </a:cubicBezTo>
                <a:cubicBezTo>
                  <a:pt x="483532" y="2160000"/>
                  <a:pt x="0" y="1676468"/>
                  <a:pt x="0" y="1080000"/>
                </a:cubicBezTo>
                <a:cubicBezTo>
                  <a:pt x="0" y="483532"/>
                  <a:pt x="483532" y="0"/>
                  <a:pt x="1080000" y="0"/>
                </a:cubicBezTo>
                <a:close/>
              </a:path>
            </a:pathLst>
          </a:cu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10094508" y="396553"/>
            <a:ext cx="1132114" cy="1132114"/>
            <a:chOff x="10094508" y="396553"/>
            <a:chExt cx="1132114" cy="1132114"/>
          </a:xfrm>
        </p:grpSpPr>
        <p:sp>
          <p:nvSpPr>
            <p:cNvPr id="27" name="椭圆 26"/>
            <p:cNvSpPr/>
            <p:nvPr/>
          </p:nvSpPr>
          <p:spPr>
            <a:xfrm>
              <a:off x="10094508" y="396553"/>
              <a:ext cx="1132114" cy="1132114"/>
            </a:xfrm>
            <a:prstGeom prst="ellipse">
              <a:avLst/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10106567" y="639445"/>
              <a:ext cx="11079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</a:t>
              </a: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200640" y="149181"/>
            <a:ext cx="7366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根据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妥适性标准，评价每一假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37556" y="232033"/>
            <a:ext cx="572100" cy="584775"/>
            <a:chOff x="437556" y="232033"/>
            <a:chExt cx="572100" cy="584775"/>
          </a:xfrm>
        </p:grpSpPr>
        <p:sp>
          <p:nvSpPr>
            <p:cNvPr id="43" name="椭圆 42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04636" y="232033"/>
              <a:ext cx="4379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E7E7E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437242" y="1844287"/>
            <a:ext cx="100674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通过将妥适性标准应用于每一假说，常可以立即</a:t>
            </a:r>
            <a:r>
              <a:rPr lang="zh-CN" altLang="en-US" sz="2800" b="1" dirty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剔除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某些假说，并在最初看似同等有力的假说中</a:t>
            </a:r>
            <a:r>
              <a:rPr lang="zh-CN" altLang="en-US" sz="2800" b="1" dirty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择优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9627144" y="4988574"/>
            <a:ext cx="1282156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保守性</a:t>
            </a:r>
            <a:endParaRPr lang="zh-CN" altLang="en-US" sz="2400" dirty="0">
              <a:solidFill>
                <a:srgbClr val="E7E7E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39669" y="4988574"/>
            <a:ext cx="1603867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可检验性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268172" y="4988574"/>
            <a:ext cx="118342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</a:t>
            </a: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423213" y="4988574"/>
            <a:ext cx="1276287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</a:t>
            </a: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015017" y="4988574"/>
            <a:ext cx="12648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丰富性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013" y="4352008"/>
            <a:ext cx="609600" cy="609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802" y="4325986"/>
            <a:ext cx="609600" cy="609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58" y="4352008"/>
            <a:ext cx="609600" cy="609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86" y="4352008"/>
            <a:ext cx="609600" cy="609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082" y="43789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6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57" grpId="0"/>
      <p:bldP spid="67" grpId="0"/>
      <p:bldP spid="68" grpId="0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200640" y="149181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怎么用？我们举一个外星人的例子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200" y="1341977"/>
            <a:ext cx="4207233" cy="5301301"/>
          </a:xfrm>
          <a:prstGeom prst="rect">
            <a:avLst/>
          </a:prstGeom>
        </p:spPr>
      </p:pic>
      <p:sp>
        <p:nvSpPr>
          <p:cNvPr id="12" name="Freeform 9"/>
          <p:cNvSpPr>
            <a:spLocks noEditPoints="1"/>
          </p:cNvSpPr>
          <p:nvPr/>
        </p:nvSpPr>
        <p:spPr bwMode="black">
          <a:xfrm>
            <a:off x="439200" y="223200"/>
            <a:ext cx="612000" cy="612000"/>
          </a:xfrm>
          <a:custGeom>
            <a:avLst/>
            <a:gdLst>
              <a:gd name="T0" fmla="*/ 88 w 149"/>
              <a:gd name="T1" fmla="*/ 67 h 149"/>
              <a:gd name="T2" fmla="*/ 65 w 149"/>
              <a:gd name="T3" fmla="*/ 46 h 149"/>
              <a:gd name="T4" fmla="*/ 84 w 149"/>
              <a:gd name="T5" fmla="*/ 46 h 149"/>
              <a:gd name="T6" fmla="*/ 115 w 149"/>
              <a:gd name="T7" fmla="*/ 75 h 149"/>
              <a:gd name="T8" fmla="*/ 84 w 149"/>
              <a:gd name="T9" fmla="*/ 104 h 149"/>
              <a:gd name="T10" fmla="*/ 65 w 149"/>
              <a:gd name="T11" fmla="*/ 104 h 149"/>
              <a:gd name="T12" fmla="*/ 88 w 149"/>
              <a:gd name="T13" fmla="*/ 82 h 149"/>
              <a:gd name="T14" fmla="*/ 36 w 149"/>
              <a:gd name="T15" fmla="*/ 82 h 149"/>
              <a:gd name="T16" fmla="*/ 36 w 149"/>
              <a:gd name="T17" fmla="*/ 67 h 149"/>
              <a:gd name="T18" fmla="*/ 88 w 149"/>
              <a:gd name="T19" fmla="*/ 67 h 149"/>
              <a:gd name="T20" fmla="*/ 74 w 149"/>
              <a:gd name="T21" fmla="*/ 9 h 149"/>
              <a:gd name="T22" fmla="*/ 140 w 149"/>
              <a:gd name="T23" fmla="*/ 75 h 149"/>
              <a:gd name="T24" fmla="*/ 74 w 149"/>
              <a:gd name="T25" fmla="*/ 140 h 149"/>
              <a:gd name="T26" fmla="*/ 9 w 149"/>
              <a:gd name="T27" fmla="*/ 75 h 149"/>
              <a:gd name="T28" fmla="*/ 74 w 149"/>
              <a:gd name="T29" fmla="*/ 9 h 149"/>
              <a:gd name="T30" fmla="*/ 74 w 149"/>
              <a:gd name="T31" fmla="*/ 0 h 149"/>
              <a:gd name="T32" fmla="*/ 0 w 149"/>
              <a:gd name="T33" fmla="*/ 75 h 149"/>
              <a:gd name="T34" fmla="*/ 74 w 149"/>
              <a:gd name="T35" fmla="*/ 149 h 149"/>
              <a:gd name="T36" fmla="*/ 149 w 149"/>
              <a:gd name="T37" fmla="*/ 75 h 149"/>
              <a:gd name="T38" fmla="*/ 74 w 149"/>
              <a:gd name="T39" fmla="*/ 0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9" h="149">
                <a:moveTo>
                  <a:pt x="88" y="67"/>
                </a:moveTo>
                <a:cubicBezTo>
                  <a:pt x="65" y="46"/>
                  <a:pt x="65" y="46"/>
                  <a:pt x="65" y="46"/>
                </a:cubicBezTo>
                <a:cubicBezTo>
                  <a:pt x="84" y="46"/>
                  <a:pt x="84" y="46"/>
                  <a:pt x="84" y="46"/>
                </a:cubicBezTo>
                <a:cubicBezTo>
                  <a:pt x="115" y="75"/>
                  <a:pt x="115" y="75"/>
                  <a:pt x="115" y="75"/>
                </a:cubicBezTo>
                <a:cubicBezTo>
                  <a:pt x="84" y="104"/>
                  <a:pt x="84" y="104"/>
                  <a:pt x="84" y="104"/>
                </a:cubicBezTo>
                <a:cubicBezTo>
                  <a:pt x="65" y="104"/>
                  <a:pt x="65" y="104"/>
                  <a:pt x="65" y="104"/>
                </a:cubicBezTo>
                <a:cubicBezTo>
                  <a:pt x="88" y="82"/>
                  <a:pt x="88" y="82"/>
                  <a:pt x="88" y="82"/>
                </a:cubicBezTo>
                <a:cubicBezTo>
                  <a:pt x="36" y="82"/>
                  <a:pt x="36" y="82"/>
                  <a:pt x="36" y="82"/>
                </a:cubicBezTo>
                <a:cubicBezTo>
                  <a:pt x="36" y="67"/>
                  <a:pt x="36" y="67"/>
                  <a:pt x="36" y="67"/>
                </a:cubicBezTo>
                <a:lnTo>
                  <a:pt x="88" y="67"/>
                </a:lnTo>
                <a:close/>
                <a:moveTo>
                  <a:pt x="74" y="9"/>
                </a:moveTo>
                <a:cubicBezTo>
                  <a:pt x="110" y="9"/>
                  <a:pt x="140" y="39"/>
                  <a:pt x="140" y="75"/>
                </a:cubicBezTo>
                <a:cubicBezTo>
                  <a:pt x="140" y="111"/>
                  <a:pt x="110" y="140"/>
                  <a:pt x="74" y="140"/>
                </a:cubicBezTo>
                <a:cubicBezTo>
                  <a:pt x="38" y="140"/>
                  <a:pt x="9" y="111"/>
                  <a:pt x="9" y="75"/>
                </a:cubicBezTo>
                <a:cubicBezTo>
                  <a:pt x="9" y="39"/>
                  <a:pt x="38" y="9"/>
                  <a:pt x="74" y="9"/>
                </a:cubicBezTo>
                <a:moveTo>
                  <a:pt x="74" y="0"/>
                </a:moveTo>
                <a:cubicBezTo>
                  <a:pt x="33" y="0"/>
                  <a:pt x="0" y="33"/>
                  <a:pt x="0" y="75"/>
                </a:cubicBezTo>
                <a:cubicBezTo>
                  <a:pt x="0" y="116"/>
                  <a:pt x="33" y="149"/>
                  <a:pt x="74" y="149"/>
                </a:cubicBezTo>
                <a:cubicBezTo>
                  <a:pt x="116" y="149"/>
                  <a:pt x="149" y="116"/>
                  <a:pt x="149" y="75"/>
                </a:cubicBezTo>
                <a:cubicBezTo>
                  <a:pt x="149" y="33"/>
                  <a:pt x="116" y="0"/>
                  <a:pt x="74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8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7242" y="1844287"/>
            <a:ext cx="8960758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近些年，书、杂志、电影</a:t>
            </a: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都在散布一个惊人的假说：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242" y="3509504"/>
            <a:ext cx="7385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在我们将</a:t>
            </a:r>
            <a:r>
              <a:rPr lang="en-US" altLang="zh-CN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公式应用于劫持假说和某些主要的备择假说，</a:t>
            </a: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探究竟。</a:t>
            </a:r>
            <a:endParaRPr lang="en-US" altLang="zh-CN" sz="2400" dirty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7242" y="2636147"/>
            <a:ext cx="73859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zh-CN" altLang="en-US" sz="2800" b="1" dirty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星人在劫持普通</a:t>
            </a:r>
            <a:r>
              <a:rPr lang="zh-CN" altLang="en-US" sz="2800" b="1" dirty="0" smtClean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人！</a:t>
            </a:r>
            <a:endParaRPr lang="en-US" altLang="zh-CN" sz="2800" b="1" dirty="0">
              <a:solidFill>
                <a:srgbClr val="1DAC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987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6" y="2217477"/>
            <a:ext cx="104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外星人已经劫持了几个地球人，用不同的方式与他们交流，然后释放了他们。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12" name="矩形标注 11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009656" y="3769514"/>
            <a:ext cx="8147044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、催眠过程中诱导出引人关注的证言。而催眠又被认为是一种吐真剂。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09656" y="4427578"/>
            <a:ext cx="3943345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、不需要催眠辅助的其他证言。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09656" y="5794951"/>
            <a:ext cx="60515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催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眠，不是真相的揭示者，而许多人相信它是罢了。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37556" y="3060207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19" name="矩形标注 18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37556" y="5085642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27" name="矩形标注 26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56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6" y="2217477"/>
            <a:ext cx="104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那些说自己被外星人绑架的人患有严重的精神疾病。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09656" y="3769514"/>
            <a:ext cx="4298944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确有一些人被证实为患有精神疾病。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09656" y="5136885"/>
            <a:ext cx="46418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、大部分都疯了的说法没有证据支持。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9656" y="5794951"/>
            <a:ext cx="5645146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、尽管被试是理智的，但不能被认为完全正常。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33" name="矩形标注 32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37556" y="3060207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6" name="矩形标注 35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37556" y="4427578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9" name="矩形标注 38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2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6" y="2222692"/>
            <a:ext cx="104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那些报告自己被外星人绑架的人是在制造恶作剧。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09656" y="3785159"/>
            <a:ext cx="4756144" cy="430374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故事是可疑的或者已被发现是个恶作剧。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09656" y="5131670"/>
            <a:ext cx="48450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、没有证据证明大多数劫持故事是骗局。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09656" y="5794951"/>
            <a:ext cx="33210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、这些人很明显是诚实的。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20" name="矩形标注 19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37556" y="3070637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27" name="矩形标注 26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37243" y="4417147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0" name="矩形标注 29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397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5" y="2100522"/>
            <a:ext cx="10632615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外星人绑架是具有“幻想倾向人格”者的幻想，这些幻想通过催眠术被进一步细化和强化了。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1009655" y="3751047"/>
            <a:ext cx="5899144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、一些研究表明这些人实际上具有幻想倾向人格。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09655" y="4292156"/>
            <a:ext cx="5670545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、睡眠幻觉更多地发生在有幻想倾向者的身上。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09655" y="5425619"/>
            <a:ext cx="10420345" cy="830997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具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有幻想倾向的人，幻想自己被劫持；又被相信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UFO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绑架的催眠师催眠，那么这种幻想很有可能就被应验或细化。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21" name="矩形标注 20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37556" y="3158695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37556" y="4833265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2" name="矩形标注 31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84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6" y="2151944"/>
            <a:ext cx="104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外星</a:t>
            </a: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人绑架的报告由梦引起，而后通过催眠被细化和强化。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73156" y="3572915"/>
            <a:ext cx="6535058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许多生成被绑架者的冒险经历实际上始于扣人心弦的梦。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32340" y="4809220"/>
            <a:ext cx="33083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由梦开始，由催眠而强化。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0" b="96979" l="4703" r="97525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08214" y="3016945"/>
            <a:ext cx="3848100" cy="315277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32" name="矩形标注 31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37556" y="2929141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5" name="矩形标注 34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37556" y="4165446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8" name="矩形标注 37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147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9656" y="2217477"/>
            <a:ext cx="104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那些报告被绑架者的颞叶正遭受过度的突发性脑电活动。</a:t>
            </a:r>
            <a:endParaRPr lang="en-US" altLang="zh-CN" sz="2400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6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073156" y="3769514"/>
            <a:ext cx="8782044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、所谓的被绑架体验都与大脑内部，尤其是颞叶部位剧增的脑电活动有关。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09656" y="5794951"/>
            <a:ext cx="3600445" cy="461665"/>
          </a:xfrm>
          <a:prstGeom prst="rect">
            <a:avLst/>
          </a:prstGeom>
          <a:solidFill>
            <a:srgbClr val="1DACEE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地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震与怪异经验存在强相关。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73155" y="4427578"/>
            <a:ext cx="5530845" cy="461665"/>
          </a:xfrm>
          <a:prstGeom prst="rect">
            <a:avLst/>
          </a:prstGeom>
          <a:solidFill>
            <a:srgbClr val="D6E126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、具有强烈磁效应的地震能引发颞叶突波。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37556" y="1508170"/>
            <a:ext cx="1104564" cy="512908"/>
            <a:chOff x="432136" y="1483370"/>
            <a:chExt cx="1104564" cy="512908"/>
          </a:xfrm>
        </p:grpSpPr>
        <p:sp>
          <p:nvSpPr>
            <p:cNvPr id="20" name="矩形标注 19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FB89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假说</a:t>
              </a:r>
              <a:r>
                <a: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37556" y="3060207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28" name="矩形标注 27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   由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37556" y="5085642"/>
            <a:ext cx="1104564" cy="512908"/>
            <a:chOff x="432136" y="1483370"/>
            <a:chExt cx="1104564" cy="512908"/>
          </a:xfrm>
          <a:solidFill>
            <a:srgbClr val="D6E126"/>
          </a:solidFill>
        </p:grpSpPr>
        <p:sp>
          <p:nvSpPr>
            <p:cNvPr id="31" name="矩形标注 30"/>
            <p:cNvSpPr/>
            <p:nvPr/>
          </p:nvSpPr>
          <p:spPr>
            <a:xfrm>
              <a:off x="432136" y="1483370"/>
              <a:ext cx="1104564" cy="512908"/>
            </a:xfrm>
            <a:prstGeom prst="wedgeRectCallout">
              <a:avLst>
                <a:gd name="adj1" fmla="val 60771"/>
                <a:gd name="adj2" fmla="val 47689"/>
              </a:avLst>
            </a:prstGeom>
            <a:solidFill>
              <a:srgbClr val="1D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32136" y="1538688"/>
              <a:ext cx="1072272" cy="400110"/>
            </a:xfrm>
            <a:prstGeom prst="rect">
              <a:avLst/>
            </a:prstGeom>
            <a:solidFill>
              <a:srgbClr val="1DACEE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评   价</a:t>
              </a:r>
              <a:endPara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019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4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437243" y="962610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200640" y="149181"/>
            <a:ext cx="7766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SEARCH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公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式破解外星人</a:t>
            </a:r>
            <a:r>
              <a:rPr lang="zh-CN" altLang="en-US" sz="4000" dirty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劫</a:t>
            </a:r>
            <a:r>
              <a:rPr lang="zh-CN" altLang="en-US" sz="4000" dirty="0" smtClean="0">
                <a:solidFill>
                  <a:srgbClr val="E7E7E7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持假说</a:t>
            </a:r>
            <a:endParaRPr lang="zh-CN" altLang="en-US" sz="4000" dirty="0">
              <a:solidFill>
                <a:srgbClr val="E7E7E7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7556" y="238220"/>
            <a:ext cx="572100" cy="572400"/>
            <a:chOff x="437556" y="238220"/>
            <a:chExt cx="572100" cy="572400"/>
          </a:xfrm>
        </p:grpSpPr>
        <p:sp>
          <p:nvSpPr>
            <p:cNvPr id="10" name="Freeform 20"/>
            <p:cNvSpPr>
              <a:spLocks noEditPoints="1"/>
            </p:cNvSpPr>
            <p:nvPr/>
          </p:nvSpPr>
          <p:spPr bwMode="black">
            <a:xfrm>
              <a:off x="508894" y="293237"/>
              <a:ext cx="438134" cy="379864"/>
            </a:xfrm>
            <a:custGeom>
              <a:avLst/>
              <a:gdLst>
                <a:gd name="T0" fmla="*/ 243 w 708"/>
                <a:gd name="T1" fmla="*/ 484 h 614"/>
                <a:gd name="T2" fmla="*/ 243 w 708"/>
                <a:gd name="T3" fmla="*/ 614 h 614"/>
                <a:gd name="T4" fmla="*/ 0 w 708"/>
                <a:gd name="T5" fmla="*/ 614 h 614"/>
                <a:gd name="T6" fmla="*/ 104 w 708"/>
                <a:gd name="T7" fmla="*/ 437 h 614"/>
                <a:gd name="T8" fmla="*/ 174 w 708"/>
                <a:gd name="T9" fmla="*/ 437 h 614"/>
                <a:gd name="T10" fmla="*/ 134 w 708"/>
                <a:gd name="T11" fmla="*/ 484 h 614"/>
                <a:gd name="T12" fmla="*/ 243 w 708"/>
                <a:gd name="T13" fmla="*/ 484 h 614"/>
                <a:gd name="T14" fmla="*/ 574 w 708"/>
                <a:gd name="T15" fmla="*/ 484 h 614"/>
                <a:gd name="T16" fmla="*/ 465 w 708"/>
                <a:gd name="T17" fmla="*/ 484 h 614"/>
                <a:gd name="T18" fmla="*/ 465 w 708"/>
                <a:gd name="T19" fmla="*/ 614 h 614"/>
                <a:gd name="T20" fmla="*/ 465 w 708"/>
                <a:gd name="T21" fmla="*/ 614 h 614"/>
                <a:gd name="T22" fmla="*/ 708 w 708"/>
                <a:gd name="T23" fmla="*/ 614 h 614"/>
                <a:gd name="T24" fmla="*/ 604 w 708"/>
                <a:gd name="T25" fmla="*/ 437 h 614"/>
                <a:gd name="T26" fmla="*/ 533 w 708"/>
                <a:gd name="T27" fmla="*/ 437 h 614"/>
                <a:gd name="T28" fmla="*/ 574 w 708"/>
                <a:gd name="T29" fmla="*/ 484 h 614"/>
                <a:gd name="T30" fmla="*/ 354 w 708"/>
                <a:gd name="T31" fmla="*/ 229 h 614"/>
                <a:gd name="T32" fmla="*/ 507 w 708"/>
                <a:gd name="T33" fmla="*/ 408 h 614"/>
                <a:gd name="T34" fmla="*/ 590 w 708"/>
                <a:gd name="T35" fmla="*/ 408 h 614"/>
                <a:gd name="T36" fmla="*/ 486 w 708"/>
                <a:gd name="T37" fmla="*/ 229 h 614"/>
                <a:gd name="T38" fmla="*/ 222 w 708"/>
                <a:gd name="T39" fmla="*/ 229 h 614"/>
                <a:gd name="T40" fmla="*/ 118 w 708"/>
                <a:gd name="T41" fmla="*/ 408 h 614"/>
                <a:gd name="T42" fmla="*/ 200 w 708"/>
                <a:gd name="T43" fmla="*/ 408 h 614"/>
                <a:gd name="T44" fmla="*/ 354 w 708"/>
                <a:gd name="T45" fmla="*/ 229 h 614"/>
                <a:gd name="T46" fmla="*/ 354 w 708"/>
                <a:gd name="T47" fmla="*/ 0 h 614"/>
                <a:gd name="T48" fmla="*/ 238 w 708"/>
                <a:gd name="T49" fmla="*/ 200 h 614"/>
                <a:gd name="T50" fmla="*/ 470 w 708"/>
                <a:gd name="T51" fmla="*/ 200 h 614"/>
                <a:gd name="T52" fmla="*/ 354 w 708"/>
                <a:gd name="T53" fmla="*/ 0 h 614"/>
                <a:gd name="T54" fmla="*/ 354 w 708"/>
                <a:gd name="T55" fmla="*/ 274 h 614"/>
                <a:gd name="T56" fmla="*/ 196 w 708"/>
                <a:gd name="T57" fmla="*/ 463 h 614"/>
                <a:gd name="T58" fmla="*/ 278 w 708"/>
                <a:gd name="T59" fmla="*/ 463 h 614"/>
                <a:gd name="T60" fmla="*/ 278 w 708"/>
                <a:gd name="T61" fmla="*/ 614 h 614"/>
                <a:gd name="T62" fmla="*/ 430 w 708"/>
                <a:gd name="T63" fmla="*/ 614 h 614"/>
                <a:gd name="T64" fmla="*/ 430 w 708"/>
                <a:gd name="T65" fmla="*/ 463 h 614"/>
                <a:gd name="T66" fmla="*/ 515 w 708"/>
                <a:gd name="T67" fmla="*/ 463 h 614"/>
                <a:gd name="T68" fmla="*/ 354 w 708"/>
                <a:gd name="T69" fmla="*/ 274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8" h="614">
                  <a:moveTo>
                    <a:pt x="243" y="484"/>
                  </a:moveTo>
                  <a:lnTo>
                    <a:pt x="243" y="614"/>
                  </a:lnTo>
                  <a:lnTo>
                    <a:pt x="0" y="614"/>
                  </a:lnTo>
                  <a:lnTo>
                    <a:pt x="104" y="437"/>
                  </a:lnTo>
                  <a:lnTo>
                    <a:pt x="174" y="437"/>
                  </a:lnTo>
                  <a:lnTo>
                    <a:pt x="134" y="484"/>
                  </a:lnTo>
                  <a:lnTo>
                    <a:pt x="243" y="484"/>
                  </a:lnTo>
                  <a:close/>
                  <a:moveTo>
                    <a:pt x="574" y="484"/>
                  </a:moveTo>
                  <a:lnTo>
                    <a:pt x="465" y="484"/>
                  </a:lnTo>
                  <a:lnTo>
                    <a:pt x="465" y="614"/>
                  </a:lnTo>
                  <a:lnTo>
                    <a:pt x="465" y="614"/>
                  </a:lnTo>
                  <a:lnTo>
                    <a:pt x="708" y="614"/>
                  </a:lnTo>
                  <a:lnTo>
                    <a:pt x="604" y="437"/>
                  </a:lnTo>
                  <a:lnTo>
                    <a:pt x="533" y="437"/>
                  </a:lnTo>
                  <a:lnTo>
                    <a:pt x="574" y="484"/>
                  </a:lnTo>
                  <a:close/>
                  <a:moveTo>
                    <a:pt x="354" y="229"/>
                  </a:moveTo>
                  <a:lnTo>
                    <a:pt x="507" y="408"/>
                  </a:lnTo>
                  <a:lnTo>
                    <a:pt x="590" y="408"/>
                  </a:lnTo>
                  <a:lnTo>
                    <a:pt x="486" y="229"/>
                  </a:lnTo>
                  <a:lnTo>
                    <a:pt x="222" y="229"/>
                  </a:lnTo>
                  <a:lnTo>
                    <a:pt x="118" y="408"/>
                  </a:lnTo>
                  <a:lnTo>
                    <a:pt x="200" y="408"/>
                  </a:lnTo>
                  <a:lnTo>
                    <a:pt x="354" y="229"/>
                  </a:lnTo>
                  <a:close/>
                  <a:moveTo>
                    <a:pt x="354" y="0"/>
                  </a:moveTo>
                  <a:lnTo>
                    <a:pt x="238" y="200"/>
                  </a:lnTo>
                  <a:lnTo>
                    <a:pt x="470" y="200"/>
                  </a:lnTo>
                  <a:lnTo>
                    <a:pt x="354" y="0"/>
                  </a:lnTo>
                  <a:close/>
                  <a:moveTo>
                    <a:pt x="354" y="274"/>
                  </a:moveTo>
                  <a:lnTo>
                    <a:pt x="196" y="463"/>
                  </a:lnTo>
                  <a:lnTo>
                    <a:pt x="278" y="463"/>
                  </a:lnTo>
                  <a:lnTo>
                    <a:pt x="278" y="614"/>
                  </a:lnTo>
                  <a:lnTo>
                    <a:pt x="430" y="614"/>
                  </a:lnTo>
                  <a:lnTo>
                    <a:pt x="430" y="463"/>
                  </a:lnTo>
                  <a:lnTo>
                    <a:pt x="515" y="463"/>
                  </a:lnTo>
                  <a:lnTo>
                    <a:pt x="354" y="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3943" tIns="41972" rIns="83943" bIns="41972" numCol="1" anchor="t" anchorCtr="0" compatLnSpc="1">
              <a:prstTxWarp prst="textNoShape">
                <a:avLst/>
              </a:prstTxWarp>
            </a:bodyPr>
            <a:lstStyle/>
            <a:p>
              <a:endParaRPr lang="en-US" sz="1400" dirty="0">
                <a:latin typeface="Segoe UI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37556" y="238220"/>
              <a:ext cx="572100" cy="572400"/>
            </a:xfrm>
            <a:prstGeom prst="ellipse">
              <a:avLst/>
            </a:prstGeom>
            <a:noFill/>
            <a:ln w="38100">
              <a:solidFill>
                <a:srgbClr val="E7E7E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151292" y="1013581"/>
            <a:ext cx="3125404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 smtClean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</a:t>
            </a:r>
            <a:r>
              <a:rPr lang="zh-CN" altLang="en-US" sz="11500" b="1" dirty="0">
                <a:solidFill>
                  <a:srgbClr val="E7E7E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谱</a:t>
            </a:r>
            <a:endParaRPr lang="en-US" altLang="zh-CN" sz="11500" b="1" dirty="0" smtClean="0">
              <a:solidFill>
                <a:srgbClr val="E7E7E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51292" y="4286571"/>
            <a:ext cx="31254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种假说无论从可检验性、丰富性、广泛性、简单性及保守性上都高过其他备择假说！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78135" y="3163691"/>
            <a:ext cx="2671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1DAC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脑电活动</a:t>
            </a:r>
            <a:endParaRPr lang="en-US" altLang="zh-CN" sz="4800" b="1" dirty="0" smtClean="0">
              <a:solidFill>
                <a:srgbClr val="1DACE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049853" y="1320164"/>
            <a:ext cx="7855686" cy="5145470"/>
            <a:chOff x="1825382" y="856265"/>
            <a:chExt cx="7855686" cy="5145470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2"/>
            <a:srcRect r="21043"/>
            <a:stretch/>
          </p:blipFill>
          <p:spPr>
            <a:xfrm>
              <a:off x="1825382" y="856265"/>
              <a:ext cx="6743852" cy="5145470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2"/>
            <a:srcRect l="83291" t="29509" b="30634"/>
            <a:stretch/>
          </p:blipFill>
          <p:spPr>
            <a:xfrm>
              <a:off x="8253951" y="3950867"/>
              <a:ext cx="1427117" cy="20508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718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4268" y="207481"/>
            <a:ext cx="1282700" cy="12827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-975" y="1104423"/>
            <a:ext cx="5405813" cy="6083704"/>
            <a:chOff x="-975" y="1104423"/>
            <a:chExt cx="5405813" cy="6083704"/>
          </a:xfrm>
        </p:grpSpPr>
        <p:sp>
          <p:nvSpPr>
            <p:cNvPr id="3" name="文本框 2"/>
            <p:cNvSpPr txBox="1"/>
            <p:nvPr/>
          </p:nvSpPr>
          <p:spPr>
            <a:xfrm>
              <a:off x="1194132" y="1104423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>
                  <a:solidFill>
                    <a:srgbClr val="E7E7E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为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4375996" y="3386835"/>
              <a:ext cx="338400" cy="3801292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7E7E7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091384" y="1792862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 smtClean="0">
                  <a:solidFill>
                    <a:srgbClr val="E7E7E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什</a:t>
              </a:r>
              <a:endParaRPr lang="zh-CN" altLang="en-US" sz="16600" dirty="0">
                <a:solidFill>
                  <a:srgbClr val="E7E7E7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-975" y="1930231"/>
              <a:ext cx="1800000" cy="72000"/>
            </a:xfrm>
            <a:prstGeom prst="rect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E7E7E7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580957" y="3229826"/>
              <a:ext cx="231345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600" dirty="0" smtClean="0">
                  <a:solidFill>
                    <a:srgbClr val="E7E7E7"/>
                  </a:solidFill>
                  <a:latin typeface="方正粗倩简体" panose="03000509000000000000" pitchFamily="65" charset="-122"/>
                  <a:ea typeface="方正粗倩简体" panose="03000509000000000000" pitchFamily="65" charset="-122"/>
                </a:rPr>
                <a:t>么</a:t>
              </a:r>
              <a:endParaRPr lang="zh-CN" altLang="en-US" sz="16600" dirty="0">
                <a:solidFill>
                  <a:srgbClr val="E7E7E7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3163568" y="1226656"/>
            <a:ext cx="1569660" cy="646331"/>
          </a:xfrm>
          <a:prstGeom prst="rect">
            <a:avLst/>
          </a:prstGeom>
          <a:solidFill>
            <a:srgbClr val="1DACEE"/>
          </a:solidFill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多一点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5675945" y="5704114"/>
            <a:ext cx="6081023" cy="659215"/>
          </a:xfrm>
          <a:prstGeom prst="roundRect">
            <a:avLst/>
          </a:prstGeom>
          <a:solidFill>
            <a:srgbClr val="FB8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975854" y="5729672"/>
            <a:ext cx="5519460" cy="50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提高思考能力，改善生活质量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等腰三角形 18"/>
          <p:cNvSpPr/>
          <p:nvPr/>
        </p:nvSpPr>
        <p:spPr>
          <a:xfrm rot="5400000">
            <a:off x="5731705" y="5943721"/>
            <a:ext cx="311603" cy="180000"/>
          </a:xfrm>
          <a:prstGeom prst="triangle">
            <a:avLst/>
          </a:pr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/>
        </p:nvSpPr>
        <p:spPr>
          <a:xfrm rot="16045622">
            <a:off x="11343903" y="5940381"/>
            <a:ext cx="311603" cy="180000"/>
          </a:xfrm>
          <a:prstGeom prst="triangle">
            <a:avLst/>
          </a:prstGeom>
          <a:solidFill>
            <a:srgbClr val="1DA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029" y="1229245"/>
            <a:ext cx="2924855" cy="405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9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239562" y="348309"/>
            <a:ext cx="3712876" cy="77251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9600" dirty="0" smtClean="0">
                <a:ln>
                  <a:solidFill>
                    <a:schemeClr val="accent4"/>
                  </a:solidFill>
                </a:ln>
                <a:pattFill prst="solidDmnd">
                  <a:fgClr>
                    <a:schemeClr val="accent4">
                      <a:lumMod val="60000"/>
                      <a:lumOff val="40000"/>
                    </a:schemeClr>
                  </a:fgClr>
                  <a:bgClr>
                    <a:schemeClr val="tx1"/>
                  </a:bgClr>
                </a:patt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7</a:t>
            </a:r>
            <a:endParaRPr lang="zh-CN" altLang="en-US" sz="49600" dirty="0">
              <a:ln>
                <a:solidFill>
                  <a:schemeClr val="accent4"/>
                </a:solidFill>
              </a:ln>
              <a:pattFill prst="solidDmnd">
                <a:fgClr>
                  <a:schemeClr val="accent4">
                    <a:lumMod val="60000"/>
                    <a:lumOff val="40000"/>
                  </a:schemeClr>
                </a:fgClr>
                <a:bgClr>
                  <a:schemeClr val="tx1"/>
                </a:bgClr>
              </a:patt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417037" y="3001521"/>
            <a:ext cx="5508239" cy="1862048"/>
          </a:xfrm>
          <a:prstGeom prst="rect">
            <a:avLst/>
          </a:prstGeom>
          <a:noFill/>
          <a:effectLst>
            <a:glow rad="1231900">
              <a:schemeClr val="accent4">
                <a:satMod val="175000"/>
                <a:alpha val="40000"/>
              </a:schemeClr>
            </a:glow>
          </a:effectLst>
        </p:spPr>
        <p:txBody>
          <a:bodyPr wrap="none" rtlCol="0">
            <a:prstTxWarp prst="textTriangleInverted">
              <a:avLst/>
            </a:prstTxWarp>
            <a:spAutoFit/>
          </a:bodyPr>
          <a:lstStyle/>
          <a:p>
            <a:r>
              <a:rPr lang="zh-CN" altLang="en-US" sz="11500" dirty="0">
                <a:ln>
                  <a:solidFill>
                    <a:schemeClr val="accent4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254000">
                    <a:schemeClr val="accent4">
                      <a:lumMod val="20000"/>
                      <a:lumOff val="80000"/>
                    </a:schemeClr>
                  </a:glow>
                </a:effectLst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想</a:t>
            </a:r>
            <a:r>
              <a:rPr lang="zh-CN" altLang="en-US" sz="11500" dirty="0" smtClean="0">
                <a:ln>
                  <a:solidFill>
                    <a:schemeClr val="accent4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254000">
                    <a:schemeClr val="accent4">
                      <a:lumMod val="20000"/>
                      <a:lumOff val="80000"/>
                    </a:schemeClr>
                  </a:glow>
                </a:effectLst>
                <a:latin typeface="方正综艺简体" panose="03000509000000000000" pitchFamily="65" charset="-122"/>
                <a:ea typeface="方正综艺简体" panose="03000509000000000000" pitchFamily="65" charset="-122"/>
              </a:rPr>
              <a:t>是高手</a:t>
            </a:r>
            <a:endParaRPr lang="zh-CN" altLang="en-US" sz="11500" dirty="0">
              <a:ln>
                <a:solidFill>
                  <a:schemeClr val="accent4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glow rad="254000">
                  <a:schemeClr val="accent4">
                    <a:lumMod val="20000"/>
                    <a:lumOff val="80000"/>
                  </a:schemeClr>
                </a:glow>
              </a:effectLst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27591" y="1192513"/>
            <a:ext cx="4536819" cy="646331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perspectiveBelow" fov="2700000">
              <a:rot lat="0" lon="300000" rev="0"/>
            </a:camera>
            <a:lightRig rig="threePt" dir="t">
              <a:rot lat="0" lon="0" rev="3600000"/>
            </a:lightRig>
          </a:scene3d>
          <a:sp3d prstMaterial="matte">
            <a:extrusionClr>
              <a:schemeClr val="accent4">
                <a:lumMod val="40000"/>
                <a:lumOff val="60000"/>
              </a:schemeClr>
            </a:extrusionClr>
          </a:sp3d>
        </p:spPr>
        <p:txBody>
          <a:bodyPr wrap="none" rtlCol="0">
            <a:spAutoFit/>
            <a:sp3d prstMaterial="matte">
              <a:extrusionClr>
                <a:schemeClr val="accent4">
                  <a:lumMod val="20000"/>
                  <a:lumOff val="80000"/>
                </a:schemeClr>
              </a:extrusionClr>
            </a:sp3d>
          </a:bodyPr>
          <a:lstStyle/>
          <a:p>
            <a:r>
              <a:rPr lang="en-US" altLang="zh-CN" sz="3600" dirty="0" smtClean="0">
                <a:ln>
                  <a:solidFill>
                    <a:schemeClr val="accent4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27000">
                    <a:schemeClr val="accent2"/>
                  </a:glow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  <a:latin typeface="方正综艺简体" panose="03000509000000000000" pitchFamily="65" charset="-122"/>
                <a:ea typeface="方正综艺简体" panose="03000509000000000000" pitchFamily="65" charset="-122"/>
              </a:rPr>
              <a:t>I AM JUST A  PPTer</a:t>
            </a:r>
            <a:endParaRPr lang="zh-CN" altLang="en-US" sz="3600" dirty="0">
              <a:ln>
                <a:solidFill>
                  <a:schemeClr val="accent4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glow rad="127000">
                  <a:schemeClr val="accent2"/>
                </a:glow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80221" y="5022922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待</a:t>
            </a:r>
            <a:r>
              <a:rPr lang="zh-CN" altLang="en-US" sz="6000" dirty="0" smtClean="0">
                <a:solidFill>
                  <a:schemeClr val="accent4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你加入</a:t>
            </a:r>
            <a:endParaRPr lang="zh-CN" altLang="en-US" sz="6000" dirty="0">
              <a:solidFill>
                <a:schemeClr val="accent4"/>
              </a:solidFill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983794" y="2222898"/>
            <a:ext cx="1087408" cy="1087408"/>
          </a:xfrm>
          <a:prstGeom prst="ellipse">
            <a:avLst/>
          </a:prstGeom>
          <a:solidFill>
            <a:srgbClr val="B6A786"/>
          </a:solidFill>
          <a:ln>
            <a:noFill/>
          </a:ln>
          <a:effectLst>
            <a:softEdge rad="177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691919" y="4781079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544706" y="787143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51500" y="1962891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026770" y="2036423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283440" y="5718433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511505" y="515149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851955" y="2041456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0604362" y="3709895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9993976" y="4769494"/>
            <a:ext cx="477980" cy="4453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8891702" y="2036423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11171868" y="1233329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759704" y="566472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0393771" y="2223056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561495" y="3011389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269821" y="3444802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51191" y="3310306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56134" y="589563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943819" y="5624062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057517" y="514598"/>
            <a:ext cx="477980" cy="4453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51327" y="4992144"/>
            <a:ext cx="24737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</a:t>
            </a:r>
            <a:endParaRPr lang="en-US" altLang="zh-CN" sz="3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起学</a:t>
            </a:r>
            <a:r>
              <a:rPr lang="en-US" altLang="zh-CN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438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2652" y="1092192"/>
            <a:ext cx="7406696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513" y="2846508"/>
            <a:ext cx="116657" cy="2170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88" y="2846508"/>
            <a:ext cx="116657" cy="2170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601" y="2846508"/>
            <a:ext cx="116657" cy="217055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79630" y="3987761"/>
            <a:ext cx="7406696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8"/>
              </a:spcBef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8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4617" y="4303929"/>
            <a:ext cx="6882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79630" y="2291596"/>
            <a:ext cx="1574871" cy="1086522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49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8"/>
              <a:ext cx="504070" cy="3909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394" y="2291597"/>
            <a:ext cx="1574871" cy="1279246"/>
            <a:chOff x="107380" y="2024805"/>
            <a:chExt cx="1944270" cy="1579304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5"/>
              <a:ext cx="1728240" cy="12219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09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6" y="2291596"/>
            <a:ext cx="1574871" cy="1086522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49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8"/>
              <a:ext cx="504070" cy="3909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927" y="2291596"/>
            <a:ext cx="1574871" cy="1086522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49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8"/>
              <a:ext cx="504070" cy="3909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735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5877" y="3953945"/>
            <a:ext cx="7426950" cy="130195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4525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13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512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51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3"/>
              <a:ext cx="594123" cy="5756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51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6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2807" cy="927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51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51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7"/>
              <a:ext cx="1596629" cy="437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51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1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51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4"/>
              <a:ext cx="757239" cy="760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51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1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51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51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428" cy="344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51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355" y="1387561"/>
            <a:ext cx="5191296" cy="235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0"/>
              </a:spcBef>
            </a:pPr>
            <a:r>
              <a:rPr lang="zh-CN" altLang="en-US" sz="356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5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067</a:t>
            </a:r>
            <a:r>
              <a:rPr lang="zh-CN" altLang="en-US" sz="3565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5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0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45787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1118</Words>
  <Application>Microsoft Office PowerPoint</Application>
  <PresentationFormat>宽屏</PresentationFormat>
  <Paragraphs>164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Verdana</vt:lpstr>
      <vt:lpstr>微软雅黑</vt:lpstr>
      <vt:lpstr>Calibri Light</vt:lpstr>
      <vt:lpstr>方正正黑简体</vt:lpstr>
      <vt:lpstr>华康俪金黑W8(P)</vt:lpstr>
      <vt:lpstr>方正综艺简体</vt:lpstr>
      <vt:lpstr>黑体</vt:lpstr>
      <vt:lpstr>Calibri</vt:lpstr>
      <vt:lpstr>方正粗倩简体</vt:lpstr>
      <vt:lpstr>宋体</vt:lpstr>
      <vt:lpstr>方正正中黑简体</vt:lpstr>
      <vt:lpstr>Arial</vt:lpstr>
      <vt:lpstr>Segoe UI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 zhao</dc:creator>
  <cp:lastModifiedBy>小巴</cp:lastModifiedBy>
  <cp:revision>132</cp:revision>
  <dcterms:created xsi:type="dcterms:W3CDTF">2014-03-15T00:55:17Z</dcterms:created>
  <dcterms:modified xsi:type="dcterms:W3CDTF">2014-04-01T04:39:04Z</dcterms:modified>
</cp:coreProperties>
</file>