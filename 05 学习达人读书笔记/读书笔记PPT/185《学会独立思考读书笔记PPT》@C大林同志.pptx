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74" r:id="rId4"/>
    <p:sldId id="257" r:id="rId5"/>
    <p:sldId id="258" r:id="rId6"/>
    <p:sldId id="277" r:id="rId7"/>
    <p:sldId id="278" r:id="rId8"/>
    <p:sldId id="279" r:id="rId9"/>
    <p:sldId id="275" r:id="rId10"/>
    <p:sldId id="280" r:id="rId11"/>
    <p:sldId id="283" r:id="rId12"/>
    <p:sldId id="288" r:id="rId13"/>
    <p:sldId id="276" r:id="rId14"/>
    <p:sldId id="284" r:id="rId15"/>
    <p:sldId id="285" r:id="rId16"/>
    <p:sldId id="286" r:id="rId17"/>
    <p:sldId id="287" r:id="rId18"/>
    <p:sldId id="290" r:id="rId19"/>
    <p:sldId id="267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329" userDrawn="1">
          <p15:clr>
            <a:srgbClr val="A4A3A4"/>
          </p15:clr>
        </p15:guide>
        <p15:guide id="4" pos="3334" userDrawn="1">
          <p15:clr>
            <a:srgbClr val="A4A3A4"/>
          </p15:clr>
        </p15:guide>
        <p15:guide id="5" pos="544" userDrawn="1">
          <p15:clr>
            <a:srgbClr val="A4A3A4"/>
          </p15:clr>
        </p15:guide>
        <p15:guide id="6" orient="horz" pos="22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975D"/>
    <a:srgbClr val="71A98D"/>
    <a:srgbClr val="1A7D3C"/>
    <a:srgbClr val="416B56"/>
    <a:srgbClr val="F09410"/>
    <a:srgbClr val="679AC9"/>
    <a:srgbClr val="3B87CD"/>
    <a:srgbClr val="39993E"/>
    <a:srgbClr val="EEB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10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1296" y="72"/>
      </p:cViewPr>
      <p:guideLst>
        <p:guide orient="horz" pos="2160"/>
        <p:guide pos="2880"/>
        <p:guide pos="5329"/>
        <p:guide pos="3334"/>
        <p:guide pos="544"/>
        <p:guide orient="horz" pos="22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CC59-F151-40C7-8045-719A87D9DA33}" type="datetimeFigureOut">
              <a:rPr lang="zh-CN" altLang="en-US" smtClean="0"/>
              <a:t>2015-01-28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777D-B55A-40AF-B0BE-9E25EE934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67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CC59-F151-40C7-8045-719A87D9DA33}" type="datetimeFigureOut">
              <a:rPr lang="zh-CN" altLang="en-US" smtClean="0"/>
              <a:t>2015-01-28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777D-B55A-40AF-B0BE-9E25EE934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93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CC59-F151-40C7-8045-719A87D9DA33}" type="datetimeFigureOut">
              <a:rPr lang="zh-CN" altLang="en-US" smtClean="0"/>
              <a:t>2015-01-28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777D-B55A-40AF-B0BE-9E25EE934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628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CC59-F151-40C7-8045-719A87D9DA33}" type="datetimeFigureOut">
              <a:rPr lang="zh-CN" altLang="en-US" smtClean="0"/>
              <a:t>2015-01-28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777D-B55A-40AF-B0BE-9E25EE934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75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CC59-F151-40C7-8045-719A87D9DA33}" type="datetimeFigureOut">
              <a:rPr lang="zh-CN" altLang="en-US" smtClean="0"/>
              <a:t>2015-01-28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777D-B55A-40AF-B0BE-9E25EE934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84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CC59-F151-40C7-8045-719A87D9DA33}" type="datetimeFigureOut">
              <a:rPr lang="zh-CN" altLang="en-US" smtClean="0"/>
              <a:t>2015-01-28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777D-B55A-40AF-B0BE-9E25EE934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265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CC59-F151-40C7-8045-719A87D9DA33}" type="datetimeFigureOut">
              <a:rPr lang="zh-CN" altLang="en-US" smtClean="0"/>
              <a:t>2015-01-28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777D-B55A-40AF-B0BE-9E25EE934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99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CC59-F151-40C7-8045-719A87D9DA33}" type="datetimeFigureOut">
              <a:rPr lang="zh-CN" altLang="en-US" smtClean="0"/>
              <a:t>2015-01-28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777D-B55A-40AF-B0BE-9E25EE934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973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CC59-F151-40C7-8045-719A87D9DA33}" type="datetimeFigureOut">
              <a:rPr lang="zh-CN" altLang="en-US" smtClean="0"/>
              <a:t>2015-01-28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777D-B55A-40AF-B0BE-9E25EE934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66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CC59-F151-40C7-8045-719A87D9DA33}" type="datetimeFigureOut">
              <a:rPr lang="zh-CN" altLang="en-US" smtClean="0"/>
              <a:t>2015-01-28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777D-B55A-40AF-B0BE-9E25EE934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55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CC59-F151-40C7-8045-719A87D9DA33}" type="datetimeFigureOut">
              <a:rPr lang="zh-CN" altLang="en-US" smtClean="0"/>
              <a:t>2015-01-28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777D-B55A-40AF-B0BE-9E25EE934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635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1DE5-41D5-4DBC-BED2-E7E710AC6BE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2015-01-28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391D0-293C-4017-8C37-CB7727EFA36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659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1DE5-41D5-4DBC-BED2-E7E710AC6BE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2015-01-28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391D0-293C-4017-8C37-CB7727EFA36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645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1DE5-41D5-4DBC-BED2-E7E710AC6BE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2015-01-28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391D0-293C-4017-8C37-CB7727EFA36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099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1DE5-41D5-4DBC-BED2-E7E710AC6BE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2015-01-28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391D0-293C-4017-8C37-CB7727EFA36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596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1DE5-41D5-4DBC-BED2-E7E710AC6BE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2015-01-28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391D0-293C-4017-8C37-CB7727EFA36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094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1DE5-41D5-4DBC-BED2-E7E710AC6BE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2015-01-28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391D0-293C-4017-8C37-CB7727EFA36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353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1DE5-41D5-4DBC-BED2-E7E710AC6BE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2015-01-28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391D0-293C-4017-8C37-CB7727EFA36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8529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1DE5-41D5-4DBC-BED2-E7E710AC6BE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2015-01-28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391D0-293C-4017-8C37-CB7727EFA36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5433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1DE5-41D5-4DBC-BED2-E7E710AC6BE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2015-01-28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391D0-293C-4017-8C37-CB7727EFA36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293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1DE5-41D5-4DBC-BED2-E7E710AC6BE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2015-01-28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391D0-293C-4017-8C37-CB7727EFA36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7799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1DE5-41D5-4DBC-BED2-E7E710AC6BE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2015-01-28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391D0-293C-4017-8C37-CB7727EFA36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30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BCC59-F151-40C7-8045-719A87D9DA33}" type="datetimeFigureOut">
              <a:rPr lang="zh-CN" altLang="en-US" smtClean="0"/>
              <a:t>2015-01-28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5777D-B55A-40AF-B0BE-9E25EE934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50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71DE5-41D5-4DBC-BED2-E7E710AC6BE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2015-01-28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391D0-293C-4017-8C37-CB7727EFA36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95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628897"/>
            <a:ext cx="9144000" cy="942978"/>
          </a:xfrm>
          <a:prstGeom prst="rect">
            <a:avLst/>
          </a:prstGeom>
          <a:solidFill>
            <a:srgbClr val="71A9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4" y="1300149"/>
            <a:ext cx="3169411" cy="4581525"/>
          </a:xfrm>
          <a:prstGeom prst="rect">
            <a:avLst/>
          </a:prstGeom>
          <a:effectLst>
            <a:outerShdw blurRad="381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4522789" y="2198009"/>
            <a:ext cx="37353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 smtClean="0">
                <a:solidFill>
                  <a:schemeClr val="bg2">
                    <a:lumMod val="50000"/>
                  </a:schemeClr>
                </a:solidFill>
              </a:rPr>
              <a:t>《</a:t>
            </a:r>
            <a:r>
              <a:rPr lang="zh-CN" altLang="en-US" sz="2200" b="1" dirty="0" smtClean="0">
                <a:solidFill>
                  <a:schemeClr val="bg2">
                    <a:lumMod val="50000"/>
                  </a:schemeClr>
                </a:solidFill>
              </a:rPr>
              <a:t>学会独立思考</a:t>
            </a:r>
            <a:r>
              <a:rPr lang="en-US" altLang="zh-CN" sz="2200" b="1" dirty="0" smtClean="0">
                <a:solidFill>
                  <a:schemeClr val="bg2">
                    <a:lumMod val="50000"/>
                  </a:schemeClr>
                </a:solidFill>
              </a:rPr>
              <a:t>》</a:t>
            </a:r>
            <a:r>
              <a:rPr lang="zh-CN" altLang="en-US" sz="2200" b="1" dirty="0" smtClean="0">
                <a:solidFill>
                  <a:schemeClr val="bg2">
                    <a:lumMod val="50000"/>
                  </a:schemeClr>
                </a:solidFill>
              </a:rPr>
              <a:t>读书笔记</a:t>
            </a:r>
            <a:endParaRPr lang="zh-CN" altLang="en-US" sz="2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24400" y="2715665"/>
            <a:ext cx="37353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</a:rPr>
              <a:t>思考你的生活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52976" y="3696120"/>
            <a:ext cx="37353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 smtClean="0"/>
              <a:t>作者：张志  黄鑫</a:t>
            </a:r>
            <a:endParaRPr lang="en-US" altLang="zh-CN" sz="2200" dirty="0" smtClean="0"/>
          </a:p>
          <a:p>
            <a:pPr>
              <a:lnSpc>
                <a:spcPct val="150000"/>
              </a:lnSpc>
            </a:pPr>
            <a:r>
              <a:rPr lang="en-US" altLang="zh-CN" sz="2200" dirty="0" smtClean="0"/>
              <a:t>PPT</a:t>
            </a:r>
            <a:r>
              <a:rPr lang="zh-CN" altLang="en-US" sz="2200" dirty="0" smtClean="0"/>
              <a:t>笔记：</a:t>
            </a:r>
            <a:r>
              <a:rPr lang="en-US" altLang="zh-CN" sz="2200" dirty="0" smtClean="0"/>
              <a:t>@C</a:t>
            </a:r>
            <a:r>
              <a:rPr lang="zh-CN" altLang="en-US" sz="2200" dirty="0" smtClean="0"/>
              <a:t>大林同志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08477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A9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1852" y="3080475"/>
            <a:ext cx="63579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</a:rPr>
              <a:t>满满</a:t>
            </a:r>
            <a:r>
              <a:rPr lang="zh-CN" altLang="en-US" sz="2000" dirty="0">
                <a:solidFill>
                  <a:schemeClr val="bg1"/>
                </a:solidFill>
              </a:rPr>
              <a:t>干货</a:t>
            </a:r>
            <a:r>
              <a:rPr lang="zh-CN" altLang="en-US" sz="2000" dirty="0" smtClean="0">
                <a:solidFill>
                  <a:schemeClr val="bg1"/>
                </a:solidFill>
              </a:rPr>
              <a:t>的</a:t>
            </a:r>
            <a:r>
              <a:rPr lang="zh-CN" altLang="en-US" sz="2000" dirty="0">
                <a:solidFill>
                  <a:schemeClr val="bg1"/>
                </a:solidFill>
              </a:rPr>
              <a:t>一本</a:t>
            </a:r>
            <a:r>
              <a:rPr lang="zh-CN" altLang="en-US" sz="2000" dirty="0" smtClean="0">
                <a:solidFill>
                  <a:schemeClr val="bg1"/>
                </a:solidFill>
              </a:rPr>
              <a:t>书</a:t>
            </a:r>
            <a:r>
              <a:rPr lang="zh-CN" altLang="en-US" sz="2000" dirty="0">
                <a:solidFill>
                  <a:schemeClr val="bg1"/>
                </a:solidFill>
              </a:rPr>
              <a:t>，每个章节</a:t>
            </a:r>
            <a:r>
              <a:rPr lang="zh-CN" altLang="en-US" sz="2000" dirty="0" smtClean="0">
                <a:solidFill>
                  <a:schemeClr val="bg1"/>
                </a:solidFill>
              </a:rPr>
              <a:t>都让人受益匪浅，</a:t>
            </a:r>
            <a:br>
              <a:rPr lang="zh-CN" altLang="en-US" sz="2000" dirty="0" smtClean="0">
                <a:solidFill>
                  <a:schemeClr val="bg1"/>
                </a:solidFill>
              </a:rPr>
            </a:br>
            <a:r>
              <a:rPr lang="zh-CN" altLang="en-US" sz="2000" dirty="0" smtClean="0">
                <a:solidFill>
                  <a:schemeClr val="bg1"/>
                </a:solidFill>
              </a:rPr>
              <a:t>也</a:t>
            </a:r>
            <a:r>
              <a:rPr lang="zh-CN" altLang="en-US" sz="2000" dirty="0" smtClean="0">
                <a:solidFill>
                  <a:schemeClr val="bg1"/>
                </a:solidFill>
              </a:rPr>
              <a:t>不单适用学生，适用每一位学习者，</a:t>
            </a:r>
            <a:br>
              <a:rPr lang="zh-CN" altLang="en-US" sz="2000" dirty="0" smtClean="0">
                <a:solidFill>
                  <a:schemeClr val="bg1"/>
                </a:solidFill>
              </a:rPr>
            </a:br>
            <a:r>
              <a:rPr lang="zh-CN" altLang="en-US" sz="2000" dirty="0" smtClean="0">
                <a:solidFill>
                  <a:schemeClr val="bg1"/>
                </a:solidFill>
              </a:rPr>
              <a:t>这个</a:t>
            </a:r>
            <a:r>
              <a:rPr lang="en-US" altLang="zh-CN" sz="2000" dirty="0" smtClean="0">
                <a:solidFill>
                  <a:schemeClr val="bg1"/>
                </a:solidFill>
              </a:rPr>
              <a:t>PPT</a:t>
            </a:r>
            <a:r>
              <a:rPr lang="zh-CN" altLang="en-US" sz="2000" dirty="0">
                <a:solidFill>
                  <a:schemeClr val="bg1"/>
                </a:solidFill>
              </a:rPr>
              <a:t>只是拣选其中</a:t>
            </a:r>
            <a:r>
              <a:rPr lang="en-US" altLang="zh-CN" sz="2000" dirty="0">
                <a:solidFill>
                  <a:schemeClr val="bg1"/>
                </a:solidFill>
              </a:rPr>
              <a:t>3</a:t>
            </a:r>
            <a:r>
              <a:rPr lang="zh-CN" altLang="en-US" sz="2000" dirty="0">
                <a:solidFill>
                  <a:schemeClr val="bg1"/>
                </a:solidFill>
              </a:rPr>
              <a:t>个</a:t>
            </a:r>
            <a:r>
              <a:rPr lang="zh-CN" altLang="en-US" sz="2000" dirty="0" smtClean="0">
                <a:solidFill>
                  <a:schemeClr val="bg1"/>
                </a:solidFill>
              </a:rPr>
              <a:t>章节，</a:t>
            </a:r>
            <a:br>
              <a:rPr lang="zh-CN" altLang="en-US" sz="2000" dirty="0" smtClean="0">
                <a:solidFill>
                  <a:schemeClr val="bg1"/>
                </a:solidFill>
              </a:rPr>
            </a:br>
            <a:r>
              <a:rPr lang="zh-CN" altLang="en-US" sz="2000" dirty="0" smtClean="0">
                <a:solidFill>
                  <a:schemeClr val="bg1"/>
                </a:solidFill>
              </a:rPr>
              <a:t>还有更多干货在原书中，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推荐去读原</a:t>
            </a:r>
            <a:r>
              <a:rPr lang="zh-CN" altLang="en-US" sz="2000" dirty="0" smtClean="0">
                <a:solidFill>
                  <a:schemeClr val="bg1"/>
                </a:solidFill>
              </a:rPr>
              <a:t>书，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强烈推荐！</a:t>
            </a:r>
          </a:p>
        </p:txBody>
      </p:sp>
      <p:sp>
        <p:nvSpPr>
          <p:cNvPr id="3" name="矩形 2"/>
          <p:cNvSpPr/>
          <p:nvPr/>
        </p:nvSpPr>
        <p:spPr>
          <a:xfrm>
            <a:off x="8245476" y="1628776"/>
            <a:ext cx="214312" cy="614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745287" y="1612791"/>
            <a:ext cx="1685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</a:rPr>
              <a:t>读者序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88257" y="6127642"/>
            <a:ext cx="885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大林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36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8" b="8958"/>
          <a:stretch/>
        </p:blipFill>
        <p:spPr>
          <a:xfrm flipH="1">
            <a:off x="972701" y="1857745"/>
            <a:ext cx="3213536" cy="371928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889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StiffHeiHK-UltraBold" panose="00000900000000000000" pitchFamily="50" charset="-120"/>
              <a:ea typeface="MStiffHeiHK-UltraBold" panose="00000900000000000000" pitchFamily="50" charset="-12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50629" y="2131648"/>
            <a:ext cx="365045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800" b="1" spc="-150" dirty="0" smtClean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HOW TO </a:t>
            </a:r>
          </a:p>
          <a:p>
            <a:pPr algn="ctr"/>
            <a:r>
              <a:rPr lang="en-US" altLang="zh-CN" sz="2800" b="1" dirty="0" smtClean="0">
                <a:solidFill>
                  <a:srgbClr val="43975D"/>
                </a:solidFill>
                <a:latin typeface="Adobe Myungjo Std M" panose="02020600000000000000" pitchFamily="18" charset="-128"/>
                <a:ea typeface="GungsuhChe" panose="02030609000101010101" pitchFamily="49" charset="-127"/>
              </a:rPr>
              <a:t>ASK</a:t>
            </a:r>
            <a:r>
              <a:rPr lang="en-US" altLang="zh-CN" sz="2800" b="1" dirty="0" smtClean="0">
                <a:latin typeface="Adobe Myungjo Std M" panose="02020600000000000000" pitchFamily="18" charset="-128"/>
                <a:ea typeface="GungsuhChe" panose="02030609000101010101" pitchFamily="49" charset="-127"/>
              </a:rPr>
              <a:t>  QUESTION</a:t>
            </a:r>
            <a:endParaRPr lang="zh-CN" altLang="en-US" sz="2800" b="1" dirty="0"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57762" y="3434261"/>
            <a:ext cx="3800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 smtClean="0">
                <a:solidFill>
                  <a:srgbClr val="43975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学会提问</a:t>
            </a:r>
            <a:endParaRPr lang="zh-CN" altLang="en-US" sz="6000" b="1" dirty="0">
              <a:solidFill>
                <a:srgbClr val="43975D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314949" y="3534277"/>
            <a:ext cx="3086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314949" y="4455192"/>
            <a:ext cx="3086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43524" y="4522509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pc="300" dirty="0" smtClean="0">
                <a:solidFill>
                  <a:schemeClr val="bg1">
                    <a:lumMod val="65000"/>
                  </a:schemeClr>
                </a:solidFill>
              </a:rPr>
              <a:t>更好地提出问题</a:t>
            </a:r>
            <a:endParaRPr lang="zh-CN" altLang="en-US" spc="3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79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19" y="2155057"/>
            <a:ext cx="4743516" cy="316110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143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49860" y="2860420"/>
            <a:ext cx="3464723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>
                <a:solidFill>
                  <a:schemeClr val="tx2">
                    <a:lumMod val="50000"/>
                  </a:schemeClr>
                </a:solidFill>
              </a:rPr>
              <a:t>为什么老师回答你问题的答案会让你很失望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</a:rPr>
              <a:t>？</a:t>
            </a:r>
            <a:endParaRPr lang="zh-CN" altLang="en-US" sz="2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75621" y="1835411"/>
            <a:ext cx="380047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200" dirty="0" smtClean="0">
                <a:solidFill>
                  <a:srgbClr val="43975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反思问题</a:t>
            </a:r>
            <a:endParaRPr lang="zh-CN" altLang="en-US" sz="6200" dirty="0">
              <a:solidFill>
                <a:srgbClr val="43975D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49860" y="3787427"/>
            <a:ext cx="3464723" cy="870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为什么专业人士不回复你的问题？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249860" y="4695204"/>
            <a:ext cx="3464723" cy="870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为什么私信名人得不到回复？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5386386" y="3730851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386386" y="4659668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386386" y="5565635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221284" y="1224044"/>
            <a:ext cx="4157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spc="-150" dirty="0" smtClean="0">
                <a:solidFill>
                  <a:schemeClr val="bg2">
                    <a:lumMod val="1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PROBLEM</a:t>
            </a:r>
            <a:endParaRPr lang="zh-CN" altLang="en-US" sz="4800" b="1" spc="-150" dirty="0">
              <a:solidFill>
                <a:schemeClr val="bg2">
                  <a:lumMod val="10000"/>
                </a:schemeClr>
              </a:solidFill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2661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45" b="97655" l="10000" r="94063">
                        <a14:foregroundMark x1="37344" y1="85346" x2="80000" y2="82649"/>
                        <a14:foregroundMark x1="88203" y1="92145" x2="38672" y2="94138"/>
                        <a14:foregroundMark x1="38438" y1="95662" x2="36563" y2="75498"/>
                        <a14:foregroundMark x1="33906" y1="81008" x2="32813" y2="93669"/>
                        <a14:foregroundMark x1="82656" y1="82181" x2="84531" y2="90152"/>
                        <a14:foregroundMark x1="85547" y1="83822" x2="89531" y2="92497"/>
                        <a14:foregroundMark x1="85313" y1="80657" x2="91641" y2="921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88" y="1907072"/>
            <a:ext cx="4803176" cy="3200867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143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49860" y="2846132"/>
            <a:ext cx="3464723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</a:rPr>
              <a:t>要问什么，想得到什么结果，解决什么疑惑？</a:t>
            </a:r>
            <a:endParaRPr lang="zh-CN" altLang="en-US" sz="2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75621" y="1835411"/>
            <a:ext cx="380047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200" dirty="0" smtClean="0">
                <a:solidFill>
                  <a:srgbClr val="43975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清楚问题</a:t>
            </a:r>
            <a:endParaRPr lang="zh-CN" altLang="en-US" sz="6200" dirty="0">
              <a:solidFill>
                <a:srgbClr val="43975D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49860" y="3773139"/>
            <a:ext cx="3464723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 smtClean="0"/>
              <a:t>问题是否够具体？能否拆分为更具体的小问题？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249860" y="4680916"/>
            <a:ext cx="3464723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 smtClean="0"/>
              <a:t>自己是否有事先做好准备工作？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5386386" y="3716563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386386" y="4645380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386386" y="5551347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221284" y="1224044"/>
            <a:ext cx="4157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spc="-150" dirty="0" smtClean="0">
                <a:solidFill>
                  <a:schemeClr val="bg2">
                    <a:lumMod val="1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PROBLEM</a:t>
            </a:r>
            <a:endParaRPr lang="zh-CN" altLang="en-US" sz="4800" b="1" spc="-150" dirty="0">
              <a:solidFill>
                <a:schemeClr val="bg2">
                  <a:lumMod val="10000"/>
                </a:schemeClr>
              </a:solidFill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7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16" y="1763971"/>
            <a:ext cx="4741036" cy="336682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143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49860" y="2831844"/>
            <a:ext cx="3464723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</a:rPr>
              <a:t>老师的专业背景是否适合回答你的问题？</a:t>
            </a:r>
            <a:endParaRPr lang="zh-CN" altLang="en-US" sz="2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75621" y="1835411"/>
            <a:ext cx="380047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200" dirty="0" smtClean="0">
                <a:solidFill>
                  <a:srgbClr val="43975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了解对象</a:t>
            </a:r>
            <a:endParaRPr lang="zh-CN" altLang="en-US" sz="6200" dirty="0">
              <a:solidFill>
                <a:srgbClr val="43975D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49860" y="3758851"/>
            <a:ext cx="3464723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 smtClean="0"/>
              <a:t>老师经常通过什么方式与学生互动？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249860" y="4666628"/>
            <a:ext cx="3464723" cy="46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 smtClean="0"/>
              <a:t>老师的性格特点？热情？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5386386" y="3702275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386386" y="4631092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386386" y="5173658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221284" y="1224044"/>
            <a:ext cx="4157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spc="-150" dirty="0" smtClean="0">
                <a:solidFill>
                  <a:schemeClr val="bg2">
                    <a:lumMod val="1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PROBLEM</a:t>
            </a:r>
            <a:endParaRPr lang="zh-CN" altLang="en-US" sz="4800" b="1" spc="-150" dirty="0">
              <a:solidFill>
                <a:schemeClr val="bg2">
                  <a:lumMod val="10000"/>
                </a:schemeClr>
              </a:solidFill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249860" y="5187946"/>
            <a:ext cx="3464723" cy="46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 smtClean="0"/>
              <a:t>老师什么时间比较活跃？</a:t>
            </a:r>
            <a:endParaRPr lang="zh-CN" alt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5386386" y="5694976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44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143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49860" y="2846132"/>
            <a:ext cx="3464723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</a:rPr>
              <a:t>用什么样的方式可以更好更有效地达到目的？</a:t>
            </a:r>
            <a:endParaRPr lang="en-US" altLang="zh-CN" sz="2200" dirty="0" smtClean="0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</a:rPr>
              <a:t>   </a:t>
            </a:r>
            <a:r>
              <a:rPr lang="zh-CN" altLang="en-US" sz="2200" dirty="0" smtClean="0">
                <a:solidFill>
                  <a:srgbClr val="1A7D3C"/>
                </a:solidFill>
              </a:rPr>
              <a:t>各方式优缺点对比图</a:t>
            </a:r>
            <a:endParaRPr lang="zh-CN" altLang="en-US" sz="2200" dirty="0">
              <a:solidFill>
                <a:srgbClr val="1A7D3C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75621" y="1835411"/>
            <a:ext cx="380047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200" dirty="0" smtClean="0">
                <a:solidFill>
                  <a:srgbClr val="43975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提问方式</a:t>
            </a:r>
            <a:endParaRPr lang="zh-CN" altLang="en-US" sz="6200" dirty="0">
              <a:solidFill>
                <a:srgbClr val="43975D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78436" y="4595188"/>
            <a:ext cx="3336927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注意：提问的目的绝不是为了轻而易举地获得答案，而是为了逐步培养自己的思考能力，去形成分析自己的问题、解决问题的思路。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5386386" y="4559652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221284" y="1224044"/>
            <a:ext cx="4157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spc="-150" dirty="0" smtClean="0">
                <a:solidFill>
                  <a:schemeClr val="bg2">
                    <a:lumMod val="1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PROBLEM</a:t>
            </a:r>
            <a:endParaRPr lang="zh-CN" altLang="en-US" sz="4800" b="1" spc="-150" dirty="0">
              <a:solidFill>
                <a:schemeClr val="bg2">
                  <a:lumMod val="10000"/>
                </a:schemeClr>
              </a:solidFill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6515104" y="4186237"/>
            <a:ext cx="542923" cy="0"/>
          </a:xfrm>
          <a:prstGeom prst="straightConnector1">
            <a:avLst/>
          </a:prstGeom>
          <a:ln w="25400">
            <a:solidFill>
              <a:srgbClr val="1A7D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内容占位符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2598605"/>
              </p:ext>
            </p:extLst>
          </p:nvPr>
        </p:nvGraphicFramePr>
        <p:xfrm>
          <a:off x="767524" y="1715601"/>
          <a:ext cx="3499773" cy="352839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66591"/>
                <a:gridCol w="1166591"/>
                <a:gridCol w="1166591"/>
              </a:tblGrid>
              <a:tr h="3572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方式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3763" marR="53763" marT="26881" marB="26881" anchor="ctr">
                    <a:solidFill>
                      <a:srgbClr val="439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优点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3763" marR="53763" marT="26881" marB="26881" anchor="ctr">
                    <a:solidFill>
                      <a:srgbClr val="439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缺点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3763" marR="53763" marT="26881" marB="26881" anchor="ctr">
                    <a:solidFill>
                      <a:srgbClr val="43975D"/>
                    </a:solidFill>
                  </a:tcPr>
                </a:tc>
              </a:tr>
              <a:tr h="792782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QQ/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微信 微博私信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3763" marR="53763" marT="26881" marB="2688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便捷，容易在线互动，方便查阅对话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3763" marR="53763" marT="26881" marB="2688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没有面对面深入交谈，上线时间一般不会很长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3763" marR="53763" marT="26881" marB="2688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79278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Email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3763" marR="53763" marT="26881" marB="2688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能深入系统表达观点，被问者有足够思考时间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3763" marR="53763" marT="26881" marB="2688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不一定能及时回复，容易被当做垃圾邮件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3763" marR="53763" marT="26881" marB="26881" anchor="ctr"/>
                </a:tc>
              </a:tr>
              <a:tr h="79278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专业论坛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3763" marR="53763" marT="26881" marB="2688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看到问题的人更多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3763" marR="53763" marT="26881" marB="2688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不适合涉及隐私的问题，回答也可能参差不齐。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3763" marR="53763" marT="26881" marB="2688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79278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专门答疑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3763" marR="53763" marT="26881" marB="2688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可以长时间充分当面交路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3763" marR="53763" marT="26881" marB="2688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机会难得，多留意被问者行程安排，充分准备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3763" marR="53763" marT="26881" marB="26881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39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46" y="1985963"/>
            <a:ext cx="5018797" cy="334749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889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957762" y="3448549"/>
            <a:ext cx="3800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 smtClean="0">
                <a:solidFill>
                  <a:srgbClr val="679AC9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学会学习</a:t>
            </a:r>
            <a:endParaRPr lang="zh-CN" altLang="en-US" sz="6000" b="1" dirty="0">
              <a:solidFill>
                <a:srgbClr val="679AC9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07781" y="2131648"/>
            <a:ext cx="355758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800" b="1" spc="-150" dirty="0" smtClean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HOW TO </a:t>
            </a:r>
          </a:p>
          <a:p>
            <a:r>
              <a:rPr lang="en-US" altLang="zh-CN" sz="2800" b="1" dirty="0" smtClean="0">
                <a:solidFill>
                  <a:schemeClr val="accent1"/>
                </a:solidFill>
                <a:latin typeface="Adobe Myungjo Std M" panose="02020600000000000000" pitchFamily="18" charset="-128"/>
                <a:ea typeface="GungsuhChe" panose="02030609000101010101" pitchFamily="49" charset="-127"/>
              </a:rPr>
              <a:t>STUDY</a:t>
            </a:r>
            <a:r>
              <a:rPr lang="en-US" altLang="zh-CN" sz="2800" b="1" dirty="0" smtClean="0">
                <a:latin typeface="Adobe Myungjo Std M" panose="02020600000000000000" pitchFamily="18" charset="-128"/>
                <a:ea typeface="GungsuhChe" panose="02030609000101010101" pitchFamily="49" charset="-127"/>
              </a:rPr>
              <a:t>  BETTER</a:t>
            </a:r>
            <a:endParaRPr lang="zh-CN" altLang="en-US" sz="2800" b="1" dirty="0"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314949" y="3548565"/>
            <a:ext cx="3086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314949" y="4469480"/>
            <a:ext cx="3086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343524" y="4536797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pc="300" dirty="0" smtClean="0">
                <a:solidFill>
                  <a:schemeClr val="bg1">
                    <a:lumMod val="65000"/>
                  </a:schemeClr>
                </a:solidFill>
              </a:rPr>
              <a:t>更高效地学习方法</a:t>
            </a:r>
            <a:endParaRPr lang="zh-CN" altLang="en-US" spc="3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17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143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49860" y="2846132"/>
            <a:ext cx="3464723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</a:rPr>
              <a:t>平时敷衍了事，考试周再死记硬背？</a:t>
            </a:r>
            <a:endParaRPr lang="zh-CN" altLang="en-US" sz="2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75621" y="1835411"/>
            <a:ext cx="380047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200" dirty="0" smtClean="0">
                <a:solidFill>
                  <a:srgbClr val="679AC9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反思学习</a:t>
            </a:r>
            <a:endParaRPr lang="zh-CN" altLang="en-US" sz="6200" dirty="0">
              <a:solidFill>
                <a:srgbClr val="679AC9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49860" y="3773139"/>
            <a:ext cx="3464723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 smtClean="0"/>
              <a:t>明明很努力，成绩却总是提不上去？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249860" y="4680916"/>
            <a:ext cx="3464723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 smtClean="0"/>
              <a:t>学期一过，学过的知识也顺带忘光了？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5386386" y="3716563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386386" y="4645380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386386" y="5551347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221284" y="1295484"/>
            <a:ext cx="4157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600" b="1" spc="-300" dirty="0" smtClean="0">
                <a:solidFill>
                  <a:schemeClr val="bg2">
                    <a:lumMod val="1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LEARNING</a:t>
            </a:r>
            <a:endParaRPr lang="zh-CN" altLang="en-US" sz="4600" b="1" spc="-300" dirty="0">
              <a:solidFill>
                <a:schemeClr val="bg2">
                  <a:lumMod val="10000"/>
                </a:schemeClr>
              </a:solidFill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39902" y="5669361"/>
            <a:ext cx="3900487" cy="65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 smtClean="0">
                <a:solidFill>
                  <a:schemeClr val="bg1">
                    <a:lumMod val="65000"/>
                  </a:schemeClr>
                </a:solidFill>
              </a:rPr>
              <a:t>学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得累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——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忘得快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——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用得少</a:t>
            </a:r>
          </a:p>
          <a:p>
            <a:pPr algn="ctr">
              <a:lnSpc>
                <a:spcPct val="120000"/>
              </a:lnSpc>
            </a:pP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中</a:t>
            </a:r>
            <a:r>
              <a:rPr lang="zh-CN" altLang="en-US" sz="1600" dirty="0" smtClean="0">
                <a:solidFill>
                  <a:schemeClr val="bg1">
                    <a:lumMod val="65000"/>
                  </a:schemeClr>
                </a:solidFill>
              </a:rPr>
              <a:t>枪？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5" name="Picture 2" descr="http://distribute.quanjing.com/top-742968.jpg?seid=Dg9WltC0mJK2ohX0B3aWmJb8mtj8FhX8FdmWmhWYmdeZltiTmJuGmtq6ndy6mdD8mhW%3d06925cf5fe9264265a5f09c41f8207c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64" b="93727" l="9823" r="8990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418" y="1295484"/>
            <a:ext cx="2930165" cy="4397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76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143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49860" y="2817556"/>
            <a:ext cx="35226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</a:rPr>
              <a:t>整体式学习室加拿大大学生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</a:rPr>
              <a:t>Scoutt Young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</a:rPr>
              <a:t>总结的一套学习理论，他曾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</a:rPr>
              <a:t>10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</a:rPr>
              <a:t>天搞定线性代数，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</a:rPr>
              <a:t>12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</a:rPr>
              <a:t>个月内自学完成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</a:rPr>
              <a:t>4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</a:rPr>
              <a:t>年麻雀理工学院计算机科学的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</a:rPr>
              <a:t>33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</a:rPr>
              <a:t>门课程。具体学习方法可参考他的</a:t>
            </a:r>
            <a:r>
              <a:rPr lang="zh-CN" altLang="en-US" sz="2000" dirty="0" smtClean="0">
                <a:solidFill>
                  <a:schemeClr val="tx2">
                    <a:lumMod val="50000"/>
                  </a:schemeClr>
                </a:solidFill>
              </a:rPr>
              <a:t>书</a:t>
            </a:r>
            <a:r>
              <a:rPr lang="en-US" altLang="zh-CN" sz="2000" dirty="0" smtClean="0">
                <a:solidFill>
                  <a:schemeClr val="tx2">
                    <a:lumMod val="50000"/>
                  </a:schemeClr>
                </a:solidFill>
              </a:rPr>
              <a:t>《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</a:rPr>
              <a:t>如何高效学习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</a:rPr>
              <a:t>》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</a:rPr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89909" y="1964003"/>
            <a:ext cx="3800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 smtClean="0">
                <a:solidFill>
                  <a:srgbClr val="679AC9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整体式学习</a:t>
            </a:r>
            <a:endParaRPr lang="zh-CN" altLang="en-US" sz="5400" dirty="0">
              <a:solidFill>
                <a:srgbClr val="679AC9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206996" y="1424076"/>
            <a:ext cx="4157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600" b="1" spc="-150" dirty="0" smtClean="0">
                <a:solidFill>
                  <a:schemeClr val="bg2">
                    <a:lumMod val="1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LEARNING</a:t>
            </a:r>
            <a:endParaRPr lang="zh-CN" altLang="en-US" sz="4600" b="1" spc="-150" dirty="0">
              <a:solidFill>
                <a:schemeClr val="bg2">
                  <a:lumMod val="10000"/>
                </a:schemeClr>
              </a:solidFill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66" y="1647200"/>
            <a:ext cx="2725675" cy="384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31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26" y="1952634"/>
            <a:ext cx="3741108" cy="257557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143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49860" y="2817556"/>
            <a:ext cx="34083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2">
                    <a:lumMod val="50000"/>
                  </a:schemeClr>
                </a:solidFill>
              </a:rPr>
              <a:t>如果说我们传统的机械式学习室将不同学科的知识放进不同的盒子，那么整体式学习就是将不同学科的知识串联成型融为一体，使各个学科的知识相互联系。</a:t>
            </a:r>
            <a:endParaRPr lang="zh-CN" altLang="en-US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89909" y="1964003"/>
            <a:ext cx="3800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 smtClean="0">
                <a:solidFill>
                  <a:srgbClr val="679AC9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整体式学习</a:t>
            </a:r>
            <a:endParaRPr lang="zh-CN" altLang="en-US" sz="5400" dirty="0">
              <a:solidFill>
                <a:srgbClr val="679AC9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206996" y="1424076"/>
            <a:ext cx="4157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600" b="1" spc="-150" dirty="0" smtClean="0">
                <a:solidFill>
                  <a:schemeClr val="bg2">
                    <a:lumMod val="1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LEARNING</a:t>
            </a:r>
            <a:endParaRPr lang="zh-CN" altLang="en-US" sz="4600" b="1" spc="-150" dirty="0">
              <a:solidFill>
                <a:schemeClr val="bg2">
                  <a:lumMod val="10000"/>
                </a:schemeClr>
              </a:solidFill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714500" y="3153628"/>
            <a:ext cx="628650" cy="62865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语文</a:t>
            </a:r>
          </a:p>
        </p:txBody>
      </p:sp>
      <p:sp>
        <p:nvSpPr>
          <p:cNvPr id="14" name="椭圆 13"/>
          <p:cNvSpPr/>
          <p:nvPr/>
        </p:nvSpPr>
        <p:spPr>
          <a:xfrm>
            <a:off x="3042009" y="3212732"/>
            <a:ext cx="432536" cy="432536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3344861" y="4131327"/>
            <a:ext cx="396877" cy="396877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459036" y="4202764"/>
            <a:ext cx="396877" cy="396877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89322" y="4029075"/>
            <a:ext cx="499129" cy="499129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317623" y="3734450"/>
            <a:ext cx="396877" cy="396877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920746" y="3284249"/>
            <a:ext cx="396877" cy="396877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40218" y="2423455"/>
            <a:ext cx="499129" cy="499129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375364" y="2628900"/>
            <a:ext cx="343895" cy="343895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506780" y="1765564"/>
            <a:ext cx="396877" cy="396877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94087" y="2551282"/>
            <a:ext cx="499129" cy="499129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09277" y="4217052"/>
            <a:ext cx="553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管理</a:t>
            </a:r>
            <a:endParaRPr lang="zh-CN" altLang="en-US" sz="1200" dirty="0"/>
          </a:p>
        </p:txBody>
      </p:sp>
      <p:sp>
        <p:nvSpPr>
          <p:cNvPr id="25" name="文本框 24"/>
          <p:cNvSpPr txBox="1"/>
          <p:nvPr/>
        </p:nvSpPr>
        <p:spPr>
          <a:xfrm>
            <a:off x="3021010" y="3318937"/>
            <a:ext cx="553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英语</a:t>
            </a:r>
            <a:endParaRPr lang="zh-CN" altLang="en-US" sz="12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424939" y="4286783"/>
            <a:ext cx="553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政治</a:t>
            </a:r>
            <a:endParaRPr lang="zh-CN" altLang="en-US" sz="1200" dirty="0"/>
          </a:p>
        </p:txBody>
      </p:sp>
      <p:sp>
        <p:nvSpPr>
          <p:cNvPr id="27" name="文本框 26"/>
          <p:cNvSpPr txBox="1"/>
          <p:nvPr/>
        </p:nvSpPr>
        <p:spPr>
          <a:xfrm>
            <a:off x="1284840" y="3818303"/>
            <a:ext cx="553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数学</a:t>
            </a:r>
            <a:endParaRPr lang="zh-CN" altLang="en-US" sz="1200" dirty="0"/>
          </a:p>
        </p:txBody>
      </p:sp>
      <p:sp>
        <p:nvSpPr>
          <p:cNvPr id="28" name="文本框 27"/>
          <p:cNvSpPr txBox="1"/>
          <p:nvPr/>
        </p:nvSpPr>
        <p:spPr>
          <a:xfrm>
            <a:off x="869688" y="3360878"/>
            <a:ext cx="553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哲学</a:t>
            </a:r>
            <a:endParaRPr lang="zh-CN" altLang="en-US" sz="1200" dirty="0"/>
          </a:p>
        </p:txBody>
      </p:sp>
      <p:sp>
        <p:nvSpPr>
          <p:cNvPr id="29" name="文本框 28"/>
          <p:cNvSpPr txBox="1"/>
          <p:nvPr/>
        </p:nvSpPr>
        <p:spPr>
          <a:xfrm>
            <a:off x="1327874" y="2687307"/>
            <a:ext cx="553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/>
              <a:t>物理</a:t>
            </a:r>
            <a:endParaRPr lang="zh-CN" altLang="en-US" sz="1100" dirty="0"/>
          </a:p>
        </p:txBody>
      </p:sp>
      <p:sp>
        <p:nvSpPr>
          <p:cNvPr id="30" name="文本框 29"/>
          <p:cNvSpPr txBox="1"/>
          <p:nvPr/>
        </p:nvSpPr>
        <p:spPr>
          <a:xfrm>
            <a:off x="2468033" y="1825502"/>
            <a:ext cx="553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化学</a:t>
            </a:r>
            <a:endParaRPr lang="zh-CN" altLang="en-US" sz="1200" dirty="0"/>
          </a:p>
        </p:txBody>
      </p:sp>
      <p:sp>
        <p:nvSpPr>
          <p:cNvPr id="31" name="文本框 30"/>
          <p:cNvSpPr txBox="1"/>
          <p:nvPr/>
        </p:nvSpPr>
        <p:spPr>
          <a:xfrm>
            <a:off x="4033015" y="2611000"/>
            <a:ext cx="400110" cy="457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400" dirty="0" smtClean="0"/>
              <a:t>营销</a:t>
            </a:r>
            <a:endParaRPr lang="zh-CN" altLang="en-US" sz="1400" dirty="0"/>
          </a:p>
        </p:txBody>
      </p:sp>
      <p:sp>
        <p:nvSpPr>
          <p:cNvPr id="32" name="文本框 31"/>
          <p:cNvSpPr txBox="1"/>
          <p:nvPr/>
        </p:nvSpPr>
        <p:spPr>
          <a:xfrm>
            <a:off x="436171" y="4069410"/>
            <a:ext cx="400110" cy="457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400" dirty="0" smtClean="0"/>
              <a:t>历史</a:t>
            </a:r>
            <a:endParaRPr lang="zh-CN" altLang="en-US" sz="1400" dirty="0"/>
          </a:p>
        </p:txBody>
      </p:sp>
      <p:sp>
        <p:nvSpPr>
          <p:cNvPr id="33" name="文本框 32"/>
          <p:cNvSpPr txBox="1"/>
          <p:nvPr/>
        </p:nvSpPr>
        <p:spPr>
          <a:xfrm>
            <a:off x="580434" y="2470551"/>
            <a:ext cx="400110" cy="457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400" dirty="0" smtClean="0"/>
              <a:t>法律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5941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78" b="83706" l="9943" r="89773">
                        <a14:foregroundMark x1="75852" y1="9585" x2="82955" y2="16933"/>
                        <a14:foregroundMark x1="74148" y1="8946" x2="81818" y2="13738"/>
                      </a14:backgroundRemoval>
                    </a14:imgEffect>
                    <a14:imgEffect>
                      <a14:saturation sat="2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/>
        </p:blipFill>
        <p:spPr>
          <a:xfrm flipH="1">
            <a:off x="671158" y="1918582"/>
            <a:ext cx="4672366" cy="387808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889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957762" y="3448549"/>
            <a:ext cx="3800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 smtClean="0">
                <a:solidFill>
                  <a:srgbClr val="F0941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使用网络</a:t>
            </a:r>
            <a:endParaRPr lang="zh-CN" altLang="en-US" sz="6000" b="1" dirty="0">
              <a:solidFill>
                <a:srgbClr val="F0941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07781" y="2131648"/>
            <a:ext cx="355758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800" b="1" spc="-150" dirty="0" smtClean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HOW TO </a:t>
            </a:r>
          </a:p>
          <a:p>
            <a:r>
              <a:rPr lang="en-US" altLang="zh-CN" sz="2800" b="1" dirty="0" smtClean="0">
                <a:solidFill>
                  <a:srgbClr val="F09410"/>
                </a:solidFill>
                <a:latin typeface="Adobe Myungjo Std M" panose="02020600000000000000" pitchFamily="18" charset="-128"/>
                <a:ea typeface="GungsuhChe" panose="02030609000101010101" pitchFamily="49" charset="-127"/>
              </a:rPr>
              <a:t>USE</a:t>
            </a:r>
            <a:r>
              <a:rPr lang="en-US" altLang="zh-CN" sz="2800" b="1" dirty="0" smtClean="0">
                <a:latin typeface="Adobe Myungjo Std M" panose="02020600000000000000" pitchFamily="18" charset="-128"/>
                <a:ea typeface="GungsuhChe" panose="02030609000101010101" pitchFamily="49" charset="-127"/>
              </a:rPr>
              <a:t>  INTERNET</a:t>
            </a:r>
            <a:endParaRPr lang="zh-CN" altLang="en-US" sz="2800" b="1" dirty="0"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314949" y="3548565"/>
            <a:ext cx="3086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314949" y="4469480"/>
            <a:ext cx="3086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343524" y="4536797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pc="300" dirty="0" smtClean="0">
                <a:solidFill>
                  <a:schemeClr val="bg1">
                    <a:lumMod val="65000"/>
                  </a:schemeClr>
                </a:solidFill>
              </a:rPr>
              <a:t>更好地利用互联网学习</a:t>
            </a:r>
            <a:endParaRPr lang="zh-CN" altLang="en-US" spc="3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53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00" y="1768134"/>
            <a:ext cx="4627022" cy="378490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143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49860" y="2846132"/>
            <a:ext cx="3464723" cy="1538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/>
              <a:t>精品课程，即各高校一流教师参与制作的示范性课程，从此听名校老师们授课不再是难事。</a:t>
            </a:r>
            <a:endParaRPr lang="en-US" altLang="zh-CN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4975621" y="1835411"/>
            <a:ext cx="380047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200" dirty="0" smtClean="0">
                <a:solidFill>
                  <a:srgbClr val="F0941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精品课程</a:t>
            </a:r>
            <a:endParaRPr lang="zh-CN" altLang="en-US" sz="6200" dirty="0">
              <a:solidFill>
                <a:srgbClr val="F0941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78436" y="4595188"/>
            <a:ext cx="3336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百度：“校名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+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精品课程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</a:rPr>
              <a:t>”    “精品课程”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386386" y="4559652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221284" y="1224044"/>
            <a:ext cx="4157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spc="-150" dirty="0" smtClean="0">
                <a:solidFill>
                  <a:schemeClr val="bg2">
                    <a:lumMod val="1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COURSES</a:t>
            </a:r>
            <a:endParaRPr lang="zh-CN" altLang="en-US" sz="4800" b="1" spc="-150" dirty="0">
              <a:solidFill>
                <a:schemeClr val="bg2">
                  <a:lumMod val="10000"/>
                </a:schemeClr>
              </a:solidFill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604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143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49860" y="2846132"/>
            <a:ext cx="3464723" cy="190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/>
              <a:t>网络时代，人人都有机会共享同样的信息和资源。哈佛、耶鲁、麻雀理工大学等世界名牌大学都有共享课程，还带翻译哦。</a:t>
            </a:r>
            <a:endParaRPr lang="en-US" altLang="zh-CN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4975621" y="1835411"/>
            <a:ext cx="380047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200" dirty="0">
                <a:solidFill>
                  <a:srgbClr val="F0941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观</a:t>
            </a:r>
            <a:r>
              <a:rPr lang="zh-CN" altLang="en-US" sz="6200" dirty="0" smtClean="0">
                <a:solidFill>
                  <a:srgbClr val="F0941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公开课</a:t>
            </a:r>
            <a:endParaRPr lang="zh-CN" altLang="en-US" sz="6200" dirty="0">
              <a:solidFill>
                <a:srgbClr val="F0941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78436" y="4874903"/>
            <a:ext cx="3336927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algn="ctr"/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</a:rPr>
              <a:t>大叔推荐：</a:t>
            </a:r>
            <a:r>
              <a:rPr lang="en-US" altLang="zh-CN" sz="2000" dirty="0" smtClean="0">
                <a:solidFill>
                  <a:schemeClr val="bg2">
                    <a:lumMod val="50000"/>
                  </a:schemeClr>
                </a:solidFill>
              </a:rPr>
              <a:t>TED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</a:rPr>
              <a:t>、可汗学院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386386" y="4839367"/>
            <a:ext cx="3030538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221284" y="1224044"/>
            <a:ext cx="4157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spc="-150" dirty="0" smtClean="0">
                <a:solidFill>
                  <a:schemeClr val="bg2">
                    <a:lumMod val="1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COURSES</a:t>
            </a:r>
            <a:endParaRPr lang="zh-CN" altLang="en-US" sz="4800" b="1" spc="-150" dirty="0">
              <a:solidFill>
                <a:schemeClr val="bg2">
                  <a:lumMod val="10000"/>
                </a:schemeClr>
              </a:solidFill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96333" y="5168295"/>
            <a:ext cx="3336927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algn="ctr"/>
            <a:r>
              <a:rPr lang="en-US" altLang="zh-CN" sz="2000" dirty="0" smtClean="0">
                <a:solidFill>
                  <a:schemeClr val="bg2">
                    <a:lumMod val="50000"/>
                  </a:schemeClr>
                </a:solidFill>
              </a:rPr>
              <a:t>Coursera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图片 2" hidden="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1" b="95215" l="3831" r="95678"/>
                    </a14:imgEffect>
                    <a14:imgEffect>
                      <a14:brightnessContrast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7" y="1657350"/>
            <a:ext cx="3769647" cy="37918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60385" y="3030062"/>
            <a:ext cx="2124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09410"/>
                </a:solidFill>
              </a:rPr>
              <a:t>网</a:t>
            </a:r>
            <a:r>
              <a:rPr lang="zh-CN" altLang="en-US" sz="2800" dirty="0" smtClean="0">
                <a:solidFill>
                  <a:srgbClr val="F09410"/>
                </a:solidFill>
              </a:rPr>
              <a:t>易公开课</a:t>
            </a:r>
            <a:endParaRPr lang="zh-CN" altLang="en-US" sz="2800" dirty="0">
              <a:solidFill>
                <a:srgbClr val="F0941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84684" y="2358631"/>
            <a:ext cx="1792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09410"/>
                </a:solidFill>
              </a:rPr>
              <a:t>淘宝大学</a:t>
            </a:r>
            <a:endParaRPr lang="zh-CN" altLang="en-US" sz="2800" dirty="0">
              <a:solidFill>
                <a:srgbClr val="F0941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62945" y="4195896"/>
            <a:ext cx="2124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09410"/>
                </a:solidFill>
              </a:rPr>
              <a:t>新浪公开课</a:t>
            </a:r>
            <a:endParaRPr lang="zh-CN" altLang="en-US" sz="2800" dirty="0">
              <a:solidFill>
                <a:srgbClr val="F0941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44647" y="3976745"/>
            <a:ext cx="1163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腾讯精品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698759" y="2769699"/>
            <a:ext cx="212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学堂在线</a:t>
            </a:r>
            <a:endParaRPr lang="zh-CN" altLang="en-US" sz="2000" dirty="0"/>
          </a:p>
        </p:txBody>
      </p:sp>
      <p:sp>
        <p:nvSpPr>
          <p:cNvPr id="18" name="文本框 17"/>
          <p:cNvSpPr txBox="1"/>
          <p:nvPr/>
        </p:nvSpPr>
        <p:spPr>
          <a:xfrm>
            <a:off x="2927830" y="3638597"/>
            <a:ext cx="212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F09410"/>
                </a:solidFill>
              </a:rPr>
              <a:t>多贝网</a:t>
            </a:r>
            <a:endParaRPr lang="zh-CN" altLang="en-US" sz="2000" dirty="0">
              <a:solidFill>
                <a:srgbClr val="F0941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73602" y="3408062"/>
            <a:ext cx="212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果壳网</a:t>
            </a:r>
            <a:endParaRPr lang="zh-CN" altLang="en-US" sz="2000" dirty="0"/>
          </a:p>
        </p:txBody>
      </p:sp>
      <p:sp>
        <p:nvSpPr>
          <p:cNvPr id="20" name="文本框 19"/>
          <p:cNvSpPr txBox="1"/>
          <p:nvPr/>
        </p:nvSpPr>
        <p:spPr>
          <a:xfrm>
            <a:off x="1951877" y="3408062"/>
            <a:ext cx="212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51</a:t>
            </a:r>
            <a:r>
              <a:rPr lang="zh-CN" altLang="en-US" sz="2000" dirty="0"/>
              <a:t>自学网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770761" y="4585900"/>
            <a:ext cx="212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中国公开课</a:t>
            </a:r>
            <a:endParaRPr lang="zh-CN" altLang="en-US" sz="2000" dirty="0"/>
          </a:p>
        </p:txBody>
      </p:sp>
      <p:sp>
        <p:nvSpPr>
          <p:cNvPr id="22" name="文本框 21"/>
          <p:cNvSpPr txBox="1"/>
          <p:nvPr/>
        </p:nvSpPr>
        <p:spPr>
          <a:xfrm>
            <a:off x="2967387" y="3956599"/>
            <a:ext cx="212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优米网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1174353" y="2760391"/>
            <a:ext cx="212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TED</a:t>
            </a:r>
            <a:endParaRPr lang="zh-CN" altLang="en-US" sz="2000" dirty="0"/>
          </a:p>
        </p:txBody>
      </p:sp>
      <p:sp>
        <p:nvSpPr>
          <p:cNvPr id="24" name="文本框 23"/>
          <p:cNvSpPr txBox="1"/>
          <p:nvPr/>
        </p:nvSpPr>
        <p:spPr>
          <a:xfrm>
            <a:off x="1708058" y="3716986"/>
            <a:ext cx="212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搜狐公开课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2847250" y="2801461"/>
            <a:ext cx="2124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Coursera</a:t>
            </a:r>
            <a:endParaRPr lang="zh-CN" altLang="en-US" sz="16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927830" y="3086671"/>
            <a:ext cx="212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开课吧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1648793" y="2118661"/>
            <a:ext cx="212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沪江英语  </a:t>
            </a:r>
            <a:r>
              <a:rPr lang="en-US" altLang="zh-CN" dirty="0" smtClean="0"/>
              <a:t>YY</a:t>
            </a:r>
            <a:r>
              <a:rPr lang="zh-CN" altLang="en-US" dirty="0" smtClean="0"/>
              <a:t>教育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3125720" y="3379684"/>
            <a:ext cx="2124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一起作业</a:t>
            </a:r>
            <a:endParaRPr lang="zh-CN" altLang="en-US" sz="1600" dirty="0"/>
          </a:p>
        </p:txBody>
      </p:sp>
      <p:sp>
        <p:nvSpPr>
          <p:cNvPr id="7" name="文本框 6"/>
          <p:cNvSpPr txBox="1"/>
          <p:nvPr/>
        </p:nvSpPr>
        <p:spPr>
          <a:xfrm rot="5400000">
            <a:off x="591916" y="3476549"/>
            <a:ext cx="75133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dirty="0" smtClean="0"/>
              <a:t>奇艺</a:t>
            </a:r>
            <a:endParaRPr lang="zh-CN" altLang="en-US" sz="1400" dirty="0"/>
          </a:p>
        </p:txBody>
      </p:sp>
      <p:sp>
        <p:nvSpPr>
          <p:cNvPr id="29" name="文本框 28"/>
          <p:cNvSpPr txBox="1"/>
          <p:nvPr/>
        </p:nvSpPr>
        <p:spPr>
          <a:xfrm rot="4369708">
            <a:off x="774103" y="3752408"/>
            <a:ext cx="548861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dirty="0" smtClean="0"/>
              <a:t>教育</a:t>
            </a:r>
            <a:endParaRPr lang="zh-CN" altLang="en-US" sz="1400" dirty="0"/>
          </a:p>
        </p:txBody>
      </p:sp>
      <p:sp>
        <p:nvSpPr>
          <p:cNvPr id="30" name="文本框 29"/>
          <p:cNvSpPr txBox="1"/>
          <p:nvPr/>
        </p:nvSpPr>
        <p:spPr>
          <a:xfrm>
            <a:off x="2181345" y="4952700"/>
            <a:ext cx="70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OMG</a:t>
            </a:r>
            <a:endParaRPr lang="zh-CN" altLang="en-US" sz="1400" dirty="0"/>
          </a:p>
        </p:txBody>
      </p:sp>
      <p:sp>
        <p:nvSpPr>
          <p:cNvPr id="31" name="文本框 30"/>
          <p:cNvSpPr txBox="1"/>
          <p:nvPr/>
        </p:nvSpPr>
        <p:spPr>
          <a:xfrm rot="20678349">
            <a:off x="2616827" y="4809334"/>
            <a:ext cx="1212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美</a:t>
            </a:r>
            <a:r>
              <a:rPr lang="zh-CN" altLang="en-US" sz="1400" dirty="0"/>
              <a:t>语</a:t>
            </a:r>
          </a:p>
        </p:txBody>
      </p:sp>
      <p:sp>
        <p:nvSpPr>
          <p:cNvPr id="32" name="文本框 31"/>
          <p:cNvSpPr txBox="1"/>
          <p:nvPr/>
        </p:nvSpPr>
        <p:spPr>
          <a:xfrm rot="19716431">
            <a:off x="3034583" y="4717028"/>
            <a:ext cx="662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开讲</a:t>
            </a:r>
            <a:endParaRPr lang="zh-CN" altLang="en-US" sz="1400" dirty="0"/>
          </a:p>
        </p:txBody>
      </p:sp>
      <p:sp>
        <p:nvSpPr>
          <p:cNvPr id="33" name="文本框 32"/>
          <p:cNvSpPr txBox="1"/>
          <p:nvPr/>
        </p:nvSpPr>
        <p:spPr>
          <a:xfrm rot="19395851">
            <a:off x="3335837" y="4528181"/>
            <a:ext cx="662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吧</a:t>
            </a:r>
            <a:endParaRPr lang="zh-CN" altLang="en-US" sz="1400" dirty="0"/>
          </a:p>
        </p:txBody>
      </p:sp>
      <p:sp>
        <p:nvSpPr>
          <p:cNvPr id="34" name="文本框 33"/>
          <p:cNvSpPr txBox="1"/>
          <p:nvPr/>
        </p:nvSpPr>
        <p:spPr>
          <a:xfrm rot="18337930">
            <a:off x="3491594" y="4286915"/>
            <a:ext cx="662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一席</a:t>
            </a:r>
            <a:endParaRPr lang="zh-CN" altLang="en-US" sz="1400" dirty="0"/>
          </a:p>
        </p:txBody>
      </p:sp>
      <p:sp>
        <p:nvSpPr>
          <p:cNvPr id="35" name="文本框 34"/>
          <p:cNvSpPr txBox="1"/>
          <p:nvPr/>
        </p:nvSpPr>
        <p:spPr>
          <a:xfrm>
            <a:off x="1091422" y="3685649"/>
            <a:ext cx="662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09410"/>
                </a:solidFill>
              </a:rPr>
              <a:t>怪杰</a:t>
            </a:r>
            <a:endParaRPr lang="zh-CN" altLang="en-US" dirty="0">
              <a:solidFill>
                <a:srgbClr val="F0941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404142" y="2352575"/>
            <a:ext cx="835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百度营销大学</a:t>
            </a:r>
            <a:endParaRPr lang="zh-CN" altLang="en-US" sz="1400" dirty="0"/>
          </a:p>
        </p:txBody>
      </p:sp>
      <p:sp>
        <p:nvSpPr>
          <p:cNvPr id="38" name="文本框 37"/>
          <p:cNvSpPr txBox="1"/>
          <p:nvPr/>
        </p:nvSpPr>
        <p:spPr>
          <a:xfrm rot="3496207">
            <a:off x="918641" y="4161992"/>
            <a:ext cx="549827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dirty="0" smtClean="0"/>
              <a:t>虎视</a:t>
            </a:r>
            <a:endParaRPr lang="zh-CN" altLang="en-US" sz="1400" dirty="0"/>
          </a:p>
        </p:txBody>
      </p:sp>
      <p:sp>
        <p:nvSpPr>
          <p:cNvPr id="39" name="文本框 38"/>
          <p:cNvSpPr txBox="1"/>
          <p:nvPr/>
        </p:nvSpPr>
        <p:spPr>
          <a:xfrm rot="3022025">
            <a:off x="1107265" y="4447411"/>
            <a:ext cx="600213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dirty="0" smtClean="0"/>
              <a:t>学堂</a:t>
            </a:r>
            <a:endParaRPr lang="zh-CN" altLang="en-US" sz="1400" dirty="0"/>
          </a:p>
        </p:txBody>
      </p:sp>
      <p:sp>
        <p:nvSpPr>
          <p:cNvPr id="40" name="文本框 39"/>
          <p:cNvSpPr txBox="1"/>
          <p:nvPr/>
        </p:nvSpPr>
        <p:spPr>
          <a:xfrm rot="17355001">
            <a:off x="3668282" y="3867636"/>
            <a:ext cx="70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可可</a:t>
            </a:r>
            <a:endParaRPr lang="zh-CN" altLang="en-US" sz="1400" dirty="0"/>
          </a:p>
        </p:txBody>
      </p:sp>
      <p:sp>
        <p:nvSpPr>
          <p:cNvPr id="41" name="文本框 40"/>
          <p:cNvSpPr txBox="1"/>
          <p:nvPr/>
        </p:nvSpPr>
        <p:spPr>
          <a:xfrm rot="17137292">
            <a:off x="3768628" y="3513327"/>
            <a:ext cx="70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英语</a:t>
            </a:r>
            <a:endParaRPr lang="zh-CN" altLang="en-US" sz="1400" dirty="0"/>
          </a:p>
        </p:txBody>
      </p:sp>
      <p:sp>
        <p:nvSpPr>
          <p:cNvPr id="42" name="文本框 41"/>
          <p:cNvSpPr txBox="1"/>
          <p:nvPr/>
        </p:nvSpPr>
        <p:spPr>
          <a:xfrm rot="1635880">
            <a:off x="1436834" y="4768957"/>
            <a:ext cx="70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VOA</a:t>
            </a:r>
            <a:endParaRPr lang="zh-CN" altLang="en-US" sz="1400" dirty="0"/>
          </a:p>
        </p:txBody>
      </p:sp>
      <p:sp>
        <p:nvSpPr>
          <p:cNvPr id="43" name="文本框 42"/>
          <p:cNvSpPr txBox="1"/>
          <p:nvPr/>
        </p:nvSpPr>
        <p:spPr>
          <a:xfrm rot="1213258">
            <a:off x="1765066" y="4911106"/>
            <a:ext cx="70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英语</a:t>
            </a:r>
            <a:endParaRPr lang="zh-CN" altLang="en-US" sz="1400" dirty="0"/>
          </a:p>
        </p:txBody>
      </p:sp>
      <p:sp>
        <p:nvSpPr>
          <p:cNvPr id="44" name="文本框 43"/>
          <p:cNvSpPr txBox="1"/>
          <p:nvPr/>
        </p:nvSpPr>
        <p:spPr>
          <a:xfrm rot="20715586">
            <a:off x="1904324" y="1810688"/>
            <a:ext cx="70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罗辑</a:t>
            </a:r>
            <a:endParaRPr lang="zh-CN" altLang="en-US" sz="1400" dirty="0"/>
          </a:p>
        </p:txBody>
      </p:sp>
      <p:sp>
        <p:nvSpPr>
          <p:cNvPr id="45" name="文本框 44"/>
          <p:cNvSpPr txBox="1"/>
          <p:nvPr/>
        </p:nvSpPr>
        <p:spPr>
          <a:xfrm>
            <a:off x="2277035" y="1778517"/>
            <a:ext cx="70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思维</a:t>
            </a:r>
            <a:endParaRPr lang="zh-CN" altLang="en-US" sz="1400" dirty="0"/>
          </a:p>
        </p:txBody>
      </p:sp>
      <p:sp>
        <p:nvSpPr>
          <p:cNvPr id="46" name="文本框 45"/>
          <p:cNvSpPr txBox="1"/>
          <p:nvPr/>
        </p:nvSpPr>
        <p:spPr>
          <a:xfrm rot="850405">
            <a:off x="2682341" y="1864245"/>
            <a:ext cx="70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晓说</a:t>
            </a:r>
            <a:endParaRPr lang="zh-CN" altLang="en-US" sz="1400" dirty="0"/>
          </a:p>
        </p:txBody>
      </p:sp>
      <p:sp>
        <p:nvSpPr>
          <p:cNvPr id="47" name="文本框 46"/>
          <p:cNvSpPr txBox="1"/>
          <p:nvPr/>
        </p:nvSpPr>
        <p:spPr>
          <a:xfrm rot="6114093">
            <a:off x="812668" y="3096871"/>
            <a:ext cx="36712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dirty="0" smtClean="0"/>
              <a:t>爱</a:t>
            </a:r>
            <a:endParaRPr lang="zh-CN" altLang="en-US" sz="1400" dirty="0"/>
          </a:p>
        </p:txBody>
      </p:sp>
      <p:sp>
        <p:nvSpPr>
          <p:cNvPr id="48" name="文本框 47"/>
          <p:cNvSpPr txBox="1"/>
          <p:nvPr/>
        </p:nvSpPr>
        <p:spPr>
          <a:xfrm rot="17547754">
            <a:off x="819089" y="2698017"/>
            <a:ext cx="5925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dirty="0" smtClean="0"/>
              <a:t>踏浪</a:t>
            </a:r>
            <a:endParaRPr lang="zh-CN" altLang="en-US" sz="1400" dirty="0"/>
          </a:p>
        </p:txBody>
      </p:sp>
      <p:sp>
        <p:nvSpPr>
          <p:cNvPr id="49" name="文本框 48"/>
          <p:cNvSpPr txBox="1"/>
          <p:nvPr/>
        </p:nvSpPr>
        <p:spPr>
          <a:xfrm rot="18141351">
            <a:off x="1023545" y="2418610"/>
            <a:ext cx="522388" cy="313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dirty="0" smtClean="0"/>
              <a:t>100</a:t>
            </a:r>
            <a:endParaRPr lang="zh-CN" altLang="en-US" sz="1400" dirty="0"/>
          </a:p>
        </p:txBody>
      </p:sp>
      <p:sp>
        <p:nvSpPr>
          <p:cNvPr id="50" name="文本框 49"/>
          <p:cNvSpPr txBox="1"/>
          <p:nvPr/>
        </p:nvSpPr>
        <p:spPr>
          <a:xfrm rot="18950290">
            <a:off x="1244174" y="2112930"/>
            <a:ext cx="5925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dirty="0" smtClean="0"/>
              <a:t>土豆</a:t>
            </a:r>
            <a:endParaRPr lang="zh-CN" altLang="en-US" sz="1400" dirty="0"/>
          </a:p>
        </p:txBody>
      </p:sp>
      <p:sp>
        <p:nvSpPr>
          <p:cNvPr id="51" name="文本框 50"/>
          <p:cNvSpPr txBox="1"/>
          <p:nvPr/>
        </p:nvSpPr>
        <p:spPr>
          <a:xfrm rot="19870361">
            <a:off x="1517817" y="1956334"/>
            <a:ext cx="5925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dirty="0" smtClean="0"/>
              <a:t>教育</a:t>
            </a:r>
            <a:endParaRPr lang="zh-CN" altLang="en-US" sz="1400" dirty="0"/>
          </a:p>
        </p:txBody>
      </p:sp>
      <p:sp>
        <p:nvSpPr>
          <p:cNvPr id="52" name="文本框 51"/>
          <p:cNvSpPr txBox="1"/>
          <p:nvPr/>
        </p:nvSpPr>
        <p:spPr>
          <a:xfrm rot="2443709">
            <a:off x="3393829" y="2308907"/>
            <a:ext cx="70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秦友</a:t>
            </a:r>
            <a:endParaRPr lang="zh-CN" altLang="en-US" sz="1400" dirty="0"/>
          </a:p>
        </p:txBody>
      </p:sp>
      <p:sp>
        <p:nvSpPr>
          <p:cNvPr id="53" name="文本框 52"/>
          <p:cNvSpPr txBox="1"/>
          <p:nvPr/>
        </p:nvSpPr>
        <p:spPr>
          <a:xfrm rot="3284658">
            <a:off x="3639278" y="2579719"/>
            <a:ext cx="70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团</a:t>
            </a:r>
            <a:endParaRPr lang="zh-CN" altLang="en-US" sz="1400" dirty="0"/>
          </a:p>
        </p:txBody>
      </p:sp>
      <p:sp>
        <p:nvSpPr>
          <p:cNvPr id="54" name="文本框 53"/>
          <p:cNvSpPr txBox="1"/>
          <p:nvPr/>
        </p:nvSpPr>
        <p:spPr>
          <a:xfrm rot="5016024">
            <a:off x="3751913" y="3135048"/>
            <a:ext cx="70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青语</a:t>
            </a:r>
            <a:endParaRPr lang="zh-CN" altLang="en-US" sz="1400" dirty="0"/>
          </a:p>
        </p:txBody>
      </p:sp>
      <p:sp>
        <p:nvSpPr>
          <p:cNvPr id="55" name="文本框 54"/>
          <p:cNvSpPr txBox="1"/>
          <p:nvPr/>
        </p:nvSpPr>
        <p:spPr>
          <a:xfrm rot="3748994">
            <a:off x="3691740" y="2807874"/>
            <a:ext cx="70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秋夜</a:t>
            </a:r>
            <a:endParaRPr lang="zh-CN" altLang="en-US" sz="1400" dirty="0"/>
          </a:p>
        </p:txBody>
      </p:sp>
      <p:sp>
        <p:nvSpPr>
          <p:cNvPr id="57" name="文本框 56"/>
          <p:cNvSpPr txBox="1"/>
          <p:nvPr/>
        </p:nvSpPr>
        <p:spPr>
          <a:xfrm>
            <a:off x="1229626" y="3962205"/>
            <a:ext cx="938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微课网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3755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143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49860" y="2846132"/>
            <a:ext cx="34647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/>
              <a:t>在信息爆炸的今天，掌握基本的信息检索技巧不仅能替我们节省时间而且还</a:t>
            </a:r>
            <a:r>
              <a:rPr lang="zh-CN" altLang="en-US" sz="2000" dirty="0" smtClean="0"/>
              <a:t>可以帮助我们更准确地查找所需资料。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4975621" y="1835411"/>
            <a:ext cx="380047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200" dirty="0" smtClean="0">
                <a:solidFill>
                  <a:srgbClr val="F0941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搜索技巧</a:t>
            </a:r>
            <a:endParaRPr lang="zh-CN" altLang="en-US" sz="6200" dirty="0">
              <a:solidFill>
                <a:srgbClr val="F0941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27426" y="1330984"/>
            <a:ext cx="41576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spc="-300" dirty="0" smtClean="0">
                <a:solidFill>
                  <a:schemeClr val="bg2">
                    <a:lumMod val="1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SEARCHING</a:t>
            </a:r>
            <a:endParaRPr lang="zh-CN" altLang="en-US" sz="4400" b="1" spc="-300" dirty="0">
              <a:solidFill>
                <a:schemeClr val="bg2">
                  <a:lumMod val="10000"/>
                </a:schemeClr>
              </a:solidFill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451" y="1273832"/>
            <a:ext cx="2582860" cy="387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05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616318" y="1639542"/>
            <a:ext cx="5763437" cy="4785479"/>
            <a:chOff x="616318" y="1255374"/>
            <a:chExt cx="5763437" cy="4785479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34" t="15062" r="11790" b="8159"/>
            <a:stretch/>
          </p:blipFill>
          <p:spPr>
            <a:xfrm>
              <a:off x="616318" y="1255374"/>
              <a:ext cx="5763437" cy="478547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364" t="12502" r="39880" b="48975"/>
            <a:stretch>
              <a:fillRect/>
            </a:stretch>
          </p:blipFill>
          <p:spPr>
            <a:xfrm>
              <a:off x="791396" y="1420564"/>
              <a:ext cx="2765407" cy="2765407"/>
            </a:xfrm>
            <a:custGeom>
              <a:avLst/>
              <a:gdLst>
                <a:gd name="connsiteX0" fmla="*/ 1246186 w 2492372"/>
                <a:gd name="connsiteY0" fmla="*/ 0 h 2492372"/>
                <a:gd name="connsiteX1" fmla="*/ 2492372 w 2492372"/>
                <a:gd name="connsiteY1" fmla="*/ 1246186 h 2492372"/>
                <a:gd name="connsiteX2" fmla="*/ 1246186 w 2492372"/>
                <a:gd name="connsiteY2" fmla="*/ 2492372 h 2492372"/>
                <a:gd name="connsiteX3" fmla="*/ 0 w 2492372"/>
                <a:gd name="connsiteY3" fmla="*/ 1246186 h 2492372"/>
                <a:gd name="connsiteX4" fmla="*/ 1246186 w 2492372"/>
                <a:gd name="connsiteY4" fmla="*/ 0 h 249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2372" h="2492372">
                  <a:moveTo>
                    <a:pt x="1246186" y="0"/>
                  </a:moveTo>
                  <a:cubicBezTo>
                    <a:pt x="1934436" y="0"/>
                    <a:pt x="2492372" y="557936"/>
                    <a:pt x="2492372" y="1246186"/>
                  </a:cubicBezTo>
                  <a:cubicBezTo>
                    <a:pt x="2492372" y="1934436"/>
                    <a:pt x="1934436" y="2492372"/>
                    <a:pt x="1246186" y="2492372"/>
                  </a:cubicBezTo>
                  <a:cubicBezTo>
                    <a:pt x="557936" y="2492372"/>
                    <a:pt x="0" y="1934436"/>
                    <a:pt x="0" y="1246186"/>
                  </a:cubicBezTo>
                  <a:cubicBezTo>
                    <a:pt x="0" y="557936"/>
                    <a:pt x="557936" y="0"/>
                    <a:pt x="1246186" y="0"/>
                  </a:cubicBezTo>
                  <a:close/>
                </a:path>
              </a:pathLst>
            </a:custGeom>
          </p:spPr>
        </p:pic>
        <p:sp>
          <p:nvSpPr>
            <p:cNvPr id="12" name="文本框 11"/>
            <p:cNvSpPr txBox="1"/>
            <p:nvPr/>
          </p:nvSpPr>
          <p:spPr>
            <a:xfrm>
              <a:off x="964396" y="3216859"/>
              <a:ext cx="38068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格式工厂 </a:t>
              </a:r>
              <a:r>
                <a:rPr lang="en-US" altLang="zh-CN" sz="1600" dirty="0" smtClean="0"/>
                <a:t>site:skycn.com</a:t>
              </a:r>
              <a:endParaRPr lang="zh-CN" altLang="en-US" sz="1600" dirty="0"/>
            </a:p>
          </p:txBody>
        </p:sp>
        <p:sp>
          <p:nvSpPr>
            <p:cNvPr id="13" name="椭圆 12"/>
            <p:cNvSpPr/>
            <p:nvPr/>
          </p:nvSpPr>
          <p:spPr>
            <a:xfrm>
              <a:off x="777108" y="1420563"/>
              <a:ext cx="2765407" cy="276540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"/>
                  </a:schemeClr>
                </a:gs>
                <a:gs pos="100000">
                  <a:schemeClr val="bg1">
                    <a:alpha val="88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 hidden="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92"/>
          <a:stretch/>
        </p:blipFill>
        <p:spPr>
          <a:xfrm rot="17792841" flipH="1">
            <a:off x="888598" y="2303106"/>
            <a:ext cx="4200085" cy="256973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143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78436" y="2846132"/>
            <a:ext cx="3351215" cy="319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/>
              <a:t>intitle:</a:t>
            </a:r>
            <a:r>
              <a:rPr lang="zh-CN" altLang="en-US" sz="2000" dirty="0"/>
              <a:t>将搜索范围限定标题中。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例：会计从业资格考试 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intitle: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论坛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site:</a:t>
            </a:r>
            <a:r>
              <a:rPr lang="zh-CN" altLang="en-US" sz="2000" dirty="0"/>
              <a:t>将搜索范围规定在特定的站点中。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例：格式工厂 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site: skycn.com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Filetype:</a:t>
            </a:r>
            <a:r>
              <a:rPr lang="zh-CN" altLang="en-US" sz="2000" dirty="0"/>
              <a:t>查找特定格式的文档信息。 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例：房屋租凭合同 </a:t>
            </a:r>
            <a:r>
              <a:rPr lang="en-US" altLang="zh-CN" sz="1600" dirty="0" smtClean="0">
                <a:solidFill>
                  <a:schemeClr val="bg1">
                    <a:lumMod val="65000"/>
                  </a:schemeClr>
                </a:solidFill>
              </a:rPr>
              <a:t>filetype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lang="en-US" altLang="zh-CN" sz="16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doc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75621" y="1835411"/>
            <a:ext cx="380047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200" dirty="0">
                <a:solidFill>
                  <a:srgbClr val="F0941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基础</a:t>
            </a:r>
            <a:r>
              <a:rPr lang="zh-CN" altLang="en-US" sz="6200" dirty="0" smtClean="0">
                <a:solidFill>
                  <a:srgbClr val="F0941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技巧</a:t>
            </a:r>
            <a:endParaRPr lang="zh-CN" altLang="en-US" sz="6200" dirty="0">
              <a:solidFill>
                <a:srgbClr val="F0941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27426" y="1330984"/>
            <a:ext cx="41576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spc="-300" dirty="0" smtClean="0">
                <a:solidFill>
                  <a:schemeClr val="bg2">
                    <a:lumMod val="1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SEARCHING</a:t>
            </a:r>
            <a:endParaRPr lang="zh-CN" altLang="en-US" sz="4400" b="1" spc="-300" dirty="0">
              <a:solidFill>
                <a:schemeClr val="bg2">
                  <a:lumMod val="10000"/>
                </a:schemeClr>
              </a:solidFill>
              <a:latin typeface="Adobe Myungjo Std M" panose="02020600000000000000" pitchFamily="18" charset="-128"/>
              <a:ea typeface="GungsuhChe" panose="0203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387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87660" y="2435884"/>
            <a:ext cx="4356341" cy="1436298"/>
          </a:xfrm>
          <a:prstGeom prst="rect">
            <a:avLst/>
          </a:prstGeom>
          <a:solidFill>
            <a:srgbClr val="71A9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72333" y="2680307"/>
            <a:ext cx="6793301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950" spc="-113" dirty="0">
                <a:solidFill>
                  <a:prstClr val="white"/>
                </a:solidFill>
                <a:latin typeface="MStiffHeiHK-UltraBold" panose="00000900000000000000" pitchFamily="50" charset="-120"/>
                <a:ea typeface="MStiffHeiHK-UltraBold" panose="00000900000000000000" pitchFamily="50" charset="-120"/>
              </a:rPr>
              <a:t>PPT NOTES</a:t>
            </a:r>
            <a:endParaRPr lang="zh-CN" altLang="en-US" sz="4950" spc="-113" dirty="0">
              <a:solidFill>
                <a:prstClr val="white"/>
              </a:solidFill>
              <a:latin typeface="MStiffHeiHK-UltraBold" panose="00000900000000000000" pitchFamily="50" charset="-120"/>
              <a:ea typeface="MStiffHeiHK-UltraBold" panose="00000900000000000000" pitchFamily="50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64566" y="3118120"/>
            <a:ext cx="3441940" cy="754062"/>
          </a:xfrm>
          <a:prstGeom prst="rect">
            <a:avLst/>
          </a:prstGeom>
          <a:solidFill>
            <a:srgbClr val="71A9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76711" y="3156940"/>
            <a:ext cx="3692105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 Design By @C</a:t>
            </a:r>
            <a:r>
              <a:rPr lang="zh-CN" altLang="en-US" sz="16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大林同志</a:t>
            </a:r>
            <a:endParaRPr lang="en-US" altLang="zh-CN" sz="16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 成长 每天进步一点点 秦友团  </a:t>
            </a:r>
          </a:p>
        </p:txBody>
      </p:sp>
      <p:sp>
        <p:nvSpPr>
          <p:cNvPr id="20" name="矩形 19"/>
          <p:cNvSpPr/>
          <p:nvPr/>
        </p:nvSpPr>
        <p:spPr>
          <a:xfrm>
            <a:off x="4153618" y="2447684"/>
            <a:ext cx="452887" cy="619817"/>
          </a:xfrm>
          <a:prstGeom prst="rect">
            <a:avLst/>
          </a:prstGeom>
          <a:solidFill>
            <a:srgbClr val="71A9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25746" y="2419819"/>
            <a:ext cx="5171534" cy="549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700" dirty="0">
                <a:solidFill>
                  <a:srgbClr val="71A98D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大林</a:t>
            </a:r>
            <a:r>
              <a:rPr lang="en-US" altLang="zh-CN" sz="2700" dirty="0">
                <a:solidFill>
                  <a:srgbClr val="71A98D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PPT</a:t>
            </a:r>
            <a:r>
              <a:rPr lang="zh-CN" altLang="en-US" sz="2700" dirty="0">
                <a:solidFill>
                  <a:srgbClr val="71A98D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读书笔记</a:t>
            </a:r>
          </a:p>
        </p:txBody>
      </p:sp>
    </p:spTree>
    <p:extLst>
      <p:ext uri="{BB962C8B-B14F-4D97-AF65-F5344CB8AC3E}">
        <p14:creationId xmlns:p14="http://schemas.microsoft.com/office/powerpoint/2010/main" val="81556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14300" dir="1080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68485" y="2183775"/>
            <a:ext cx="390048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获取</a:t>
            </a:r>
            <a:r>
              <a:rPr lang="en-US" altLang="zh-CN" sz="2400" dirty="0"/>
              <a:t>——</a:t>
            </a:r>
            <a:r>
              <a:rPr lang="zh-CN" altLang="en-US" sz="2400" dirty="0"/>
              <a:t>通过图书、网络等获取学习资源</a:t>
            </a:r>
          </a:p>
          <a:p>
            <a:r>
              <a:rPr lang="zh-CN" altLang="en-US" sz="2400" dirty="0"/>
              <a:t>理解</a:t>
            </a:r>
            <a:r>
              <a:rPr lang="en-US" altLang="zh-CN" sz="2400" dirty="0"/>
              <a:t>——</a:t>
            </a:r>
            <a:r>
              <a:rPr lang="zh-CN" altLang="en-US" sz="2400" dirty="0"/>
              <a:t>理解相关资料的内容、语法、词汇、背景</a:t>
            </a:r>
          </a:p>
          <a:p>
            <a:r>
              <a:rPr lang="zh-CN" altLang="en-US" sz="2400" dirty="0"/>
              <a:t>拓展</a:t>
            </a:r>
            <a:r>
              <a:rPr lang="en-US" altLang="zh-CN" sz="2400" dirty="0"/>
              <a:t>——</a:t>
            </a:r>
            <a:r>
              <a:rPr lang="zh-CN" altLang="en-US" sz="2400" dirty="0"/>
              <a:t>举一反三，记住要点，建立知识结构</a:t>
            </a:r>
          </a:p>
          <a:p>
            <a:r>
              <a:rPr lang="zh-CN" altLang="en-US" sz="2400" dirty="0"/>
              <a:t>纠错</a:t>
            </a:r>
            <a:r>
              <a:rPr lang="en-US" altLang="zh-CN" sz="2400" dirty="0"/>
              <a:t>——</a:t>
            </a:r>
            <a:r>
              <a:rPr lang="zh-CN" altLang="en-US" sz="2400" dirty="0"/>
              <a:t>修正原先的错误认知，改正不良习惯</a:t>
            </a:r>
          </a:p>
          <a:p>
            <a:r>
              <a:rPr lang="zh-CN" altLang="en-US" sz="2400" dirty="0"/>
              <a:t>应用</a:t>
            </a:r>
            <a:r>
              <a:rPr lang="en-US" altLang="zh-CN" sz="2400" dirty="0"/>
              <a:t>——</a:t>
            </a:r>
            <a:r>
              <a:rPr lang="zh-CN" altLang="en-US" sz="2400" dirty="0"/>
              <a:t>考取相关证书，用英语与他人交流与翻译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57733" y="1176362"/>
            <a:ext cx="4521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整体式学习</a:t>
            </a:r>
            <a:endParaRPr lang="zh-CN" altLang="en-US" sz="60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6831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488</TotalTime>
  <Words>815</Words>
  <Application>Microsoft Office PowerPoint</Application>
  <PresentationFormat>全屏显示(4:3)</PresentationFormat>
  <Paragraphs>156</Paragraphs>
  <Slides>18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Adobe Myungjo Std M</vt:lpstr>
      <vt:lpstr>Calibri Light</vt:lpstr>
      <vt:lpstr>GungsuhChe</vt:lpstr>
      <vt:lpstr>MStiffHeiHK-UltraBold</vt:lpstr>
      <vt:lpstr>汉仪菱心体简</vt:lpstr>
      <vt:lpstr>华康俪金黑W8(P)</vt:lpstr>
      <vt:lpstr>宋体</vt:lpstr>
      <vt:lpstr>微软雅黑</vt:lpstr>
      <vt:lpstr>Arial</vt:lpstr>
      <vt:lpstr>Calibri</vt:lpstr>
      <vt:lpstr>Office 主题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Sky123.Org</dc:creator>
  <cp:lastModifiedBy>Sky123.Org</cp:lastModifiedBy>
  <cp:revision>77</cp:revision>
  <dcterms:created xsi:type="dcterms:W3CDTF">2015-01-16T11:52:36Z</dcterms:created>
  <dcterms:modified xsi:type="dcterms:W3CDTF">2015-01-28T04:48:51Z</dcterms:modified>
</cp:coreProperties>
</file>