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81" r:id="rId2"/>
    <p:sldId id="282" r:id="rId3"/>
    <p:sldId id="283" r:id="rId4"/>
    <p:sldId id="286" r:id="rId5"/>
    <p:sldId id="284" r:id="rId6"/>
    <p:sldId id="264" r:id="rId7"/>
    <p:sldId id="267" r:id="rId8"/>
    <p:sldId id="287" r:id="rId9"/>
    <p:sldId id="288" r:id="rId10"/>
    <p:sldId id="290" r:id="rId11"/>
    <p:sldId id="291" r:id="rId12"/>
    <p:sldId id="293" r:id="rId13"/>
    <p:sldId id="294" r:id="rId14"/>
    <p:sldId id="295" r:id="rId15"/>
    <p:sldId id="292" r:id="rId16"/>
    <p:sldId id="280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A33"/>
    <a:srgbClr val="0D0D0D"/>
    <a:srgbClr val="ECE8DF"/>
    <a:srgbClr val="BF9000"/>
    <a:srgbClr val="746241"/>
    <a:srgbClr val="000000"/>
    <a:srgbClr val="A3967F"/>
    <a:srgbClr val="A99D86"/>
    <a:srgbClr val="928369"/>
    <a:srgbClr val="AB6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30" autoAdjust="0"/>
    <p:restoredTop sz="93345" autoAdjust="0"/>
  </p:normalViewPr>
  <p:slideViewPr>
    <p:cSldViewPr snapToGrid="0">
      <p:cViewPr varScale="1">
        <p:scale>
          <a:sx n="69" d="100"/>
          <a:sy n="69" d="100"/>
        </p:scale>
        <p:origin x="1194" y="60"/>
      </p:cViewPr>
      <p:guideLst>
        <p:guide orient="horz" pos="379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7B5AD-6968-43DB-B1BC-B110438334AB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E9C44-3354-4AC1-90AC-0D6F5E3D4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19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E9C44-3354-4AC1-90AC-0D6F5E3D40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146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E9C44-3354-4AC1-90AC-0D6F5E3D407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791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E9C44-3354-4AC1-90AC-0D6F5E3D40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087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E9C44-3354-4AC1-90AC-0D6F5E3D407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963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E9C44-3354-4AC1-90AC-0D6F5E3D407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990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E9C44-3354-4AC1-90AC-0D6F5E3D407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638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E9C44-3354-4AC1-90AC-0D6F5E3D407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876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E9C44-3354-4AC1-90AC-0D6F5E3D407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725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E9C44-3354-4AC1-90AC-0D6F5E3D407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20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94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77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818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9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105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73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864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10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79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17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916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B6768-FE39-4000-9D68-E0C7F0636319}" type="datetimeFigureOut">
              <a:rPr lang="zh-CN" altLang="en-US" smtClean="0"/>
              <a:t>2014/7/27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BB432-FE69-44B6-BA8B-6F267783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81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1000">
              <a:srgbClr val="D80A33"/>
            </a:gs>
            <a:gs pos="51000">
              <a:schemeClr val="tx1">
                <a:lumMod val="10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14956" r="15015"/>
          <a:stretch/>
        </p:blipFill>
        <p:spPr>
          <a:xfrm>
            <a:off x="552785" y="1770267"/>
            <a:ext cx="2386390" cy="3407675"/>
          </a:xfrm>
          <a:prstGeom prst="rect">
            <a:avLst/>
          </a:prstGeom>
          <a:effectLst>
            <a:outerShdw blurRad="406400" dist="889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6200873" y="4157035"/>
            <a:ext cx="257961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solidFill>
                  <a:schemeClr val="bg1"/>
                </a:solidFill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读书笔记</a:t>
            </a:r>
            <a:r>
              <a:rPr lang="en-US" altLang="zh-CN" sz="1350" dirty="0">
                <a:solidFill>
                  <a:schemeClr val="bg1"/>
                </a:solidFill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PPT  </a:t>
            </a:r>
            <a:r>
              <a:rPr lang="en-US" altLang="zh-CN" sz="1350" dirty="0" smtClean="0">
                <a:solidFill>
                  <a:schemeClr val="bg1"/>
                </a:solidFill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by </a:t>
            </a:r>
            <a:r>
              <a:rPr lang="en-US" altLang="zh-CN" sz="1350" dirty="0">
                <a:solidFill>
                  <a:schemeClr val="bg1"/>
                </a:solidFill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@</a:t>
            </a:r>
            <a:r>
              <a:rPr lang="en-US" altLang="zh-CN" sz="1350" dirty="0" err="1">
                <a:solidFill>
                  <a:schemeClr val="bg1"/>
                </a:solidFill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fantasic</a:t>
            </a:r>
            <a:r>
              <a:rPr lang="en-US" altLang="zh-CN" sz="1350" dirty="0">
                <a:solidFill>
                  <a:schemeClr val="bg1"/>
                </a:solidFill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_</a:t>
            </a:r>
            <a:r>
              <a:rPr lang="zh-CN" altLang="en-US" sz="1350" dirty="0">
                <a:solidFill>
                  <a:schemeClr val="bg1"/>
                </a:solidFill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强</a:t>
            </a:r>
          </a:p>
        </p:txBody>
      </p:sp>
      <p:sp>
        <p:nvSpPr>
          <p:cNvPr id="10" name="矩形 9"/>
          <p:cNvSpPr/>
          <p:nvPr/>
        </p:nvSpPr>
        <p:spPr>
          <a:xfrm>
            <a:off x="3489368" y="3028636"/>
            <a:ext cx="5436104" cy="923330"/>
          </a:xfrm>
          <a:prstGeom prst="rect">
            <a:avLst/>
          </a:prstGeom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lvl="0"/>
            <a:r>
              <a:rPr lang="zh-CN" altLang="en-US" sz="5400" spc="450" dirty="0">
                <a:ln w="190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_GBK" panose="03000509000000000000" pitchFamily="65" charset="-122"/>
                <a:ea typeface="方正粗宋_GBK" panose="03000509000000000000" pitchFamily="65" charset="-122"/>
              </a:rPr>
              <a:t>一分钟谈判专家</a:t>
            </a:r>
          </a:p>
        </p:txBody>
      </p:sp>
      <p:sp>
        <p:nvSpPr>
          <p:cNvPr id="11" name="矩形 10"/>
          <p:cNvSpPr/>
          <p:nvPr/>
        </p:nvSpPr>
        <p:spPr>
          <a:xfrm>
            <a:off x="3521070" y="2687576"/>
            <a:ext cx="5097092" cy="40011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dist"/>
            <a:r>
              <a:rPr lang="en-US" altLang="zh-CN" sz="2000" dirty="0">
                <a:solidFill>
                  <a:srgbClr val="0D0D0D"/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The One Minute </a:t>
            </a:r>
            <a:r>
              <a:rPr lang="en-US" altLang="zh-CN" sz="2000" dirty="0" smtClean="0">
                <a:solidFill>
                  <a:srgbClr val="0D0D0D"/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Negotiator</a:t>
            </a:r>
            <a:endParaRPr lang="en-US" altLang="zh-CN" sz="2000" dirty="0">
              <a:solidFill>
                <a:srgbClr val="0D0D0D"/>
              </a:solidFill>
              <a:latin typeface="方正粗宋_GBK" panose="03000509000000000000" pitchFamily="65" charset="-122"/>
              <a:ea typeface="方正粗宋_GBK" panose="03000509000000000000" pitchFamily="65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548366" y="2616324"/>
            <a:ext cx="5093574" cy="0"/>
          </a:xfrm>
          <a:prstGeom prst="line">
            <a:avLst/>
          </a:prstGeom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548366" y="4006518"/>
            <a:ext cx="5093574" cy="0"/>
          </a:xfrm>
          <a:prstGeom prst="line">
            <a:avLst/>
          </a:prstGeom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32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 rot="17278371">
            <a:off x="1944401" y="1074616"/>
            <a:ext cx="4860000" cy="4502787"/>
          </a:xfrm>
          <a:prstGeom prst="rect">
            <a:avLst/>
          </a:prstGeom>
          <a:solidFill>
            <a:srgbClr val="D80A33"/>
          </a:solidFill>
          <a:ln w="5080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矩形 3"/>
          <p:cNvSpPr/>
          <p:nvPr/>
        </p:nvSpPr>
        <p:spPr>
          <a:xfrm>
            <a:off x="0" y="3603860"/>
            <a:ext cx="9144000" cy="32541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文本框 7"/>
          <p:cNvSpPr txBox="1"/>
          <p:nvPr/>
        </p:nvSpPr>
        <p:spPr>
          <a:xfrm>
            <a:off x="365074" y="4230147"/>
            <a:ext cx="8399800" cy="1684289"/>
          </a:xfrm>
          <a:prstGeom prst="rect">
            <a:avLst/>
          </a:prstGeom>
          <a:noFill/>
        </p:spPr>
        <p:txBody>
          <a:bodyPr wrap="none" tIns="72000" bIns="72000" spcCol="756000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本书主要介绍：</a:t>
            </a:r>
            <a:endParaRPr lang="en-US" altLang="zh-CN" sz="2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谈判中运用</a:t>
            </a:r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EASY</a:t>
            </a:r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法则，促使谈判成功。该法则可以快速（</a:t>
            </a:r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endParaRPr lang="en-US" altLang="zh-CN" sz="2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适用于工作、生活中任意谈判场景。</a:t>
            </a:r>
            <a:endParaRPr lang="en-US" altLang="zh-CN" sz="2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不信？试试</a:t>
            </a:r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2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04458" y="1175657"/>
            <a:ext cx="957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 smtClean="0">
                <a:solidFill>
                  <a:srgbClr val="ECE8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_GBK" panose="03000509000000000000" pitchFamily="65" charset="-122"/>
                <a:ea typeface="方正粗宋_GBK" panose="03000509000000000000" pitchFamily="65" charset="-122"/>
              </a:rPr>
              <a:t>序</a:t>
            </a:r>
            <a:endParaRPr lang="zh-CN" altLang="en-US" sz="6600" dirty="0">
              <a:solidFill>
                <a:srgbClr val="ECE8D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_GBK" panose="03000509000000000000" pitchFamily="65" charset="-122"/>
              <a:ea typeface="方正粗宋_GBK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600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21246376">
            <a:off x="654339" y="1238501"/>
            <a:ext cx="8340793" cy="4929598"/>
            <a:chOff x="571500" y="1285605"/>
            <a:chExt cx="8340793" cy="4929598"/>
          </a:xfrm>
        </p:grpSpPr>
        <p:sp>
          <p:nvSpPr>
            <p:cNvPr id="12" name="圆角矩形 11"/>
            <p:cNvSpPr/>
            <p:nvPr/>
          </p:nvSpPr>
          <p:spPr>
            <a:xfrm>
              <a:off x="571500" y="1285605"/>
              <a:ext cx="7692303" cy="4443677"/>
            </a:xfrm>
            <a:prstGeom prst="roundRect">
              <a:avLst>
                <a:gd name="adj" fmla="val 0"/>
              </a:avLst>
            </a:prstGeom>
            <a:solidFill>
              <a:srgbClr val="D80A33"/>
            </a:solidFill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32991" y="5400942"/>
              <a:ext cx="4424763" cy="707886"/>
            </a:xfrm>
            <a:prstGeom prst="rect">
              <a:avLst/>
            </a:prstGeom>
            <a:solidFill>
              <a:schemeClr val="tx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 anchorCtr="0">
              <a:spAutoFit/>
            </a:bodyPr>
            <a:lstStyle/>
            <a:p>
              <a:pPr lvl="0" algn="ctr"/>
              <a:r>
                <a:rPr lang="zh-CN" altLang="en-US" sz="4000" spc="450" dirty="0" smtClean="0">
                  <a:ln w="1905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谈判成功法则</a:t>
              </a:r>
              <a:endParaRPr lang="zh-CN" altLang="en-US" sz="4000" spc="450" dirty="0">
                <a:ln w="190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3970624" y="6215203"/>
              <a:ext cx="48590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rot="353624" flipV="1">
              <a:off x="3983719" y="4983617"/>
              <a:ext cx="4928574" cy="508774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/>
          <p:cNvSpPr txBox="1"/>
          <p:nvPr/>
        </p:nvSpPr>
        <p:spPr>
          <a:xfrm>
            <a:off x="2431854" y="2799835"/>
            <a:ext cx="53341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 dirty="0">
                <a:solidFill>
                  <a:srgbClr val="ECE8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aramond Pro Bold" panose="02020702060506020403" pitchFamily="18" charset="0"/>
              </a:rPr>
              <a:t>E A S Y</a:t>
            </a:r>
            <a:endParaRPr lang="zh-CN" altLang="en-US" sz="8800" b="1" dirty="0">
              <a:solidFill>
                <a:srgbClr val="ECE8D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58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/>
        </p:nvCxnSpPr>
        <p:spPr>
          <a:xfrm>
            <a:off x="830251" y="3794078"/>
            <a:ext cx="831374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 rot="5400000" flipV="1">
            <a:off x="-3008607" y="3008608"/>
            <a:ext cx="6858003" cy="840783"/>
          </a:xfrm>
          <a:prstGeom prst="rec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850835" y="385652"/>
            <a:ext cx="1829754" cy="94522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文本框 2"/>
          <p:cNvSpPr txBox="1"/>
          <p:nvPr/>
        </p:nvSpPr>
        <p:spPr>
          <a:xfrm>
            <a:off x="1167452" y="2603082"/>
            <a:ext cx="73532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老妈逼迫你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去相亲，其实你根本不想去，这下子你得绞尽脑汁想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着应变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招数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，而不是悄悄从后面溜走。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30251" y="-26950"/>
            <a:ext cx="34289" cy="6976536"/>
          </a:xfrm>
          <a:prstGeom prst="rect">
            <a:avLst/>
          </a:prstGeom>
          <a:solidFill>
            <a:srgbClr val="21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文本框 11"/>
          <p:cNvSpPr txBox="1"/>
          <p:nvPr/>
        </p:nvSpPr>
        <p:spPr>
          <a:xfrm>
            <a:off x="2886588" y="320927"/>
            <a:ext cx="24862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Engage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（参与）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69347" y="2964434"/>
            <a:ext cx="60904" cy="666224"/>
          </a:xfrm>
          <a:prstGeom prst="rect">
            <a:avLst/>
          </a:prstGeom>
          <a:solidFill>
            <a:srgbClr val="21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" name="组合 1"/>
          <p:cNvGrpSpPr/>
          <p:nvPr/>
        </p:nvGrpSpPr>
        <p:grpSpPr>
          <a:xfrm>
            <a:off x="1206890" y="1934199"/>
            <a:ext cx="1477904" cy="435278"/>
            <a:chOff x="1206890" y="1989619"/>
            <a:chExt cx="1477904" cy="435278"/>
          </a:xfrm>
          <a:effectLst/>
        </p:grpSpPr>
        <p:sp>
          <p:nvSpPr>
            <p:cNvPr id="47" name="矩形 46"/>
            <p:cNvSpPr/>
            <p:nvPr/>
          </p:nvSpPr>
          <p:spPr>
            <a:xfrm rot="5400000" flipV="1">
              <a:off x="1726100" y="1470409"/>
              <a:ext cx="435278" cy="1473697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17726" y="20106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举个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栗子：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5008728" y="3794078"/>
            <a:ext cx="0" cy="309121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67" b="93333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88" y="4927999"/>
            <a:ext cx="1746922" cy="1310192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796033" y="4258596"/>
            <a:ext cx="1017949" cy="862205"/>
            <a:chOff x="3823743" y="4258596"/>
            <a:chExt cx="1017949" cy="862205"/>
          </a:xfrm>
        </p:grpSpPr>
        <p:sp>
          <p:nvSpPr>
            <p:cNvPr id="31" name="椭圆形标注 30"/>
            <p:cNvSpPr/>
            <p:nvPr/>
          </p:nvSpPr>
          <p:spPr>
            <a:xfrm>
              <a:off x="3823743" y="4258596"/>
              <a:ext cx="1017949" cy="708993"/>
            </a:xfrm>
            <a:prstGeom prst="wedgeEllipseCallout">
              <a:avLst>
                <a:gd name="adj1" fmla="val -29330"/>
                <a:gd name="adj2" fmla="val 7103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958589" y="4317504"/>
              <a:ext cx="820397" cy="8032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苦肉计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美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男计？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67" b="93333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108" y="4927999"/>
            <a:ext cx="1746922" cy="131019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7920263" y="4258596"/>
            <a:ext cx="1017949" cy="862205"/>
            <a:chOff x="7920263" y="4258596"/>
            <a:chExt cx="1017949" cy="862205"/>
          </a:xfrm>
        </p:grpSpPr>
        <p:sp>
          <p:nvSpPr>
            <p:cNvPr id="36" name="椭圆形标注 35"/>
            <p:cNvSpPr/>
            <p:nvPr/>
          </p:nvSpPr>
          <p:spPr>
            <a:xfrm>
              <a:off x="7920263" y="4258596"/>
              <a:ext cx="1017949" cy="708993"/>
            </a:xfrm>
            <a:prstGeom prst="wedgeEllipseCallout">
              <a:avLst>
                <a:gd name="adj1" fmla="val -29330"/>
                <a:gd name="adj2" fmla="val 7103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8055109" y="4317504"/>
              <a:ext cx="820397" cy="8032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后门溜走？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椭圆 22"/>
          <p:cNvSpPr/>
          <p:nvPr/>
        </p:nvSpPr>
        <p:spPr>
          <a:xfrm>
            <a:off x="4500497" y="6352814"/>
            <a:ext cx="451492" cy="451492"/>
          </a:xfrm>
          <a:prstGeom prst="ellipse">
            <a:avLst/>
          </a:prstGeom>
          <a:solidFill>
            <a:srgbClr val="31679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886588" y="1017677"/>
            <a:ext cx="6157455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意识到处于谈判过程，并快速调整状态参与到谈判中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000" b="1" dirty="0"/>
          </a:p>
        </p:txBody>
      </p:sp>
      <p:sp>
        <p:nvSpPr>
          <p:cNvPr id="41" name="椭圆 40"/>
          <p:cNvSpPr/>
          <p:nvPr/>
        </p:nvSpPr>
        <p:spPr>
          <a:xfrm>
            <a:off x="5073759" y="6352814"/>
            <a:ext cx="451492" cy="451492"/>
          </a:xfrm>
          <a:prstGeom prst="ellipse">
            <a:avLst/>
          </a:prstGeom>
          <a:solidFill>
            <a:srgbClr val="31679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╳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341384" y="4258596"/>
            <a:ext cx="1266155" cy="1837412"/>
            <a:chOff x="1341384" y="4106191"/>
            <a:chExt cx="1266155" cy="1837412"/>
          </a:xfrm>
        </p:grpSpPr>
        <p:grpSp>
          <p:nvGrpSpPr>
            <p:cNvPr id="4" name="组合 3"/>
            <p:cNvGrpSpPr/>
            <p:nvPr/>
          </p:nvGrpSpPr>
          <p:grpSpPr>
            <a:xfrm>
              <a:off x="1355783" y="4106191"/>
              <a:ext cx="1251756" cy="829598"/>
              <a:chOff x="1355783" y="4106191"/>
              <a:chExt cx="1251756" cy="829598"/>
            </a:xfrm>
          </p:grpSpPr>
          <p:sp>
            <p:nvSpPr>
              <p:cNvPr id="28" name="椭圆形标注 27"/>
              <p:cNvSpPr/>
              <p:nvPr/>
            </p:nvSpPr>
            <p:spPr>
              <a:xfrm>
                <a:off x="1355783" y="4106191"/>
                <a:ext cx="1251756" cy="829598"/>
              </a:xfrm>
              <a:prstGeom prst="wedgeEllipseCallout">
                <a:avLst>
                  <a:gd name="adj1" fmla="val -22250"/>
                  <a:gd name="adj2" fmla="val 73789"/>
                </a:avLst>
              </a:prstGeom>
              <a:solidFill>
                <a:srgbClr val="D80A3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428803" y="4201804"/>
                <a:ext cx="1178736" cy="6093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隔壁</a:t>
                </a:r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小王</a:t>
                </a:r>
                <a:endPara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小孩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都有了！</a:t>
                </a:r>
              </a:p>
            </p:txBody>
          </p:sp>
        </p:grpSp>
        <p:sp>
          <p:nvSpPr>
            <p:cNvPr id="25" name="椭圆 24"/>
            <p:cNvSpPr/>
            <p:nvPr/>
          </p:nvSpPr>
          <p:spPr>
            <a:xfrm>
              <a:off x="1341384" y="5708075"/>
              <a:ext cx="818480" cy="235528"/>
            </a:xfrm>
            <a:prstGeom prst="ellipse">
              <a:avLst/>
            </a:prstGeom>
            <a:solidFill>
              <a:srgbClr val="C2BFB8">
                <a:alpha val="23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949703" y="471037"/>
            <a:ext cx="1774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800" b="1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defRPr>
            </a:lvl1pPr>
          </a:lstStyle>
          <a:p>
            <a:r>
              <a:rPr lang="en-US" altLang="zh-CN" b="0" dirty="0">
                <a:ln w="19050">
                  <a:solidFill>
                    <a:schemeClr val="bg1"/>
                  </a:solidFill>
                </a:ln>
                <a:solidFill>
                  <a:srgbClr val="D80A33"/>
                </a:solidFill>
                <a:effectLst/>
                <a:latin typeface="方正粗宋_GBK" panose="03000509000000000000" pitchFamily="65" charset="-122"/>
                <a:ea typeface="方正粗宋_GBK" panose="03000509000000000000" pitchFamily="65" charset="-122"/>
              </a:rPr>
              <a:t>E</a:t>
            </a:r>
            <a:r>
              <a:rPr lang="en-US" altLang="zh-CN" b="0" dirty="0">
                <a:effectLst/>
                <a:latin typeface="方正粗宋_GBK" panose="03000509000000000000" pitchFamily="65" charset="-122"/>
                <a:ea typeface="方正粗宋_GBK" panose="03000509000000000000" pitchFamily="65" charset="-122"/>
              </a:rPr>
              <a:t>asy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5519073" y="4275706"/>
            <a:ext cx="1266155" cy="1837412"/>
            <a:chOff x="1341384" y="4106191"/>
            <a:chExt cx="1266155" cy="1837412"/>
          </a:xfrm>
        </p:grpSpPr>
        <p:grpSp>
          <p:nvGrpSpPr>
            <p:cNvPr id="46" name="组合 45"/>
            <p:cNvGrpSpPr/>
            <p:nvPr/>
          </p:nvGrpSpPr>
          <p:grpSpPr>
            <a:xfrm>
              <a:off x="1355783" y="4106191"/>
              <a:ext cx="1251756" cy="829598"/>
              <a:chOff x="1355783" y="4106191"/>
              <a:chExt cx="1251756" cy="829598"/>
            </a:xfrm>
          </p:grpSpPr>
          <p:sp>
            <p:nvSpPr>
              <p:cNvPr id="49" name="椭圆形标注 48"/>
              <p:cNvSpPr/>
              <p:nvPr/>
            </p:nvSpPr>
            <p:spPr>
              <a:xfrm>
                <a:off x="1355783" y="4106191"/>
                <a:ext cx="1251756" cy="829598"/>
              </a:xfrm>
              <a:prstGeom prst="wedgeEllipseCallout">
                <a:avLst>
                  <a:gd name="adj1" fmla="val -22250"/>
                  <a:gd name="adj2" fmla="val 73789"/>
                </a:avLst>
              </a:prstGeom>
              <a:solidFill>
                <a:srgbClr val="D80A3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428803" y="4201804"/>
                <a:ext cx="1178736" cy="6093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隔壁</a:t>
                </a:r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小王</a:t>
                </a:r>
                <a:endPara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小孩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都有了！</a:t>
                </a:r>
              </a:p>
            </p:txBody>
          </p:sp>
        </p:grpSp>
        <p:sp>
          <p:nvSpPr>
            <p:cNvPr id="48" name="椭圆 47"/>
            <p:cNvSpPr/>
            <p:nvPr/>
          </p:nvSpPr>
          <p:spPr>
            <a:xfrm>
              <a:off x="1341384" y="5708075"/>
              <a:ext cx="818480" cy="235528"/>
            </a:xfrm>
            <a:prstGeom prst="ellipse">
              <a:avLst/>
            </a:prstGeom>
            <a:solidFill>
              <a:srgbClr val="C2BFB8">
                <a:alpha val="23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532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855186" y="385652"/>
            <a:ext cx="1829754" cy="94522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0" name="矩形 39"/>
          <p:cNvSpPr/>
          <p:nvPr/>
        </p:nvSpPr>
        <p:spPr>
          <a:xfrm rot="5400000" flipV="1">
            <a:off x="-3054399" y="3012835"/>
            <a:ext cx="6949588" cy="840783"/>
          </a:xfrm>
          <a:prstGeom prst="rec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830251" y="-26950"/>
            <a:ext cx="34289" cy="6976536"/>
          </a:xfrm>
          <a:prstGeom prst="rect">
            <a:avLst/>
          </a:prstGeom>
          <a:solidFill>
            <a:srgbClr val="21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9" name="矩形 38"/>
          <p:cNvSpPr/>
          <p:nvPr/>
        </p:nvSpPr>
        <p:spPr>
          <a:xfrm>
            <a:off x="769347" y="2964434"/>
            <a:ext cx="60904" cy="666224"/>
          </a:xfrm>
          <a:prstGeom prst="rect">
            <a:avLst/>
          </a:prstGeom>
          <a:solidFill>
            <a:srgbClr val="21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6" name="文本框 55"/>
          <p:cNvSpPr txBox="1"/>
          <p:nvPr/>
        </p:nvSpPr>
        <p:spPr>
          <a:xfrm>
            <a:off x="2886588" y="293217"/>
            <a:ext cx="24862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Assess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（评估）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886588" y="989967"/>
            <a:ext cx="4362092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评估、判断谈判对手可能使用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的策略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000" b="1" dirty="0"/>
          </a:p>
        </p:txBody>
      </p:sp>
      <p:grpSp>
        <p:nvGrpSpPr>
          <p:cNvPr id="58" name="组合 57"/>
          <p:cNvGrpSpPr/>
          <p:nvPr/>
        </p:nvGrpSpPr>
        <p:grpSpPr>
          <a:xfrm>
            <a:off x="1207036" y="1906489"/>
            <a:ext cx="1533324" cy="435278"/>
            <a:chOff x="1206890" y="1989619"/>
            <a:chExt cx="1533324" cy="435278"/>
          </a:xfrm>
          <a:effectLst/>
        </p:grpSpPr>
        <p:sp>
          <p:nvSpPr>
            <p:cNvPr id="59" name="矩形 58"/>
            <p:cNvSpPr/>
            <p:nvPr/>
          </p:nvSpPr>
          <p:spPr>
            <a:xfrm rot="5400000" flipV="1">
              <a:off x="1726100" y="1470409"/>
              <a:ext cx="435278" cy="1473697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60" name="矩形 59"/>
            <p:cNvSpPr/>
            <p:nvPr/>
          </p:nvSpPr>
          <p:spPr>
            <a:xfrm>
              <a:off x="1273146" y="20106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评估步骤：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207036" y="3366314"/>
            <a:ext cx="1679552" cy="2058949"/>
            <a:chOff x="2221110" y="3516738"/>
            <a:chExt cx="1781679" cy="2058949"/>
          </a:xfrm>
          <a:effectLst/>
        </p:grpSpPr>
        <p:sp>
          <p:nvSpPr>
            <p:cNvPr id="26" name="圆角矩形 25"/>
            <p:cNvSpPr/>
            <p:nvPr/>
          </p:nvSpPr>
          <p:spPr>
            <a:xfrm>
              <a:off x="2221110" y="3516739"/>
              <a:ext cx="1781679" cy="2058948"/>
            </a:xfrm>
            <a:prstGeom prst="roundRect">
              <a:avLst/>
            </a:prstGeom>
            <a:solidFill>
              <a:srgbClr val="746241">
                <a:alpha val="61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221110" y="3516738"/>
              <a:ext cx="1781679" cy="579352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821591" y="3344412"/>
            <a:ext cx="1679550" cy="2080851"/>
            <a:chOff x="4570951" y="3494836"/>
            <a:chExt cx="1781677" cy="2080851"/>
          </a:xfrm>
          <a:effectLst/>
        </p:grpSpPr>
        <p:sp>
          <p:nvSpPr>
            <p:cNvPr id="61" name="圆角矩形 60"/>
            <p:cNvSpPr/>
            <p:nvPr/>
          </p:nvSpPr>
          <p:spPr>
            <a:xfrm>
              <a:off x="4571999" y="3494837"/>
              <a:ext cx="1780629" cy="2080850"/>
            </a:xfrm>
            <a:prstGeom prst="roundRect">
              <a:avLst/>
            </a:prstGeom>
            <a:solidFill>
              <a:srgbClr val="A3967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4570951" y="3494836"/>
              <a:ext cx="1781677" cy="577808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968730" y="472229"/>
            <a:ext cx="1633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e</a:t>
            </a:r>
            <a:r>
              <a:rPr lang="en-US" altLang="zh-CN" sz="4800" dirty="0" err="1" smtClean="0">
                <a:ln w="19050">
                  <a:solidFill>
                    <a:schemeClr val="bg1"/>
                  </a:solidFill>
                </a:ln>
                <a:solidFill>
                  <a:srgbClr val="D80A33"/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A</a:t>
            </a:r>
            <a:r>
              <a:rPr lang="en-US" altLang="zh-CN" sz="48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sy</a:t>
            </a:r>
            <a:endParaRPr lang="en-US" altLang="zh-CN" sz="4800" dirty="0">
              <a:solidFill>
                <a:schemeClr val="tx1">
                  <a:lumMod val="50000"/>
                  <a:lumOff val="50000"/>
                </a:schemeClr>
              </a:solidFill>
              <a:latin typeface="方正粗宋_GBK" panose="03000509000000000000" pitchFamily="65" charset="-122"/>
              <a:ea typeface="方正粗宋_GBK" panose="03000509000000000000" pitchFamily="65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6437138" y="3344411"/>
            <a:ext cx="1679550" cy="2080852"/>
            <a:chOff x="6921841" y="3494835"/>
            <a:chExt cx="1589939" cy="2080852"/>
          </a:xfrm>
          <a:effectLst/>
        </p:grpSpPr>
        <p:sp>
          <p:nvSpPr>
            <p:cNvPr id="62" name="圆角矩形 61"/>
            <p:cNvSpPr/>
            <p:nvPr/>
          </p:nvSpPr>
          <p:spPr>
            <a:xfrm>
              <a:off x="6922890" y="3494837"/>
              <a:ext cx="1588890" cy="2080850"/>
            </a:xfrm>
            <a:prstGeom prst="roundRect">
              <a:avLst/>
            </a:prstGeom>
            <a:solidFill>
              <a:srgbClr val="A3967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6921841" y="3494835"/>
              <a:ext cx="1588890" cy="577809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200066" y="4123381"/>
            <a:ext cx="1693492" cy="932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30000"/>
              </a:lnSpc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谈判策略类型</a:t>
            </a:r>
          </a:p>
        </p:txBody>
      </p:sp>
      <p:sp>
        <p:nvSpPr>
          <p:cNvPr id="25" name="矩形 24"/>
          <p:cNvSpPr/>
          <p:nvPr/>
        </p:nvSpPr>
        <p:spPr>
          <a:xfrm>
            <a:off x="6436284" y="4123381"/>
            <a:ext cx="1693492" cy="932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30000"/>
              </a:lnSpc>
            </a:pPr>
            <a:r>
              <a:rPr lang="zh-CN" altLang="en-US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对手谈判策略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825414" y="4123381"/>
            <a:ext cx="1693492" cy="932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30000"/>
              </a:lnSpc>
            </a:pPr>
            <a:r>
              <a:rPr lang="zh-CN" altLang="en-US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谈判对手信息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856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921429"/>
              </p:ext>
            </p:extLst>
          </p:nvPr>
        </p:nvGraphicFramePr>
        <p:xfrm>
          <a:off x="1927352" y="2424545"/>
          <a:ext cx="5292314" cy="349052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646157"/>
                <a:gridCol w="2646157"/>
              </a:tblGrid>
              <a:tr h="1745264">
                <a:tc>
                  <a:txBody>
                    <a:bodyPr/>
                    <a:lstStyle/>
                    <a:p>
                      <a:pPr algn="l"/>
                      <a:endParaRPr lang="en-US" altLang="zh-CN" sz="2100" dirty="0" smtClean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6078" marR="106078" marT="53038" marB="53038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100" dirty="0" smtClean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6078" marR="106078" marT="53038" marB="53038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0A33"/>
                    </a:solidFill>
                  </a:tcPr>
                </a:tc>
              </a:tr>
              <a:tr h="1745264">
                <a:tc>
                  <a:txBody>
                    <a:bodyPr/>
                    <a:lstStyle/>
                    <a:p>
                      <a:pPr algn="l"/>
                      <a:endParaRPr lang="en-US" altLang="zh-CN" sz="2100" b="0" dirty="0" smtClean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endParaRPr lang="en-US" altLang="zh-CN" sz="2100" b="1" dirty="0" smtClean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lvl="0" algn="ctr" defTabSz="914400" rtl="0" eaLnBrk="1" latinLnBrk="0" hangingPunct="1">
                        <a:lnSpc>
                          <a:spcPct val="130000"/>
                        </a:lnSpc>
                      </a:pPr>
                      <a:r>
                        <a:rPr lang="zh-CN" altLang="en-US" sz="1600" kern="1200" dirty="0" smtClean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对所谈判的问题避而不答</a:t>
                      </a:r>
                      <a:r>
                        <a:rPr lang="en-US" altLang="zh-CN" sz="1600" kern="1200" dirty="0" smtClean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600" kern="1200" dirty="0" smtClean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不做处理</a:t>
                      </a:r>
                      <a:endParaRPr lang="zh-CN" altLang="en-US" sz="1600" kern="120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6078" marR="106078" marT="53038" marB="53038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zh-CN" sz="2100" b="0" dirty="0" smtClean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endParaRPr lang="en-US" altLang="zh-CN" sz="2100" b="1" dirty="0" smtClean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lvl="0" algn="ctr" defTabSz="914400" rtl="0" eaLnBrk="1" latinLnBrk="0" hangingPunct="1">
                        <a:lnSpc>
                          <a:spcPct val="130000"/>
                        </a:lnSpc>
                      </a:pPr>
                      <a:r>
                        <a:rPr lang="zh-CN" altLang="en-US" sz="1600" kern="1200" dirty="0" smtClean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谈判过程中</a:t>
                      </a:r>
                      <a:r>
                        <a:rPr lang="en-US" altLang="zh-CN" sz="1600" kern="1200" dirty="0" smtClean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600" kern="1200" dirty="0" smtClean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尽量满足对方要求</a:t>
                      </a:r>
                      <a:endParaRPr lang="zh-CN" altLang="en-US" sz="1600" kern="120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6078" marR="106078" marT="53038" marB="53038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67F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110932" y="1692192"/>
            <a:ext cx="1314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主动式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10932" y="6178290"/>
            <a:ext cx="1314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反应式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2008" y="3910067"/>
            <a:ext cx="1923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不充分合作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554335" y="3910067"/>
            <a:ext cx="1694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充分合作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1612" y="549838"/>
            <a:ext cx="2031325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谈判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endParaRPr lang="zh-CN" altLang="en-US" sz="2400" b="1" dirty="0"/>
          </a:p>
        </p:txBody>
      </p:sp>
      <p:sp>
        <p:nvSpPr>
          <p:cNvPr id="17" name="圆角矩形 16"/>
          <p:cNvSpPr/>
          <p:nvPr/>
        </p:nvSpPr>
        <p:spPr>
          <a:xfrm>
            <a:off x="232008" y="472951"/>
            <a:ext cx="2746719" cy="601682"/>
          </a:xfrm>
          <a:prstGeom prst="roundRect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12124" y="577549"/>
            <a:ext cx="405298" cy="405298"/>
          </a:xfrm>
          <a:prstGeom prst="ellipse">
            <a:avLst/>
          </a:prstGeom>
          <a:solidFill>
            <a:srgbClr val="D80A3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59082" y="2639043"/>
            <a:ext cx="72327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dirty="0">
                <a:solidFill>
                  <a:prstClr val="white"/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竞争</a:t>
            </a:r>
            <a:endParaRPr lang="en-US" altLang="zh-CN" sz="2000" dirty="0">
              <a:solidFill>
                <a:prstClr val="white"/>
              </a:solidFill>
              <a:latin typeface="方正粗宋_GBK" panose="03000509000000000000" pitchFamily="65" charset="-122"/>
              <a:ea typeface="方正粗宋_GBK" panose="03000509000000000000" pitchFamily="65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859082" y="2583486"/>
            <a:ext cx="715390" cy="4710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19368" y="3177559"/>
            <a:ext cx="2422528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</a:t>
            </a: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中只为自己争取最大化利益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5508160" y="2583486"/>
            <a:ext cx="715390" cy="4710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525124" y="2639043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prstClr val="white"/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合作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5533009" y="4385989"/>
            <a:ext cx="715390" cy="4710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859082" y="4385990"/>
            <a:ext cx="715390" cy="4710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525124" y="4441546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prstClr val="white"/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迁就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868994" y="4422953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prstClr val="white"/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回避</a:t>
            </a:r>
          </a:p>
        </p:txBody>
      </p:sp>
      <p:sp>
        <p:nvSpPr>
          <p:cNvPr id="23" name="矩形 22"/>
          <p:cNvSpPr/>
          <p:nvPr/>
        </p:nvSpPr>
        <p:spPr>
          <a:xfrm>
            <a:off x="4713386" y="3177559"/>
            <a:ext cx="2422528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谈判中寻求合作</a:t>
            </a:r>
            <a:r>
              <a:rPr lang="en-US" altLang="zh-CN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将双方利益最大化</a:t>
            </a:r>
          </a:p>
        </p:txBody>
      </p:sp>
    </p:spTree>
    <p:extLst>
      <p:ext uri="{BB962C8B-B14F-4D97-AF65-F5344CB8AC3E}">
        <p14:creationId xmlns:p14="http://schemas.microsoft.com/office/powerpoint/2010/main" val="112348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24688" y="537154"/>
            <a:ext cx="8880764" cy="615957"/>
          </a:xfrm>
          <a:prstGeom prst="roundRect">
            <a:avLst>
              <a:gd name="adj" fmla="val 922"/>
            </a:avLst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24688" y="710669"/>
            <a:ext cx="1634839" cy="435278"/>
            <a:chOff x="1206890" y="1989619"/>
            <a:chExt cx="1554848" cy="4352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矩形 14"/>
            <p:cNvSpPr/>
            <p:nvPr/>
          </p:nvSpPr>
          <p:spPr>
            <a:xfrm rot="5400000" flipV="1">
              <a:off x="1726100" y="1470409"/>
              <a:ext cx="435278" cy="1473697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6" name="矩形 15"/>
            <p:cNvSpPr/>
            <p:nvPr/>
          </p:nvSpPr>
          <p:spPr>
            <a:xfrm>
              <a:off x="1217726" y="2010691"/>
              <a:ext cx="154401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场景举栗：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0" y="423081"/>
            <a:ext cx="9144000" cy="138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662545" y="767279"/>
            <a:ext cx="634019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老妈念叨小明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相亲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，小明有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四套应答模式可供选择！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71058" y="5088535"/>
            <a:ext cx="789558" cy="485556"/>
          </a:xfrm>
          <a:prstGeom prst="roundRec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4" name="圆角矩形 23"/>
          <p:cNvSpPr/>
          <p:nvPr/>
        </p:nvSpPr>
        <p:spPr>
          <a:xfrm>
            <a:off x="471058" y="4127500"/>
            <a:ext cx="789558" cy="485556"/>
          </a:xfrm>
          <a:prstGeom prst="roundRect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3" name="圆角矩形 22"/>
          <p:cNvSpPr/>
          <p:nvPr/>
        </p:nvSpPr>
        <p:spPr>
          <a:xfrm>
            <a:off x="471058" y="3166464"/>
            <a:ext cx="789558" cy="485556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2" name="圆角矩形 21"/>
          <p:cNvSpPr/>
          <p:nvPr/>
        </p:nvSpPr>
        <p:spPr>
          <a:xfrm>
            <a:off x="471058" y="2205428"/>
            <a:ext cx="789558" cy="485556"/>
          </a:xfrm>
          <a:prstGeom prst="roundRect">
            <a:avLst/>
          </a:prstGeom>
          <a:solidFill>
            <a:srgbClr val="74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540479" y="2258283"/>
            <a:ext cx="718978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迁就  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老妈的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道德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经实在太厉害，早点妥协，乖乖相亲得了！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0479" y="3204012"/>
            <a:ext cx="763702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回避 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回答“嗯，啊，哦！”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然后以工作忙以后再说借口跑掉 。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0479" y="4177451"/>
            <a:ext cx="729077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  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与老妈上演口水战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“现在都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世纪了，谁还相亲啊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0479" y="5137035"/>
            <a:ext cx="846738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</a:t>
            </a:r>
            <a:r>
              <a:rPr lang="en-US" altLang="zh-CN" sz="1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与老妈愉快合作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“您给我找的都什么样的？白富美我考虑一下。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371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2008" y="1666782"/>
            <a:ext cx="8474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考察对手谈判历史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对手目前使用的谈判策略与以前使用的接近。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1612" y="577548"/>
            <a:ext cx="477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收集对手信息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对手谈判策略</a:t>
            </a:r>
            <a:endParaRPr lang="zh-CN" altLang="en-US" sz="2400" b="1" dirty="0"/>
          </a:p>
        </p:txBody>
      </p:sp>
      <p:sp>
        <p:nvSpPr>
          <p:cNvPr id="30" name="椭圆 29"/>
          <p:cNvSpPr/>
          <p:nvPr/>
        </p:nvSpPr>
        <p:spPr>
          <a:xfrm>
            <a:off x="412124" y="577549"/>
            <a:ext cx="405298" cy="405298"/>
          </a:xfrm>
          <a:prstGeom prst="ellipse">
            <a:avLst/>
          </a:prstGeom>
          <a:solidFill>
            <a:srgbClr val="D80A3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32008" y="472951"/>
            <a:ext cx="5383668" cy="601682"/>
          </a:xfrm>
          <a:prstGeom prst="roundRect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0" y="2859453"/>
            <a:ext cx="9144000" cy="3743833"/>
            <a:chOff x="0" y="2859453"/>
            <a:chExt cx="9144000" cy="374383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381" y="4275283"/>
              <a:ext cx="3299320" cy="2062075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04750" y="4275283"/>
              <a:ext cx="3281424" cy="2062075"/>
            </a:xfrm>
            <a:prstGeom prst="rect">
              <a:avLst/>
            </a:prstGeom>
          </p:spPr>
        </p:pic>
        <p:grpSp>
          <p:nvGrpSpPr>
            <p:cNvPr id="42" name="组合 41"/>
            <p:cNvGrpSpPr/>
            <p:nvPr/>
          </p:nvGrpSpPr>
          <p:grpSpPr>
            <a:xfrm>
              <a:off x="7310097" y="3355731"/>
              <a:ext cx="1251756" cy="829598"/>
              <a:chOff x="1355783" y="4106191"/>
              <a:chExt cx="1251756" cy="829598"/>
            </a:xfrm>
          </p:grpSpPr>
          <p:sp>
            <p:nvSpPr>
              <p:cNvPr id="44" name="椭圆形标注 43"/>
              <p:cNvSpPr/>
              <p:nvPr/>
            </p:nvSpPr>
            <p:spPr>
              <a:xfrm>
                <a:off x="1355783" y="4106191"/>
                <a:ext cx="1251756" cy="829598"/>
              </a:xfrm>
              <a:prstGeom prst="wedgeEllipseCallout">
                <a:avLst>
                  <a:gd name="adj1" fmla="val -41065"/>
                  <a:gd name="adj2" fmla="val 58759"/>
                </a:avLst>
              </a:prstGeom>
              <a:solidFill>
                <a:srgbClr val="D80A3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1428803" y="4354208"/>
                <a:ext cx="1178736" cy="3508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看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有灰机！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629076" y="3402403"/>
              <a:ext cx="1251756" cy="829598"/>
              <a:chOff x="1355783" y="4106191"/>
              <a:chExt cx="1251756" cy="829598"/>
            </a:xfrm>
          </p:grpSpPr>
          <p:sp>
            <p:nvSpPr>
              <p:cNvPr id="49" name="椭圆形标注 48"/>
              <p:cNvSpPr/>
              <p:nvPr/>
            </p:nvSpPr>
            <p:spPr>
              <a:xfrm>
                <a:off x="1355783" y="4106191"/>
                <a:ext cx="1251756" cy="829598"/>
              </a:xfrm>
              <a:prstGeom prst="wedgeEllipseCallout">
                <a:avLst>
                  <a:gd name="adj1" fmla="val 40838"/>
                  <a:gd name="adj2" fmla="val 57089"/>
                </a:avLst>
              </a:prstGeom>
              <a:solidFill>
                <a:srgbClr val="D80A3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428803" y="4340352"/>
                <a:ext cx="1178736" cy="3508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看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有灰机！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4572000" y="3404797"/>
              <a:ext cx="0" cy="31984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0" y="6603286"/>
              <a:ext cx="9144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圆角矩形 50"/>
            <p:cNvSpPr/>
            <p:nvPr/>
          </p:nvSpPr>
          <p:spPr>
            <a:xfrm>
              <a:off x="5125125" y="2859453"/>
              <a:ext cx="1065406" cy="470017"/>
            </a:xfrm>
            <a:prstGeom prst="round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一年后</a:t>
              </a:r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2961379" y="2859453"/>
              <a:ext cx="1052745" cy="470017"/>
            </a:xfrm>
            <a:prstGeom prst="round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一年前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80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8153" y="3366648"/>
            <a:ext cx="1931557" cy="2654740"/>
          </a:xfrm>
          <a:prstGeom prst="rect">
            <a:avLst/>
          </a:prstGeom>
          <a:solidFill>
            <a:srgbClr val="D80A33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489876" y="3365252"/>
            <a:ext cx="1931557" cy="2656136"/>
          </a:xfrm>
          <a:prstGeom prst="rect">
            <a:avLst/>
          </a:prstGeom>
          <a:solidFill>
            <a:srgbClr val="D80A33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761599" y="3394449"/>
            <a:ext cx="1931557" cy="2626940"/>
          </a:xfrm>
          <a:prstGeom prst="rect">
            <a:avLst/>
          </a:prstGeom>
          <a:solidFill>
            <a:srgbClr val="D80A33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033321" y="3365251"/>
            <a:ext cx="1931557" cy="2656137"/>
          </a:xfrm>
          <a:prstGeom prst="rect">
            <a:avLst/>
          </a:prstGeom>
          <a:solidFill>
            <a:srgbClr val="D80A33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2009" y="1664200"/>
            <a:ext cx="3425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b.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从职业性格判断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532988" y="2536635"/>
            <a:ext cx="1888445" cy="470017"/>
          </a:xfrm>
          <a:prstGeom prst="roundRect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驱动型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83706" y="2524645"/>
            <a:ext cx="1866004" cy="470017"/>
          </a:xfrm>
          <a:prstGeom prst="roundRect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分析型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782270" y="2536635"/>
            <a:ext cx="1910886" cy="470017"/>
          </a:xfrm>
          <a:prstGeom prst="roundRect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031552" y="2536635"/>
            <a:ext cx="1933326" cy="470017"/>
          </a:xfrm>
          <a:prstGeom prst="roundRect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友好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1280" y="3829996"/>
            <a:ext cx="19096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代表职业：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领导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节奏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聚焦任务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谈判类型：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回避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41612" y="577548"/>
            <a:ext cx="477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收集对手信息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判断对手使用策略</a:t>
            </a:r>
            <a:endParaRPr lang="zh-CN" altLang="en-US" sz="2400" b="1" dirty="0"/>
          </a:p>
        </p:txBody>
      </p:sp>
      <p:sp>
        <p:nvSpPr>
          <p:cNvPr id="34" name="椭圆 33"/>
          <p:cNvSpPr/>
          <p:nvPr/>
        </p:nvSpPr>
        <p:spPr>
          <a:xfrm>
            <a:off x="412124" y="577549"/>
            <a:ext cx="405298" cy="405298"/>
          </a:xfrm>
          <a:prstGeom prst="ellipse">
            <a:avLst/>
          </a:prstGeom>
          <a:solidFill>
            <a:srgbClr val="D80A3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232008" y="472951"/>
            <a:ext cx="5383668" cy="601682"/>
          </a:xfrm>
          <a:prstGeom prst="roundRect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2478037" y="3829996"/>
            <a:ext cx="19096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代表职业：律师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节奏快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聚焦任务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谈判类型：竞争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754794" y="3829996"/>
            <a:ext cx="19096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代表职业：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节奏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聚焦关系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谈判类型：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031552" y="3829996"/>
            <a:ext cx="19096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代表职业：服装店主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节奏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聚焦关系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谈判类型：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迁就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93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232008" y="5515937"/>
            <a:ext cx="7859047" cy="877578"/>
          </a:xfrm>
          <a:prstGeom prst="roundRect">
            <a:avLst>
              <a:gd name="adj" fmla="val 92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78927" y="5518957"/>
            <a:ext cx="1296168" cy="871538"/>
          </a:xfrm>
          <a:prstGeom prst="rec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50672" y="5577859"/>
            <a:ext cx="591279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出现“价值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努力、携手合作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字眼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10887" y="5970685"/>
            <a:ext cx="394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公开了电话号码、公司地址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74616" y="5973984"/>
            <a:ext cx="1186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418215" y="5549069"/>
            <a:ext cx="1186624" cy="36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合作策略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1505" y="1664200"/>
            <a:ext cx="675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对手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公开信息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从公司的价值观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判断其谈判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风格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41612" y="577548"/>
            <a:ext cx="4774064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收集对手信息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判断对手使用策略</a:t>
            </a:r>
            <a:endParaRPr lang="zh-CN" altLang="en-US" sz="2400" b="1" dirty="0"/>
          </a:p>
        </p:txBody>
      </p:sp>
      <p:sp>
        <p:nvSpPr>
          <p:cNvPr id="34" name="椭圆 33"/>
          <p:cNvSpPr/>
          <p:nvPr/>
        </p:nvSpPr>
        <p:spPr>
          <a:xfrm>
            <a:off x="412124" y="577549"/>
            <a:ext cx="405298" cy="405298"/>
          </a:xfrm>
          <a:prstGeom prst="ellipse">
            <a:avLst/>
          </a:prstGeom>
          <a:solidFill>
            <a:srgbClr val="D80A3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232008" y="472951"/>
            <a:ext cx="5383668" cy="601682"/>
          </a:xfrm>
          <a:prstGeom prst="roundRect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938948" y="2679006"/>
            <a:ext cx="5302828" cy="1783337"/>
            <a:chOff x="1950209" y="2886511"/>
            <a:chExt cx="5302828" cy="1783337"/>
          </a:xfrm>
        </p:grpSpPr>
        <p:grpSp>
          <p:nvGrpSpPr>
            <p:cNvPr id="23" name="组合 22"/>
            <p:cNvGrpSpPr/>
            <p:nvPr/>
          </p:nvGrpSpPr>
          <p:grpSpPr>
            <a:xfrm>
              <a:off x="3940934" y="2886511"/>
              <a:ext cx="1273962" cy="981785"/>
              <a:chOff x="5461000" y="2774081"/>
              <a:chExt cx="3124201" cy="1783487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矩形 23"/>
              <p:cNvSpPr/>
              <p:nvPr/>
            </p:nvSpPr>
            <p:spPr>
              <a:xfrm>
                <a:off x="5485058" y="2859156"/>
                <a:ext cx="3100143" cy="16299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 smtClean="0">
                    <a:solidFill>
                      <a:schemeClr val="tx1"/>
                    </a:solidFill>
                  </a:rPr>
                  <a:t>Website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5461000" y="2774081"/>
                <a:ext cx="3124200" cy="29574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5461000" y="4261826"/>
                <a:ext cx="3124200" cy="29574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1" name="圆角矩形 40"/>
            <p:cNvSpPr/>
            <p:nvPr/>
          </p:nvSpPr>
          <p:spPr>
            <a:xfrm>
              <a:off x="4162776" y="4273133"/>
              <a:ext cx="819531" cy="396715"/>
            </a:xfrm>
            <a:prstGeom prst="roundRect">
              <a:avLst/>
            </a:prstGeom>
            <a:solidFill>
              <a:srgbClr val="D80A33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</a:t>
              </a: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974244" y="4259366"/>
              <a:ext cx="809792" cy="396715"/>
            </a:xfrm>
            <a:prstGeom prst="roundRect">
              <a:avLst/>
            </a:prstGeom>
            <a:solidFill>
              <a:srgbClr val="D80A33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杂志</a:t>
              </a: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950209" y="2937173"/>
              <a:ext cx="865913" cy="917418"/>
              <a:chOff x="2158032" y="2784768"/>
              <a:chExt cx="865913" cy="917418"/>
            </a:xfrm>
          </p:grpSpPr>
          <p:sp>
            <p:nvSpPr>
              <p:cNvPr id="35" name="任意多边形 34"/>
              <p:cNvSpPr/>
              <p:nvPr/>
            </p:nvSpPr>
            <p:spPr>
              <a:xfrm rot="3080417" flipH="1">
                <a:off x="2162786" y="2841027"/>
                <a:ext cx="917418" cy="804900"/>
              </a:xfrm>
              <a:custGeom>
                <a:avLst/>
                <a:gdLst>
                  <a:gd name="connsiteX0" fmla="*/ 1014594 w 1014594"/>
                  <a:gd name="connsiteY0" fmla="*/ 230855 h 881635"/>
                  <a:gd name="connsiteX1" fmla="*/ 543627 w 1014594"/>
                  <a:gd name="connsiteY1" fmla="*/ 230855 h 881635"/>
                  <a:gd name="connsiteX2" fmla="*/ 386638 w 1014594"/>
                  <a:gd name="connsiteY2" fmla="*/ 881635 h 881635"/>
                  <a:gd name="connsiteX3" fmla="*/ 857605 w 1014594"/>
                  <a:gd name="connsiteY3" fmla="*/ 881635 h 881635"/>
                  <a:gd name="connsiteX4" fmla="*/ 167091 w 1014594"/>
                  <a:gd name="connsiteY4" fmla="*/ 0 h 881635"/>
                  <a:gd name="connsiteX5" fmla="*/ 0 w 1014594"/>
                  <a:gd name="connsiteY5" fmla="*/ 653049 h 881635"/>
                  <a:gd name="connsiteX6" fmla="*/ 376742 w 1014594"/>
                  <a:gd name="connsiteY6" fmla="*/ 879295 h 881635"/>
                  <a:gd name="connsiteX7" fmla="*/ 543833 w 1014594"/>
                  <a:gd name="connsiteY7" fmla="*/ 226246 h 881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4594" h="881635">
                    <a:moveTo>
                      <a:pt x="1014594" y="230855"/>
                    </a:moveTo>
                    <a:lnTo>
                      <a:pt x="543627" y="230855"/>
                    </a:lnTo>
                    <a:lnTo>
                      <a:pt x="386638" y="881635"/>
                    </a:lnTo>
                    <a:lnTo>
                      <a:pt x="857605" y="881635"/>
                    </a:lnTo>
                    <a:close/>
                    <a:moveTo>
                      <a:pt x="167091" y="0"/>
                    </a:moveTo>
                    <a:lnTo>
                      <a:pt x="0" y="653049"/>
                    </a:lnTo>
                    <a:lnTo>
                      <a:pt x="376742" y="879295"/>
                    </a:lnTo>
                    <a:lnTo>
                      <a:pt x="543833" y="226246"/>
                    </a:ln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2158032" y="2910319"/>
                <a:ext cx="831866" cy="691003"/>
                <a:chOff x="1409883" y="2965739"/>
                <a:chExt cx="831866" cy="691003"/>
              </a:xfrm>
            </p:grpSpPr>
            <p:sp>
              <p:nvSpPr>
                <p:cNvPr id="40" name="文本框 39"/>
                <p:cNvSpPr txBox="1"/>
                <p:nvPr/>
              </p:nvSpPr>
              <p:spPr>
                <a:xfrm rot="3073242">
                  <a:off x="1446431" y="2929191"/>
                  <a:ext cx="511679" cy="584775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b="1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内  </a:t>
                  </a:r>
                  <a:endParaRPr lang="en-US" altLang="zh-CN" sz="16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sz="1600" b="1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刊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3" name="直接连接符 2"/>
                <p:cNvCxnSpPr/>
                <p:nvPr/>
              </p:nvCxnSpPr>
              <p:spPr>
                <a:xfrm>
                  <a:off x="1884217" y="3311238"/>
                  <a:ext cx="276360" cy="69272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1827209" y="3367640"/>
                  <a:ext cx="276360" cy="69272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1787602" y="3448334"/>
                  <a:ext cx="276360" cy="69272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1735166" y="3517606"/>
                  <a:ext cx="276360" cy="69272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1680875" y="3587470"/>
                  <a:ext cx="276360" cy="69272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/>
                <p:cNvCxnSpPr/>
                <p:nvPr/>
              </p:nvCxnSpPr>
              <p:spPr>
                <a:xfrm>
                  <a:off x="1965389" y="3230544"/>
                  <a:ext cx="276360" cy="69272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" name="组合 1"/>
            <p:cNvGrpSpPr/>
            <p:nvPr/>
          </p:nvGrpSpPr>
          <p:grpSpPr>
            <a:xfrm>
              <a:off x="6339710" y="3057910"/>
              <a:ext cx="913327" cy="747059"/>
              <a:chOff x="6547533" y="2905505"/>
              <a:chExt cx="913327" cy="747059"/>
            </a:xfrm>
          </p:grpSpPr>
          <p:sp>
            <p:nvSpPr>
              <p:cNvPr id="7" name="椭圆形标注 6"/>
              <p:cNvSpPr/>
              <p:nvPr/>
            </p:nvSpPr>
            <p:spPr>
              <a:xfrm>
                <a:off x="6551507" y="2905505"/>
                <a:ext cx="866193" cy="747059"/>
              </a:xfrm>
              <a:prstGeom prst="wedgeEllipseCallout">
                <a:avLst/>
              </a:prstGeom>
              <a:solidFill>
                <a:schemeClr val="bg1"/>
              </a:solidFill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6547533" y="3102744"/>
                <a:ext cx="913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 err="1" smtClean="0"/>
                  <a:t>Wechat</a:t>
                </a:r>
                <a:endParaRPr lang="zh-CN" altLang="en-US" b="1" dirty="0"/>
              </a:p>
            </p:txBody>
          </p:sp>
        </p:grpSp>
        <p:sp>
          <p:nvSpPr>
            <p:cNvPr id="37" name="圆角矩形 36"/>
            <p:cNvSpPr/>
            <p:nvPr/>
          </p:nvSpPr>
          <p:spPr>
            <a:xfrm>
              <a:off x="6361046" y="4259365"/>
              <a:ext cx="819531" cy="396715"/>
            </a:xfrm>
            <a:prstGeom prst="roundRect">
              <a:avLst/>
            </a:prstGeom>
            <a:solidFill>
              <a:srgbClr val="D80A33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058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708763" y="2451595"/>
            <a:ext cx="6386945" cy="607260"/>
          </a:xfrm>
          <a:prstGeom prst="roundRect">
            <a:avLst/>
          </a:prstGeom>
          <a:noFill/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787859" y="2922210"/>
            <a:ext cx="60904" cy="666224"/>
          </a:xfrm>
          <a:prstGeom prst="rect">
            <a:avLst/>
          </a:prstGeom>
          <a:solidFill>
            <a:srgbClr val="21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文本框 21"/>
          <p:cNvSpPr txBox="1"/>
          <p:nvPr/>
        </p:nvSpPr>
        <p:spPr>
          <a:xfrm>
            <a:off x="3559374" y="4719164"/>
            <a:ext cx="3503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对手无合作意向，不值得合作</a:t>
            </a:r>
            <a:endParaRPr lang="zh-CN" altLang="en-US" sz="2000" dirty="0"/>
          </a:p>
        </p:txBody>
      </p:sp>
      <p:sp>
        <p:nvSpPr>
          <p:cNvPr id="29" name="文本框 28"/>
          <p:cNvSpPr txBox="1"/>
          <p:nvPr/>
        </p:nvSpPr>
        <p:spPr>
          <a:xfrm>
            <a:off x="4825892" y="5790496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各方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团队愿意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合作</a:t>
            </a:r>
            <a:endParaRPr lang="zh-CN" altLang="en-US" sz="2000" dirty="0"/>
          </a:p>
        </p:txBody>
      </p:sp>
      <p:sp>
        <p:nvSpPr>
          <p:cNvPr id="30" name="文本框 29"/>
          <p:cNvSpPr txBox="1"/>
          <p:nvPr/>
        </p:nvSpPr>
        <p:spPr>
          <a:xfrm>
            <a:off x="2517568" y="2555678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处于弱势地位，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除了答应要求别无选择</a:t>
            </a:r>
            <a:endParaRPr lang="zh-CN" altLang="en-US" sz="2000" dirty="0"/>
          </a:p>
        </p:txBody>
      </p:sp>
      <p:sp>
        <p:nvSpPr>
          <p:cNvPr id="31" name="文本框 30"/>
          <p:cNvSpPr txBox="1"/>
          <p:nvPr/>
        </p:nvSpPr>
        <p:spPr>
          <a:xfrm>
            <a:off x="2004607" y="3651672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所谈判的事情无关紧要或有其他更好的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55186" y="385652"/>
            <a:ext cx="1829754" cy="94522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0" name="矩形 39"/>
          <p:cNvSpPr/>
          <p:nvPr/>
        </p:nvSpPr>
        <p:spPr>
          <a:xfrm rot="5400000" flipV="1">
            <a:off x="-3008607" y="3008608"/>
            <a:ext cx="6858003" cy="840783"/>
          </a:xfrm>
          <a:prstGeom prst="rec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830251" y="-26950"/>
            <a:ext cx="34289" cy="6976536"/>
          </a:xfrm>
          <a:prstGeom prst="rect">
            <a:avLst/>
          </a:prstGeom>
          <a:solidFill>
            <a:srgbClr val="21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6" name="文本框 55"/>
          <p:cNvSpPr txBox="1"/>
          <p:nvPr/>
        </p:nvSpPr>
        <p:spPr>
          <a:xfrm>
            <a:off x="2886588" y="293217"/>
            <a:ext cx="320941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Strategize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（制定策略）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886588" y="989967"/>
            <a:ext cx="5388013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根据实际情况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选择最佳的一种或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几种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谈判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000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954879" y="472229"/>
            <a:ext cx="1605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ea</a:t>
            </a:r>
            <a:r>
              <a:rPr lang="en-US" altLang="zh-CN" sz="4800" dirty="0" err="1" smtClean="0">
                <a:ln w="19050">
                  <a:solidFill>
                    <a:schemeClr val="bg1"/>
                  </a:solidFill>
                </a:ln>
                <a:solidFill>
                  <a:srgbClr val="D80A33"/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S</a:t>
            </a:r>
            <a:r>
              <a:rPr lang="en-US" altLang="zh-CN" sz="48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y</a:t>
            </a:r>
            <a:endParaRPr lang="en-US" altLang="zh-CN" sz="4800" dirty="0">
              <a:solidFill>
                <a:schemeClr val="tx1">
                  <a:lumMod val="50000"/>
                  <a:lumOff val="50000"/>
                </a:schemeClr>
              </a:solidFill>
              <a:latin typeface="方正粗宋_GBK" panose="03000509000000000000" pitchFamily="65" charset="-122"/>
              <a:ea typeface="方正粗宋_GBK" panose="03000509000000000000" pitchFamily="65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152285" y="3560406"/>
            <a:ext cx="976312" cy="562872"/>
            <a:chOff x="8509117" y="2479813"/>
            <a:chExt cx="976312" cy="607260"/>
          </a:xfrm>
          <a:effectLst/>
        </p:grpSpPr>
        <p:sp>
          <p:nvSpPr>
            <p:cNvPr id="33" name="圆角矩形 32"/>
            <p:cNvSpPr/>
            <p:nvPr/>
          </p:nvSpPr>
          <p:spPr>
            <a:xfrm>
              <a:off x="8509117" y="2479813"/>
              <a:ext cx="976312" cy="607260"/>
            </a:xfrm>
            <a:prstGeom prst="roundRect">
              <a:avLst/>
            </a:prstGeom>
            <a:solidFill>
              <a:srgbClr val="000000"/>
            </a:solidFill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8674246" y="2569025"/>
              <a:ext cx="697628" cy="431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回避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152285" y="2452288"/>
            <a:ext cx="976312" cy="562872"/>
            <a:chOff x="8509117" y="2479813"/>
            <a:chExt cx="976312" cy="607260"/>
          </a:xfrm>
          <a:effectLst/>
        </p:grpSpPr>
        <p:sp>
          <p:nvSpPr>
            <p:cNvPr id="41" name="圆角矩形 40"/>
            <p:cNvSpPr/>
            <p:nvPr/>
          </p:nvSpPr>
          <p:spPr>
            <a:xfrm>
              <a:off x="8509117" y="2479813"/>
              <a:ext cx="976312" cy="607260"/>
            </a:xfrm>
            <a:prstGeom prst="roundRect">
              <a:avLst/>
            </a:prstGeom>
            <a:solidFill>
              <a:srgbClr val="746241"/>
            </a:solidFill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8674246" y="2569025"/>
              <a:ext cx="697628" cy="431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迁就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152285" y="4668524"/>
            <a:ext cx="976312" cy="562872"/>
            <a:chOff x="8509117" y="2479813"/>
            <a:chExt cx="976312" cy="607260"/>
          </a:xfrm>
          <a:effectLst/>
        </p:grpSpPr>
        <p:sp>
          <p:nvSpPr>
            <p:cNvPr id="44" name="圆角矩形 43"/>
            <p:cNvSpPr/>
            <p:nvPr/>
          </p:nvSpPr>
          <p:spPr>
            <a:xfrm>
              <a:off x="8509117" y="2479813"/>
              <a:ext cx="976312" cy="607260"/>
            </a:xfrm>
            <a:prstGeom prst="roundRect">
              <a:avLst/>
            </a:prstGeom>
            <a:solidFill>
              <a:srgbClr val="BF9000"/>
            </a:solidFill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8674246" y="2569025"/>
              <a:ext cx="697628" cy="431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竞争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7152285" y="5776641"/>
            <a:ext cx="976312" cy="562872"/>
            <a:chOff x="8509117" y="2479813"/>
            <a:chExt cx="976312" cy="607260"/>
          </a:xfrm>
          <a:effectLst/>
        </p:grpSpPr>
        <p:sp>
          <p:nvSpPr>
            <p:cNvPr id="47" name="圆角矩形 46"/>
            <p:cNvSpPr/>
            <p:nvPr/>
          </p:nvSpPr>
          <p:spPr>
            <a:xfrm>
              <a:off x="8509117" y="2479813"/>
              <a:ext cx="976312" cy="607260"/>
            </a:xfrm>
            <a:prstGeom prst="roundRect">
              <a:avLst/>
            </a:prstGeom>
            <a:solidFill>
              <a:srgbClr val="D80A33"/>
            </a:solidFill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8674246" y="2569025"/>
              <a:ext cx="697628" cy="431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合作</a:t>
              </a:r>
            </a:p>
          </p:txBody>
        </p:sp>
      </p:grpSp>
      <p:sp>
        <p:nvSpPr>
          <p:cNvPr id="49" name="圆角矩形 48"/>
          <p:cNvSpPr/>
          <p:nvPr/>
        </p:nvSpPr>
        <p:spPr>
          <a:xfrm>
            <a:off x="1708763" y="3532972"/>
            <a:ext cx="6386945" cy="607260"/>
          </a:xfrm>
          <a:prstGeom prst="roundRect">
            <a:avLst/>
          </a:prstGeom>
          <a:noFill/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1708763" y="5776641"/>
            <a:ext cx="6386945" cy="607260"/>
          </a:xfrm>
          <a:prstGeom prst="roundRect">
            <a:avLst/>
          </a:prstGeom>
          <a:noFill/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圆角矩形 51"/>
          <p:cNvSpPr/>
          <p:nvPr/>
        </p:nvSpPr>
        <p:spPr>
          <a:xfrm>
            <a:off x="1708763" y="4656937"/>
            <a:ext cx="6386945" cy="607260"/>
          </a:xfrm>
          <a:prstGeom prst="roundRect">
            <a:avLst/>
          </a:prstGeom>
          <a:noFill/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99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319742" y="638294"/>
            <a:ext cx="7992985" cy="607260"/>
          </a:xfrm>
          <a:prstGeom prst="roundRect">
            <a:avLst/>
          </a:prstGeom>
          <a:noFill/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310220" y="1733674"/>
            <a:ext cx="1477904" cy="435278"/>
            <a:chOff x="1206890" y="1989619"/>
            <a:chExt cx="1477904" cy="435278"/>
          </a:xfrm>
          <a:effectLst/>
        </p:grpSpPr>
        <p:sp>
          <p:nvSpPr>
            <p:cNvPr id="5" name="矩形 4"/>
            <p:cNvSpPr/>
            <p:nvPr/>
          </p:nvSpPr>
          <p:spPr>
            <a:xfrm rot="5400000" flipV="1">
              <a:off x="1726100" y="1470409"/>
              <a:ext cx="435278" cy="1473697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6" name="矩形 5"/>
            <p:cNvSpPr/>
            <p:nvPr/>
          </p:nvSpPr>
          <p:spPr>
            <a:xfrm>
              <a:off x="1217726" y="20106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举个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栗子：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07201" y="2699661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电影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无人区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》,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方圆几百里只有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个加油站，虽然油钱贵的离谱，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男主角在急需用汽油，还价无果后也只能妥协接受附加业务，乖乖掏钱。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61853" y="740226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处于弱势地位，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除了答应要求别无选择</a:t>
            </a:r>
            <a:endParaRPr lang="zh-CN" altLang="en-US" sz="2000" dirty="0"/>
          </a:p>
        </p:txBody>
      </p:sp>
      <p:sp>
        <p:nvSpPr>
          <p:cNvPr id="14" name="椭圆形标注 13"/>
          <p:cNvSpPr/>
          <p:nvPr/>
        </p:nvSpPr>
        <p:spPr>
          <a:xfrm>
            <a:off x="2715985" y="4281714"/>
            <a:ext cx="1277257" cy="769258"/>
          </a:xfrm>
          <a:prstGeom prst="wedgeEllipseCallou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形标注 14"/>
          <p:cNvSpPr/>
          <p:nvPr/>
        </p:nvSpPr>
        <p:spPr>
          <a:xfrm>
            <a:off x="510599" y="4602040"/>
            <a:ext cx="1277257" cy="769258"/>
          </a:xfrm>
          <a:prstGeom prst="wedgeEllipseCallout">
            <a:avLst>
              <a:gd name="adj1" fmla="val 39395"/>
              <a:gd name="adj2" fmla="val 56840"/>
            </a:avLst>
          </a:prstGeom>
          <a:solidFill>
            <a:srgbClr val="74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多少钱？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形标注 16"/>
          <p:cNvSpPr/>
          <p:nvPr/>
        </p:nvSpPr>
        <p:spPr>
          <a:xfrm>
            <a:off x="7395028" y="4187371"/>
            <a:ext cx="1277257" cy="769258"/>
          </a:xfrm>
          <a:prstGeom prst="wedgeEllipseCallou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形标注 17"/>
          <p:cNvSpPr/>
          <p:nvPr/>
        </p:nvSpPr>
        <p:spPr>
          <a:xfrm>
            <a:off x="5118885" y="4602040"/>
            <a:ext cx="1277257" cy="769258"/>
          </a:xfrm>
          <a:prstGeom prst="wedgeEllipseCallout">
            <a:avLst>
              <a:gd name="adj1" fmla="val 39395"/>
              <a:gd name="adj2" fmla="val 56840"/>
            </a:avLst>
          </a:prstGeom>
          <a:solidFill>
            <a:srgbClr val="74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吧？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341384" y="5860480"/>
            <a:ext cx="818480" cy="235528"/>
          </a:xfrm>
          <a:prstGeom prst="ellipse">
            <a:avLst/>
          </a:prstGeom>
          <a:solidFill>
            <a:srgbClr val="C2BFB8">
              <a:alpha val="23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715985" y="6021388"/>
            <a:ext cx="818480" cy="235528"/>
          </a:xfrm>
          <a:prstGeom prst="ellipse">
            <a:avLst/>
          </a:prstGeom>
          <a:solidFill>
            <a:srgbClr val="C2BFB8">
              <a:alpha val="23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763869" y="5860480"/>
            <a:ext cx="818480" cy="235528"/>
          </a:xfrm>
          <a:prstGeom prst="ellipse">
            <a:avLst/>
          </a:prstGeom>
          <a:solidFill>
            <a:srgbClr val="C2BFB8">
              <a:alpha val="23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7138470" y="6021388"/>
            <a:ext cx="818480" cy="235528"/>
          </a:xfrm>
          <a:prstGeom prst="ellipse">
            <a:avLst/>
          </a:prstGeom>
          <a:solidFill>
            <a:srgbClr val="C2BFB8">
              <a:alpha val="23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4572000" y="3904343"/>
            <a:ext cx="0" cy="26989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0" y="6603286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2570" y="6093245"/>
            <a:ext cx="494345" cy="494345"/>
          </a:xfrm>
          <a:prstGeom prst="ellipse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653568" y="6094504"/>
            <a:ext cx="494345" cy="494345"/>
          </a:xfrm>
          <a:prstGeom prst="ellipse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9742" y="648006"/>
            <a:ext cx="976312" cy="562872"/>
            <a:chOff x="8509117" y="2479813"/>
            <a:chExt cx="976312" cy="607260"/>
          </a:xfrm>
          <a:effectLst/>
        </p:grpSpPr>
        <p:sp>
          <p:nvSpPr>
            <p:cNvPr id="26" name="圆角矩形 25"/>
            <p:cNvSpPr/>
            <p:nvPr/>
          </p:nvSpPr>
          <p:spPr>
            <a:xfrm>
              <a:off x="8509117" y="2479813"/>
              <a:ext cx="976312" cy="607260"/>
            </a:xfrm>
            <a:prstGeom prst="roundRect">
              <a:avLst/>
            </a:prstGeom>
            <a:solidFill>
              <a:srgbClr val="746241"/>
            </a:solidFill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8674246" y="2569025"/>
              <a:ext cx="697628" cy="431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迁就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360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/>
          <p:cNvSpPr/>
          <p:nvPr/>
        </p:nvSpPr>
        <p:spPr>
          <a:xfrm>
            <a:off x="319742" y="638294"/>
            <a:ext cx="7992985" cy="607260"/>
          </a:xfrm>
          <a:prstGeom prst="roundRect">
            <a:avLst/>
          </a:prstGeom>
          <a:noFill/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82515" y="1733674"/>
            <a:ext cx="1477904" cy="435278"/>
            <a:chOff x="1206890" y="1989619"/>
            <a:chExt cx="1477904" cy="4352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矩形 4"/>
            <p:cNvSpPr/>
            <p:nvPr/>
          </p:nvSpPr>
          <p:spPr>
            <a:xfrm rot="5400000" flipV="1">
              <a:off x="1726100" y="1470409"/>
              <a:ext cx="435278" cy="1473697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6" name="矩形 5"/>
            <p:cNvSpPr/>
            <p:nvPr/>
          </p:nvSpPr>
          <p:spPr>
            <a:xfrm>
              <a:off x="1217726" y="20106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举个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栗子：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79496" y="2699661"/>
            <a:ext cx="8161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小强去逛街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店看中一款衣服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元，去到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店同款同品牌要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小强问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店的店员衣服可否打折，店员回答否，小强笑而不语，走了。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78721" y="740226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所谈判的事情无关紧要或有其他更好的选择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形标注 13"/>
          <p:cNvSpPr/>
          <p:nvPr/>
        </p:nvSpPr>
        <p:spPr>
          <a:xfrm>
            <a:off x="2715985" y="4281714"/>
            <a:ext cx="1277257" cy="769258"/>
          </a:xfrm>
          <a:prstGeom prst="wedgeEllipseCallou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不打折哦亲！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形标注 14"/>
          <p:cNvSpPr/>
          <p:nvPr/>
        </p:nvSpPr>
        <p:spPr>
          <a:xfrm>
            <a:off x="510599" y="4602040"/>
            <a:ext cx="1277257" cy="769258"/>
          </a:xfrm>
          <a:prstGeom prst="wedgeEllipseCallout">
            <a:avLst>
              <a:gd name="adj1" fmla="val 39395"/>
              <a:gd name="adj2" fmla="val 5684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打折吗？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形标注 16"/>
          <p:cNvSpPr/>
          <p:nvPr/>
        </p:nvSpPr>
        <p:spPr>
          <a:xfrm>
            <a:off x="7395028" y="4187371"/>
            <a:ext cx="1277257" cy="769258"/>
          </a:xfrm>
          <a:prstGeom prst="wedgeEllipseCallou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亲，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别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形标注 17"/>
          <p:cNvSpPr/>
          <p:nvPr/>
        </p:nvSpPr>
        <p:spPr>
          <a:xfrm>
            <a:off x="5118885" y="4602040"/>
            <a:ext cx="1277257" cy="769258"/>
          </a:xfrm>
          <a:prstGeom prst="wedgeEllipseCallout">
            <a:avLst>
              <a:gd name="adj1" fmla="val 39395"/>
              <a:gd name="adj2" fmla="val 5684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….!!!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341384" y="5860480"/>
            <a:ext cx="818480" cy="235528"/>
          </a:xfrm>
          <a:prstGeom prst="ellipse">
            <a:avLst/>
          </a:prstGeom>
          <a:solidFill>
            <a:srgbClr val="C2BFB8">
              <a:alpha val="23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715985" y="6021388"/>
            <a:ext cx="818480" cy="235528"/>
          </a:xfrm>
          <a:prstGeom prst="ellipse">
            <a:avLst/>
          </a:prstGeom>
          <a:solidFill>
            <a:srgbClr val="C2BFB8">
              <a:alpha val="23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763869" y="5860480"/>
            <a:ext cx="818480" cy="235528"/>
          </a:xfrm>
          <a:prstGeom prst="ellipse">
            <a:avLst/>
          </a:prstGeom>
          <a:solidFill>
            <a:srgbClr val="C2BFB8">
              <a:alpha val="23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7138470" y="6021388"/>
            <a:ext cx="818480" cy="235528"/>
          </a:xfrm>
          <a:prstGeom prst="ellipse">
            <a:avLst/>
          </a:prstGeom>
          <a:solidFill>
            <a:srgbClr val="C2BFB8">
              <a:alpha val="23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4572000" y="3904343"/>
            <a:ext cx="0" cy="26989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0" y="6603286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2570" y="6093245"/>
            <a:ext cx="494345" cy="494345"/>
          </a:xfrm>
          <a:prstGeom prst="ellipse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653568" y="6094504"/>
            <a:ext cx="494345" cy="494345"/>
          </a:xfrm>
          <a:prstGeom prst="ellipse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79496" y="637866"/>
            <a:ext cx="976312" cy="562872"/>
            <a:chOff x="8509117" y="2479813"/>
            <a:chExt cx="976312" cy="607260"/>
          </a:xfrm>
          <a:effectLst/>
        </p:grpSpPr>
        <p:sp>
          <p:nvSpPr>
            <p:cNvPr id="29" name="圆角矩形 28"/>
            <p:cNvSpPr/>
            <p:nvPr/>
          </p:nvSpPr>
          <p:spPr>
            <a:xfrm>
              <a:off x="8509117" y="2479813"/>
              <a:ext cx="976312" cy="607260"/>
            </a:xfrm>
            <a:prstGeom prst="roundRect">
              <a:avLst/>
            </a:prstGeom>
            <a:solidFill>
              <a:srgbClr val="000000"/>
            </a:solidFill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8674246" y="2569025"/>
              <a:ext cx="697628" cy="431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83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034938"/>
            <a:ext cx="8312727" cy="5044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319742" y="527456"/>
            <a:ext cx="7992985" cy="607260"/>
          </a:xfrm>
          <a:prstGeom prst="roundRect">
            <a:avLst/>
          </a:prstGeom>
          <a:noFill/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472142" y="1635824"/>
            <a:ext cx="7840585" cy="607260"/>
          </a:xfrm>
          <a:prstGeom prst="roundRect">
            <a:avLst/>
          </a:prstGeom>
          <a:noFill/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54146" y="2858524"/>
            <a:ext cx="1713201" cy="435278"/>
            <a:chOff x="1206890" y="1989619"/>
            <a:chExt cx="1658854" cy="435278"/>
          </a:xfrm>
          <a:effectLst/>
        </p:grpSpPr>
        <p:sp>
          <p:nvSpPr>
            <p:cNvPr id="5" name="矩形 4"/>
            <p:cNvSpPr/>
            <p:nvPr/>
          </p:nvSpPr>
          <p:spPr>
            <a:xfrm rot="5400000" flipV="1">
              <a:off x="1726100" y="1470409"/>
              <a:ext cx="435278" cy="1473697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6" name="矩形 5"/>
            <p:cNvSpPr/>
            <p:nvPr/>
          </p:nvSpPr>
          <p:spPr>
            <a:xfrm>
              <a:off x="1217726" y="2010691"/>
              <a:ext cx="164801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举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栗子：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81380" y="3612463"/>
            <a:ext cx="823709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遭遇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小三？ 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斗争到底 。</a:t>
            </a:r>
            <a:r>
              <a:rPr lang="zh-CN" altLang="en-US" sz="2000" b="1" dirty="0" smtClean="0">
                <a:solidFill>
                  <a:srgbClr val="D80A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</a:t>
            </a:r>
            <a:r>
              <a:rPr lang="zh-CN" altLang="en-US" sz="2000" b="1" dirty="0">
                <a:solidFill>
                  <a:srgbClr val="D80A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隔壁秃顶王老五貌似不错，介绍给小三。</a:t>
            </a:r>
            <a:r>
              <a:rPr lang="zh-CN" altLang="en-US" sz="2000" b="1" dirty="0" smtClean="0">
                <a:solidFill>
                  <a:srgbClr val="D80A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合作策略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15485" y="643241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对手无合作意向，不值得合作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315484" y="1744162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各方团队愿意合作</a:t>
            </a:r>
            <a:endParaRPr lang="zh-CN" altLang="en-US" sz="2000" dirty="0"/>
          </a:p>
        </p:txBody>
      </p:sp>
      <p:sp>
        <p:nvSpPr>
          <p:cNvPr id="31" name="文本框 30"/>
          <p:cNvSpPr txBox="1"/>
          <p:nvPr/>
        </p:nvSpPr>
        <p:spPr>
          <a:xfrm>
            <a:off x="15594" y="6090358"/>
            <a:ext cx="828204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Ps: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当无法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确定对方风格时，把对方视为合作性谈判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便于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转变策略。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16251" y="539007"/>
            <a:ext cx="976312" cy="562872"/>
            <a:chOff x="8509117" y="2479813"/>
            <a:chExt cx="976312" cy="607260"/>
          </a:xfrm>
          <a:effectLst/>
        </p:grpSpPr>
        <p:sp>
          <p:nvSpPr>
            <p:cNvPr id="15" name="圆角矩形 14"/>
            <p:cNvSpPr/>
            <p:nvPr/>
          </p:nvSpPr>
          <p:spPr>
            <a:xfrm>
              <a:off x="8509117" y="2479813"/>
              <a:ext cx="976312" cy="607260"/>
            </a:xfrm>
            <a:prstGeom prst="roundRect">
              <a:avLst/>
            </a:prstGeom>
            <a:solidFill>
              <a:srgbClr val="BF9000"/>
            </a:solidFill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8674246" y="2569025"/>
              <a:ext cx="697628" cy="431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竞争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16251" y="1647124"/>
            <a:ext cx="976312" cy="562872"/>
            <a:chOff x="8509117" y="2479813"/>
            <a:chExt cx="976312" cy="607260"/>
          </a:xfrm>
          <a:effectLst/>
        </p:grpSpPr>
        <p:sp>
          <p:nvSpPr>
            <p:cNvPr id="18" name="圆角矩形 17"/>
            <p:cNvSpPr/>
            <p:nvPr/>
          </p:nvSpPr>
          <p:spPr>
            <a:xfrm>
              <a:off x="8509117" y="2479813"/>
              <a:ext cx="976312" cy="607260"/>
            </a:xfrm>
            <a:prstGeom prst="roundRect">
              <a:avLst/>
            </a:prstGeom>
            <a:solidFill>
              <a:srgbClr val="D80A33"/>
            </a:solidFill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8674246" y="2569025"/>
              <a:ext cx="697628" cy="431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162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861250" y="6200962"/>
            <a:ext cx="7410061" cy="5044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55186" y="385652"/>
            <a:ext cx="1829754" cy="945227"/>
          </a:xfrm>
          <a:prstGeom prst="rect">
            <a:avLst/>
          </a:prstGeom>
          <a:solidFill>
            <a:srgbClr val="211D1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0" name="矩形 39"/>
          <p:cNvSpPr/>
          <p:nvPr/>
        </p:nvSpPr>
        <p:spPr>
          <a:xfrm rot="5400000" flipV="1">
            <a:off x="-3008607" y="3008608"/>
            <a:ext cx="6858003" cy="840783"/>
          </a:xfrm>
          <a:prstGeom prst="rect">
            <a:avLst/>
          </a:prstGeom>
          <a:solidFill>
            <a:srgbClr val="D80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9" name="矩形 38"/>
          <p:cNvSpPr/>
          <p:nvPr/>
        </p:nvSpPr>
        <p:spPr>
          <a:xfrm>
            <a:off x="769347" y="2964434"/>
            <a:ext cx="60904" cy="666224"/>
          </a:xfrm>
          <a:prstGeom prst="rect">
            <a:avLst/>
          </a:prstGeom>
          <a:solidFill>
            <a:srgbClr val="21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6" name="文本框 55"/>
          <p:cNvSpPr txBox="1"/>
          <p:nvPr/>
        </p:nvSpPr>
        <p:spPr>
          <a:xfrm>
            <a:off x="2886587" y="293217"/>
            <a:ext cx="5388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Your one minute drill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（一分钟演练）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886588" y="989967"/>
            <a:ext cx="5388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每一次开始谈判前花一分钟回顾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三个步骤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000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955352" y="506930"/>
            <a:ext cx="1628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eas</a:t>
            </a:r>
            <a:r>
              <a:rPr lang="en-US" altLang="zh-CN" sz="4800" dirty="0" err="1" smtClean="0">
                <a:ln w="19050">
                  <a:solidFill>
                    <a:schemeClr val="bg1"/>
                  </a:solidFill>
                </a:ln>
                <a:solidFill>
                  <a:srgbClr val="D80A33"/>
                </a:solidFill>
                <a:latin typeface="方正粗宋_GBK" panose="03000509000000000000" pitchFamily="65" charset="-122"/>
                <a:ea typeface="方正粗宋_GBK" panose="03000509000000000000" pitchFamily="65" charset="-122"/>
              </a:rPr>
              <a:t>Y</a:t>
            </a:r>
            <a:endParaRPr lang="en-US" altLang="zh-CN" sz="4800" dirty="0">
              <a:solidFill>
                <a:schemeClr val="tx1">
                  <a:lumMod val="50000"/>
                  <a:lumOff val="50000"/>
                </a:schemeClr>
              </a:solidFill>
              <a:latin typeface="方正粗宋_GBK" panose="03000509000000000000" pitchFamily="65" charset="-122"/>
              <a:ea typeface="方正粗宋_GBK" panose="03000509000000000000" pitchFamily="65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187793" y="3279229"/>
            <a:ext cx="1512524" cy="2058949"/>
            <a:chOff x="2221110" y="3516738"/>
            <a:chExt cx="1588890" cy="2058949"/>
          </a:xfrm>
          <a:effectLst/>
        </p:grpSpPr>
        <p:sp>
          <p:nvSpPr>
            <p:cNvPr id="12" name="圆角矩形 11"/>
            <p:cNvSpPr/>
            <p:nvPr/>
          </p:nvSpPr>
          <p:spPr>
            <a:xfrm>
              <a:off x="2221110" y="3516739"/>
              <a:ext cx="1588890" cy="2058948"/>
            </a:xfrm>
            <a:prstGeom prst="roundRect">
              <a:avLst/>
            </a:prstGeom>
            <a:solidFill>
              <a:srgbClr val="A3967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进入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谈判状态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221110" y="3516738"/>
              <a:ext cx="1588890" cy="445664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788435" y="3257327"/>
            <a:ext cx="1513523" cy="2080851"/>
            <a:chOff x="4570951" y="3494836"/>
            <a:chExt cx="1589939" cy="2080851"/>
          </a:xfrm>
        </p:grpSpPr>
        <p:sp>
          <p:nvSpPr>
            <p:cNvPr id="15" name="圆角矩形 14"/>
            <p:cNvSpPr/>
            <p:nvPr/>
          </p:nvSpPr>
          <p:spPr>
            <a:xfrm>
              <a:off x="4572000" y="3494837"/>
              <a:ext cx="1588890" cy="2080850"/>
            </a:xfrm>
            <a:prstGeom prst="roundRect">
              <a:avLst/>
            </a:prstGeom>
            <a:solidFill>
              <a:srgbClr val="A3967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评估</a:t>
              </a:r>
              <a:endPara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对手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</a:t>
              </a:r>
              <a:endPara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570951" y="3494836"/>
              <a:ext cx="1588890" cy="445664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90125" y="3257327"/>
            <a:ext cx="1513523" cy="2080851"/>
            <a:chOff x="6921841" y="3494836"/>
            <a:chExt cx="1589939" cy="2080851"/>
          </a:xfrm>
        </p:grpSpPr>
        <p:sp>
          <p:nvSpPr>
            <p:cNvPr id="18" name="圆角矩形 17"/>
            <p:cNvSpPr/>
            <p:nvPr/>
          </p:nvSpPr>
          <p:spPr>
            <a:xfrm>
              <a:off x="6922890" y="3494837"/>
              <a:ext cx="1588890" cy="2080850"/>
            </a:xfrm>
            <a:prstGeom prst="roundRect">
              <a:avLst/>
            </a:prstGeom>
            <a:solidFill>
              <a:srgbClr val="A3967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制定</a:t>
              </a:r>
              <a:endPara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可行性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921841" y="3494836"/>
              <a:ext cx="1588890" cy="445664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207036" y="1906489"/>
            <a:ext cx="1533324" cy="435278"/>
            <a:chOff x="1206890" y="1989619"/>
            <a:chExt cx="1533324" cy="435278"/>
          </a:xfrm>
          <a:effectLst/>
        </p:grpSpPr>
        <p:sp>
          <p:nvSpPr>
            <p:cNvPr id="22" name="矩形 21"/>
            <p:cNvSpPr/>
            <p:nvPr/>
          </p:nvSpPr>
          <p:spPr>
            <a:xfrm rot="5400000" flipV="1">
              <a:off x="1726100" y="1470409"/>
              <a:ext cx="435278" cy="1473697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3" name="矩形 22"/>
            <p:cNvSpPr/>
            <p:nvPr/>
          </p:nvSpPr>
          <p:spPr>
            <a:xfrm>
              <a:off x="1273146" y="201069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演练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步骤：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4106" y="6268499"/>
            <a:ext cx="7427205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Tips</a:t>
            </a:r>
            <a:r>
              <a:rPr lang="zh-CN" altLang="en-US" b="1" dirty="0" smtClean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：不一定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每次谈判都会成功，重要的</a:t>
            </a:r>
            <a:r>
              <a:rPr lang="zh-CN" altLang="en-US" b="1" dirty="0" smtClean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是从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失败中找方法</a:t>
            </a:r>
            <a:r>
              <a:rPr lang="zh-CN" altLang="en-US" b="1" dirty="0" smtClean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30251" y="-26950"/>
            <a:ext cx="34289" cy="6976536"/>
          </a:xfrm>
          <a:prstGeom prst="rect">
            <a:avLst/>
          </a:prstGeom>
          <a:solidFill>
            <a:srgbClr val="21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67344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20356" y="2883194"/>
            <a:ext cx="47169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 You !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641943" y="2306323"/>
            <a:ext cx="5714202" cy="1830128"/>
          </a:xfrm>
          <a:prstGeom prst="round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51617" y="1906489"/>
            <a:ext cx="1068740" cy="435278"/>
            <a:chOff x="1206890" y="1989619"/>
            <a:chExt cx="1473697" cy="435278"/>
          </a:xfrm>
          <a:effectLst/>
        </p:grpSpPr>
        <p:sp>
          <p:nvSpPr>
            <p:cNvPr id="7" name="矩形 6"/>
            <p:cNvSpPr/>
            <p:nvPr/>
          </p:nvSpPr>
          <p:spPr>
            <a:xfrm rot="5400000" flipV="1">
              <a:off x="1726100" y="1470409"/>
              <a:ext cx="435278" cy="1473697"/>
            </a:xfrm>
            <a:prstGeom prst="rect">
              <a:avLst/>
            </a:prstGeom>
            <a:solidFill>
              <a:srgbClr val="D80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8" name="矩形 7"/>
            <p:cNvSpPr/>
            <p:nvPr/>
          </p:nvSpPr>
          <p:spPr>
            <a:xfrm>
              <a:off x="1273146" y="2010691"/>
              <a:ext cx="9541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尾声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410664" y="4314195"/>
            <a:ext cx="19975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指导老师 </a:t>
            </a:r>
            <a:r>
              <a:rPr lang="en-US" altLang="zh-CN" sz="1400" dirty="0" smtClean="0"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@</a:t>
            </a:r>
            <a:r>
              <a:rPr lang="zh-CN" altLang="en-US" sz="1400" dirty="0" smtClean="0"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水蓦</a:t>
            </a:r>
            <a:endParaRPr lang="en-US" altLang="zh-CN" sz="1400" dirty="0" smtClean="0">
              <a:latin typeface="Arial" panose="020B0604020202020204" pitchFamily="34" charset="0"/>
              <a:ea typeface="Adobe 繁黑體 Std B" panose="020B0700000000000000" pitchFamily="34" charset="-128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PPT  by  @</a:t>
            </a:r>
            <a:r>
              <a:rPr lang="en-US" altLang="zh-CN" sz="1400" dirty="0" err="1"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fantasic</a:t>
            </a:r>
            <a:r>
              <a:rPr lang="en-US" altLang="zh-CN" sz="1400" dirty="0"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_</a:t>
            </a:r>
            <a:r>
              <a:rPr lang="zh-CN" altLang="en-US" sz="1400" dirty="0" smtClean="0"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强</a:t>
            </a:r>
            <a:endParaRPr lang="en-US" altLang="zh-CN" sz="1400" dirty="0" smtClean="0">
              <a:latin typeface="Arial" panose="020B0604020202020204" pitchFamily="34" charset="0"/>
              <a:ea typeface="Adobe 繁黑體 Std B" panose="020B0700000000000000" pitchFamily="34" charset="-128"/>
              <a:cs typeface="Arial" panose="020B0604020202020204" pitchFamily="34" charset="0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400" dirty="0" smtClean="0">
                <a:latin typeface="Arial" panose="020B0604020202020204" pitchFamily="34" charset="0"/>
                <a:ea typeface="Adobe 繁黑體 Std B" panose="020B0700000000000000" pitchFamily="34" charset="-128"/>
                <a:cs typeface="Arial" panose="020B0604020202020204" pitchFamily="34" charset="0"/>
              </a:rPr>
              <a:t> </a:t>
            </a:r>
            <a:endParaRPr lang="en-US" altLang="zh-CN" sz="1400" dirty="0">
              <a:latin typeface="Arial" panose="020B0604020202020204" pitchFamily="34" charset="0"/>
              <a:ea typeface="Adobe 繁黑體 Std B" panose="020B07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41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2718</TotalTime>
  <Words>877</Words>
  <Application>Microsoft Office PowerPoint</Application>
  <PresentationFormat>全屏显示(4:3)</PresentationFormat>
  <Paragraphs>190</Paragraphs>
  <Slides>16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Adobe Garamond Pro Bold</vt:lpstr>
      <vt:lpstr>Adobe 繁黑體 Std B</vt:lpstr>
      <vt:lpstr>Arial Unicode MS</vt:lpstr>
      <vt:lpstr>方正粗宋_GBK</vt:lpstr>
      <vt:lpstr>方正粗宋简体</vt:lpstr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it</dc:creator>
  <cp:lastModifiedBy>USER</cp:lastModifiedBy>
  <cp:revision>535</cp:revision>
  <dcterms:created xsi:type="dcterms:W3CDTF">2014-06-10T13:11:57Z</dcterms:created>
  <dcterms:modified xsi:type="dcterms:W3CDTF">2014-07-27T03:48:51Z</dcterms:modified>
</cp:coreProperties>
</file>