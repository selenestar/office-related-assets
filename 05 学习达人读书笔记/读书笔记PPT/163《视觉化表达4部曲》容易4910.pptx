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embeddedFontLst>
    <p:embeddedFont>
      <p:font typeface="微软雅黑" panose="020B0503020204020204" pitchFamily="34" charset="-122"/>
      <p:regular r:id="rId11"/>
      <p:bold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汉仪菱心体简" panose="02010600030101010101" charset="-122"/>
      <p:regular r:id="rId15"/>
    </p:embeddedFont>
    <p:embeddedFont>
      <p:font typeface="方正喵呜体" panose="02010600010101010101" pitchFamily="2" charset="-122"/>
      <p:regular r:id="rId16"/>
    </p:embeddedFont>
    <p:embeddedFont>
      <p:font typeface="方正正中黑简体" panose="02000000000000000000" pitchFamily="2" charset="-122"/>
      <p:regular r:id="rId17"/>
    </p:embeddedFont>
    <p:embeddedFont>
      <p:font typeface="Microsoft YaHei UI" panose="020B0503020204020204" pitchFamily="34" charset="-122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方正正黑简体" panose="02000000000000000000" pitchFamily="2" charset="-122"/>
      <p:regular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6" userDrawn="1">
          <p15:clr>
            <a:srgbClr val="A4A3A4"/>
          </p15:clr>
        </p15:guide>
        <p15:guide id="2" pos="2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FEE"/>
    <a:srgbClr val="FBE7E5"/>
    <a:srgbClr val="FDF6F5"/>
    <a:srgbClr val="499D9C"/>
    <a:srgbClr val="E6695B"/>
    <a:srgbClr val="F0A230"/>
    <a:srgbClr val="F2B14D"/>
    <a:srgbClr val="FDF1DF"/>
    <a:srgbClr val="FAE4E2"/>
    <a:srgbClr val="F7D1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91" autoAdjust="0"/>
    <p:restoredTop sz="94660"/>
  </p:normalViewPr>
  <p:slideViewPr>
    <p:cSldViewPr>
      <p:cViewPr varScale="1">
        <p:scale>
          <a:sx n="70" d="100"/>
          <a:sy n="70" d="100"/>
        </p:scale>
        <p:origin x="1338" y="66"/>
      </p:cViewPr>
      <p:guideLst>
        <p:guide orient="horz" pos="2886"/>
        <p:guide pos="2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2014/10/8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2014/10/8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926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018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065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67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059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654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074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6709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2420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4296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6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63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1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291530" y="-620931"/>
            <a:ext cx="8716044" cy="4508927"/>
            <a:chOff x="-108520" y="-754281"/>
            <a:chExt cx="8716044" cy="4508927"/>
          </a:xfrm>
        </p:grpSpPr>
        <p:sp>
          <p:nvSpPr>
            <p:cNvPr id="6" name="文本框 5"/>
            <p:cNvSpPr txBox="1"/>
            <p:nvPr/>
          </p:nvSpPr>
          <p:spPr>
            <a:xfrm>
              <a:off x="-108520" y="-754281"/>
              <a:ext cx="2508197" cy="4508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700" dirty="0" smtClean="0">
                  <a:solidFill>
                    <a:srgbClr val="D65A5A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4</a:t>
              </a:r>
              <a:endParaRPr lang="zh-CN" altLang="en-US" sz="13800" dirty="0">
                <a:solidFill>
                  <a:srgbClr val="D65A5A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019300" y="59482"/>
              <a:ext cx="6588224" cy="2800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800" spc="600" dirty="0" smtClean="0">
                  <a:solidFill>
                    <a:srgbClr val="2C91BA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视觉化表达</a:t>
              </a:r>
              <a:endParaRPr lang="en-US" altLang="zh-CN" sz="8800" spc="600" dirty="0" smtClean="0">
                <a:solidFill>
                  <a:srgbClr val="2C91BA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  <a:p>
              <a:r>
                <a:rPr lang="zh-CN" altLang="en-US" sz="8800" spc="600" dirty="0" smtClean="0">
                  <a:solidFill>
                    <a:srgbClr val="2C91BA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部曲</a:t>
              </a:r>
              <a:endParaRPr lang="en-US" altLang="zh-CN" sz="8800" spc="600" dirty="0" smtClean="0">
                <a:solidFill>
                  <a:srgbClr val="2C91BA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9" t="15043" r="30053" b="25906"/>
          <a:stretch/>
        </p:blipFill>
        <p:spPr>
          <a:xfrm>
            <a:off x="4743312" y="3784186"/>
            <a:ext cx="3787454" cy="2655042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5240498" y="4581144"/>
            <a:ext cx="576048" cy="576048"/>
            <a:chOff x="6372200" y="3212976"/>
            <a:chExt cx="819020" cy="819020"/>
          </a:xfrm>
          <a:effectLst/>
        </p:grpSpPr>
        <p:sp>
          <p:nvSpPr>
            <p:cNvPr id="9" name="圆角矩形 8"/>
            <p:cNvSpPr/>
            <p:nvPr/>
          </p:nvSpPr>
          <p:spPr>
            <a:xfrm>
              <a:off x="6372200" y="3212976"/>
              <a:ext cx="819020" cy="819020"/>
            </a:xfrm>
            <a:prstGeom prst="roundRect">
              <a:avLst/>
            </a:prstGeom>
            <a:solidFill>
              <a:srgbClr val="E56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8044" y="3406486"/>
              <a:ext cx="687332" cy="432000"/>
            </a:xfrm>
            <a:prstGeom prst="rect">
              <a:avLst/>
            </a:prstGeom>
            <a:effectLst/>
          </p:spPr>
        </p:pic>
      </p:grpSp>
      <p:grpSp>
        <p:nvGrpSpPr>
          <p:cNvPr id="14" name="组合 13"/>
          <p:cNvGrpSpPr/>
          <p:nvPr/>
        </p:nvGrpSpPr>
        <p:grpSpPr>
          <a:xfrm>
            <a:off x="5987520" y="4581144"/>
            <a:ext cx="576048" cy="576048"/>
            <a:chOff x="8090713" y="3406486"/>
            <a:chExt cx="819020" cy="819020"/>
          </a:xfrm>
          <a:effectLst/>
        </p:grpSpPr>
        <p:sp>
          <p:nvSpPr>
            <p:cNvPr id="11" name="圆角矩形 10"/>
            <p:cNvSpPr/>
            <p:nvPr/>
          </p:nvSpPr>
          <p:spPr>
            <a:xfrm>
              <a:off x="8090713" y="3406486"/>
              <a:ext cx="819020" cy="819020"/>
            </a:xfrm>
            <a:prstGeom prst="roundRect">
              <a:avLst/>
            </a:prstGeom>
            <a:solidFill>
              <a:srgbClr val="F2B1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4223" y="3599996"/>
              <a:ext cx="432000" cy="432000"/>
            </a:xfrm>
            <a:prstGeom prst="rect">
              <a:avLst/>
            </a:prstGeom>
            <a:effectLst/>
          </p:spPr>
        </p:pic>
      </p:grpSp>
      <p:grpSp>
        <p:nvGrpSpPr>
          <p:cNvPr id="16" name="组合 15"/>
          <p:cNvGrpSpPr/>
          <p:nvPr/>
        </p:nvGrpSpPr>
        <p:grpSpPr>
          <a:xfrm>
            <a:off x="6734542" y="4581144"/>
            <a:ext cx="576048" cy="576048"/>
            <a:chOff x="6516216" y="4956764"/>
            <a:chExt cx="819020" cy="819020"/>
          </a:xfrm>
          <a:effectLst/>
        </p:grpSpPr>
        <p:sp>
          <p:nvSpPr>
            <p:cNvPr id="12" name="圆角矩形 11"/>
            <p:cNvSpPr/>
            <p:nvPr/>
          </p:nvSpPr>
          <p:spPr>
            <a:xfrm>
              <a:off x="6516216" y="4956764"/>
              <a:ext cx="819020" cy="819020"/>
            </a:xfrm>
            <a:prstGeom prst="roundRect">
              <a:avLst/>
            </a:prstGeom>
            <a:solidFill>
              <a:srgbClr val="E669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1774" y="5150274"/>
              <a:ext cx="367904" cy="432000"/>
            </a:xfrm>
            <a:prstGeom prst="rect">
              <a:avLst/>
            </a:prstGeom>
            <a:effectLst/>
          </p:spPr>
        </p:pic>
      </p:grpSp>
      <p:grpSp>
        <p:nvGrpSpPr>
          <p:cNvPr id="15" name="组合 14"/>
          <p:cNvGrpSpPr/>
          <p:nvPr/>
        </p:nvGrpSpPr>
        <p:grpSpPr>
          <a:xfrm>
            <a:off x="7481565" y="4581144"/>
            <a:ext cx="576048" cy="576048"/>
            <a:chOff x="8090713" y="5130260"/>
            <a:chExt cx="819020" cy="819020"/>
          </a:xfrm>
          <a:effectLst/>
        </p:grpSpPr>
        <p:sp>
          <p:nvSpPr>
            <p:cNvPr id="13" name="圆角矩形 12"/>
            <p:cNvSpPr/>
            <p:nvPr/>
          </p:nvSpPr>
          <p:spPr>
            <a:xfrm>
              <a:off x="8090713" y="5130260"/>
              <a:ext cx="819020" cy="819020"/>
            </a:xfrm>
            <a:prstGeom prst="roundRect">
              <a:avLst/>
            </a:prstGeom>
            <a:solidFill>
              <a:srgbClr val="499D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4223" y="5323770"/>
              <a:ext cx="432000" cy="432000"/>
            </a:xfrm>
            <a:prstGeom prst="rect">
              <a:avLst/>
            </a:prstGeom>
            <a:effectLst/>
          </p:spPr>
        </p:pic>
      </p:grpSp>
      <p:cxnSp>
        <p:nvCxnSpPr>
          <p:cNvPr id="20" name="直接连接符 19"/>
          <p:cNvCxnSpPr/>
          <p:nvPr/>
        </p:nvCxnSpPr>
        <p:spPr>
          <a:xfrm>
            <a:off x="5517690" y="5143491"/>
            <a:ext cx="0" cy="2304256"/>
          </a:xfrm>
          <a:prstGeom prst="line">
            <a:avLst/>
          </a:prstGeom>
          <a:ln w="28575">
            <a:solidFill>
              <a:srgbClr val="E568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6275870" y="5157192"/>
            <a:ext cx="0" cy="2304256"/>
          </a:xfrm>
          <a:prstGeom prst="line">
            <a:avLst/>
          </a:prstGeom>
          <a:ln w="28575">
            <a:solidFill>
              <a:srgbClr val="F2B1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7023877" y="5134345"/>
            <a:ext cx="0" cy="2304256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7772299" y="5147022"/>
            <a:ext cx="0" cy="2304256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11560" y="4415581"/>
            <a:ext cx="4167882" cy="885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D65A5A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来源</a:t>
            </a:r>
            <a:r>
              <a:rPr lang="zh-CN" altLang="en-US" b="1" dirty="0" smtClean="0">
                <a:solidFill>
                  <a:srgbClr val="D65A5A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：餐巾纸的背面 </a:t>
            </a:r>
            <a:r>
              <a:rPr lang="en-US" altLang="zh-CN" b="1" dirty="0">
                <a:solidFill>
                  <a:srgbClr val="D65A5A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 </a:t>
            </a:r>
            <a:r>
              <a:rPr lang="en-US" altLang="zh-CN" b="1" dirty="0" smtClean="0">
                <a:solidFill>
                  <a:srgbClr val="D65A5A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 </a:t>
            </a:r>
            <a:r>
              <a:rPr lang="zh-CN" altLang="en-US" b="1" dirty="0" smtClean="0">
                <a:solidFill>
                  <a:srgbClr val="D65A5A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作者：丹</a:t>
            </a:r>
            <a:r>
              <a:rPr lang="en-US" altLang="zh-CN" b="1" dirty="0" smtClean="0">
                <a:solidFill>
                  <a:srgbClr val="D65A5A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·</a:t>
            </a:r>
            <a:r>
              <a:rPr lang="zh-CN" altLang="en-US" b="1" dirty="0" smtClean="0">
                <a:solidFill>
                  <a:srgbClr val="D65A5A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罗姆</a:t>
            </a:r>
            <a:endParaRPr lang="en-US" altLang="zh-CN" b="1" dirty="0" smtClean="0">
              <a:solidFill>
                <a:srgbClr val="D65A5A"/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46A8B0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设计：容易</a:t>
            </a:r>
            <a:r>
              <a:rPr lang="en-US" altLang="zh-CN" b="1" dirty="0" smtClean="0">
                <a:solidFill>
                  <a:srgbClr val="46A8B0"/>
                </a:solidFill>
                <a:latin typeface="方正喵呜体" panose="02010600010101010101" pitchFamily="2" charset="-122"/>
                <a:ea typeface="方正喵呜体" panose="02010600010101010101" pitchFamily="2" charset="-122"/>
              </a:rPr>
              <a:t>4910</a:t>
            </a:r>
            <a:endParaRPr lang="zh-CN" altLang="en-US" b="1" dirty="0">
              <a:solidFill>
                <a:srgbClr val="46A8B0"/>
              </a:solid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170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文本框 98"/>
          <p:cNvSpPr txBox="1"/>
          <p:nvPr/>
        </p:nvSpPr>
        <p:spPr>
          <a:xfrm>
            <a:off x="5851693" y="5518943"/>
            <a:ext cx="2457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 smtClean="0">
                <a:solidFill>
                  <a:srgbClr val="F2B14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STEP</a:t>
            </a:r>
            <a:r>
              <a:rPr lang="en-US" altLang="zh-CN" sz="7200" b="1" dirty="0">
                <a:solidFill>
                  <a:srgbClr val="F2B14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endParaRPr lang="zh-CN" altLang="en-US" sz="4800" b="1" dirty="0">
              <a:solidFill>
                <a:srgbClr val="F2B14D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rot="16200000">
            <a:off x="6988460" y="-235999"/>
            <a:ext cx="0" cy="2952000"/>
          </a:xfrm>
          <a:prstGeom prst="line">
            <a:avLst/>
          </a:prstGeom>
          <a:ln w="28575">
            <a:solidFill>
              <a:srgbClr val="E568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706913" y="332803"/>
            <a:ext cx="3456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 smtClean="0">
                <a:solidFill>
                  <a:srgbClr val="D65A5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STEP</a:t>
            </a:r>
            <a:r>
              <a:rPr lang="en-US" altLang="zh-CN" sz="7200" b="1" dirty="0" smtClean="0">
                <a:solidFill>
                  <a:srgbClr val="D65A5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endParaRPr lang="zh-CN" altLang="en-US" sz="4800" b="1" dirty="0">
              <a:solidFill>
                <a:srgbClr val="D65A5A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6278260" y="1520455"/>
            <a:ext cx="0" cy="720000"/>
          </a:xfrm>
          <a:prstGeom prst="line">
            <a:avLst/>
          </a:prstGeom>
          <a:ln w="28575">
            <a:solidFill>
              <a:srgbClr val="F2B1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026267" y="1520455"/>
            <a:ext cx="0" cy="72000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7774689" y="1520455"/>
            <a:ext cx="0" cy="720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8464460" y="1240000"/>
            <a:ext cx="0" cy="1116000"/>
          </a:xfrm>
          <a:prstGeom prst="line">
            <a:avLst/>
          </a:prstGeom>
          <a:ln w="28575">
            <a:solidFill>
              <a:srgbClr val="E568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5520080" y="2344688"/>
            <a:ext cx="3028815" cy="649666"/>
          </a:xfrm>
          <a:prstGeom prst="roundRect">
            <a:avLst/>
          </a:prstGeom>
          <a:solidFill>
            <a:srgbClr val="E669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看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40458" y="2994354"/>
            <a:ext cx="0" cy="216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rot="5400000">
            <a:off x="5738212" y="3088878"/>
            <a:ext cx="0" cy="216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rot="10800000">
            <a:off x="5833843" y="3172808"/>
            <a:ext cx="0" cy="252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701158" y="3415516"/>
            <a:ext cx="4574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旨在试探情况，建立初步印象</a:t>
            </a:r>
          </a:p>
        </p:txBody>
      </p:sp>
      <p:cxnSp>
        <p:nvCxnSpPr>
          <p:cNvPr id="32" name="直接连接符 31"/>
          <p:cNvCxnSpPr/>
          <p:nvPr/>
        </p:nvCxnSpPr>
        <p:spPr>
          <a:xfrm>
            <a:off x="6278260" y="3098708"/>
            <a:ext cx="0" cy="288000"/>
          </a:xfrm>
          <a:prstGeom prst="line">
            <a:avLst/>
          </a:prstGeom>
          <a:ln w="28575">
            <a:solidFill>
              <a:srgbClr val="F2B1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7026267" y="3098708"/>
            <a:ext cx="0" cy="28800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774689" y="3098708"/>
            <a:ext cx="0" cy="288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5517690" y="-2133609"/>
            <a:ext cx="0" cy="3384000"/>
          </a:xfrm>
          <a:prstGeom prst="line">
            <a:avLst/>
          </a:prstGeom>
          <a:ln w="28575">
            <a:solidFill>
              <a:srgbClr val="E568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6275870" y="-2133609"/>
            <a:ext cx="0" cy="2628000"/>
          </a:xfrm>
          <a:prstGeom prst="line">
            <a:avLst/>
          </a:prstGeom>
          <a:ln w="28575">
            <a:solidFill>
              <a:srgbClr val="F2B1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7023877" y="-2133609"/>
            <a:ext cx="0" cy="262800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772299" y="-2133609"/>
            <a:ext cx="0" cy="2628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35496" y="352596"/>
            <a:ext cx="5254388" cy="1564236"/>
            <a:chOff x="-21176" y="349802"/>
            <a:chExt cx="5254388" cy="1564236"/>
          </a:xfrm>
        </p:grpSpPr>
        <p:grpSp>
          <p:nvGrpSpPr>
            <p:cNvPr id="20" name="组合 19"/>
            <p:cNvGrpSpPr/>
            <p:nvPr/>
          </p:nvGrpSpPr>
          <p:grpSpPr>
            <a:xfrm>
              <a:off x="50816" y="661631"/>
              <a:ext cx="5110405" cy="1180399"/>
              <a:chOff x="69618" y="692696"/>
              <a:chExt cx="5110405" cy="1180399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2768254" y="692696"/>
                <a:ext cx="576048" cy="576048"/>
                <a:chOff x="3062995" y="1952431"/>
                <a:chExt cx="576048" cy="576048"/>
              </a:xfrm>
            </p:grpSpPr>
            <p:sp>
              <p:nvSpPr>
                <p:cNvPr id="58" name="圆角矩形 57"/>
                <p:cNvSpPr/>
                <p:nvPr/>
              </p:nvSpPr>
              <p:spPr>
                <a:xfrm>
                  <a:off x="3062995" y="1952431"/>
                  <a:ext cx="576048" cy="576048"/>
                </a:xfrm>
                <a:prstGeom prst="roundRect">
                  <a:avLst/>
                </a:prstGeom>
                <a:solidFill>
                  <a:srgbClr val="E5685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52" name="图片 51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biLevel thresh="75000"/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>
                              <a14:backgroundMark x1="29492" y1="39453" x2="29492" y2="39453"/>
                              <a14:backgroundMark x1="35352" y1="38672" x2="35352" y2="38672"/>
                              <a14:backgroundMark x1="41406" y1="43359" x2="41406" y2="43359"/>
                              <a14:backgroundMark x1="29102" y1="46680" x2="29102" y2="46680"/>
                              <a14:backgroundMark x1="23047" y1="24414" x2="23047" y2="24414"/>
                              <a14:backgroundMark x1="33203" y1="20117" x2="33203" y2="20117"/>
                              <a14:backgroundMark x1="42188" y1="19336" x2="42188" y2="19336"/>
                              <a14:backgroundMark x1="52148" y1="18945" x2="52148" y2="18945"/>
                              <a14:backgroundMark x1="60938" y1="18164" x2="60938" y2="18164"/>
                              <a14:backgroundMark x1="69727" y1="18164" x2="69727" y2="18164"/>
                              <a14:backgroundMark x1="75000" y1="28906" x2="75000" y2="28906"/>
                              <a14:backgroundMark x1="74609" y1="44922" x2="74609" y2="44922"/>
                              <a14:backgroundMark x1="74023" y1="60742" x2="74023" y2="60742"/>
                              <a14:backgroundMark x1="73242" y1="72070" x2="73242" y2="72070"/>
                              <a14:backgroundMark x1="57617" y1="73242" x2="57617" y2="73242"/>
                              <a14:backgroundMark x1="43945" y1="73828" x2="43945" y2="73828"/>
                              <a14:backgroundMark x1="20313" y1="70313" x2="20313" y2="70313"/>
                              <a14:backgroundMark x1="23828" y1="58398" x2="23828" y2="58398"/>
                              <a14:backgroundMark x1="30078" y1="54102" x2="30078" y2="54102"/>
                              <a14:backgroundMark x1="32617" y1="47266" x2="32617" y2="47266"/>
                              <a14:backgroundMark x1="33203" y1="33984" x2="33203" y2="33984"/>
                              <a14:backgroundMark x1="30664" y1="26953" x2="30664" y2="26953"/>
                              <a14:backgroundMark x1="38086" y1="28320" x2="38086" y2="28320"/>
                              <a14:backgroundMark x1="20703" y1="37109" x2="20703" y2="37109"/>
                              <a14:backgroundMark x1="28320" y1="52930" x2="28320" y2="52930"/>
                              <a14:backgroundMark x1="27344" y1="36328" x2="27344" y2="36328"/>
                              <a14:backgroundMark x1="46875" y1="59570" x2="46875" y2="59570"/>
                              <a14:backgroundMark x1="56445" y1="62891" x2="56250" y2="63867"/>
                              <a14:backgroundMark x1="67773" y1="68555" x2="67773" y2="68555"/>
                              <a14:backgroundMark x1="66992" y1="55469" x2="66992" y2="55469"/>
                              <a14:backgroundMark x1="66992" y1="48242" x2="66992" y2="48242"/>
                              <a14:backgroundMark x1="66992" y1="43945" x2="66992" y2="43945"/>
                              <a14:backgroundMark x1="70898" y1="39453" x2="70898" y2="39453"/>
                              <a14:backgroundMark x1="76953" y1="40234" x2="76953" y2="40234"/>
                              <a14:backgroundMark x1="77930" y1="56250" x2="77930" y2="56836"/>
                              <a14:backgroundMark x1="77148" y1="71094" x2="77148" y2="71094"/>
                              <a14:backgroundMark x1="77539" y1="76758" x2="77539" y2="76758"/>
                              <a14:backgroundMark x1="63477" y1="78320" x2="63477" y2="78320"/>
                              <a14:backgroundMark x1="51953" y1="77148" x2="50781" y2="77148"/>
                              <a14:backgroundMark x1="46875" y1="77734" x2="46875" y2="77734"/>
                              <a14:backgroundMark x1="48242" y1="72266" x2="48242" y2="72266"/>
                              <a14:backgroundMark x1="48242" y1="69922" x2="48438" y2="69336"/>
                              <a14:backgroundMark x1="57227" y1="70703" x2="57227" y2="70703"/>
                              <a14:backgroundMark x1="50781" y1="67969" x2="50781" y2="67969"/>
                              <a14:backgroundMark x1="50195" y1="65820" x2="50781" y2="65820"/>
                              <a14:backgroundMark x1="59180" y1="70117" x2="60352" y2="70703"/>
                              <a14:backgroundMark x1="66211" y1="69727" x2="68555" y2="63477"/>
                              <a14:backgroundMark x1="67188" y1="59180" x2="67188" y2="59180"/>
                              <a14:backgroundMark x1="68750" y1="57617" x2="71680" y2="57617"/>
                              <a14:backgroundMark x1="74414" y1="55273" x2="74414" y2="52344"/>
                              <a14:backgroundMark x1="74414" y1="48438" x2="74414" y2="47266"/>
                              <a14:backgroundMark x1="74414" y1="44141" x2="74414" y2="44141"/>
                              <a14:backgroundMark x1="73438" y1="40234" x2="72656" y2="40234"/>
                              <a14:backgroundMark x1="68945" y1="38867" x2="67188" y2="39063"/>
                              <a14:backgroundMark x1="65820" y1="39258" x2="65820" y2="39258"/>
                              <a14:backgroundMark x1="65234" y1="40234" x2="64648" y2="44727"/>
                              <a14:backgroundMark x1="61914" y1="44727" x2="61523" y2="43945"/>
                              <a14:backgroundMark x1="61523" y1="42773" x2="63086" y2="39453"/>
                              <a14:backgroundMark x1="65234" y1="37500" x2="67383" y2="36328"/>
                              <a14:backgroundMark x1="70898" y1="34570" x2="72266" y2="34570"/>
                              <a14:backgroundMark x1="75000" y1="35156" x2="77344" y2="38477"/>
                              <a14:backgroundMark x1="77344" y1="33789" x2="77344" y2="33789"/>
                              <a14:backgroundMark x1="74023" y1="32617" x2="74023" y2="32617"/>
                              <a14:backgroundMark x1="70898" y1="31836" x2="72266" y2="31250"/>
                              <a14:backgroundMark x1="80664" y1="27734" x2="80664" y2="28320"/>
                              <a14:backgroundMark x1="76367" y1="36523" x2="76953" y2="34375"/>
                              <a14:backgroundMark x1="75195" y1="26367" x2="75195" y2="26367"/>
                              <a14:backgroundMark x1="75195" y1="24609" x2="75195" y2="24609"/>
                              <a14:backgroundMark x1="75391" y1="23047" x2="75391" y2="23047"/>
                              <a14:backgroundMark x1="77539" y1="22070" x2="78711" y2="22656"/>
                              <a14:backgroundMark x1="80078" y1="22656" x2="80078" y2="22656"/>
                              <a14:backgroundMark x1="77344" y1="20703" x2="77344" y2="20703"/>
                              <a14:backgroundMark x1="73438" y1="20898" x2="73438" y2="20898"/>
                              <a14:backgroundMark x1="72852" y1="20508" x2="72852" y2="20508"/>
                              <a14:backgroundMark x1="68555" y1="17578" x2="68555" y2="17578"/>
                              <a14:backgroundMark x1="56250" y1="16602" x2="56250" y2="16602"/>
                              <a14:backgroundMark x1="56250" y1="16602" x2="56250" y2="16602"/>
                              <a14:backgroundMark x1="65234" y1="18945" x2="65234" y2="18945"/>
                              <a14:backgroundMark x1="55273" y1="19141" x2="52539" y2="19727"/>
                              <a14:backgroundMark x1="49414" y1="22266" x2="49414" y2="22266"/>
                              <a14:backgroundMark x1="47070" y1="22461" x2="46289" y2="20703"/>
                              <a14:backgroundMark x1="47266" y1="19336" x2="49219" y2="19336"/>
                              <a14:backgroundMark x1="58594" y1="20703" x2="58594" y2="21484"/>
                              <a14:backgroundMark x1="58594" y1="24805" x2="58594" y2="24805"/>
                              <a14:backgroundMark x1="58203" y1="25781" x2="56250" y2="25781"/>
                              <a14:backgroundMark x1="55273" y1="25781" x2="55273" y2="25781"/>
                              <a14:backgroundMark x1="55273" y1="25781" x2="54492" y2="25000"/>
                              <a14:backgroundMark x1="53711" y1="23828" x2="53906" y2="21484"/>
                              <a14:backgroundMark x1="43359" y1="18164" x2="40820" y2="18164"/>
                              <a14:backgroundMark x1="37500" y1="18164" x2="37500" y2="18164"/>
                              <a14:backgroundMark x1="33008" y1="19727" x2="33008" y2="20703"/>
                              <a14:backgroundMark x1="33008" y1="22266" x2="33008" y2="22852"/>
                              <a14:backgroundMark x1="33008" y1="24609" x2="32617" y2="25781"/>
                              <a14:backgroundMark x1="29492" y1="28906" x2="29297" y2="29492"/>
                              <a14:backgroundMark x1="28711" y1="30859" x2="28125" y2="31445"/>
                              <a14:backgroundMark x1="25000" y1="32031" x2="23047" y2="28125"/>
                              <a14:backgroundMark x1="23047" y1="24609" x2="25000" y2="20703"/>
                              <a14:backgroundMark x1="26367" y1="19531" x2="27148" y2="19531"/>
                              <a14:backgroundMark x1="30273" y1="19727" x2="32227" y2="22070"/>
                              <a14:backgroundMark x1="34766" y1="22852" x2="36523" y2="24219"/>
                              <a14:backgroundMark x1="38477" y1="25781" x2="36328" y2="28516"/>
                              <a14:backgroundMark x1="22461" y1="30859" x2="22461" y2="30859"/>
                              <a14:backgroundMark x1="22656" y1="30859" x2="23438" y2="30859"/>
                              <a14:backgroundMark x1="27734" y1="34570" x2="30664" y2="35156"/>
                              <a14:backgroundMark x1="39648" y1="35156" x2="39648" y2="35156"/>
                              <a14:backgroundMark x1="41016" y1="38477" x2="41016" y2="38477"/>
                              <a14:backgroundMark x1="40625" y1="41211" x2="35156" y2="45313"/>
                              <a14:backgroundMark x1="33789" y1="46680" x2="30664" y2="48047"/>
                              <a14:backgroundMark x1="28711" y1="49023" x2="27344" y2="49023"/>
                              <a14:backgroundMark x1="22852" y1="48242" x2="20313" y2="47852"/>
                              <a14:backgroundMark x1="19336" y1="41992" x2="19336" y2="41992"/>
                              <a14:backgroundMark x1="21875" y1="40234" x2="22656" y2="40234"/>
                              <a14:backgroundMark x1="27148" y1="44727" x2="27734" y2="44922"/>
                              <a14:backgroundMark x1="35742" y1="42578" x2="37891" y2="38867"/>
                              <a14:backgroundMark x1="37891" y1="35742" x2="37695" y2="34375"/>
                              <a14:backgroundMark x1="37500" y1="32813" x2="37500" y2="32813"/>
                              <a14:backgroundMark x1="36914" y1="42188" x2="36719" y2="43359"/>
                              <a14:backgroundMark x1="30078" y1="49414" x2="29492" y2="50000"/>
                              <a14:backgroundMark x1="25000" y1="52539" x2="23828" y2="53516"/>
                              <a14:backgroundMark x1="20313" y1="54688" x2="19141" y2="56055"/>
                              <a14:backgroundMark x1="17383" y1="66992" x2="17383" y2="66992"/>
                              <a14:backgroundMark x1="18750" y1="67383" x2="18945" y2="69531"/>
                              <a14:backgroundMark x1="19922" y1="69922" x2="19922" y2="69922"/>
                              <a14:backgroundMark x1="21875" y1="71289" x2="21875" y2="72461"/>
                              <a14:backgroundMark x1="24414" y1="75195" x2="24414" y2="75195"/>
                              <a14:backgroundMark x1="25195" y1="75000" x2="27148" y2="74805"/>
                              <a14:backgroundMark x1="30273" y1="75781" x2="30859" y2="75781"/>
                              <a14:backgroundMark x1="33203" y1="76953" x2="35156" y2="76953"/>
                              <a14:backgroundMark x1="37891" y1="77734" x2="37891" y2="77734"/>
                              <a14:backgroundMark x1="39063" y1="77734" x2="39063" y2="77734"/>
                              <a14:backgroundMark x1="32422" y1="77148" x2="30469" y2="75391"/>
                              <a14:backgroundMark x1="28711" y1="73438" x2="28125" y2="71484"/>
                              <a14:backgroundMark x1="27344" y1="69922" x2="27344" y2="69336"/>
                              <a14:backgroundMark x1="26758" y1="64844" x2="26758" y2="64844"/>
                              <a14:backgroundMark x1="27734" y1="68750" x2="27734" y2="68750"/>
                              <a14:backgroundMark x1="28711" y1="70508" x2="29688" y2="72461"/>
                              <a14:backgroundMark x1="35156" y1="76758" x2="35156" y2="76758"/>
                              <a14:backgroundMark x1="41406" y1="78125" x2="41406" y2="78125"/>
                            </a14:backgroundRemoval>
                          </a14:imgEffect>
                          <a14:imgEffect>
                            <a14:artisticMarker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6787" t="20236" r="26919" b="24120"/>
                <a:stretch/>
              </p:blipFill>
              <p:spPr>
                <a:xfrm>
                  <a:off x="3225226" y="2089255"/>
                  <a:ext cx="251586" cy="302400"/>
                </a:xfrm>
                <a:prstGeom prst="rect">
                  <a:avLst/>
                </a:prstGeom>
              </p:spPr>
            </p:pic>
          </p:grpSp>
          <p:grpSp>
            <p:nvGrpSpPr>
              <p:cNvPr id="9" name="组合 8"/>
              <p:cNvGrpSpPr/>
              <p:nvPr/>
            </p:nvGrpSpPr>
            <p:grpSpPr>
              <a:xfrm>
                <a:off x="1042426" y="692696"/>
                <a:ext cx="576048" cy="576048"/>
                <a:chOff x="999826" y="1880455"/>
                <a:chExt cx="576048" cy="576048"/>
              </a:xfrm>
            </p:grpSpPr>
            <p:sp>
              <p:nvSpPr>
                <p:cNvPr id="56" name="圆角矩形 55"/>
                <p:cNvSpPr/>
                <p:nvPr/>
              </p:nvSpPr>
              <p:spPr>
                <a:xfrm>
                  <a:off x="999826" y="1880455"/>
                  <a:ext cx="576048" cy="576048"/>
                </a:xfrm>
                <a:prstGeom prst="roundRect">
                  <a:avLst/>
                </a:prstGeom>
                <a:solidFill>
                  <a:srgbClr val="E5685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3" name="图片 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36650" y="2017279"/>
                  <a:ext cx="302400" cy="302400"/>
                </a:xfrm>
                <a:prstGeom prst="rect">
                  <a:avLst/>
                </a:prstGeom>
              </p:spPr>
            </p:pic>
          </p:grpSp>
          <p:grpSp>
            <p:nvGrpSpPr>
              <p:cNvPr id="11" name="组合 10"/>
              <p:cNvGrpSpPr/>
              <p:nvPr/>
            </p:nvGrpSpPr>
            <p:grpSpPr>
              <a:xfrm>
                <a:off x="1905340" y="692696"/>
                <a:ext cx="576048" cy="576048"/>
                <a:chOff x="2063169" y="1952431"/>
                <a:chExt cx="576048" cy="576048"/>
              </a:xfrm>
            </p:grpSpPr>
            <p:sp>
              <p:nvSpPr>
                <p:cNvPr id="57" name="圆角矩形 56"/>
                <p:cNvSpPr/>
                <p:nvPr/>
              </p:nvSpPr>
              <p:spPr>
                <a:xfrm>
                  <a:off x="2063169" y="1952431"/>
                  <a:ext cx="576048" cy="576048"/>
                </a:xfrm>
                <a:prstGeom prst="roundRect">
                  <a:avLst/>
                </a:prstGeom>
                <a:solidFill>
                  <a:srgbClr val="E5685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4" name="图片 3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99993" y="2089255"/>
                  <a:ext cx="302400" cy="302400"/>
                </a:xfrm>
                <a:prstGeom prst="rect">
                  <a:avLst/>
                </a:prstGeom>
              </p:spPr>
            </p:pic>
          </p:grpSp>
          <p:grpSp>
            <p:nvGrpSpPr>
              <p:cNvPr id="13" name="组合 12"/>
              <p:cNvGrpSpPr/>
              <p:nvPr/>
            </p:nvGrpSpPr>
            <p:grpSpPr>
              <a:xfrm>
                <a:off x="3631168" y="692696"/>
                <a:ext cx="576048" cy="576048"/>
                <a:chOff x="4004640" y="1952431"/>
                <a:chExt cx="576048" cy="576048"/>
              </a:xfrm>
            </p:grpSpPr>
            <p:sp>
              <p:nvSpPr>
                <p:cNvPr id="59" name="圆角矩形 58"/>
                <p:cNvSpPr/>
                <p:nvPr/>
              </p:nvSpPr>
              <p:spPr>
                <a:xfrm>
                  <a:off x="4004640" y="1952431"/>
                  <a:ext cx="576048" cy="576048"/>
                </a:xfrm>
                <a:prstGeom prst="roundRect">
                  <a:avLst/>
                </a:prstGeom>
                <a:solidFill>
                  <a:srgbClr val="E5685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5" name="图片 4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41464" y="2089255"/>
                  <a:ext cx="302400" cy="302400"/>
                </a:xfrm>
                <a:prstGeom prst="rect">
                  <a:avLst/>
                </a:prstGeom>
              </p:spPr>
            </p:pic>
          </p:grpSp>
          <p:grpSp>
            <p:nvGrpSpPr>
              <p:cNvPr id="14" name="组合 13"/>
              <p:cNvGrpSpPr/>
              <p:nvPr/>
            </p:nvGrpSpPr>
            <p:grpSpPr>
              <a:xfrm>
                <a:off x="4494081" y="692696"/>
                <a:ext cx="576048" cy="576048"/>
                <a:chOff x="4864011" y="1927358"/>
                <a:chExt cx="576048" cy="576048"/>
              </a:xfrm>
            </p:grpSpPr>
            <p:sp>
              <p:nvSpPr>
                <p:cNvPr id="60" name="圆角矩形 59"/>
                <p:cNvSpPr/>
                <p:nvPr/>
              </p:nvSpPr>
              <p:spPr>
                <a:xfrm>
                  <a:off x="4864011" y="1927358"/>
                  <a:ext cx="576048" cy="576048"/>
                </a:xfrm>
                <a:prstGeom prst="roundRect">
                  <a:avLst/>
                </a:prstGeom>
                <a:solidFill>
                  <a:srgbClr val="E5685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6" name="图片 5"/>
                <p:cNvPicPr>
                  <a:picLocks noChangeAspect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339" t="22207" r="32453" b="24335"/>
                <a:stretch/>
              </p:blipFill>
              <p:spPr>
                <a:xfrm>
                  <a:off x="5052455" y="2064182"/>
                  <a:ext cx="199161" cy="302400"/>
                </a:xfrm>
                <a:prstGeom prst="rect">
                  <a:avLst/>
                </a:prstGeom>
              </p:spPr>
            </p:pic>
          </p:grpSp>
          <p:grpSp>
            <p:nvGrpSpPr>
              <p:cNvPr id="8" name="组合 7"/>
              <p:cNvGrpSpPr/>
              <p:nvPr/>
            </p:nvGrpSpPr>
            <p:grpSpPr>
              <a:xfrm>
                <a:off x="179512" y="692696"/>
                <a:ext cx="576048" cy="576048"/>
                <a:chOff x="0" y="1880455"/>
                <a:chExt cx="576048" cy="576048"/>
              </a:xfrm>
            </p:grpSpPr>
            <p:sp>
              <p:nvSpPr>
                <p:cNvPr id="54" name="圆角矩形 53"/>
                <p:cNvSpPr/>
                <p:nvPr/>
              </p:nvSpPr>
              <p:spPr>
                <a:xfrm>
                  <a:off x="0" y="1880455"/>
                  <a:ext cx="576048" cy="576048"/>
                </a:xfrm>
                <a:prstGeom prst="roundRect">
                  <a:avLst/>
                </a:prstGeom>
                <a:solidFill>
                  <a:srgbClr val="E5685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7" name="图片 6"/>
                <p:cNvPicPr>
                  <a:picLocks noChangeAspect="1"/>
                </p:cNvPicPr>
                <p:nvPr/>
              </p:nvPicPr>
              <p:blipFill rotWithShape="1"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2221" t="11919" r="12156" b="11300"/>
                <a:stretch/>
              </p:blipFill>
              <p:spPr>
                <a:xfrm>
                  <a:off x="139102" y="2032990"/>
                  <a:ext cx="297844" cy="302400"/>
                </a:xfrm>
                <a:prstGeom prst="rect">
                  <a:avLst/>
                </a:prstGeom>
              </p:spPr>
            </p:pic>
          </p:grpSp>
          <p:sp>
            <p:nvSpPr>
              <p:cNvPr id="16" name="文本框 15"/>
              <p:cNvSpPr txBox="1"/>
              <p:nvPr/>
            </p:nvSpPr>
            <p:spPr>
              <a:xfrm>
                <a:off x="69618" y="1457597"/>
                <a:ext cx="795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谁</a:t>
                </a:r>
                <a:r>
                  <a:rPr lang="en-US" altLang="zh-CN" sz="1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什么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917659" y="1457597"/>
                <a:ext cx="795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有多少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1765700" y="1349875"/>
                <a:ext cx="8702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什么</a:t>
                </a:r>
                <a:endParaRPr lang="en-US" altLang="zh-CN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时候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2688106" y="1457597"/>
                <a:ext cx="795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在哪里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3536147" y="1457597"/>
                <a:ext cx="795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怎么样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4384187" y="1457597"/>
                <a:ext cx="795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为什么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" name="圆角矩形 17"/>
            <p:cNvSpPr/>
            <p:nvPr/>
          </p:nvSpPr>
          <p:spPr>
            <a:xfrm>
              <a:off x="-21176" y="349802"/>
              <a:ext cx="5254388" cy="1564236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3" name="直接连接符 72"/>
          <p:cNvCxnSpPr/>
          <p:nvPr/>
        </p:nvCxnSpPr>
        <p:spPr>
          <a:xfrm>
            <a:off x="346491" y="2373600"/>
            <a:ext cx="0" cy="180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rot="16200000">
            <a:off x="269512" y="2137595"/>
            <a:ext cx="0" cy="180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rot="16200000">
            <a:off x="2947816" y="-69692"/>
            <a:ext cx="0" cy="5220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rot="16200000">
            <a:off x="269512" y="2292376"/>
            <a:ext cx="0" cy="180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191710" y="2214056"/>
            <a:ext cx="0" cy="180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344110" y="2054513"/>
            <a:ext cx="0" cy="180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652494" y="2121130"/>
            <a:ext cx="4574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视觉化六要素</a:t>
            </a:r>
            <a:endParaRPr lang="zh-CN" altLang="en-US" b="1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-19441" y="2818060"/>
            <a:ext cx="4574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如何看的更真实？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6278260" y="3861048"/>
            <a:ext cx="0" cy="1656000"/>
          </a:xfrm>
          <a:prstGeom prst="line">
            <a:avLst/>
          </a:prstGeom>
          <a:ln w="28575">
            <a:solidFill>
              <a:srgbClr val="F2B1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7026267" y="3861048"/>
            <a:ext cx="0" cy="147600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7774689" y="3861048"/>
            <a:ext cx="0" cy="1476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 rot="10800000">
            <a:off x="970334" y="2562794"/>
            <a:ext cx="0" cy="432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 rot="5400000">
            <a:off x="1158807" y="2820357"/>
            <a:ext cx="0" cy="360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rot="5400000">
            <a:off x="7187945" y="4617443"/>
            <a:ext cx="0" cy="1836000"/>
          </a:xfrm>
          <a:prstGeom prst="line">
            <a:avLst/>
          </a:prstGeom>
          <a:ln w="28575">
            <a:solidFill>
              <a:srgbClr val="F2B1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8097535" y="5528860"/>
            <a:ext cx="0" cy="936000"/>
          </a:xfrm>
          <a:prstGeom prst="line">
            <a:avLst/>
          </a:prstGeom>
          <a:ln w="28575">
            <a:solidFill>
              <a:srgbClr val="F2B1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 rot="5400000">
            <a:off x="6719945" y="5069816"/>
            <a:ext cx="0" cy="2772000"/>
          </a:xfrm>
          <a:prstGeom prst="line">
            <a:avLst/>
          </a:prstGeom>
          <a:ln w="28575">
            <a:solidFill>
              <a:srgbClr val="F2B1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圆角矩形 101"/>
          <p:cNvSpPr/>
          <p:nvPr/>
        </p:nvSpPr>
        <p:spPr>
          <a:xfrm>
            <a:off x="2332507" y="5886239"/>
            <a:ext cx="3028815" cy="649666"/>
          </a:xfrm>
          <a:prstGeom prst="roundRect">
            <a:avLst/>
          </a:prstGeom>
          <a:solidFill>
            <a:srgbClr val="F2B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</a:t>
            </a:r>
          </a:p>
        </p:txBody>
      </p:sp>
      <p:sp>
        <p:nvSpPr>
          <p:cNvPr id="103" name="圆角矩形 102"/>
          <p:cNvSpPr/>
          <p:nvPr/>
        </p:nvSpPr>
        <p:spPr>
          <a:xfrm>
            <a:off x="356483" y="4278552"/>
            <a:ext cx="4065573" cy="376819"/>
          </a:xfrm>
          <a:prstGeom prst="roundRect">
            <a:avLst/>
          </a:prstGeom>
          <a:solidFill>
            <a:srgbClr val="FBE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③根据六要素建立坐标、分类材料</a:t>
            </a:r>
            <a:endParaRPr lang="en-US" altLang="zh-CN" sz="1600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356483" y="3768903"/>
            <a:ext cx="4065573" cy="376819"/>
          </a:xfrm>
          <a:prstGeom prst="roundRect">
            <a:avLst/>
          </a:prstGeom>
          <a:solidFill>
            <a:srgbClr val="FBE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zh-CN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摊开所有材料，使之</a:t>
            </a:r>
            <a:r>
              <a:rPr lang="zh-CN" altLang="en-US" sz="1600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一览无遗</a:t>
            </a:r>
            <a:endParaRPr lang="en-US" altLang="zh-CN" sz="1600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356483" y="3259254"/>
            <a:ext cx="4065573" cy="376819"/>
          </a:xfrm>
          <a:prstGeom prst="roundRect">
            <a:avLst/>
          </a:prstGeom>
          <a:solidFill>
            <a:srgbClr val="FBE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zh-CN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收集能够看到的东西</a:t>
            </a:r>
            <a:r>
              <a:rPr lang="en-US" altLang="zh-CN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zh-CN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越多越好</a:t>
            </a:r>
            <a:endParaRPr lang="en-US" altLang="zh-CN" sz="1600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356483" y="4788201"/>
            <a:ext cx="4065573" cy="376819"/>
          </a:xfrm>
          <a:prstGeom prst="roundRect">
            <a:avLst/>
          </a:prstGeom>
          <a:solidFill>
            <a:srgbClr val="FBE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  <a:r>
              <a:rPr lang="zh-CN" altLang="zh-CN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筛选</a:t>
            </a:r>
            <a:r>
              <a:rPr lang="en-US" altLang="zh-CN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减少视觉看到的</a:t>
            </a:r>
            <a:r>
              <a:rPr lang="zh-CN" altLang="en-US" sz="1600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东西</a:t>
            </a:r>
            <a:endParaRPr lang="zh-CN" altLang="zh-CN" sz="1600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7" name="直接连接符 106"/>
          <p:cNvCxnSpPr/>
          <p:nvPr/>
        </p:nvCxnSpPr>
        <p:spPr>
          <a:xfrm>
            <a:off x="7026267" y="6633520"/>
            <a:ext cx="0" cy="147600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7774689" y="6633520"/>
            <a:ext cx="0" cy="1476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>
            <a:off x="2598573" y="6539722"/>
            <a:ext cx="0" cy="936000"/>
          </a:xfrm>
          <a:prstGeom prst="line">
            <a:avLst/>
          </a:prstGeom>
          <a:ln w="28575">
            <a:solidFill>
              <a:srgbClr val="F2B14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51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圆角矩形 54"/>
          <p:cNvSpPr/>
          <p:nvPr/>
        </p:nvSpPr>
        <p:spPr>
          <a:xfrm>
            <a:off x="5613153" y="1527991"/>
            <a:ext cx="3459730" cy="1612977"/>
          </a:xfrm>
          <a:prstGeom prst="roundRect">
            <a:avLst>
              <a:gd name="adj" fmla="val 7612"/>
            </a:avLst>
          </a:prstGeom>
          <a:solidFill>
            <a:srgbClr val="FD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altLang="zh-CN" sz="1600" dirty="0">
                <a:solidFill>
                  <a:srgbClr val="F0A2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solidFill>
                  <a:srgbClr val="F0A2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如何有效观察</a:t>
            </a:r>
            <a:r>
              <a:rPr lang="en-US" altLang="zh-CN" sz="1600" dirty="0">
                <a:solidFill>
                  <a:srgbClr val="F0A2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solidFill>
                  <a:srgbClr val="F0A2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F0A2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600" dirty="0">
                <a:solidFill>
                  <a:srgbClr val="F0A2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过滤出</a:t>
            </a:r>
            <a:r>
              <a:rPr lang="zh-CN" altLang="en-US" sz="1600" dirty="0">
                <a:solidFill>
                  <a:srgbClr val="F0A2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有价值、实用的</a:t>
            </a:r>
            <a:r>
              <a:rPr lang="zh-CN" altLang="zh-CN" sz="1600" dirty="0">
                <a:solidFill>
                  <a:srgbClr val="F0A2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sz="1600" dirty="0">
              <a:solidFill>
                <a:srgbClr val="F0A2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solidFill>
                  <a:srgbClr val="F0A2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F0A2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、分类信息与材料</a:t>
            </a:r>
            <a:endParaRPr lang="en-US" altLang="zh-CN" sz="1600" dirty="0">
              <a:solidFill>
                <a:srgbClr val="F0A2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solidFill>
                  <a:srgbClr val="F0A2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rgbClr val="F0A2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、找出材料之间的共性与</a:t>
            </a:r>
            <a:r>
              <a:rPr lang="zh-CN" altLang="en-US" sz="1600" dirty="0" smtClean="0">
                <a:solidFill>
                  <a:srgbClr val="F0A2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</a:t>
            </a:r>
            <a:endParaRPr lang="zh-CN" altLang="en-US" sz="1600" dirty="0">
              <a:solidFill>
                <a:srgbClr val="F0A2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59313" y="-1299721"/>
            <a:ext cx="2457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 smtClean="0">
                <a:solidFill>
                  <a:srgbClr val="F2B14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STEP</a:t>
            </a:r>
            <a:r>
              <a:rPr lang="en-US" altLang="zh-CN" sz="7200" b="1" dirty="0">
                <a:solidFill>
                  <a:srgbClr val="F2B14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endParaRPr lang="zh-CN" altLang="en-US" sz="4800" b="1" dirty="0">
              <a:solidFill>
                <a:srgbClr val="F2B14D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278260" y="-2835696"/>
            <a:ext cx="0" cy="1656000"/>
          </a:xfrm>
          <a:prstGeom prst="line">
            <a:avLst/>
          </a:prstGeom>
          <a:ln w="28575">
            <a:solidFill>
              <a:srgbClr val="F2B1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7026267" y="-2835696"/>
            <a:ext cx="0" cy="147600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774689" y="-2835696"/>
            <a:ext cx="0" cy="1476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rot="5400000">
            <a:off x="7187945" y="-2079301"/>
            <a:ext cx="0" cy="1836000"/>
          </a:xfrm>
          <a:prstGeom prst="line">
            <a:avLst/>
          </a:prstGeom>
          <a:ln w="28575">
            <a:solidFill>
              <a:srgbClr val="F2B1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8097535" y="-1167884"/>
            <a:ext cx="0" cy="936000"/>
          </a:xfrm>
          <a:prstGeom prst="line">
            <a:avLst/>
          </a:prstGeom>
          <a:ln w="28575">
            <a:solidFill>
              <a:srgbClr val="F2B1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>
            <a:off x="6719945" y="-1626928"/>
            <a:ext cx="0" cy="2772000"/>
          </a:xfrm>
          <a:prstGeom prst="line">
            <a:avLst/>
          </a:prstGeom>
          <a:ln w="28575">
            <a:solidFill>
              <a:srgbClr val="F2B1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2332507" y="-810505"/>
            <a:ext cx="3028815" cy="649666"/>
          </a:xfrm>
          <a:prstGeom prst="roundRect">
            <a:avLst/>
          </a:prstGeom>
          <a:solidFill>
            <a:srgbClr val="F2B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7026267" y="-136039"/>
            <a:ext cx="0" cy="154800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774689" y="-136039"/>
            <a:ext cx="0" cy="1548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585716" y="811981"/>
            <a:ext cx="3138412" cy="0"/>
          </a:xfrm>
          <a:prstGeom prst="line">
            <a:avLst/>
          </a:prstGeom>
          <a:ln w="28575">
            <a:solidFill>
              <a:srgbClr val="F2B14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598573" y="-157829"/>
            <a:ext cx="0" cy="936000"/>
          </a:xfrm>
          <a:prstGeom prst="line">
            <a:avLst/>
          </a:prstGeom>
          <a:ln w="28575">
            <a:solidFill>
              <a:srgbClr val="F2B14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1998901" y="338660"/>
            <a:ext cx="4574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2B1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选择和分类材料</a:t>
            </a:r>
            <a:endParaRPr lang="zh-CN" altLang="en-US" b="1" dirty="0">
              <a:solidFill>
                <a:srgbClr val="F2B1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611560" y="980728"/>
            <a:ext cx="5125425" cy="0"/>
          </a:xfrm>
          <a:prstGeom prst="line">
            <a:avLst/>
          </a:prstGeom>
          <a:ln w="28575">
            <a:solidFill>
              <a:srgbClr val="F2B14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5740995" y="798091"/>
            <a:ext cx="0" cy="180000"/>
          </a:xfrm>
          <a:prstGeom prst="line">
            <a:avLst/>
          </a:prstGeom>
          <a:ln w="28575">
            <a:solidFill>
              <a:srgbClr val="F2B14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26815" y="1033114"/>
            <a:ext cx="0" cy="432000"/>
          </a:xfrm>
          <a:prstGeom prst="line">
            <a:avLst/>
          </a:prstGeom>
          <a:ln w="28575">
            <a:solidFill>
              <a:srgbClr val="F2B14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35496" y="1156339"/>
            <a:ext cx="5254388" cy="1964689"/>
            <a:chOff x="35496" y="1156339"/>
            <a:chExt cx="5254388" cy="1964689"/>
          </a:xfrm>
        </p:grpSpPr>
        <p:grpSp>
          <p:nvGrpSpPr>
            <p:cNvPr id="23" name="组合 22"/>
            <p:cNvGrpSpPr/>
            <p:nvPr/>
          </p:nvGrpSpPr>
          <p:grpSpPr>
            <a:xfrm>
              <a:off x="2806124" y="1776673"/>
              <a:ext cx="576048" cy="576048"/>
              <a:chOff x="3062995" y="1952431"/>
              <a:chExt cx="576048" cy="576048"/>
            </a:xfrm>
            <a:solidFill>
              <a:srgbClr val="F2B14D"/>
            </a:solidFill>
          </p:grpSpPr>
          <p:sp>
            <p:nvSpPr>
              <p:cNvPr id="45" name="圆角矩形 44"/>
              <p:cNvSpPr/>
              <p:nvPr/>
            </p:nvSpPr>
            <p:spPr>
              <a:xfrm>
                <a:off x="3062995" y="1952431"/>
                <a:ext cx="576048" cy="576048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6" name="图片 45"/>
              <p:cNvPicPr>
                <a:picLocks noChangeAspect="1"/>
              </p:cNvPicPr>
              <p:nvPr/>
            </p:nvPicPr>
            <p:blipFill rotWithShape="1"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787" t="20236" r="26919" b="24120"/>
              <a:stretch/>
            </p:blipFill>
            <p:spPr>
              <a:xfrm>
                <a:off x="3225226" y="2089255"/>
                <a:ext cx="251586" cy="302400"/>
              </a:xfrm>
              <a:prstGeom prst="rect">
                <a:avLst/>
              </a:prstGeom>
              <a:grpFill/>
            </p:spPr>
          </p:pic>
        </p:grpSp>
        <p:grpSp>
          <p:nvGrpSpPr>
            <p:cNvPr id="24" name="组合 23"/>
            <p:cNvGrpSpPr/>
            <p:nvPr/>
          </p:nvGrpSpPr>
          <p:grpSpPr>
            <a:xfrm>
              <a:off x="1080296" y="1776673"/>
              <a:ext cx="576048" cy="576048"/>
              <a:chOff x="999826" y="1880455"/>
              <a:chExt cx="576048" cy="576048"/>
            </a:xfrm>
            <a:solidFill>
              <a:srgbClr val="F2B14D"/>
            </a:solidFill>
          </p:grpSpPr>
          <p:sp>
            <p:nvSpPr>
              <p:cNvPr id="43" name="圆角矩形 42"/>
              <p:cNvSpPr/>
              <p:nvPr/>
            </p:nvSpPr>
            <p:spPr>
              <a:xfrm>
                <a:off x="999826" y="1880455"/>
                <a:ext cx="576048" cy="576048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4" name="图片 43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36650" y="2017279"/>
                <a:ext cx="302400" cy="302400"/>
              </a:xfrm>
              <a:prstGeom prst="rect">
                <a:avLst/>
              </a:prstGeom>
              <a:grpFill/>
            </p:spPr>
          </p:pic>
        </p:grpSp>
        <p:grpSp>
          <p:nvGrpSpPr>
            <p:cNvPr id="25" name="组合 24"/>
            <p:cNvGrpSpPr/>
            <p:nvPr/>
          </p:nvGrpSpPr>
          <p:grpSpPr>
            <a:xfrm>
              <a:off x="1943210" y="1776673"/>
              <a:ext cx="576048" cy="576048"/>
              <a:chOff x="2063169" y="1952431"/>
              <a:chExt cx="576048" cy="576048"/>
            </a:xfrm>
            <a:solidFill>
              <a:srgbClr val="F2B14D"/>
            </a:solidFill>
          </p:grpSpPr>
          <p:sp>
            <p:nvSpPr>
              <p:cNvPr id="41" name="圆角矩形 40"/>
              <p:cNvSpPr/>
              <p:nvPr/>
            </p:nvSpPr>
            <p:spPr>
              <a:xfrm>
                <a:off x="2063169" y="1952431"/>
                <a:ext cx="576048" cy="576048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2" name="图片 4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99993" y="2089255"/>
                <a:ext cx="302400" cy="302400"/>
              </a:xfrm>
              <a:prstGeom prst="rect">
                <a:avLst/>
              </a:prstGeom>
              <a:grpFill/>
            </p:spPr>
          </p:pic>
        </p:grpSp>
        <p:grpSp>
          <p:nvGrpSpPr>
            <p:cNvPr id="26" name="组合 25"/>
            <p:cNvGrpSpPr/>
            <p:nvPr/>
          </p:nvGrpSpPr>
          <p:grpSpPr>
            <a:xfrm>
              <a:off x="3669038" y="1776673"/>
              <a:ext cx="576048" cy="576048"/>
              <a:chOff x="4004640" y="1952431"/>
              <a:chExt cx="576048" cy="576048"/>
            </a:xfrm>
            <a:solidFill>
              <a:srgbClr val="F2B14D"/>
            </a:solidFill>
          </p:grpSpPr>
          <p:sp>
            <p:nvSpPr>
              <p:cNvPr id="39" name="圆角矩形 38"/>
              <p:cNvSpPr/>
              <p:nvPr/>
            </p:nvSpPr>
            <p:spPr>
              <a:xfrm>
                <a:off x="4004640" y="1952431"/>
                <a:ext cx="576048" cy="576048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0" name="图片 3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41464" y="2089255"/>
                <a:ext cx="302400" cy="302400"/>
              </a:xfrm>
              <a:prstGeom prst="rect">
                <a:avLst/>
              </a:prstGeom>
              <a:grpFill/>
            </p:spPr>
          </p:pic>
        </p:grpSp>
        <p:grpSp>
          <p:nvGrpSpPr>
            <p:cNvPr id="27" name="组合 26"/>
            <p:cNvGrpSpPr/>
            <p:nvPr/>
          </p:nvGrpSpPr>
          <p:grpSpPr>
            <a:xfrm>
              <a:off x="4531951" y="1776673"/>
              <a:ext cx="576048" cy="576048"/>
              <a:chOff x="4864011" y="1927358"/>
              <a:chExt cx="576048" cy="576048"/>
            </a:xfrm>
            <a:solidFill>
              <a:srgbClr val="F2B14D"/>
            </a:solidFill>
          </p:grpSpPr>
          <p:sp>
            <p:nvSpPr>
              <p:cNvPr id="37" name="圆角矩形 36"/>
              <p:cNvSpPr/>
              <p:nvPr/>
            </p:nvSpPr>
            <p:spPr>
              <a:xfrm>
                <a:off x="4864011" y="1927358"/>
                <a:ext cx="576048" cy="576048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8" name="图片 3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339" t="22207" r="32453" b="24335"/>
              <a:stretch/>
            </p:blipFill>
            <p:spPr>
              <a:xfrm>
                <a:off x="5052455" y="2064182"/>
                <a:ext cx="199161" cy="302400"/>
              </a:xfrm>
              <a:prstGeom prst="rect">
                <a:avLst/>
              </a:prstGeom>
              <a:grpFill/>
            </p:spPr>
          </p:pic>
        </p:grpSp>
        <p:grpSp>
          <p:nvGrpSpPr>
            <p:cNvPr id="28" name="组合 27"/>
            <p:cNvGrpSpPr/>
            <p:nvPr/>
          </p:nvGrpSpPr>
          <p:grpSpPr>
            <a:xfrm>
              <a:off x="217382" y="1776673"/>
              <a:ext cx="576048" cy="576048"/>
              <a:chOff x="0" y="1880455"/>
              <a:chExt cx="576048" cy="576048"/>
            </a:xfrm>
            <a:solidFill>
              <a:srgbClr val="F2B14D"/>
            </a:solidFill>
          </p:grpSpPr>
          <p:sp>
            <p:nvSpPr>
              <p:cNvPr id="35" name="圆角矩形 34"/>
              <p:cNvSpPr/>
              <p:nvPr/>
            </p:nvSpPr>
            <p:spPr>
              <a:xfrm>
                <a:off x="0" y="1880455"/>
                <a:ext cx="576048" cy="576048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6" name="图片 3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221" t="11919" r="12156" b="11300"/>
              <a:stretch/>
            </p:blipFill>
            <p:spPr>
              <a:xfrm>
                <a:off x="139102" y="2032990"/>
                <a:ext cx="297844" cy="302400"/>
              </a:xfrm>
              <a:prstGeom prst="rect">
                <a:avLst/>
              </a:prstGeom>
              <a:grpFill/>
            </p:spPr>
          </p:pic>
        </p:grpSp>
        <p:sp>
          <p:nvSpPr>
            <p:cNvPr id="29" name="文本框 28"/>
            <p:cNvSpPr txBox="1"/>
            <p:nvPr/>
          </p:nvSpPr>
          <p:spPr>
            <a:xfrm>
              <a:off x="107488" y="2597589"/>
              <a:ext cx="7958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970402" y="2597589"/>
              <a:ext cx="7958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数量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827360" y="2505256"/>
              <a:ext cx="7958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  <a:endPara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推移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697561" y="2505256"/>
              <a:ext cx="7958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空间</a:t>
              </a:r>
              <a:endPara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3468345" y="2505256"/>
              <a:ext cx="97743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影响</a:t>
              </a:r>
              <a:endPara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原因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4422057" y="2505256"/>
              <a:ext cx="7958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逻辑</a:t>
              </a:r>
              <a:endPara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35496" y="1556792"/>
              <a:ext cx="5254388" cy="1564236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lt1"/>
                  </a:solidFill>
                </a:rPr>
                <a:t>z</a:t>
              </a:r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375388" y="1156339"/>
              <a:ext cx="45746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rgbClr val="F2B14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观察的六个方面</a:t>
              </a:r>
              <a:endParaRPr lang="zh-CN" altLang="en-US" b="1" dirty="0">
                <a:solidFill>
                  <a:srgbClr val="F2B14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5436096" y="987600"/>
            <a:ext cx="0" cy="324000"/>
          </a:xfrm>
          <a:prstGeom prst="line">
            <a:avLst/>
          </a:prstGeom>
          <a:ln w="28575">
            <a:solidFill>
              <a:srgbClr val="F2B14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rot="16200000">
            <a:off x="5647382" y="1128903"/>
            <a:ext cx="0" cy="324000"/>
          </a:xfrm>
          <a:prstGeom prst="line">
            <a:avLst/>
          </a:prstGeom>
          <a:ln w="28575">
            <a:solidFill>
              <a:srgbClr val="F2B14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5785842" y="1342001"/>
            <a:ext cx="0" cy="144000"/>
          </a:xfrm>
          <a:prstGeom prst="line">
            <a:avLst/>
          </a:prstGeom>
          <a:ln w="28575">
            <a:solidFill>
              <a:srgbClr val="F2B14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图片 6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40" y="3691508"/>
            <a:ext cx="609600" cy="609600"/>
          </a:xfrm>
          <a:prstGeom prst="rect">
            <a:avLst/>
          </a:prstGeom>
        </p:spPr>
      </p:pic>
      <p:sp>
        <p:nvSpPr>
          <p:cNvPr id="69" name="文本框 68"/>
          <p:cNvSpPr txBox="1"/>
          <p:nvPr/>
        </p:nvSpPr>
        <p:spPr>
          <a:xfrm>
            <a:off x="1540419" y="4004135"/>
            <a:ext cx="2671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看与观察之间什么关系？</a:t>
            </a:r>
          </a:p>
        </p:txBody>
      </p:sp>
      <p:grpSp>
        <p:nvGrpSpPr>
          <p:cNvPr id="103" name="组合 102"/>
          <p:cNvGrpSpPr/>
          <p:nvPr/>
        </p:nvGrpSpPr>
        <p:grpSpPr>
          <a:xfrm>
            <a:off x="783103" y="4441209"/>
            <a:ext cx="7577794" cy="2228151"/>
            <a:chOff x="378582" y="3818661"/>
            <a:chExt cx="7577794" cy="2228151"/>
          </a:xfrm>
        </p:grpSpPr>
        <p:sp>
          <p:nvSpPr>
            <p:cNvPr id="71" name="圆角矩形 70"/>
            <p:cNvSpPr/>
            <p:nvPr/>
          </p:nvSpPr>
          <p:spPr>
            <a:xfrm>
              <a:off x="378582" y="3818661"/>
              <a:ext cx="7577794" cy="2228151"/>
            </a:xfrm>
            <a:prstGeom prst="roundRect">
              <a:avLst/>
            </a:prstGeom>
            <a:solidFill>
              <a:srgbClr val="F2B1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9" name="组合 98"/>
            <p:cNvGrpSpPr/>
            <p:nvPr/>
          </p:nvGrpSpPr>
          <p:grpSpPr>
            <a:xfrm>
              <a:off x="971600" y="3994410"/>
              <a:ext cx="2832993" cy="1876652"/>
              <a:chOff x="500981" y="4375625"/>
              <a:chExt cx="2832993" cy="1876652"/>
            </a:xfrm>
          </p:grpSpPr>
          <p:sp>
            <p:nvSpPr>
              <p:cNvPr id="76" name="文本框 75"/>
              <p:cNvSpPr txBox="1"/>
              <p:nvPr/>
            </p:nvSpPr>
            <p:spPr>
              <a:xfrm>
                <a:off x="916084" y="4941168"/>
                <a:ext cx="415556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3200" dirty="0">
                    <a:solidFill>
                      <a:schemeClr val="bg1"/>
                    </a:solidFill>
                    <a:latin typeface="方正喵呜体" panose="02010600010101010101" pitchFamily="2" charset="-122"/>
                    <a:ea typeface="方正喵呜体" panose="02010600010101010101" pitchFamily="2" charset="-122"/>
                  </a:rPr>
                  <a:t>看</a:t>
                </a:r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2384132" y="5085184"/>
                <a:ext cx="949842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 smtClean="0">
                    <a:solidFill>
                      <a:schemeClr val="bg1"/>
                    </a:solidFill>
                    <a:latin typeface="方正喵呜体" panose="02010600010101010101" pitchFamily="2" charset="-122"/>
                    <a:ea typeface="方正喵呜体" panose="02010600010101010101" pitchFamily="2" charset="-122"/>
                  </a:rPr>
                  <a:t>观察</a:t>
                </a:r>
                <a:endParaRPr lang="zh-CN" altLang="en-US" sz="2800" dirty="0">
                  <a:solidFill>
                    <a:schemeClr val="bg1"/>
                  </a:solidFill>
                  <a:latin typeface="方正喵呜体" panose="02010600010101010101" pitchFamily="2" charset="-122"/>
                  <a:ea typeface="方正喵呜体" panose="02010600010101010101" pitchFamily="2" charset="-122"/>
                </a:endParaRPr>
              </a:p>
            </p:txBody>
          </p:sp>
          <p:sp>
            <p:nvSpPr>
              <p:cNvPr id="78" name="弧形 5"/>
              <p:cNvSpPr/>
              <p:nvPr/>
            </p:nvSpPr>
            <p:spPr>
              <a:xfrm>
                <a:off x="1170897" y="4375625"/>
                <a:ext cx="1655598" cy="829867"/>
              </a:xfrm>
              <a:custGeom>
                <a:avLst/>
                <a:gdLst>
                  <a:gd name="connsiteX0" fmla="*/ 85136 w 2132815"/>
                  <a:gd name="connsiteY0" fmla="*/ 603700 h 1984319"/>
                  <a:gd name="connsiteX1" fmla="*/ 1126963 w 2132815"/>
                  <a:gd name="connsiteY1" fmla="*/ 1601 h 1984319"/>
                  <a:gd name="connsiteX2" fmla="*/ 2093323 w 2132815"/>
                  <a:gd name="connsiteY2" fmla="*/ 724653 h 1984319"/>
                  <a:gd name="connsiteX3" fmla="*/ 1066408 w 2132815"/>
                  <a:gd name="connsiteY3" fmla="*/ 992160 h 1984319"/>
                  <a:gd name="connsiteX4" fmla="*/ 85136 w 2132815"/>
                  <a:gd name="connsiteY4" fmla="*/ 603700 h 1984319"/>
                  <a:gd name="connsiteX0" fmla="*/ 85136 w 2132815"/>
                  <a:gd name="connsiteY0" fmla="*/ 603700 h 1984319"/>
                  <a:gd name="connsiteX1" fmla="*/ 1126963 w 2132815"/>
                  <a:gd name="connsiteY1" fmla="*/ 1601 h 1984319"/>
                  <a:gd name="connsiteX2" fmla="*/ 2093323 w 2132815"/>
                  <a:gd name="connsiteY2" fmla="*/ 724653 h 1984319"/>
                  <a:gd name="connsiteX0" fmla="*/ 0 w 2008187"/>
                  <a:gd name="connsiteY0" fmla="*/ 690400 h 1078860"/>
                  <a:gd name="connsiteX1" fmla="*/ 1041827 w 2008187"/>
                  <a:gd name="connsiteY1" fmla="*/ 88301 h 1078860"/>
                  <a:gd name="connsiteX2" fmla="*/ 2008187 w 2008187"/>
                  <a:gd name="connsiteY2" fmla="*/ 811353 h 1078860"/>
                  <a:gd name="connsiteX3" fmla="*/ 981272 w 2008187"/>
                  <a:gd name="connsiteY3" fmla="*/ 1078860 h 1078860"/>
                  <a:gd name="connsiteX4" fmla="*/ 0 w 2008187"/>
                  <a:gd name="connsiteY4" fmla="*/ 690400 h 1078860"/>
                  <a:gd name="connsiteX0" fmla="*/ 0 w 2008187"/>
                  <a:gd name="connsiteY0" fmla="*/ 690400 h 1078860"/>
                  <a:gd name="connsiteX1" fmla="*/ 1346627 w 2008187"/>
                  <a:gd name="connsiteY1" fmla="*/ 1215 h 1078860"/>
                  <a:gd name="connsiteX2" fmla="*/ 2008187 w 2008187"/>
                  <a:gd name="connsiteY2" fmla="*/ 811353 h 1078860"/>
                  <a:gd name="connsiteX0" fmla="*/ 0 w 2008187"/>
                  <a:gd name="connsiteY0" fmla="*/ 618142 h 1006602"/>
                  <a:gd name="connsiteX1" fmla="*/ 1041827 w 2008187"/>
                  <a:gd name="connsiteY1" fmla="*/ 16043 h 1006602"/>
                  <a:gd name="connsiteX2" fmla="*/ 2008187 w 2008187"/>
                  <a:gd name="connsiteY2" fmla="*/ 739095 h 1006602"/>
                  <a:gd name="connsiteX3" fmla="*/ 981272 w 2008187"/>
                  <a:gd name="connsiteY3" fmla="*/ 1006602 h 1006602"/>
                  <a:gd name="connsiteX4" fmla="*/ 0 w 2008187"/>
                  <a:gd name="connsiteY4" fmla="*/ 618142 h 1006602"/>
                  <a:gd name="connsiteX0" fmla="*/ 0 w 2008187"/>
                  <a:gd name="connsiteY0" fmla="*/ 618142 h 1006602"/>
                  <a:gd name="connsiteX1" fmla="*/ 1259541 w 2008187"/>
                  <a:gd name="connsiteY1" fmla="*/ 1529 h 1006602"/>
                  <a:gd name="connsiteX2" fmla="*/ 2008187 w 2008187"/>
                  <a:gd name="connsiteY2" fmla="*/ 739095 h 1006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08187" h="1006602" stroke="0" extrusionOk="0">
                    <a:moveTo>
                      <a:pt x="0" y="618142"/>
                    </a:moveTo>
                    <a:cubicBezTo>
                      <a:pt x="176078" y="233138"/>
                      <a:pt x="592834" y="-7716"/>
                      <a:pt x="1041827" y="16043"/>
                    </a:cubicBezTo>
                    <a:cubicBezTo>
                      <a:pt x="1496943" y="40126"/>
                      <a:pt x="1885280" y="330688"/>
                      <a:pt x="2008187" y="739095"/>
                    </a:cubicBezTo>
                    <a:lnTo>
                      <a:pt x="981272" y="1006602"/>
                    </a:lnTo>
                    <a:lnTo>
                      <a:pt x="0" y="618142"/>
                    </a:lnTo>
                    <a:close/>
                  </a:path>
                  <a:path w="2008187" h="1006602" fill="none">
                    <a:moveTo>
                      <a:pt x="0" y="618142"/>
                    </a:moveTo>
                    <a:cubicBezTo>
                      <a:pt x="176078" y="233138"/>
                      <a:pt x="810548" y="-22230"/>
                      <a:pt x="1259541" y="1529"/>
                    </a:cubicBezTo>
                    <a:cubicBezTo>
                      <a:pt x="1714657" y="25612"/>
                      <a:pt x="1885280" y="330688"/>
                      <a:pt x="2008187" y="739095"/>
                    </a:cubicBezTo>
                  </a:path>
                </a:pathLst>
              </a:cu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a:endParaRPr>
              </a:p>
            </p:txBody>
          </p:sp>
          <p:sp>
            <p:nvSpPr>
              <p:cNvPr id="79" name="弧形 15"/>
              <p:cNvSpPr/>
              <p:nvPr/>
            </p:nvSpPr>
            <p:spPr>
              <a:xfrm flipV="1">
                <a:off x="1116554" y="5398419"/>
                <a:ext cx="1659374" cy="853858"/>
              </a:xfrm>
              <a:custGeom>
                <a:avLst/>
                <a:gdLst>
                  <a:gd name="connsiteX0" fmla="*/ 39534 w 2089519"/>
                  <a:gd name="connsiteY0" fmla="*/ 721809 h 1984319"/>
                  <a:gd name="connsiteX1" fmla="*/ 1048677 w 2089519"/>
                  <a:gd name="connsiteY1" fmla="*/ 7 h 1984319"/>
                  <a:gd name="connsiteX2" fmla="*/ 2052302 w 2089519"/>
                  <a:gd name="connsiteY2" fmla="*/ 729700 h 1984319"/>
                  <a:gd name="connsiteX3" fmla="*/ 1044760 w 2089519"/>
                  <a:gd name="connsiteY3" fmla="*/ 992160 h 1984319"/>
                  <a:gd name="connsiteX4" fmla="*/ 39534 w 2089519"/>
                  <a:gd name="connsiteY4" fmla="*/ 721809 h 1984319"/>
                  <a:gd name="connsiteX0" fmla="*/ 39534 w 2089519"/>
                  <a:gd name="connsiteY0" fmla="*/ 721809 h 1984319"/>
                  <a:gd name="connsiteX1" fmla="*/ 1048677 w 2089519"/>
                  <a:gd name="connsiteY1" fmla="*/ 7 h 1984319"/>
                  <a:gd name="connsiteX2" fmla="*/ 2052302 w 2089519"/>
                  <a:gd name="connsiteY2" fmla="*/ 729700 h 1984319"/>
                  <a:gd name="connsiteX0" fmla="*/ 0 w 2012768"/>
                  <a:gd name="connsiteY0" fmla="*/ 852435 h 1122786"/>
                  <a:gd name="connsiteX1" fmla="*/ 1009143 w 2012768"/>
                  <a:gd name="connsiteY1" fmla="*/ 130633 h 1122786"/>
                  <a:gd name="connsiteX2" fmla="*/ 2012768 w 2012768"/>
                  <a:gd name="connsiteY2" fmla="*/ 860326 h 1122786"/>
                  <a:gd name="connsiteX3" fmla="*/ 1005226 w 2012768"/>
                  <a:gd name="connsiteY3" fmla="*/ 1122786 h 1122786"/>
                  <a:gd name="connsiteX4" fmla="*/ 0 w 2012768"/>
                  <a:gd name="connsiteY4" fmla="*/ 852435 h 1122786"/>
                  <a:gd name="connsiteX0" fmla="*/ 0 w 2012768"/>
                  <a:gd name="connsiteY0" fmla="*/ 852435 h 1122786"/>
                  <a:gd name="connsiteX1" fmla="*/ 849486 w 2012768"/>
                  <a:gd name="connsiteY1" fmla="*/ 4 h 1122786"/>
                  <a:gd name="connsiteX2" fmla="*/ 2012768 w 2012768"/>
                  <a:gd name="connsiteY2" fmla="*/ 860326 h 1122786"/>
                  <a:gd name="connsiteX0" fmla="*/ 0 w 2012768"/>
                  <a:gd name="connsiteY0" fmla="*/ 765352 h 1035703"/>
                  <a:gd name="connsiteX1" fmla="*/ 1009143 w 2012768"/>
                  <a:gd name="connsiteY1" fmla="*/ 43550 h 1035703"/>
                  <a:gd name="connsiteX2" fmla="*/ 2012768 w 2012768"/>
                  <a:gd name="connsiteY2" fmla="*/ 773243 h 1035703"/>
                  <a:gd name="connsiteX3" fmla="*/ 1005226 w 2012768"/>
                  <a:gd name="connsiteY3" fmla="*/ 1035703 h 1035703"/>
                  <a:gd name="connsiteX4" fmla="*/ 0 w 2012768"/>
                  <a:gd name="connsiteY4" fmla="*/ 765352 h 1035703"/>
                  <a:gd name="connsiteX0" fmla="*/ 0 w 2012768"/>
                  <a:gd name="connsiteY0" fmla="*/ 765352 h 1035703"/>
                  <a:gd name="connsiteX1" fmla="*/ 820458 w 2012768"/>
                  <a:gd name="connsiteY1" fmla="*/ 7 h 1035703"/>
                  <a:gd name="connsiteX2" fmla="*/ 2012768 w 2012768"/>
                  <a:gd name="connsiteY2" fmla="*/ 773243 h 103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12768" h="1035703" stroke="0" extrusionOk="0">
                    <a:moveTo>
                      <a:pt x="0" y="765352"/>
                    </a:moveTo>
                    <a:cubicBezTo>
                      <a:pt x="127747" y="336985"/>
                      <a:pt x="540328" y="41880"/>
                      <a:pt x="1009143" y="43550"/>
                    </a:cubicBezTo>
                    <a:cubicBezTo>
                      <a:pt x="1478251" y="45220"/>
                      <a:pt x="1888672" y="343620"/>
                      <a:pt x="2012768" y="773243"/>
                    </a:cubicBezTo>
                    <a:lnTo>
                      <a:pt x="1005226" y="1035703"/>
                    </a:lnTo>
                    <a:lnTo>
                      <a:pt x="0" y="765352"/>
                    </a:lnTo>
                    <a:close/>
                  </a:path>
                  <a:path w="2012768" h="1035703" fill="none">
                    <a:moveTo>
                      <a:pt x="0" y="765352"/>
                    </a:moveTo>
                    <a:cubicBezTo>
                      <a:pt x="127747" y="336985"/>
                      <a:pt x="351643" y="-1663"/>
                      <a:pt x="820458" y="7"/>
                    </a:cubicBezTo>
                    <a:cubicBezTo>
                      <a:pt x="1289566" y="1677"/>
                      <a:pt x="1888672" y="343620"/>
                      <a:pt x="2012768" y="773243"/>
                    </a:cubicBezTo>
                  </a:path>
                </a:pathLst>
              </a:cu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a:endParaRPr>
              </a:p>
            </p:txBody>
          </p:sp>
          <p:sp>
            <p:nvSpPr>
              <p:cNvPr id="80" name="任意多边形 79"/>
              <p:cNvSpPr/>
              <p:nvPr/>
            </p:nvSpPr>
            <p:spPr>
              <a:xfrm rot="20494668">
                <a:off x="2664858" y="4701847"/>
                <a:ext cx="213341" cy="287190"/>
              </a:xfrm>
              <a:custGeom>
                <a:avLst/>
                <a:gdLst>
                  <a:gd name="connsiteX0" fmla="*/ 0 w 354842"/>
                  <a:gd name="connsiteY0" fmla="*/ 109182 h 477672"/>
                  <a:gd name="connsiteX1" fmla="*/ 191068 w 354842"/>
                  <a:gd name="connsiteY1" fmla="*/ 477672 h 477672"/>
                  <a:gd name="connsiteX2" fmla="*/ 354842 w 354842"/>
                  <a:gd name="connsiteY2" fmla="*/ 0 h 477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4842" h="477672">
                    <a:moveTo>
                      <a:pt x="0" y="109182"/>
                    </a:moveTo>
                    <a:lnTo>
                      <a:pt x="191068" y="477672"/>
                    </a:lnTo>
                    <a:lnTo>
                      <a:pt x="354842" y="0"/>
                    </a:lnTo>
                  </a:path>
                </a:pathLst>
              </a:cu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任意多边形 80"/>
              <p:cNvSpPr/>
              <p:nvPr/>
            </p:nvSpPr>
            <p:spPr>
              <a:xfrm rot="9560569">
                <a:off x="1056922" y="5584921"/>
                <a:ext cx="213341" cy="287190"/>
              </a:xfrm>
              <a:custGeom>
                <a:avLst/>
                <a:gdLst>
                  <a:gd name="connsiteX0" fmla="*/ 0 w 354842"/>
                  <a:gd name="connsiteY0" fmla="*/ 109182 h 477672"/>
                  <a:gd name="connsiteX1" fmla="*/ 191068 w 354842"/>
                  <a:gd name="connsiteY1" fmla="*/ 477672 h 477672"/>
                  <a:gd name="connsiteX2" fmla="*/ 354842 w 354842"/>
                  <a:gd name="connsiteY2" fmla="*/ 0 h 477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4842" h="477672">
                    <a:moveTo>
                      <a:pt x="0" y="109182"/>
                    </a:moveTo>
                    <a:lnTo>
                      <a:pt x="191068" y="477672"/>
                    </a:lnTo>
                    <a:lnTo>
                      <a:pt x="354842" y="0"/>
                    </a:lnTo>
                  </a:path>
                </a:pathLst>
              </a:cu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500981" y="4941168"/>
                <a:ext cx="398611" cy="523112"/>
                <a:chOff x="1132503" y="3052763"/>
                <a:chExt cx="483502" cy="634518"/>
              </a:xfrm>
            </p:grpSpPr>
            <p:cxnSp>
              <p:nvCxnSpPr>
                <p:cNvPr id="93" name="直接连接符 92"/>
                <p:cNvCxnSpPr/>
                <p:nvPr/>
              </p:nvCxnSpPr>
              <p:spPr>
                <a:xfrm>
                  <a:off x="1185339" y="3068960"/>
                  <a:ext cx="430666" cy="196947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连接符 93"/>
                <p:cNvCxnSpPr/>
                <p:nvPr/>
              </p:nvCxnSpPr>
              <p:spPr>
                <a:xfrm>
                  <a:off x="1138238" y="3295650"/>
                  <a:ext cx="355600" cy="65257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连接符 94"/>
                <p:cNvCxnSpPr/>
                <p:nvPr/>
              </p:nvCxnSpPr>
              <p:spPr>
                <a:xfrm flipV="1">
                  <a:off x="1185339" y="3484608"/>
                  <a:ext cx="332946" cy="142628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6" name="任意多边形 95"/>
                <p:cNvSpPr/>
                <p:nvPr/>
              </p:nvSpPr>
              <p:spPr>
                <a:xfrm>
                  <a:off x="1164432" y="3052763"/>
                  <a:ext cx="176212" cy="128587"/>
                </a:xfrm>
                <a:custGeom>
                  <a:avLst/>
                  <a:gdLst>
                    <a:gd name="connsiteX0" fmla="*/ 176212 w 176212"/>
                    <a:gd name="connsiteY0" fmla="*/ 0 h 128587"/>
                    <a:gd name="connsiteX1" fmla="*/ 0 w 176212"/>
                    <a:gd name="connsiteY1" fmla="*/ 2381 h 128587"/>
                    <a:gd name="connsiteX2" fmla="*/ 80962 w 176212"/>
                    <a:gd name="connsiteY2" fmla="*/ 128587 h 128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6212" h="128587">
                      <a:moveTo>
                        <a:pt x="176212" y="0"/>
                      </a:moveTo>
                      <a:lnTo>
                        <a:pt x="0" y="2381"/>
                      </a:lnTo>
                      <a:lnTo>
                        <a:pt x="80962" y="128587"/>
                      </a:lnTo>
                    </a:path>
                  </a:pathLst>
                </a:cu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" name="任意多边形 96"/>
                <p:cNvSpPr/>
                <p:nvPr/>
              </p:nvSpPr>
              <p:spPr>
                <a:xfrm rot="20866681">
                  <a:off x="1132503" y="3259932"/>
                  <a:ext cx="176212" cy="128587"/>
                </a:xfrm>
                <a:custGeom>
                  <a:avLst/>
                  <a:gdLst>
                    <a:gd name="connsiteX0" fmla="*/ 176212 w 176212"/>
                    <a:gd name="connsiteY0" fmla="*/ 0 h 128587"/>
                    <a:gd name="connsiteX1" fmla="*/ 0 w 176212"/>
                    <a:gd name="connsiteY1" fmla="*/ 2381 h 128587"/>
                    <a:gd name="connsiteX2" fmla="*/ 80962 w 176212"/>
                    <a:gd name="connsiteY2" fmla="*/ 128587 h 128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6212" h="128587">
                      <a:moveTo>
                        <a:pt x="176212" y="0"/>
                      </a:moveTo>
                      <a:lnTo>
                        <a:pt x="0" y="2381"/>
                      </a:lnTo>
                      <a:lnTo>
                        <a:pt x="80962" y="128587"/>
                      </a:lnTo>
                    </a:path>
                  </a:pathLst>
                </a:cu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" name="任意多边形 97"/>
                <p:cNvSpPr/>
                <p:nvPr/>
              </p:nvSpPr>
              <p:spPr>
                <a:xfrm rot="18337213">
                  <a:off x="1185141" y="3534881"/>
                  <a:ext cx="176212" cy="128587"/>
                </a:xfrm>
                <a:custGeom>
                  <a:avLst/>
                  <a:gdLst>
                    <a:gd name="connsiteX0" fmla="*/ 176212 w 176212"/>
                    <a:gd name="connsiteY0" fmla="*/ 0 h 128587"/>
                    <a:gd name="connsiteX1" fmla="*/ 0 w 176212"/>
                    <a:gd name="connsiteY1" fmla="*/ 2381 h 128587"/>
                    <a:gd name="connsiteX2" fmla="*/ 80962 w 176212"/>
                    <a:gd name="connsiteY2" fmla="*/ 128587 h 128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6212" h="128587">
                      <a:moveTo>
                        <a:pt x="176212" y="0"/>
                      </a:moveTo>
                      <a:lnTo>
                        <a:pt x="0" y="2381"/>
                      </a:lnTo>
                      <a:lnTo>
                        <a:pt x="80962" y="128587"/>
                      </a:lnTo>
                    </a:path>
                  </a:pathLst>
                </a:cu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3" name="组合 82"/>
              <p:cNvGrpSpPr/>
              <p:nvPr/>
            </p:nvGrpSpPr>
            <p:grpSpPr>
              <a:xfrm>
                <a:off x="1939102" y="5026140"/>
                <a:ext cx="328642" cy="521386"/>
                <a:chOff x="3492317" y="3087180"/>
                <a:chExt cx="398632" cy="632424"/>
              </a:xfrm>
            </p:grpSpPr>
            <p:grpSp>
              <p:nvGrpSpPr>
                <p:cNvPr id="84" name="组合 83"/>
                <p:cNvGrpSpPr/>
                <p:nvPr/>
              </p:nvGrpSpPr>
              <p:grpSpPr>
                <a:xfrm>
                  <a:off x="3544735" y="3557172"/>
                  <a:ext cx="346214" cy="162432"/>
                  <a:chOff x="2692441" y="3120155"/>
                  <a:chExt cx="346214" cy="162432"/>
                </a:xfrm>
              </p:grpSpPr>
              <p:cxnSp>
                <p:nvCxnSpPr>
                  <p:cNvPr id="91" name="直接连接符 90"/>
                  <p:cNvCxnSpPr/>
                  <p:nvPr/>
                </p:nvCxnSpPr>
                <p:spPr>
                  <a:xfrm flipH="1">
                    <a:off x="2692441" y="3136352"/>
                    <a:ext cx="325307" cy="146235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2" name="任意多边形 91"/>
                  <p:cNvSpPr/>
                  <p:nvPr/>
                </p:nvSpPr>
                <p:spPr>
                  <a:xfrm flipH="1">
                    <a:off x="2862443" y="3120155"/>
                    <a:ext cx="176212" cy="128587"/>
                  </a:xfrm>
                  <a:custGeom>
                    <a:avLst/>
                    <a:gdLst>
                      <a:gd name="connsiteX0" fmla="*/ 176212 w 176212"/>
                      <a:gd name="connsiteY0" fmla="*/ 0 h 128587"/>
                      <a:gd name="connsiteX1" fmla="*/ 0 w 176212"/>
                      <a:gd name="connsiteY1" fmla="*/ 2381 h 128587"/>
                      <a:gd name="connsiteX2" fmla="*/ 80962 w 176212"/>
                      <a:gd name="connsiteY2" fmla="*/ 128587 h 1285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76212" h="128587">
                        <a:moveTo>
                          <a:pt x="176212" y="0"/>
                        </a:moveTo>
                        <a:lnTo>
                          <a:pt x="0" y="2381"/>
                        </a:lnTo>
                        <a:lnTo>
                          <a:pt x="80962" y="128587"/>
                        </a:lnTo>
                      </a:path>
                    </a:pathLst>
                  </a:cu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ln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85" name="组合 84"/>
                <p:cNvGrpSpPr/>
                <p:nvPr/>
              </p:nvGrpSpPr>
              <p:grpSpPr>
                <a:xfrm rot="885926">
                  <a:off x="3492317" y="3325396"/>
                  <a:ext cx="316670" cy="128587"/>
                  <a:chOff x="2753914" y="3327324"/>
                  <a:chExt cx="316670" cy="128587"/>
                </a:xfrm>
              </p:grpSpPr>
              <p:cxnSp>
                <p:nvCxnSpPr>
                  <p:cNvPr id="89" name="直接连接符 88"/>
                  <p:cNvCxnSpPr/>
                  <p:nvPr/>
                </p:nvCxnSpPr>
                <p:spPr>
                  <a:xfrm rot="20714074" flipH="1" flipV="1">
                    <a:off x="2753914" y="3393699"/>
                    <a:ext cx="314907" cy="9631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" name="任意多边形 89"/>
                  <p:cNvSpPr/>
                  <p:nvPr/>
                </p:nvSpPr>
                <p:spPr>
                  <a:xfrm rot="733319" flipH="1">
                    <a:off x="2894372" y="3327324"/>
                    <a:ext cx="176212" cy="128587"/>
                  </a:xfrm>
                  <a:custGeom>
                    <a:avLst/>
                    <a:gdLst>
                      <a:gd name="connsiteX0" fmla="*/ 176212 w 176212"/>
                      <a:gd name="connsiteY0" fmla="*/ 0 h 128587"/>
                      <a:gd name="connsiteX1" fmla="*/ 0 w 176212"/>
                      <a:gd name="connsiteY1" fmla="*/ 2381 h 128587"/>
                      <a:gd name="connsiteX2" fmla="*/ 80962 w 176212"/>
                      <a:gd name="connsiteY2" fmla="*/ 128587 h 1285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76212" h="128587">
                        <a:moveTo>
                          <a:pt x="176212" y="0"/>
                        </a:moveTo>
                        <a:lnTo>
                          <a:pt x="0" y="2381"/>
                        </a:lnTo>
                        <a:lnTo>
                          <a:pt x="80962" y="128587"/>
                        </a:lnTo>
                      </a:path>
                    </a:pathLst>
                  </a:cu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ln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86" name="组合 85"/>
                <p:cNvGrpSpPr/>
                <p:nvPr/>
              </p:nvGrpSpPr>
              <p:grpSpPr>
                <a:xfrm>
                  <a:off x="3545862" y="3087180"/>
                  <a:ext cx="332946" cy="202673"/>
                  <a:chOff x="2684802" y="3552000"/>
                  <a:chExt cx="332946" cy="202673"/>
                </a:xfrm>
              </p:grpSpPr>
              <p:cxnSp>
                <p:nvCxnSpPr>
                  <p:cNvPr id="87" name="直接连接符 86"/>
                  <p:cNvCxnSpPr/>
                  <p:nvPr/>
                </p:nvCxnSpPr>
                <p:spPr>
                  <a:xfrm flipH="1" flipV="1">
                    <a:off x="2684802" y="3552000"/>
                    <a:ext cx="332946" cy="142628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8" name="任意多边形 87"/>
                  <p:cNvSpPr/>
                  <p:nvPr/>
                </p:nvSpPr>
                <p:spPr>
                  <a:xfrm rot="3262787" flipH="1">
                    <a:off x="2841734" y="3602273"/>
                    <a:ext cx="176212" cy="128587"/>
                  </a:xfrm>
                  <a:custGeom>
                    <a:avLst/>
                    <a:gdLst>
                      <a:gd name="connsiteX0" fmla="*/ 176212 w 176212"/>
                      <a:gd name="connsiteY0" fmla="*/ 0 h 128587"/>
                      <a:gd name="connsiteX1" fmla="*/ 0 w 176212"/>
                      <a:gd name="connsiteY1" fmla="*/ 2381 h 128587"/>
                      <a:gd name="connsiteX2" fmla="*/ 80962 w 176212"/>
                      <a:gd name="connsiteY2" fmla="*/ 128587 h 1285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76212" h="128587">
                        <a:moveTo>
                          <a:pt x="176212" y="0"/>
                        </a:moveTo>
                        <a:lnTo>
                          <a:pt x="0" y="2381"/>
                        </a:lnTo>
                        <a:lnTo>
                          <a:pt x="80962" y="128587"/>
                        </a:lnTo>
                      </a:path>
                    </a:pathLst>
                  </a:cu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ln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p:sp>
          <p:nvSpPr>
            <p:cNvPr id="75" name="文本框 74"/>
            <p:cNvSpPr txBox="1"/>
            <p:nvPr/>
          </p:nvSpPr>
          <p:spPr>
            <a:xfrm>
              <a:off x="4355976" y="4437112"/>
              <a:ext cx="3340240" cy="987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、观察与看交替进行并相互支持</a:t>
              </a:r>
              <a:endPara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、看收集信息，认识问题</a:t>
              </a:r>
              <a:endPara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、观察聚焦信息，寻求解决方案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04" name="直接连接符 103"/>
          <p:cNvCxnSpPr/>
          <p:nvPr/>
        </p:nvCxnSpPr>
        <p:spPr>
          <a:xfrm>
            <a:off x="7026267" y="3230189"/>
            <a:ext cx="0" cy="108000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7774689" y="3230189"/>
            <a:ext cx="0" cy="1080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911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7026267" y="-457617"/>
            <a:ext cx="0" cy="172800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7774689" y="-459432"/>
            <a:ext cx="0" cy="3744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43936" y="1240610"/>
            <a:ext cx="2457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 smtClean="0">
                <a:solidFill>
                  <a:srgbClr val="E669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STEP</a:t>
            </a:r>
            <a:r>
              <a:rPr lang="en-US" altLang="zh-CN" sz="7200" b="1" dirty="0">
                <a:solidFill>
                  <a:srgbClr val="E669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endParaRPr lang="zh-CN" altLang="en-US" sz="4800" b="1" dirty="0">
              <a:solidFill>
                <a:srgbClr val="E6695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611560" y="1268760"/>
            <a:ext cx="6426992" cy="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27782" y="1268760"/>
            <a:ext cx="0" cy="90000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656937" y="1844824"/>
            <a:ext cx="3005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看见那些并不在眼前的事物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257649" y="2491302"/>
            <a:ext cx="3028815" cy="649666"/>
          </a:xfrm>
          <a:prstGeom prst="roundRect">
            <a:avLst/>
          </a:prstGeom>
          <a:solidFill>
            <a:srgbClr val="E669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想象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51595" y="4448299"/>
            <a:ext cx="3799705" cy="376819"/>
          </a:xfrm>
          <a:prstGeom prst="roundRect">
            <a:avLst/>
          </a:prstGeom>
          <a:solidFill>
            <a:srgbClr val="FCEF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换个新视角度重新审视材料，</a:t>
            </a:r>
            <a:endParaRPr lang="en-US" altLang="zh-CN" sz="1600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51595" y="3938650"/>
            <a:ext cx="3799705" cy="376819"/>
          </a:xfrm>
          <a:prstGeom prst="roundRect">
            <a:avLst/>
          </a:prstGeom>
          <a:solidFill>
            <a:srgbClr val="FCEF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参照以往经验，找到可以类比的事物</a:t>
            </a:r>
            <a:endParaRPr lang="en-US" altLang="zh-CN" sz="1600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51595" y="3429001"/>
            <a:ext cx="3799705" cy="376819"/>
          </a:xfrm>
          <a:prstGeom prst="roundRect">
            <a:avLst/>
          </a:prstGeom>
          <a:solidFill>
            <a:srgbClr val="FCEF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寻找材料之间新的联系</a:t>
            </a:r>
            <a:endParaRPr lang="en-US" altLang="zh-CN" sz="1600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251595" y="4957948"/>
            <a:ext cx="3799705" cy="376819"/>
          </a:xfrm>
          <a:prstGeom prst="roundRect">
            <a:avLst/>
          </a:prstGeom>
          <a:solidFill>
            <a:srgbClr val="FCEF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  <a:r>
              <a:rPr lang="zh-CN" altLang="en-US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尝试不同的展示方法</a:t>
            </a:r>
            <a:endParaRPr lang="en-US" altLang="zh-CN" sz="1600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251595" y="5467597"/>
            <a:ext cx="3799705" cy="376819"/>
          </a:xfrm>
          <a:prstGeom prst="roundRect">
            <a:avLst/>
          </a:prstGeom>
          <a:solidFill>
            <a:srgbClr val="FCEF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</a:t>
            </a:r>
            <a:r>
              <a:rPr lang="zh-CN" altLang="en-US" sz="1600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建立自己的思考</a:t>
            </a:r>
            <a:r>
              <a:rPr lang="zh-CN" altLang="en-US" sz="1600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en-US" altLang="zh-CN" sz="1600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 rot="5400000">
            <a:off x="3746746" y="2341906"/>
            <a:ext cx="0" cy="216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rot="10800000">
            <a:off x="3617297" y="2420610"/>
            <a:ext cx="0" cy="216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rot="16200000">
            <a:off x="3445517" y="2498241"/>
            <a:ext cx="0" cy="252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H="1">
            <a:off x="626075" y="2155321"/>
            <a:ext cx="2289741" cy="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2903108" y="1700896"/>
            <a:ext cx="0" cy="46800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2903109" y="1700896"/>
            <a:ext cx="134430" cy="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3037539" y="1700896"/>
            <a:ext cx="0" cy="792000"/>
          </a:xfrm>
          <a:prstGeom prst="line">
            <a:avLst/>
          </a:prstGeom>
          <a:ln w="28575">
            <a:solidFill>
              <a:srgbClr val="E66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rot="10800000">
            <a:off x="3839547" y="2188835"/>
            <a:ext cx="0" cy="216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4306359" y="3617410"/>
            <a:ext cx="0" cy="2053221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H="1">
            <a:off x="4067944" y="5656006"/>
            <a:ext cx="252000" cy="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H="1">
            <a:off x="4299215" y="3633703"/>
            <a:ext cx="252000" cy="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圆角矩形 64"/>
          <p:cNvSpPr/>
          <p:nvPr/>
        </p:nvSpPr>
        <p:spPr>
          <a:xfrm>
            <a:off x="4636692" y="3429000"/>
            <a:ext cx="4228564" cy="1000274"/>
          </a:xfrm>
          <a:prstGeom prst="roundRect">
            <a:avLst/>
          </a:prstGeom>
          <a:solidFill>
            <a:srgbClr val="E669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SQVID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思考框架：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SQVID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代表了五个问题，“你是不是想展示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7" name="直接连接符 66"/>
          <p:cNvCxnSpPr/>
          <p:nvPr/>
        </p:nvCxnSpPr>
        <p:spPr>
          <a:xfrm rot="16200000">
            <a:off x="3445517" y="2848761"/>
            <a:ext cx="0" cy="252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rot="10800000">
            <a:off x="3559611" y="3033635"/>
            <a:ext cx="0" cy="360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flipV="1">
            <a:off x="3269183" y="2798820"/>
            <a:ext cx="3031011" cy="1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rot="10800000">
            <a:off x="6272339" y="2847359"/>
            <a:ext cx="0" cy="504000"/>
          </a:xfrm>
          <a:prstGeom prst="line">
            <a:avLst/>
          </a:prstGeom>
          <a:ln w="28575">
            <a:solidFill>
              <a:srgbClr val="E6695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4499992" y="4717306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5397851" y="4717306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定性</a:t>
            </a:r>
            <a:endParaRPr lang="zh-CN" altLang="en-US" sz="1600" b="1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295710" y="4717306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愿景</a:t>
            </a:r>
            <a:endParaRPr lang="zh-CN" altLang="en-US" sz="1600" b="1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193569" y="4724793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个别</a:t>
            </a:r>
            <a:endParaRPr lang="zh-CN" altLang="en-US" sz="1600" b="1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8091427" y="4724793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endParaRPr lang="zh-CN" altLang="en-US" sz="1600" b="1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499992" y="5493867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精细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5397851" y="5493867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定量</a:t>
            </a:r>
            <a:endParaRPr lang="zh-CN" altLang="en-US" sz="1600" b="1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295710" y="5493867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endParaRPr lang="zh-CN" altLang="en-US" sz="1600" b="1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7193569" y="5501354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endParaRPr lang="zh-CN" altLang="en-US" sz="1600" b="1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8091427" y="5501354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E6695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endParaRPr lang="zh-CN" altLang="en-US" sz="1600" b="1" dirty="0">
              <a:solidFill>
                <a:srgbClr val="E6695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27408" y="5106235"/>
            <a:ext cx="337256" cy="337256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625267" y="5106235"/>
            <a:ext cx="337256" cy="337256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23126" y="5106235"/>
            <a:ext cx="337256" cy="337256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420985" y="5106235"/>
            <a:ext cx="337256" cy="337256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321795" y="5106235"/>
            <a:ext cx="337256" cy="337256"/>
          </a:xfrm>
          <a:prstGeom prst="rect">
            <a:avLst/>
          </a:prstGeom>
        </p:spPr>
      </p:pic>
      <p:cxnSp>
        <p:nvCxnSpPr>
          <p:cNvPr id="89" name="直接连接符 88"/>
          <p:cNvCxnSpPr/>
          <p:nvPr/>
        </p:nvCxnSpPr>
        <p:spPr>
          <a:xfrm>
            <a:off x="7774689" y="6021488"/>
            <a:ext cx="0" cy="1800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88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文本框 143"/>
          <p:cNvSpPr txBox="1"/>
          <p:nvPr/>
        </p:nvSpPr>
        <p:spPr>
          <a:xfrm>
            <a:off x="807823" y="1882144"/>
            <a:ext cx="230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499D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展现的三个步骤</a:t>
            </a:r>
            <a:endParaRPr lang="zh-CN" altLang="en-US" b="1" dirty="0">
              <a:solidFill>
                <a:srgbClr val="499D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6635155" y="1652607"/>
            <a:ext cx="2457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 smtClean="0">
                <a:solidFill>
                  <a:srgbClr val="499D9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STEP</a:t>
            </a:r>
            <a:r>
              <a:rPr lang="en-US" altLang="zh-CN" sz="7200" b="1" dirty="0">
                <a:solidFill>
                  <a:srgbClr val="499D9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r>
            <a:endParaRPr lang="zh-CN" altLang="en-US" sz="4800" b="1" dirty="0">
              <a:solidFill>
                <a:srgbClr val="499D9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/>
        </p:nvCxnSpPr>
        <p:spPr>
          <a:xfrm>
            <a:off x="7774689" y="-747464"/>
            <a:ext cx="0" cy="2304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 rot="16200000">
            <a:off x="8340887" y="981797"/>
            <a:ext cx="0" cy="1152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>
            <a:off x="8902600" y="1543510"/>
            <a:ext cx="0" cy="1044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 rot="5400000">
            <a:off x="7596976" y="1260407"/>
            <a:ext cx="0" cy="2628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圆角矩形 134"/>
          <p:cNvSpPr/>
          <p:nvPr/>
        </p:nvSpPr>
        <p:spPr>
          <a:xfrm>
            <a:off x="2971821" y="1010845"/>
            <a:ext cx="3028815" cy="649666"/>
          </a:xfrm>
          <a:prstGeom prst="roundRect">
            <a:avLst/>
          </a:prstGeom>
          <a:solidFill>
            <a:srgbClr val="499D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展现</a:t>
            </a:r>
          </a:p>
        </p:txBody>
      </p:sp>
      <p:cxnSp>
        <p:nvCxnSpPr>
          <p:cNvPr id="136" name="直接连接符 135"/>
          <p:cNvCxnSpPr/>
          <p:nvPr/>
        </p:nvCxnSpPr>
        <p:spPr>
          <a:xfrm rot="5400000">
            <a:off x="2059737" y="526490"/>
            <a:ext cx="0" cy="2124000"/>
          </a:xfrm>
          <a:prstGeom prst="line">
            <a:avLst/>
          </a:prstGeom>
          <a:ln w="28575">
            <a:solidFill>
              <a:srgbClr val="499D9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997737" y="1585979"/>
            <a:ext cx="0" cy="648000"/>
          </a:xfrm>
          <a:prstGeom prst="line">
            <a:avLst/>
          </a:prstGeom>
          <a:ln w="28575">
            <a:solidFill>
              <a:srgbClr val="499D9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 rot="5400000">
            <a:off x="1911417" y="1290359"/>
            <a:ext cx="0" cy="1872000"/>
          </a:xfrm>
          <a:prstGeom prst="line">
            <a:avLst/>
          </a:prstGeom>
          <a:ln w="28575">
            <a:solidFill>
              <a:srgbClr val="499D9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本框 138"/>
          <p:cNvSpPr txBox="1"/>
          <p:nvPr/>
        </p:nvSpPr>
        <p:spPr>
          <a:xfrm>
            <a:off x="876544" y="420611"/>
            <a:ext cx="3005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499D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让一切明白清楚</a:t>
            </a:r>
            <a:endParaRPr lang="zh-CN" altLang="en-US" b="1" dirty="0">
              <a:solidFill>
                <a:srgbClr val="499D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0" name="直接连接符 139"/>
          <p:cNvCxnSpPr/>
          <p:nvPr/>
        </p:nvCxnSpPr>
        <p:spPr>
          <a:xfrm rot="16200000" flipV="1">
            <a:off x="2849317" y="1045950"/>
            <a:ext cx="0" cy="216000"/>
          </a:xfrm>
          <a:prstGeom prst="line">
            <a:avLst/>
          </a:prstGeom>
          <a:ln w="28575">
            <a:solidFill>
              <a:srgbClr val="499D9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 rot="10800000" flipV="1">
            <a:off x="2754793" y="948196"/>
            <a:ext cx="0" cy="216000"/>
          </a:xfrm>
          <a:prstGeom prst="line">
            <a:avLst/>
          </a:prstGeom>
          <a:ln w="28575">
            <a:solidFill>
              <a:srgbClr val="499D9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/>
        </p:nvCxnSpPr>
        <p:spPr>
          <a:xfrm rot="5400000" flipV="1">
            <a:off x="2652863" y="834565"/>
            <a:ext cx="0" cy="252000"/>
          </a:xfrm>
          <a:prstGeom prst="line">
            <a:avLst/>
          </a:prstGeom>
          <a:ln w="28575">
            <a:solidFill>
              <a:srgbClr val="499D9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 rot="10800000" flipV="1">
            <a:off x="2487656" y="751843"/>
            <a:ext cx="0" cy="216000"/>
          </a:xfrm>
          <a:prstGeom prst="line">
            <a:avLst/>
          </a:prstGeom>
          <a:ln w="28575">
            <a:solidFill>
              <a:srgbClr val="499D9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圆角矩形 144"/>
          <p:cNvSpPr/>
          <p:nvPr/>
        </p:nvSpPr>
        <p:spPr>
          <a:xfrm>
            <a:off x="2959917" y="1946860"/>
            <a:ext cx="3040719" cy="376819"/>
          </a:xfrm>
          <a:prstGeom prst="roundRect">
            <a:avLst/>
          </a:prstGeom>
          <a:solidFill>
            <a:srgbClr val="499D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合适的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圆角矩形 145"/>
          <p:cNvSpPr/>
          <p:nvPr/>
        </p:nvSpPr>
        <p:spPr>
          <a:xfrm>
            <a:off x="2959917" y="2456509"/>
            <a:ext cx="3040719" cy="376819"/>
          </a:xfrm>
          <a:prstGeom prst="roundRect">
            <a:avLst/>
          </a:prstGeom>
          <a:solidFill>
            <a:srgbClr val="499D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②依照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选定的框架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画图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2959917" y="2966158"/>
            <a:ext cx="3040719" cy="376819"/>
          </a:xfrm>
          <a:prstGeom prst="roundRect">
            <a:avLst/>
          </a:prstGeom>
          <a:solidFill>
            <a:srgbClr val="499D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③介绍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和解释所画的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0" name="组合 149"/>
          <p:cNvGrpSpPr/>
          <p:nvPr/>
        </p:nvGrpSpPr>
        <p:grpSpPr>
          <a:xfrm>
            <a:off x="4546774" y="4035812"/>
            <a:ext cx="576048" cy="576048"/>
            <a:chOff x="3062995" y="1952431"/>
            <a:chExt cx="576048" cy="576048"/>
          </a:xfrm>
          <a:solidFill>
            <a:srgbClr val="499D9C"/>
          </a:solidFill>
        </p:grpSpPr>
        <p:sp>
          <p:nvSpPr>
            <p:cNvPr id="174" name="圆角矩形 173"/>
            <p:cNvSpPr/>
            <p:nvPr/>
          </p:nvSpPr>
          <p:spPr>
            <a:xfrm>
              <a:off x="3062995" y="1952431"/>
              <a:ext cx="576048" cy="5760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5" name="图片 174"/>
            <p:cNvPicPr>
              <a:picLocks noChangeAspect="1"/>
            </p:cNvPicPr>
            <p:nvPr/>
          </p:nvPicPr>
          <p:blipFill rotWithShape="1"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787" t="20236" r="26919" b="24120"/>
            <a:stretch/>
          </p:blipFill>
          <p:spPr>
            <a:xfrm>
              <a:off x="3225226" y="2089255"/>
              <a:ext cx="251586" cy="302400"/>
            </a:xfrm>
            <a:prstGeom prst="rect">
              <a:avLst/>
            </a:prstGeom>
            <a:grpFill/>
          </p:spPr>
        </p:pic>
      </p:grpSp>
      <p:grpSp>
        <p:nvGrpSpPr>
          <p:cNvPr id="151" name="组合 150"/>
          <p:cNvGrpSpPr/>
          <p:nvPr/>
        </p:nvGrpSpPr>
        <p:grpSpPr>
          <a:xfrm>
            <a:off x="2820946" y="4035812"/>
            <a:ext cx="576048" cy="576048"/>
            <a:chOff x="999826" y="1880455"/>
            <a:chExt cx="576048" cy="576048"/>
          </a:xfrm>
          <a:solidFill>
            <a:srgbClr val="499D9C"/>
          </a:solidFill>
        </p:grpSpPr>
        <p:sp>
          <p:nvSpPr>
            <p:cNvPr id="172" name="圆角矩形 171"/>
            <p:cNvSpPr/>
            <p:nvPr/>
          </p:nvSpPr>
          <p:spPr>
            <a:xfrm>
              <a:off x="999826" y="1880455"/>
              <a:ext cx="576048" cy="5760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3" name="图片 17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6650" y="2017279"/>
              <a:ext cx="302400" cy="302400"/>
            </a:xfrm>
            <a:prstGeom prst="rect">
              <a:avLst/>
            </a:prstGeom>
            <a:grpFill/>
          </p:spPr>
        </p:pic>
      </p:grpSp>
      <p:grpSp>
        <p:nvGrpSpPr>
          <p:cNvPr id="152" name="组合 151"/>
          <p:cNvGrpSpPr/>
          <p:nvPr/>
        </p:nvGrpSpPr>
        <p:grpSpPr>
          <a:xfrm>
            <a:off x="3683860" y="4035812"/>
            <a:ext cx="576048" cy="576048"/>
            <a:chOff x="2063169" y="1952431"/>
            <a:chExt cx="576048" cy="576048"/>
          </a:xfrm>
          <a:solidFill>
            <a:srgbClr val="499D9C"/>
          </a:solidFill>
        </p:grpSpPr>
        <p:sp>
          <p:nvSpPr>
            <p:cNvPr id="170" name="圆角矩形 169"/>
            <p:cNvSpPr/>
            <p:nvPr/>
          </p:nvSpPr>
          <p:spPr>
            <a:xfrm>
              <a:off x="2063169" y="1952431"/>
              <a:ext cx="576048" cy="5760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1" name="图片 17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9993" y="2089255"/>
              <a:ext cx="302400" cy="302400"/>
            </a:xfrm>
            <a:prstGeom prst="rect">
              <a:avLst/>
            </a:prstGeom>
            <a:grpFill/>
          </p:spPr>
        </p:pic>
      </p:grpSp>
      <p:grpSp>
        <p:nvGrpSpPr>
          <p:cNvPr id="153" name="组合 152"/>
          <p:cNvGrpSpPr/>
          <p:nvPr/>
        </p:nvGrpSpPr>
        <p:grpSpPr>
          <a:xfrm>
            <a:off x="5409688" y="4035812"/>
            <a:ext cx="576048" cy="576048"/>
            <a:chOff x="4004640" y="1952431"/>
            <a:chExt cx="576048" cy="576048"/>
          </a:xfrm>
          <a:solidFill>
            <a:srgbClr val="499D9C"/>
          </a:solidFill>
        </p:grpSpPr>
        <p:sp>
          <p:nvSpPr>
            <p:cNvPr id="168" name="圆角矩形 167"/>
            <p:cNvSpPr/>
            <p:nvPr/>
          </p:nvSpPr>
          <p:spPr>
            <a:xfrm>
              <a:off x="4004640" y="1952431"/>
              <a:ext cx="576048" cy="5760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69" name="图片 16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1464" y="2089255"/>
              <a:ext cx="302400" cy="302400"/>
            </a:xfrm>
            <a:prstGeom prst="rect">
              <a:avLst/>
            </a:prstGeom>
            <a:grpFill/>
          </p:spPr>
        </p:pic>
      </p:grpSp>
      <p:grpSp>
        <p:nvGrpSpPr>
          <p:cNvPr id="154" name="组合 153"/>
          <p:cNvGrpSpPr/>
          <p:nvPr/>
        </p:nvGrpSpPr>
        <p:grpSpPr>
          <a:xfrm>
            <a:off x="6272601" y="4035812"/>
            <a:ext cx="576048" cy="576048"/>
            <a:chOff x="4864011" y="1927358"/>
            <a:chExt cx="576048" cy="576048"/>
          </a:xfrm>
          <a:solidFill>
            <a:srgbClr val="499D9C"/>
          </a:solidFill>
        </p:grpSpPr>
        <p:sp>
          <p:nvSpPr>
            <p:cNvPr id="166" name="圆角矩形 165"/>
            <p:cNvSpPr/>
            <p:nvPr/>
          </p:nvSpPr>
          <p:spPr>
            <a:xfrm>
              <a:off x="4864011" y="1927358"/>
              <a:ext cx="576048" cy="5760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67" name="图片 166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39" t="22207" r="32453" b="24335"/>
            <a:stretch/>
          </p:blipFill>
          <p:spPr>
            <a:xfrm>
              <a:off x="5052455" y="2064182"/>
              <a:ext cx="199161" cy="302400"/>
            </a:xfrm>
            <a:prstGeom prst="rect">
              <a:avLst/>
            </a:prstGeom>
            <a:grpFill/>
          </p:spPr>
        </p:pic>
      </p:grpSp>
      <p:grpSp>
        <p:nvGrpSpPr>
          <p:cNvPr id="155" name="组合 154"/>
          <p:cNvGrpSpPr/>
          <p:nvPr/>
        </p:nvGrpSpPr>
        <p:grpSpPr>
          <a:xfrm>
            <a:off x="1958032" y="4035812"/>
            <a:ext cx="576048" cy="576048"/>
            <a:chOff x="0" y="1880455"/>
            <a:chExt cx="576048" cy="576048"/>
          </a:xfrm>
          <a:solidFill>
            <a:srgbClr val="499D9C"/>
          </a:solidFill>
        </p:grpSpPr>
        <p:sp>
          <p:nvSpPr>
            <p:cNvPr id="164" name="圆角矩形 163"/>
            <p:cNvSpPr/>
            <p:nvPr/>
          </p:nvSpPr>
          <p:spPr>
            <a:xfrm>
              <a:off x="0" y="1880455"/>
              <a:ext cx="576048" cy="5760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65" name="图片 164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21" t="11919" r="12156" b="11300"/>
            <a:stretch/>
          </p:blipFill>
          <p:spPr>
            <a:xfrm>
              <a:off x="139102" y="2032990"/>
              <a:ext cx="297844" cy="302400"/>
            </a:xfrm>
            <a:prstGeom prst="rect">
              <a:avLst/>
            </a:prstGeom>
            <a:grpFill/>
          </p:spPr>
        </p:pic>
      </p:grpSp>
      <p:sp>
        <p:nvSpPr>
          <p:cNvPr id="156" name="文本框 155"/>
          <p:cNvSpPr txBox="1"/>
          <p:nvPr/>
        </p:nvSpPr>
        <p:spPr>
          <a:xfrm>
            <a:off x="1848138" y="4949061"/>
            <a:ext cx="795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2711052" y="4949061"/>
            <a:ext cx="795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3568010" y="4764395"/>
            <a:ext cx="795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推移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4438211" y="4764395"/>
            <a:ext cx="795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位置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5208995" y="4764395"/>
            <a:ext cx="977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6162707" y="4764395"/>
            <a:ext cx="795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" name="文本框 162"/>
          <p:cNvSpPr txBox="1"/>
          <p:nvPr/>
        </p:nvSpPr>
        <p:spPr>
          <a:xfrm rot="5400000">
            <a:off x="6396167" y="5003510"/>
            <a:ext cx="2400657" cy="36933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499D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从观察到展现</a:t>
            </a:r>
            <a:endParaRPr lang="zh-CN" altLang="en-US" sz="2400" b="1" dirty="0">
              <a:solidFill>
                <a:srgbClr val="499D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1848138" y="5979735"/>
            <a:ext cx="795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画像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2711052" y="5979735"/>
            <a:ext cx="795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3568010" y="5979735"/>
            <a:ext cx="795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时间轴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4438211" y="5979735"/>
            <a:ext cx="795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布局图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5208995" y="5979735"/>
            <a:ext cx="977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流程图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6162707" y="5979735"/>
            <a:ext cx="795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多重变量图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2245916" y="5373216"/>
            <a:ext cx="0" cy="576000"/>
          </a:xfrm>
          <a:prstGeom prst="straightConnector1">
            <a:avLst/>
          </a:prstGeom>
          <a:ln w="38100">
            <a:solidFill>
              <a:srgbClr val="499D9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/>
          <p:nvPr/>
        </p:nvCxnSpPr>
        <p:spPr>
          <a:xfrm>
            <a:off x="3107844" y="5373216"/>
            <a:ext cx="0" cy="576000"/>
          </a:xfrm>
          <a:prstGeom prst="straightConnector1">
            <a:avLst/>
          </a:prstGeom>
          <a:ln w="38100">
            <a:solidFill>
              <a:srgbClr val="499D9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/>
          <p:nvPr/>
        </p:nvCxnSpPr>
        <p:spPr>
          <a:xfrm>
            <a:off x="3965928" y="5373216"/>
            <a:ext cx="0" cy="576000"/>
          </a:xfrm>
          <a:prstGeom prst="straightConnector1">
            <a:avLst/>
          </a:prstGeom>
          <a:ln w="38100">
            <a:solidFill>
              <a:srgbClr val="499D9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/>
          <p:cNvCxnSpPr/>
          <p:nvPr/>
        </p:nvCxnSpPr>
        <p:spPr>
          <a:xfrm>
            <a:off x="4834798" y="5373216"/>
            <a:ext cx="0" cy="576000"/>
          </a:xfrm>
          <a:prstGeom prst="straightConnector1">
            <a:avLst/>
          </a:prstGeom>
          <a:ln w="38100">
            <a:solidFill>
              <a:srgbClr val="499D9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/>
          <p:nvPr/>
        </p:nvCxnSpPr>
        <p:spPr>
          <a:xfrm>
            <a:off x="5697711" y="5373216"/>
            <a:ext cx="0" cy="576000"/>
          </a:xfrm>
          <a:prstGeom prst="straightConnector1">
            <a:avLst/>
          </a:prstGeom>
          <a:ln w="38100">
            <a:solidFill>
              <a:srgbClr val="499D9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/>
          <p:nvPr/>
        </p:nvCxnSpPr>
        <p:spPr>
          <a:xfrm>
            <a:off x="6560625" y="5373216"/>
            <a:ext cx="0" cy="576000"/>
          </a:xfrm>
          <a:prstGeom prst="straightConnector1">
            <a:avLst/>
          </a:prstGeom>
          <a:ln w="38100">
            <a:solidFill>
              <a:srgbClr val="499D9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/>
          <p:cNvCxnSpPr/>
          <p:nvPr/>
        </p:nvCxnSpPr>
        <p:spPr>
          <a:xfrm>
            <a:off x="6289326" y="1296186"/>
            <a:ext cx="0" cy="1296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/>
          <p:cNvCxnSpPr/>
          <p:nvPr/>
        </p:nvCxnSpPr>
        <p:spPr>
          <a:xfrm rot="16200000">
            <a:off x="6135592" y="1142293"/>
            <a:ext cx="0" cy="324000"/>
          </a:xfrm>
          <a:prstGeom prst="line">
            <a:avLst/>
          </a:prstGeom>
          <a:ln w="28575">
            <a:solidFill>
              <a:srgbClr val="499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221289" y="4916166"/>
            <a:ext cx="661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499D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</a:t>
            </a:r>
            <a:endParaRPr lang="zh-CN" altLang="en-US" sz="1600" b="1" dirty="0">
              <a:solidFill>
                <a:srgbClr val="499D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1222681" y="5948957"/>
            <a:ext cx="661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499D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展现</a:t>
            </a:r>
            <a:endParaRPr lang="zh-CN" altLang="en-US" sz="1600" b="1" dirty="0">
              <a:solidFill>
                <a:srgbClr val="499D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0" name="直接箭头连接符 189"/>
          <p:cNvCxnSpPr/>
          <p:nvPr/>
        </p:nvCxnSpPr>
        <p:spPr>
          <a:xfrm>
            <a:off x="1496616" y="5373216"/>
            <a:ext cx="0" cy="576000"/>
          </a:xfrm>
          <a:prstGeom prst="straightConnector1">
            <a:avLst/>
          </a:prstGeom>
          <a:ln w="38100">
            <a:solidFill>
              <a:srgbClr val="499D9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57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9" t="15043" r="30053" b="25906"/>
          <a:stretch/>
        </p:blipFill>
        <p:spPr>
          <a:xfrm>
            <a:off x="2076965" y="1679956"/>
            <a:ext cx="4990071" cy="349808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277888" y="2636912"/>
            <a:ext cx="6588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 smtClean="0">
                <a:solidFill>
                  <a:schemeClr val="bg1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rPr>
              <a:t>谢谢观赏</a:t>
            </a:r>
            <a:endParaRPr lang="en-US" altLang="zh-CN" sz="5400" spc="600" dirty="0" smtClean="0">
              <a:solidFill>
                <a:schemeClr val="bg1"/>
              </a:solidFill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278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4873" y="1665087"/>
            <a:ext cx="5554256" cy="3166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180579" y="2992192"/>
            <a:ext cx="87481" cy="16277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21824" y="2992192"/>
            <a:ext cx="87481" cy="16277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5921516" y="2992192"/>
            <a:ext cx="87481" cy="16277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60097" y="3847321"/>
            <a:ext cx="5554256" cy="134459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094"/>
              </a:spcBef>
              <a:spcAft>
                <a:spcPct val="0"/>
              </a:spcAft>
            </a:pP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094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094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094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991318" y="4085106"/>
            <a:ext cx="51613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860097" y="2576065"/>
            <a:ext cx="1180991" cy="814780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836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241229" y="2576066"/>
            <a:ext cx="1242059" cy="814781"/>
            <a:chOff x="107380" y="2024805"/>
            <a:chExt cx="204480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6003" y="2382194"/>
              <a:ext cx="1896184" cy="9836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私信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599742" y="2576065"/>
            <a:ext cx="1180991" cy="814780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836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965253" y="2576065"/>
            <a:ext cx="1180991" cy="814780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836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546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797291" y="3822655"/>
            <a:ext cx="5569445" cy="988743"/>
            <a:chOff x="0" y="3359571"/>
            <a:chExt cx="9169004" cy="1627773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2" cy="5831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5587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51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851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851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1658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21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8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639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4"/>
              <a:ext cx="594123" cy="613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23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3644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618640" cy="966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458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735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458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458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47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5"/>
              <a:ext cx="1596629" cy="79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77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8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639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1"/>
              <a:ext cx="757239" cy="79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77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8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21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21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4"/>
              <a:ext cx="3193757" cy="383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912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526406" y="1897578"/>
            <a:ext cx="4111217" cy="178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1823"/>
              </a:spcBef>
              <a:spcAft>
                <a:spcPct val="0"/>
              </a:spcAft>
            </a:pPr>
            <a:r>
              <a:rPr lang="zh-CN" altLang="en-US" sz="2673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学员暑假读书笔记</a:t>
            </a:r>
            <a:r>
              <a:rPr lang="en-US" altLang="zh-CN" sz="2673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163</a:t>
            </a:r>
            <a:r>
              <a:rPr lang="zh-CN" altLang="en-US" sz="2673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673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1823"/>
              </a:spcBef>
              <a:spcAft>
                <a:spcPct val="0"/>
              </a:spcAft>
            </a:pPr>
            <a:r>
              <a:rPr lang="zh-CN" altLang="en-US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701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78359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525</Words>
  <Application>Microsoft Office PowerPoint</Application>
  <PresentationFormat>全屏显示(4:3)</PresentationFormat>
  <Paragraphs>123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微软雅黑</vt:lpstr>
      <vt:lpstr>Calibri Light</vt:lpstr>
      <vt:lpstr>汉仪菱心体简</vt:lpstr>
      <vt:lpstr>宋体</vt:lpstr>
      <vt:lpstr>方正喵呜体</vt:lpstr>
      <vt:lpstr>方正正中黑简体</vt:lpstr>
      <vt:lpstr>Microsoft YaHei UI</vt:lpstr>
      <vt:lpstr>Calibri</vt:lpstr>
      <vt:lpstr>Arial</vt:lpstr>
      <vt:lpstr>方正正黑简体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小巴</cp:lastModifiedBy>
  <cp:revision>169</cp:revision>
  <dcterms:created xsi:type="dcterms:W3CDTF">2014-07-08T14:44:13Z</dcterms:created>
  <dcterms:modified xsi:type="dcterms:W3CDTF">2014-10-08T09:42:03Z</dcterms:modified>
</cp:coreProperties>
</file>