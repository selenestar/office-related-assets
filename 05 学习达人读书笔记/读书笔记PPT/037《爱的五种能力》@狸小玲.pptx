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33"/>
  </p:notesMasterIdLst>
  <p:sldIdLst>
    <p:sldId id="256" r:id="rId4"/>
    <p:sldId id="392" r:id="rId5"/>
    <p:sldId id="393" r:id="rId6"/>
    <p:sldId id="258" r:id="rId7"/>
    <p:sldId id="375" r:id="rId8"/>
    <p:sldId id="380" r:id="rId9"/>
    <p:sldId id="259" r:id="rId10"/>
    <p:sldId id="378" r:id="rId11"/>
    <p:sldId id="395" r:id="rId12"/>
    <p:sldId id="381" r:id="rId13"/>
    <p:sldId id="399" r:id="rId14"/>
    <p:sldId id="382" r:id="rId15"/>
    <p:sldId id="386" r:id="rId16"/>
    <p:sldId id="387" r:id="rId17"/>
    <p:sldId id="383" r:id="rId18"/>
    <p:sldId id="396" r:id="rId19"/>
    <p:sldId id="388" r:id="rId20"/>
    <p:sldId id="400" r:id="rId21"/>
    <p:sldId id="389" r:id="rId22"/>
    <p:sldId id="384" r:id="rId23"/>
    <p:sldId id="391" r:id="rId24"/>
    <p:sldId id="402" r:id="rId25"/>
    <p:sldId id="385" r:id="rId26"/>
    <p:sldId id="394" r:id="rId27"/>
    <p:sldId id="398" r:id="rId28"/>
    <p:sldId id="401" r:id="rId29"/>
    <p:sldId id="403" r:id="rId30"/>
    <p:sldId id="404" r:id="rId31"/>
    <p:sldId id="405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907" userDrawn="1">
          <p15:clr>
            <a:srgbClr val="A4A3A4"/>
          </p15:clr>
        </p15:guide>
        <p15:guide id="2" pos="2472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0050"/>
    <a:srgbClr val="EDECF1"/>
    <a:srgbClr val="DFDDDE"/>
    <a:srgbClr val="EDEAD7"/>
    <a:srgbClr val="DCD9C6"/>
    <a:srgbClr val="F1F1EF"/>
    <a:srgbClr val="EAD16A"/>
    <a:srgbClr val="D4BA43"/>
    <a:srgbClr val="FBD668"/>
    <a:srgbClr val="E4C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4" autoAdjust="0"/>
    <p:restoredTop sz="94259" autoAdjust="0"/>
  </p:normalViewPr>
  <p:slideViewPr>
    <p:cSldViewPr snapToGrid="0">
      <p:cViewPr varScale="1">
        <p:scale>
          <a:sx n="74" d="100"/>
          <a:sy n="74" d="100"/>
        </p:scale>
        <p:origin x="1422" y="72"/>
      </p:cViewPr>
      <p:guideLst>
        <p:guide pos="907"/>
        <p:guide pos="2472"/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7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B6CA6-D652-4379-9AAE-A7D1FF936C33}" type="datetimeFigureOut">
              <a:rPr lang="zh-CN" altLang="en-US" smtClean="0"/>
              <a:t>2014/2/28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9DCDC-95F4-427A-8DED-6277E5AC9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96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E9DCDC-95F4-427A-8DED-6277E5AC93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90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E9DCDC-95F4-427A-8DED-6277E5AC93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639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E9DCDC-95F4-427A-8DED-6277E5AC937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649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796136" y="409607"/>
            <a:ext cx="3347896" cy="0"/>
          </a:xfrm>
          <a:prstGeom prst="line">
            <a:avLst/>
          </a:prstGeom>
          <a:ln w="28575" cmpd="dbl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8"/>
          <p:cNvSpPr txBox="1"/>
          <p:nvPr userDrawn="1"/>
        </p:nvSpPr>
        <p:spPr>
          <a:xfrm>
            <a:off x="5612634" y="31700"/>
            <a:ext cx="3531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爱的五种能力</a:t>
            </a:r>
            <a:r>
              <a:rPr lang="en-US" altLang="zh-CN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</a:p>
        </p:txBody>
      </p:sp>
    </p:spTree>
    <p:extLst>
      <p:ext uri="{BB962C8B-B14F-4D97-AF65-F5344CB8AC3E}">
        <p14:creationId xmlns:p14="http://schemas.microsoft.com/office/powerpoint/2010/main" val="1373991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883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76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33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10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 smtClean="0"/>
              <a:t>2014/2/28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1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 smtClean="0"/>
              <a:t>2014/2/28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24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 smtClean="0"/>
              <a:t>2014/2/28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25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 smtClean="0"/>
              <a:t>2014/2/28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25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 smtClean="0"/>
              <a:t>2014/2/28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9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23C05C-4CBF-448D-A1FE-9606BD589BD8}" type="datetimeFigureOut">
              <a:rPr lang="zh-CN" altLang="en-US" smtClean="0"/>
              <a:t>2014/2/28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B96A150-6B9A-486A-B0E2-7D6AFBCF26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226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21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455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378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863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7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811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329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364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1018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930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4726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874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59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0988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742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8639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4869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9209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3946" y="-51325"/>
            <a:ext cx="9140054" cy="706827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894850" y="585521"/>
            <a:ext cx="468052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3946" y="26340"/>
            <a:ext cx="108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3737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8752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8731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879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83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8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61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2014/2/28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24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832100"/>
            <a:ext cx="9144000" cy="13335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72000" y="2312244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/>
              <a:t>《</a:t>
            </a:r>
            <a:r>
              <a:rPr lang="zh-CN" altLang="en-US" sz="2400" b="1" dirty="0" smtClean="0"/>
              <a:t>爱的五种能力</a:t>
            </a:r>
            <a:r>
              <a:rPr lang="en-US" altLang="zh-CN" sz="2400" b="1" dirty="0" smtClean="0"/>
              <a:t>》</a:t>
            </a:r>
            <a:r>
              <a:rPr lang="zh-CN" altLang="en-US" sz="2400" b="1" dirty="0" smtClean="0"/>
              <a:t>读书笔记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4813300" y="3111500"/>
            <a:ext cx="3570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rgbClr val="E70050"/>
                </a:solidFill>
              </a:rPr>
              <a:t>改变</a:t>
            </a:r>
            <a:r>
              <a:rPr lang="zh-CN" altLang="en-US" sz="4400" b="1" dirty="0" smtClean="0">
                <a:solidFill>
                  <a:srgbClr val="E70050"/>
                </a:solidFill>
              </a:rPr>
              <a:t>你的命运</a:t>
            </a:r>
            <a:endParaRPr lang="zh-CN" altLang="en-US" sz="4400" b="1" dirty="0">
              <a:solidFill>
                <a:srgbClr val="E70050"/>
              </a:solidFill>
            </a:endParaRPr>
          </a:p>
        </p:txBody>
      </p:sp>
      <p:sp>
        <p:nvSpPr>
          <p:cNvPr id="12" name="副标题 2"/>
          <p:cNvSpPr txBox="1">
            <a:spLocks/>
          </p:cNvSpPr>
          <p:nvPr/>
        </p:nvSpPr>
        <p:spPr bwMode="auto">
          <a:xfrm>
            <a:off x="4800600" y="5302447"/>
            <a:ext cx="3059113" cy="590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作者</a:t>
            </a:r>
            <a:r>
              <a:rPr lang="zh-CN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赵永久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1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出版：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中国华侨</a:t>
            </a:r>
            <a:r>
              <a:rPr lang="zh-CN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出版社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8" r="3170"/>
          <a:stretch/>
        </p:blipFill>
        <p:spPr>
          <a:xfrm>
            <a:off x="771525" y="1363029"/>
            <a:ext cx="3409950" cy="468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6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88" y="2278543"/>
            <a:ext cx="2606222" cy="39093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文本框 4"/>
          <p:cNvSpPr txBox="1"/>
          <p:nvPr/>
        </p:nvSpPr>
        <p:spPr>
          <a:xfrm>
            <a:off x="3509995" y="2186495"/>
            <a:ext cx="552877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知名情感教练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心理月刊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中国首席情感教练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  <a:p>
            <a:pPr>
              <a:spcBef>
                <a:spcPts val="12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北京心灵智慧婚恋培训机构创始人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浙江卫视等多家卫视特邀情感嘉宾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2008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年起在北京、广州等地讲授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爱的能力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课程，好评如潮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b="1" dirty="0" smtClean="0">
                <a:solidFill>
                  <a:srgbClr val="E70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新浪微博：</a:t>
            </a:r>
            <a:r>
              <a:rPr lang="en-US" altLang="zh-CN" b="1" dirty="0" smtClean="0">
                <a:solidFill>
                  <a:srgbClr val="E70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 dirty="0" smtClean="0">
                <a:solidFill>
                  <a:srgbClr val="E70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情感教练赵永久</a:t>
            </a:r>
            <a:endParaRPr lang="en-US" altLang="zh-CN" b="1" dirty="0" smtClean="0">
              <a:solidFill>
                <a:srgbClr val="E70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 smtClean="0">
                <a:solidFill>
                  <a:srgbClr val="E70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solidFill>
                  <a:srgbClr val="E70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http://weibo.com/zhaoyongjiu</a:t>
            </a:r>
            <a:r>
              <a:rPr lang="zh-CN" altLang="en-US" dirty="0" smtClean="0">
                <a:solidFill>
                  <a:srgbClr val="E70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solidFill>
                <a:srgbClr val="E70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0" y="0"/>
            <a:ext cx="9183904" cy="1447800"/>
          </a:xfrm>
          <a:custGeom>
            <a:avLst/>
            <a:gdLst>
              <a:gd name="connsiteX0" fmla="*/ 0 w 9183904"/>
              <a:gd name="connsiteY0" fmla="*/ 0 h 1683656"/>
              <a:gd name="connsiteX1" fmla="*/ 9183904 w 9183904"/>
              <a:gd name="connsiteY1" fmla="*/ 0 h 1683656"/>
              <a:gd name="connsiteX2" fmla="*/ 9183904 w 9183904"/>
              <a:gd name="connsiteY2" fmla="*/ 1246690 h 1683656"/>
              <a:gd name="connsiteX3" fmla="*/ 5015915 w 9183904"/>
              <a:gd name="connsiteY3" fmla="*/ 1246690 h 1683656"/>
              <a:gd name="connsiteX4" fmla="*/ 4937296 w 9183904"/>
              <a:gd name="connsiteY4" fmla="*/ 1356350 h 1683656"/>
              <a:gd name="connsiteX5" fmla="*/ 4591952 w 9183904"/>
              <a:gd name="connsiteY5" fmla="*/ 1683656 h 1683656"/>
              <a:gd name="connsiteX6" fmla="*/ 4246609 w 9183904"/>
              <a:gd name="connsiteY6" fmla="*/ 1356350 h 1683656"/>
              <a:gd name="connsiteX7" fmla="*/ 4167989 w 9183904"/>
              <a:gd name="connsiteY7" fmla="*/ 1246690 h 1683656"/>
              <a:gd name="connsiteX8" fmla="*/ 0 w 9183904"/>
              <a:gd name="connsiteY8" fmla="*/ 1246690 h 168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83904" h="1683656">
                <a:moveTo>
                  <a:pt x="0" y="0"/>
                </a:moveTo>
                <a:lnTo>
                  <a:pt x="9183904" y="0"/>
                </a:lnTo>
                <a:lnTo>
                  <a:pt x="9183904" y="1246690"/>
                </a:lnTo>
                <a:lnTo>
                  <a:pt x="5015915" y="1246690"/>
                </a:lnTo>
                <a:lnTo>
                  <a:pt x="4937296" y="1356350"/>
                </a:lnTo>
                <a:cubicBezTo>
                  <a:pt x="4851344" y="1460743"/>
                  <a:pt x="4738047" y="1570630"/>
                  <a:pt x="4591952" y="1683656"/>
                </a:cubicBezTo>
                <a:cubicBezTo>
                  <a:pt x="4445858" y="1570630"/>
                  <a:pt x="4332560" y="1460743"/>
                  <a:pt x="4246609" y="1356350"/>
                </a:cubicBezTo>
                <a:lnTo>
                  <a:pt x="4167989" y="1246690"/>
                </a:lnTo>
                <a:lnTo>
                  <a:pt x="0" y="1246690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心形 6"/>
          <p:cNvSpPr/>
          <p:nvPr/>
        </p:nvSpPr>
        <p:spPr>
          <a:xfrm>
            <a:off x="4019501" y="478042"/>
            <a:ext cx="1144902" cy="948447"/>
          </a:xfrm>
          <a:prstGeom prst="heart">
            <a:avLst/>
          </a:pr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690581" y="159657"/>
            <a:ext cx="3802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 spc="3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作者简介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62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2" descr="图片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0584" y="360000"/>
            <a:ext cx="7056481" cy="1178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/>
          <p:cNvSpPr txBox="1"/>
          <p:nvPr/>
        </p:nvSpPr>
        <p:spPr>
          <a:xfrm>
            <a:off x="2548289" y="5656854"/>
            <a:ext cx="43813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spcBef>
                <a:spcPts val="1200"/>
              </a:spcBef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如果有其中之一，那这本书就是你需要的。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68375" y="538845"/>
            <a:ext cx="4042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E70050"/>
                </a:solidFill>
              </a:rPr>
              <a:t>你有下面情感问题吗？</a:t>
            </a:r>
            <a:endParaRPr lang="zh-CN" altLang="en-US" sz="3200" b="1" dirty="0">
              <a:solidFill>
                <a:srgbClr val="E7005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990" b="89820" l="9987" r="8988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381" t="3461" r="30294" b="15489"/>
          <a:stretch/>
        </p:blipFill>
        <p:spPr>
          <a:xfrm>
            <a:off x="2924466" y="2307933"/>
            <a:ext cx="3722109" cy="387160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 rot="344618">
            <a:off x="1619292" y="1932514"/>
            <a:ext cx="2733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迟迟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找不到合适的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625649" y="2725813"/>
            <a:ext cx="2392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工作上得心应手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情感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不知所措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 rot="20914680">
            <a:off x="5227381" y="1829007"/>
            <a:ext cx="3167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全心全意付出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得不到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回报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 rot="21002139">
            <a:off x="1182998" y="3790567"/>
            <a:ext cx="2148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交往很久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迟迟不想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结婚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 rot="20868604">
            <a:off x="5896080" y="4329833"/>
            <a:ext cx="2253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很难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沟通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 rot="344518">
            <a:off x="1373946" y="5075570"/>
            <a:ext cx="2348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小三出现了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婚姻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红灯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 rot="649736">
            <a:off x="5563919" y="3437986"/>
            <a:ext cx="4441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婚姻里矛盾不断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也不是，过也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1273360" y="1681558"/>
            <a:ext cx="122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7005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E7005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52394" y="2725813"/>
            <a:ext cx="122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7005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E7005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6624" y="4104145"/>
            <a:ext cx="122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7005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E7005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64888" y="5030686"/>
            <a:ext cx="122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7005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E7005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81794" y="2012064"/>
            <a:ext cx="122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7005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E7005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465629" y="3279523"/>
            <a:ext cx="122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7005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E7005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22959" y="4269791"/>
            <a:ext cx="1222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rgbClr val="E70050"/>
                </a:solidFill>
                <a:sym typeface="Wingdings" panose="05000000000000000000" pitchFamily="2" charset="2"/>
              </a:rPr>
              <a:t></a:t>
            </a:r>
            <a:endParaRPr lang="zh-CN" altLang="en-US" dirty="0">
              <a:solidFill>
                <a:srgbClr val="E70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09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12900" y="2734138"/>
            <a:ext cx="60536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4000" dirty="0" smtClean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是什么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26653" y="1744394"/>
            <a:ext cx="572464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72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爱</a:t>
            </a:r>
            <a:r>
              <a:rPr lang="zh-CN" altLang="en-US" sz="7200" b="1" dirty="0" smtClean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的五种</a:t>
            </a:r>
            <a:r>
              <a:rPr lang="zh-CN" altLang="en-US" sz="7200" b="1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能力</a:t>
            </a:r>
            <a:endParaRPr lang="zh-CN" altLang="en-US" sz="7200" b="1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751298" y="1983545"/>
            <a:ext cx="368510" cy="1294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96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1365768" y="610998"/>
            <a:ext cx="6412464" cy="5636004"/>
            <a:chOff x="1365768" y="610998"/>
            <a:chExt cx="6412464" cy="5636004"/>
          </a:xfrm>
        </p:grpSpPr>
        <p:sp>
          <p:nvSpPr>
            <p:cNvPr id="3" name="正五边形 2"/>
            <p:cNvSpPr/>
            <p:nvPr/>
          </p:nvSpPr>
          <p:spPr>
            <a:xfrm>
              <a:off x="3744982" y="2654392"/>
              <a:ext cx="1598219" cy="1522114"/>
            </a:xfrm>
            <a:prstGeom prst="pentagon">
              <a:avLst/>
            </a:pr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92686" y="61099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/>
                <a:t>影响</a:t>
              </a:r>
              <a:endParaRPr lang="zh-CN" altLang="en-US" sz="2800" b="1" dirty="0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875421" y="261167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/>
                <a:t>允许</a:t>
              </a:r>
              <a:endParaRPr lang="zh-CN" altLang="en-US" sz="2800" b="1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841469" y="5723782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/>
                <a:t>述情</a:t>
              </a:r>
              <a:endParaRPr lang="zh-CN" altLang="en-US" sz="2800" b="1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280182" y="5723782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/>
                <a:t>情绪管理</a:t>
              </a:r>
              <a:endParaRPr lang="zh-CN" altLang="en-US" sz="2800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65768" y="261167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/>
                <a:t>共情</a:t>
              </a:r>
              <a:endParaRPr lang="zh-CN" altLang="en-US" sz="2800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169632" y="3092290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4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爱</a:t>
              </a:r>
              <a:endParaRPr lang="zh-CN" altLang="en-US" sz="44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4544090" y="1312670"/>
              <a:ext cx="2" cy="1606380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任意多边形 18"/>
            <p:cNvSpPr/>
            <p:nvPr/>
          </p:nvSpPr>
          <p:spPr>
            <a:xfrm>
              <a:off x="2336172" y="1312669"/>
              <a:ext cx="4415839" cy="4205560"/>
            </a:xfrm>
            <a:custGeom>
              <a:avLst/>
              <a:gdLst>
                <a:gd name="connsiteX0" fmla="*/ 1924047 w 3848092"/>
                <a:gd name="connsiteY0" fmla="*/ 222250 h 3664848"/>
                <a:gd name="connsiteX1" fmla="*/ 233363 w 3848092"/>
                <a:gd name="connsiteY1" fmla="*/ 1452314 h 3664848"/>
                <a:gd name="connsiteX2" fmla="*/ 879146 w 3848092"/>
                <a:gd name="connsiteY2" fmla="*/ 3442599 h 3664848"/>
                <a:gd name="connsiteX3" fmla="*/ 2968947 w 3848092"/>
                <a:gd name="connsiteY3" fmla="*/ 3442599 h 3664848"/>
                <a:gd name="connsiteX4" fmla="*/ 3614730 w 3848092"/>
                <a:gd name="connsiteY4" fmla="*/ 1452314 h 3664848"/>
                <a:gd name="connsiteX5" fmla="*/ 1924046 w 3848092"/>
                <a:gd name="connsiteY5" fmla="*/ 0 h 3664848"/>
                <a:gd name="connsiteX6" fmla="*/ 3848092 w 3848092"/>
                <a:gd name="connsiteY6" fmla="*/ 1399847 h 3664848"/>
                <a:gd name="connsiteX7" fmla="*/ 3113172 w 3848092"/>
                <a:gd name="connsiteY7" fmla="*/ 3664848 h 3664848"/>
                <a:gd name="connsiteX8" fmla="*/ 734920 w 3848092"/>
                <a:gd name="connsiteY8" fmla="*/ 3664848 h 3664848"/>
                <a:gd name="connsiteX9" fmla="*/ 0 w 3848092"/>
                <a:gd name="connsiteY9" fmla="*/ 1399847 h 366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48092" h="3664848">
                  <a:moveTo>
                    <a:pt x="1924047" y="222250"/>
                  </a:moveTo>
                  <a:lnTo>
                    <a:pt x="233363" y="1452314"/>
                  </a:lnTo>
                  <a:lnTo>
                    <a:pt x="879146" y="3442599"/>
                  </a:lnTo>
                  <a:lnTo>
                    <a:pt x="2968947" y="3442599"/>
                  </a:lnTo>
                  <a:lnTo>
                    <a:pt x="3614730" y="1452314"/>
                  </a:lnTo>
                  <a:close/>
                  <a:moveTo>
                    <a:pt x="1924046" y="0"/>
                  </a:moveTo>
                  <a:lnTo>
                    <a:pt x="3848092" y="1399847"/>
                  </a:lnTo>
                  <a:lnTo>
                    <a:pt x="3113172" y="3664848"/>
                  </a:lnTo>
                  <a:lnTo>
                    <a:pt x="734920" y="3664848"/>
                  </a:lnTo>
                  <a:lnTo>
                    <a:pt x="0" y="1399847"/>
                  </a:lnTo>
                  <a:close/>
                </a:path>
              </a:pathLst>
            </a:cu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 flipH="1">
              <a:off x="5234998" y="2943225"/>
              <a:ext cx="1403927" cy="319985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4894479" y="3944175"/>
              <a:ext cx="944346" cy="1469200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3252788" y="3896493"/>
              <a:ext cx="968137" cy="1499420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19" idx="1"/>
            </p:cNvCxnSpPr>
            <p:nvPr/>
          </p:nvCxnSpPr>
          <p:spPr>
            <a:xfrm>
              <a:off x="2603965" y="2979258"/>
              <a:ext cx="1380582" cy="305356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516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五边形 16"/>
          <p:cNvSpPr/>
          <p:nvPr/>
        </p:nvSpPr>
        <p:spPr>
          <a:xfrm>
            <a:off x="3424625" y="3316784"/>
            <a:ext cx="1787760" cy="2375748"/>
          </a:xfrm>
          <a:custGeom>
            <a:avLst/>
            <a:gdLst>
              <a:gd name="connsiteX0" fmla="*/ 2 w 1598219"/>
              <a:gd name="connsiteY0" fmla="*/ 581394 h 1522114"/>
              <a:gd name="connsiteX1" fmla="*/ 799110 w 1598219"/>
              <a:gd name="connsiteY1" fmla="*/ 0 h 1522114"/>
              <a:gd name="connsiteX2" fmla="*/ 1598217 w 1598219"/>
              <a:gd name="connsiteY2" fmla="*/ 581394 h 1522114"/>
              <a:gd name="connsiteX3" fmla="*/ 1292985 w 1598219"/>
              <a:gd name="connsiteY3" fmla="*/ 1522110 h 1522114"/>
              <a:gd name="connsiteX4" fmla="*/ 305234 w 1598219"/>
              <a:gd name="connsiteY4" fmla="*/ 1522110 h 1522114"/>
              <a:gd name="connsiteX5" fmla="*/ 2 w 1598219"/>
              <a:gd name="connsiteY5" fmla="*/ 581394 h 1522114"/>
              <a:gd name="connsiteX0" fmla="*/ 554739 w 2152954"/>
              <a:gd name="connsiteY0" fmla="*/ 581394 h 2861053"/>
              <a:gd name="connsiteX1" fmla="*/ 1353847 w 2152954"/>
              <a:gd name="connsiteY1" fmla="*/ 0 h 2861053"/>
              <a:gd name="connsiteX2" fmla="*/ 2152954 w 2152954"/>
              <a:gd name="connsiteY2" fmla="*/ 581394 h 2861053"/>
              <a:gd name="connsiteX3" fmla="*/ 1847722 w 2152954"/>
              <a:gd name="connsiteY3" fmla="*/ 1522110 h 2861053"/>
              <a:gd name="connsiteX4" fmla="*/ 0 w 2152954"/>
              <a:gd name="connsiteY4" fmla="*/ 2861053 h 2861053"/>
              <a:gd name="connsiteX5" fmla="*/ 554739 w 2152954"/>
              <a:gd name="connsiteY5" fmla="*/ 581394 h 286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2954" h="2861053">
                <a:moveTo>
                  <a:pt x="554739" y="581394"/>
                </a:moveTo>
                <a:lnTo>
                  <a:pt x="1353847" y="0"/>
                </a:lnTo>
                <a:lnTo>
                  <a:pt x="2152954" y="581394"/>
                </a:lnTo>
                <a:lnTo>
                  <a:pt x="1847722" y="1522110"/>
                </a:lnTo>
                <a:lnTo>
                  <a:pt x="0" y="2861053"/>
                </a:lnTo>
                <a:lnTo>
                  <a:pt x="554739" y="581394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173988" y="1644208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影响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84705" y="3281312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允许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626136" y="5865531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述情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668931" y="5865531"/>
            <a:ext cx="1346003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70050"/>
                </a:solidFill>
              </a:rPr>
              <a:t>情绪管理</a:t>
            </a:r>
            <a:endParaRPr lang="zh-CN" altLang="en-US" sz="2800" b="1" dirty="0">
              <a:solidFill>
                <a:srgbClr val="E7005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909624" y="3281312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>
                    <a:lumMod val="50000"/>
                  </a:schemeClr>
                </a:solidFill>
              </a:rPr>
              <a:t>共情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237884" y="3680404"/>
            <a:ext cx="621887" cy="63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爱</a:t>
            </a:r>
            <a:endParaRPr lang="zh-CN" altLang="en-US" sz="4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H="1">
            <a:off x="4548825" y="2202651"/>
            <a:ext cx="2" cy="1333899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任意多边形 24"/>
          <p:cNvSpPr/>
          <p:nvPr/>
        </p:nvSpPr>
        <p:spPr>
          <a:xfrm>
            <a:off x="2715424" y="2202650"/>
            <a:ext cx="3666805" cy="3492194"/>
          </a:xfrm>
          <a:custGeom>
            <a:avLst/>
            <a:gdLst>
              <a:gd name="connsiteX0" fmla="*/ 1924047 w 3848092"/>
              <a:gd name="connsiteY0" fmla="*/ 222250 h 3664848"/>
              <a:gd name="connsiteX1" fmla="*/ 233363 w 3848092"/>
              <a:gd name="connsiteY1" fmla="*/ 1452314 h 3664848"/>
              <a:gd name="connsiteX2" fmla="*/ 879146 w 3848092"/>
              <a:gd name="connsiteY2" fmla="*/ 3442599 h 3664848"/>
              <a:gd name="connsiteX3" fmla="*/ 2968947 w 3848092"/>
              <a:gd name="connsiteY3" fmla="*/ 3442599 h 3664848"/>
              <a:gd name="connsiteX4" fmla="*/ 3614730 w 3848092"/>
              <a:gd name="connsiteY4" fmla="*/ 1452314 h 3664848"/>
              <a:gd name="connsiteX5" fmla="*/ 1924046 w 3848092"/>
              <a:gd name="connsiteY5" fmla="*/ 0 h 3664848"/>
              <a:gd name="connsiteX6" fmla="*/ 3848092 w 3848092"/>
              <a:gd name="connsiteY6" fmla="*/ 1399847 h 3664848"/>
              <a:gd name="connsiteX7" fmla="*/ 3113172 w 3848092"/>
              <a:gd name="connsiteY7" fmla="*/ 3664848 h 3664848"/>
              <a:gd name="connsiteX8" fmla="*/ 734920 w 3848092"/>
              <a:gd name="connsiteY8" fmla="*/ 3664848 h 3664848"/>
              <a:gd name="connsiteX9" fmla="*/ 0 w 3848092"/>
              <a:gd name="connsiteY9" fmla="*/ 1399847 h 366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8092" h="3664848">
                <a:moveTo>
                  <a:pt x="1924047" y="222250"/>
                </a:moveTo>
                <a:lnTo>
                  <a:pt x="233363" y="1452314"/>
                </a:lnTo>
                <a:lnTo>
                  <a:pt x="879146" y="3442599"/>
                </a:lnTo>
                <a:lnTo>
                  <a:pt x="2968947" y="3442599"/>
                </a:lnTo>
                <a:lnTo>
                  <a:pt x="3614730" y="1452314"/>
                </a:lnTo>
                <a:close/>
                <a:moveTo>
                  <a:pt x="1924046" y="0"/>
                </a:moveTo>
                <a:lnTo>
                  <a:pt x="3848092" y="1399847"/>
                </a:lnTo>
                <a:lnTo>
                  <a:pt x="3113172" y="3664848"/>
                </a:lnTo>
                <a:lnTo>
                  <a:pt x="734920" y="3664848"/>
                </a:lnTo>
                <a:lnTo>
                  <a:pt x="0" y="1399847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 flipH="1">
            <a:off x="5122538" y="3556624"/>
            <a:ext cx="1165787" cy="265708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 flipV="1">
            <a:off x="4839779" y="4387789"/>
            <a:ext cx="784162" cy="1219988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3476559" y="4348195"/>
            <a:ext cx="803917" cy="1245082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25" idx="1"/>
          </p:cNvCxnSpPr>
          <p:nvPr/>
        </p:nvCxnSpPr>
        <p:spPr>
          <a:xfrm>
            <a:off x="2937792" y="3586545"/>
            <a:ext cx="1146401" cy="253560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020584" y="360000"/>
            <a:ext cx="7056481" cy="1178674"/>
            <a:chOff x="1020584" y="213402"/>
            <a:chExt cx="7056481" cy="1178674"/>
          </a:xfrm>
        </p:grpSpPr>
        <p:pic>
          <p:nvPicPr>
            <p:cNvPr id="32" name="Picture 12" descr="图片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0584" y="213402"/>
              <a:ext cx="7056481" cy="1178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" name="矩形 30"/>
            <p:cNvSpPr/>
            <p:nvPr/>
          </p:nvSpPr>
          <p:spPr>
            <a:xfrm>
              <a:off x="1500932" y="399376"/>
              <a:ext cx="628127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rgbClr val="E70050"/>
                  </a:solidFill>
                  <a:latin typeface="+mj-ea"/>
                  <a:ea typeface="+mj-ea"/>
                </a:rPr>
                <a:t>情绪管理</a:t>
              </a:r>
              <a:r>
                <a:rPr lang="zh-CN" altLang="en-US" sz="3200" b="1" dirty="0" smtClean="0">
                  <a:solidFill>
                    <a:srgbClr val="E70050"/>
                  </a:solidFill>
                  <a:latin typeface="+mj-ea"/>
                </a:rPr>
                <a:t>：</a:t>
              </a:r>
              <a:r>
                <a:rPr lang="zh-CN" altLang="en-US" sz="3200" dirty="0" smtClean="0">
                  <a:solidFill>
                    <a:srgbClr val="E70050"/>
                  </a:solidFill>
                  <a:latin typeface="+mj-ea"/>
                </a:rPr>
                <a:t>管</a:t>
              </a:r>
              <a:r>
                <a:rPr lang="zh-CN" altLang="en-US" sz="3200" dirty="0">
                  <a:solidFill>
                    <a:srgbClr val="E70050"/>
                  </a:solidFill>
                  <a:latin typeface="+mj-ea"/>
                </a:rPr>
                <a:t>好情绪享受</a:t>
              </a:r>
              <a:r>
                <a:rPr lang="zh-CN" altLang="en-US" sz="3200" dirty="0" smtClean="0">
                  <a:solidFill>
                    <a:srgbClr val="E70050"/>
                  </a:solidFill>
                  <a:latin typeface="+mj-ea"/>
                </a:rPr>
                <a:t>爱</a:t>
              </a:r>
              <a:endParaRPr lang="zh-CN" altLang="en-US" sz="3200" dirty="0">
                <a:solidFill>
                  <a:srgbClr val="E70050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664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902826" y="517850"/>
            <a:ext cx="5338348" cy="5822300"/>
            <a:chOff x="1902826" y="454350"/>
            <a:chExt cx="5338348" cy="5822300"/>
          </a:xfrm>
        </p:grpSpPr>
        <p:grpSp>
          <p:nvGrpSpPr>
            <p:cNvPr id="5" name="组合 4"/>
            <p:cNvGrpSpPr/>
            <p:nvPr/>
          </p:nvGrpSpPr>
          <p:grpSpPr>
            <a:xfrm>
              <a:off x="1902826" y="4879150"/>
              <a:ext cx="5338348" cy="1397500"/>
              <a:chOff x="1902826" y="4879150"/>
              <a:chExt cx="5338348" cy="1397500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2991128" y="4972962"/>
                <a:ext cx="4250046" cy="461665"/>
              </a:xfrm>
              <a:prstGeom prst="rect">
                <a:avLst/>
              </a:prstGeom>
              <a:solidFill>
                <a:srgbClr val="E70050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r"/>
                <a:r>
                  <a: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管理好情绪，才有能力爱别人。</a:t>
                </a:r>
              </a:p>
            </p:txBody>
          </p:sp>
          <p:sp>
            <p:nvSpPr>
              <p:cNvPr id="46" name="心形 45"/>
              <p:cNvSpPr/>
              <p:nvPr/>
            </p:nvSpPr>
            <p:spPr bwMode="auto">
              <a:xfrm>
                <a:off x="1902826" y="4879150"/>
                <a:ext cx="665163" cy="649288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dirty="0" smtClean="0">
                    <a:latin typeface="+mn-ea"/>
                  </a:rPr>
                  <a:t>√</a:t>
                </a:r>
                <a:endParaRPr lang="zh-CN" altLang="en-US" sz="3600" b="1" dirty="0">
                  <a:latin typeface="+mn-ea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1902826" y="5627362"/>
                <a:ext cx="5338348" cy="649288"/>
                <a:chOff x="1902826" y="5754362"/>
                <a:chExt cx="5338348" cy="649288"/>
              </a:xfrm>
            </p:grpSpPr>
            <p:sp>
              <p:nvSpPr>
                <p:cNvPr id="45" name="矩形 44"/>
                <p:cNvSpPr/>
                <p:nvPr/>
              </p:nvSpPr>
              <p:spPr>
                <a:xfrm>
                  <a:off x="2991129" y="5848174"/>
                  <a:ext cx="4250045" cy="461665"/>
                </a:xfrm>
                <a:prstGeom prst="rect">
                  <a:avLst/>
                </a:prstGeom>
                <a:solidFill>
                  <a:srgbClr val="E70050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zh-CN" altLang="en-US" sz="2400" b="1" kern="100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不能管理好情绪，易伤害</a:t>
                  </a:r>
                  <a:r>
                    <a:rPr lang="zh-CN" altLang="en-US" sz="2400" b="1" kern="100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他人。</a:t>
                  </a:r>
                  <a:endPara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心形 46"/>
                <p:cNvSpPr/>
                <p:nvPr/>
              </p:nvSpPr>
              <p:spPr bwMode="auto">
                <a:xfrm>
                  <a:off x="1902826" y="5754362"/>
                  <a:ext cx="665163" cy="649288"/>
                </a:xfrm>
                <a:prstGeom prst="heart">
                  <a:avLst/>
                </a:prstGeom>
                <a:solidFill>
                  <a:srgbClr val="E70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600" b="1" dirty="0">
                      <a:latin typeface="+mn-ea"/>
                    </a:rPr>
                    <a:t>×</a:t>
                  </a:r>
                  <a:endParaRPr lang="zh-CN" altLang="en-US" sz="3600" b="1" dirty="0">
                    <a:latin typeface="+mn-ea"/>
                  </a:endParaRPr>
                </a:p>
              </p:txBody>
            </p:sp>
          </p:grpSp>
        </p:grpSp>
        <p:grpSp>
          <p:nvGrpSpPr>
            <p:cNvPr id="6" name="组合 5"/>
            <p:cNvGrpSpPr/>
            <p:nvPr/>
          </p:nvGrpSpPr>
          <p:grpSpPr>
            <a:xfrm>
              <a:off x="3095478" y="454350"/>
              <a:ext cx="2953044" cy="4612456"/>
              <a:chOff x="3096000" y="454350"/>
              <a:chExt cx="2953044" cy="461245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096000" y="3150621"/>
                <a:ext cx="2953044" cy="1916185"/>
                <a:chOff x="2520735" y="2870985"/>
                <a:chExt cx="3418166" cy="2035143"/>
              </a:xfrm>
            </p:grpSpPr>
            <p:sp>
              <p:nvSpPr>
                <p:cNvPr id="57" name="等腰三角形 56"/>
                <p:cNvSpPr/>
                <p:nvPr/>
              </p:nvSpPr>
              <p:spPr>
                <a:xfrm rot="13563596">
                  <a:off x="2158890" y="3232831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等腰三角形 57"/>
                <p:cNvSpPr/>
                <p:nvPr/>
              </p:nvSpPr>
              <p:spPr>
                <a:xfrm rot="8036404" flipH="1">
                  <a:off x="4265605" y="3232830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48" name="Picture 1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309213" y="454350"/>
                <a:ext cx="2667260" cy="3998939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rnd">
                <a:solidFill>
                  <a:srgbClr val="FFFFFF"/>
                </a:solidFill>
              </a:ln>
              <a:effectLst>
                <a:outerShdw blurRad="50000" algn="tl" rotWithShape="0">
                  <a:srgbClr val="000000">
                    <a:alpha val="41000"/>
                  </a:srgbClr>
                </a:outerShdw>
              </a:effectLst>
              <a:scene3d>
                <a:camera prst="orthographicFront"/>
                <a:lightRig rig="twoPt" dir="t">
                  <a:rot lat="0" lon="0" rev="7800000"/>
                </a:lightRig>
              </a:scene3d>
              <a:sp3d contourW="6350">
                <a:bevelT w="50800" h="16510"/>
                <a:contourClr>
                  <a:srgbClr val="C0C0C0"/>
                </a:contourClr>
              </a:sp3d>
              <a:extLst/>
            </p:spPr>
          </p:pic>
        </p:grpSp>
      </p:grpSp>
    </p:spTree>
    <p:extLst>
      <p:ext uri="{BB962C8B-B14F-4D97-AF65-F5344CB8AC3E}">
        <p14:creationId xmlns:p14="http://schemas.microsoft.com/office/powerpoint/2010/main" val="282928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53204" y="625866"/>
            <a:ext cx="7637592" cy="5667665"/>
            <a:chOff x="753204" y="629324"/>
            <a:chExt cx="7637592" cy="5667665"/>
          </a:xfrm>
        </p:grpSpPr>
        <p:sp>
          <p:nvSpPr>
            <p:cNvPr id="29" name="文本框 28"/>
            <p:cNvSpPr txBox="1"/>
            <p:nvPr/>
          </p:nvSpPr>
          <p:spPr>
            <a:xfrm>
              <a:off x="1067745" y="1366582"/>
              <a:ext cx="7132874" cy="865603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dirty="0">
                  <a:latin typeface="+mn-ea"/>
                </a:rPr>
                <a:t>跟</a:t>
              </a:r>
              <a:r>
                <a:rPr lang="zh-CN" altLang="en-US" b="1" dirty="0" smtClean="0">
                  <a:latin typeface="+mn-ea"/>
                </a:rPr>
                <a:t>随心的指引</a:t>
              </a:r>
              <a:r>
                <a:rPr lang="zh-CN" altLang="en-US" dirty="0" smtClean="0">
                  <a:latin typeface="+mn-ea"/>
                </a:rPr>
                <a:t>，遵循情绪的提示去</a:t>
              </a:r>
              <a:r>
                <a:rPr lang="zh-CN" altLang="en-US" b="1" dirty="0" smtClean="0">
                  <a:latin typeface="+mn-ea"/>
                </a:rPr>
                <a:t>行动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en-US" altLang="zh-CN" dirty="0" smtClean="0">
                <a:latin typeface="+mn-ea"/>
              </a:endParaRPr>
            </a:p>
            <a:p>
              <a:pPr algn="just">
                <a:lnSpc>
                  <a:spcPct val="130000"/>
                </a:lnSpc>
              </a:pPr>
              <a:r>
                <a:rPr lang="zh-CN" altLang="en-US" dirty="0" smtClean="0">
                  <a:latin typeface="+mn-ea"/>
                </a:rPr>
                <a:t>告诉自己，你的</a:t>
              </a:r>
              <a:r>
                <a:rPr lang="zh-CN" altLang="en-US" b="1" dirty="0" smtClean="0">
                  <a:latin typeface="+mn-ea"/>
                </a:rPr>
                <a:t>心</a:t>
              </a:r>
              <a:r>
                <a:rPr lang="zh-CN" altLang="en-US" dirty="0" smtClean="0">
                  <a:latin typeface="+mn-ea"/>
                </a:rPr>
                <a:t>究竟在说什么，做</a:t>
              </a:r>
              <a:r>
                <a:rPr lang="zh-CN" altLang="en-US" b="1" dirty="0" smtClean="0">
                  <a:latin typeface="+mn-ea"/>
                </a:rPr>
                <a:t>情绪的主人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en-US" altLang="zh-CN" dirty="0" smtClean="0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53204" y="629324"/>
              <a:ext cx="3132593" cy="523220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2800" dirty="0"/>
                <a:t>情绪管理方法</a:t>
              </a:r>
              <a:r>
                <a:rPr lang="zh-CN" altLang="en-US" sz="2800" dirty="0" smtClean="0"/>
                <a:t>之一</a:t>
              </a:r>
              <a:endParaRPr lang="zh-CN" altLang="en-US" sz="2800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53204" y="2925094"/>
              <a:ext cx="3097607" cy="523220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2800" dirty="0"/>
                <a:t>情绪管理方法</a:t>
              </a:r>
              <a:r>
                <a:rPr lang="zh-CN" altLang="en-US" sz="2800" dirty="0" smtClean="0"/>
                <a:t>之二</a:t>
              </a:r>
              <a:endParaRPr lang="zh-CN" altLang="en-US" sz="2800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67745" y="3520093"/>
              <a:ext cx="7323051" cy="2776896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ctr" anchorCtr="0">
              <a:spAutoFit/>
            </a:bodyPr>
            <a:lstStyle/>
            <a:p>
              <a:pPr indent="-271463" algn="just">
                <a:lnSpc>
                  <a:spcPct val="150000"/>
                </a:lnSpc>
                <a:tabLst>
                  <a:tab pos="271463" algn="l"/>
                </a:tabLst>
              </a:pPr>
              <a:r>
                <a:rPr lang="zh-CN" altLang="en-US" sz="2400" b="1" dirty="0">
                  <a:solidFill>
                    <a:srgbClr val="E70050"/>
                  </a:solidFill>
                  <a:latin typeface="+mn-ea"/>
                </a:rPr>
                <a:t>穿越情绪按钮</a:t>
              </a:r>
              <a:endParaRPr lang="en-US" altLang="zh-CN" sz="2400" b="1" dirty="0">
                <a:solidFill>
                  <a:srgbClr val="E70050"/>
                </a:solidFill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+mj-ea"/>
                <a:buAutoNum type="circleNumDbPlain"/>
                <a:tabLst>
                  <a:tab pos="358775" algn="l"/>
                </a:tabLst>
              </a:pPr>
              <a:r>
                <a:rPr lang="zh-CN" altLang="en-US" dirty="0" smtClean="0">
                  <a:latin typeface="+mn-ea"/>
                </a:rPr>
                <a:t>诚实感受</a:t>
              </a:r>
              <a:r>
                <a:rPr lang="zh-CN" altLang="en-US" b="1" dirty="0" smtClean="0">
                  <a:latin typeface="+mn-ea"/>
                </a:rPr>
                <a:t>内心的情绪</a:t>
              </a:r>
              <a:r>
                <a:rPr lang="zh-CN" altLang="en-US" dirty="0" smtClean="0">
                  <a:latin typeface="+mn-ea"/>
                </a:rPr>
                <a:t>，勿转移</a:t>
              </a:r>
              <a:r>
                <a:rPr lang="zh-CN" altLang="en-US" b="1" dirty="0" smtClean="0">
                  <a:latin typeface="+mn-ea"/>
                </a:rPr>
                <a:t>注意力</a:t>
              </a:r>
              <a:r>
                <a:rPr lang="zh-CN" altLang="en-US" dirty="0" smtClean="0">
                  <a:latin typeface="+mn-ea"/>
                </a:rPr>
                <a:t>，</a:t>
              </a:r>
              <a:r>
                <a:rPr lang="zh-CN" altLang="en-US" dirty="0">
                  <a:latin typeface="+mn-ea"/>
                </a:rPr>
                <a:t>勿</a:t>
              </a:r>
              <a:r>
                <a:rPr lang="zh-CN" altLang="en-US" dirty="0" smtClean="0">
                  <a:latin typeface="+mn-ea"/>
                </a:rPr>
                <a:t>逃避内心</a:t>
              </a:r>
              <a:r>
                <a:rPr lang="zh-CN" altLang="en-US" b="1" dirty="0" smtClean="0">
                  <a:latin typeface="+mn-ea"/>
                </a:rPr>
                <a:t>痛苦</a:t>
              </a:r>
              <a:r>
                <a:rPr lang="zh-CN" altLang="en-US" dirty="0" smtClean="0">
                  <a:latin typeface="+mn-ea"/>
                </a:rPr>
                <a:t>，直至情绪慢慢</a:t>
              </a:r>
              <a:r>
                <a:rPr lang="zh-CN" altLang="en-US" b="1" dirty="0" smtClean="0">
                  <a:latin typeface="+mn-ea"/>
                </a:rPr>
                <a:t>消退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en-US" altLang="zh-CN" dirty="0" smtClean="0">
                <a:latin typeface="+mn-ea"/>
              </a:endParaRPr>
            </a:p>
            <a:p>
              <a:pPr marL="342900" indent="-342900">
                <a:lnSpc>
                  <a:spcPct val="150000"/>
                </a:lnSpc>
                <a:buFont typeface="+mj-ea"/>
                <a:buAutoNum type="circleNumDbPlain"/>
                <a:tabLst>
                  <a:tab pos="358775" algn="l"/>
                </a:tabLst>
              </a:pPr>
              <a:r>
                <a:rPr lang="zh-CN" altLang="en-US" dirty="0" smtClean="0">
                  <a:latin typeface="+mn-ea"/>
                </a:rPr>
                <a:t>同时</a:t>
              </a:r>
              <a:r>
                <a:rPr lang="zh-CN" altLang="en-US" b="1" dirty="0" smtClean="0">
                  <a:latin typeface="+mn-ea"/>
                </a:rPr>
                <a:t>深呼吸</a:t>
              </a:r>
              <a:r>
                <a:rPr lang="zh-CN" altLang="en-US" dirty="0" smtClean="0">
                  <a:latin typeface="+mn-ea"/>
                </a:rPr>
                <a:t>，把气吸到</a:t>
              </a:r>
              <a:r>
                <a:rPr lang="zh-CN" altLang="en-US" b="1" dirty="0" smtClean="0">
                  <a:latin typeface="+mn-ea"/>
                </a:rPr>
                <a:t>腹部</a:t>
              </a:r>
              <a:r>
                <a:rPr lang="zh-CN" altLang="en-US" dirty="0" smtClean="0">
                  <a:latin typeface="+mn-ea"/>
                </a:rPr>
                <a:t>，让胸腔下方的</a:t>
              </a:r>
              <a:r>
                <a:rPr lang="zh-CN" altLang="en-US" b="1" dirty="0" smtClean="0">
                  <a:latin typeface="+mn-ea"/>
                </a:rPr>
                <a:t>横膈膜</a:t>
              </a:r>
              <a:r>
                <a:rPr lang="zh-CN" altLang="en-US" dirty="0" smtClean="0">
                  <a:latin typeface="+mn-ea"/>
                </a:rPr>
                <a:t>下降，</a:t>
              </a:r>
              <a:r>
                <a:rPr lang="zh-CN" altLang="en-US" b="1" dirty="0" smtClean="0">
                  <a:latin typeface="+mn-ea"/>
                </a:rPr>
                <a:t>腹部</a:t>
              </a:r>
              <a:r>
                <a:rPr lang="zh-CN" altLang="en-US" dirty="0" smtClean="0">
                  <a:latin typeface="+mn-ea"/>
                </a:rPr>
                <a:t>鼓起，让肺部底端肺泡的</a:t>
              </a:r>
              <a:r>
                <a:rPr lang="zh-CN" altLang="en-US" b="1" dirty="0" smtClean="0">
                  <a:latin typeface="+mn-ea"/>
                </a:rPr>
                <a:t>废气</a:t>
              </a:r>
              <a:r>
                <a:rPr lang="zh-CN" altLang="en-US" dirty="0" smtClean="0">
                  <a:latin typeface="+mn-ea"/>
                </a:rPr>
                <a:t>得以和</a:t>
              </a:r>
              <a:r>
                <a:rPr lang="zh-CN" altLang="en-US" b="1" dirty="0" smtClean="0">
                  <a:latin typeface="+mn-ea"/>
                </a:rPr>
                <a:t>氧气</a:t>
              </a:r>
              <a:r>
                <a:rPr lang="zh-CN" altLang="en-US" dirty="0" smtClean="0">
                  <a:latin typeface="+mn-ea"/>
                </a:rPr>
                <a:t>充分交换。</a:t>
              </a:r>
              <a:endParaRPr lang="en-US" altLang="zh-CN" dirty="0">
                <a:latin typeface="+mn-ea"/>
              </a:endParaRPr>
            </a:p>
            <a:p>
              <a:pPr marL="358775" indent="-358775">
                <a:lnSpc>
                  <a:spcPct val="150000"/>
                </a:lnSpc>
                <a:buFont typeface="+mj-ea"/>
                <a:buAutoNum type="circleNumDbPlain"/>
                <a:tabLst>
                  <a:tab pos="358775" algn="l"/>
                </a:tabLst>
              </a:pPr>
              <a:r>
                <a:rPr lang="zh-CN" altLang="en-US" dirty="0" smtClean="0">
                  <a:latin typeface="+mn-ea"/>
                </a:rPr>
                <a:t>在具体行为上，</a:t>
              </a:r>
              <a:r>
                <a:rPr lang="zh-CN" altLang="en-US" b="1" dirty="0" smtClean="0">
                  <a:latin typeface="+mn-ea"/>
                </a:rPr>
                <a:t>挑战自己</a:t>
              </a:r>
              <a:r>
                <a:rPr lang="zh-CN" altLang="en-US" dirty="0" smtClean="0">
                  <a:latin typeface="+mn-ea"/>
                </a:rPr>
                <a:t>，做以前做不到的事。</a:t>
              </a:r>
              <a:endParaRPr lang="zh-CN" altLang="en-US" dirty="0">
                <a:latin typeface="+mn-ea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1067745" y="4150003"/>
              <a:ext cx="7208769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699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810345" y="551524"/>
            <a:ext cx="7523310" cy="5793746"/>
            <a:chOff x="810345" y="629324"/>
            <a:chExt cx="7523310" cy="5793746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1124886" y="1951091"/>
              <a:ext cx="7208769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1124886" y="1308128"/>
              <a:ext cx="7132874" cy="1945899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ctr" anchorCtr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E70050"/>
                  </a:solidFill>
                  <a:latin typeface="+mn-ea"/>
                </a:rPr>
                <a:t>放下对和错</a:t>
              </a:r>
              <a:endParaRPr lang="en-US" altLang="zh-CN" sz="2400" b="1" dirty="0">
                <a:solidFill>
                  <a:srgbClr val="E70050"/>
                </a:solidFill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latin typeface="+mn-ea"/>
                </a:rPr>
                <a:t>触动</a:t>
              </a:r>
              <a:r>
                <a:rPr lang="en-US" altLang="zh-CN" b="1" dirty="0">
                  <a:latin typeface="+mn-ea"/>
                </a:rPr>
                <a:t>—</a:t>
              </a:r>
              <a:r>
                <a:rPr lang="zh-CN" altLang="en-US" b="1" dirty="0">
                  <a:latin typeface="+mn-ea"/>
                </a:rPr>
                <a:t>思维</a:t>
              </a:r>
              <a:r>
                <a:rPr lang="en-US" altLang="zh-CN" b="1" dirty="0">
                  <a:latin typeface="+mn-ea"/>
                </a:rPr>
                <a:t>—</a:t>
              </a:r>
              <a:r>
                <a:rPr lang="zh-CN" altLang="en-US" b="1" dirty="0">
                  <a:latin typeface="+mn-ea"/>
                </a:rPr>
                <a:t>情绪</a:t>
              </a:r>
              <a:r>
                <a:rPr lang="en-US" altLang="zh-CN" b="1" dirty="0">
                  <a:latin typeface="+mn-ea"/>
                </a:rPr>
                <a:t>—</a:t>
              </a:r>
              <a:r>
                <a:rPr lang="zh-CN" altLang="en-US" b="1" dirty="0">
                  <a:latin typeface="+mn-ea"/>
                </a:rPr>
                <a:t>行动   </a:t>
              </a:r>
              <a:endParaRPr lang="en-US" altLang="zh-CN" b="1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+mn-ea"/>
                </a:rPr>
                <a:t>爱情里少讲对错，</a:t>
              </a:r>
              <a:r>
                <a:rPr lang="zh-CN" altLang="en-US" b="1" dirty="0">
                  <a:latin typeface="+mn-ea"/>
                </a:rPr>
                <a:t>家</a:t>
              </a:r>
              <a:r>
                <a:rPr lang="zh-CN" altLang="en-US" dirty="0">
                  <a:latin typeface="+mn-ea"/>
                </a:rPr>
                <a:t>是讲</a:t>
              </a:r>
              <a:r>
                <a:rPr lang="zh-CN" altLang="en-US" b="1" dirty="0">
                  <a:latin typeface="+mn-ea"/>
                </a:rPr>
                <a:t>爱</a:t>
              </a:r>
              <a:r>
                <a:rPr lang="zh-CN" altLang="en-US" dirty="0">
                  <a:latin typeface="+mn-ea"/>
                </a:rPr>
                <a:t>的地方。</a:t>
              </a:r>
              <a:endParaRPr lang="en-US" altLang="zh-CN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latin typeface="+mn-ea"/>
                </a:rPr>
                <a:t>每个人都有权决定自己</a:t>
              </a:r>
              <a:r>
                <a:rPr lang="zh-CN" altLang="en-US" b="1" dirty="0">
                  <a:latin typeface="+mn-ea"/>
                </a:rPr>
                <a:t>如何生活</a:t>
              </a:r>
              <a:r>
                <a:rPr lang="zh-CN" altLang="en-US" dirty="0">
                  <a:latin typeface="+mn-ea"/>
                </a:rPr>
                <a:t>。</a:t>
              </a: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124886" y="4678443"/>
              <a:ext cx="7132874" cy="1744627"/>
            </a:xfrm>
            <a:prstGeom prst="rect">
              <a:avLst/>
            </a:prstGeom>
            <a:noFill/>
          </p:spPr>
          <p:txBody>
            <a:bodyPr wrap="square" lIns="72000" tIns="72000" rIns="72000" bIns="7200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E70050"/>
                  </a:solidFill>
                  <a:latin typeface="+mn-ea"/>
                </a:rPr>
                <a:t>保持客观</a:t>
              </a:r>
              <a:endParaRPr lang="en-US" altLang="zh-CN" sz="2400" b="1" dirty="0">
                <a:solidFill>
                  <a:srgbClr val="E70050"/>
                </a:solidFill>
                <a:latin typeface="+mn-ea"/>
              </a:endParaRPr>
            </a:p>
            <a:p>
              <a:pPr marL="342900" indent="-342900">
                <a:lnSpc>
                  <a:spcPct val="130000"/>
                </a:lnSpc>
                <a:buFont typeface="+mj-ea"/>
                <a:buAutoNum type="circleNumDbPlain"/>
              </a:pPr>
              <a:r>
                <a:rPr lang="zh-CN" altLang="en-US" dirty="0">
                  <a:latin typeface="+mn-ea"/>
                </a:rPr>
                <a:t>多数人在和</a:t>
              </a:r>
              <a:r>
                <a:rPr lang="en-US" altLang="zh-CN" dirty="0">
                  <a:latin typeface="+mn-ea"/>
                </a:rPr>
                <a:t>“</a:t>
              </a:r>
              <a:r>
                <a:rPr lang="zh-CN" altLang="en-US" b="1" dirty="0">
                  <a:latin typeface="+mn-ea"/>
                </a:rPr>
                <a:t>假想敌</a:t>
              </a:r>
              <a:r>
                <a:rPr lang="en-US" altLang="zh-CN" dirty="0">
                  <a:latin typeface="+mn-ea"/>
                </a:rPr>
                <a:t>”</a:t>
              </a:r>
              <a:r>
                <a:rPr lang="zh-CN" altLang="en-US" dirty="0">
                  <a:latin typeface="+mn-ea"/>
                </a:rPr>
                <a:t>作战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en-US" altLang="zh-CN" dirty="0" smtClean="0">
                <a:latin typeface="+mn-ea"/>
              </a:endParaRPr>
            </a:p>
            <a:p>
              <a:pPr marL="342900" indent="-342900">
                <a:lnSpc>
                  <a:spcPct val="130000"/>
                </a:lnSpc>
                <a:buFont typeface="+mj-ea"/>
                <a:buAutoNum type="circleNumDbPlain"/>
              </a:pPr>
              <a:r>
                <a:rPr lang="zh-CN" altLang="en-US" b="1" dirty="0" smtClean="0">
                  <a:latin typeface="+mn-ea"/>
                </a:rPr>
                <a:t>罗夏墨迹测试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en-US" altLang="zh-CN" dirty="0" smtClean="0">
                <a:latin typeface="+mn-ea"/>
              </a:endParaRPr>
            </a:p>
            <a:p>
              <a:pPr marL="342900" indent="-342900">
                <a:lnSpc>
                  <a:spcPct val="130000"/>
                </a:lnSpc>
                <a:buFont typeface="+mj-ea"/>
                <a:buAutoNum type="circleNumDbPlain"/>
              </a:pPr>
              <a:r>
                <a:rPr lang="zh-CN" altLang="en-US" dirty="0" smtClean="0">
                  <a:latin typeface="+mn-ea"/>
                </a:rPr>
                <a:t>不再编故事气自己：</a:t>
              </a:r>
              <a:r>
                <a:rPr lang="zh-CN" altLang="en-US" b="1" dirty="0" smtClean="0">
                  <a:latin typeface="+mn-ea"/>
                </a:rPr>
                <a:t>无为</a:t>
              </a:r>
              <a:r>
                <a:rPr lang="en-US" altLang="zh-CN" b="1" dirty="0" smtClean="0">
                  <a:latin typeface="+mn-ea"/>
                </a:rPr>
                <a:t>+</a:t>
              </a:r>
              <a:r>
                <a:rPr lang="zh-CN" altLang="en-US" b="1" dirty="0" smtClean="0">
                  <a:latin typeface="+mn-ea"/>
                </a:rPr>
                <a:t>验证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10345" y="629324"/>
              <a:ext cx="3132593" cy="523220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2800" dirty="0"/>
                <a:t>情绪管理方法</a:t>
              </a:r>
              <a:r>
                <a:rPr lang="zh-CN" altLang="en-US" sz="2800" dirty="0" smtClean="0"/>
                <a:t>之三</a:t>
              </a:r>
              <a:endParaRPr lang="zh-CN" altLang="en-US" sz="2800" dirty="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10345" y="3999639"/>
              <a:ext cx="3097607" cy="523220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2800" dirty="0"/>
                <a:t>情绪管理方法</a:t>
              </a:r>
              <a:r>
                <a:rPr lang="zh-CN" altLang="en-US" sz="2800" dirty="0" smtClean="0"/>
                <a:t>之四</a:t>
              </a:r>
              <a:endParaRPr lang="zh-CN" altLang="en-US" sz="2800" dirty="0"/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1124886" y="5278488"/>
              <a:ext cx="7208769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295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/>
        </p:nvSpPr>
        <p:spPr>
          <a:xfrm>
            <a:off x="0" y="0"/>
            <a:ext cx="9183904" cy="1447800"/>
          </a:xfrm>
          <a:custGeom>
            <a:avLst/>
            <a:gdLst>
              <a:gd name="connsiteX0" fmla="*/ 0 w 9183904"/>
              <a:gd name="connsiteY0" fmla="*/ 0 h 1683656"/>
              <a:gd name="connsiteX1" fmla="*/ 9183904 w 9183904"/>
              <a:gd name="connsiteY1" fmla="*/ 0 h 1683656"/>
              <a:gd name="connsiteX2" fmla="*/ 9183904 w 9183904"/>
              <a:gd name="connsiteY2" fmla="*/ 1246690 h 1683656"/>
              <a:gd name="connsiteX3" fmla="*/ 5015915 w 9183904"/>
              <a:gd name="connsiteY3" fmla="*/ 1246690 h 1683656"/>
              <a:gd name="connsiteX4" fmla="*/ 4937296 w 9183904"/>
              <a:gd name="connsiteY4" fmla="*/ 1356350 h 1683656"/>
              <a:gd name="connsiteX5" fmla="*/ 4591952 w 9183904"/>
              <a:gd name="connsiteY5" fmla="*/ 1683656 h 1683656"/>
              <a:gd name="connsiteX6" fmla="*/ 4246609 w 9183904"/>
              <a:gd name="connsiteY6" fmla="*/ 1356350 h 1683656"/>
              <a:gd name="connsiteX7" fmla="*/ 4167989 w 9183904"/>
              <a:gd name="connsiteY7" fmla="*/ 1246690 h 1683656"/>
              <a:gd name="connsiteX8" fmla="*/ 0 w 9183904"/>
              <a:gd name="connsiteY8" fmla="*/ 1246690 h 168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83904" h="1683656">
                <a:moveTo>
                  <a:pt x="0" y="0"/>
                </a:moveTo>
                <a:lnTo>
                  <a:pt x="9183904" y="0"/>
                </a:lnTo>
                <a:lnTo>
                  <a:pt x="9183904" y="1246690"/>
                </a:lnTo>
                <a:lnTo>
                  <a:pt x="5015915" y="1246690"/>
                </a:lnTo>
                <a:lnTo>
                  <a:pt x="4937296" y="1356350"/>
                </a:lnTo>
                <a:cubicBezTo>
                  <a:pt x="4851344" y="1460743"/>
                  <a:pt x="4738047" y="1570630"/>
                  <a:pt x="4591952" y="1683656"/>
                </a:cubicBezTo>
                <a:cubicBezTo>
                  <a:pt x="4445858" y="1570630"/>
                  <a:pt x="4332560" y="1460743"/>
                  <a:pt x="4246609" y="1356350"/>
                </a:cubicBezTo>
                <a:lnTo>
                  <a:pt x="4167989" y="1246690"/>
                </a:lnTo>
                <a:lnTo>
                  <a:pt x="0" y="1246690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心形 4"/>
          <p:cNvSpPr/>
          <p:nvPr/>
        </p:nvSpPr>
        <p:spPr>
          <a:xfrm>
            <a:off x="4019501" y="478042"/>
            <a:ext cx="1144902" cy="948447"/>
          </a:xfrm>
          <a:prstGeom prst="heart">
            <a:avLst/>
          </a:pr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2690581" y="159657"/>
            <a:ext cx="3802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 spc="3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情绪记录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222182" y="3629589"/>
            <a:ext cx="8201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的格式：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时间、地点、事件、情绪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98622" y="2047232"/>
            <a:ext cx="4943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随身携带一个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笔记本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和一支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笔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69592" y="2841115"/>
            <a:ext cx="63549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感觉到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有情绪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的时候，马上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记下来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/>
          </a:p>
        </p:txBody>
      </p:sp>
      <p:cxnSp>
        <p:nvCxnSpPr>
          <p:cNvPr id="35" name="直接连接符 34"/>
          <p:cNvCxnSpPr/>
          <p:nvPr/>
        </p:nvCxnSpPr>
        <p:spPr>
          <a:xfrm>
            <a:off x="866572" y="2495823"/>
            <a:ext cx="6747229" cy="0"/>
          </a:xfrm>
          <a:prstGeom prst="line">
            <a:avLst/>
          </a:prstGeom>
          <a:ln w="6350">
            <a:solidFill>
              <a:schemeClr val="bg1">
                <a:lumMod val="50000"/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866572" y="3263856"/>
            <a:ext cx="6757960" cy="31477"/>
          </a:xfrm>
          <a:prstGeom prst="line">
            <a:avLst/>
          </a:prstGeom>
          <a:ln w="6350">
            <a:solidFill>
              <a:schemeClr val="bg1">
                <a:lumMod val="50000"/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866572" y="4063367"/>
            <a:ext cx="6747229" cy="0"/>
          </a:xfrm>
          <a:prstGeom prst="line">
            <a:avLst/>
          </a:prstGeom>
          <a:ln w="6350">
            <a:solidFill>
              <a:schemeClr val="bg1">
                <a:lumMod val="50000"/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" descr="http://distribute.quanjing.com/4286r-6875.jpg?seid=ndi4nNiTnJG3nxXWDxn0mde2FdeYFhX8FhWZmdb8mJaXmY0ZlteGmtm6nta6mdH8mhW%3d322545bb0c3ea4e1566d7bd0790824e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361" y="1283720"/>
            <a:ext cx="2656770" cy="35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" name="组合 62"/>
          <p:cNvGrpSpPr/>
          <p:nvPr/>
        </p:nvGrpSpPr>
        <p:grpSpPr>
          <a:xfrm>
            <a:off x="591870" y="1940732"/>
            <a:ext cx="539750" cy="2126162"/>
            <a:chOff x="883730" y="1940732"/>
            <a:chExt cx="539750" cy="2126162"/>
          </a:xfrm>
        </p:grpSpPr>
        <p:grpSp>
          <p:nvGrpSpPr>
            <p:cNvPr id="54" name="组合 53"/>
            <p:cNvGrpSpPr/>
            <p:nvPr/>
          </p:nvGrpSpPr>
          <p:grpSpPr>
            <a:xfrm>
              <a:off x="883730" y="1940732"/>
              <a:ext cx="539750" cy="539750"/>
              <a:chOff x="883730" y="1940732"/>
              <a:chExt cx="539750" cy="539750"/>
            </a:xfrm>
          </p:grpSpPr>
          <p:sp>
            <p:nvSpPr>
              <p:cNvPr id="55" name="心形 54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6" name="心形 55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883730" y="2733938"/>
              <a:ext cx="539750" cy="539750"/>
              <a:chOff x="883730" y="1940732"/>
              <a:chExt cx="539750" cy="539750"/>
            </a:xfrm>
          </p:grpSpPr>
          <p:sp>
            <p:nvSpPr>
              <p:cNvPr id="58" name="心形 57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心形 58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883730" y="3527144"/>
              <a:ext cx="539750" cy="539750"/>
              <a:chOff x="883730" y="1940732"/>
              <a:chExt cx="539750" cy="539750"/>
            </a:xfrm>
          </p:grpSpPr>
          <p:sp>
            <p:nvSpPr>
              <p:cNvPr id="61" name="心形 60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2" name="心形 61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  <p:sp>
        <p:nvSpPr>
          <p:cNvPr id="65" name="文本框 64"/>
          <p:cNvSpPr txBox="1"/>
          <p:nvPr/>
        </p:nvSpPr>
        <p:spPr>
          <a:xfrm>
            <a:off x="1169847" y="4744754"/>
            <a:ext cx="1938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自我情绪打分：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169847" y="5253675"/>
            <a:ext cx="6804306" cy="945670"/>
            <a:chOff x="1055180" y="5206982"/>
            <a:chExt cx="6804306" cy="945670"/>
          </a:xfrm>
        </p:grpSpPr>
        <p:sp>
          <p:nvSpPr>
            <p:cNvPr id="73" name="矩形 72"/>
            <p:cNvSpPr/>
            <p:nvPr/>
          </p:nvSpPr>
          <p:spPr>
            <a:xfrm>
              <a:off x="1055180" y="5206982"/>
              <a:ext cx="6804306" cy="945670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201703" y="5310485"/>
              <a:ext cx="651126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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正面的情绪（如开心、高兴等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）打正分；最低分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分，最高分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10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分。</a:t>
              </a:r>
              <a:endPara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  <a:p>
              <a:pPr>
                <a:spcBef>
                  <a:spcPts val="1200"/>
                </a:spcBef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负面的情绪（如伤心、委屈等 ）打负分；最低分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-1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分，最高分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-10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分</a:t>
              </a:r>
              <a:r>
                <a:rPr lang="zh-CN" alt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。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5851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0"/>
            <a:ext cx="9183904" cy="1447800"/>
          </a:xfrm>
          <a:custGeom>
            <a:avLst/>
            <a:gdLst>
              <a:gd name="connsiteX0" fmla="*/ 0 w 9183904"/>
              <a:gd name="connsiteY0" fmla="*/ 0 h 1683656"/>
              <a:gd name="connsiteX1" fmla="*/ 9183904 w 9183904"/>
              <a:gd name="connsiteY1" fmla="*/ 0 h 1683656"/>
              <a:gd name="connsiteX2" fmla="*/ 9183904 w 9183904"/>
              <a:gd name="connsiteY2" fmla="*/ 1246690 h 1683656"/>
              <a:gd name="connsiteX3" fmla="*/ 5015915 w 9183904"/>
              <a:gd name="connsiteY3" fmla="*/ 1246690 h 1683656"/>
              <a:gd name="connsiteX4" fmla="*/ 4937296 w 9183904"/>
              <a:gd name="connsiteY4" fmla="*/ 1356350 h 1683656"/>
              <a:gd name="connsiteX5" fmla="*/ 4591952 w 9183904"/>
              <a:gd name="connsiteY5" fmla="*/ 1683656 h 1683656"/>
              <a:gd name="connsiteX6" fmla="*/ 4246609 w 9183904"/>
              <a:gd name="connsiteY6" fmla="*/ 1356350 h 1683656"/>
              <a:gd name="connsiteX7" fmla="*/ 4167989 w 9183904"/>
              <a:gd name="connsiteY7" fmla="*/ 1246690 h 1683656"/>
              <a:gd name="connsiteX8" fmla="*/ 0 w 9183904"/>
              <a:gd name="connsiteY8" fmla="*/ 1246690 h 168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83904" h="1683656">
                <a:moveTo>
                  <a:pt x="0" y="0"/>
                </a:moveTo>
                <a:lnTo>
                  <a:pt x="9183904" y="0"/>
                </a:lnTo>
                <a:lnTo>
                  <a:pt x="9183904" y="1246690"/>
                </a:lnTo>
                <a:lnTo>
                  <a:pt x="5015915" y="1246690"/>
                </a:lnTo>
                <a:lnTo>
                  <a:pt x="4937296" y="1356350"/>
                </a:lnTo>
                <a:cubicBezTo>
                  <a:pt x="4851344" y="1460743"/>
                  <a:pt x="4738047" y="1570630"/>
                  <a:pt x="4591952" y="1683656"/>
                </a:cubicBezTo>
                <a:cubicBezTo>
                  <a:pt x="4445858" y="1570630"/>
                  <a:pt x="4332560" y="1460743"/>
                  <a:pt x="4246609" y="1356350"/>
                </a:cubicBezTo>
                <a:lnTo>
                  <a:pt x="4167989" y="1246690"/>
                </a:lnTo>
                <a:lnTo>
                  <a:pt x="0" y="1246690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心形 2"/>
          <p:cNvSpPr/>
          <p:nvPr/>
        </p:nvSpPr>
        <p:spPr>
          <a:xfrm>
            <a:off x="4019501" y="478042"/>
            <a:ext cx="1144902" cy="948447"/>
          </a:xfrm>
          <a:prstGeom prst="heart">
            <a:avLst/>
          </a:pr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690581" y="159657"/>
            <a:ext cx="38027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 spc="3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情绪走势图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80463" y="4602134"/>
            <a:ext cx="70229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在纸上画一个坐标图，横轴代表时间，以天为最小单位。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纵轴代表情绪的分数，以情绪分数的最小单位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为基本单位等距离划分纵横高度。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405191" y="2734742"/>
            <a:ext cx="6536614" cy="1088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2234109" y="1450227"/>
            <a:ext cx="0" cy="254803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 12"/>
          <p:cNvSpPr/>
          <p:nvPr/>
        </p:nvSpPr>
        <p:spPr>
          <a:xfrm>
            <a:off x="2234111" y="2188746"/>
            <a:ext cx="5210344" cy="1058406"/>
          </a:xfrm>
          <a:custGeom>
            <a:avLst/>
            <a:gdLst>
              <a:gd name="connsiteX0" fmla="*/ 0 w 4757057"/>
              <a:gd name="connsiteY0" fmla="*/ 175882 h 1058406"/>
              <a:gd name="connsiteX1" fmla="*/ 457200 w 4757057"/>
              <a:gd name="connsiteY1" fmla="*/ 448025 h 1058406"/>
              <a:gd name="connsiteX2" fmla="*/ 718457 w 4757057"/>
              <a:gd name="connsiteY2" fmla="*/ 959654 h 1058406"/>
              <a:gd name="connsiteX3" fmla="*/ 1251857 w 4757057"/>
              <a:gd name="connsiteY3" fmla="*/ 67025 h 1058406"/>
              <a:gd name="connsiteX4" fmla="*/ 2155372 w 4757057"/>
              <a:gd name="connsiteY4" fmla="*/ 1003196 h 1058406"/>
              <a:gd name="connsiteX5" fmla="*/ 2721429 w 4757057"/>
              <a:gd name="connsiteY5" fmla="*/ 926996 h 1058406"/>
              <a:gd name="connsiteX6" fmla="*/ 3048000 w 4757057"/>
              <a:gd name="connsiteY6" fmla="*/ 741939 h 1058406"/>
              <a:gd name="connsiteX7" fmla="*/ 3505200 w 4757057"/>
              <a:gd name="connsiteY7" fmla="*/ 992311 h 1058406"/>
              <a:gd name="connsiteX8" fmla="*/ 3722914 w 4757057"/>
              <a:gd name="connsiteY8" fmla="*/ 415368 h 1058406"/>
              <a:gd name="connsiteX9" fmla="*/ 3940629 w 4757057"/>
              <a:gd name="connsiteY9" fmla="*/ 12596 h 1058406"/>
              <a:gd name="connsiteX10" fmla="*/ 4484914 w 4757057"/>
              <a:gd name="connsiteY10" fmla="*/ 894339 h 1058406"/>
              <a:gd name="connsiteX11" fmla="*/ 4680857 w 4757057"/>
              <a:gd name="connsiteY11" fmla="*/ 578654 h 1058406"/>
              <a:gd name="connsiteX12" fmla="*/ 4757057 w 4757057"/>
              <a:gd name="connsiteY12" fmla="*/ 415368 h 105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57057" h="1058406">
                <a:moveTo>
                  <a:pt x="0" y="175882"/>
                </a:moveTo>
                <a:cubicBezTo>
                  <a:pt x="168728" y="246639"/>
                  <a:pt x="337457" y="317396"/>
                  <a:pt x="457200" y="448025"/>
                </a:cubicBezTo>
                <a:cubicBezTo>
                  <a:pt x="576943" y="578654"/>
                  <a:pt x="586014" y="1023154"/>
                  <a:pt x="718457" y="959654"/>
                </a:cubicBezTo>
                <a:cubicBezTo>
                  <a:pt x="850900" y="896154"/>
                  <a:pt x="1012371" y="59768"/>
                  <a:pt x="1251857" y="67025"/>
                </a:cubicBezTo>
                <a:cubicBezTo>
                  <a:pt x="1491343" y="74282"/>
                  <a:pt x="1910444" y="859868"/>
                  <a:pt x="2155372" y="1003196"/>
                </a:cubicBezTo>
                <a:cubicBezTo>
                  <a:pt x="2400300" y="1146524"/>
                  <a:pt x="2572658" y="970539"/>
                  <a:pt x="2721429" y="926996"/>
                </a:cubicBezTo>
                <a:cubicBezTo>
                  <a:pt x="2870200" y="883453"/>
                  <a:pt x="2917372" y="731053"/>
                  <a:pt x="3048000" y="741939"/>
                </a:cubicBezTo>
                <a:cubicBezTo>
                  <a:pt x="3178628" y="752825"/>
                  <a:pt x="3392714" y="1046739"/>
                  <a:pt x="3505200" y="992311"/>
                </a:cubicBezTo>
                <a:cubicBezTo>
                  <a:pt x="3617686" y="937883"/>
                  <a:pt x="3650342" y="578654"/>
                  <a:pt x="3722914" y="415368"/>
                </a:cubicBezTo>
                <a:cubicBezTo>
                  <a:pt x="3795486" y="252082"/>
                  <a:pt x="3813629" y="-67232"/>
                  <a:pt x="3940629" y="12596"/>
                </a:cubicBezTo>
                <a:cubicBezTo>
                  <a:pt x="4067629" y="92424"/>
                  <a:pt x="4361543" y="799996"/>
                  <a:pt x="4484914" y="894339"/>
                </a:cubicBezTo>
                <a:cubicBezTo>
                  <a:pt x="4608285" y="988682"/>
                  <a:pt x="4635500" y="658483"/>
                  <a:pt x="4680857" y="578654"/>
                </a:cubicBezTo>
                <a:cubicBezTo>
                  <a:pt x="4726214" y="498826"/>
                  <a:pt x="4733471" y="462540"/>
                  <a:pt x="4757057" y="415368"/>
                </a:cubicBezTo>
              </a:path>
            </a:pathLst>
          </a:custGeom>
          <a:noFill/>
          <a:ln w="19050">
            <a:solidFill>
              <a:srgbClr val="E70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826912" y="3647117"/>
            <a:ext cx="2024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</a:rPr>
              <a:t>我的近期情绪走势图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1269" y="6006991"/>
            <a:ext cx="78213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记录测量自己情绪反应的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状态，帮助自己看得更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清楚，更加了解自己。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40713" y="4469935"/>
            <a:ext cx="539750" cy="539750"/>
            <a:chOff x="883730" y="1940732"/>
            <a:chExt cx="539750" cy="539750"/>
          </a:xfrm>
        </p:grpSpPr>
        <p:sp>
          <p:nvSpPr>
            <p:cNvPr id="32" name="心形 31"/>
            <p:cNvSpPr/>
            <p:nvPr/>
          </p:nvSpPr>
          <p:spPr>
            <a:xfrm>
              <a:off x="920243" y="1982267"/>
              <a:ext cx="466725" cy="468313"/>
            </a:xfrm>
            <a:prstGeom prst="heart">
              <a:avLst/>
            </a:pr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b="1" dirty="0"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心形 32"/>
            <p:cNvSpPr/>
            <p:nvPr/>
          </p:nvSpPr>
          <p:spPr>
            <a:xfrm>
              <a:off x="883730" y="1940732"/>
              <a:ext cx="539750" cy="539750"/>
            </a:xfrm>
            <a:prstGeom prst="heart">
              <a:avLst/>
            </a:prstGeom>
            <a:noFill/>
            <a:ln w="6350">
              <a:solidFill>
                <a:srgbClr val="E70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77457" y="5009685"/>
            <a:ext cx="7225983" cy="793477"/>
            <a:chOff x="877458" y="5009685"/>
            <a:chExt cx="6757960" cy="793477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877458" y="5009685"/>
              <a:ext cx="6747229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>
              <a:off x="877458" y="5771685"/>
              <a:ext cx="6757960" cy="31477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251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正五边形 45"/>
          <p:cNvSpPr/>
          <p:nvPr/>
        </p:nvSpPr>
        <p:spPr>
          <a:xfrm>
            <a:off x="3885268" y="3316784"/>
            <a:ext cx="1778721" cy="2348631"/>
          </a:xfrm>
          <a:custGeom>
            <a:avLst/>
            <a:gdLst>
              <a:gd name="connsiteX0" fmla="*/ 2 w 1598219"/>
              <a:gd name="connsiteY0" fmla="*/ 581394 h 1522114"/>
              <a:gd name="connsiteX1" fmla="*/ 799110 w 1598219"/>
              <a:gd name="connsiteY1" fmla="*/ 0 h 1522114"/>
              <a:gd name="connsiteX2" fmla="*/ 1598217 w 1598219"/>
              <a:gd name="connsiteY2" fmla="*/ 581394 h 1522114"/>
              <a:gd name="connsiteX3" fmla="*/ 1292985 w 1598219"/>
              <a:gd name="connsiteY3" fmla="*/ 1522110 h 1522114"/>
              <a:gd name="connsiteX4" fmla="*/ 305234 w 1598219"/>
              <a:gd name="connsiteY4" fmla="*/ 1522110 h 1522114"/>
              <a:gd name="connsiteX5" fmla="*/ 2 w 1598219"/>
              <a:gd name="connsiteY5" fmla="*/ 581394 h 1522114"/>
              <a:gd name="connsiteX0" fmla="*/ 0 w 2142068"/>
              <a:gd name="connsiteY0" fmla="*/ 581394 h 2828396"/>
              <a:gd name="connsiteX1" fmla="*/ 799108 w 2142068"/>
              <a:gd name="connsiteY1" fmla="*/ 0 h 2828396"/>
              <a:gd name="connsiteX2" fmla="*/ 1598215 w 2142068"/>
              <a:gd name="connsiteY2" fmla="*/ 581394 h 2828396"/>
              <a:gd name="connsiteX3" fmla="*/ 2142068 w 2142068"/>
              <a:gd name="connsiteY3" fmla="*/ 2828396 h 2828396"/>
              <a:gd name="connsiteX4" fmla="*/ 305232 w 2142068"/>
              <a:gd name="connsiteY4" fmla="*/ 1522110 h 2828396"/>
              <a:gd name="connsiteX5" fmla="*/ 0 w 2142068"/>
              <a:gd name="connsiteY5" fmla="*/ 581394 h 282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42068" h="2828396">
                <a:moveTo>
                  <a:pt x="0" y="581394"/>
                </a:moveTo>
                <a:lnTo>
                  <a:pt x="799108" y="0"/>
                </a:lnTo>
                <a:lnTo>
                  <a:pt x="1598215" y="581394"/>
                </a:lnTo>
                <a:lnTo>
                  <a:pt x="2142068" y="2828396"/>
                </a:lnTo>
                <a:lnTo>
                  <a:pt x="305232" y="1522110"/>
                </a:lnTo>
                <a:lnTo>
                  <a:pt x="0" y="581394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6484705" y="3281312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允许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626136" y="5865531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70050"/>
                </a:solidFill>
              </a:rPr>
              <a:t>述情</a:t>
            </a:r>
            <a:endParaRPr lang="zh-CN" altLang="en-US" sz="2800" b="1" dirty="0">
              <a:solidFill>
                <a:srgbClr val="E70050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668931" y="5865531"/>
            <a:ext cx="1346003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情绪管理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909624" y="3281312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共情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237884" y="3680404"/>
            <a:ext cx="621887" cy="63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爱</a:t>
            </a:r>
            <a:endParaRPr lang="zh-CN" altLang="en-US" sz="4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53" name="直接连接符 52"/>
          <p:cNvCxnSpPr/>
          <p:nvPr/>
        </p:nvCxnSpPr>
        <p:spPr>
          <a:xfrm flipH="1">
            <a:off x="4548825" y="2202651"/>
            <a:ext cx="2" cy="1333899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任意多边形 53"/>
          <p:cNvSpPr/>
          <p:nvPr/>
        </p:nvSpPr>
        <p:spPr>
          <a:xfrm>
            <a:off x="2715424" y="2202650"/>
            <a:ext cx="3666805" cy="3492194"/>
          </a:xfrm>
          <a:custGeom>
            <a:avLst/>
            <a:gdLst>
              <a:gd name="connsiteX0" fmla="*/ 1924047 w 3848092"/>
              <a:gd name="connsiteY0" fmla="*/ 222250 h 3664848"/>
              <a:gd name="connsiteX1" fmla="*/ 233363 w 3848092"/>
              <a:gd name="connsiteY1" fmla="*/ 1452314 h 3664848"/>
              <a:gd name="connsiteX2" fmla="*/ 879146 w 3848092"/>
              <a:gd name="connsiteY2" fmla="*/ 3442599 h 3664848"/>
              <a:gd name="connsiteX3" fmla="*/ 2968947 w 3848092"/>
              <a:gd name="connsiteY3" fmla="*/ 3442599 h 3664848"/>
              <a:gd name="connsiteX4" fmla="*/ 3614730 w 3848092"/>
              <a:gd name="connsiteY4" fmla="*/ 1452314 h 3664848"/>
              <a:gd name="connsiteX5" fmla="*/ 1924046 w 3848092"/>
              <a:gd name="connsiteY5" fmla="*/ 0 h 3664848"/>
              <a:gd name="connsiteX6" fmla="*/ 3848092 w 3848092"/>
              <a:gd name="connsiteY6" fmla="*/ 1399847 h 3664848"/>
              <a:gd name="connsiteX7" fmla="*/ 3113172 w 3848092"/>
              <a:gd name="connsiteY7" fmla="*/ 3664848 h 3664848"/>
              <a:gd name="connsiteX8" fmla="*/ 734920 w 3848092"/>
              <a:gd name="connsiteY8" fmla="*/ 3664848 h 3664848"/>
              <a:gd name="connsiteX9" fmla="*/ 0 w 3848092"/>
              <a:gd name="connsiteY9" fmla="*/ 1399847 h 366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8092" h="3664848">
                <a:moveTo>
                  <a:pt x="1924047" y="222250"/>
                </a:moveTo>
                <a:lnTo>
                  <a:pt x="233363" y="1452314"/>
                </a:lnTo>
                <a:lnTo>
                  <a:pt x="879146" y="3442599"/>
                </a:lnTo>
                <a:lnTo>
                  <a:pt x="2968947" y="3442599"/>
                </a:lnTo>
                <a:lnTo>
                  <a:pt x="3614730" y="1452314"/>
                </a:lnTo>
                <a:close/>
                <a:moveTo>
                  <a:pt x="1924046" y="0"/>
                </a:moveTo>
                <a:lnTo>
                  <a:pt x="3848092" y="1399847"/>
                </a:lnTo>
                <a:lnTo>
                  <a:pt x="3113172" y="3664848"/>
                </a:lnTo>
                <a:lnTo>
                  <a:pt x="734920" y="3664848"/>
                </a:lnTo>
                <a:lnTo>
                  <a:pt x="0" y="1399847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/>
          <p:nvPr/>
        </p:nvCxnSpPr>
        <p:spPr>
          <a:xfrm flipH="1">
            <a:off x="5122538" y="3556624"/>
            <a:ext cx="1165787" cy="265708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4839779" y="4387789"/>
            <a:ext cx="784162" cy="1219988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3476559" y="4348195"/>
            <a:ext cx="803917" cy="1245082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54" idx="1"/>
          </p:cNvCxnSpPr>
          <p:nvPr/>
        </p:nvCxnSpPr>
        <p:spPr>
          <a:xfrm>
            <a:off x="2937792" y="3586545"/>
            <a:ext cx="1146401" cy="253560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020584" y="360000"/>
            <a:ext cx="7056481" cy="1178674"/>
            <a:chOff x="1020584" y="213402"/>
            <a:chExt cx="7056481" cy="1178674"/>
          </a:xfrm>
        </p:grpSpPr>
        <p:pic>
          <p:nvPicPr>
            <p:cNvPr id="60" name="Picture 12" descr="图片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0584" y="213402"/>
              <a:ext cx="7056481" cy="1178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" name="矩形 60"/>
            <p:cNvSpPr/>
            <p:nvPr/>
          </p:nvSpPr>
          <p:spPr>
            <a:xfrm>
              <a:off x="1500932" y="399376"/>
              <a:ext cx="628127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0050"/>
                  </a:solidFill>
                  <a:latin typeface="+mj-ea"/>
                </a:rPr>
                <a:t>述情：</a:t>
              </a:r>
              <a:r>
                <a:rPr lang="zh-CN" altLang="en-US" sz="3200" dirty="0">
                  <a:solidFill>
                    <a:srgbClr val="E70050"/>
                  </a:solidFill>
                  <a:latin typeface="+mj-ea"/>
                </a:rPr>
                <a:t>说出感觉容易爱</a:t>
              </a:r>
            </a:p>
          </p:txBody>
        </p:sp>
      </p:grpSp>
      <p:sp>
        <p:nvSpPr>
          <p:cNvPr id="62" name="文本框 61"/>
          <p:cNvSpPr txBox="1"/>
          <p:nvPr/>
        </p:nvSpPr>
        <p:spPr>
          <a:xfrm>
            <a:off x="4173988" y="1644208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影响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4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127399" y="447998"/>
            <a:ext cx="6889203" cy="5962005"/>
            <a:chOff x="1127399" y="360000"/>
            <a:chExt cx="6889203" cy="5962005"/>
          </a:xfrm>
        </p:grpSpPr>
        <p:grpSp>
          <p:nvGrpSpPr>
            <p:cNvPr id="4" name="组合 3"/>
            <p:cNvGrpSpPr/>
            <p:nvPr/>
          </p:nvGrpSpPr>
          <p:grpSpPr>
            <a:xfrm>
              <a:off x="3095478" y="360000"/>
              <a:ext cx="2953044" cy="4612456"/>
              <a:chOff x="2562385" y="201266"/>
              <a:chExt cx="2953044" cy="4612456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2562385" y="2897537"/>
                <a:ext cx="2953044" cy="1916185"/>
                <a:chOff x="2520735" y="2870985"/>
                <a:chExt cx="3418166" cy="2035143"/>
              </a:xfrm>
            </p:grpSpPr>
            <p:sp>
              <p:nvSpPr>
                <p:cNvPr id="7" name="等腰三角形 6"/>
                <p:cNvSpPr/>
                <p:nvPr/>
              </p:nvSpPr>
              <p:spPr>
                <a:xfrm rot="13563596">
                  <a:off x="2158890" y="3232831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等腰三角形 7"/>
                <p:cNvSpPr/>
                <p:nvPr/>
              </p:nvSpPr>
              <p:spPr>
                <a:xfrm rot="8036404" flipH="1">
                  <a:off x="4265605" y="3232830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6" name="Picture 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2789578" y="201266"/>
                <a:ext cx="2639299" cy="3998939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rnd">
                <a:solidFill>
                  <a:srgbClr val="FFFFFF"/>
                </a:solidFill>
              </a:ln>
              <a:effectLst>
                <a:outerShdw blurRad="50000" algn="tl" rotWithShape="0">
                  <a:srgbClr val="000000">
                    <a:alpha val="41000"/>
                  </a:srgbClr>
                </a:outerShdw>
              </a:effectLst>
              <a:scene3d>
                <a:camera prst="orthographicFront"/>
                <a:lightRig rig="twoPt" dir="t">
                  <a:rot lat="0" lon="0" rev="7800000"/>
                </a:lightRig>
              </a:scene3d>
              <a:sp3d contourW="6350">
                <a:bevelT w="50800" h="16510"/>
                <a:contourClr>
                  <a:srgbClr val="C0C0C0"/>
                </a:contourClr>
              </a:sp3d>
              <a:extLst/>
            </p:spPr>
          </p:pic>
        </p:grpSp>
        <p:grpSp>
          <p:nvGrpSpPr>
            <p:cNvPr id="3" name="组合 2"/>
            <p:cNvGrpSpPr/>
            <p:nvPr/>
          </p:nvGrpSpPr>
          <p:grpSpPr>
            <a:xfrm>
              <a:off x="1127399" y="4861000"/>
              <a:ext cx="6889203" cy="1461005"/>
              <a:chOff x="1013827" y="4861000"/>
              <a:chExt cx="6889203" cy="1461005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2102130" y="4924035"/>
                <a:ext cx="5800900" cy="461665"/>
              </a:xfrm>
              <a:prstGeom prst="rect">
                <a:avLst/>
              </a:prstGeom>
              <a:solidFill>
                <a:srgbClr val="E70050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述情，让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对方成长，照顾理解自己的</a:t>
                </a:r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感受。</a:t>
                </a:r>
                <a:endPara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102130" y="5735751"/>
                <a:ext cx="5800900" cy="461665"/>
              </a:xfrm>
              <a:prstGeom prst="rect">
                <a:avLst/>
              </a:prstGeom>
              <a:solidFill>
                <a:srgbClr val="E70050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缺乏述情，</a:t>
                </a:r>
                <a:r>
                  <a:rPr lang="en-US" altLang="zh-CN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喜怒不形于色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爱情天敌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  <p:sp>
            <p:nvSpPr>
              <p:cNvPr id="12" name="心形 11"/>
              <p:cNvSpPr/>
              <p:nvPr/>
            </p:nvSpPr>
            <p:spPr bwMode="auto">
              <a:xfrm>
                <a:off x="1013827" y="4861000"/>
                <a:ext cx="665163" cy="649288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dirty="0" smtClean="0">
                    <a:latin typeface="+mn-ea"/>
                  </a:rPr>
                  <a:t>√</a:t>
                </a:r>
                <a:endParaRPr lang="zh-CN" altLang="en-US" sz="3600" b="1" dirty="0">
                  <a:latin typeface="+mn-ea"/>
                </a:endParaRPr>
              </a:p>
            </p:txBody>
          </p:sp>
          <p:sp>
            <p:nvSpPr>
              <p:cNvPr id="13" name="心形 12"/>
              <p:cNvSpPr/>
              <p:nvPr/>
            </p:nvSpPr>
            <p:spPr bwMode="auto">
              <a:xfrm>
                <a:off x="1013827" y="5672717"/>
                <a:ext cx="665163" cy="649288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dirty="0">
                    <a:latin typeface="+mn-ea"/>
                  </a:rPr>
                  <a:t>×</a:t>
                </a:r>
                <a:endParaRPr lang="zh-CN" altLang="en-US" sz="3600" b="1" dirty="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573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/>
        </p:nvSpPr>
        <p:spPr>
          <a:xfrm>
            <a:off x="0" y="0"/>
            <a:ext cx="9183904" cy="1447800"/>
          </a:xfrm>
          <a:custGeom>
            <a:avLst/>
            <a:gdLst>
              <a:gd name="connsiteX0" fmla="*/ 0 w 9183904"/>
              <a:gd name="connsiteY0" fmla="*/ 0 h 1683656"/>
              <a:gd name="connsiteX1" fmla="*/ 9183904 w 9183904"/>
              <a:gd name="connsiteY1" fmla="*/ 0 h 1683656"/>
              <a:gd name="connsiteX2" fmla="*/ 9183904 w 9183904"/>
              <a:gd name="connsiteY2" fmla="*/ 1246690 h 1683656"/>
              <a:gd name="connsiteX3" fmla="*/ 5015915 w 9183904"/>
              <a:gd name="connsiteY3" fmla="*/ 1246690 h 1683656"/>
              <a:gd name="connsiteX4" fmla="*/ 4937296 w 9183904"/>
              <a:gd name="connsiteY4" fmla="*/ 1356350 h 1683656"/>
              <a:gd name="connsiteX5" fmla="*/ 4591952 w 9183904"/>
              <a:gd name="connsiteY5" fmla="*/ 1683656 h 1683656"/>
              <a:gd name="connsiteX6" fmla="*/ 4246609 w 9183904"/>
              <a:gd name="connsiteY6" fmla="*/ 1356350 h 1683656"/>
              <a:gd name="connsiteX7" fmla="*/ 4167989 w 9183904"/>
              <a:gd name="connsiteY7" fmla="*/ 1246690 h 1683656"/>
              <a:gd name="connsiteX8" fmla="*/ 0 w 9183904"/>
              <a:gd name="connsiteY8" fmla="*/ 1246690 h 168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83904" h="1683656">
                <a:moveTo>
                  <a:pt x="0" y="0"/>
                </a:moveTo>
                <a:lnTo>
                  <a:pt x="9183904" y="0"/>
                </a:lnTo>
                <a:lnTo>
                  <a:pt x="9183904" y="1246690"/>
                </a:lnTo>
                <a:lnTo>
                  <a:pt x="5015915" y="1246690"/>
                </a:lnTo>
                <a:lnTo>
                  <a:pt x="4937296" y="1356350"/>
                </a:lnTo>
                <a:cubicBezTo>
                  <a:pt x="4851344" y="1460743"/>
                  <a:pt x="4738047" y="1570630"/>
                  <a:pt x="4591952" y="1683656"/>
                </a:cubicBezTo>
                <a:cubicBezTo>
                  <a:pt x="4445858" y="1570630"/>
                  <a:pt x="4332560" y="1460743"/>
                  <a:pt x="4246609" y="1356350"/>
                </a:cubicBezTo>
                <a:lnTo>
                  <a:pt x="4167989" y="1246690"/>
                </a:lnTo>
                <a:lnTo>
                  <a:pt x="0" y="1246690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032900" y="159657"/>
            <a:ext cx="5118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300" dirty="0" smtClean="0">
                <a:solidFill>
                  <a:schemeClr val="bg1"/>
                </a:solidFill>
                <a:latin typeface="+mj-ea"/>
                <a:ea typeface="+mj-ea"/>
              </a:rPr>
              <a:t>六种句型成述情高手</a:t>
            </a:r>
            <a:endParaRPr lang="zh-CN" altLang="en-US" sz="4000" b="1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911511" y="2223976"/>
            <a:ext cx="7320978" cy="3694030"/>
            <a:chOff x="851667" y="2223976"/>
            <a:chExt cx="7320978" cy="3694030"/>
          </a:xfrm>
        </p:grpSpPr>
        <p:cxnSp>
          <p:nvCxnSpPr>
            <p:cNvPr id="39" name="直接连接符 38"/>
            <p:cNvCxnSpPr/>
            <p:nvPr/>
          </p:nvCxnSpPr>
          <p:spPr>
            <a:xfrm>
              <a:off x="1124717" y="2754588"/>
              <a:ext cx="7047928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1124717" y="3363181"/>
              <a:ext cx="7047928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1124717" y="3971774"/>
              <a:ext cx="7047928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1124717" y="4580367"/>
              <a:ext cx="7047928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1124717" y="5188960"/>
              <a:ext cx="7047928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1124717" y="5797553"/>
              <a:ext cx="7047928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1561394" y="2286243"/>
              <a:ext cx="6611251" cy="36317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当自己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心情不好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的时候直接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告诉对方</a:t>
              </a:r>
              <a:r>
                <a:rPr lang="zh-CN" altLang="en-US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dirty="0"/>
                <a:t>当爱人让自已</a:t>
              </a:r>
              <a:r>
                <a:rPr lang="zh-CN" altLang="en-US" sz="2000" b="1" dirty="0"/>
                <a:t>感受不好（或好）</a:t>
              </a:r>
              <a:r>
                <a:rPr lang="zh-CN" altLang="en-US" sz="2000" dirty="0"/>
                <a:t>时，告诉爱人自己的</a:t>
              </a:r>
              <a:r>
                <a:rPr lang="zh-CN" altLang="en-US" sz="2000" b="1" dirty="0"/>
                <a:t>感受</a:t>
              </a:r>
              <a:r>
                <a:rPr lang="zh-CN" altLang="en-US" sz="2000" dirty="0" smtClean="0"/>
                <a:t>。</a:t>
              </a:r>
              <a:endParaRPr lang="en-US" altLang="zh-CN" sz="2000" dirty="0" smtClean="0"/>
            </a:p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dirty="0"/>
                <a:t>告诉爱人自己的</a:t>
              </a:r>
              <a:r>
                <a:rPr lang="zh-CN" altLang="en-US" sz="2000" b="1" dirty="0"/>
                <a:t>需求</a:t>
              </a:r>
              <a:r>
                <a:rPr lang="zh-CN" altLang="en-US" sz="2000" dirty="0"/>
                <a:t>，而不是</a:t>
              </a:r>
              <a:r>
                <a:rPr lang="zh-CN" altLang="en-US" sz="2000" b="1" dirty="0"/>
                <a:t>解决方案</a:t>
              </a:r>
              <a:r>
                <a:rPr lang="zh-CN" altLang="en-US" sz="2000" dirty="0" smtClean="0"/>
                <a:t>。</a:t>
              </a:r>
              <a:endParaRPr lang="en-US" altLang="zh-CN" sz="2000" dirty="0" smtClean="0"/>
            </a:p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dirty="0"/>
                <a:t>说出自己</a:t>
              </a:r>
              <a:r>
                <a:rPr lang="zh-CN" altLang="en-US" sz="2000" b="1" dirty="0"/>
                <a:t>喜欢的</a:t>
              </a:r>
              <a:r>
                <a:rPr lang="zh-CN" altLang="en-US" sz="2000" dirty="0"/>
                <a:t>，而不是自己不喜欢的</a:t>
              </a:r>
              <a:r>
                <a:rPr lang="zh-CN" altLang="en-US" sz="2000" dirty="0" smtClean="0"/>
                <a:t>。</a:t>
              </a:r>
              <a:endParaRPr lang="en-US" altLang="zh-CN" sz="2000" dirty="0" smtClean="0"/>
            </a:p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dirty="0"/>
                <a:t>使用</a:t>
              </a:r>
              <a:r>
                <a:rPr lang="en-US" altLang="zh-CN" sz="2000" dirty="0"/>
                <a:t>“</a:t>
              </a:r>
              <a:r>
                <a:rPr lang="zh-CN" altLang="en-US" sz="2000" b="1" dirty="0"/>
                <a:t>可以</a:t>
              </a:r>
              <a:r>
                <a:rPr lang="en-US" altLang="zh-CN" sz="2000" dirty="0"/>
                <a:t>”</a:t>
              </a:r>
              <a:r>
                <a:rPr lang="zh-CN" altLang="en-US" sz="2000" dirty="0"/>
                <a:t>替代</a:t>
              </a:r>
              <a:r>
                <a:rPr lang="zh-CN" altLang="en-US" sz="2000" b="1" dirty="0"/>
                <a:t>命令</a:t>
              </a:r>
              <a:r>
                <a:rPr lang="zh-CN" altLang="en-US" sz="2000" dirty="0" smtClean="0"/>
                <a:t>。</a:t>
              </a:r>
              <a:endParaRPr lang="en-US" altLang="zh-CN" sz="2000" dirty="0" smtClean="0"/>
            </a:p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dirty="0"/>
                <a:t>说出</a:t>
              </a:r>
              <a:r>
                <a:rPr lang="en-US" altLang="zh-CN" sz="2000" dirty="0"/>
                <a:t>“</a:t>
              </a:r>
              <a:r>
                <a:rPr lang="zh-CN" altLang="en-US" sz="2000" b="1" dirty="0"/>
                <a:t>我希望</a:t>
              </a:r>
              <a:r>
                <a:rPr lang="en-US" altLang="zh-CN" sz="2000" dirty="0"/>
                <a:t>”，</a:t>
              </a:r>
              <a:r>
                <a:rPr lang="zh-CN" altLang="en-US" sz="2000" dirty="0"/>
                <a:t>不说</a:t>
              </a:r>
              <a:r>
                <a:rPr lang="en-US" altLang="zh-CN" sz="2000" dirty="0"/>
                <a:t>“</a:t>
              </a:r>
              <a:r>
                <a:rPr lang="zh-CN" altLang="en-US" sz="2000" b="1" dirty="0"/>
                <a:t>你应该</a:t>
              </a:r>
              <a:r>
                <a:rPr lang="en-US" altLang="zh-CN" sz="2000" dirty="0" smtClean="0"/>
                <a:t>”。</a:t>
              </a:r>
              <a:endPara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851667" y="2223976"/>
              <a:ext cx="539750" cy="539750"/>
              <a:chOff x="883730" y="1940732"/>
              <a:chExt cx="539750" cy="539750"/>
            </a:xfrm>
          </p:grpSpPr>
          <p:sp>
            <p:nvSpPr>
              <p:cNvPr id="37" name="心形 36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" name="心形 37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851667" y="2829471"/>
              <a:ext cx="539750" cy="539750"/>
              <a:chOff x="883730" y="1940732"/>
              <a:chExt cx="539750" cy="539750"/>
            </a:xfrm>
          </p:grpSpPr>
          <p:sp>
            <p:nvSpPr>
              <p:cNvPr id="75" name="心形 74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6" name="心形 75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851667" y="3434966"/>
              <a:ext cx="539750" cy="539750"/>
              <a:chOff x="883730" y="1940732"/>
              <a:chExt cx="539750" cy="539750"/>
            </a:xfrm>
          </p:grpSpPr>
          <p:sp>
            <p:nvSpPr>
              <p:cNvPr id="78" name="心形 77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9" name="心形 78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851667" y="4040461"/>
              <a:ext cx="539750" cy="539750"/>
              <a:chOff x="883730" y="1940732"/>
              <a:chExt cx="539750" cy="539750"/>
            </a:xfrm>
          </p:grpSpPr>
          <p:sp>
            <p:nvSpPr>
              <p:cNvPr id="81" name="心形 80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2" name="心形 81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51667" y="4645956"/>
              <a:ext cx="539750" cy="539750"/>
              <a:chOff x="883730" y="1940732"/>
              <a:chExt cx="539750" cy="539750"/>
            </a:xfrm>
          </p:grpSpPr>
          <p:sp>
            <p:nvSpPr>
              <p:cNvPr id="84" name="心形 83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5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5" name="心形 84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851667" y="5251453"/>
              <a:ext cx="539750" cy="539750"/>
              <a:chOff x="883730" y="1940732"/>
              <a:chExt cx="539750" cy="539750"/>
            </a:xfrm>
          </p:grpSpPr>
          <p:sp>
            <p:nvSpPr>
              <p:cNvPr id="87" name="心形 86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6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8" name="心形 87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999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五边形 15"/>
          <p:cNvSpPr/>
          <p:nvPr/>
        </p:nvSpPr>
        <p:spPr>
          <a:xfrm>
            <a:off x="2824664" y="3316784"/>
            <a:ext cx="2387721" cy="1263923"/>
          </a:xfrm>
          <a:custGeom>
            <a:avLst/>
            <a:gdLst>
              <a:gd name="connsiteX0" fmla="*/ 2 w 1598219"/>
              <a:gd name="connsiteY0" fmla="*/ 581394 h 1522114"/>
              <a:gd name="connsiteX1" fmla="*/ 799110 w 1598219"/>
              <a:gd name="connsiteY1" fmla="*/ 0 h 1522114"/>
              <a:gd name="connsiteX2" fmla="*/ 1598217 w 1598219"/>
              <a:gd name="connsiteY2" fmla="*/ 581394 h 1522114"/>
              <a:gd name="connsiteX3" fmla="*/ 1292985 w 1598219"/>
              <a:gd name="connsiteY3" fmla="*/ 1522110 h 1522114"/>
              <a:gd name="connsiteX4" fmla="*/ 305234 w 1598219"/>
              <a:gd name="connsiteY4" fmla="*/ 1522110 h 1522114"/>
              <a:gd name="connsiteX5" fmla="*/ 2 w 1598219"/>
              <a:gd name="connsiteY5" fmla="*/ 581394 h 1522114"/>
              <a:gd name="connsiteX0" fmla="*/ 0 w 2875472"/>
              <a:gd name="connsiteY0" fmla="*/ 276594 h 1522110"/>
              <a:gd name="connsiteX1" fmla="*/ 2076365 w 2875472"/>
              <a:gd name="connsiteY1" fmla="*/ 0 h 1522110"/>
              <a:gd name="connsiteX2" fmla="*/ 2875472 w 2875472"/>
              <a:gd name="connsiteY2" fmla="*/ 581394 h 1522110"/>
              <a:gd name="connsiteX3" fmla="*/ 2570240 w 2875472"/>
              <a:gd name="connsiteY3" fmla="*/ 1522110 h 1522110"/>
              <a:gd name="connsiteX4" fmla="*/ 1582489 w 2875472"/>
              <a:gd name="connsiteY4" fmla="*/ 1522110 h 1522110"/>
              <a:gd name="connsiteX5" fmla="*/ 0 w 2875472"/>
              <a:gd name="connsiteY5" fmla="*/ 276594 h 1522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5472" h="1522110">
                <a:moveTo>
                  <a:pt x="0" y="276594"/>
                </a:moveTo>
                <a:lnTo>
                  <a:pt x="2076365" y="0"/>
                </a:lnTo>
                <a:lnTo>
                  <a:pt x="2875472" y="581394"/>
                </a:lnTo>
                <a:lnTo>
                  <a:pt x="2570240" y="1522110"/>
                </a:lnTo>
                <a:lnTo>
                  <a:pt x="1582489" y="1522110"/>
                </a:lnTo>
                <a:lnTo>
                  <a:pt x="0" y="276594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173990" y="1620000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影响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84705" y="3281312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允许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49566" y="5865531"/>
            <a:ext cx="902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述情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68931" y="5865531"/>
            <a:ext cx="1346003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情绪管理</a:t>
            </a:r>
            <a:endParaRPr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909624" y="3281312"/>
            <a:ext cx="749672" cy="4344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E70050"/>
                </a:solidFill>
              </a:rPr>
              <a:t>共情</a:t>
            </a:r>
            <a:endParaRPr lang="zh-CN" altLang="en-US" sz="2800" b="1" dirty="0">
              <a:solidFill>
                <a:srgbClr val="E7005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37884" y="3680404"/>
            <a:ext cx="621887" cy="63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rPr>
              <a:t>爱</a:t>
            </a:r>
            <a:endParaRPr lang="zh-CN" altLang="en-US" sz="4400" dirty="0">
              <a:solidFill>
                <a:schemeClr val="bg1"/>
              </a:solidFill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4548825" y="2202651"/>
            <a:ext cx="2" cy="1333899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 23"/>
          <p:cNvSpPr/>
          <p:nvPr/>
        </p:nvSpPr>
        <p:spPr>
          <a:xfrm>
            <a:off x="2715424" y="2202650"/>
            <a:ext cx="3666805" cy="3492194"/>
          </a:xfrm>
          <a:custGeom>
            <a:avLst/>
            <a:gdLst>
              <a:gd name="connsiteX0" fmla="*/ 1924047 w 3848092"/>
              <a:gd name="connsiteY0" fmla="*/ 222250 h 3664848"/>
              <a:gd name="connsiteX1" fmla="*/ 233363 w 3848092"/>
              <a:gd name="connsiteY1" fmla="*/ 1452314 h 3664848"/>
              <a:gd name="connsiteX2" fmla="*/ 879146 w 3848092"/>
              <a:gd name="connsiteY2" fmla="*/ 3442599 h 3664848"/>
              <a:gd name="connsiteX3" fmla="*/ 2968947 w 3848092"/>
              <a:gd name="connsiteY3" fmla="*/ 3442599 h 3664848"/>
              <a:gd name="connsiteX4" fmla="*/ 3614730 w 3848092"/>
              <a:gd name="connsiteY4" fmla="*/ 1452314 h 3664848"/>
              <a:gd name="connsiteX5" fmla="*/ 1924046 w 3848092"/>
              <a:gd name="connsiteY5" fmla="*/ 0 h 3664848"/>
              <a:gd name="connsiteX6" fmla="*/ 3848092 w 3848092"/>
              <a:gd name="connsiteY6" fmla="*/ 1399847 h 3664848"/>
              <a:gd name="connsiteX7" fmla="*/ 3113172 w 3848092"/>
              <a:gd name="connsiteY7" fmla="*/ 3664848 h 3664848"/>
              <a:gd name="connsiteX8" fmla="*/ 734920 w 3848092"/>
              <a:gd name="connsiteY8" fmla="*/ 3664848 h 3664848"/>
              <a:gd name="connsiteX9" fmla="*/ 0 w 3848092"/>
              <a:gd name="connsiteY9" fmla="*/ 1399847 h 3664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8092" h="3664848">
                <a:moveTo>
                  <a:pt x="1924047" y="222250"/>
                </a:moveTo>
                <a:lnTo>
                  <a:pt x="233363" y="1452314"/>
                </a:lnTo>
                <a:lnTo>
                  <a:pt x="879146" y="3442599"/>
                </a:lnTo>
                <a:lnTo>
                  <a:pt x="2968947" y="3442599"/>
                </a:lnTo>
                <a:lnTo>
                  <a:pt x="3614730" y="1452314"/>
                </a:lnTo>
                <a:close/>
                <a:moveTo>
                  <a:pt x="1924046" y="0"/>
                </a:moveTo>
                <a:lnTo>
                  <a:pt x="3848092" y="1399847"/>
                </a:lnTo>
                <a:lnTo>
                  <a:pt x="3113172" y="3664848"/>
                </a:lnTo>
                <a:lnTo>
                  <a:pt x="734920" y="3664848"/>
                </a:lnTo>
                <a:lnTo>
                  <a:pt x="0" y="1399847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5122538" y="3556624"/>
            <a:ext cx="1165787" cy="265708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 flipV="1">
            <a:off x="4839779" y="4387789"/>
            <a:ext cx="784162" cy="1219988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3476559" y="4348195"/>
            <a:ext cx="803917" cy="1245082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24" idx="1"/>
          </p:cNvCxnSpPr>
          <p:nvPr/>
        </p:nvCxnSpPr>
        <p:spPr>
          <a:xfrm>
            <a:off x="2937792" y="3586545"/>
            <a:ext cx="1146401" cy="253560"/>
          </a:xfrm>
          <a:prstGeom prst="line">
            <a:avLst/>
          </a:prstGeom>
          <a:ln w="15875">
            <a:solidFill>
              <a:srgbClr val="E70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1020584" y="360000"/>
            <a:ext cx="7056481" cy="1178674"/>
            <a:chOff x="1020584" y="213402"/>
            <a:chExt cx="7056481" cy="1178674"/>
          </a:xfrm>
        </p:grpSpPr>
        <p:pic>
          <p:nvPicPr>
            <p:cNvPr id="30" name="Picture 12" descr="图片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0584" y="213402"/>
              <a:ext cx="7056481" cy="1178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" name="矩形 30"/>
            <p:cNvSpPr/>
            <p:nvPr/>
          </p:nvSpPr>
          <p:spPr>
            <a:xfrm>
              <a:off x="1500932" y="399376"/>
              <a:ext cx="628127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rgbClr val="E70050"/>
                  </a:solidFill>
                  <a:latin typeface="+mj-ea"/>
                </a:rPr>
                <a:t>共情：</a:t>
              </a:r>
              <a:r>
                <a:rPr lang="zh-CN" altLang="en-US" sz="3200" dirty="0" smtClean="0">
                  <a:solidFill>
                    <a:srgbClr val="E70050"/>
                  </a:solidFill>
                  <a:latin typeface="+mj-ea"/>
                </a:rPr>
                <a:t>善解人意才会爱</a:t>
              </a:r>
              <a:endParaRPr lang="zh-CN" altLang="en-US" sz="3200" dirty="0">
                <a:solidFill>
                  <a:srgbClr val="E70050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413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109347" y="447998"/>
            <a:ext cx="6925307" cy="5962005"/>
            <a:chOff x="1109347" y="360000"/>
            <a:chExt cx="6925307" cy="5962005"/>
          </a:xfrm>
        </p:grpSpPr>
        <p:grpSp>
          <p:nvGrpSpPr>
            <p:cNvPr id="7" name="组合 6"/>
            <p:cNvGrpSpPr/>
            <p:nvPr/>
          </p:nvGrpSpPr>
          <p:grpSpPr>
            <a:xfrm>
              <a:off x="3095478" y="360000"/>
              <a:ext cx="2953044" cy="4612456"/>
              <a:chOff x="2562385" y="201266"/>
              <a:chExt cx="2953044" cy="4612456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2562385" y="2897537"/>
                <a:ext cx="2953044" cy="1916185"/>
                <a:chOff x="2520735" y="2870985"/>
                <a:chExt cx="3418166" cy="2035143"/>
              </a:xfrm>
            </p:grpSpPr>
            <p:sp>
              <p:nvSpPr>
                <p:cNvPr id="10" name="等腰三角形 9"/>
                <p:cNvSpPr/>
                <p:nvPr/>
              </p:nvSpPr>
              <p:spPr>
                <a:xfrm rot="13563596">
                  <a:off x="2158890" y="3232831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等腰三角形 10"/>
                <p:cNvSpPr/>
                <p:nvPr/>
              </p:nvSpPr>
              <p:spPr>
                <a:xfrm rot="8036404" flipH="1">
                  <a:off x="4265605" y="3232830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9" name="Picture 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2732622" y="201266"/>
                <a:ext cx="2655696" cy="3998939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rnd">
                <a:solidFill>
                  <a:srgbClr val="FFFFFF"/>
                </a:solidFill>
              </a:ln>
              <a:effectLst>
                <a:outerShdw blurRad="50000" algn="tl" rotWithShape="0">
                  <a:srgbClr val="000000">
                    <a:alpha val="41000"/>
                  </a:srgbClr>
                </a:outerShdw>
              </a:effectLst>
              <a:scene3d>
                <a:camera prst="orthographicFront"/>
                <a:lightRig rig="twoPt" dir="t">
                  <a:rot lat="0" lon="0" rev="7800000"/>
                </a:lightRig>
              </a:scene3d>
              <a:sp3d contourW="6350">
                <a:bevelT w="50800" h="16510"/>
                <a:contourClr>
                  <a:srgbClr val="C0C0C0"/>
                </a:contourClr>
              </a:sp3d>
              <a:extLst/>
            </p:spPr>
          </p:pic>
        </p:grpSp>
        <p:grpSp>
          <p:nvGrpSpPr>
            <p:cNvPr id="2" name="组合 1"/>
            <p:cNvGrpSpPr/>
            <p:nvPr/>
          </p:nvGrpSpPr>
          <p:grpSpPr>
            <a:xfrm>
              <a:off x="1109347" y="4861000"/>
              <a:ext cx="6925307" cy="1461005"/>
              <a:chOff x="716464" y="4861000"/>
              <a:chExt cx="6925307" cy="1461005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804766" y="4924035"/>
                <a:ext cx="5837005" cy="461665"/>
              </a:xfrm>
              <a:prstGeom prst="rect">
                <a:avLst/>
              </a:prstGeom>
              <a:solidFill>
                <a:srgbClr val="E70050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共情，让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自己成长，照顾理解对方的</a:t>
                </a:r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感受。</a:t>
                </a:r>
                <a:endPara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804767" y="5735751"/>
                <a:ext cx="5837004" cy="461665"/>
              </a:xfrm>
              <a:prstGeom prst="rect">
                <a:avLst/>
              </a:prstGeom>
              <a:solidFill>
                <a:srgbClr val="E70050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缺乏共情能力，情感冷漠，不利情感经营。</a:t>
                </a:r>
                <a:endPara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心形 14"/>
              <p:cNvSpPr/>
              <p:nvPr/>
            </p:nvSpPr>
            <p:spPr bwMode="auto">
              <a:xfrm>
                <a:off x="716464" y="4861000"/>
                <a:ext cx="665163" cy="649288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dirty="0" smtClean="0">
                    <a:latin typeface="+mn-ea"/>
                  </a:rPr>
                  <a:t>√</a:t>
                </a:r>
                <a:endParaRPr lang="zh-CN" altLang="en-US" sz="3600" b="1" dirty="0">
                  <a:latin typeface="+mn-ea"/>
                </a:endParaRPr>
              </a:p>
            </p:txBody>
          </p:sp>
          <p:sp>
            <p:nvSpPr>
              <p:cNvPr id="16" name="心形 15"/>
              <p:cNvSpPr/>
              <p:nvPr/>
            </p:nvSpPr>
            <p:spPr bwMode="auto">
              <a:xfrm>
                <a:off x="716464" y="5672717"/>
                <a:ext cx="665163" cy="649288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dirty="0">
                    <a:latin typeface="+mn-ea"/>
                  </a:rPr>
                  <a:t>×</a:t>
                </a:r>
                <a:endParaRPr lang="zh-CN" altLang="en-US" sz="3600" b="1" dirty="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0331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1115583" y="1392634"/>
            <a:ext cx="7382139" cy="1161069"/>
          </a:xfrm>
          <a:prstGeom prst="rect">
            <a:avLst/>
          </a:prstGeom>
          <a:noFill/>
        </p:spPr>
        <p:txBody>
          <a:bodyPr wrap="square" lIns="72000" tIns="72000" rIns="72000" bIns="72000" rtlCol="0" anchor="ctr" anchorCtr="0">
            <a:spAutoFit/>
          </a:bodyPr>
          <a:lstStyle/>
          <a:p>
            <a:pPr indent="-271463" algn="just">
              <a:lnSpc>
                <a:spcPct val="150000"/>
              </a:lnSpc>
              <a:tabLst>
                <a:tab pos="271463" algn="l"/>
              </a:tabLst>
            </a:pPr>
            <a:r>
              <a:rPr lang="zh-CN" altLang="en-US" sz="2400" b="1" dirty="0">
                <a:solidFill>
                  <a:srgbClr val="E70050"/>
                </a:solidFill>
                <a:latin typeface="+mn-ea"/>
              </a:rPr>
              <a:t>关注</a:t>
            </a:r>
            <a:endParaRPr lang="en-US" altLang="zh-CN" sz="2400" b="1" dirty="0">
              <a:solidFill>
                <a:srgbClr val="E70050"/>
              </a:solidFill>
              <a:latin typeface="+mn-ea"/>
            </a:endParaRPr>
          </a:p>
          <a:p>
            <a:pPr>
              <a:lnSpc>
                <a:spcPct val="150000"/>
              </a:lnSpc>
              <a:tabLst>
                <a:tab pos="358775" algn="l"/>
              </a:tabLst>
            </a:pPr>
            <a:r>
              <a:rPr lang="zh-CN" altLang="en-US" sz="2000" b="1" dirty="0" smtClean="0">
                <a:latin typeface="+mn-ea"/>
              </a:rPr>
              <a:t>时刻关注对方感受是否良好。</a:t>
            </a:r>
            <a:endParaRPr lang="zh-CN" altLang="en-US" sz="2000" b="1" dirty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88342" y="798261"/>
            <a:ext cx="7567316" cy="5500939"/>
            <a:chOff x="810345" y="798261"/>
            <a:chExt cx="7567316" cy="5500939"/>
          </a:xfrm>
        </p:grpSpPr>
        <p:sp>
          <p:nvSpPr>
            <p:cNvPr id="9" name="文本框 8"/>
            <p:cNvSpPr txBox="1"/>
            <p:nvPr/>
          </p:nvSpPr>
          <p:spPr>
            <a:xfrm>
              <a:off x="810345" y="798261"/>
              <a:ext cx="3274296" cy="523220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sz="2800" dirty="0"/>
                <a:t>共情的两个基本功</a:t>
              </a: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1137586" y="2063791"/>
              <a:ext cx="72000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1348481" y="4139270"/>
              <a:ext cx="4943398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人物：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ts val="1200"/>
                </a:spcBef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时间：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ts val="1200"/>
                </a:spcBef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地点：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ts val="1200"/>
                </a:spcBef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情绪：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ts val="1200"/>
                </a:spcBef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求证：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228271" y="3326377"/>
              <a:ext cx="49433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随身携带一个笔记本和一支笔。</a:t>
              </a:r>
              <a:endPara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1177661" y="3210633"/>
              <a:ext cx="7200000" cy="3088567"/>
              <a:chOff x="663435" y="4563459"/>
              <a:chExt cx="7824735" cy="1783873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663435" y="5024450"/>
                <a:ext cx="7824735" cy="1322882"/>
                <a:chOff x="522986" y="1567830"/>
                <a:chExt cx="6851215" cy="1322894"/>
              </a:xfr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3" name="任意多边形 42"/>
                <p:cNvSpPr/>
                <p:nvPr/>
              </p:nvSpPr>
              <p:spPr>
                <a:xfrm>
                  <a:off x="522986" y="1567830"/>
                  <a:ext cx="6851215" cy="1322894"/>
                </a:xfrm>
                <a:custGeom>
                  <a:avLst/>
                  <a:gdLst>
                    <a:gd name="connsiteX0" fmla="*/ 82198 w 6703360"/>
                    <a:gd name="connsiteY0" fmla="*/ 0 h 1322881"/>
                    <a:gd name="connsiteX1" fmla="*/ 6703360 w 6703360"/>
                    <a:gd name="connsiteY1" fmla="*/ 0 h 1322881"/>
                    <a:gd name="connsiteX2" fmla="*/ 6703360 w 6703360"/>
                    <a:gd name="connsiteY2" fmla="*/ 1322881 h 1322881"/>
                    <a:gd name="connsiteX3" fmla="*/ 0 w 6703360"/>
                    <a:gd name="connsiteY3" fmla="*/ 1322881 h 1322881"/>
                    <a:gd name="connsiteX4" fmla="*/ 0 w 6703360"/>
                    <a:gd name="connsiteY4" fmla="*/ 331402 h 1322881"/>
                    <a:gd name="connsiteX5" fmla="*/ 0 w 6703360"/>
                    <a:gd name="connsiteY5" fmla="*/ 140963 h 1322881"/>
                    <a:gd name="connsiteX6" fmla="*/ 0 w 6703360"/>
                    <a:gd name="connsiteY6" fmla="*/ 66282 h 1322881"/>
                    <a:gd name="connsiteX7" fmla="*/ 82198 w 6703360"/>
                    <a:gd name="connsiteY7" fmla="*/ 0 h 1322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703360" h="1322881">
                      <a:moveTo>
                        <a:pt x="82198" y="0"/>
                      </a:moveTo>
                      <a:lnTo>
                        <a:pt x="6703360" y="0"/>
                      </a:lnTo>
                      <a:lnTo>
                        <a:pt x="6703360" y="1322881"/>
                      </a:lnTo>
                      <a:lnTo>
                        <a:pt x="0" y="1322881"/>
                      </a:lnTo>
                      <a:lnTo>
                        <a:pt x="0" y="331402"/>
                      </a:lnTo>
                      <a:lnTo>
                        <a:pt x="0" y="140963"/>
                      </a:lnTo>
                      <a:lnTo>
                        <a:pt x="0" y="66282"/>
                      </a:lnTo>
                      <a:cubicBezTo>
                        <a:pt x="0" y="29675"/>
                        <a:pt x="36801" y="0"/>
                        <a:pt x="82198" y="0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4" name="直接连接符 43"/>
                <p:cNvCxnSpPr/>
                <p:nvPr/>
              </p:nvCxnSpPr>
              <p:spPr>
                <a:xfrm>
                  <a:off x="1534923" y="2539780"/>
                  <a:ext cx="5594745" cy="950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>
                  <a:off x="1534923" y="2288547"/>
                  <a:ext cx="5594745" cy="950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/>
                <p:nvPr/>
              </p:nvCxnSpPr>
              <p:spPr>
                <a:xfrm>
                  <a:off x="1534923" y="2037315"/>
                  <a:ext cx="5594745" cy="950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>
                <a:xfrm>
                  <a:off x="1534923" y="1786083"/>
                  <a:ext cx="5594745" cy="950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>
                  <a:off x="1534923" y="2791012"/>
                  <a:ext cx="5594745" cy="9503"/>
                </a:xfrm>
                <a:prstGeom prst="line">
                  <a:avLst/>
                </a:prstGeom>
                <a:grpFill/>
                <a:ln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矩形 41"/>
              <p:cNvSpPr/>
              <p:nvPr/>
            </p:nvSpPr>
            <p:spPr>
              <a:xfrm>
                <a:off x="663435" y="4563459"/>
                <a:ext cx="1025083" cy="29758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 kern="1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练习</a:t>
                </a:r>
                <a:endPara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312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19"/>
          <p:cNvGrpSpPr/>
          <p:nvPr/>
        </p:nvGrpSpPr>
        <p:grpSpPr>
          <a:xfrm>
            <a:off x="938534" y="512668"/>
            <a:ext cx="7291066" cy="1161069"/>
            <a:chOff x="1137586" y="1394411"/>
            <a:chExt cx="7291066" cy="1161069"/>
          </a:xfrm>
        </p:grpSpPr>
        <p:sp>
          <p:nvSpPr>
            <p:cNvPr id="35" name="文本框 34"/>
            <p:cNvSpPr txBox="1"/>
            <p:nvPr/>
          </p:nvSpPr>
          <p:spPr>
            <a:xfrm>
              <a:off x="1177661" y="1394411"/>
              <a:ext cx="6442339" cy="1161069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ctr" anchorCtr="0">
              <a:spAutoFit/>
            </a:bodyPr>
            <a:lstStyle/>
            <a:p>
              <a:pPr indent="-271463" algn="just">
                <a:lnSpc>
                  <a:spcPct val="150000"/>
                </a:lnSpc>
                <a:tabLst>
                  <a:tab pos="271463" algn="l"/>
                </a:tabLst>
              </a:pPr>
              <a:r>
                <a:rPr lang="zh-CN" altLang="en-US" sz="2400" b="1" dirty="0">
                  <a:solidFill>
                    <a:srgbClr val="E70050"/>
                  </a:solidFill>
                  <a:latin typeface="+mn-ea"/>
                </a:rPr>
                <a:t>认同</a:t>
              </a:r>
              <a:endParaRPr lang="en-US" altLang="zh-CN" sz="2400" b="1" dirty="0">
                <a:solidFill>
                  <a:srgbClr val="E70050"/>
                </a:solidFill>
                <a:latin typeface="+mn-ea"/>
              </a:endParaRPr>
            </a:p>
            <a:p>
              <a:pPr>
                <a:lnSpc>
                  <a:spcPct val="150000"/>
                </a:lnSpc>
                <a:tabLst>
                  <a:tab pos="358775" algn="l"/>
                </a:tabLst>
              </a:pPr>
              <a:r>
                <a:rPr lang="zh-CN" altLang="en-US" sz="2000" b="1" dirty="0" smtClean="0">
                  <a:latin typeface="+mn-ea"/>
                </a:rPr>
                <a:t>准确</a:t>
              </a:r>
              <a:r>
                <a:rPr lang="zh-CN" altLang="en-US" sz="2000" b="1" dirty="0">
                  <a:latin typeface="+mn-ea"/>
                </a:rPr>
                <a:t>地描述出对方的内心感受。</a:t>
              </a:r>
              <a:endParaRPr lang="zh-CN" altLang="en-US" sz="2000" b="1" dirty="0"/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1137586" y="2063791"/>
              <a:ext cx="7291066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文本框 111"/>
          <p:cNvSpPr txBox="1"/>
          <p:nvPr/>
        </p:nvSpPr>
        <p:spPr>
          <a:xfrm>
            <a:off x="1033354" y="4270865"/>
            <a:ext cx="733516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被陪练者说中的情绪马上就会减弱或消失。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陪练者对情绪描述越准确，负面情绪消失越快。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当所有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情绪说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对了，被陪练者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情绪完全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消失，以后再回忆起也不会有不好的情绪。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对于说对自己情绪的陪练者有亲切感，感觉对方理解自己。</a:t>
            </a:r>
          </a:p>
        </p:txBody>
      </p:sp>
      <p:grpSp>
        <p:nvGrpSpPr>
          <p:cNvPr id="124" name="组合 123"/>
          <p:cNvGrpSpPr/>
          <p:nvPr/>
        </p:nvGrpSpPr>
        <p:grpSpPr>
          <a:xfrm>
            <a:off x="938534" y="3132755"/>
            <a:ext cx="7429983" cy="524151"/>
            <a:chOff x="877433" y="3269784"/>
            <a:chExt cx="7536356" cy="524151"/>
          </a:xfrm>
        </p:grpSpPr>
        <p:grpSp>
          <p:nvGrpSpPr>
            <p:cNvPr id="74" name="组合 73"/>
            <p:cNvGrpSpPr/>
            <p:nvPr/>
          </p:nvGrpSpPr>
          <p:grpSpPr>
            <a:xfrm>
              <a:off x="877433" y="3269784"/>
              <a:ext cx="1469265" cy="524151"/>
              <a:chOff x="720620" y="1953898"/>
              <a:chExt cx="2000479" cy="524151"/>
            </a:xfrm>
          </p:grpSpPr>
          <p:sp>
            <p:nvSpPr>
              <p:cNvPr id="75" name="下箭头 74"/>
              <p:cNvSpPr/>
              <p:nvPr/>
            </p:nvSpPr>
            <p:spPr>
              <a:xfrm rot="16200000">
                <a:off x="2321787" y="2078737"/>
                <a:ext cx="524151" cy="274473"/>
              </a:xfrm>
              <a:prstGeom prst="downArrow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6" name="组合 75"/>
              <p:cNvGrpSpPr/>
              <p:nvPr/>
            </p:nvGrpSpPr>
            <p:grpSpPr>
              <a:xfrm>
                <a:off x="720620" y="1956152"/>
                <a:ext cx="1769051" cy="506492"/>
                <a:chOff x="1242522" y="2224451"/>
                <a:chExt cx="1769051" cy="506492"/>
              </a:xfrm>
            </p:grpSpPr>
            <p:grpSp>
              <p:nvGrpSpPr>
                <p:cNvPr id="77" name="组合 76"/>
                <p:cNvGrpSpPr/>
                <p:nvPr/>
              </p:nvGrpSpPr>
              <p:grpSpPr>
                <a:xfrm>
                  <a:off x="1242522" y="2224451"/>
                  <a:ext cx="1754984" cy="506492"/>
                  <a:chOff x="1242522" y="2224451"/>
                  <a:chExt cx="1754984" cy="506492"/>
                </a:xfrm>
              </p:grpSpPr>
              <p:sp>
                <p:nvSpPr>
                  <p:cNvPr id="80" name="矩形 79"/>
                  <p:cNvSpPr/>
                  <p:nvPr/>
                </p:nvSpPr>
                <p:spPr>
                  <a:xfrm>
                    <a:off x="1256590" y="2224451"/>
                    <a:ext cx="1740916" cy="506492"/>
                  </a:xfrm>
                  <a:prstGeom prst="rect">
                    <a:avLst/>
                  </a:prstGeom>
                  <a:solidFill>
                    <a:srgbClr val="E70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81" name="矩形 80"/>
                  <p:cNvSpPr/>
                  <p:nvPr/>
                </p:nvSpPr>
                <p:spPr>
                  <a:xfrm>
                    <a:off x="1242522" y="2276621"/>
                    <a:ext cx="1754984" cy="369332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b="1" kern="1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深呼吸</a:t>
                    </a:r>
                    <a:endParaRPr lang="zh-CN" altLang="en-US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78" name="直接连接符 77"/>
                <p:cNvCxnSpPr/>
                <p:nvPr/>
              </p:nvCxnSpPr>
              <p:spPr>
                <a:xfrm>
                  <a:off x="1242522" y="2276621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/>
              </p:nvCxnSpPr>
              <p:spPr>
                <a:xfrm>
                  <a:off x="1256590" y="2676731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8" name="组合 87"/>
            <p:cNvGrpSpPr/>
            <p:nvPr/>
          </p:nvGrpSpPr>
          <p:grpSpPr>
            <a:xfrm>
              <a:off x="2392707" y="3269784"/>
              <a:ext cx="1456201" cy="524151"/>
              <a:chOff x="2720257" y="1953897"/>
              <a:chExt cx="1982690" cy="524151"/>
            </a:xfrm>
          </p:grpSpPr>
          <p:grpSp>
            <p:nvGrpSpPr>
              <p:cNvPr id="89" name="组合 88"/>
              <p:cNvGrpSpPr/>
              <p:nvPr/>
            </p:nvGrpSpPr>
            <p:grpSpPr>
              <a:xfrm>
                <a:off x="2720257" y="1956152"/>
                <a:ext cx="1769051" cy="506492"/>
                <a:chOff x="1242522" y="3272029"/>
                <a:chExt cx="1769051" cy="506492"/>
              </a:xfrm>
            </p:grpSpPr>
            <p:grpSp>
              <p:nvGrpSpPr>
                <p:cNvPr id="91" name="组合 90"/>
                <p:cNvGrpSpPr/>
                <p:nvPr/>
              </p:nvGrpSpPr>
              <p:grpSpPr>
                <a:xfrm>
                  <a:off x="1242522" y="3272029"/>
                  <a:ext cx="1754984" cy="506492"/>
                  <a:chOff x="1242522" y="3272029"/>
                  <a:chExt cx="1754984" cy="506492"/>
                </a:xfrm>
              </p:grpSpPr>
              <p:sp>
                <p:nvSpPr>
                  <p:cNvPr id="94" name="矩形 93"/>
                  <p:cNvSpPr/>
                  <p:nvPr/>
                </p:nvSpPr>
                <p:spPr>
                  <a:xfrm>
                    <a:off x="1256590" y="3272029"/>
                    <a:ext cx="1740916" cy="506492"/>
                  </a:xfrm>
                  <a:prstGeom prst="rect">
                    <a:avLst/>
                  </a:prstGeom>
                  <a:solidFill>
                    <a:srgbClr val="E70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>
                  <a:xfrm>
                    <a:off x="1242522" y="3325220"/>
                    <a:ext cx="1754983" cy="369332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放松身心</a:t>
                    </a:r>
                    <a:endParaRPr lang="zh-CN" altLang="en-US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92" name="直接连接符 91"/>
                <p:cNvCxnSpPr/>
                <p:nvPr/>
              </p:nvCxnSpPr>
              <p:spPr>
                <a:xfrm>
                  <a:off x="1242522" y="3325220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/>
                <p:nvPr/>
              </p:nvCxnSpPr>
              <p:spPr>
                <a:xfrm>
                  <a:off x="1256590" y="3725330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0" name="下箭头 89"/>
              <p:cNvSpPr/>
              <p:nvPr/>
            </p:nvSpPr>
            <p:spPr>
              <a:xfrm rot="16200000">
                <a:off x="4303635" y="2078736"/>
                <a:ext cx="524151" cy="274473"/>
              </a:xfrm>
              <a:prstGeom prst="downArrow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1" name="组合 120"/>
            <p:cNvGrpSpPr/>
            <p:nvPr/>
          </p:nvGrpSpPr>
          <p:grpSpPr>
            <a:xfrm>
              <a:off x="3894917" y="3269784"/>
              <a:ext cx="1481419" cy="524151"/>
              <a:chOff x="4790218" y="3282262"/>
              <a:chExt cx="2017027" cy="524151"/>
            </a:xfrm>
          </p:grpSpPr>
          <p:grpSp>
            <p:nvGrpSpPr>
              <p:cNvPr id="97" name="组合 96"/>
              <p:cNvGrpSpPr/>
              <p:nvPr/>
            </p:nvGrpSpPr>
            <p:grpSpPr>
              <a:xfrm>
                <a:off x="4790218" y="3285624"/>
                <a:ext cx="1787684" cy="506492"/>
                <a:chOff x="1209822" y="4319607"/>
                <a:chExt cx="1787684" cy="506492"/>
              </a:xfrm>
            </p:grpSpPr>
            <p:grpSp>
              <p:nvGrpSpPr>
                <p:cNvPr id="99" name="组合 98"/>
                <p:cNvGrpSpPr/>
                <p:nvPr/>
              </p:nvGrpSpPr>
              <p:grpSpPr>
                <a:xfrm>
                  <a:off x="1209822" y="4319607"/>
                  <a:ext cx="1787684" cy="506492"/>
                  <a:chOff x="1209822" y="4319607"/>
                  <a:chExt cx="1787684" cy="506492"/>
                </a:xfrm>
              </p:grpSpPr>
              <p:sp>
                <p:nvSpPr>
                  <p:cNvPr id="102" name="矩形 101"/>
                  <p:cNvSpPr/>
                  <p:nvPr/>
                </p:nvSpPr>
                <p:spPr>
                  <a:xfrm>
                    <a:off x="1256590" y="4319607"/>
                    <a:ext cx="1740916" cy="506492"/>
                  </a:xfrm>
                  <a:prstGeom prst="rect">
                    <a:avLst/>
                  </a:prstGeom>
                  <a:solidFill>
                    <a:srgbClr val="E70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03" name="矩形 102"/>
                  <p:cNvSpPr/>
                  <p:nvPr/>
                </p:nvSpPr>
                <p:spPr>
                  <a:xfrm>
                    <a:off x="1209822" y="4370544"/>
                    <a:ext cx="1787683" cy="369332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寻找记忆</a:t>
                    </a:r>
                    <a:endParaRPr lang="zh-CN" altLang="en-US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100" name="直接连接符 99"/>
                <p:cNvCxnSpPr/>
                <p:nvPr/>
              </p:nvCxnSpPr>
              <p:spPr>
                <a:xfrm>
                  <a:off x="1228454" y="4370544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/>
                <p:cNvCxnSpPr/>
                <p:nvPr/>
              </p:nvCxnSpPr>
              <p:spPr>
                <a:xfrm>
                  <a:off x="1242522" y="4770654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下箭头 97"/>
              <p:cNvSpPr/>
              <p:nvPr/>
            </p:nvSpPr>
            <p:spPr>
              <a:xfrm rot="16200000">
                <a:off x="6407933" y="3407101"/>
                <a:ext cx="524151" cy="274473"/>
              </a:xfrm>
              <a:prstGeom prst="downArrow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6949773" y="3278613"/>
              <a:ext cx="1464016" cy="506492"/>
              <a:chOff x="1228454" y="5367185"/>
              <a:chExt cx="1783119" cy="506492"/>
            </a:xfrm>
          </p:grpSpPr>
          <p:grpSp>
            <p:nvGrpSpPr>
              <p:cNvPr id="107" name="组合 106"/>
              <p:cNvGrpSpPr/>
              <p:nvPr/>
            </p:nvGrpSpPr>
            <p:grpSpPr>
              <a:xfrm>
                <a:off x="1228454" y="5367185"/>
                <a:ext cx="1769052" cy="506492"/>
                <a:chOff x="1228454" y="5367185"/>
                <a:chExt cx="1769052" cy="506492"/>
              </a:xfrm>
            </p:grpSpPr>
            <p:sp>
              <p:nvSpPr>
                <p:cNvPr id="110" name="矩形 109"/>
                <p:cNvSpPr/>
                <p:nvPr/>
              </p:nvSpPr>
              <p:spPr>
                <a:xfrm>
                  <a:off x="1256590" y="5367185"/>
                  <a:ext cx="1740916" cy="506492"/>
                </a:xfrm>
                <a:prstGeom prst="rect">
                  <a:avLst/>
                </a:prstGeom>
                <a:solidFill>
                  <a:srgbClr val="E70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rgbClr val="FFFF00"/>
                    </a:solidFill>
                  </a:endParaRPr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>
                  <a:off x="1228454" y="5420376"/>
                  <a:ext cx="1769051" cy="40011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CN" altLang="en-US" sz="2000" b="1" dirty="0">
                      <a:solidFill>
                        <a:srgbClr val="FFFF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验证</a:t>
                  </a:r>
                  <a:r>
                    <a:rPr lang="zh-CN" altLang="en-US" sz="2000" b="1" dirty="0" smtClean="0">
                      <a:solidFill>
                        <a:srgbClr val="FFFF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情绪</a:t>
                  </a:r>
                  <a:endParaRPr lang="zh-CN" altLang="en-US" sz="2000" b="1" dirty="0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108" name="直接连接符 107"/>
              <p:cNvCxnSpPr/>
              <p:nvPr/>
            </p:nvCxnSpPr>
            <p:spPr>
              <a:xfrm>
                <a:off x="1242522" y="5420376"/>
                <a:ext cx="1754983" cy="0"/>
              </a:xfrm>
              <a:prstGeom prst="line">
                <a:avLst/>
              </a:prstGeom>
              <a:ln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1256590" y="5820486"/>
                <a:ext cx="1754983" cy="0"/>
              </a:xfrm>
              <a:prstGeom prst="line">
                <a:avLst/>
              </a:prstGeom>
              <a:ln>
                <a:solidFill>
                  <a:schemeClr val="bg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组合 121"/>
            <p:cNvGrpSpPr/>
            <p:nvPr/>
          </p:nvGrpSpPr>
          <p:grpSpPr>
            <a:xfrm>
              <a:off x="5422345" y="3269784"/>
              <a:ext cx="1481419" cy="524151"/>
              <a:chOff x="6873018" y="3282262"/>
              <a:chExt cx="2017027" cy="524151"/>
            </a:xfrm>
          </p:grpSpPr>
          <p:grpSp>
            <p:nvGrpSpPr>
              <p:cNvPr id="113" name="组合 112"/>
              <p:cNvGrpSpPr/>
              <p:nvPr/>
            </p:nvGrpSpPr>
            <p:grpSpPr>
              <a:xfrm>
                <a:off x="6873018" y="3285624"/>
                <a:ext cx="1787684" cy="506492"/>
                <a:chOff x="1209822" y="4319607"/>
                <a:chExt cx="1787684" cy="506492"/>
              </a:xfrm>
            </p:grpSpPr>
            <p:grpSp>
              <p:nvGrpSpPr>
                <p:cNvPr id="114" name="组合 113"/>
                <p:cNvGrpSpPr/>
                <p:nvPr/>
              </p:nvGrpSpPr>
              <p:grpSpPr>
                <a:xfrm>
                  <a:off x="1209822" y="4319607"/>
                  <a:ext cx="1787684" cy="506492"/>
                  <a:chOff x="1209822" y="4319607"/>
                  <a:chExt cx="1787684" cy="506492"/>
                </a:xfrm>
              </p:grpSpPr>
              <p:sp>
                <p:nvSpPr>
                  <p:cNvPr id="117" name="矩形 116"/>
                  <p:cNvSpPr/>
                  <p:nvPr/>
                </p:nvSpPr>
                <p:spPr>
                  <a:xfrm>
                    <a:off x="1256590" y="4319607"/>
                    <a:ext cx="1740916" cy="506492"/>
                  </a:xfrm>
                  <a:prstGeom prst="rect">
                    <a:avLst/>
                  </a:prstGeom>
                  <a:solidFill>
                    <a:srgbClr val="E70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>
                  <a:xfrm>
                    <a:off x="1209822" y="4370544"/>
                    <a:ext cx="1787683" cy="369332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b="1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体会情绪</a:t>
                    </a:r>
                    <a:endParaRPr lang="zh-CN" altLang="en-US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115" name="直接连接符 114"/>
                <p:cNvCxnSpPr/>
                <p:nvPr/>
              </p:nvCxnSpPr>
              <p:spPr>
                <a:xfrm>
                  <a:off x="1228454" y="4370544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连接符 115"/>
                <p:cNvCxnSpPr/>
                <p:nvPr/>
              </p:nvCxnSpPr>
              <p:spPr>
                <a:xfrm>
                  <a:off x="1242522" y="4770654"/>
                  <a:ext cx="1754983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9" name="下箭头 118"/>
              <p:cNvSpPr/>
              <p:nvPr/>
            </p:nvSpPr>
            <p:spPr>
              <a:xfrm rot="16200000">
                <a:off x="8490733" y="3407101"/>
                <a:ext cx="524151" cy="274473"/>
              </a:xfrm>
              <a:prstGeom prst="downArrow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25" name="矩形 124"/>
          <p:cNvSpPr/>
          <p:nvPr/>
        </p:nvSpPr>
        <p:spPr>
          <a:xfrm>
            <a:off x="938534" y="2201040"/>
            <a:ext cx="943239" cy="51523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练习</a:t>
            </a:r>
            <a:endParaRPr lang="zh-CN" altLang="en-US" sz="24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938533" y="4115243"/>
            <a:ext cx="7524805" cy="185012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92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0"/>
            <a:ext cx="9183904" cy="1447800"/>
          </a:xfrm>
          <a:custGeom>
            <a:avLst/>
            <a:gdLst>
              <a:gd name="connsiteX0" fmla="*/ 0 w 9183904"/>
              <a:gd name="connsiteY0" fmla="*/ 0 h 1683656"/>
              <a:gd name="connsiteX1" fmla="*/ 9183904 w 9183904"/>
              <a:gd name="connsiteY1" fmla="*/ 0 h 1683656"/>
              <a:gd name="connsiteX2" fmla="*/ 9183904 w 9183904"/>
              <a:gd name="connsiteY2" fmla="*/ 1246690 h 1683656"/>
              <a:gd name="connsiteX3" fmla="*/ 5015915 w 9183904"/>
              <a:gd name="connsiteY3" fmla="*/ 1246690 h 1683656"/>
              <a:gd name="connsiteX4" fmla="*/ 4937296 w 9183904"/>
              <a:gd name="connsiteY4" fmla="*/ 1356350 h 1683656"/>
              <a:gd name="connsiteX5" fmla="*/ 4591952 w 9183904"/>
              <a:gd name="connsiteY5" fmla="*/ 1683656 h 1683656"/>
              <a:gd name="connsiteX6" fmla="*/ 4246609 w 9183904"/>
              <a:gd name="connsiteY6" fmla="*/ 1356350 h 1683656"/>
              <a:gd name="connsiteX7" fmla="*/ 4167989 w 9183904"/>
              <a:gd name="connsiteY7" fmla="*/ 1246690 h 1683656"/>
              <a:gd name="connsiteX8" fmla="*/ 0 w 9183904"/>
              <a:gd name="connsiteY8" fmla="*/ 1246690 h 168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83904" h="1683656">
                <a:moveTo>
                  <a:pt x="0" y="0"/>
                </a:moveTo>
                <a:lnTo>
                  <a:pt x="9183904" y="0"/>
                </a:lnTo>
                <a:lnTo>
                  <a:pt x="9183904" y="1246690"/>
                </a:lnTo>
                <a:lnTo>
                  <a:pt x="5015915" y="1246690"/>
                </a:lnTo>
                <a:lnTo>
                  <a:pt x="4937296" y="1356350"/>
                </a:lnTo>
                <a:cubicBezTo>
                  <a:pt x="4851344" y="1460743"/>
                  <a:pt x="4738047" y="1570630"/>
                  <a:pt x="4591952" y="1683656"/>
                </a:cubicBezTo>
                <a:cubicBezTo>
                  <a:pt x="4445858" y="1570630"/>
                  <a:pt x="4332560" y="1460743"/>
                  <a:pt x="4246609" y="1356350"/>
                </a:cubicBezTo>
                <a:lnTo>
                  <a:pt x="4167989" y="1246690"/>
                </a:lnTo>
                <a:lnTo>
                  <a:pt x="0" y="1246690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32900" y="159657"/>
            <a:ext cx="5118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 spc="3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六种句型成述情高手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490012" y="2753383"/>
            <a:ext cx="1888499" cy="2943374"/>
            <a:chOff x="3490012" y="2448583"/>
            <a:chExt cx="1888499" cy="2943374"/>
          </a:xfrm>
        </p:grpSpPr>
        <p:sp>
          <p:nvSpPr>
            <p:cNvPr id="5" name="文本框 4"/>
            <p:cNvSpPr txBox="1"/>
            <p:nvPr/>
          </p:nvSpPr>
          <p:spPr>
            <a:xfrm>
              <a:off x="4232962" y="2542057"/>
              <a:ext cx="1119477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3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接纳</a:t>
              </a:r>
              <a:endParaRPr lang="en-US" altLang="zh-CN" sz="2300" b="1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232962" y="3334874"/>
              <a:ext cx="1035379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232963" y="4920508"/>
              <a:ext cx="1025372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启发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232963" y="4127691"/>
              <a:ext cx="1039060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CN" altLang="en-US" sz="23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肯定</a:t>
              </a: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3490012" y="2448583"/>
              <a:ext cx="539750" cy="539750"/>
              <a:chOff x="883730" y="1940732"/>
              <a:chExt cx="539750" cy="539750"/>
            </a:xfrm>
          </p:grpSpPr>
          <p:sp>
            <p:nvSpPr>
              <p:cNvPr id="35" name="心形 34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6" name="心形 35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cxnSp>
          <p:nvCxnSpPr>
            <p:cNvPr id="38" name="直接连接符 37"/>
            <p:cNvCxnSpPr/>
            <p:nvPr/>
          </p:nvCxnSpPr>
          <p:spPr>
            <a:xfrm>
              <a:off x="3766237" y="3015693"/>
              <a:ext cx="1612274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3766237" y="3807781"/>
              <a:ext cx="1612274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3766237" y="4599869"/>
              <a:ext cx="1612274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3766237" y="5391957"/>
              <a:ext cx="1612274" cy="0"/>
            </a:xfrm>
            <a:prstGeom prst="line">
              <a:avLst/>
            </a:prstGeom>
            <a:ln w="6350">
              <a:solidFill>
                <a:schemeClr val="bg1">
                  <a:lumMod val="50000"/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/>
            <p:nvPr/>
          </p:nvGrpSpPr>
          <p:grpSpPr>
            <a:xfrm>
              <a:off x="3490012" y="3241789"/>
              <a:ext cx="539750" cy="539750"/>
              <a:chOff x="883730" y="1940732"/>
              <a:chExt cx="539750" cy="539750"/>
            </a:xfrm>
          </p:grpSpPr>
          <p:sp>
            <p:nvSpPr>
              <p:cNvPr id="45" name="心形 44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6" name="心形 45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3490012" y="4034995"/>
              <a:ext cx="539750" cy="539750"/>
              <a:chOff x="883730" y="1940732"/>
              <a:chExt cx="539750" cy="539750"/>
            </a:xfrm>
          </p:grpSpPr>
          <p:sp>
            <p:nvSpPr>
              <p:cNvPr id="48" name="心形 47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" name="心形 48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3490012" y="4828201"/>
              <a:ext cx="539750" cy="539750"/>
              <a:chOff x="883730" y="1940732"/>
              <a:chExt cx="539750" cy="539750"/>
            </a:xfrm>
          </p:grpSpPr>
          <p:sp>
            <p:nvSpPr>
              <p:cNvPr id="51" name="心形 50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2" name="心形 51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5209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1909624" y="1620000"/>
            <a:ext cx="5324753" cy="4680000"/>
            <a:chOff x="1365768" y="610998"/>
            <a:chExt cx="6412464" cy="5636004"/>
          </a:xfrm>
        </p:grpSpPr>
        <p:sp>
          <p:nvSpPr>
            <p:cNvPr id="3" name="正五边形 2"/>
            <p:cNvSpPr/>
            <p:nvPr/>
          </p:nvSpPr>
          <p:spPr>
            <a:xfrm>
              <a:off x="3744984" y="2654392"/>
              <a:ext cx="2875473" cy="1522110"/>
            </a:xfrm>
            <a:custGeom>
              <a:avLst/>
              <a:gdLst>
                <a:gd name="connsiteX0" fmla="*/ 2 w 1598219"/>
                <a:gd name="connsiteY0" fmla="*/ 581394 h 1522114"/>
                <a:gd name="connsiteX1" fmla="*/ 799110 w 1598219"/>
                <a:gd name="connsiteY1" fmla="*/ 0 h 1522114"/>
                <a:gd name="connsiteX2" fmla="*/ 1598217 w 1598219"/>
                <a:gd name="connsiteY2" fmla="*/ 581394 h 1522114"/>
                <a:gd name="connsiteX3" fmla="*/ 1292985 w 1598219"/>
                <a:gd name="connsiteY3" fmla="*/ 1522110 h 1522114"/>
                <a:gd name="connsiteX4" fmla="*/ 305234 w 1598219"/>
                <a:gd name="connsiteY4" fmla="*/ 1522110 h 1522114"/>
                <a:gd name="connsiteX5" fmla="*/ 2 w 1598219"/>
                <a:gd name="connsiteY5" fmla="*/ 581394 h 1522114"/>
                <a:gd name="connsiteX0" fmla="*/ 0 w 2875473"/>
                <a:gd name="connsiteY0" fmla="*/ 581394 h 1522110"/>
                <a:gd name="connsiteX1" fmla="*/ 799108 w 2875473"/>
                <a:gd name="connsiteY1" fmla="*/ 0 h 1522110"/>
                <a:gd name="connsiteX2" fmla="*/ 2875473 w 2875473"/>
                <a:gd name="connsiteY2" fmla="*/ 305623 h 1522110"/>
                <a:gd name="connsiteX3" fmla="*/ 1292983 w 2875473"/>
                <a:gd name="connsiteY3" fmla="*/ 1522110 h 1522110"/>
                <a:gd name="connsiteX4" fmla="*/ 305232 w 2875473"/>
                <a:gd name="connsiteY4" fmla="*/ 1522110 h 1522110"/>
                <a:gd name="connsiteX5" fmla="*/ 0 w 2875473"/>
                <a:gd name="connsiteY5" fmla="*/ 581394 h 1522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5473" h="1522110">
                  <a:moveTo>
                    <a:pt x="0" y="581394"/>
                  </a:moveTo>
                  <a:lnTo>
                    <a:pt x="799108" y="0"/>
                  </a:lnTo>
                  <a:lnTo>
                    <a:pt x="2875473" y="305623"/>
                  </a:lnTo>
                  <a:lnTo>
                    <a:pt x="1292983" y="1522110"/>
                  </a:lnTo>
                  <a:lnTo>
                    <a:pt x="305232" y="1522110"/>
                  </a:lnTo>
                  <a:lnTo>
                    <a:pt x="0" y="581394"/>
                  </a:lnTo>
                  <a:close/>
                </a:path>
              </a:pathLst>
            </a:cu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4092686" y="61099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</a:rPr>
                <a:t>影响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875421" y="261167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rgbClr val="E70050"/>
                  </a:solidFill>
                </a:rPr>
                <a:t>允许</a:t>
              </a:r>
              <a:endParaRPr lang="zh-CN" altLang="en-US" sz="2800" b="1" dirty="0">
                <a:solidFill>
                  <a:srgbClr val="E70050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841469" y="5723782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</a:rPr>
                <a:t>述情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280182" y="5723782"/>
              <a:ext cx="16209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</a:rPr>
                <a:t>情绪管理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65768" y="261167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bg1">
                      <a:lumMod val="50000"/>
                    </a:schemeClr>
                  </a:solidFill>
                </a:rPr>
                <a:t>共情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169632" y="3092290"/>
              <a:ext cx="74892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400" dirty="0" smtClean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rPr>
                <a:t>爱</a:t>
              </a:r>
              <a:endParaRPr lang="zh-CN" altLang="en-US" sz="4400" dirty="0">
                <a:solidFill>
                  <a:schemeClr val="bg1"/>
                </a:solidFill>
                <a:latin typeface="方正粗宋简体" panose="03000509000000000000" pitchFamily="65" charset="-122"/>
                <a:ea typeface="方正粗宋简体" panose="03000509000000000000" pitchFamily="65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4544090" y="1312670"/>
              <a:ext cx="2" cy="1606380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任意多边形 10"/>
            <p:cNvSpPr/>
            <p:nvPr/>
          </p:nvSpPr>
          <p:spPr>
            <a:xfrm>
              <a:off x="2336172" y="1312669"/>
              <a:ext cx="4415839" cy="4205560"/>
            </a:xfrm>
            <a:custGeom>
              <a:avLst/>
              <a:gdLst>
                <a:gd name="connsiteX0" fmla="*/ 1924047 w 3848092"/>
                <a:gd name="connsiteY0" fmla="*/ 222250 h 3664848"/>
                <a:gd name="connsiteX1" fmla="*/ 233363 w 3848092"/>
                <a:gd name="connsiteY1" fmla="*/ 1452314 h 3664848"/>
                <a:gd name="connsiteX2" fmla="*/ 879146 w 3848092"/>
                <a:gd name="connsiteY2" fmla="*/ 3442599 h 3664848"/>
                <a:gd name="connsiteX3" fmla="*/ 2968947 w 3848092"/>
                <a:gd name="connsiteY3" fmla="*/ 3442599 h 3664848"/>
                <a:gd name="connsiteX4" fmla="*/ 3614730 w 3848092"/>
                <a:gd name="connsiteY4" fmla="*/ 1452314 h 3664848"/>
                <a:gd name="connsiteX5" fmla="*/ 1924046 w 3848092"/>
                <a:gd name="connsiteY5" fmla="*/ 0 h 3664848"/>
                <a:gd name="connsiteX6" fmla="*/ 3848092 w 3848092"/>
                <a:gd name="connsiteY6" fmla="*/ 1399847 h 3664848"/>
                <a:gd name="connsiteX7" fmla="*/ 3113172 w 3848092"/>
                <a:gd name="connsiteY7" fmla="*/ 3664848 h 3664848"/>
                <a:gd name="connsiteX8" fmla="*/ 734920 w 3848092"/>
                <a:gd name="connsiteY8" fmla="*/ 3664848 h 3664848"/>
                <a:gd name="connsiteX9" fmla="*/ 0 w 3848092"/>
                <a:gd name="connsiteY9" fmla="*/ 1399847 h 366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48092" h="3664848">
                  <a:moveTo>
                    <a:pt x="1924047" y="222250"/>
                  </a:moveTo>
                  <a:lnTo>
                    <a:pt x="233363" y="1452314"/>
                  </a:lnTo>
                  <a:lnTo>
                    <a:pt x="879146" y="3442599"/>
                  </a:lnTo>
                  <a:lnTo>
                    <a:pt x="2968947" y="3442599"/>
                  </a:lnTo>
                  <a:lnTo>
                    <a:pt x="3614730" y="1452314"/>
                  </a:lnTo>
                  <a:close/>
                  <a:moveTo>
                    <a:pt x="1924046" y="0"/>
                  </a:moveTo>
                  <a:lnTo>
                    <a:pt x="3848092" y="1399847"/>
                  </a:lnTo>
                  <a:lnTo>
                    <a:pt x="3113172" y="3664848"/>
                  </a:lnTo>
                  <a:lnTo>
                    <a:pt x="734920" y="3664848"/>
                  </a:lnTo>
                  <a:lnTo>
                    <a:pt x="0" y="1399847"/>
                  </a:lnTo>
                  <a:close/>
                </a:path>
              </a:pathLst>
            </a:cu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>
              <a:off x="5234998" y="2943225"/>
              <a:ext cx="1403927" cy="319985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 flipV="1">
              <a:off x="4894479" y="3944175"/>
              <a:ext cx="944346" cy="1469200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flipV="1">
              <a:off x="3252788" y="3896493"/>
              <a:ext cx="968137" cy="1499420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11" idx="1"/>
            </p:cNvCxnSpPr>
            <p:nvPr/>
          </p:nvCxnSpPr>
          <p:spPr>
            <a:xfrm>
              <a:off x="2603965" y="2979258"/>
              <a:ext cx="1380582" cy="305356"/>
            </a:xfrm>
            <a:prstGeom prst="line">
              <a:avLst/>
            </a:prstGeom>
            <a:ln w="15875">
              <a:solidFill>
                <a:srgbClr val="E70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1020584" y="360000"/>
            <a:ext cx="7056481" cy="1178674"/>
            <a:chOff x="1020584" y="213402"/>
            <a:chExt cx="7056481" cy="1178674"/>
          </a:xfrm>
        </p:grpSpPr>
        <p:pic>
          <p:nvPicPr>
            <p:cNvPr id="17" name="Picture 12" descr="图片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0584" y="213402"/>
              <a:ext cx="7056481" cy="1178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矩形 17"/>
            <p:cNvSpPr/>
            <p:nvPr/>
          </p:nvSpPr>
          <p:spPr>
            <a:xfrm>
              <a:off x="1500932" y="399376"/>
              <a:ext cx="628127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0050"/>
                  </a:solidFill>
                  <a:latin typeface="+mj-ea"/>
                  <a:ea typeface="+mj-ea"/>
                </a:rPr>
                <a:t>允许</a:t>
              </a:r>
              <a:r>
                <a:rPr lang="zh-CN" altLang="en-US" sz="3200" b="1" dirty="0" smtClean="0">
                  <a:solidFill>
                    <a:srgbClr val="E70050"/>
                  </a:solidFill>
                  <a:latin typeface="+mj-ea"/>
                </a:rPr>
                <a:t>：</a:t>
              </a:r>
              <a:r>
                <a:rPr lang="zh-CN" altLang="en-US" sz="3200" dirty="0" smtClean="0">
                  <a:solidFill>
                    <a:srgbClr val="E70050"/>
                  </a:solidFill>
                  <a:latin typeface="+mj-ea"/>
                </a:rPr>
                <a:t>全然接受是真爱</a:t>
              </a:r>
              <a:endParaRPr lang="zh-CN" altLang="en-US" sz="3200" dirty="0">
                <a:solidFill>
                  <a:srgbClr val="E70050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215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095478" y="465033"/>
            <a:ext cx="2953044" cy="4611600"/>
            <a:chOff x="2562385" y="209936"/>
            <a:chExt cx="2953044" cy="4603786"/>
          </a:xfrm>
        </p:grpSpPr>
        <p:grpSp>
          <p:nvGrpSpPr>
            <p:cNvPr id="3" name="组合 2"/>
            <p:cNvGrpSpPr/>
            <p:nvPr/>
          </p:nvGrpSpPr>
          <p:grpSpPr>
            <a:xfrm>
              <a:off x="2562385" y="2897537"/>
              <a:ext cx="2953044" cy="1916185"/>
              <a:chOff x="2520735" y="2870985"/>
              <a:chExt cx="3418166" cy="2035143"/>
            </a:xfrm>
          </p:grpSpPr>
          <p:sp>
            <p:nvSpPr>
              <p:cNvPr id="5" name="等腰三角形 4"/>
              <p:cNvSpPr/>
              <p:nvPr/>
            </p:nvSpPr>
            <p:spPr>
              <a:xfrm rot="13563596">
                <a:off x="2158890" y="3232831"/>
                <a:ext cx="2035142" cy="1311451"/>
              </a:xfrm>
              <a:prstGeom prst="triangle">
                <a:avLst>
                  <a:gd name="adj" fmla="val 52242"/>
                </a:avLst>
              </a:prstGeom>
              <a:effectLst>
                <a:outerShdw blurRad="101600" dist="165100" dir="2580000" sx="107000" sy="107000" algn="ctr" rotWithShape="0">
                  <a:schemeClr val="tx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等腰三角形 5"/>
              <p:cNvSpPr/>
              <p:nvPr/>
            </p:nvSpPr>
            <p:spPr>
              <a:xfrm rot="8036404" flipH="1">
                <a:off x="4265605" y="3232830"/>
                <a:ext cx="2035142" cy="1311451"/>
              </a:xfrm>
              <a:prstGeom prst="triangle">
                <a:avLst>
                  <a:gd name="adj" fmla="val 52242"/>
                </a:avLst>
              </a:prstGeom>
              <a:effectLst>
                <a:outerShdw blurRad="101600" dist="165100" dir="2580000" sx="107000" sy="107000" algn="ctr" rotWithShape="0">
                  <a:schemeClr val="tx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4" name="Picture 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732622" y="209936"/>
              <a:ext cx="2655696" cy="3981599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  <a:extLst/>
          </p:spPr>
        </p:pic>
      </p:grpSp>
      <p:grpSp>
        <p:nvGrpSpPr>
          <p:cNvPr id="12" name="组合 11"/>
          <p:cNvGrpSpPr/>
          <p:nvPr/>
        </p:nvGrpSpPr>
        <p:grpSpPr>
          <a:xfrm>
            <a:off x="1310725" y="4931963"/>
            <a:ext cx="6522550" cy="1461005"/>
            <a:chOff x="857964" y="4835600"/>
            <a:chExt cx="6522550" cy="1461005"/>
          </a:xfrm>
        </p:grpSpPr>
        <p:sp>
          <p:nvSpPr>
            <p:cNvPr id="8" name="矩形 7"/>
            <p:cNvSpPr/>
            <p:nvPr/>
          </p:nvSpPr>
          <p:spPr>
            <a:xfrm>
              <a:off x="1906325" y="4898635"/>
              <a:ext cx="5474189" cy="461665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允许是尊重差异，解决爱情问题的捷径。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1906326" y="5710351"/>
              <a:ext cx="5474188" cy="461665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不允许</a:t>
              </a:r>
              <a:r>
                <a:rPr lang="zh-CN" altLang="en-US" sz="24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的事情会</a:t>
              </a:r>
              <a:r>
                <a: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占据你的心理资源。</a:t>
              </a:r>
            </a:p>
          </p:txBody>
        </p:sp>
        <p:sp>
          <p:nvSpPr>
            <p:cNvPr id="10" name="心形 9"/>
            <p:cNvSpPr/>
            <p:nvPr/>
          </p:nvSpPr>
          <p:spPr bwMode="auto">
            <a:xfrm>
              <a:off x="857964" y="4835600"/>
              <a:ext cx="640751" cy="649288"/>
            </a:xfrm>
            <a:prstGeom prst="heart">
              <a:avLst/>
            </a:pr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 dirty="0" smtClean="0">
                  <a:latin typeface="+mn-ea"/>
                </a:rPr>
                <a:t>√</a:t>
              </a:r>
              <a:endParaRPr lang="zh-CN" altLang="en-US" sz="3600" b="1" dirty="0">
                <a:latin typeface="+mn-ea"/>
              </a:endParaRPr>
            </a:p>
          </p:txBody>
        </p:sp>
        <p:sp>
          <p:nvSpPr>
            <p:cNvPr id="11" name="心形 10"/>
            <p:cNvSpPr/>
            <p:nvPr/>
          </p:nvSpPr>
          <p:spPr bwMode="auto">
            <a:xfrm>
              <a:off x="857964" y="5647317"/>
              <a:ext cx="640751" cy="649288"/>
            </a:xfrm>
            <a:prstGeom prst="heart">
              <a:avLst/>
            </a:pr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 dirty="0">
                  <a:latin typeface="+mn-ea"/>
                </a:rPr>
                <a:t>×</a:t>
              </a:r>
              <a:endParaRPr lang="zh-CN" altLang="en-US" sz="3600" b="1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412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0" y="0"/>
            <a:ext cx="9183904" cy="1447800"/>
          </a:xfrm>
          <a:custGeom>
            <a:avLst/>
            <a:gdLst>
              <a:gd name="connsiteX0" fmla="*/ 0 w 9183904"/>
              <a:gd name="connsiteY0" fmla="*/ 0 h 1683656"/>
              <a:gd name="connsiteX1" fmla="*/ 9183904 w 9183904"/>
              <a:gd name="connsiteY1" fmla="*/ 0 h 1683656"/>
              <a:gd name="connsiteX2" fmla="*/ 9183904 w 9183904"/>
              <a:gd name="connsiteY2" fmla="*/ 1246690 h 1683656"/>
              <a:gd name="connsiteX3" fmla="*/ 5015915 w 9183904"/>
              <a:gd name="connsiteY3" fmla="*/ 1246690 h 1683656"/>
              <a:gd name="connsiteX4" fmla="*/ 4937296 w 9183904"/>
              <a:gd name="connsiteY4" fmla="*/ 1356350 h 1683656"/>
              <a:gd name="connsiteX5" fmla="*/ 4591952 w 9183904"/>
              <a:gd name="connsiteY5" fmla="*/ 1683656 h 1683656"/>
              <a:gd name="connsiteX6" fmla="*/ 4246609 w 9183904"/>
              <a:gd name="connsiteY6" fmla="*/ 1356350 h 1683656"/>
              <a:gd name="connsiteX7" fmla="*/ 4167989 w 9183904"/>
              <a:gd name="connsiteY7" fmla="*/ 1246690 h 1683656"/>
              <a:gd name="connsiteX8" fmla="*/ 0 w 9183904"/>
              <a:gd name="connsiteY8" fmla="*/ 1246690 h 168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83904" h="1683656">
                <a:moveTo>
                  <a:pt x="0" y="0"/>
                </a:moveTo>
                <a:lnTo>
                  <a:pt x="9183904" y="0"/>
                </a:lnTo>
                <a:lnTo>
                  <a:pt x="9183904" y="1246690"/>
                </a:lnTo>
                <a:lnTo>
                  <a:pt x="5015915" y="1246690"/>
                </a:lnTo>
                <a:lnTo>
                  <a:pt x="4937296" y="1356350"/>
                </a:lnTo>
                <a:cubicBezTo>
                  <a:pt x="4851344" y="1460743"/>
                  <a:pt x="4738047" y="1570630"/>
                  <a:pt x="4591952" y="1683656"/>
                </a:cubicBezTo>
                <a:cubicBezTo>
                  <a:pt x="4445858" y="1570630"/>
                  <a:pt x="4332560" y="1460743"/>
                  <a:pt x="4246609" y="1356350"/>
                </a:cubicBezTo>
                <a:lnTo>
                  <a:pt x="4167989" y="1246690"/>
                </a:lnTo>
                <a:lnTo>
                  <a:pt x="0" y="1246690"/>
                </a:lnTo>
                <a:close/>
              </a:path>
            </a:pathLst>
          </a:custGeom>
          <a:solidFill>
            <a:srgbClr val="E70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32900" y="159657"/>
            <a:ext cx="5118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4000" b="1" spc="3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允许的修炼</a:t>
            </a:r>
            <a:endParaRPr lang="zh-CN" altLang="en-US" dirty="0"/>
          </a:p>
        </p:txBody>
      </p:sp>
      <p:grpSp>
        <p:nvGrpSpPr>
          <p:cNvPr id="55" name="组合 54"/>
          <p:cNvGrpSpPr/>
          <p:nvPr/>
        </p:nvGrpSpPr>
        <p:grpSpPr>
          <a:xfrm>
            <a:off x="1238521" y="2024119"/>
            <a:ext cx="6666959" cy="4216539"/>
            <a:chOff x="1461041" y="2024119"/>
            <a:chExt cx="6666959" cy="4216539"/>
          </a:xfrm>
        </p:grpSpPr>
        <p:sp>
          <p:nvSpPr>
            <p:cNvPr id="6" name="文本框 5"/>
            <p:cNvSpPr txBox="1"/>
            <p:nvPr/>
          </p:nvSpPr>
          <p:spPr>
            <a:xfrm>
              <a:off x="2273047" y="2024119"/>
              <a:ext cx="5663913" cy="42165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允许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，即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包容、接纳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spcBef>
                  <a:spcPts val="1200"/>
                </a:spcBef>
              </a:pPr>
              <a:r>
                <a:rPr lang="zh-CN" altLang="en-US" sz="2000" b="1" dirty="0" smtClean="0"/>
                <a:t>求同存异：你必须允许有些人，有些事。</a:t>
              </a:r>
              <a:endParaRPr lang="en-US" altLang="zh-CN" sz="2000" b="1" dirty="0" smtClean="0"/>
            </a:p>
            <a:p>
              <a:pPr>
                <a:spcBef>
                  <a:spcPts val="1200"/>
                </a:spcBef>
                <a:tabLst>
                  <a:tab pos="1252538" algn="l"/>
                </a:tabLst>
              </a:pPr>
              <a:r>
                <a:rPr lang="en-US" altLang="zh-CN" sz="2000" dirty="0"/>
                <a:t>	</a:t>
              </a:r>
              <a:r>
                <a:rPr lang="zh-CN" altLang="en-US" dirty="0" smtClean="0"/>
                <a:t>和他人之间有差异的事</a:t>
              </a:r>
              <a:endParaRPr lang="en-US" altLang="zh-CN" dirty="0" smtClean="0"/>
            </a:p>
            <a:p>
              <a:pPr>
                <a:spcBef>
                  <a:spcPts val="1200"/>
                </a:spcBef>
                <a:tabLst>
                  <a:tab pos="1252538" algn="l"/>
                </a:tabLst>
              </a:pPr>
              <a:r>
                <a:rPr lang="en-US" altLang="zh-CN" dirty="0"/>
                <a:t>	</a:t>
              </a:r>
              <a:r>
                <a:rPr lang="zh-CN" altLang="en-US" dirty="0" smtClean="0"/>
                <a:t>男女不同一类人</a:t>
              </a:r>
              <a:endParaRPr lang="en-US" altLang="zh-CN" dirty="0" smtClean="0"/>
            </a:p>
            <a:p>
              <a:pPr>
                <a:spcBef>
                  <a:spcPts val="1200"/>
                </a:spcBef>
                <a:tabLst>
                  <a:tab pos="1252538" algn="l"/>
                </a:tabLst>
              </a:pPr>
              <a:r>
                <a:rPr lang="en-US" altLang="zh-CN" dirty="0" smtClean="0"/>
                <a:t>	</a:t>
              </a:r>
              <a:r>
                <a:rPr lang="zh-CN" altLang="en-US" dirty="0" smtClean="0"/>
                <a:t>差异本没有对与错</a:t>
              </a:r>
              <a:endParaRPr lang="en-US" altLang="zh-CN" dirty="0" smtClean="0"/>
            </a:p>
            <a:p>
              <a:pPr>
                <a:spcBef>
                  <a:spcPts val="1200"/>
                </a:spcBef>
                <a:tabLst>
                  <a:tab pos="1252538" algn="l"/>
                </a:tabLst>
              </a:pPr>
              <a:r>
                <a:rPr lang="en-US" altLang="zh-CN" dirty="0" smtClean="0"/>
                <a:t>	</a:t>
              </a:r>
              <a:r>
                <a:rPr lang="zh-CN" altLang="en-US" dirty="0" smtClean="0"/>
                <a:t>每个人都有可成长的事情和特点</a:t>
              </a:r>
              <a:endParaRPr lang="en-US" altLang="zh-CN" dirty="0" smtClean="0"/>
            </a:p>
            <a:p>
              <a:pPr>
                <a:spcBef>
                  <a:spcPts val="1200"/>
                </a:spcBef>
                <a:tabLst>
                  <a:tab pos="1252538" algn="l"/>
                </a:tabLst>
              </a:pPr>
              <a:r>
                <a:rPr lang="en-US" altLang="zh-CN" dirty="0" smtClean="0"/>
                <a:t>	</a:t>
              </a:r>
              <a:r>
                <a:rPr lang="zh-CN" altLang="en-US" dirty="0" smtClean="0"/>
                <a:t>允许已经发生和</a:t>
              </a:r>
              <a:r>
                <a:rPr lang="zh-CN" altLang="zh-CN" dirty="0"/>
                <a:t>当下发生的</a:t>
              </a:r>
              <a:r>
                <a:rPr lang="zh-CN" altLang="en-US" dirty="0" smtClean="0"/>
                <a:t>事情存在</a:t>
              </a:r>
              <a:endParaRPr lang="en-US" altLang="zh-CN" dirty="0" smtClean="0"/>
            </a:p>
            <a:p>
              <a:pPr>
                <a:spcBef>
                  <a:spcPts val="1200"/>
                </a:spcBef>
                <a:tabLst>
                  <a:tab pos="1252538" algn="l"/>
                </a:tabLst>
              </a:pPr>
              <a:r>
                <a:rPr lang="en-US" altLang="zh-CN" dirty="0"/>
                <a:t>	</a:t>
              </a:r>
              <a:r>
                <a:rPr lang="zh-CN" altLang="en-US" dirty="0" smtClean="0"/>
                <a:t>允许过去才有未来</a:t>
              </a:r>
              <a:r>
                <a:rPr lang="en-US" altLang="zh-CN" dirty="0" smtClean="0"/>
                <a:t>	</a:t>
              </a:r>
            </a:p>
            <a:p>
              <a:pPr>
                <a:spcBef>
                  <a:spcPts val="1200"/>
                </a:spcBef>
                <a:tabLst>
                  <a:tab pos="1252538" algn="l"/>
                </a:tabLst>
              </a:pPr>
              <a:r>
                <a:rPr lang="en-US" altLang="zh-CN" dirty="0" smtClean="0"/>
                <a:t>	</a:t>
              </a:r>
              <a:r>
                <a:rPr lang="zh-CN" altLang="en-US" dirty="0" smtClean="0"/>
                <a:t>允许不可控和不可选择的自然力量与规律</a:t>
              </a:r>
              <a:endParaRPr lang="zh-CN" altLang="en-US" dirty="0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461041" y="2031737"/>
              <a:ext cx="539750" cy="539750"/>
              <a:chOff x="883730" y="1940732"/>
              <a:chExt cx="539750" cy="539750"/>
            </a:xfrm>
          </p:grpSpPr>
          <p:sp>
            <p:nvSpPr>
              <p:cNvPr id="49" name="心形 48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0" name="心形 49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1730916" y="2571487"/>
              <a:ext cx="6397084" cy="3651654"/>
              <a:chOff x="1730916" y="2571487"/>
              <a:chExt cx="5952044" cy="3651654"/>
            </a:xfrm>
          </p:grpSpPr>
          <p:cxnSp>
            <p:nvCxnSpPr>
              <p:cNvPr id="43" name="直接连接符 42"/>
              <p:cNvCxnSpPr/>
              <p:nvPr/>
            </p:nvCxnSpPr>
            <p:spPr>
              <a:xfrm>
                <a:off x="1803147" y="2571487"/>
                <a:ext cx="5879813" cy="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  <a:alpha val="4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>
                <a:stCxn id="42" idx="1"/>
              </p:cNvCxnSpPr>
              <p:nvPr/>
            </p:nvCxnSpPr>
            <p:spPr>
              <a:xfrm>
                <a:off x="1730916" y="3141139"/>
                <a:ext cx="5952044" cy="8279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  <a:alpha val="4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3199860" y="6223141"/>
                <a:ext cx="4483100" cy="0"/>
              </a:xfrm>
              <a:prstGeom prst="line">
                <a:avLst/>
              </a:prstGeom>
              <a:ln w="6350">
                <a:solidFill>
                  <a:schemeClr val="bg1">
                    <a:lumMod val="50000"/>
                    <a:alpha val="4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/>
          </p:nvGrpSpPr>
          <p:grpSpPr>
            <a:xfrm>
              <a:off x="1461041" y="2601389"/>
              <a:ext cx="539750" cy="539750"/>
              <a:chOff x="883730" y="1940732"/>
              <a:chExt cx="539750" cy="539750"/>
            </a:xfrm>
          </p:grpSpPr>
          <p:sp>
            <p:nvSpPr>
              <p:cNvPr id="41" name="心形 40"/>
              <p:cNvSpPr/>
              <p:nvPr/>
            </p:nvSpPr>
            <p:spPr>
              <a:xfrm>
                <a:off x="920243" y="1982267"/>
                <a:ext cx="466725" cy="468313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CN" b="1" dirty="0" smtClean="0"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2" name="心形 41"/>
              <p:cNvSpPr/>
              <p:nvPr/>
            </p:nvSpPr>
            <p:spPr>
              <a:xfrm>
                <a:off x="883730" y="1940732"/>
                <a:ext cx="539750" cy="539750"/>
              </a:xfrm>
              <a:prstGeom prst="heart">
                <a:avLst/>
              </a:prstGeom>
              <a:noFill/>
              <a:ln w="6350">
                <a:solidFill>
                  <a:srgbClr val="E7005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559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1909624" y="1620000"/>
            <a:ext cx="5324753" cy="4680000"/>
            <a:chOff x="1365768" y="610998"/>
            <a:chExt cx="6412464" cy="5636004"/>
          </a:xfrm>
        </p:grpSpPr>
        <p:sp>
          <p:nvSpPr>
            <p:cNvPr id="4" name="文本框 3"/>
            <p:cNvSpPr txBox="1"/>
            <p:nvPr/>
          </p:nvSpPr>
          <p:spPr>
            <a:xfrm>
              <a:off x="4092686" y="61099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rgbClr val="E70050"/>
                  </a:solidFill>
                </a:rPr>
                <a:t>影响</a:t>
              </a:r>
              <a:endParaRPr lang="zh-CN" altLang="en-US" sz="2800" b="1" dirty="0">
                <a:solidFill>
                  <a:srgbClr val="E70050"/>
                </a:solidFill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365768" y="1312669"/>
              <a:ext cx="6412464" cy="4934333"/>
              <a:chOff x="1365768" y="1312669"/>
              <a:chExt cx="6412464" cy="4934333"/>
            </a:xfrm>
          </p:grpSpPr>
          <p:sp>
            <p:nvSpPr>
              <p:cNvPr id="3" name="正五边形 2"/>
              <p:cNvSpPr/>
              <p:nvPr/>
            </p:nvSpPr>
            <p:spPr>
              <a:xfrm>
                <a:off x="3744984" y="1391648"/>
                <a:ext cx="1598215" cy="2784853"/>
              </a:xfrm>
              <a:custGeom>
                <a:avLst/>
                <a:gdLst>
                  <a:gd name="connsiteX0" fmla="*/ 2 w 1598219"/>
                  <a:gd name="connsiteY0" fmla="*/ 581394 h 1522114"/>
                  <a:gd name="connsiteX1" fmla="*/ 799110 w 1598219"/>
                  <a:gd name="connsiteY1" fmla="*/ 0 h 1522114"/>
                  <a:gd name="connsiteX2" fmla="*/ 1598217 w 1598219"/>
                  <a:gd name="connsiteY2" fmla="*/ 581394 h 1522114"/>
                  <a:gd name="connsiteX3" fmla="*/ 1292985 w 1598219"/>
                  <a:gd name="connsiteY3" fmla="*/ 1522110 h 1522114"/>
                  <a:gd name="connsiteX4" fmla="*/ 305234 w 1598219"/>
                  <a:gd name="connsiteY4" fmla="*/ 1522110 h 1522114"/>
                  <a:gd name="connsiteX5" fmla="*/ 2 w 1598219"/>
                  <a:gd name="connsiteY5" fmla="*/ 581394 h 1522114"/>
                  <a:gd name="connsiteX0" fmla="*/ 0 w 1598215"/>
                  <a:gd name="connsiteY0" fmla="*/ 1844137 h 2784853"/>
                  <a:gd name="connsiteX1" fmla="*/ 799108 w 1598215"/>
                  <a:gd name="connsiteY1" fmla="*/ 0 h 2784853"/>
                  <a:gd name="connsiteX2" fmla="*/ 1598215 w 1598215"/>
                  <a:gd name="connsiteY2" fmla="*/ 1844137 h 2784853"/>
                  <a:gd name="connsiteX3" fmla="*/ 1292983 w 1598215"/>
                  <a:gd name="connsiteY3" fmla="*/ 2784853 h 2784853"/>
                  <a:gd name="connsiteX4" fmla="*/ 305232 w 1598215"/>
                  <a:gd name="connsiteY4" fmla="*/ 2784853 h 2784853"/>
                  <a:gd name="connsiteX5" fmla="*/ 0 w 1598215"/>
                  <a:gd name="connsiteY5" fmla="*/ 1844137 h 278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98215" h="2784853">
                    <a:moveTo>
                      <a:pt x="0" y="1844137"/>
                    </a:moveTo>
                    <a:lnTo>
                      <a:pt x="799108" y="0"/>
                    </a:lnTo>
                    <a:lnTo>
                      <a:pt x="1598215" y="1844137"/>
                    </a:lnTo>
                    <a:lnTo>
                      <a:pt x="1292983" y="2784853"/>
                    </a:lnTo>
                    <a:lnTo>
                      <a:pt x="305232" y="2784853"/>
                    </a:lnTo>
                    <a:lnTo>
                      <a:pt x="0" y="1844137"/>
                    </a:lnTo>
                    <a:close/>
                  </a:path>
                </a:pathLst>
              </a:cu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6875421" y="2611674"/>
                <a:ext cx="9028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bg1">
                        <a:lumMod val="50000"/>
                      </a:schemeClr>
                    </a:solidFill>
                  </a:rPr>
                  <a:t>允许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5841469" y="5723782"/>
                <a:ext cx="9028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bg1">
                        <a:lumMod val="50000"/>
                      </a:schemeClr>
                    </a:solidFill>
                  </a:rPr>
                  <a:t>述情</a:t>
                </a:r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2280182" y="5723782"/>
                <a:ext cx="16209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bg1">
                        <a:lumMod val="50000"/>
                      </a:schemeClr>
                    </a:solidFill>
                  </a:rPr>
                  <a:t>情绪管理</a:t>
                </a: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1365768" y="2611674"/>
                <a:ext cx="9028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bg1">
                        <a:lumMod val="50000"/>
                      </a:schemeClr>
                    </a:solidFill>
                  </a:rPr>
                  <a:t>共情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169632" y="3092290"/>
                <a:ext cx="74892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4400" dirty="0" smtClean="0">
                    <a:solidFill>
                      <a:schemeClr val="bg1"/>
                    </a:solidFill>
                    <a:latin typeface="方正粗宋简体" panose="03000509000000000000" pitchFamily="65" charset="-122"/>
                    <a:ea typeface="方正粗宋简体" panose="03000509000000000000" pitchFamily="65" charset="-122"/>
                  </a:rPr>
                  <a:t>爱</a:t>
                </a:r>
                <a:endParaRPr lang="zh-CN" altLang="en-US" sz="4400" dirty="0">
                  <a:solidFill>
                    <a:schemeClr val="bg1"/>
                  </a:solidFill>
                  <a:latin typeface="方正粗宋简体" panose="03000509000000000000" pitchFamily="65" charset="-122"/>
                  <a:ea typeface="方正粗宋简体" panose="03000509000000000000" pitchFamily="65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 flipH="1">
                <a:off x="4544090" y="1312670"/>
                <a:ext cx="2" cy="1606380"/>
              </a:xfrm>
              <a:prstGeom prst="line">
                <a:avLst/>
              </a:prstGeom>
              <a:ln w="15875">
                <a:solidFill>
                  <a:srgbClr val="E70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任意多边形 10"/>
              <p:cNvSpPr/>
              <p:nvPr/>
            </p:nvSpPr>
            <p:spPr>
              <a:xfrm>
                <a:off x="2336172" y="1312669"/>
                <a:ext cx="4415839" cy="4205560"/>
              </a:xfrm>
              <a:custGeom>
                <a:avLst/>
                <a:gdLst>
                  <a:gd name="connsiteX0" fmla="*/ 1924047 w 3848092"/>
                  <a:gd name="connsiteY0" fmla="*/ 222250 h 3664848"/>
                  <a:gd name="connsiteX1" fmla="*/ 233363 w 3848092"/>
                  <a:gd name="connsiteY1" fmla="*/ 1452314 h 3664848"/>
                  <a:gd name="connsiteX2" fmla="*/ 879146 w 3848092"/>
                  <a:gd name="connsiteY2" fmla="*/ 3442599 h 3664848"/>
                  <a:gd name="connsiteX3" fmla="*/ 2968947 w 3848092"/>
                  <a:gd name="connsiteY3" fmla="*/ 3442599 h 3664848"/>
                  <a:gd name="connsiteX4" fmla="*/ 3614730 w 3848092"/>
                  <a:gd name="connsiteY4" fmla="*/ 1452314 h 3664848"/>
                  <a:gd name="connsiteX5" fmla="*/ 1924046 w 3848092"/>
                  <a:gd name="connsiteY5" fmla="*/ 0 h 3664848"/>
                  <a:gd name="connsiteX6" fmla="*/ 3848092 w 3848092"/>
                  <a:gd name="connsiteY6" fmla="*/ 1399847 h 3664848"/>
                  <a:gd name="connsiteX7" fmla="*/ 3113172 w 3848092"/>
                  <a:gd name="connsiteY7" fmla="*/ 3664848 h 3664848"/>
                  <a:gd name="connsiteX8" fmla="*/ 734920 w 3848092"/>
                  <a:gd name="connsiteY8" fmla="*/ 3664848 h 3664848"/>
                  <a:gd name="connsiteX9" fmla="*/ 0 w 3848092"/>
                  <a:gd name="connsiteY9" fmla="*/ 1399847 h 3664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48092" h="3664848">
                    <a:moveTo>
                      <a:pt x="1924047" y="222250"/>
                    </a:moveTo>
                    <a:lnTo>
                      <a:pt x="233363" y="1452314"/>
                    </a:lnTo>
                    <a:lnTo>
                      <a:pt x="879146" y="3442599"/>
                    </a:lnTo>
                    <a:lnTo>
                      <a:pt x="2968947" y="3442599"/>
                    </a:lnTo>
                    <a:lnTo>
                      <a:pt x="3614730" y="1452314"/>
                    </a:lnTo>
                    <a:close/>
                    <a:moveTo>
                      <a:pt x="1924046" y="0"/>
                    </a:moveTo>
                    <a:lnTo>
                      <a:pt x="3848092" y="1399847"/>
                    </a:lnTo>
                    <a:lnTo>
                      <a:pt x="3113172" y="3664848"/>
                    </a:lnTo>
                    <a:lnTo>
                      <a:pt x="734920" y="3664848"/>
                    </a:lnTo>
                    <a:lnTo>
                      <a:pt x="0" y="1399847"/>
                    </a:lnTo>
                    <a:close/>
                  </a:path>
                </a:pathLst>
              </a:cu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 flipH="1">
                <a:off x="5234998" y="2943225"/>
                <a:ext cx="1403927" cy="319985"/>
              </a:xfrm>
              <a:prstGeom prst="line">
                <a:avLst/>
              </a:prstGeom>
              <a:ln w="15875">
                <a:solidFill>
                  <a:srgbClr val="E70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H="1" flipV="1">
                <a:off x="4894479" y="3944175"/>
                <a:ext cx="944346" cy="1469200"/>
              </a:xfrm>
              <a:prstGeom prst="line">
                <a:avLst/>
              </a:prstGeom>
              <a:ln w="15875">
                <a:solidFill>
                  <a:srgbClr val="E70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V="1">
                <a:off x="3252788" y="3896493"/>
                <a:ext cx="968137" cy="1499420"/>
              </a:xfrm>
              <a:prstGeom prst="line">
                <a:avLst/>
              </a:prstGeom>
              <a:ln w="15875">
                <a:solidFill>
                  <a:srgbClr val="E70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>
                <a:stCxn id="11" idx="1"/>
              </p:cNvCxnSpPr>
              <p:nvPr/>
            </p:nvCxnSpPr>
            <p:spPr>
              <a:xfrm>
                <a:off x="2603965" y="2979258"/>
                <a:ext cx="1380582" cy="305356"/>
              </a:xfrm>
              <a:prstGeom prst="line">
                <a:avLst/>
              </a:prstGeom>
              <a:ln w="15875">
                <a:solidFill>
                  <a:srgbClr val="E70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组合 1"/>
          <p:cNvGrpSpPr/>
          <p:nvPr/>
        </p:nvGrpSpPr>
        <p:grpSpPr>
          <a:xfrm>
            <a:off x="1020584" y="360000"/>
            <a:ext cx="7056481" cy="1178674"/>
            <a:chOff x="1020584" y="213402"/>
            <a:chExt cx="7056481" cy="1178674"/>
          </a:xfrm>
        </p:grpSpPr>
        <p:pic>
          <p:nvPicPr>
            <p:cNvPr id="19" name="Picture 12" descr="图片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0584" y="213402"/>
              <a:ext cx="7056481" cy="1178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矩形 15"/>
            <p:cNvSpPr/>
            <p:nvPr/>
          </p:nvSpPr>
          <p:spPr>
            <a:xfrm>
              <a:off x="2235671" y="399376"/>
              <a:ext cx="48117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rgbClr val="E70050"/>
                  </a:solidFill>
                  <a:latin typeface="+mj-ea"/>
                </a:rPr>
                <a:t>影响：</a:t>
              </a:r>
              <a:r>
                <a:rPr lang="zh-CN" altLang="en-US" sz="3200" dirty="0" smtClean="0">
                  <a:solidFill>
                    <a:srgbClr val="E70050"/>
                  </a:solidFill>
                  <a:latin typeface="+mj-ea"/>
                </a:rPr>
                <a:t>智慧的爱让他变好</a:t>
              </a:r>
              <a:endParaRPr lang="zh-CN" altLang="en-US" sz="3200" dirty="0">
                <a:solidFill>
                  <a:srgbClr val="E70050"/>
                </a:solidFill>
                <a:latin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073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1341839" y="469728"/>
            <a:ext cx="6460322" cy="5918545"/>
            <a:chOff x="1341839" y="378060"/>
            <a:chExt cx="6460322" cy="5918545"/>
          </a:xfrm>
        </p:grpSpPr>
        <p:grpSp>
          <p:nvGrpSpPr>
            <p:cNvPr id="4" name="组合 3"/>
            <p:cNvGrpSpPr>
              <a:grpSpLocks noChangeAspect="1"/>
            </p:cNvGrpSpPr>
            <p:nvPr/>
          </p:nvGrpSpPr>
          <p:grpSpPr>
            <a:xfrm>
              <a:off x="3095478" y="378060"/>
              <a:ext cx="2961788" cy="4608000"/>
              <a:chOff x="2562385" y="219326"/>
              <a:chExt cx="2953044" cy="4594396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2562385" y="2897537"/>
                <a:ext cx="2953044" cy="1916185"/>
                <a:chOff x="2520735" y="2870985"/>
                <a:chExt cx="3418166" cy="2035143"/>
              </a:xfrm>
            </p:grpSpPr>
            <p:sp>
              <p:nvSpPr>
                <p:cNvPr id="7" name="等腰三角形 6"/>
                <p:cNvSpPr/>
                <p:nvPr/>
              </p:nvSpPr>
              <p:spPr>
                <a:xfrm rot="13563596">
                  <a:off x="2158890" y="3232831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等腰三角形 7"/>
                <p:cNvSpPr/>
                <p:nvPr/>
              </p:nvSpPr>
              <p:spPr>
                <a:xfrm rot="8036404" flipH="1">
                  <a:off x="4265605" y="3232830"/>
                  <a:ext cx="2035142" cy="1311451"/>
                </a:xfrm>
                <a:prstGeom prst="triangle">
                  <a:avLst>
                    <a:gd name="adj" fmla="val 52242"/>
                  </a:avLst>
                </a:prstGeom>
                <a:effectLst>
                  <a:outerShdw blurRad="101600" dist="165100" dir="2580000" sx="107000" sy="107000" algn="ctr" rotWithShape="0">
                    <a:schemeClr val="tx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6" name="Picture 1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2789578" y="219326"/>
                <a:ext cx="2639299" cy="3962818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90500" cap="rnd">
                <a:solidFill>
                  <a:srgbClr val="FFFFFF"/>
                </a:solidFill>
              </a:ln>
              <a:effectLst>
                <a:outerShdw blurRad="50000" algn="tl" rotWithShape="0">
                  <a:srgbClr val="000000">
                    <a:alpha val="41000"/>
                  </a:srgbClr>
                </a:outerShdw>
              </a:effectLst>
              <a:scene3d>
                <a:camera prst="orthographicFront"/>
                <a:lightRig rig="twoPt" dir="t">
                  <a:rot lat="0" lon="0" rev="7800000"/>
                </a:lightRig>
              </a:scene3d>
              <a:sp3d contourW="6350">
                <a:bevelT w="50800" h="16510"/>
                <a:contourClr>
                  <a:srgbClr val="C0C0C0"/>
                </a:contourClr>
              </a:sp3d>
              <a:extLst/>
            </p:spPr>
          </p:pic>
        </p:grpSp>
        <p:grpSp>
          <p:nvGrpSpPr>
            <p:cNvPr id="3" name="组合 2"/>
            <p:cNvGrpSpPr/>
            <p:nvPr/>
          </p:nvGrpSpPr>
          <p:grpSpPr>
            <a:xfrm>
              <a:off x="1341839" y="4835600"/>
              <a:ext cx="6460322" cy="1461005"/>
              <a:chOff x="1718478" y="4835600"/>
              <a:chExt cx="6460322" cy="1461005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2766838" y="4898635"/>
                <a:ext cx="5411962" cy="461665"/>
              </a:xfrm>
              <a:prstGeom prst="rect">
                <a:avLst/>
              </a:prstGeom>
              <a:solidFill>
                <a:srgbClr val="E70050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kern="10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影响，给对方成长空间，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他会因你而变。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766840" y="5710351"/>
                <a:ext cx="5411960" cy="461665"/>
              </a:xfrm>
              <a:prstGeom prst="rect">
                <a:avLst/>
              </a:prstGeom>
              <a:solidFill>
                <a:srgbClr val="E70050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kern="10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改变，只会让对方感觉否认，伴随痛苦。</a:t>
                </a:r>
                <a:endPara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心形 11"/>
              <p:cNvSpPr/>
              <p:nvPr/>
            </p:nvSpPr>
            <p:spPr bwMode="auto">
              <a:xfrm>
                <a:off x="1718478" y="4835600"/>
                <a:ext cx="640751" cy="649288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dirty="0" smtClean="0">
                    <a:latin typeface="+mn-ea"/>
                  </a:rPr>
                  <a:t>√</a:t>
                </a:r>
                <a:endParaRPr lang="zh-CN" altLang="en-US" sz="3600" b="1" dirty="0">
                  <a:latin typeface="+mn-ea"/>
                </a:endParaRPr>
              </a:p>
            </p:txBody>
          </p:sp>
          <p:sp>
            <p:nvSpPr>
              <p:cNvPr id="13" name="心形 12"/>
              <p:cNvSpPr/>
              <p:nvPr/>
            </p:nvSpPr>
            <p:spPr bwMode="auto">
              <a:xfrm>
                <a:off x="1718478" y="5647317"/>
                <a:ext cx="640751" cy="649288"/>
              </a:xfrm>
              <a:prstGeom prst="heart">
                <a:avLst/>
              </a:prstGeom>
              <a:solidFill>
                <a:srgbClr val="E70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b="1" dirty="0">
                    <a:latin typeface="+mn-ea"/>
                  </a:rPr>
                  <a:t>×</a:t>
                </a:r>
                <a:endParaRPr lang="zh-CN" altLang="en-US" sz="3600" b="1" dirty="0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075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38786" y="946692"/>
            <a:ext cx="7913267" cy="4964617"/>
            <a:chOff x="838786" y="826949"/>
            <a:chExt cx="7913267" cy="4964617"/>
          </a:xfrm>
        </p:grpSpPr>
        <p:sp>
          <p:nvSpPr>
            <p:cNvPr id="7" name="文本框 6"/>
            <p:cNvSpPr txBox="1"/>
            <p:nvPr/>
          </p:nvSpPr>
          <p:spPr>
            <a:xfrm>
              <a:off x="873892" y="826949"/>
              <a:ext cx="3877985" cy="461665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/>
                <a:t>影响的奥秘：他会因你而变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73892" y="1477806"/>
              <a:ext cx="7495408" cy="1391901"/>
            </a:xfrm>
            <a:prstGeom prst="rect">
              <a:avLst/>
            </a:prstGeom>
            <a:noFill/>
          </p:spPr>
          <p:txBody>
            <a:bodyPr wrap="square" lIns="72000" tIns="72000" rIns="72000" bIns="72000" rtlCol="0" anchor="ctr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latin typeface="+mn-ea"/>
                </a:rPr>
                <a:t>有</a:t>
              </a:r>
              <a:r>
                <a:rPr lang="zh-CN" altLang="en-US" b="1" dirty="0" smtClean="0">
                  <a:latin typeface="+mn-ea"/>
                </a:rPr>
                <a:t>强大能量</a:t>
              </a:r>
              <a:r>
                <a:rPr lang="zh-CN" altLang="en-US" dirty="0" smtClean="0">
                  <a:latin typeface="+mn-ea"/>
                </a:rPr>
                <a:t>的人，能</a:t>
              </a:r>
              <a:r>
                <a:rPr lang="zh-CN" altLang="en-US" b="1" dirty="0" smtClean="0">
                  <a:latin typeface="+mn-ea"/>
                </a:rPr>
                <a:t>影响</a:t>
              </a:r>
              <a:r>
                <a:rPr lang="zh-CN" altLang="en-US" dirty="0" smtClean="0">
                  <a:latin typeface="+mn-ea"/>
                </a:rPr>
                <a:t>到周围的人，使其更加</a:t>
              </a:r>
              <a:r>
                <a:rPr lang="zh-CN" altLang="en-US" b="1" dirty="0" smtClean="0">
                  <a:latin typeface="+mn-ea"/>
                </a:rPr>
                <a:t>幸福快乐</a:t>
              </a:r>
              <a:r>
                <a:rPr lang="zh-CN" altLang="en-US" dirty="0" smtClean="0">
                  <a:latin typeface="+mn-ea"/>
                </a:rPr>
                <a:t>，</a:t>
              </a:r>
              <a:r>
                <a:rPr lang="zh-CN" altLang="en-US" b="1" dirty="0" smtClean="0">
                  <a:latin typeface="+mn-ea"/>
                </a:rPr>
                <a:t>成熟和完整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en-US" altLang="zh-CN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 smtClean="0">
                  <a:latin typeface="+mn-ea"/>
                </a:rPr>
                <a:t>影响</a:t>
              </a:r>
              <a:r>
                <a:rPr lang="zh-CN" altLang="en-US" dirty="0" smtClean="0">
                  <a:latin typeface="+mn-ea"/>
                </a:rPr>
                <a:t>的前提是</a:t>
              </a:r>
              <a:r>
                <a:rPr lang="zh-CN" altLang="en-US" b="1" dirty="0">
                  <a:latin typeface="+mn-ea"/>
                </a:rPr>
                <a:t>允许</a:t>
              </a:r>
              <a:r>
                <a:rPr lang="zh-CN" altLang="en-US" dirty="0" smtClean="0">
                  <a:latin typeface="+mn-ea"/>
                </a:rPr>
                <a:t>，</a:t>
              </a:r>
              <a:r>
                <a:rPr lang="zh-CN" altLang="en-US" b="1" dirty="0">
                  <a:latin typeface="+mn-ea"/>
                </a:rPr>
                <a:t>改变</a:t>
              </a:r>
              <a:r>
                <a:rPr lang="zh-CN" altLang="en-US" dirty="0" smtClean="0">
                  <a:latin typeface="+mn-ea"/>
                </a:rPr>
                <a:t>的前提是</a:t>
              </a:r>
              <a:r>
                <a:rPr lang="zh-CN" altLang="en-US" b="1" dirty="0">
                  <a:latin typeface="+mn-ea"/>
                </a:rPr>
                <a:t>不允许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en-US" altLang="zh-CN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latin typeface="+mn-ea"/>
                </a:rPr>
                <a:t>改变</a:t>
              </a:r>
              <a:r>
                <a:rPr lang="zh-CN" altLang="en-US" dirty="0" smtClean="0">
                  <a:latin typeface="+mn-ea"/>
                </a:rPr>
                <a:t>给对方的感觉是</a:t>
              </a:r>
              <a:r>
                <a:rPr lang="zh-CN" altLang="en-US" b="1" dirty="0">
                  <a:latin typeface="+mn-ea"/>
                </a:rPr>
                <a:t>否定</a:t>
              </a:r>
              <a:r>
                <a:rPr lang="zh-CN" altLang="en-US" dirty="0" smtClean="0">
                  <a:latin typeface="+mn-ea"/>
                </a:rPr>
                <a:t>，</a:t>
              </a:r>
              <a:r>
                <a:rPr lang="zh-CN" altLang="en-US" b="1" dirty="0">
                  <a:latin typeface="+mn-ea"/>
                </a:rPr>
                <a:t>影响</a:t>
              </a:r>
              <a:r>
                <a:rPr lang="zh-CN" altLang="en-US" dirty="0" smtClean="0">
                  <a:latin typeface="+mn-ea"/>
                </a:rPr>
                <a:t>给对方的感觉是</a:t>
              </a:r>
              <a:r>
                <a:rPr lang="zh-CN" altLang="en-US" b="1" dirty="0">
                  <a:latin typeface="+mn-ea"/>
                </a:rPr>
                <a:t>肯定</a:t>
              </a:r>
              <a:r>
                <a:rPr lang="zh-CN" altLang="en-US" dirty="0" smtClean="0">
                  <a:latin typeface="+mn-ea"/>
                </a:rPr>
                <a:t>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17435" y="3718921"/>
              <a:ext cx="3877985" cy="461665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r>
                <a:rPr lang="zh-CN" altLang="en-US" dirty="0" smtClean="0"/>
                <a:t>改变别人，从改变自己开始</a:t>
              </a:r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12602" y="4371911"/>
              <a:ext cx="5935177" cy="581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271463" algn="just">
                <a:lnSpc>
                  <a:spcPct val="150000"/>
                </a:lnSpc>
                <a:spcBef>
                  <a:spcPts val="1200"/>
                </a:spcBef>
                <a:tabLst>
                  <a:tab pos="271463" algn="l"/>
                </a:tabLst>
              </a:pPr>
              <a:r>
                <a:rPr lang="zh-CN" altLang="en-US" sz="2400" b="1" dirty="0" smtClean="0">
                  <a:solidFill>
                    <a:srgbClr val="E70050"/>
                  </a:solidFill>
                  <a:latin typeface="+mn-ea"/>
                </a:rPr>
                <a:t>允许</a:t>
              </a:r>
              <a:r>
                <a:rPr lang="zh-CN" altLang="en-US" sz="2400" b="1" dirty="0">
                  <a:solidFill>
                    <a:srgbClr val="E70050"/>
                  </a:solidFill>
                  <a:latin typeface="+mn-ea"/>
                </a:rPr>
                <a:t>：</a:t>
              </a:r>
              <a:r>
                <a:rPr lang="zh-CN" altLang="en-US" b="1" dirty="0">
                  <a:latin typeface="+mn-ea"/>
                </a:rPr>
                <a:t>给对方成长的空间。</a:t>
              </a:r>
              <a:endParaRPr lang="en-US" altLang="zh-CN" b="1" dirty="0">
                <a:latin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8786" y="5191677"/>
              <a:ext cx="7913267" cy="581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-271463" algn="just">
                <a:lnSpc>
                  <a:spcPct val="150000"/>
                </a:lnSpc>
                <a:spcBef>
                  <a:spcPts val="1200"/>
                </a:spcBef>
                <a:tabLst>
                  <a:tab pos="271463" algn="l"/>
                </a:tabLst>
              </a:pPr>
              <a:r>
                <a:rPr lang="zh-CN" altLang="en-US" sz="2400" b="1" dirty="0" smtClean="0">
                  <a:solidFill>
                    <a:srgbClr val="E70050"/>
                  </a:solidFill>
                  <a:latin typeface="+mn-ea"/>
                </a:rPr>
                <a:t>强化：</a:t>
              </a:r>
              <a:r>
                <a:rPr lang="zh-CN" altLang="en-US" b="1" dirty="0">
                  <a:latin typeface="+mn-ea"/>
                </a:rPr>
                <a:t>及时奖励对方做得好的地方。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917435" y="5018679"/>
              <a:ext cx="7208769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917435" y="5791566"/>
              <a:ext cx="7208769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863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0584" y="360000"/>
            <a:ext cx="7056481" cy="1178674"/>
            <a:chOff x="1020584" y="213402"/>
            <a:chExt cx="7056481" cy="1178674"/>
          </a:xfrm>
        </p:grpSpPr>
        <p:pic>
          <p:nvPicPr>
            <p:cNvPr id="3" name="Picture 12" descr="图片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0584" y="213402"/>
              <a:ext cx="7056481" cy="11786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" name="矩形 3"/>
            <p:cNvSpPr/>
            <p:nvPr/>
          </p:nvSpPr>
          <p:spPr>
            <a:xfrm>
              <a:off x="1500932" y="399376"/>
              <a:ext cx="628127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rgbClr val="E70050"/>
                  </a:solidFill>
                  <a:latin typeface="+mj-ea"/>
                  <a:ea typeface="+mj-ea"/>
                </a:rPr>
                <a:t>后  记</a:t>
              </a:r>
              <a:endParaRPr lang="zh-CN" altLang="en-US" sz="3200" b="1" dirty="0">
                <a:solidFill>
                  <a:srgbClr val="E70050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33027" y="2320634"/>
            <a:ext cx="7477947" cy="3769374"/>
            <a:chOff x="1259653" y="2073891"/>
            <a:chExt cx="7477947" cy="3769374"/>
          </a:xfrm>
        </p:grpSpPr>
        <p:sp>
          <p:nvSpPr>
            <p:cNvPr id="6" name="文本框 5"/>
            <p:cNvSpPr txBox="1"/>
            <p:nvPr/>
          </p:nvSpPr>
          <p:spPr>
            <a:xfrm>
              <a:off x="2308014" y="2980943"/>
              <a:ext cx="6429586" cy="2862322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2400" b="1" kern="1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dirty="0"/>
                <a:t>自己能做到的，不要要求别人。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zh-CN" altLang="en-US" dirty="0"/>
                <a:t>当你的爱人达不到爱的五种能力时，请你不要表示不满，因为你能做到的，他不一定能做到。</a:t>
              </a:r>
              <a:endParaRPr lang="en-US" altLang="zh-CN" dirty="0"/>
            </a:p>
            <a:p>
              <a:pPr>
                <a:lnSpc>
                  <a:spcPct val="150000"/>
                </a:lnSpc>
              </a:pPr>
              <a:r>
                <a:rPr lang="zh-CN" altLang="en-US" dirty="0"/>
                <a:t>允许对方暂时在爱的能力上不如你，允许他有一个成长的过程。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2308014" y="2136926"/>
              <a:ext cx="6429586" cy="461665"/>
            </a:xfrm>
            <a:prstGeom prst="rect">
              <a:avLst/>
            </a:prstGeom>
            <a:solidFill>
              <a:srgbClr val="E70050"/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已所欲，勿施于人</a:t>
              </a:r>
            </a:p>
          </p:txBody>
        </p:sp>
        <p:sp>
          <p:nvSpPr>
            <p:cNvPr id="10" name="心形 9"/>
            <p:cNvSpPr/>
            <p:nvPr/>
          </p:nvSpPr>
          <p:spPr bwMode="auto">
            <a:xfrm>
              <a:off x="1259653" y="2073891"/>
              <a:ext cx="640751" cy="649288"/>
            </a:xfrm>
            <a:prstGeom prst="heart">
              <a:avLst/>
            </a:pr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 dirty="0" smtClean="0">
                  <a:latin typeface="+mn-ea"/>
                </a:rPr>
                <a:t>√</a:t>
              </a:r>
              <a:endParaRPr lang="zh-CN" altLang="en-US" sz="3600" b="1" dirty="0">
                <a:latin typeface="+mn-ea"/>
              </a:endParaRPr>
            </a:p>
          </p:txBody>
        </p:sp>
        <p:sp>
          <p:nvSpPr>
            <p:cNvPr id="11" name="心形 10"/>
            <p:cNvSpPr/>
            <p:nvPr/>
          </p:nvSpPr>
          <p:spPr bwMode="auto">
            <a:xfrm>
              <a:off x="1259653" y="2885608"/>
              <a:ext cx="640751" cy="649288"/>
            </a:xfrm>
            <a:prstGeom prst="heart">
              <a:avLst/>
            </a:prstGeom>
            <a:solidFill>
              <a:srgbClr val="E70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 dirty="0">
                  <a:latin typeface="+mn-ea"/>
                </a:rPr>
                <a:t>×</a:t>
              </a:r>
              <a:endParaRPr lang="zh-CN" altLang="en-US" sz="3600" b="1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920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0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0" y="1748850"/>
            <a:ext cx="9144000" cy="12144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6000" b="1" dirty="0">
                <a:solidFill>
                  <a:srgbClr val="E70050"/>
                </a:solidFill>
              </a:rPr>
              <a:t>THE END</a:t>
            </a:r>
            <a:endParaRPr lang="zh-CN" altLang="en-US" sz="6000" b="1" dirty="0">
              <a:solidFill>
                <a:srgbClr val="E7005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45695" y="3361671"/>
            <a:ext cx="485261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bg1"/>
                </a:solidFill>
              </a:rPr>
              <a:t>愿大家都能掌握爱的五种能力</a:t>
            </a:r>
            <a:endParaRPr lang="en-US" altLang="zh-CN" sz="2800" b="1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sz="2800" b="1" dirty="0" smtClean="0">
                <a:solidFill>
                  <a:schemeClr val="bg1"/>
                </a:solidFill>
              </a:rPr>
              <a:t>幸福一生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心形 8"/>
          <p:cNvSpPr/>
          <p:nvPr/>
        </p:nvSpPr>
        <p:spPr>
          <a:xfrm>
            <a:off x="4422628" y="5356494"/>
            <a:ext cx="298744" cy="265550"/>
          </a:xfrm>
          <a:prstGeom prst="hear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74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#PPT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标签，可以看到其它学员已经提交的读书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anose="020B0503020204020204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181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989">
                <a:defRPr/>
              </a:pPr>
              <a:r>
                <a:rPr lang="en-US" altLang="zh-CN" sz="1400" kern="0" dirty="0" smtClean="0">
                  <a:solidFill>
                    <a:prstClr val="black"/>
                  </a:solidFill>
                </a:rPr>
                <a:t/>
              </a:r>
              <a:br>
                <a:rPr lang="en-US" altLang="zh-CN" sz="1400" kern="0" dirty="0" smtClean="0">
                  <a:solidFill>
                    <a:prstClr val="black"/>
                  </a:solidFill>
                </a:rPr>
              </a:br>
              <a:endParaRPr lang="en-US" altLang="zh-CN" sz="1400" kern="0" dirty="0" smtClean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30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6000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500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40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40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40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8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50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50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00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350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500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</a:t>
            </a:r>
            <a:r>
              <a:rPr lang="zh-CN" altLang="en-US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叶一起学</a:t>
            </a:r>
            <a:r>
              <a:rPr lang="en-US" altLang="zh-CN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3000"/>
              </a:spcBef>
            </a:pPr>
            <a:r>
              <a:rPr lang="zh-CN" altLang="en-US" sz="4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440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037</a:t>
            </a:r>
            <a:r>
              <a:rPr lang="zh-CN" altLang="en-US" sz="4400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0"/>
              </a:spcBef>
            </a:pPr>
            <a:r>
              <a:rPr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415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5444</TotalTime>
  <Words>1358</Words>
  <Application>Microsoft Office PowerPoint</Application>
  <PresentationFormat>全屏显示(4:3)</PresentationFormat>
  <Paragraphs>237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方正粗宋简体</vt:lpstr>
      <vt:lpstr>方正正黑简体</vt:lpstr>
      <vt:lpstr>方正正中黑简体</vt:lpstr>
      <vt:lpstr>宋体</vt:lpstr>
      <vt:lpstr>微软雅黑</vt:lpstr>
      <vt:lpstr>Arial</vt:lpstr>
      <vt:lpstr>Arial Black</vt:lpstr>
      <vt:lpstr>Calibri</vt:lpstr>
      <vt:lpstr>Times New Roman</vt:lpstr>
      <vt:lpstr>Wingdings</vt:lpstr>
      <vt:lpstr>Office 主题</vt:lpstr>
      <vt:lpstr>1_Office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谢志鹏</dc:creator>
  <cp:lastModifiedBy>小巴</cp:lastModifiedBy>
  <cp:revision>356</cp:revision>
  <dcterms:created xsi:type="dcterms:W3CDTF">2013-02-22T09:25:07Z</dcterms:created>
  <dcterms:modified xsi:type="dcterms:W3CDTF">2014-02-28T05:27:55Z</dcterms:modified>
</cp:coreProperties>
</file>