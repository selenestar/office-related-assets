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handoutMasterIdLst>
    <p:handoutMasterId r:id="rId25"/>
  </p:handoutMasterIdLst>
  <p:sldIdLst>
    <p:sldId id="256" r:id="rId2"/>
    <p:sldId id="257" r:id="rId3"/>
    <p:sldId id="265" r:id="rId4"/>
    <p:sldId id="258" r:id="rId5"/>
    <p:sldId id="259" r:id="rId6"/>
    <p:sldId id="266" r:id="rId7"/>
    <p:sldId id="261" r:id="rId8"/>
    <p:sldId id="262" r:id="rId9"/>
    <p:sldId id="263" r:id="rId10"/>
    <p:sldId id="267" r:id="rId11"/>
    <p:sldId id="268" r:id="rId12"/>
    <p:sldId id="269" r:id="rId13"/>
    <p:sldId id="270" r:id="rId14"/>
    <p:sldId id="271" r:id="rId15"/>
    <p:sldId id="272" r:id="rId16"/>
    <p:sldId id="264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微软雅黑" panose="020B0503020204020204" pitchFamily="34" charset="-122"/>
      <p:regular r:id="rId30"/>
      <p:bold r:id="rId3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5" userDrawn="1">
          <p15:clr>
            <a:srgbClr val="A4A3A4"/>
          </p15:clr>
        </p15:guide>
        <p15:guide id="2" pos="1519" userDrawn="1">
          <p15:clr>
            <a:srgbClr val="A4A3A4"/>
          </p15:clr>
        </p15:guide>
        <p15:guide id="3" orient="horz" pos="709" userDrawn="1">
          <p15:clr>
            <a:srgbClr val="A4A3A4"/>
          </p15:clr>
        </p15:guide>
        <p15:guide id="4" orient="horz" pos="2024" userDrawn="1">
          <p15:clr>
            <a:srgbClr val="A4A3A4"/>
          </p15:clr>
        </p15:guide>
        <p15:guide id="5" orient="horz" pos="2387" userDrawn="1">
          <p15:clr>
            <a:srgbClr val="A4A3A4"/>
          </p15:clr>
        </p15:guide>
        <p15:guide id="6" pos="3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66"/>
    <a:srgbClr val="4E8EDC"/>
    <a:srgbClr val="FF9393"/>
    <a:srgbClr val="FF4B4B"/>
    <a:srgbClr val="FF1F1F"/>
    <a:srgbClr val="6390C7"/>
    <a:srgbClr val="CCFF99"/>
    <a:srgbClr val="99FF33"/>
    <a:srgbClr val="404040"/>
    <a:srgbClr val="008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48"/>
      </p:cViewPr>
      <p:guideLst>
        <p:guide orient="horz" pos="255"/>
        <p:guide pos="1519"/>
        <p:guide orient="horz" pos="709"/>
        <p:guide orient="horz" pos="2024"/>
        <p:guide orient="horz" pos="2387"/>
        <p:guide pos="3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4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&#31179;&#21494;PPT\&#35835;&#20070;&#31508;&#35760;\&#32479;&#35745;&#25968;&#23383;&#20250;&#25746;&#35854;\&#29992;&#25143;&#22686;&#38271;&#32479;&#35745;20140119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E:\&#31179;&#21494;PPT\&#35835;&#20070;&#31508;&#35760;\&#32479;&#35745;&#25968;&#23383;&#20250;&#25746;&#35854;\&#29992;&#25143;&#22686;&#38271;&#32479;&#35745;20140119.xlsx" TargetMode="External"/><Relationship Id="rId1" Type="http://schemas.openxmlformats.org/officeDocument/2006/relationships/themeOverride" Target="../theme/themeOverride1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file:///E:\&#31179;&#21494;PPT\&#35835;&#20070;&#31508;&#35760;\&#32479;&#35745;&#25968;&#23383;&#20250;&#25746;&#35854;\&#29992;&#25143;&#22686;&#38271;&#32479;&#35745;20140119.xlsx" TargetMode="External"/><Relationship Id="rId1" Type="http://schemas.openxmlformats.org/officeDocument/2006/relationships/themeOverride" Target="../theme/themeOverride2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file:///E:\&#31179;&#21494;PPT\&#35835;&#20070;&#31508;&#35760;\&#32479;&#35745;&#25968;&#23383;&#20250;&#25746;&#35854;\&#29992;&#25143;&#22686;&#38271;&#32479;&#35745;20140119.xlsx" TargetMode="External"/><Relationship Id="rId1" Type="http://schemas.openxmlformats.org/officeDocument/2006/relationships/themeOverride" Target="../theme/themeOverride3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file:///E:\&#31179;&#21494;PPT\&#35835;&#20070;&#31508;&#35760;\&#32479;&#35745;&#25968;&#23383;&#20250;&#25746;&#35854;\&#29992;&#25143;&#22686;&#38271;&#32479;&#35745;20140119.xlsx" TargetMode="External"/><Relationship Id="rId1" Type="http://schemas.openxmlformats.org/officeDocument/2006/relationships/themeOverride" Target="../theme/themeOverrid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'用户增长统计20140119 (2)'!$M$81</c:f>
              <c:strCache>
                <c:ptCount val="1"/>
                <c:pt idx="0">
                  <c:v>净关注人数</c:v>
                </c:pt>
              </c:strCache>
            </c:strRef>
          </c:tx>
          <c:spPr>
            <a:solidFill>
              <a:schemeClr val="bg1"/>
            </a:solidFill>
          </c:spPr>
          <c:invertIfNegative val="0"/>
          <c:cat>
            <c:numRef>
              <c:f>'用户增长统计20140119 (2)'!$L$138:$L$158</c:f>
              <c:numCache>
                <c:formatCode>General</c:formatCode>
                <c:ptCount val="3"/>
                <c:pt idx="0">
                  <c:v>9</c:v>
                </c:pt>
                <c:pt idx="1">
                  <c:v>10</c:v>
                </c:pt>
                <c:pt idx="2">
                  <c:v>11</c:v>
                </c:pt>
              </c:numCache>
            </c:numRef>
          </c:cat>
          <c:val>
            <c:numRef>
              <c:f>'用户增长统计20140119 (2)'!$M$138:$M$158</c:f>
              <c:numCache>
                <c:formatCode>General</c:formatCode>
                <c:ptCount val="3"/>
                <c:pt idx="0">
                  <c:v>23</c:v>
                </c:pt>
                <c:pt idx="1">
                  <c:v>38</c:v>
                </c:pt>
                <c:pt idx="2">
                  <c:v>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0705312"/>
        <c:axId val="170705872"/>
      </c:barChart>
      <c:catAx>
        <c:axId val="1707053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chemeClr val="bg1"/>
            </a:solidFill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pPr>
            <a:endParaRPr lang="zh-CN"/>
          </a:p>
        </c:txPr>
        <c:crossAx val="170705872"/>
        <c:crossesAt val="22"/>
        <c:auto val="1"/>
        <c:lblAlgn val="ctr"/>
        <c:lblOffset val="100"/>
        <c:noMultiLvlLbl val="0"/>
      </c:catAx>
      <c:valAx>
        <c:axId val="170705872"/>
        <c:scaling>
          <c:orientation val="minMax"/>
          <c:max val="50"/>
          <c:min val="22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170705312"/>
        <c:crosses val="autoZero"/>
        <c:crossBetween val="between"/>
        <c:majorUnit val="30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0146106736657896E-2"/>
          <c:y val="3.0695803778887101E-2"/>
          <c:w val="0.36152055993000898"/>
          <c:h val="0.65034538821732302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'用户增长统计20140119 (2)'!$M$81</c:f>
              <c:strCache>
                <c:ptCount val="1"/>
                <c:pt idx="0">
                  <c:v>净关注人数</c:v>
                </c:pt>
              </c:strCache>
            </c:strRef>
          </c:tx>
          <c:spPr>
            <a:solidFill>
              <a:sysClr val="window" lastClr="FFFFFF"/>
            </a:solidFill>
          </c:spPr>
          <c:invertIfNegative val="0"/>
          <c:cat>
            <c:numRef>
              <c:f>'用户增长统计20140119 (2)'!$L$138:$L$158</c:f>
              <c:numCache>
                <c:formatCode>General</c:formatCode>
                <c:ptCount val="3"/>
                <c:pt idx="0">
                  <c:v>9</c:v>
                </c:pt>
                <c:pt idx="1">
                  <c:v>10</c:v>
                </c:pt>
                <c:pt idx="2">
                  <c:v>11</c:v>
                </c:pt>
              </c:numCache>
            </c:numRef>
          </c:cat>
          <c:val>
            <c:numRef>
              <c:f>'用户增长统计20140119 (2)'!$M$138:$M$158</c:f>
              <c:numCache>
                <c:formatCode>General</c:formatCode>
                <c:ptCount val="3"/>
                <c:pt idx="0">
                  <c:v>23</c:v>
                </c:pt>
                <c:pt idx="1">
                  <c:v>38</c:v>
                </c:pt>
                <c:pt idx="2">
                  <c:v>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0708112"/>
        <c:axId val="170708672"/>
      </c:barChart>
      <c:catAx>
        <c:axId val="1707081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ysClr val="window" lastClr="FFFFFF"/>
            </a:solidFill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pPr>
            <a:endParaRPr lang="zh-CN"/>
          </a:p>
        </c:txPr>
        <c:crossAx val="170708672"/>
        <c:crosses val="autoZero"/>
        <c:auto val="1"/>
        <c:lblAlgn val="ctr"/>
        <c:lblOffset val="100"/>
        <c:noMultiLvlLbl val="0"/>
      </c:catAx>
      <c:valAx>
        <c:axId val="170708672"/>
        <c:scaling>
          <c:orientation val="minMax"/>
          <c:max val="50"/>
          <c:min val="22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ln>
            <a:solidFill>
              <a:sysClr val="window" lastClr="FFFFFF"/>
            </a:solidFill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pPr>
            <a:endParaRPr lang="zh-CN"/>
          </a:p>
        </c:txPr>
        <c:crossAx val="170708112"/>
        <c:crosses val="autoZero"/>
        <c:crossBetween val="between"/>
        <c:majorUnit val="30"/>
      </c:valAx>
    </c:plotArea>
    <c:plotVisOnly val="1"/>
    <c:dispBlanksAs val="gap"/>
    <c:showDLblsOverMax val="0"/>
  </c:chart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6435695538057697E-2"/>
          <c:y val="3.0695803778887101E-2"/>
          <c:w val="0.35356430446194198"/>
          <c:h val="0.65034538821732302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'用户增长统计20140119 (2)'!$M$81</c:f>
              <c:strCache>
                <c:ptCount val="1"/>
                <c:pt idx="0">
                  <c:v>净关注人数</c:v>
                </c:pt>
              </c:strCache>
            </c:strRef>
          </c:tx>
          <c:spPr>
            <a:solidFill>
              <a:sysClr val="window" lastClr="FFFFFF"/>
            </a:solidFill>
          </c:spPr>
          <c:invertIfNegative val="0"/>
          <c:cat>
            <c:numRef>
              <c:f>'用户增长统计20140119 (2)'!$L$138:$L$158</c:f>
              <c:numCache>
                <c:formatCode>General</c:formatCode>
                <c:ptCount val="3"/>
                <c:pt idx="0">
                  <c:v>9</c:v>
                </c:pt>
                <c:pt idx="1">
                  <c:v>10</c:v>
                </c:pt>
                <c:pt idx="2">
                  <c:v>11</c:v>
                </c:pt>
              </c:numCache>
            </c:numRef>
          </c:cat>
          <c:val>
            <c:numRef>
              <c:f>'用户增长统计20140119 (2)'!$M$138:$M$158</c:f>
              <c:numCache>
                <c:formatCode>General</c:formatCode>
                <c:ptCount val="3"/>
                <c:pt idx="0">
                  <c:v>23</c:v>
                </c:pt>
                <c:pt idx="1">
                  <c:v>38</c:v>
                </c:pt>
                <c:pt idx="2">
                  <c:v>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0710912"/>
        <c:axId val="170711472"/>
      </c:barChart>
      <c:catAx>
        <c:axId val="17071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ysClr val="window" lastClr="FFFFFF"/>
            </a:solidFill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pPr>
            <a:endParaRPr lang="zh-CN"/>
          </a:p>
        </c:txPr>
        <c:crossAx val="170711472"/>
        <c:crosses val="autoZero"/>
        <c:auto val="1"/>
        <c:lblAlgn val="ctr"/>
        <c:lblOffset val="100"/>
        <c:noMultiLvlLbl val="0"/>
      </c:catAx>
      <c:valAx>
        <c:axId val="170711472"/>
        <c:scaling>
          <c:orientation val="minMax"/>
          <c:max val="5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solidFill>
              <a:sysClr val="window" lastClr="FFFFFF"/>
            </a:solidFill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pPr>
            <a:endParaRPr lang="zh-CN"/>
          </a:p>
        </c:txPr>
        <c:crossAx val="170710912"/>
        <c:crosses val="autoZero"/>
        <c:crossBetween val="between"/>
        <c:majorUnit val="5"/>
      </c:valAx>
    </c:plotArea>
    <c:plotVisOnly val="1"/>
    <c:dispBlanksAs val="gap"/>
    <c:showDLblsOverMax val="0"/>
  </c:chart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0146106736657896E-2"/>
          <c:y val="3.0695803778887101E-2"/>
          <c:w val="0.36152055993000898"/>
          <c:h val="0.65034538821732302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'用户增长统计20140119 (2)'!$M$81</c:f>
              <c:strCache>
                <c:ptCount val="1"/>
                <c:pt idx="0">
                  <c:v>净关注人数</c:v>
                </c:pt>
              </c:strCache>
            </c:strRef>
          </c:tx>
          <c:spPr>
            <a:solidFill>
              <a:sysClr val="window" lastClr="FFFFFF"/>
            </a:solidFill>
          </c:spPr>
          <c:invertIfNegative val="0"/>
          <c:cat>
            <c:numRef>
              <c:f>'用户增长统计20140119 (2)'!$L$138:$L$158</c:f>
              <c:numCache>
                <c:formatCode>General</c:formatCode>
                <c:ptCount val="3"/>
                <c:pt idx="0">
                  <c:v>9</c:v>
                </c:pt>
                <c:pt idx="1">
                  <c:v>10</c:v>
                </c:pt>
                <c:pt idx="2">
                  <c:v>11</c:v>
                </c:pt>
              </c:numCache>
            </c:numRef>
          </c:cat>
          <c:val>
            <c:numRef>
              <c:f>'用户增长统计20140119 (2)'!$M$138:$M$158</c:f>
              <c:numCache>
                <c:formatCode>General</c:formatCode>
                <c:ptCount val="3"/>
                <c:pt idx="0">
                  <c:v>23</c:v>
                </c:pt>
                <c:pt idx="1">
                  <c:v>38</c:v>
                </c:pt>
                <c:pt idx="2">
                  <c:v>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0713712"/>
        <c:axId val="170714272"/>
      </c:barChart>
      <c:catAx>
        <c:axId val="1707137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ysClr val="window" lastClr="FFFFFF"/>
            </a:solidFill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pPr>
            <a:endParaRPr lang="zh-CN"/>
          </a:p>
        </c:txPr>
        <c:crossAx val="170714272"/>
        <c:crosses val="autoZero"/>
        <c:auto val="1"/>
        <c:lblAlgn val="ctr"/>
        <c:lblOffset val="100"/>
        <c:noMultiLvlLbl val="0"/>
      </c:catAx>
      <c:valAx>
        <c:axId val="170714272"/>
        <c:scaling>
          <c:orientation val="minMax"/>
          <c:max val="50"/>
          <c:min val="22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ln>
            <a:solidFill>
              <a:sysClr val="window" lastClr="FFFFFF"/>
            </a:solidFill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pPr>
            <a:endParaRPr lang="zh-CN"/>
          </a:p>
        </c:txPr>
        <c:crossAx val="170713712"/>
        <c:crosses val="autoZero"/>
        <c:crossBetween val="between"/>
        <c:majorUnit val="30"/>
      </c:valAx>
    </c:plotArea>
    <c:plotVisOnly val="1"/>
    <c:dispBlanksAs val="gap"/>
    <c:showDLblsOverMax val="0"/>
  </c:chart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6435695538057697E-2"/>
          <c:y val="3.0695803778887101E-2"/>
          <c:w val="0.35356430446194198"/>
          <c:h val="0.65034538821732302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'用户增长统计20140119 (2)'!$M$81</c:f>
              <c:strCache>
                <c:ptCount val="1"/>
                <c:pt idx="0">
                  <c:v>净关注人数</c:v>
                </c:pt>
              </c:strCache>
            </c:strRef>
          </c:tx>
          <c:spPr>
            <a:solidFill>
              <a:sysClr val="window" lastClr="FFFFFF"/>
            </a:solidFill>
          </c:spPr>
          <c:invertIfNegative val="0"/>
          <c:cat>
            <c:numRef>
              <c:f>'用户增长统计20140119 (2)'!$L$138:$L$158</c:f>
              <c:numCache>
                <c:formatCode>General</c:formatCode>
                <c:ptCount val="3"/>
                <c:pt idx="0">
                  <c:v>9</c:v>
                </c:pt>
                <c:pt idx="1">
                  <c:v>10</c:v>
                </c:pt>
                <c:pt idx="2">
                  <c:v>11</c:v>
                </c:pt>
              </c:numCache>
            </c:numRef>
          </c:cat>
          <c:val>
            <c:numRef>
              <c:f>'用户增长统计20140119 (2)'!$M$138:$M$158</c:f>
              <c:numCache>
                <c:formatCode>General</c:formatCode>
                <c:ptCount val="3"/>
                <c:pt idx="0">
                  <c:v>23</c:v>
                </c:pt>
                <c:pt idx="1">
                  <c:v>38</c:v>
                </c:pt>
                <c:pt idx="2">
                  <c:v>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1788624"/>
        <c:axId val="171789184"/>
      </c:barChart>
      <c:catAx>
        <c:axId val="1717886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ysClr val="window" lastClr="FFFFFF"/>
            </a:solidFill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pPr>
            <a:endParaRPr lang="zh-CN"/>
          </a:p>
        </c:txPr>
        <c:crossAx val="171789184"/>
        <c:crosses val="autoZero"/>
        <c:auto val="1"/>
        <c:lblAlgn val="ctr"/>
        <c:lblOffset val="100"/>
        <c:noMultiLvlLbl val="0"/>
      </c:catAx>
      <c:valAx>
        <c:axId val="171789184"/>
        <c:scaling>
          <c:orientation val="minMax"/>
          <c:max val="5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solidFill>
              <a:sysClr val="window" lastClr="FFFFFF"/>
            </a:solidFill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pPr>
            <a:endParaRPr lang="zh-CN"/>
          </a:p>
        </c:txPr>
        <c:crossAx val="171788624"/>
        <c:crosses val="autoZero"/>
        <c:crossBetween val="between"/>
        <c:majorUnit val="5"/>
      </c:valAx>
    </c:plotArea>
    <c:plotVisOnly val="1"/>
    <c:dispBlanksAs val="gap"/>
    <c:showDLblsOverMax val="0"/>
  </c:chart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BC2973-86B9-4938-BBED-AF75A14E88EA}" type="datetimeFigureOut">
              <a:rPr lang="zh-CN" altLang="en-US" smtClean="0"/>
              <a:t>2014/3/6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1DD80-7909-4B28-A3BE-D437D7AD6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717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版标题横版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0"/>
          <p:cNvSpPr/>
          <p:nvPr userDrawn="1"/>
        </p:nvSpPr>
        <p:spPr>
          <a:xfrm rot="2138659">
            <a:off x="3506446" y="-914931"/>
            <a:ext cx="5578570" cy="5303285"/>
          </a:xfrm>
          <a:custGeom>
            <a:avLst/>
            <a:gdLst>
              <a:gd name="connsiteX0" fmla="*/ 0 w 3394720"/>
              <a:gd name="connsiteY0" fmla="*/ 0 h 3672408"/>
              <a:gd name="connsiteX1" fmla="*/ 3394720 w 3394720"/>
              <a:gd name="connsiteY1" fmla="*/ 0 h 3672408"/>
              <a:gd name="connsiteX2" fmla="*/ 3394720 w 3394720"/>
              <a:gd name="connsiteY2" fmla="*/ 3672408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217299 w 3394720"/>
              <a:gd name="connsiteY1" fmla="*/ 68238 h 3672408"/>
              <a:gd name="connsiteX2" fmla="*/ 3394720 w 3394720"/>
              <a:gd name="connsiteY2" fmla="*/ 3672408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217299 w 3394720"/>
              <a:gd name="connsiteY1" fmla="*/ 68238 h 3672408"/>
              <a:gd name="connsiteX2" fmla="*/ 3394720 w 3394720"/>
              <a:gd name="connsiteY2" fmla="*/ 3481340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026231 w 3394720"/>
              <a:gd name="connsiteY1" fmla="*/ 122829 h 3672408"/>
              <a:gd name="connsiteX2" fmla="*/ 3394720 w 3394720"/>
              <a:gd name="connsiteY2" fmla="*/ 3481340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101168 w 3495888"/>
              <a:gd name="connsiteY0" fmla="*/ 0 h 3542897"/>
              <a:gd name="connsiteX1" fmla="*/ 3127399 w 3495888"/>
              <a:gd name="connsiteY1" fmla="*/ 122829 h 3542897"/>
              <a:gd name="connsiteX2" fmla="*/ 3495888 w 3495888"/>
              <a:gd name="connsiteY2" fmla="*/ 3481340 h 3542897"/>
              <a:gd name="connsiteX3" fmla="*/ 0 w 3495888"/>
              <a:gd name="connsiteY3" fmla="*/ 3542897 h 3542897"/>
              <a:gd name="connsiteX4" fmla="*/ 101168 w 3495888"/>
              <a:gd name="connsiteY4" fmla="*/ 0 h 3542897"/>
              <a:gd name="connsiteX0" fmla="*/ 101168 w 3726803"/>
              <a:gd name="connsiteY0" fmla="*/ 0 h 3542897"/>
              <a:gd name="connsiteX1" fmla="*/ 3127399 w 3726803"/>
              <a:gd name="connsiteY1" fmla="*/ 122829 h 3542897"/>
              <a:gd name="connsiteX2" fmla="*/ 3726803 w 3726803"/>
              <a:gd name="connsiteY2" fmla="*/ 3290893 h 3542897"/>
              <a:gd name="connsiteX3" fmla="*/ 0 w 3726803"/>
              <a:gd name="connsiteY3" fmla="*/ 3542897 h 3542897"/>
              <a:gd name="connsiteX4" fmla="*/ 101168 w 3726803"/>
              <a:gd name="connsiteY4" fmla="*/ 0 h 3542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6803" h="3542897">
                <a:moveTo>
                  <a:pt x="101168" y="0"/>
                </a:moveTo>
                <a:lnTo>
                  <a:pt x="3127399" y="122829"/>
                </a:lnTo>
                <a:lnTo>
                  <a:pt x="3726803" y="3290893"/>
                </a:lnTo>
                <a:lnTo>
                  <a:pt x="0" y="3542897"/>
                </a:lnTo>
                <a:lnTo>
                  <a:pt x="101168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8745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0"/>
          <p:cNvSpPr/>
          <p:nvPr userDrawn="1"/>
        </p:nvSpPr>
        <p:spPr>
          <a:xfrm rot="1719050">
            <a:off x="3572754" y="-779294"/>
            <a:ext cx="5578570" cy="5303285"/>
          </a:xfrm>
          <a:custGeom>
            <a:avLst/>
            <a:gdLst>
              <a:gd name="connsiteX0" fmla="*/ 0 w 3394720"/>
              <a:gd name="connsiteY0" fmla="*/ 0 h 3672408"/>
              <a:gd name="connsiteX1" fmla="*/ 3394720 w 3394720"/>
              <a:gd name="connsiteY1" fmla="*/ 0 h 3672408"/>
              <a:gd name="connsiteX2" fmla="*/ 3394720 w 3394720"/>
              <a:gd name="connsiteY2" fmla="*/ 3672408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217299 w 3394720"/>
              <a:gd name="connsiteY1" fmla="*/ 68238 h 3672408"/>
              <a:gd name="connsiteX2" fmla="*/ 3394720 w 3394720"/>
              <a:gd name="connsiteY2" fmla="*/ 3672408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217299 w 3394720"/>
              <a:gd name="connsiteY1" fmla="*/ 68238 h 3672408"/>
              <a:gd name="connsiteX2" fmla="*/ 3394720 w 3394720"/>
              <a:gd name="connsiteY2" fmla="*/ 3481340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026231 w 3394720"/>
              <a:gd name="connsiteY1" fmla="*/ 122829 h 3672408"/>
              <a:gd name="connsiteX2" fmla="*/ 3394720 w 3394720"/>
              <a:gd name="connsiteY2" fmla="*/ 3481340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101168 w 3495888"/>
              <a:gd name="connsiteY0" fmla="*/ 0 h 3542897"/>
              <a:gd name="connsiteX1" fmla="*/ 3127399 w 3495888"/>
              <a:gd name="connsiteY1" fmla="*/ 122829 h 3542897"/>
              <a:gd name="connsiteX2" fmla="*/ 3495888 w 3495888"/>
              <a:gd name="connsiteY2" fmla="*/ 3481340 h 3542897"/>
              <a:gd name="connsiteX3" fmla="*/ 0 w 3495888"/>
              <a:gd name="connsiteY3" fmla="*/ 3542897 h 3542897"/>
              <a:gd name="connsiteX4" fmla="*/ 101168 w 3495888"/>
              <a:gd name="connsiteY4" fmla="*/ 0 h 3542897"/>
              <a:gd name="connsiteX0" fmla="*/ 101168 w 3726803"/>
              <a:gd name="connsiteY0" fmla="*/ 0 h 3542897"/>
              <a:gd name="connsiteX1" fmla="*/ 3127399 w 3726803"/>
              <a:gd name="connsiteY1" fmla="*/ 122829 h 3542897"/>
              <a:gd name="connsiteX2" fmla="*/ 3726803 w 3726803"/>
              <a:gd name="connsiteY2" fmla="*/ 3290893 h 3542897"/>
              <a:gd name="connsiteX3" fmla="*/ 0 w 3726803"/>
              <a:gd name="connsiteY3" fmla="*/ 3542897 h 3542897"/>
              <a:gd name="connsiteX4" fmla="*/ 101168 w 3726803"/>
              <a:gd name="connsiteY4" fmla="*/ 0 h 3542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6803" h="3542897">
                <a:moveTo>
                  <a:pt x="101168" y="0"/>
                </a:moveTo>
                <a:lnTo>
                  <a:pt x="3127399" y="122829"/>
                </a:lnTo>
                <a:lnTo>
                  <a:pt x="3726803" y="3290893"/>
                </a:lnTo>
                <a:lnTo>
                  <a:pt x="0" y="3542897"/>
                </a:lnTo>
                <a:lnTo>
                  <a:pt x="101168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5616" y="-732440"/>
            <a:ext cx="648000" cy="5601600"/>
          </a:xfrm>
        </p:spPr>
        <p:txBody>
          <a:bodyPr vert="horz">
            <a:noAutofit/>
          </a:bodyPr>
          <a:lstStyle>
            <a:lvl1pPr>
              <a:defRPr sz="19000">
                <a:solidFill>
                  <a:srgbClr val="4E8EDC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24408" y="692696"/>
            <a:ext cx="4320000" cy="30240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 b="1">
                <a:solidFill>
                  <a:schemeClr val="bg1"/>
                </a:solidFill>
              </a:defRPr>
            </a:lvl2pPr>
            <a:lvl3pPr marL="914400" indent="0">
              <a:buNone/>
              <a:defRPr b="1">
                <a:solidFill>
                  <a:schemeClr val="bg1"/>
                </a:solidFill>
              </a:defRPr>
            </a:lvl3pPr>
            <a:lvl4pPr marL="1371600" indent="0">
              <a:buNone/>
              <a:defRPr b="1">
                <a:solidFill>
                  <a:schemeClr val="bg1"/>
                </a:solidFill>
              </a:defRPr>
            </a:lvl4pPr>
            <a:lvl5pPr marL="1828800" indent="0"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83568" y="5342147"/>
            <a:ext cx="7560320" cy="0"/>
          </a:xfrm>
          <a:prstGeom prst="line">
            <a:avLst/>
          </a:prstGeom>
          <a:ln w="38100">
            <a:solidFill>
              <a:srgbClr val="4E8EDC"/>
            </a:solidFill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8"/>
          <p:cNvSpPr>
            <a:spLocks noGrp="1"/>
          </p:cNvSpPr>
          <p:nvPr>
            <p:ph sz="quarter" idx="13"/>
          </p:nvPr>
        </p:nvSpPr>
        <p:spPr>
          <a:xfrm>
            <a:off x="611956" y="5465266"/>
            <a:ext cx="1583780" cy="863947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rgbClr val="4E8EDC"/>
                </a:solidFill>
                <a:latin typeface="造字工房朗倩（非商用）常规体" pitchFamily="50" charset="-122"/>
                <a:ea typeface="造字工房朗倩（非商用）常规体" pitchFamily="50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/>
          </a:p>
        </p:txBody>
      </p:sp>
      <p:sp>
        <p:nvSpPr>
          <p:cNvPr id="10" name="内容占位符 8"/>
          <p:cNvSpPr>
            <a:spLocks noGrp="1"/>
          </p:cNvSpPr>
          <p:nvPr>
            <p:ph sz="quarter" idx="14"/>
          </p:nvPr>
        </p:nvSpPr>
        <p:spPr>
          <a:xfrm>
            <a:off x="2267744" y="5537124"/>
            <a:ext cx="5976664" cy="1636292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/>
          </a:p>
        </p:txBody>
      </p:sp>
      <p:sp>
        <p:nvSpPr>
          <p:cNvPr id="11" name="内容占位符 8"/>
          <p:cNvSpPr>
            <a:spLocks noGrp="1"/>
          </p:cNvSpPr>
          <p:nvPr>
            <p:ph sz="quarter" idx="15"/>
          </p:nvPr>
        </p:nvSpPr>
        <p:spPr>
          <a:xfrm>
            <a:off x="539552" y="2998800"/>
            <a:ext cx="2232248" cy="504056"/>
          </a:xfrm>
        </p:spPr>
        <p:txBody>
          <a:bodyPr>
            <a:noAutofit/>
          </a:bodyPr>
          <a:lstStyle>
            <a:lvl1pPr marL="0" indent="0" algn="l">
              <a:buNone/>
              <a:defRPr sz="2200" b="1">
                <a:solidFill>
                  <a:srgbClr val="4E8EDC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828739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1202" userDrawn="1">
          <p15:clr>
            <a:srgbClr val="FBAE40"/>
          </p15:clr>
        </p15:guide>
        <p15:guide id="3" pos="519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数字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10"/>
          <p:cNvSpPr/>
          <p:nvPr userDrawn="1"/>
        </p:nvSpPr>
        <p:spPr>
          <a:xfrm rot="1719050">
            <a:off x="3572754" y="-779294"/>
            <a:ext cx="5578570" cy="5303285"/>
          </a:xfrm>
          <a:custGeom>
            <a:avLst/>
            <a:gdLst>
              <a:gd name="connsiteX0" fmla="*/ 0 w 3394720"/>
              <a:gd name="connsiteY0" fmla="*/ 0 h 3672408"/>
              <a:gd name="connsiteX1" fmla="*/ 3394720 w 3394720"/>
              <a:gd name="connsiteY1" fmla="*/ 0 h 3672408"/>
              <a:gd name="connsiteX2" fmla="*/ 3394720 w 3394720"/>
              <a:gd name="connsiteY2" fmla="*/ 3672408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217299 w 3394720"/>
              <a:gd name="connsiteY1" fmla="*/ 68238 h 3672408"/>
              <a:gd name="connsiteX2" fmla="*/ 3394720 w 3394720"/>
              <a:gd name="connsiteY2" fmla="*/ 3672408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217299 w 3394720"/>
              <a:gd name="connsiteY1" fmla="*/ 68238 h 3672408"/>
              <a:gd name="connsiteX2" fmla="*/ 3394720 w 3394720"/>
              <a:gd name="connsiteY2" fmla="*/ 3481340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026231 w 3394720"/>
              <a:gd name="connsiteY1" fmla="*/ 122829 h 3672408"/>
              <a:gd name="connsiteX2" fmla="*/ 3394720 w 3394720"/>
              <a:gd name="connsiteY2" fmla="*/ 3481340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101168 w 3495888"/>
              <a:gd name="connsiteY0" fmla="*/ 0 h 3542897"/>
              <a:gd name="connsiteX1" fmla="*/ 3127399 w 3495888"/>
              <a:gd name="connsiteY1" fmla="*/ 122829 h 3542897"/>
              <a:gd name="connsiteX2" fmla="*/ 3495888 w 3495888"/>
              <a:gd name="connsiteY2" fmla="*/ 3481340 h 3542897"/>
              <a:gd name="connsiteX3" fmla="*/ 0 w 3495888"/>
              <a:gd name="connsiteY3" fmla="*/ 3542897 h 3542897"/>
              <a:gd name="connsiteX4" fmla="*/ 101168 w 3495888"/>
              <a:gd name="connsiteY4" fmla="*/ 0 h 3542897"/>
              <a:gd name="connsiteX0" fmla="*/ 101168 w 3726803"/>
              <a:gd name="connsiteY0" fmla="*/ 0 h 3542897"/>
              <a:gd name="connsiteX1" fmla="*/ 3127399 w 3726803"/>
              <a:gd name="connsiteY1" fmla="*/ 122829 h 3542897"/>
              <a:gd name="connsiteX2" fmla="*/ 3726803 w 3726803"/>
              <a:gd name="connsiteY2" fmla="*/ 3290893 h 3542897"/>
              <a:gd name="connsiteX3" fmla="*/ 0 w 3726803"/>
              <a:gd name="connsiteY3" fmla="*/ 3542897 h 3542897"/>
              <a:gd name="connsiteX4" fmla="*/ 101168 w 3726803"/>
              <a:gd name="connsiteY4" fmla="*/ 0 h 3542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6803" h="3542897">
                <a:moveTo>
                  <a:pt x="101168" y="0"/>
                </a:moveTo>
                <a:lnTo>
                  <a:pt x="3127399" y="122829"/>
                </a:lnTo>
                <a:lnTo>
                  <a:pt x="3726803" y="3290893"/>
                </a:lnTo>
                <a:lnTo>
                  <a:pt x="0" y="3542897"/>
                </a:lnTo>
                <a:lnTo>
                  <a:pt x="101168" y="0"/>
                </a:lnTo>
                <a:close/>
              </a:path>
            </a:pathLst>
          </a:custGeom>
          <a:solidFill>
            <a:srgbClr val="FF9393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10"/>
          <p:cNvSpPr/>
          <p:nvPr userDrawn="1"/>
        </p:nvSpPr>
        <p:spPr>
          <a:xfrm rot="2138659">
            <a:off x="3506446" y="-914931"/>
            <a:ext cx="5578570" cy="5303285"/>
          </a:xfrm>
          <a:custGeom>
            <a:avLst/>
            <a:gdLst>
              <a:gd name="connsiteX0" fmla="*/ 0 w 3394720"/>
              <a:gd name="connsiteY0" fmla="*/ 0 h 3672408"/>
              <a:gd name="connsiteX1" fmla="*/ 3394720 w 3394720"/>
              <a:gd name="connsiteY1" fmla="*/ 0 h 3672408"/>
              <a:gd name="connsiteX2" fmla="*/ 3394720 w 3394720"/>
              <a:gd name="connsiteY2" fmla="*/ 3672408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217299 w 3394720"/>
              <a:gd name="connsiteY1" fmla="*/ 68238 h 3672408"/>
              <a:gd name="connsiteX2" fmla="*/ 3394720 w 3394720"/>
              <a:gd name="connsiteY2" fmla="*/ 3672408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217299 w 3394720"/>
              <a:gd name="connsiteY1" fmla="*/ 68238 h 3672408"/>
              <a:gd name="connsiteX2" fmla="*/ 3394720 w 3394720"/>
              <a:gd name="connsiteY2" fmla="*/ 3481340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026231 w 3394720"/>
              <a:gd name="connsiteY1" fmla="*/ 122829 h 3672408"/>
              <a:gd name="connsiteX2" fmla="*/ 3394720 w 3394720"/>
              <a:gd name="connsiteY2" fmla="*/ 3481340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101168 w 3495888"/>
              <a:gd name="connsiteY0" fmla="*/ 0 h 3542897"/>
              <a:gd name="connsiteX1" fmla="*/ 3127399 w 3495888"/>
              <a:gd name="connsiteY1" fmla="*/ 122829 h 3542897"/>
              <a:gd name="connsiteX2" fmla="*/ 3495888 w 3495888"/>
              <a:gd name="connsiteY2" fmla="*/ 3481340 h 3542897"/>
              <a:gd name="connsiteX3" fmla="*/ 0 w 3495888"/>
              <a:gd name="connsiteY3" fmla="*/ 3542897 h 3542897"/>
              <a:gd name="connsiteX4" fmla="*/ 101168 w 3495888"/>
              <a:gd name="connsiteY4" fmla="*/ 0 h 3542897"/>
              <a:gd name="connsiteX0" fmla="*/ 101168 w 3726803"/>
              <a:gd name="connsiteY0" fmla="*/ 0 h 3542897"/>
              <a:gd name="connsiteX1" fmla="*/ 3127399 w 3726803"/>
              <a:gd name="connsiteY1" fmla="*/ 122829 h 3542897"/>
              <a:gd name="connsiteX2" fmla="*/ 3726803 w 3726803"/>
              <a:gd name="connsiteY2" fmla="*/ 3290893 h 3542897"/>
              <a:gd name="connsiteX3" fmla="*/ 0 w 3726803"/>
              <a:gd name="connsiteY3" fmla="*/ 3542897 h 3542897"/>
              <a:gd name="connsiteX4" fmla="*/ 101168 w 3726803"/>
              <a:gd name="connsiteY4" fmla="*/ 0 h 3542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6803" h="3542897">
                <a:moveTo>
                  <a:pt x="101168" y="0"/>
                </a:moveTo>
                <a:lnTo>
                  <a:pt x="3127399" y="122829"/>
                </a:lnTo>
                <a:lnTo>
                  <a:pt x="3726803" y="3290893"/>
                </a:lnTo>
                <a:lnTo>
                  <a:pt x="0" y="3542897"/>
                </a:lnTo>
                <a:lnTo>
                  <a:pt x="101168" y="0"/>
                </a:lnTo>
                <a:close/>
              </a:path>
            </a:pathLst>
          </a:custGeom>
          <a:solidFill>
            <a:srgbClr val="FF9393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000" y="-734400"/>
            <a:ext cx="648000" cy="5601600"/>
          </a:xfrm>
        </p:spPr>
        <p:txBody>
          <a:bodyPr vert="horz">
            <a:noAutofit/>
          </a:bodyPr>
          <a:lstStyle>
            <a:lvl1pPr>
              <a:defRPr sz="19000">
                <a:solidFill>
                  <a:srgbClr val="FF6666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24408" y="691200"/>
            <a:ext cx="4320000" cy="30240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 b="1">
                <a:solidFill>
                  <a:schemeClr val="bg1"/>
                </a:solidFill>
              </a:defRPr>
            </a:lvl2pPr>
            <a:lvl3pPr marL="914400" indent="0">
              <a:buNone/>
              <a:defRPr b="1">
                <a:solidFill>
                  <a:schemeClr val="bg1"/>
                </a:solidFill>
              </a:defRPr>
            </a:lvl3pPr>
            <a:lvl4pPr marL="1371600" indent="0">
              <a:buNone/>
              <a:defRPr b="1">
                <a:solidFill>
                  <a:schemeClr val="bg1"/>
                </a:solidFill>
              </a:defRPr>
            </a:lvl4pPr>
            <a:lvl5pPr marL="1828800" indent="0"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457200" y="5590059"/>
            <a:ext cx="7787159" cy="935285"/>
          </a:xfrm>
        </p:spPr>
        <p:txBody>
          <a:bodyPr>
            <a:noAutofit/>
          </a:bodyPr>
          <a:lstStyle>
            <a:lvl1pPr marL="0" indent="0" algn="r">
              <a:buNone/>
              <a:defRPr sz="3200" b="1">
                <a:solidFill>
                  <a:srgbClr val="FF6666"/>
                </a:solidFill>
                <a:latin typeface="造字工房尚雅（非商用）常规体" pitchFamily="50" charset="-122"/>
                <a:ea typeface="造字工房尚雅（非商用）常规体" pitchFamily="50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632623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1202" userDrawn="1">
          <p15:clr>
            <a:srgbClr val="FBAE40"/>
          </p15:clr>
        </p15:guide>
        <p15:guide id="3" pos="519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2014/3/6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2014/3/6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2" r:id="rId4"/>
    <p:sldLayoutId id="2147483653" r:id="rId5"/>
    <p:sldLayoutId id="2147483655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>
              <a:lumMod val="65000"/>
              <a:lumOff val="35000"/>
            </a:schemeClr>
          </a:solidFill>
          <a:latin typeface="造字工房朗倩（非商用）常规体" pitchFamily="50" charset="-122"/>
          <a:ea typeface="造字工房朗倩（非商用）常规体" pitchFamily="50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595959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595959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595959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595959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595959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折角形 4"/>
          <p:cNvSpPr/>
          <p:nvPr/>
        </p:nvSpPr>
        <p:spPr>
          <a:xfrm>
            <a:off x="0" y="2080593"/>
            <a:ext cx="9144000" cy="2016224"/>
          </a:xfrm>
          <a:prstGeom prst="foldedCorner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9810" y="2492896"/>
            <a:ext cx="7772400" cy="1470025"/>
          </a:xfrm>
        </p:spPr>
        <p:txBody>
          <a:bodyPr>
            <a:noAutofit/>
          </a:bodyPr>
          <a:lstStyle/>
          <a:p>
            <a:pPr algn="r"/>
            <a:r>
              <a:rPr lang="zh-CN" altLang="en-US" sz="6000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造字工房朗倩（非商用）粗体" pitchFamily="50" charset="-122"/>
                <a:ea typeface="造字工房朗倩（非商用）粗体" pitchFamily="50" charset="-122"/>
              </a:rPr>
              <a:t>统计数字会撒谎</a:t>
            </a:r>
            <a:endParaRPr lang="zh-CN" altLang="en-US" sz="60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造字工房朗倩（非商用）粗体" pitchFamily="50" charset="-122"/>
              <a:ea typeface="造字工房朗倩（非商用）粗体" pitchFamily="50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081930" y="4484712"/>
            <a:ext cx="2520280" cy="456456"/>
          </a:xfrm>
        </p:spPr>
        <p:txBody>
          <a:bodyPr>
            <a:normAutofit/>
          </a:bodyPr>
          <a:lstStyle/>
          <a:p>
            <a:r>
              <a:rPr lang="zh-CN" altLang="en-US" sz="2000" dirty="0" smtClean="0">
                <a:solidFill>
                  <a:srgbClr val="FF6666"/>
                </a:solidFill>
                <a:latin typeface="微软雅黑" pitchFamily="34" charset="-122"/>
                <a:ea typeface="微软雅黑" pitchFamily="34" charset="-122"/>
              </a:rPr>
              <a:t>读书笔记：</a:t>
            </a:r>
            <a:r>
              <a:rPr lang="en-US" altLang="zh-CN" sz="2000" dirty="0" smtClean="0">
                <a:solidFill>
                  <a:srgbClr val="FF6666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2000" dirty="0" smtClean="0">
                <a:solidFill>
                  <a:srgbClr val="FF6666"/>
                </a:solidFill>
                <a:latin typeface="微软雅黑" pitchFamily="34" charset="-122"/>
                <a:ea typeface="微软雅黑" pitchFamily="34" charset="-122"/>
              </a:rPr>
              <a:t>常子冠</a:t>
            </a:r>
            <a:endParaRPr lang="zh-CN" altLang="en-US" sz="2000" dirty="0">
              <a:solidFill>
                <a:srgbClr val="FF66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 descr="20509805-1_u_2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4" r="15234"/>
          <a:stretch/>
        </p:blipFill>
        <p:spPr>
          <a:xfrm>
            <a:off x="411961" y="1569035"/>
            <a:ext cx="2336474" cy="33646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副标题 2"/>
          <p:cNvSpPr txBox="1">
            <a:spLocks/>
          </p:cNvSpPr>
          <p:nvPr/>
        </p:nvSpPr>
        <p:spPr>
          <a:xfrm>
            <a:off x="3059832" y="4484712"/>
            <a:ext cx="2520280" cy="456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rgbClr val="FF6666"/>
                </a:solidFill>
              </a:rPr>
              <a:t>作者</a:t>
            </a:r>
            <a:r>
              <a:rPr lang="zh-CN" altLang="en-US" sz="2000" dirty="0" smtClean="0">
                <a:solidFill>
                  <a:srgbClr val="FF6666"/>
                </a:solidFill>
              </a:rPr>
              <a:t>：</a:t>
            </a:r>
            <a:r>
              <a:rPr lang="en-US" altLang="zh-CN" sz="2000" dirty="0" smtClean="0">
                <a:solidFill>
                  <a:srgbClr val="FF6666"/>
                </a:solidFill>
              </a:rPr>
              <a:t>Darrel Huff</a:t>
            </a:r>
            <a:endParaRPr lang="zh-CN" altLang="en-US" sz="2000" dirty="0">
              <a:solidFill>
                <a:srgbClr val="FF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46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10"/>
          <p:cNvSpPr/>
          <p:nvPr/>
        </p:nvSpPr>
        <p:spPr>
          <a:xfrm rot="21381712">
            <a:off x="4624977" y="2097836"/>
            <a:ext cx="3726803" cy="3542897"/>
          </a:xfrm>
          <a:custGeom>
            <a:avLst/>
            <a:gdLst>
              <a:gd name="connsiteX0" fmla="*/ 0 w 3394720"/>
              <a:gd name="connsiteY0" fmla="*/ 0 h 3672408"/>
              <a:gd name="connsiteX1" fmla="*/ 3394720 w 3394720"/>
              <a:gd name="connsiteY1" fmla="*/ 0 h 3672408"/>
              <a:gd name="connsiteX2" fmla="*/ 3394720 w 3394720"/>
              <a:gd name="connsiteY2" fmla="*/ 3672408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217299 w 3394720"/>
              <a:gd name="connsiteY1" fmla="*/ 68238 h 3672408"/>
              <a:gd name="connsiteX2" fmla="*/ 3394720 w 3394720"/>
              <a:gd name="connsiteY2" fmla="*/ 3672408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217299 w 3394720"/>
              <a:gd name="connsiteY1" fmla="*/ 68238 h 3672408"/>
              <a:gd name="connsiteX2" fmla="*/ 3394720 w 3394720"/>
              <a:gd name="connsiteY2" fmla="*/ 3481340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026231 w 3394720"/>
              <a:gd name="connsiteY1" fmla="*/ 122829 h 3672408"/>
              <a:gd name="connsiteX2" fmla="*/ 3394720 w 3394720"/>
              <a:gd name="connsiteY2" fmla="*/ 3481340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101168 w 3495888"/>
              <a:gd name="connsiteY0" fmla="*/ 0 h 3542897"/>
              <a:gd name="connsiteX1" fmla="*/ 3127399 w 3495888"/>
              <a:gd name="connsiteY1" fmla="*/ 122829 h 3542897"/>
              <a:gd name="connsiteX2" fmla="*/ 3495888 w 3495888"/>
              <a:gd name="connsiteY2" fmla="*/ 3481340 h 3542897"/>
              <a:gd name="connsiteX3" fmla="*/ 0 w 3495888"/>
              <a:gd name="connsiteY3" fmla="*/ 3542897 h 3542897"/>
              <a:gd name="connsiteX4" fmla="*/ 101168 w 3495888"/>
              <a:gd name="connsiteY4" fmla="*/ 0 h 3542897"/>
              <a:gd name="connsiteX0" fmla="*/ 101168 w 3726803"/>
              <a:gd name="connsiteY0" fmla="*/ 0 h 3542897"/>
              <a:gd name="connsiteX1" fmla="*/ 3127399 w 3726803"/>
              <a:gd name="connsiteY1" fmla="*/ 122829 h 3542897"/>
              <a:gd name="connsiteX2" fmla="*/ 3726803 w 3726803"/>
              <a:gd name="connsiteY2" fmla="*/ 3290893 h 3542897"/>
              <a:gd name="connsiteX3" fmla="*/ 0 w 3726803"/>
              <a:gd name="connsiteY3" fmla="*/ 3542897 h 3542897"/>
              <a:gd name="connsiteX4" fmla="*/ 101168 w 3726803"/>
              <a:gd name="connsiteY4" fmla="*/ 0 h 3542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6803" h="3542897">
                <a:moveTo>
                  <a:pt x="101168" y="0"/>
                </a:moveTo>
                <a:lnTo>
                  <a:pt x="3127399" y="122829"/>
                </a:lnTo>
                <a:lnTo>
                  <a:pt x="3726803" y="3290893"/>
                </a:lnTo>
                <a:lnTo>
                  <a:pt x="0" y="3542897"/>
                </a:lnTo>
                <a:lnTo>
                  <a:pt x="101168" y="0"/>
                </a:lnTo>
                <a:close/>
              </a:path>
            </a:pathLst>
          </a:custGeom>
          <a:solidFill>
            <a:srgbClr val="FF93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/>
        </p:nvSpPr>
        <p:spPr>
          <a:xfrm rot="16200000" flipH="1">
            <a:off x="1748038" y="2997916"/>
            <a:ext cx="3672408" cy="2088232"/>
          </a:xfrm>
          <a:prstGeom prst="triangle">
            <a:avLst/>
          </a:prstGeom>
          <a:solidFill>
            <a:srgbClr val="FF93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629169" y="2205828"/>
            <a:ext cx="3299186" cy="3672408"/>
          </a:xfrm>
          <a:custGeom>
            <a:avLst/>
            <a:gdLst>
              <a:gd name="connsiteX0" fmla="*/ 0 w 3394720"/>
              <a:gd name="connsiteY0" fmla="*/ 0 h 3672408"/>
              <a:gd name="connsiteX1" fmla="*/ 3394720 w 3394720"/>
              <a:gd name="connsiteY1" fmla="*/ 0 h 3672408"/>
              <a:gd name="connsiteX2" fmla="*/ 3394720 w 3394720"/>
              <a:gd name="connsiteY2" fmla="*/ 3672408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217299 w 3394720"/>
              <a:gd name="connsiteY1" fmla="*/ 68238 h 3672408"/>
              <a:gd name="connsiteX2" fmla="*/ 3394720 w 3394720"/>
              <a:gd name="connsiteY2" fmla="*/ 3672408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217299 w 3394720"/>
              <a:gd name="connsiteY1" fmla="*/ 68238 h 3672408"/>
              <a:gd name="connsiteX2" fmla="*/ 3394720 w 3394720"/>
              <a:gd name="connsiteY2" fmla="*/ 3481340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026231 w 3394720"/>
              <a:gd name="connsiteY1" fmla="*/ 122829 h 3672408"/>
              <a:gd name="connsiteX2" fmla="*/ 3394720 w 3394720"/>
              <a:gd name="connsiteY2" fmla="*/ 3481340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2807867 w 3394720"/>
              <a:gd name="connsiteY1" fmla="*/ 122829 h 3672408"/>
              <a:gd name="connsiteX2" fmla="*/ 3394720 w 3394720"/>
              <a:gd name="connsiteY2" fmla="*/ 3481340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299186 w 3394720"/>
              <a:gd name="connsiteY1" fmla="*/ 354841 h 3672408"/>
              <a:gd name="connsiteX2" fmla="*/ 3394720 w 3394720"/>
              <a:gd name="connsiteY2" fmla="*/ 3481340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299186"/>
              <a:gd name="connsiteY0" fmla="*/ 0 h 3672408"/>
              <a:gd name="connsiteX1" fmla="*/ 3299186 w 3299186"/>
              <a:gd name="connsiteY1" fmla="*/ 354841 h 3672408"/>
              <a:gd name="connsiteX2" fmla="*/ 3285538 w 3299186"/>
              <a:gd name="connsiteY2" fmla="*/ 3385806 h 3672408"/>
              <a:gd name="connsiteX3" fmla="*/ 0 w 3299186"/>
              <a:gd name="connsiteY3" fmla="*/ 3672408 h 3672408"/>
              <a:gd name="connsiteX4" fmla="*/ 0 w 3299186"/>
              <a:gd name="connsiteY4" fmla="*/ 0 h 3672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9186" h="3672408">
                <a:moveTo>
                  <a:pt x="0" y="0"/>
                </a:moveTo>
                <a:lnTo>
                  <a:pt x="3299186" y="354841"/>
                </a:lnTo>
                <a:cubicBezTo>
                  <a:pt x="3294637" y="1365163"/>
                  <a:pt x="3290087" y="2375484"/>
                  <a:pt x="3285538" y="3385806"/>
                </a:cubicBezTo>
                <a:lnTo>
                  <a:pt x="0" y="3672408"/>
                </a:lnTo>
                <a:lnTo>
                  <a:pt x="0" y="0"/>
                </a:lnTo>
                <a:close/>
              </a:path>
            </a:pathLst>
          </a:custGeom>
          <a:solidFill>
            <a:srgbClr val="FF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80528" y="476672"/>
            <a:ext cx="6840760" cy="1152128"/>
          </a:xfrm>
        </p:spPr>
        <p:txBody>
          <a:bodyPr vert="horz">
            <a:noAutofit/>
          </a:bodyPr>
          <a:lstStyle/>
          <a:p>
            <a:r>
              <a:rPr lang="zh-CN" altLang="en-US" sz="6600" dirty="0" smtClean="0">
                <a:solidFill>
                  <a:srgbClr val="FF6666"/>
                </a:solidFill>
              </a:rPr>
              <a:t>撒谎的五种方式</a:t>
            </a:r>
            <a:endParaRPr lang="zh-CN" altLang="en-US" sz="6600" dirty="0">
              <a:solidFill>
                <a:srgbClr val="FF6666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42560" y="2431429"/>
            <a:ext cx="3394720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bg1"/>
                </a:solidFill>
              </a:rPr>
              <a:t>1</a:t>
            </a:r>
            <a:r>
              <a:rPr lang="zh-CN" altLang="en-US" sz="2800" b="1" dirty="0" smtClean="0">
                <a:solidFill>
                  <a:schemeClr val="bg1"/>
                </a:solidFill>
              </a:rPr>
              <a:t>、有偏的样本</a:t>
            </a:r>
            <a:endParaRPr lang="en-US" altLang="zh-CN" sz="2800" b="1" dirty="0" smtClean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bg1"/>
                </a:solidFill>
              </a:rPr>
              <a:t>2</a:t>
            </a:r>
            <a:r>
              <a:rPr lang="zh-CN" altLang="en-US" sz="2800" b="1" dirty="0" smtClean="0">
                <a:solidFill>
                  <a:schemeClr val="bg1"/>
                </a:solidFill>
              </a:rPr>
              <a:t>、精选的平均数</a:t>
            </a:r>
            <a:endParaRPr lang="en-US" altLang="zh-CN" sz="2800" b="1" dirty="0" smtClean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bg1"/>
                </a:solidFill>
              </a:rPr>
              <a:t>3</a:t>
            </a:r>
            <a:r>
              <a:rPr lang="zh-CN" altLang="en-US" sz="2800" b="1" dirty="0" smtClean="0">
                <a:solidFill>
                  <a:schemeClr val="bg1"/>
                </a:solidFill>
              </a:rPr>
              <a:t>、隐藏部分数据</a:t>
            </a:r>
            <a:endParaRPr lang="en-US" altLang="zh-CN" sz="2800" b="1" dirty="0" smtClean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bg1"/>
                </a:solidFill>
              </a:rPr>
              <a:t>4</a:t>
            </a:r>
            <a:r>
              <a:rPr lang="zh-CN" altLang="en-US" sz="2800" b="1" dirty="0" smtClean="0">
                <a:solidFill>
                  <a:schemeClr val="bg1"/>
                </a:solidFill>
              </a:rPr>
              <a:t>、图形图表变身</a:t>
            </a:r>
            <a:endParaRPr lang="en-US" altLang="zh-CN" sz="2800" b="1" dirty="0" smtClean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bg1"/>
                </a:solidFill>
              </a:rPr>
              <a:t>5</a:t>
            </a:r>
            <a:r>
              <a:rPr lang="zh-CN" altLang="en-US" sz="2800" b="1" dirty="0" smtClean="0">
                <a:solidFill>
                  <a:schemeClr val="bg1"/>
                </a:solidFill>
              </a:rPr>
              <a:t>、混乱</a:t>
            </a:r>
            <a:r>
              <a:rPr lang="zh-CN" altLang="en-US" sz="2800" b="1" dirty="0">
                <a:solidFill>
                  <a:schemeClr val="bg1"/>
                </a:solidFill>
              </a:rPr>
              <a:t>的神逻辑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37" y="2637876"/>
            <a:ext cx="2304256" cy="254932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 flipH="1">
            <a:off x="0" y="548680"/>
            <a:ext cx="179512" cy="861419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1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10"/>
          <p:cNvSpPr/>
          <p:nvPr/>
        </p:nvSpPr>
        <p:spPr>
          <a:xfrm rot="20579711">
            <a:off x="282483" y="-564413"/>
            <a:ext cx="6994857" cy="6674312"/>
          </a:xfrm>
          <a:custGeom>
            <a:avLst/>
            <a:gdLst>
              <a:gd name="connsiteX0" fmla="*/ 0 w 3394720"/>
              <a:gd name="connsiteY0" fmla="*/ 0 h 3672408"/>
              <a:gd name="connsiteX1" fmla="*/ 3394720 w 3394720"/>
              <a:gd name="connsiteY1" fmla="*/ 0 h 3672408"/>
              <a:gd name="connsiteX2" fmla="*/ 3394720 w 3394720"/>
              <a:gd name="connsiteY2" fmla="*/ 3672408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217299 w 3394720"/>
              <a:gd name="connsiteY1" fmla="*/ 68238 h 3672408"/>
              <a:gd name="connsiteX2" fmla="*/ 3394720 w 3394720"/>
              <a:gd name="connsiteY2" fmla="*/ 3672408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217299 w 3394720"/>
              <a:gd name="connsiteY1" fmla="*/ 68238 h 3672408"/>
              <a:gd name="connsiteX2" fmla="*/ 3394720 w 3394720"/>
              <a:gd name="connsiteY2" fmla="*/ 3481340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026231 w 3394720"/>
              <a:gd name="connsiteY1" fmla="*/ 122829 h 3672408"/>
              <a:gd name="connsiteX2" fmla="*/ 3394720 w 3394720"/>
              <a:gd name="connsiteY2" fmla="*/ 3481340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101168 w 3495888"/>
              <a:gd name="connsiteY0" fmla="*/ 0 h 3542897"/>
              <a:gd name="connsiteX1" fmla="*/ 3127399 w 3495888"/>
              <a:gd name="connsiteY1" fmla="*/ 122829 h 3542897"/>
              <a:gd name="connsiteX2" fmla="*/ 3495888 w 3495888"/>
              <a:gd name="connsiteY2" fmla="*/ 3481340 h 3542897"/>
              <a:gd name="connsiteX3" fmla="*/ 0 w 3495888"/>
              <a:gd name="connsiteY3" fmla="*/ 3542897 h 3542897"/>
              <a:gd name="connsiteX4" fmla="*/ 101168 w 3495888"/>
              <a:gd name="connsiteY4" fmla="*/ 0 h 3542897"/>
              <a:gd name="connsiteX0" fmla="*/ 101168 w 3726803"/>
              <a:gd name="connsiteY0" fmla="*/ 0 h 3542897"/>
              <a:gd name="connsiteX1" fmla="*/ 3127399 w 3726803"/>
              <a:gd name="connsiteY1" fmla="*/ 122829 h 3542897"/>
              <a:gd name="connsiteX2" fmla="*/ 3726803 w 3726803"/>
              <a:gd name="connsiteY2" fmla="*/ 3290893 h 3542897"/>
              <a:gd name="connsiteX3" fmla="*/ 0 w 3726803"/>
              <a:gd name="connsiteY3" fmla="*/ 3542897 h 3542897"/>
              <a:gd name="connsiteX4" fmla="*/ 101168 w 3726803"/>
              <a:gd name="connsiteY4" fmla="*/ 0 h 3542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6803" h="3542897">
                <a:moveTo>
                  <a:pt x="101168" y="0"/>
                </a:moveTo>
                <a:lnTo>
                  <a:pt x="3127399" y="122829"/>
                </a:lnTo>
                <a:lnTo>
                  <a:pt x="3726803" y="3290893"/>
                </a:lnTo>
                <a:lnTo>
                  <a:pt x="0" y="3542897"/>
                </a:lnTo>
                <a:lnTo>
                  <a:pt x="101168" y="0"/>
                </a:lnTo>
                <a:close/>
              </a:path>
            </a:pathLst>
          </a:custGeom>
          <a:solidFill>
            <a:srgbClr val="FF9393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10"/>
          <p:cNvSpPr/>
          <p:nvPr/>
        </p:nvSpPr>
        <p:spPr>
          <a:xfrm rot="20980775">
            <a:off x="-6687" y="136706"/>
            <a:ext cx="6881591" cy="6263647"/>
          </a:xfrm>
          <a:custGeom>
            <a:avLst/>
            <a:gdLst>
              <a:gd name="connsiteX0" fmla="*/ 0 w 3394720"/>
              <a:gd name="connsiteY0" fmla="*/ 0 h 3672408"/>
              <a:gd name="connsiteX1" fmla="*/ 3394720 w 3394720"/>
              <a:gd name="connsiteY1" fmla="*/ 0 h 3672408"/>
              <a:gd name="connsiteX2" fmla="*/ 3394720 w 3394720"/>
              <a:gd name="connsiteY2" fmla="*/ 3672408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217299 w 3394720"/>
              <a:gd name="connsiteY1" fmla="*/ 68238 h 3672408"/>
              <a:gd name="connsiteX2" fmla="*/ 3394720 w 3394720"/>
              <a:gd name="connsiteY2" fmla="*/ 3672408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217299 w 3394720"/>
              <a:gd name="connsiteY1" fmla="*/ 68238 h 3672408"/>
              <a:gd name="connsiteX2" fmla="*/ 3394720 w 3394720"/>
              <a:gd name="connsiteY2" fmla="*/ 3481340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0 w 3394720"/>
              <a:gd name="connsiteY0" fmla="*/ 0 h 3672408"/>
              <a:gd name="connsiteX1" fmla="*/ 3026231 w 3394720"/>
              <a:gd name="connsiteY1" fmla="*/ 122829 h 3672408"/>
              <a:gd name="connsiteX2" fmla="*/ 3394720 w 3394720"/>
              <a:gd name="connsiteY2" fmla="*/ 3481340 h 3672408"/>
              <a:gd name="connsiteX3" fmla="*/ 0 w 3394720"/>
              <a:gd name="connsiteY3" fmla="*/ 3672408 h 3672408"/>
              <a:gd name="connsiteX4" fmla="*/ 0 w 3394720"/>
              <a:gd name="connsiteY4" fmla="*/ 0 h 3672408"/>
              <a:gd name="connsiteX0" fmla="*/ 101168 w 3495888"/>
              <a:gd name="connsiteY0" fmla="*/ 0 h 3542897"/>
              <a:gd name="connsiteX1" fmla="*/ 3127399 w 3495888"/>
              <a:gd name="connsiteY1" fmla="*/ 122829 h 3542897"/>
              <a:gd name="connsiteX2" fmla="*/ 3495888 w 3495888"/>
              <a:gd name="connsiteY2" fmla="*/ 3481340 h 3542897"/>
              <a:gd name="connsiteX3" fmla="*/ 0 w 3495888"/>
              <a:gd name="connsiteY3" fmla="*/ 3542897 h 3542897"/>
              <a:gd name="connsiteX4" fmla="*/ 101168 w 3495888"/>
              <a:gd name="connsiteY4" fmla="*/ 0 h 3542897"/>
              <a:gd name="connsiteX0" fmla="*/ 101168 w 3726803"/>
              <a:gd name="connsiteY0" fmla="*/ 0 h 3542897"/>
              <a:gd name="connsiteX1" fmla="*/ 3127399 w 3726803"/>
              <a:gd name="connsiteY1" fmla="*/ 122829 h 3542897"/>
              <a:gd name="connsiteX2" fmla="*/ 3726803 w 3726803"/>
              <a:gd name="connsiteY2" fmla="*/ 3290893 h 3542897"/>
              <a:gd name="connsiteX3" fmla="*/ 0 w 3726803"/>
              <a:gd name="connsiteY3" fmla="*/ 3542897 h 3542897"/>
              <a:gd name="connsiteX4" fmla="*/ 101168 w 3726803"/>
              <a:gd name="connsiteY4" fmla="*/ 0 h 3542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6803" h="3542897">
                <a:moveTo>
                  <a:pt x="101168" y="0"/>
                </a:moveTo>
                <a:lnTo>
                  <a:pt x="3127399" y="122829"/>
                </a:lnTo>
                <a:lnTo>
                  <a:pt x="3726803" y="3290893"/>
                </a:lnTo>
                <a:lnTo>
                  <a:pt x="0" y="3542897"/>
                </a:lnTo>
                <a:lnTo>
                  <a:pt x="101168" y="0"/>
                </a:lnTo>
                <a:close/>
              </a:path>
            </a:pathLst>
          </a:custGeom>
          <a:solidFill>
            <a:srgbClr val="FF9393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760" y="4873830"/>
            <a:ext cx="1089031" cy="1089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163348" y="5902244"/>
            <a:ext cx="6552728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50" b="1" dirty="0" smtClean="0">
                <a:solidFill>
                  <a:srgbClr val="FF6666"/>
                </a:solidFill>
                <a:latin typeface="微软雅黑" pitchFamily="34" charset="-122"/>
                <a:ea typeface="微软雅黑" pitchFamily="34" charset="-122"/>
              </a:rPr>
              <a:t>以下数字或图表均为</a:t>
            </a:r>
            <a:endParaRPr lang="en-US" altLang="zh-CN" sz="2050" b="1" dirty="0" smtClean="0">
              <a:solidFill>
                <a:srgbClr val="FF6666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/>
            <a:r>
              <a:rPr lang="zh-CN" altLang="en-US" sz="2050" b="1" dirty="0" smtClean="0">
                <a:solidFill>
                  <a:srgbClr val="FF6666"/>
                </a:solidFill>
                <a:latin typeface="微软雅黑" pitchFamily="34" charset="-122"/>
                <a:ea typeface="微软雅黑" pitchFamily="34" charset="-122"/>
              </a:rPr>
              <a:t>微信公众平台</a:t>
            </a:r>
            <a:r>
              <a:rPr lang="zh-CN" altLang="en-US" sz="2050" b="1" dirty="0" smtClean="0">
                <a:solidFill>
                  <a:srgbClr val="FF1F1F"/>
                </a:solidFill>
                <a:latin typeface="微软雅黑" pitchFamily="34" charset="-122"/>
                <a:ea typeface="微软雅黑" pitchFamily="34" charset="-122"/>
              </a:rPr>
              <a:t>教学笔记</a:t>
            </a:r>
            <a:r>
              <a:rPr lang="zh-CN" altLang="en-US" sz="2050" b="1" dirty="0" smtClean="0">
                <a:solidFill>
                  <a:srgbClr val="FF6666"/>
                </a:solidFill>
                <a:latin typeface="微软雅黑" pitchFamily="34" charset="-122"/>
                <a:ea typeface="微软雅黑" pitchFamily="34" charset="-122"/>
              </a:rPr>
              <a:t>的真实数据</a:t>
            </a:r>
            <a:endParaRPr lang="zh-CN" altLang="en-US" sz="2050" b="1" dirty="0">
              <a:solidFill>
                <a:srgbClr val="FF666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180528" y="1868631"/>
            <a:ext cx="759633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dirty="0" smtClean="0">
                <a:solidFill>
                  <a:schemeClr val="bg1"/>
                </a:solidFill>
                <a:latin typeface="造字工房朗倩（非商用）常规体" pitchFamily="50" charset="-122"/>
                <a:ea typeface="造字工房朗倩（非商用）常规体" pitchFamily="50" charset="-122"/>
                <a:cs typeface="+mj-cs"/>
              </a:rPr>
              <a:t>还是不明觉历？！</a:t>
            </a:r>
            <a:endParaRPr lang="zh-CN" altLang="en-US" sz="6600" dirty="0">
              <a:solidFill>
                <a:schemeClr val="bg1"/>
              </a:solidFill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 idx="4294967295"/>
          </p:nvPr>
        </p:nvSpPr>
        <p:spPr>
          <a:xfrm>
            <a:off x="-396652" y="2904393"/>
            <a:ext cx="7200900" cy="1655763"/>
          </a:xfrm>
        </p:spPr>
        <p:txBody>
          <a:bodyPr>
            <a:normAutofit/>
          </a:bodyPr>
          <a:lstStyle/>
          <a:p>
            <a:r>
              <a:rPr lang="zh-CN" altLang="en-US" sz="6600" dirty="0" smtClean="0">
                <a:solidFill>
                  <a:schemeClr val="bg1"/>
                </a:solidFill>
              </a:rPr>
              <a:t>别急，举个栗子</a:t>
            </a:r>
            <a:endParaRPr lang="zh-CN" altLang="en-US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4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/>
            <a:r>
              <a:rPr lang="zh-CN" altLang="en-US" sz="2800" b="1" dirty="0"/>
              <a:t>教学笔记关注</a:t>
            </a:r>
            <a:r>
              <a:rPr lang="zh-CN" altLang="en-US" sz="2800" b="1" dirty="0" smtClean="0"/>
              <a:t>人数</a:t>
            </a:r>
            <a:endParaRPr lang="en-US" altLang="zh-CN" sz="2800" b="1" dirty="0" smtClean="0"/>
          </a:p>
          <a:p>
            <a:pPr algn="r"/>
            <a:r>
              <a:rPr lang="zh-CN" altLang="en-US" sz="2800" b="1" dirty="0" smtClean="0"/>
              <a:t>日增长率</a:t>
            </a:r>
            <a:endParaRPr lang="en-US" altLang="zh-CN" sz="2800" b="1" dirty="0" smtClean="0"/>
          </a:p>
          <a:p>
            <a:pPr algn="r"/>
            <a:endParaRPr lang="en-US" altLang="zh-CN" sz="1800" b="1" dirty="0"/>
          </a:p>
          <a:p>
            <a:pPr marL="0" indent="0" algn="r">
              <a:buNone/>
            </a:pPr>
            <a:r>
              <a:rPr lang="en-US" altLang="zh-CN" sz="7500" b="1" dirty="0" smtClean="0"/>
              <a:t>700%</a:t>
            </a:r>
            <a:endParaRPr lang="zh-CN" altLang="en-US" sz="7500" b="1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 dirty="0" err="1">
                <a:cs typeface="造字工房尚雅（非商用） 常规体"/>
              </a:rPr>
              <a:t>积极</a:t>
            </a:r>
            <a:r>
              <a:rPr lang="zh-CN" altLang="en-US" dirty="0">
                <a:cs typeface="造字工房尚雅（非商用） 常规体"/>
              </a:rPr>
              <a:t>建设教学笔记，关注人数增势喜人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593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r">
              <a:buNone/>
            </a:pPr>
            <a:r>
              <a:rPr lang="zh-CN" altLang="en-US" sz="2900" b="1" dirty="0" smtClean="0"/>
              <a:t>教学笔记每日人均发送消息</a:t>
            </a:r>
            <a:endParaRPr lang="en-US" altLang="zh-CN" sz="2900" b="1" dirty="0" smtClean="0"/>
          </a:p>
          <a:p>
            <a:pPr marL="0" indent="0" algn="r">
              <a:buNone/>
            </a:pPr>
            <a:endParaRPr lang="en-US" altLang="zh-CN" sz="5300" b="1" dirty="0"/>
          </a:p>
          <a:p>
            <a:pPr marL="0" indent="0" algn="r">
              <a:buNone/>
            </a:pPr>
            <a:r>
              <a:rPr lang="en-US" altLang="zh-CN" sz="8100" b="1" dirty="0" smtClean="0"/>
              <a:t>17</a:t>
            </a:r>
            <a:endParaRPr lang="zh-CN" altLang="en-US" sz="8100" b="1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>
                <a:cs typeface="造字工房尚雅（非商用） 常规体"/>
              </a:rPr>
              <a:t>优化内容，完善机制，互动指数稳健</a:t>
            </a:r>
            <a:r>
              <a:rPr lang="zh-CN" altLang="en-US" dirty="0" smtClean="0">
                <a:cs typeface="造字工房尚雅（非商用） 常规体"/>
              </a:rPr>
              <a:t>提升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929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924408" y="691200"/>
            <a:ext cx="4320000" cy="3241856"/>
          </a:xfrm>
        </p:spPr>
        <p:txBody>
          <a:bodyPr>
            <a:normAutofit fontScale="55000" lnSpcReduction="20000"/>
          </a:bodyPr>
          <a:lstStyle/>
          <a:p>
            <a:pPr marL="0" indent="0" algn="r">
              <a:buNone/>
            </a:pPr>
            <a:r>
              <a:rPr lang="zh-CN" altLang="en-US" sz="4500" dirty="0" smtClean="0"/>
              <a:t>教学笔记文章图文转化率</a:t>
            </a:r>
            <a:endParaRPr lang="en-US" altLang="zh-CN" sz="4500" dirty="0" smtClean="0"/>
          </a:p>
          <a:p>
            <a:pPr marL="0" indent="0" algn="r">
              <a:buNone/>
            </a:pPr>
            <a:endParaRPr lang="en-US" altLang="zh-CN" sz="2900" dirty="0" smtClean="0"/>
          </a:p>
          <a:p>
            <a:pPr marL="0" indent="0" algn="r">
              <a:buNone/>
            </a:pPr>
            <a:endParaRPr lang="en-US" altLang="zh-CN" sz="5800" dirty="0"/>
          </a:p>
          <a:p>
            <a:pPr marL="0" indent="0" algn="r">
              <a:buNone/>
            </a:pPr>
            <a:endParaRPr lang="en-US" altLang="zh-CN" sz="5300" dirty="0"/>
          </a:p>
          <a:p>
            <a:pPr marL="0" indent="0" algn="r">
              <a:buNone/>
            </a:pPr>
            <a:r>
              <a:rPr lang="en-US" altLang="zh-CN" sz="13600" b="1" dirty="0" smtClean="0"/>
              <a:t>662.96%</a:t>
            </a:r>
            <a:endParaRPr lang="zh-CN" altLang="en-US" sz="13600" b="1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创造力增进新高度，影响力突显新</a:t>
            </a:r>
            <a:r>
              <a:rPr lang="zh-CN" altLang="en-US" dirty="0" smtClean="0"/>
              <a:t>境界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1265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/>
            <a:r>
              <a:rPr lang="zh-CN" altLang="en-US" sz="2500" dirty="0"/>
              <a:t>净关注</a:t>
            </a:r>
            <a:r>
              <a:rPr lang="zh-CN" altLang="en-US" sz="2500" dirty="0" smtClean="0"/>
              <a:t>人数增长</a:t>
            </a:r>
            <a:r>
              <a:rPr lang="zh-CN" altLang="en-US" sz="2500" dirty="0"/>
              <a:t>迅猛</a:t>
            </a:r>
            <a:endParaRPr lang="en-US" altLang="zh-CN" sz="2500" dirty="0"/>
          </a:p>
          <a:p>
            <a:pPr algn="r"/>
            <a:endParaRPr lang="zh-CN" altLang="en-US" sz="2800" dirty="0"/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立足当前着眼长远，快速提升屡创</a:t>
            </a:r>
            <a:r>
              <a:rPr lang="zh-CN" altLang="en-US" dirty="0" smtClean="0"/>
              <a:t>佳绩</a:t>
            </a:r>
            <a:endParaRPr lang="zh-CN" altLang="en-US" dirty="0"/>
          </a:p>
        </p:txBody>
      </p:sp>
      <p:graphicFrame>
        <p:nvGraphicFramePr>
          <p:cNvPr id="9" name="图表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1248038"/>
              </p:ext>
            </p:extLst>
          </p:nvPr>
        </p:nvGraphicFramePr>
        <p:xfrm>
          <a:off x="3419872" y="1052736"/>
          <a:ext cx="4572000" cy="2482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64946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r">
              <a:buNone/>
            </a:pPr>
            <a:r>
              <a:rPr lang="zh-CN" altLang="en-US" sz="2900" dirty="0" smtClean="0"/>
              <a:t>使用微信的男性用户比率为</a:t>
            </a:r>
            <a:endParaRPr lang="en-US" altLang="zh-CN" sz="2900" dirty="0" smtClean="0"/>
          </a:p>
          <a:p>
            <a:pPr marL="0" indent="0" algn="r">
              <a:buNone/>
            </a:pPr>
            <a:endParaRPr lang="en-US" altLang="zh-CN" sz="9400" dirty="0"/>
          </a:p>
          <a:p>
            <a:pPr marL="0" indent="0" algn="r">
              <a:buNone/>
            </a:pPr>
            <a:r>
              <a:rPr lang="en-US" altLang="zh-CN" sz="8800" b="1" dirty="0" smtClean="0"/>
              <a:t>39.34%</a:t>
            </a:r>
            <a:endParaRPr lang="zh-CN" altLang="en-US" sz="8800" b="1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性别比例优势互补，和谐发展统筹兼顾</a:t>
            </a:r>
          </a:p>
        </p:txBody>
      </p:sp>
    </p:spTree>
    <p:extLst>
      <p:ext uri="{BB962C8B-B14F-4D97-AF65-F5344CB8AC3E}">
        <p14:creationId xmlns:p14="http://schemas.microsoft.com/office/powerpoint/2010/main" val="287920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idx="4294967295"/>
          </p:nvPr>
        </p:nvSpPr>
        <p:spPr>
          <a:xfrm>
            <a:off x="1043558" y="3573016"/>
            <a:ext cx="7200900" cy="2289175"/>
          </a:xfrm>
        </p:spPr>
        <p:txBody>
          <a:bodyPr>
            <a:normAutofit/>
          </a:bodyPr>
          <a:lstStyle/>
          <a:p>
            <a:r>
              <a:rPr lang="en-US" altLang="en-US" sz="6500" dirty="0" smtClean="0">
                <a:solidFill>
                  <a:schemeClr val="tx1"/>
                </a:solidFill>
              </a:rPr>
              <a:t>来看</a:t>
            </a:r>
            <a:r>
              <a:rPr lang="zh-CN" altLang="en-US" sz="6500" dirty="0" smtClean="0">
                <a:solidFill>
                  <a:schemeClr val="tx1"/>
                </a:solidFill>
              </a:rPr>
              <a:t>看真相吧！</a:t>
            </a:r>
            <a:endParaRPr lang="zh-CN" altLang="en-US" sz="6500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496" y="1556792"/>
            <a:ext cx="9217024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dirty="0" smtClean="0">
                <a:solidFill>
                  <a:srgbClr val="FF6666"/>
                </a:solidFill>
                <a:latin typeface="造字工房朗倩（非商用）常规体" pitchFamily="50" charset="-122"/>
                <a:ea typeface="造字工房朗倩（非商用）常规体" pitchFamily="50" charset="-122"/>
                <a:cs typeface="+mj-cs"/>
              </a:rPr>
              <a:t>感觉是</a:t>
            </a:r>
            <a:r>
              <a:rPr lang="zh-CN" altLang="en-US" sz="9000" dirty="0" smtClean="0">
                <a:solidFill>
                  <a:srgbClr val="FF4B4B"/>
                </a:solidFill>
                <a:latin typeface="造字工房朗倩（非商用）常规体" pitchFamily="50" charset="-122"/>
                <a:ea typeface="造字工房朗倩（非商用）常规体" pitchFamily="50" charset="-122"/>
              </a:rPr>
              <a:t>高大上</a:t>
            </a:r>
            <a:r>
              <a:rPr lang="zh-CN" altLang="en-US" sz="4800" dirty="0" smtClean="0">
                <a:solidFill>
                  <a:srgbClr val="FF6666"/>
                </a:solidFill>
                <a:latin typeface="造字工房朗倩（非商用）常规体" pitchFamily="50" charset="-122"/>
                <a:ea typeface="造字工房朗倩（非商用）常规体" pitchFamily="50" charset="-122"/>
              </a:rPr>
              <a:t>的微信账号？</a:t>
            </a:r>
            <a:r>
              <a:rPr lang="en-US" altLang="zh-CN" sz="7200" dirty="0">
                <a:solidFill>
                  <a:srgbClr val="FF6666"/>
                </a:solidFill>
                <a:latin typeface="造字工房朗倩（非商用）常规体" pitchFamily="50" charset="-122"/>
                <a:ea typeface="造字工房朗倩（非商用）常规体" pitchFamily="50" charset="-122"/>
                <a:cs typeface="+mj-cs"/>
              </a:rPr>
              <a:t/>
            </a:r>
            <a:br>
              <a:rPr lang="en-US" altLang="zh-CN" sz="7200" dirty="0">
                <a:solidFill>
                  <a:srgbClr val="FF6666"/>
                </a:solidFill>
                <a:latin typeface="造字工房朗倩（非商用）常规体" pitchFamily="50" charset="-122"/>
                <a:ea typeface="造字工房朗倩（非商用）常规体" pitchFamily="50" charset="-122"/>
                <a:cs typeface="+mj-cs"/>
              </a:rPr>
            </a:br>
            <a:endParaRPr lang="zh-CN" altLang="en-US" sz="2400" dirty="0">
              <a:solidFill>
                <a:srgbClr val="FF6666"/>
              </a:solidFill>
            </a:endParaRPr>
          </a:p>
        </p:txBody>
      </p:sp>
      <p:sp>
        <p:nvSpPr>
          <p:cNvPr id="2" name="直角三角形 1"/>
          <p:cNvSpPr/>
          <p:nvPr/>
        </p:nvSpPr>
        <p:spPr>
          <a:xfrm rot="5400000">
            <a:off x="-5574" y="0"/>
            <a:ext cx="648072" cy="648072"/>
          </a:xfrm>
          <a:prstGeom prst="rtTriangle">
            <a:avLst/>
          </a:prstGeom>
          <a:solidFill>
            <a:srgbClr val="FF93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直角三角形 4"/>
          <p:cNvSpPr/>
          <p:nvPr/>
        </p:nvSpPr>
        <p:spPr>
          <a:xfrm rot="16200000" flipH="1">
            <a:off x="8495928" y="0"/>
            <a:ext cx="648072" cy="648072"/>
          </a:xfrm>
          <a:prstGeom prst="rtTriangle">
            <a:avLst/>
          </a:prstGeom>
          <a:solidFill>
            <a:srgbClr val="FF93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/>
        </p:nvSpPr>
        <p:spPr>
          <a:xfrm flipH="1">
            <a:off x="8495928" y="6209928"/>
            <a:ext cx="648072" cy="648072"/>
          </a:xfrm>
          <a:prstGeom prst="rtTriangle">
            <a:avLst/>
          </a:prstGeom>
          <a:solidFill>
            <a:srgbClr val="FF93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直角三角形 7"/>
          <p:cNvSpPr/>
          <p:nvPr/>
        </p:nvSpPr>
        <p:spPr>
          <a:xfrm rot="16200000" flipV="1">
            <a:off x="-5574" y="6209928"/>
            <a:ext cx="648072" cy="648072"/>
          </a:xfrm>
          <a:prstGeom prst="rtTriangle">
            <a:avLst/>
          </a:prstGeom>
          <a:solidFill>
            <a:srgbClr val="FF93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71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/>
            <a:r>
              <a:rPr lang="zh-CN" altLang="en-US" sz="2800" dirty="0"/>
              <a:t>教学笔记关注人数</a:t>
            </a:r>
            <a:endParaRPr lang="en-US" altLang="zh-CN" sz="2800" dirty="0"/>
          </a:p>
          <a:p>
            <a:pPr algn="r"/>
            <a:r>
              <a:rPr lang="zh-CN" altLang="en-US" sz="2800" dirty="0"/>
              <a:t>日增长率</a:t>
            </a:r>
            <a:endParaRPr lang="en-US" altLang="zh-CN" sz="2800" dirty="0"/>
          </a:p>
          <a:p>
            <a:pPr algn="r"/>
            <a:endParaRPr lang="en-US" altLang="zh-CN" sz="2000" dirty="0"/>
          </a:p>
          <a:p>
            <a:pPr algn="r"/>
            <a:r>
              <a:rPr lang="en-US" altLang="zh-CN" sz="7500" dirty="0"/>
              <a:t>700%</a:t>
            </a:r>
            <a:endParaRPr lang="zh-CN" altLang="en-US" sz="7500" dirty="0"/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真相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月</a:t>
            </a:r>
            <a:r>
              <a:rPr lang="en-US" altLang="zh-CN" dirty="0"/>
              <a:t>9</a:t>
            </a:r>
            <a:r>
              <a:rPr lang="zh-CN" altLang="en-US" dirty="0"/>
              <a:t>日新关注</a:t>
            </a:r>
            <a:r>
              <a:rPr lang="en-US" altLang="zh-CN" dirty="0"/>
              <a:t>1</a:t>
            </a:r>
            <a:r>
              <a:rPr lang="zh-CN" altLang="en-US" dirty="0"/>
              <a:t>人； 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  <a:r>
              <a:rPr lang="en-US" altLang="zh-CN" dirty="0"/>
              <a:t>10</a:t>
            </a:r>
            <a:r>
              <a:rPr lang="zh-CN" altLang="en-US" dirty="0"/>
              <a:t>日新关注</a:t>
            </a:r>
            <a:r>
              <a:rPr lang="en-US" altLang="zh-CN" dirty="0"/>
              <a:t>8</a:t>
            </a:r>
            <a:r>
              <a:rPr lang="zh-CN" altLang="en-US" dirty="0" smtClean="0"/>
              <a:t>人</a:t>
            </a:r>
            <a:endParaRPr lang="zh-CN" altLang="en-US" dirty="0"/>
          </a:p>
        </p:txBody>
      </p:sp>
      <p:sp>
        <p:nvSpPr>
          <p:cNvPr id="15" name="内容占位符 14"/>
          <p:cNvSpPr>
            <a:spLocks noGrp="1"/>
          </p:cNvSpPr>
          <p:nvPr>
            <p:ph sz="quarter" idx="15"/>
          </p:nvPr>
        </p:nvSpPr>
        <p:spPr>
          <a:xfrm>
            <a:off x="611560" y="2996952"/>
            <a:ext cx="2232248" cy="504056"/>
          </a:xfrm>
        </p:spPr>
        <p:txBody>
          <a:bodyPr/>
          <a:lstStyle/>
          <a:p>
            <a:r>
              <a:rPr lang="zh-CN" altLang="en-US" dirty="0"/>
              <a:t>有偏的样本</a:t>
            </a:r>
          </a:p>
        </p:txBody>
      </p:sp>
    </p:spTree>
    <p:extLst>
      <p:ext uri="{BB962C8B-B14F-4D97-AF65-F5344CB8AC3E}">
        <p14:creationId xmlns:p14="http://schemas.microsoft.com/office/powerpoint/2010/main" val="3744978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r">
              <a:buNone/>
            </a:pPr>
            <a:r>
              <a:rPr lang="zh-CN" altLang="en-US" sz="2900" dirty="0" smtClean="0"/>
              <a:t>教学笔记每日人均发送消息</a:t>
            </a:r>
            <a:endParaRPr lang="en-US" altLang="zh-CN" sz="2900" dirty="0" smtClean="0"/>
          </a:p>
          <a:p>
            <a:pPr marL="0" indent="0" algn="r">
              <a:buNone/>
            </a:pPr>
            <a:endParaRPr lang="en-US" altLang="zh-CN" sz="5300" dirty="0"/>
          </a:p>
          <a:p>
            <a:pPr marL="0" indent="0" algn="r">
              <a:buNone/>
            </a:pPr>
            <a:r>
              <a:rPr lang="en-US" altLang="zh-CN" sz="8100" b="1" dirty="0" smtClean="0"/>
              <a:t>17</a:t>
            </a:r>
            <a:endParaRPr lang="zh-CN" altLang="en-US" sz="8100" b="1" dirty="0"/>
          </a:p>
        </p:txBody>
      </p:sp>
      <p:sp>
        <p:nvSpPr>
          <p:cNvPr id="10" name="内容占位符 9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真相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月</a:t>
            </a:r>
            <a:r>
              <a:rPr lang="en-US" altLang="zh-CN" dirty="0"/>
              <a:t>2</a:t>
            </a:r>
            <a:r>
              <a:rPr lang="zh-CN" altLang="en-US" dirty="0"/>
              <a:t>日，有</a:t>
            </a:r>
            <a:r>
              <a:rPr lang="en-US" altLang="zh-CN" dirty="0"/>
              <a:t>1</a:t>
            </a:r>
            <a:r>
              <a:rPr lang="zh-CN" altLang="en-US" dirty="0"/>
              <a:t>个用户发送了</a:t>
            </a:r>
            <a:r>
              <a:rPr lang="en-US" altLang="zh-CN" dirty="0"/>
              <a:t>17</a:t>
            </a:r>
            <a:r>
              <a:rPr lang="zh-CN" altLang="en-US" dirty="0"/>
              <a:t>条消息</a:t>
            </a:r>
          </a:p>
          <a:p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5"/>
          </p:nvPr>
        </p:nvSpPr>
        <p:spPr>
          <a:xfrm>
            <a:off x="539552" y="2996952"/>
            <a:ext cx="2232248" cy="504056"/>
          </a:xfrm>
        </p:spPr>
        <p:txBody>
          <a:bodyPr/>
          <a:lstStyle/>
          <a:p>
            <a:r>
              <a:rPr lang="zh-CN" altLang="en-US" dirty="0"/>
              <a:t>精选的</a:t>
            </a:r>
            <a:r>
              <a:rPr lang="zh-CN" altLang="en-US" dirty="0" smtClean="0"/>
              <a:t>平均数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3322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algn="r"/>
            <a:r>
              <a:rPr lang="zh-CN" altLang="en-US" dirty="0">
                <a:solidFill>
                  <a:prstClr val="white"/>
                </a:solidFill>
              </a:rPr>
              <a:t>教学笔记文章图文转化率</a:t>
            </a:r>
            <a:endParaRPr lang="en-US" altLang="zh-CN" dirty="0">
              <a:solidFill>
                <a:prstClr val="white"/>
              </a:solidFill>
            </a:endParaRPr>
          </a:p>
          <a:p>
            <a:pPr lvl="0" algn="r"/>
            <a:endParaRPr lang="en-US" altLang="zh-CN" sz="2100" dirty="0">
              <a:solidFill>
                <a:prstClr val="white"/>
              </a:solidFill>
            </a:endParaRPr>
          </a:p>
          <a:p>
            <a:pPr lvl="0" algn="r"/>
            <a:endParaRPr lang="en-US" altLang="zh-CN" sz="4100" dirty="0">
              <a:solidFill>
                <a:prstClr val="white"/>
              </a:solidFill>
            </a:endParaRPr>
          </a:p>
          <a:p>
            <a:pPr lvl="0" algn="r"/>
            <a:endParaRPr lang="en-US" altLang="zh-CN" sz="3700" dirty="0">
              <a:solidFill>
                <a:prstClr val="white"/>
              </a:solidFill>
            </a:endParaRPr>
          </a:p>
          <a:p>
            <a:pPr lvl="0" algn="r"/>
            <a:r>
              <a:rPr lang="en-US" altLang="zh-CN" sz="9700" dirty="0">
                <a:solidFill>
                  <a:prstClr val="white"/>
                </a:solidFill>
              </a:rPr>
              <a:t>662.96%</a:t>
            </a:r>
            <a:endParaRPr lang="zh-CN" altLang="en-US" sz="9700" dirty="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真相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zh-CN" altLang="zh-CN" dirty="0"/>
              <a:t>其中一篇文章送达人数</a:t>
            </a:r>
            <a:r>
              <a:rPr lang="en-US" altLang="zh-CN" dirty="0"/>
              <a:t>81</a:t>
            </a:r>
            <a:r>
              <a:rPr lang="zh-CN" altLang="zh-CN" dirty="0"/>
              <a:t>，阅读人数</a:t>
            </a:r>
            <a:r>
              <a:rPr lang="en-US" altLang="zh-CN" dirty="0"/>
              <a:t>537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CN" altLang="zh-CN" dirty="0"/>
              <a:t>隐藏部分数据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093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15" name="内容占位符 14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zh-CN" altLang="en-US" dirty="0" smtClean="0"/>
              <a:t>真相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9</a:t>
            </a:r>
            <a:r>
              <a:rPr lang="zh-CN" altLang="zh-CN" dirty="0"/>
              <a:t>月份净关注人数</a:t>
            </a:r>
            <a:r>
              <a:rPr lang="en-US" altLang="zh-CN" dirty="0"/>
              <a:t>22</a:t>
            </a:r>
            <a:r>
              <a:rPr lang="zh-CN" altLang="zh-CN" dirty="0"/>
              <a:t>，</a:t>
            </a:r>
            <a:r>
              <a:rPr lang="en-US" altLang="zh-CN" dirty="0"/>
              <a:t>11</a:t>
            </a:r>
            <a:r>
              <a:rPr lang="zh-CN" altLang="zh-CN" dirty="0"/>
              <a:t>月份净关注人数</a:t>
            </a:r>
            <a:r>
              <a:rPr lang="en-US" altLang="zh-CN" dirty="0"/>
              <a:t>48</a:t>
            </a:r>
            <a:endParaRPr lang="zh-CN" altLang="zh-CN" dirty="0"/>
          </a:p>
          <a:p>
            <a:r>
              <a:rPr lang="zh-CN" altLang="zh-CN" sz="1500" dirty="0" smtClean="0"/>
              <a:t>左</a:t>
            </a:r>
            <a:r>
              <a:rPr lang="zh-CN" altLang="zh-CN" sz="1500" dirty="0"/>
              <a:t>图：纵轴最小值</a:t>
            </a:r>
            <a:r>
              <a:rPr lang="en-US" altLang="zh-CN" sz="1500" dirty="0"/>
              <a:t>22</a:t>
            </a:r>
            <a:r>
              <a:rPr lang="zh-CN" altLang="zh-CN" sz="1500" dirty="0"/>
              <a:t>，最大值</a:t>
            </a:r>
            <a:r>
              <a:rPr lang="en-US" altLang="zh-CN" sz="1500" dirty="0"/>
              <a:t>50</a:t>
            </a:r>
            <a:r>
              <a:rPr lang="zh-CN" altLang="zh-CN" sz="1500" dirty="0"/>
              <a:t>，刻度单位为</a:t>
            </a:r>
            <a:r>
              <a:rPr lang="en-US" altLang="zh-CN" sz="1500" dirty="0"/>
              <a:t>30</a:t>
            </a:r>
            <a:endParaRPr lang="zh-CN" altLang="zh-CN" sz="1500" dirty="0"/>
          </a:p>
          <a:p>
            <a:r>
              <a:rPr lang="zh-CN" altLang="zh-CN" sz="1500" dirty="0"/>
              <a:t>右图：纵轴最小值</a:t>
            </a:r>
            <a:r>
              <a:rPr lang="en-US" altLang="zh-CN" sz="1500" dirty="0"/>
              <a:t>  0</a:t>
            </a:r>
            <a:r>
              <a:rPr lang="zh-CN" altLang="zh-CN" sz="1500" dirty="0"/>
              <a:t>，最大值</a:t>
            </a:r>
            <a:r>
              <a:rPr lang="en-US" altLang="zh-CN" sz="1500" dirty="0"/>
              <a:t>50</a:t>
            </a:r>
            <a:r>
              <a:rPr lang="zh-CN" altLang="zh-CN" sz="1500" dirty="0"/>
              <a:t>，刻度单位为</a:t>
            </a:r>
            <a:r>
              <a:rPr lang="en-US" altLang="zh-CN" sz="1500" dirty="0"/>
              <a:t>  5</a:t>
            </a:r>
            <a:endParaRPr lang="zh-CN" altLang="zh-CN" sz="1500" dirty="0"/>
          </a:p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CN" altLang="en-US" dirty="0" smtClean="0"/>
              <a:t>图形图表变身</a:t>
            </a:r>
            <a:endParaRPr lang="zh-CN" altLang="en-US" dirty="0"/>
          </a:p>
        </p:txBody>
      </p:sp>
      <p:graphicFrame>
        <p:nvGraphicFramePr>
          <p:cNvPr id="9" name="图表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0714244"/>
              </p:ext>
            </p:extLst>
          </p:nvPr>
        </p:nvGraphicFramePr>
        <p:xfrm>
          <a:off x="3995936" y="1303987"/>
          <a:ext cx="4572000" cy="2482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矩形 9"/>
          <p:cNvSpPr/>
          <p:nvPr/>
        </p:nvSpPr>
        <p:spPr>
          <a:xfrm>
            <a:off x="3923928" y="688921"/>
            <a:ext cx="43204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 sz="1800" b="1" i="0" u="none" strike="noStrike" kern="1200" baseline="0">
                <a:solidFill>
                  <a:prstClr val="white">
                    <a:lumMod val="85000"/>
                  </a:prst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pPr>
            <a:r>
              <a:rPr lang="zh-CN" altLang="en-US" sz="27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净关注人数增长高达</a:t>
            </a:r>
            <a:r>
              <a:rPr lang="en-US" altLang="zh-CN" sz="27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208%</a:t>
            </a:r>
            <a:endParaRPr lang="zh-CN" altLang="en-US" sz="27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8" name="图表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792206"/>
              </p:ext>
            </p:extLst>
          </p:nvPr>
        </p:nvGraphicFramePr>
        <p:xfrm>
          <a:off x="6156176" y="1303987"/>
          <a:ext cx="4572000" cy="2482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86805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 algn="r"/>
            <a:r>
              <a:rPr lang="zh-CN" altLang="en-US" sz="2900" dirty="0">
                <a:solidFill>
                  <a:prstClr val="white"/>
                </a:solidFill>
              </a:rPr>
              <a:t>使用微信的男性用户比率为</a:t>
            </a:r>
            <a:endParaRPr lang="en-US" altLang="zh-CN" sz="2900" dirty="0">
              <a:solidFill>
                <a:prstClr val="white"/>
              </a:solidFill>
            </a:endParaRPr>
          </a:p>
          <a:p>
            <a:pPr lvl="0" algn="r"/>
            <a:endParaRPr lang="en-US" altLang="zh-CN" sz="9400" dirty="0">
              <a:solidFill>
                <a:prstClr val="white"/>
              </a:solidFill>
            </a:endParaRPr>
          </a:p>
          <a:p>
            <a:pPr lvl="0" algn="r"/>
            <a:r>
              <a:rPr lang="en-US" altLang="zh-CN" sz="8800" dirty="0">
                <a:solidFill>
                  <a:prstClr val="white"/>
                </a:solidFill>
              </a:rPr>
              <a:t>39.34%</a:t>
            </a:r>
            <a:endParaRPr lang="zh-CN" altLang="en-US" sz="8800" dirty="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真相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zh-CN" altLang="zh-CN" dirty="0"/>
              <a:t>关注教学笔记的男性用户比率为</a:t>
            </a:r>
            <a:r>
              <a:rPr lang="en-US" altLang="zh-CN" dirty="0"/>
              <a:t>39.34%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CN" altLang="en-US" dirty="0"/>
              <a:t>混乱的神逻辑</a:t>
            </a:r>
          </a:p>
        </p:txBody>
      </p:sp>
    </p:spTree>
    <p:extLst>
      <p:ext uri="{BB962C8B-B14F-4D97-AF65-F5344CB8AC3E}">
        <p14:creationId xmlns:p14="http://schemas.microsoft.com/office/powerpoint/2010/main" val="349317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 rot="13550350">
            <a:off x="689425" y="-2037836"/>
            <a:ext cx="7765150" cy="7914274"/>
          </a:xfrm>
          <a:custGeom>
            <a:avLst/>
            <a:gdLst>
              <a:gd name="connsiteX0" fmla="*/ 7765150 w 7765150"/>
              <a:gd name="connsiteY0" fmla="*/ 1354487 h 7914274"/>
              <a:gd name="connsiteX1" fmla="*/ 1394755 w 7765150"/>
              <a:gd name="connsiteY1" fmla="*/ 7914274 h 7914274"/>
              <a:gd name="connsiteX2" fmla="*/ 0 w 7765150"/>
              <a:gd name="connsiteY2" fmla="*/ 6559787 h 7914274"/>
              <a:gd name="connsiteX3" fmla="*/ 1011402 w 7765150"/>
              <a:gd name="connsiteY3" fmla="*/ 5518316 h 7914274"/>
              <a:gd name="connsiteX4" fmla="*/ 1009222 w 7765150"/>
              <a:gd name="connsiteY4" fmla="*/ 5518316 h 7914274"/>
              <a:gd name="connsiteX5" fmla="*/ 1261250 w 7765150"/>
              <a:gd name="connsiteY5" fmla="*/ 4567131 h 7914274"/>
              <a:gd name="connsiteX6" fmla="*/ 1405698 w 7765150"/>
              <a:gd name="connsiteY6" fmla="*/ 5112297 h 7914274"/>
              <a:gd name="connsiteX7" fmla="*/ 6370395 w 7765150"/>
              <a:gd name="connsiteY7" fmla="*/ 0 h 7914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65150" h="7914274">
                <a:moveTo>
                  <a:pt x="7765150" y="1354487"/>
                </a:moveTo>
                <a:lnTo>
                  <a:pt x="1394755" y="7914274"/>
                </a:lnTo>
                <a:lnTo>
                  <a:pt x="0" y="6559787"/>
                </a:lnTo>
                <a:lnTo>
                  <a:pt x="1011402" y="5518316"/>
                </a:lnTo>
                <a:lnTo>
                  <a:pt x="1009222" y="5518316"/>
                </a:lnTo>
                <a:lnTo>
                  <a:pt x="1261250" y="4567131"/>
                </a:lnTo>
                <a:lnTo>
                  <a:pt x="1405698" y="5112297"/>
                </a:lnTo>
                <a:lnTo>
                  <a:pt x="6370395" y="0"/>
                </a:lnTo>
                <a:close/>
              </a:path>
            </a:pathLst>
          </a:custGeom>
          <a:solidFill>
            <a:srgbClr val="4E8E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 idx="4294967295"/>
          </p:nvPr>
        </p:nvSpPr>
        <p:spPr>
          <a:xfrm>
            <a:off x="971550" y="3933056"/>
            <a:ext cx="7200900" cy="2289175"/>
          </a:xfrm>
        </p:spPr>
        <p:txBody>
          <a:bodyPr>
            <a:normAutofit fontScale="90000"/>
          </a:bodyPr>
          <a:lstStyle/>
          <a:p>
            <a:r>
              <a:rPr lang="zh-CN" altLang="en-US" sz="10700" dirty="0" smtClean="0">
                <a:solidFill>
                  <a:srgbClr val="4E8EDC"/>
                </a:solidFill>
              </a:rPr>
              <a:t>怎么</a:t>
            </a:r>
            <a:r>
              <a:rPr lang="zh-CN" altLang="en-US" sz="16700" dirty="0" smtClean="0">
                <a:solidFill>
                  <a:srgbClr val="4E8EDC"/>
                </a:solidFill>
              </a:rPr>
              <a:t>破</a:t>
            </a:r>
            <a:endParaRPr lang="zh-CN" altLang="en-US" sz="16700" dirty="0">
              <a:solidFill>
                <a:srgbClr val="4E8EDC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-396552" y="1199799"/>
            <a:ext cx="986509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9600" dirty="0">
                <a:solidFill>
                  <a:schemeClr val="bg1"/>
                </a:solidFill>
                <a:latin typeface="造字工房朗倩（非商用）常规体" pitchFamily="50" charset="-122"/>
                <a:ea typeface="造字工房朗倩（非商用）常规体" pitchFamily="50" charset="-122"/>
                <a:cs typeface="+mj-cs"/>
              </a:rPr>
              <a:t>面对数字的误导</a:t>
            </a:r>
            <a:r>
              <a:rPr lang="en-US" altLang="zh-CN" sz="9600" dirty="0">
                <a:solidFill>
                  <a:schemeClr val="bg1"/>
                </a:solidFill>
                <a:latin typeface="造字工房朗倩（非商用）常规体" pitchFamily="50" charset="-122"/>
                <a:ea typeface="造字工房朗倩（非商用）常规体" pitchFamily="50" charset="-122"/>
                <a:cs typeface="+mj-cs"/>
              </a:rPr>
              <a:t/>
            </a:r>
            <a:br>
              <a:rPr lang="en-US" altLang="zh-CN" sz="9600" dirty="0">
                <a:solidFill>
                  <a:schemeClr val="bg1"/>
                </a:solidFill>
                <a:latin typeface="造字工房朗倩（非商用）常规体" pitchFamily="50" charset="-122"/>
                <a:ea typeface="造字工房朗倩（非商用）常规体" pitchFamily="50" charset="-122"/>
                <a:cs typeface="+mj-cs"/>
              </a:rPr>
            </a:br>
            <a:endParaRPr lang="zh-CN" alt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374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4E8E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022920" y="773832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10000" dirty="0" smtClean="0">
                <a:solidFill>
                  <a:schemeClr val="bg1"/>
                </a:solidFill>
              </a:rPr>
              <a:t>别怕  ！</a:t>
            </a:r>
            <a:r>
              <a:rPr lang="zh-CN" altLang="en-US" sz="10000" dirty="0" smtClean="0">
                <a:solidFill>
                  <a:srgbClr val="4E8EDC"/>
                </a:solidFill>
              </a:rPr>
              <a:t>有药  ！</a:t>
            </a:r>
            <a:endParaRPr lang="zh-CN" altLang="en-US" sz="10000" dirty="0">
              <a:solidFill>
                <a:srgbClr val="4E8EDC"/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963860" y="2636912"/>
            <a:ext cx="1591916" cy="495746"/>
          </a:xfrm>
        </p:spPr>
        <p:txBody>
          <a:bodyPr>
            <a:normAutofit fontScale="92500"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</a:rPr>
              <a:t>存在问题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963860" y="3366144"/>
            <a:ext cx="4040188" cy="3951288"/>
          </a:xfrm>
        </p:spPr>
        <p:txBody>
          <a:bodyPr/>
          <a:lstStyle/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chemeClr val="bg1"/>
                </a:solidFill>
              </a:rPr>
              <a:t>有偏的样本</a:t>
            </a:r>
            <a:endParaRPr lang="en-US" altLang="zh-CN" b="1" dirty="0">
              <a:solidFill>
                <a:schemeClr val="bg1"/>
              </a:solidFill>
            </a:endParaRPr>
          </a:p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zh-CN" altLang="en-US" b="1" dirty="0" smtClean="0">
                <a:solidFill>
                  <a:schemeClr val="bg1"/>
                </a:solidFill>
              </a:rPr>
              <a:t>精选的平均数</a:t>
            </a:r>
            <a:endParaRPr lang="en-US" altLang="zh-CN" b="1" dirty="0">
              <a:solidFill>
                <a:schemeClr val="bg1"/>
              </a:solidFill>
            </a:endParaRPr>
          </a:p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chemeClr val="bg1"/>
                </a:solidFill>
              </a:rPr>
              <a:t>隐藏部分数据</a:t>
            </a:r>
            <a:endParaRPr lang="en-US" altLang="zh-CN" b="1" dirty="0">
              <a:solidFill>
                <a:schemeClr val="bg1"/>
              </a:solidFill>
            </a:endParaRPr>
          </a:p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chemeClr val="bg1"/>
                </a:solidFill>
              </a:rPr>
              <a:t>图形</a:t>
            </a:r>
            <a:r>
              <a:rPr lang="zh-CN" altLang="en-US" b="1" dirty="0" smtClean="0">
                <a:solidFill>
                  <a:schemeClr val="bg1"/>
                </a:solidFill>
              </a:rPr>
              <a:t>图表变身</a:t>
            </a:r>
            <a:endParaRPr lang="en-US" altLang="zh-CN" b="1" dirty="0">
              <a:solidFill>
                <a:schemeClr val="bg1"/>
              </a:solidFill>
            </a:endParaRPr>
          </a:p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chemeClr val="bg1"/>
                </a:solidFill>
              </a:rPr>
              <a:t>混乱</a:t>
            </a:r>
            <a:r>
              <a:rPr lang="zh-CN" altLang="en-US" b="1" dirty="0" smtClean="0">
                <a:solidFill>
                  <a:schemeClr val="bg1"/>
                </a:solidFill>
              </a:rPr>
              <a:t>的神</a:t>
            </a:r>
            <a:r>
              <a:rPr lang="zh-CN" altLang="en-US" b="1" dirty="0">
                <a:solidFill>
                  <a:schemeClr val="bg1"/>
                </a:solidFill>
              </a:rPr>
              <a:t>逻辑</a:t>
            </a:r>
          </a:p>
          <a:p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3"/>
          </p:nvPr>
        </p:nvSpPr>
        <p:spPr>
          <a:xfrm>
            <a:off x="5580113" y="2636912"/>
            <a:ext cx="1584176" cy="495746"/>
          </a:xfrm>
        </p:spPr>
        <p:txBody>
          <a:bodyPr>
            <a:normAutofit fontScale="92500"/>
          </a:bodyPr>
          <a:lstStyle/>
          <a:p>
            <a:r>
              <a:rPr lang="zh-CN" altLang="en-US" sz="2800" dirty="0" smtClean="0">
                <a:solidFill>
                  <a:srgbClr val="4E8EDC"/>
                </a:solidFill>
              </a:rPr>
              <a:t>建议方法</a:t>
            </a:r>
            <a:endParaRPr lang="zh-CN" altLang="en-US" sz="2800" dirty="0">
              <a:solidFill>
                <a:srgbClr val="4E8EDC"/>
              </a:solidFill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sz="quarter" idx="4"/>
          </p:nvPr>
        </p:nvSpPr>
        <p:spPr>
          <a:xfrm>
            <a:off x="5580112" y="3366144"/>
            <a:ext cx="4041775" cy="3951288"/>
          </a:xfrm>
        </p:spPr>
        <p:txBody>
          <a:bodyPr/>
          <a:lstStyle/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zh-CN" altLang="en-US" b="1" dirty="0" smtClean="0">
                <a:solidFill>
                  <a:srgbClr val="4E8EDC"/>
                </a:solidFill>
              </a:rPr>
              <a:t>如何知道的</a:t>
            </a:r>
            <a:endParaRPr lang="en-US" altLang="zh-CN" b="1" dirty="0">
              <a:solidFill>
                <a:srgbClr val="4E8EDC"/>
              </a:solidFill>
            </a:endParaRPr>
          </a:p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zh-CN" altLang="en-US" b="1" dirty="0" smtClean="0">
                <a:solidFill>
                  <a:srgbClr val="4E8EDC"/>
                </a:solidFill>
              </a:rPr>
              <a:t>是否有意义</a:t>
            </a:r>
            <a:endParaRPr lang="en-US" altLang="zh-CN" b="1" dirty="0">
              <a:solidFill>
                <a:srgbClr val="4E8EDC"/>
              </a:solidFill>
            </a:endParaRPr>
          </a:p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zh-CN" altLang="en-US" b="1" dirty="0" smtClean="0">
                <a:solidFill>
                  <a:srgbClr val="4E8EDC"/>
                </a:solidFill>
              </a:rPr>
              <a:t>遗漏了什么</a:t>
            </a:r>
            <a:endParaRPr lang="en-US" altLang="zh-CN" b="1" dirty="0">
              <a:solidFill>
                <a:srgbClr val="4E8EDC"/>
              </a:solidFill>
            </a:endParaRPr>
          </a:p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zh-CN" altLang="en-US" b="1" dirty="0" smtClean="0">
                <a:solidFill>
                  <a:srgbClr val="4E8EDC"/>
                </a:solidFill>
              </a:rPr>
              <a:t>观察坐标轴</a:t>
            </a:r>
            <a:endParaRPr lang="en-US" altLang="zh-CN" b="1" dirty="0">
              <a:solidFill>
                <a:srgbClr val="4E8EDC"/>
              </a:solidFill>
            </a:endParaRPr>
          </a:p>
          <a:p>
            <a:pPr marL="514350" indent="-514350">
              <a:lnSpc>
                <a:spcPct val="140000"/>
              </a:lnSpc>
              <a:buFont typeface="+mj-lt"/>
              <a:buAutoNum type="arabicPeriod"/>
            </a:pPr>
            <a:r>
              <a:rPr lang="zh-CN" altLang="en-US" b="1" dirty="0" smtClean="0">
                <a:solidFill>
                  <a:srgbClr val="4E8EDC"/>
                </a:solidFill>
              </a:rPr>
              <a:t>是否有偷换概念</a:t>
            </a:r>
            <a:endParaRPr lang="zh-CN" altLang="en-US" b="1" dirty="0">
              <a:solidFill>
                <a:srgbClr val="4E8EDC"/>
              </a:solidFill>
            </a:endParaRPr>
          </a:p>
          <a:p>
            <a:endParaRPr lang="zh-CN" altLang="en-US" b="1" dirty="0">
              <a:solidFill>
                <a:srgbClr val="4E8ED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852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043608" y="-747464"/>
            <a:ext cx="648000" cy="5601600"/>
          </a:xfrm>
        </p:spPr>
        <p:txBody>
          <a:bodyPr/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r"/>
            <a:r>
              <a:rPr lang="zh-CN" altLang="en-US" sz="2800" dirty="0">
                <a:solidFill>
                  <a:prstClr val="white"/>
                </a:solidFill>
              </a:rPr>
              <a:t>教学笔记关注人数</a:t>
            </a:r>
            <a:endParaRPr lang="en-US" altLang="zh-CN" sz="2800" dirty="0">
              <a:solidFill>
                <a:prstClr val="white"/>
              </a:solidFill>
            </a:endParaRPr>
          </a:p>
          <a:p>
            <a:pPr lvl="0" algn="r"/>
            <a:r>
              <a:rPr lang="zh-CN" altLang="en-US" sz="2800" dirty="0">
                <a:solidFill>
                  <a:prstClr val="white"/>
                </a:solidFill>
              </a:rPr>
              <a:t>日增长率</a:t>
            </a:r>
            <a:endParaRPr lang="en-US" altLang="zh-CN" sz="2800" dirty="0">
              <a:solidFill>
                <a:prstClr val="white"/>
              </a:solidFill>
            </a:endParaRPr>
          </a:p>
          <a:p>
            <a:pPr lvl="0" algn="r"/>
            <a:endParaRPr lang="en-US" altLang="zh-CN" sz="2000" dirty="0">
              <a:solidFill>
                <a:prstClr val="white"/>
              </a:solidFill>
            </a:endParaRPr>
          </a:p>
          <a:p>
            <a:pPr lvl="0" algn="r"/>
            <a:r>
              <a:rPr lang="en-US" altLang="zh-CN" sz="7500" dirty="0">
                <a:solidFill>
                  <a:prstClr val="white"/>
                </a:solidFill>
              </a:rPr>
              <a:t>700%</a:t>
            </a:r>
            <a:endParaRPr lang="zh-CN" altLang="en-US" sz="7500" dirty="0">
              <a:solidFill>
                <a:prstClr val="white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药</a:t>
            </a:r>
          </a:p>
          <a:p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4"/>
          </p:nvPr>
        </p:nvSpPr>
        <p:spPr>
          <a:xfrm>
            <a:off x="2483768" y="5537124"/>
            <a:ext cx="5976664" cy="1636292"/>
          </a:xfrm>
        </p:spPr>
        <p:txBody>
          <a:bodyPr>
            <a:normAutofit/>
          </a:bodyPr>
          <a:lstStyle/>
          <a:p>
            <a:r>
              <a:rPr lang="zh-CN" altLang="zh-CN" dirty="0"/>
              <a:t>搞清楚数据样本，是</a:t>
            </a:r>
            <a:r>
              <a:rPr lang="en-US" altLang="zh-CN" dirty="0"/>
              <a:t>7</a:t>
            </a:r>
            <a:r>
              <a:rPr lang="zh-CN" altLang="zh-CN" dirty="0"/>
              <a:t>天，</a:t>
            </a:r>
            <a:r>
              <a:rPr lang="en-US" altLang="zh-CN" dirty="0"/>
              <a:t>30</a:t>
            </a:r>
            <a:r>
              <a:rPr lang="zh-CN" altLang="zh-CN" dirty="0"/>
              <a:t>天，还是</a:t>
            </a:r>
            <a:r>
              <a:rPr lang="en-US" altLang="zh-CN" dirty="0"/>
              <a:t>300</a:t>
            </a:r>
            <a:r>
              <a:rPr lang="zh-CN" altLang="zh-CN" dirty="0" smtClean="0"/>
              <a:t>天</a:t>
            </a:r>
            <a:r>
              <a:rPr lang="zh-CN" altLang="en-US" dirty="0" smtClean="0"/>
              <a:t>。</a:t>
            </a:r>
            <a:endParaRPr lang="zh-CN" altLang="zh-CN" dirty="0"/>
          </a:p>
          <a:p>
            <a:r>
              <a:rPr lang="zh-CN" altLang="zh-CN" dirty="0"/>
              <a:t>上述例子，样本越小，误差越大，误导性也越</a:t>
            </a:r>
            <a:r>
              <a:rPr lang="zh-CN" altLang="zh-CN" dirty="0" smtClean="0"/>
              <a:t>大</a:t>
            </a:r>
            <a:r>
              <a:rPr lang="zh-CN" altLang="en-US" dirty="0" smtClean="0"/>
              <a:t>。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quarter" idx="15"/>
          </p:nvPr>
        </p:nvSpPr>
        <p:spPr>
          <a:xfrm>
            <a:off x="251520" y="2998800"/>
            <a:ext cx="2232248" cy="504056"/>
          </a:xfrm>
        </p:spPr>
        <p:txBody>
          <a:bodyPr/>
          <a:lstStyle/>
          <a:p>
            <a:pPr algn="ctr"/>
            <a:r>
              <a:rPr lang="zh-CN" altLang="en-US" dirty="0"/>
              <a:t>有偏的</a:t>
            </a:r>
            <a:r>
              <a:rPr lang="zh-CN" altLang="en-US" dirty="0" smtClean="0"/>
              <a:t>样本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416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r">
              <a:buNone/>
            </a:pPr>
            <a:r>
              <a:rPr lang="zh-CN" altLang="en-US" sz="2900" dirty="0" smtClean="0"/>
              <a:t>教学笔记每日人均发送消息</a:t>
            </a:r>
            <a:endParaRPr lang="en-US" altLang="zh-CN" sz="2900" dirty="0" smtClean="0"/>
          </a:p>
          <a:p>
            <a:pPr marL="0" indent="0" algn="r">
              <a:buNone/>
            </a:pPr>
            <a:endParaRPr lang="en-US" altLang="zh-CN" sz="5300" dirty="0"/>
          </a:p>
          <a:p>
            <a:pPr marL="0" indent="0" algn="r">
              <a:buNone/>
            </a:pPr>
            <a:r>
              <a:rPr lang="en-US" altLang="zh-CN" sz="8100" b="1" dirty="0" smtClean="0"/>
              <a:t>17</a:t>
            </a:r>
            <a:endParaRPr lang="zh-CN" altLang="en-US" sz="8100" b="1" dirty="0"/>
          </a:p>
        </p:txBody>
      </p:sp>
      <p:sp>
        <p:nvSpPr>
          <p:cNvPr id="10" name="内容占位符 9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药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4"/>
          </p:nvPr>
        </p:nvSpPr>
        <p:spPr>
          <a:xfrm>
            <a:off x="2339752" y="5537124"/>
            <a:ext cx="5976664" cy="1420268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1600" dirty="0" smtClean="0"/>
              <a:t>	</a:t>
            </a:r>
            <a:r>
              <a:rPr lang="zh-CN" altLang="zh-CN" sz="1500" dirty="0" smtClean="0"/>
              <a:t>前提搞清楚样本有多大，再来看平均数的种类，包括</a:t>
            </a:r>
            <a:r>
              <a:rPr lang="en-US" altLang="zh-CN" sz="1500" dirty="0" smtClean="0"/>
              <a:t>3</a:t>
            </a:r>
            <a:r>
              <a:rPr lang="zh-CN" altLang="zh-CN" sz="1500" dirty="0" smtClean="0"/>
              <a:t>种</a:t>
            </a:r>
          </a:p>
          <a:p>
            <a:r>
              <a:rPr lang="en-US" altLang="zh-CN" sz="1400" dirty="0" smtClean="0"/>
              <a:t>	</a:t>
            </a:r>
            <a:r>
              <a:rPr lang="zh-CN" altLang="zh-CN" sz="1400" dirty="0" smtClean="0"/>
              <a:t>举例</a:t>
            </a:r>
            <a:r>
              <a:rPr lang="zh-CN" altLang="zh-CN" sz="1400" dirty="0"/>
              <a:t>：一组男子身高数字</a:t>
            </a:r>
            <a:r>
              <a:rPr lang="en-US" altLang="zh-CN" sz="1400" dirty="0"/>
              <a:t>160</a:t>
            </a:r>
            <a:r>
              <a:rPr lang="zh-CN" altLang="zh-CN" sz="1400" dirty="0"/>
              <a:t>，</a:t>
            </a:r>
            <a:r>
              <a:rPr lang="en-US" altLang="zh-CN" sz="1400" dirty="0"/>
              <a:t>160</a:t>
            </a:r>
            <a:r>
              <a:rPr lang="zh-CN" altLang="zh-CN" sz="1400" dirty="0"/>
              <a:t>，</a:t>
            </a:r>
            <a:r>
              <a:rPr lang="en-US" altLang="zh-CN" sz="1400" dirty="0"/>
              <a:t>161</a:t>
            </a:r>
            <a:r>
              <a:rPr lang="zh-CN" altLang="zh-CN" sz="1400" dirty="0"/>
              <a:t>，</a:t>
            </a:r>
            <a:r>
              <a:rPr lang="en-US" altLang="zh-CN" sz="1400" dirty="0"/>
              <a:t>175</a:t>
            </a:r>
            <a:r>
              <a:rPr lang="zh-CN" altLang="zh-CN" sz="1400" dirty="0"/>
              <a:t>，</a:t>
            </a:r>
            <a:r>
              <a:rPr lang="en-US" altLang="zh-CN" sz="1400" dirty="0" smtClean="0"/>
              <a:t>230</a:t>
            </a:r>
          </a:p>
          <a:p>
            <a:r>
              <a:rPr lang="en-US" altLang="zh-CN" sz="1400" dirty="0" smtClean="0"/>
              <a:t>		均值</a:t>
            </a:r>
            <a:r>
              <a:rPr lang="en-US" altLang="zh-CN" sz="1400" dirty="0"/>
              <a:t>：177.2</a:t>
            </a:r>
            <a:r>
              <a:rPr lang="en-US" altLang="zh-CN" sz="1400" dirty="0" smtClean="0"/>
              <a:t>。                </a:t>
            </a:r>
            <a:r>
              <a:rPr lang="en-US" altLang="zh-CN" sz="1400" dirty="0" err="1" smtClean="0"/>
              <a:t>大多数人理解的算术平均数</a:t>
            </a:r>
            <a:endParaRPr lang="zh-CN" altLang="zh-CN" sz="1400" dirty="0"/>
          </a:p>
          <a:p>
            <a:r>
              <a:rPr lang="en-US" altLang="zh-CN" sz="1400" dirty="0" smtClean="0"/>
              <a:t>		</a:t>
            </a:r>
            <a:r>
              <a:rPr lang="zh-CN" altLang="zh-CN" sz="1400" dirty="0" smtClean="0"/>
              <a:t>中位数</a:t>
            </a:r>
            <a:r>
              <a:rPr lang="zh-CN" altLang="zh-CN" sz="1400" dirty="0"/>
              <a:t>：</a:t>
            </a:r>
            <a:r>
              <a:rPr lang="en-US" altLang="zh-CN" sz="1400" dirty="0"/>
              <a:t>161</a:t>
            </a:r>
            <a:r>
              <a:rPr lang="zh-CN" altLang="zh-CN" sz="1400" dirty="0" smtClean="0"/>
              <a:t>。一共</a:t>
            </a:r>
            <a:r>
              <a:rPr lang="en-US" altLang="zh-CN" sz="1400" dirty="0"/>
              <a:t>5</a:t>
            </a:r>
            <a:r>
              <a:rPr lang="zh-CN" altLang="zh-CN" sz="1400" dirty="0"/>
              <a:t>个数字</a:t>
            </a:r>
            <a:r>
              <a:rPr lang="zh-CN" altLang="zh-CN" sz="1400" dirty="0" smtClean="0"/>
              <a:t>，</a:t>
            </a:r>
            <a:r>
              <a:rPr lang="en-US" altLang="zh-CN" sz="1400" dirty="0" smtClean="0"/>
              <a:t>2</a:t>
            </a:r>
            <a:r>
              <a:rPr lang="zh-CN" altLang="zh-CN" sz="1400" dirty="0"/>
              <a:t>个大于它</a:t>
            </a:r>
            <a:r>
              <a:rPr lang="zh-CN" altLang="zh-CN" sz="1400" dirty="0" smtClean="0"/>
              <a:t>，</a:t>
            </a:r>
            <a:r>
              <a:rPr lang="en-US" altLang="zh-CN" sz="1400" dirty="0" smtClean="0"/>
              <a:t>2</a:t>
            </a:r>
            <a:r>
              <a:rPr lang="zh-CN" altLang="zh-CN" sz="1400" dirty="0"/>
              <a:t>个小于</a:t>
            </a:r>
            <a:r>
              <a:rPr lang="zh-CN" altLang="zh-CN" sz="1400" dirty="0" smtClean="0"/>
              <a:t>它</a:t>
            </a:r>
            <a:endParaRPr lang="en-US" altLang="zh-CN" sz="1400" dirty="0" smtClean="0"/>
          </a:p>
          <a:p>
            <a:r>
              <a:rPr lang="en-US" altLang="zh-CN" sz="1400" dirty="0" smtClean="0"/>
              <a:t>		</a:t>
            </a:r>
            <a:r>
              <a:rPr lang="zh-CN" altLang="zh-CN" sz="1400" dirty="0" smtClean="0"/>
              <a:t>众数</a:t>
            </a:r>
            <a:r>
              <a:rPr lang="zh-CN" altLang="zh-CN" sz="1400" dirty="0"/>
              <a:t>：</a:t>
            </a:r>
            <a:r>
              <a:rPr lang="en-US" altLang="zh-CN" sz="1400" dirty="0"/>
              <a:t>160</a:t>
            </a:r>
            <a:r>
              <a:rPr lang="zh-CN" altLang="zh-CN" sz="1400" dirty="0" smtClean="0"/>
              <a:t>。</a:t>
            </a:r>
            <a:r>
              <a:rPr lang="en-US" altLang="zh-CN" sz="1400" dirty="0" smtClean="0"/>
              <a:t>                                 </a:t>
            </a:r>
            <a:r>
              <a:rPr lang="zh-CN" altLang="zh-CN" sz="1400" dirty="0" smtClean="0"/>
              <a:t>出现</a:t>
            </a:r>
            <a:r>
              <a:rPr lang="zh-CN" altLang="zh-CN" sz="1400" dirty="0"/>
              <a:t>最频繁的</a:t>
            </a:r>
            <a:r>
              <a:rPr lang="zh-CN" altLang="zh-CN" sz="1400" dirty="0" smtClean="0"/>
              <a:t>数字</a:t>
            </a:r>
            <a:endParaRPr lang="en-US" altLang="zh-CN" sz="1400" dirty="0" smtClean="0"/>
          </a:p>
          <a:p>
            <a:r>
              <a:rPr lang="en-US" altLang="zh-CN" sz="1400" dirty="0" smtClean="0"/>
              <a:t>	</a:t>
            </a:r>
            <a:r>
              <a:rPr lang="en-US" altLang="zh-CN" sz="1500" dirty="0" smtClean="0"/>
              <a:t>所以，这组男子的平均身高可以为160、161或177.2</a:t>
            </a:r>
            <a:endParaRPr lang="zh-CN" altLang="en-US" sz="2100" dirty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CN" altLang="zh-CN" dirty="0"/>
              <a:t>精选的平均数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2634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algn="r"/>
            <a:r>
              <a:rPr lang="zh-CN" altLang="en-US" dirty="0">
                <a:solidFill>
                  <a:prstClr val="white"/>
                </a:solidFill>
              </a:rPr>
              <a:t>教学笔记文章图文转化率</a:t>
            </a:r>
            <a:endParaRPr lang="en-US" altLang="zh-CN" dirty="0">
              <a:solidFill>
                <a:prstClr val="white"/>
              </a:solidFill>
            </a:endParaRPr>
          </a:p>
          <a:p>
            <a:pPr lvl="0" algn="r"/>
            <a:endParaRPr lang="en-US" altLang="zh-CN" sz="2100" dirty="0">
              <a:solidFill>
                <a:prstClr val="white"/>
              </a:solidFill>
            </a:endParaRPr>
          </a:p>
          <a:p>
            <a:pPr lvl="0" algn="r"/>
            <a:endParaRPr lang="en-US" altLang="zh-CN" sz="4100" dirty="0">
              <a:solidFill>
                <a:prstClr val="white"/>
              </a:solidFill>
            </a:endParaRPr>
          </a:p>
          <a:p>
            <a:pPr lvl="0" algn="r"/>
            <a:endParaRPr lang="en-US" altLang="zh-CN" sz="3700" dirty="0">
              <a:solidFill>
                <a:prstClr val="white"/>
              </a:solidFill>
            </a:endParaRPr>
          </a:p>
          <a:p>
            <a:pPr lvl="0" algn="r"/>
            <a:r>
              <a:rPr lang="en-US" altLang="zh-CN" sz="9700" dirty="0">
                <a:solidFill>
                  <a:prstClr val="white"/>
                </a:solidFill>
              </a:rPr>
              <a:t>662.96%</a:t>
            </a:r>
            <a:endParaRPr lang="zh-CN" altLang="en-US" sz="9700" dirty="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药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zh-CN" altLang="zh-CN" dirty="0"/>
              <a:t>数据的样本是多</a:t>
            </a:r>
            <a:r>
              <a:rPr lang="zh-CN" altLang="zh-CN" dirty="0" smtClean="0"/>
              <a:t>大？</a:t>
            </a:r>
            <a:endParaRPr lang="zh-CN" altLang="zh-CN" dirty="0"/>
          </a:p>
          <a:p>
            <a:r>
              <a:rPr lang="zh-CN" altLang="zh-CN" dirty="0"/>
              <a:t>数据的来源是什么？个人还是组织，是否</a:t>
            </a:r>
            <a:r>
              <a:rPr lang="zh-CN" altLang="zh-CN" dirty="0" smtClean="0"/>
              <a:t>权威？</a:t>
            </a:r>
            <a:endParaRPr lang="zh-CN" altLang="zh-CN" dirty="0"/>
          </a:p>
          <a:p>
            <a:r>
              <a:rPr lang="zh-CN" altLang="zh-CN" dirty="0"/>
              <a:t>原始数据是什么，是否有遗漏的</a:t>
            </a:r>
            <a:r>
              <a:rPr lang="zh-CN" altLang="zh-CN" dirty="0" smtClean="0"/>
              <a:t>信息？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CN" altLang="zh-CN" dirty="0"/>
              <a:t>隐藏部分数据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9092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药</a:t>
            </a:r>
          </a:p>
        </p:txBody>
      </p:sp>
      <p:sp>
        <p:nvSpPr>
          <p:cNvPr id="15" name="内容占位符 14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看图表的时候，务必看清坐标轴的单位和数字。</a:t>
            </a:r>
          </a:p>
          <a:p>
            <a:r>
              <a:rPr lang="en-US" altLang="zh-CN" sz="1600" dirty="0"/>
              <a:t>9</a:t>
            </a:r>
            <a:r>
              <a:rPr lang="zh-CN" altLang="zh-CN" sz="1600" dirty="0"/>
              <a:t>月份净关注人数</a:t>
            </a:r>
            <a:r>
              <a:rPr lang="en-US" altLang="zh-CN" sz="1600" dirty="0"/>
              <a:t>22</a:t>
            </a:r>
            <a:r>
              <a:rPr lang="zh-CN" altLang="zh-CN" sz="1600" dirty="0"/>
              <a:t>，</a:t>
            </a:r>
            <a:r>
              <a:rPr lang="en-US" altLang="zh-CN" sz="1600" dirty="0"/>
              <a:t>11</a:t>
            </a:r>
            <a:r>
              <a:rPr lang="zh-CN" altLang="zh-CN" sz="1600" dirty="0"/>
              <a:t>月份净关注人数</a:t>
            </a:r>
            <a:r>
              <a:rPr lang="en-US" altLang="zh-CN" sz="1600" dirty="0"/>
              <a:t>48</a:t>
            </a:r>
            <a:endParaRPr lang="zh-CN" altLang="zh-CN" sz="1600" dirty="0"/>
          </a:p>
          <a:p>
            <a:r>
              <a:rPr lang="zh-CN" altLang="zh-CN" sz="1600" dirty="0"/>
              <a:t>左图和右图的数据完全相同，但视觉</a:t>
            </a:r>
            <a:r>
              <a:rPr lang="zh-CN" altLang="zh-CN" sz="1600" dirty="0" smtClean="0"/>
              <a:t>效果</a:t>
            </a:r>
            <a:r>
              <a:rPr lang="zh-CN" altLang="en-US" sz="1600" dirty="0" smtClean="0"/>
              <a:t>上</a:t>
            </a:r>
            <a:r>
              <a:rPr lang="zh-CN" altLang="zh-CN" sz="1600" dirty="0" smtClean="0"/>
              <a:t>左图</a:t>
            </a:r>
            <a:r>
              <a:rPr lang="zh-CN" altLang="en-US" sz="1600" dirty="0" smtClean="0"/>
              <a:t>的</a:t>
            </a:r>
            <a:r>
              <a:rPr lang="zh-CN" altLang="zh-CN" sz="1600" dirty="0" smtClean="0"/>
              <a:t>增长</a:t>
            </a:r>
            <a:endParaRPr lang="en-US" altLang="zh-CN" sz="1600" dirty="0" smtClean="0"/>
          </a:p>
          <a:p>
            <a:r>
              <a:rPr lang="zh-CN" altLang="zh-CN" sz="1600" dirty="0" smtClean="0"/>
              <a:t>势头明显</a:t>
            </a:r>
            <a:r>
              <a:rPr lang="zh-CN" altLang="zh-CN" sz="1600" dirty="0"/>
              <a:t>更强劲，造成的错觉远远超过真实数据</a:t>
            </a:r>
            <a:r>
              <a:rPr lang="en-US" altLang="zh-CN" sz="1600" dirty="0"/>
              <a:t>208%</a:t>
            </a:r>
            <a:r>
              <a:rPr lang="zh-CN" altLang="zh-CN" sz="1600" dirty="0"/>
              <a:t>。</a:t>
            </a:r>
          </a:p>
          <a:p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CN" altLang="en-US" dirty="0"/>
              <a:t>图形图表变</a:t>
            </a:r>
            <a:r>
              <a:rPr lang="zh-CN" altLang="en-US" dirty="0" smtClean="0"/>
              <a:t>身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067944" y="692696"/>
            <a:ext cx="424847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 u="none" strike="noStrike" kern="1200" baseline="0">
                <a:solidFill>
                  <a:prstClr val="white">
                    <a:lumMod val="85000"/>
                  </a:prst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pPr>
            <a:r>
              <a:rPr lang="zh-CN" altLang="en-US" sz="27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净关注人数增长高达</a:t>
            </a:r>
            <a:r>
              <a:rPr lang="en-US" altLang="zh-CN" sz="27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208%</a:t>
            </a:r>
            <a:endParaRPr lang="zh-CN" altLang="en-US" sz="27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9" name="图表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2547012"/>
              </p:ext>
            </p:extLst>
          </p:nvPr>
        </p:nvGraphicFramePr>
        <p:xfrm>
          <a:off x="3995936" y="1303987"/>
          <a:ext cx="4572000" cy="2482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图表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8744567"/>
              </p:ext>
            </p:extLst>
          </p:nvPr>
        </p:nvGraphicFramePr>
        <p:xfrm>
          <a:off x="6156176" y="1303987"/>
          <a:ext cx="4572000" cy="2482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46630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 algn="r"/>
            <a:r>
              <a:rPr lang="zh-CN" altLang="en-US" sz="2900" dirty="0">
                <a:solidFill>
                  <a:prstClr val="white"/>
                </a:solidFill>
              </a:rPr>
              <a:t>使用微信的男性用户比率为</a:t>
            </a:r>
            <a:endParaRPr lang="en-US" altLang="zh-CN" sz="2900" dirty="0">
              <a:solidFill>
                <a:prstClr val="white"/>
              </a:solidFill>
            </a:endParaRPr>
          </a:p>
          <a:p>
            <a:pPr lvl="0" algn="r"/>
            <a:endParaRPr lang="en-US" altLang="zh-CN" sz="9400" dirty="0">
              <a:solidFill>
                <a:prstClr val="white"/>
              </a:solidFill>
            </a:endParaRPr>
          </a:p>
          <a:p>
            <a:pPr lvl="0" algn="r"/>
            <a:r>
              <a:rPr lang="en-US" altLang="zh-CN" sz="8800" dirty="0">
                <a:solidFill>
                  <a:prstClr val="white"/>
                </a:solidFill>
              </a:rPr>
              <a:t>39.34%</a:t>
            </a:r>
            <a:endParaRPr lang="zh-CN" altLang="en-US" sz="8800" dirty="0">
              <a:solidFill>
                <a:prstClr val="white"/>
              </a:solidFill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药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zh-CN" altLang="zh-CN" sz="1600" dirty="0"/>
              <a:t>关注教学笔记的男性用户比率不等于使用微信的男性用户</a:t>
            </a:r>
            <a:r>
              <a:rPr lang="zh-CN" altLang="zh-CN" sz="1600" dirty="0" smtClean="0"/>
              <a:t>比率。</a:t>
            </a:r>
            <a:endParaRPr lang="zh-CN" altLang="zh-CN" sz="1600" dirty="0"/>
          </a:p>
          <a:p>
            <a:pPr algn="just"/>
            <a:r>
              <a:rPr lang="zh-CN" altLang="zh-CN" sz="1600" dirty="0"/>
              <a:t>不管你看到的数字有多精准</a:t>
            </a:r>
            <a:r>
              <a:rPr lang="en-US" altLang="zh-CN" sz="1600" dirty="0"/>
              <a:t>，</a:t>
            </a:r>
            <a:r>
              <a:rPr lang="zh-CN" altLang="zh-CN" sz="1600" dirty="0"/>
              <a:t>请看清数字背后的逻辑，观点是什么，证据是什么，结论是什么，如何推导出来的，是否合理等。</a:t>
            </a:r>
          </a:p>
          <a:p>
            <a:pPr algn="just"/>
            <a:endParaRPr lang="zh-CN" altLang="en-US" sz="1600" dirty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CN" altLang="zh-CN" dirty="0"/>
              <a:t>混乱的神逻辑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685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23528" y="332656"/>
            <a:ext cx="597666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600" b="1" dirty="0" smtClean="0">
                <a:solidFill>
                  <a:srgbClr val="4E8EDC"/>
                </a:solidFill>
                <a:latin typeface="造字工房朗倩（非商用）常规体" pitchFamily="50" charset="-122"/>
                <a:ea typeface="造字工房朗倩（非商用）常规体" pitchFamily="50" charset="-122"/>
                <a:cs typeface="+mj-cs"/>
              </a:rPr>
              <a:t>感言</a:t>
            </a:r>
            <a:endParaRPr lang="zh-CN" altLang="en-US" sz="2000" b="1" dirty="0">
              <a:solidFill>
                <a:srgbClr val="4E8EDC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3528" y="1340768"/>
            <a:ext cx="8424936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400" dirty="0">
                <a:solidFill>
                  <a:srgbClr val="4E8EDC"/>
                </a:solidFill>
                <a:latin typeface="微软雅黑"/>
                <a:ea typeface="微软雅黑"/>
                <a:cs typeface="微软雅黑"/>
              </a:rPr>
              <a:t>作者用了大量的案例试图说明，不要被表面的数字蒙蔽</a:t>
            </a:r>
            <a:r>
              <a:rPr lang="zh-CN" altLang="en-US" sz="2400" dirty="0" smtClean="0">
                <a:solidFill>
                  <a:srgbClr val="4E8EDC"/>
                </a:solidFill>
                <a:latin typeface="微软雅黑"/>
                <a:ea typeface="微软雅黑"/>
                <a:cs typeface="微软雅黑"/>
              </a:rPr>
              <a:t>。</a:t>
            </a:r>
            <a:endParaRPr lang="en-US" altLang="zh-CN" sz="2400" dirty="0" smtClean="0">
              <a:solidFill>
                <a:srgbClr val="4E8EDC"/>
              </a:solidFill>
              <a:latin typeface="微软雅黑"/>
              <a:ea typeface="微软雅黑"/>
              <a:cs typeface="微软雅黑"/>
            </a:endParaRPr>
          </a:p>
          <a:p>
            <a:pPr>
              <a:spcBef>
                <a:spcPts val="1200"/>
              </a:spcBef>
            </a:pPr>
            <a:r>
              <a:rPr lang="zh-CN" altLang="en-US" sz="2400" dirty="0" smtClean="0">
                <a:solidFill>
                  <a:srgbClr val="4E8EDC"/>
                </a:solidFill>
                <a:latin typeface="微软雅黑"/>
                <a:ea typeface="微软雅黑"/>
                <a:cs typeface="微软雅黑"/>
              </a:rPr>
              <a:t>为了</a:t>
            </a:r>
            <a:r>
              <a:rPr lang="zh-CN" altLang="en-US" sz="2400" dirty="0">
                <a:solidFill>
                  <a:srgbClr val="4E8EDC"/>
                </a:solidFill>
                <a:latin typeface="微软雅黑"/>
                <a:ea typeface="微软雅黑"/>
                <a:cs typeface="微软雅黑"/>
              </a:rPr>
              <a:t>符合预设的结论，样本可能是非常小的，数字可能是精心挑选的，计算方式也可能是非常规的，表现方式也可能是利用视觉错觉来夸大</a:t>
            </a:r>
            <a:r>
              <a:rPr lang="zh-CN" altLang="en-US" sz="2400" dirty="0" smtClean="0">
                <a:solidFill>
                  <a:srgbClr val="4E8EDC"/>
                </a:solidFill>
                <a:latin typeface="微软雅黑"/>
                <a:ea typeface="微软雅黑"/>
                <a:cs typeface="微软雅黑"/>
              </a:rPr>
              <a:t>现实。</a:t>
            </a:r>
            <a:endParaRPr lang="en-US" altLang="zh-CN" sz="2400" dirty="0" smtClean="0">
              <a:solidFill>
                <a:srgbClr val="4E8EDC"/>
              </a:solidFill>
              <a:latin typeface="微软雅黑"/>
              <a:ea typeface="微软雅黑"/>
              <a:cs typeface="微软雅黑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/>
            </a:r>
            <a:br>
              <a:rPr lang="en-US" altLang="zh-CN" sz="2400" dirty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</a:br>
            <a:r>
              <a:rPr lang="en-US" altLang="zh-CN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/>
            </a:r>
            <a:br>
              <a:rPr lang="en-US" altLang="zh-CN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</a:br>
            <a:r>
              <a:rPr lang="zh-CN" altLang="en-US" sz="6600" dirty="0" smtClean="0">
                <a:solidFill>
                  <a:srgbClr val="FF6666"/>
                </a:solidFill>
                <a:latin typeface="造字工房朗倩（非商用）常规体" pitchFamily="50" charset="-122"/>
                <a:ea typeface="造字工房朗倩（非商用）常规体" pitchFamily="50" charset="-122"/>
                <a:cs typeface="+mj-cs"/>
              </a:rPr>
              <a:t>讨论</a:t>
            </a:r>
            <a:r>
              <a:rPr lang="en-US" altLang="zh-CN" dirty="0">
                <a:latin typeface="微软雅黑"/>
                <a:ea typeface="微软雅黑"/>
                <a:cs typeface="微软雅黑"/>
              </a:rPr>
              <a:t/>
            </a:r>
            <a:br>
              <a:rPr lang="en-US" altLang="zh-CN" dirty="0">
                <a:latin typeface="微软雅黑"/>
                <a:ea typeface="微软雅黑"/>
                <a:cs typeface="微软雅黑"/>
              </a:rPr>
            </a:br>
            <a:r>
              <a:rPr lang="en-US" altLang="zh-CN" sz="2200" dirty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1.</a:t>
            </a:r>
            <a:r>
              <a:rPr lang="zh-CN" altLang="en-US" sz="2200" dirty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现在很火的“余额宝”们，</a:t>
            </a:r>
            <a:r>
              <a:rPr lang="en-US" altLang="zh-CN" sz="2200" dirty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7%~10%</a:t>
            </a:r>
            <a:r>
              <a:rPr lang="zh-CN" altLang="en-US" sz="2200" dirty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的收益率是如何计算出来的？和每年的收益预期相符吗？为什么</a:t>
            </a:r>
            <a:r>
              <a:rPr lang="zh-CN" altLang="en-US" sz="2200" dirty="0" smtClean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？</a:t>
            </a:r>
            <a:endParaRPr lang="en-US" altLang="zh-CN" sz="2200" dirty="0" smtClean="0">
              <a:solidFill>
                <a:srgbClr val="FF6666"/>
              </a:solidFill>
              <a:latin typeface="微软雅黑"/>
              <a:ea typeface="微软雅黑"/>
              <a:cs typeface="微软雅黑"/>
            </a:endParaRPr>
          </a:p>
          <a:p>
            <a:pPr>
              <a:spcBef>
                <a:spcPts val="1200"/>
              </a:spcBef>
            </a:pPr>
            <a:r>
              <a:rPr lang="en-US" altLang="zh-CN" sz="2200" dirty="0" smtClean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lang="en-US" altLang="zh-CN" sz="2200" dirty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.</a:t>
            </a:r>
            <a:r>
              <a:rPr lang="zh-CN" altLang="en-US" sz="2200" dirty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号称一天就可以让牙齿变白的广告，真的只需要</a:t>
            </a:r>
            <a:r>
              <a:rPr lang="en-US" altLang="zh-CN" sz="2200" dirty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lang="zh-CN" altLang="en-US" sz="2200" dirty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天吗？这个</a:t>
            </a:r>
            <a:r>
              <a:rPr lang="en-US" altLang="zh-CN" sz="2200" dirty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lang="en-US" altLang="en-US" sz="2200" dirty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天是如何得出来的，是否有隐含条件？是所有牙齿都会变白吗？</a:t>
            </a:r>
            <a:endParaRPr lang="zh-CN" altLang="en-US" sz="2200" dirty="0">
              <a:solidFill>
                <a:srgbClr val="FF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3"/>
          <p:cNvSpPr/>
          <p:nvPr/>
        </p:nvSpPr>
        <p:spPr>
          <a:xfrm flipH="1">
            <a:off x="144016" y="406003"/>
            <a:ext cx="107504" cy="2590949"/>
          </a:xfrm>
          <a:prstGeom prst="rect">
            <a:avLst/>
          </a:prstGeom>
          <a:solidFill>
            <a:srgbClr val="4E8ED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flipH="1">
            <a:off x="144016" y="3789363"/>
            <a:ext cx="107504" cy="2519957"/>
          </a:xfrm>
          <a:prstGeom prst="rect">
            <a:avLst/>
          </a:prstGeom>
          <a:solidFill>
            <a:srgbClr val="FF666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86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528" y="596494"/>
            <a:ext cx="8424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zh-CN" altLang="en-US" sz="2800" b="1" dirty="0" smtClean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感谢 </a:t>
            </a:r>
            <a:r>
              <a:rPr lang="en-US" altLang="zh-CN" sz="2800" b="1" dirty="0" smtClean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@</a:t>
            </a:r>
            <a:r>
              <a:rPr lang="zh-CN" altLang="en-US" sz="2800" b="1" dirty="0" smtClean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秋叶 和</a:t>
            </a:r>
            <a:r>
              <a:rPr lang="en-US" altLang="zh-CN" sz="2800" b="1" dirty="0" smtClean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@</a:t>
            </a:r>
            <a:r>
              <a:rPr lang="zh-CN" altLang="en-US" sz="2800" b="1" dirty="0" smtClean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小巴</a:t>
            </a:r>
            <a:r>
              <a:rPr lang="en-US" altLang="zh-CN" sz="2800" b="1" dirty="0" smtClean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_1990 </a:t>
            </a:r>
            <a:r>
              <a:rPr lang="zh-CN" altLang="en-US" sz="2800" b="1" dirty="0" smtClean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的细心指导</a:t>
            </a:r>
            <a:endParaRPr lang="zh-CN" altLang="en-US" sz="2800" b="1" dirty="0">
              <a:solidFill>
                <a:srgbClr val="FF6666"/>
              </a:solidFill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350182" y="6093876"/>
            <a:ext cx="1944216" cy="503476"/>
            <a:chOff x="1216748" y="4416787"/>
            <a:chExt cx="1944216" cy="503476"/>
          </a:xfrm>
        </p:grpSpPr>
        <p:sp>
          <p:nvSpPr>
            <p:cNvPr id="4" name="矩形 3"/>
            <p:cNvSpPr/>
            <p:nvPr/>
          </p:nvSpPr>
          <p:spPr>
            <a:xfrm>
              <a:off x="1216748" y="4416787"/>
              <a:ext cx="1944216" cy="503476"/>
            </a:xfrm>
            <a:prstGeom prst="rect">
              <a:avLst/>
            </a:prstGeom>
            <a:solidFill>
              <a:srgbClr val="FF6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711802" y="4468470"/>
              <a:ext cx="95410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/>
                  <a:ea typeface="微软雅黑"/>
                  <a:cs typeface="微软雅黑"/>
                </a:rPr>
                <a:t>修改前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5776709" y="6092214"/>
            <a:ext cx="1944216" cy="503476"/>
          </a:xfrm>
          <a:prstGeom prst="rect">
            <a:avLst/>
          </a:prstGeom>
          <a:solidFill>
            <a:schemeClr val="bg1"/>
          </a:solidFill>
          <a:ln w="19050">
            <a:solidFill>
              <a:srgbClr val="FF66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271763" y="6143897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6666"/>
                </a:solidFill>
                <a:latin typeface="微软雅黑"/>
                <a:ea typeface="微软雅黑"/>
                <a:cs typeface="微软雅黑"/>
              </a:rPr>
              <a:t>修改后</a:t>
            </a:r>
            <a:endParaRPr lang="zh-CN" altLang="en-US" sz="2000" b="1" dirty="0">
              <a:solidFill>
                <a:srgbClr val="FF666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04" y="2420888"/>
            <a:ext cx="4067372" cy="305052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2420888"/>
            <a:ext cx="4065600" cy="3049200"/>
          </a:xfrm>
          <a:prstGeom prst="rect">
            <a:avLst/>
          </a:prstGeom>
          <a:ln>
            <a:solidFill>
              <a:srgbClr val="FF6666"/>
            </a:solidFill>
          </a:ln>
        </p:spPr>
      </p:pic>
    </p:spTree>
    <p:extLst>
      <p:ext uri="{BB962C8B-B14F-4D97-AF65-F5344CB8AC3E}">
        <p14:creationId xmlns:p14="http://schemas.microsoft.com/office/powerpoint/2010/main" val="3102393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1341</TotalTime>
  <Words>709</Words>
  <Application>Microsoft Office PowerPoint</Application>
  <PresentationFormat>全屏显示(4:3)</PresentationFormat>
  <Paragraphs>150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造字工房朗倩（非商用）常规体</vt:lpstr>
      <vt:lpstr>造字工房尚雅（非商用）常规体</vt:lpstr>
      <vt:lpstr>宋体</vt:lpstr>
      <vt:lpstr>造字工房朗倩（非商用）粗体</vt:lpstr>
      <vt:lpstr>Calibri</vt:lpstr>
      <vt:lpstr>微软雅黑</vt:lpstr>
      <vt:lpstr>造字工房尚雅（非商用） 常规体</vt:lpstr>
      <vt:lpstr>Arial</vt:lpstr>
      <vt:lpstr>Office 主题</vt:lpstr>
      <vt:lpstr>统计数字会撒谎</vt:lpstr>
      <vt:lpstr>撒谎的五种方式</vt:lpstr>
      <vt:lpstr>别急，举个栗子</vt:lpstr>
      <vt:lpstr>1</vt:lpstr>
      <vt:lpstr>2</vt:lpstr>
      <vt:lpstr>3</vt:lpstr>
      <vt:lpstr>4</vt:lpstr>
      <vt:lpstr>5</vt:lpstr>
      <vt:lpstr>来看看真相吧！</vt:lpstr>
      <vt:lpstr>1</vt:lpstr>
      <vt:lpstr>2</vt:lpstr>
      <vt:lpstr>3</vt:lpstr>
      <vt:lpstr>4</vt:lpstr>
      <vt:lpstr>5</vt:lpstr>
      <vt:lpstr>怎么破</vt:lpstr>
      <vt:lpstr>别怕  ！有药  ！</vt:lpstr>
      <vt:lpstr>1</vt:lpstr>
      <vt:lpstr>2</vt:lpstr>
      <vt:lpstr>3</vt:lpstr>
      <vt:lpstr>4</vt:lpstr>
      <vt:lpstr>5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统计数字会撒谎</dc:title>
  <dc:creator>DC</dc:creator>
  <cp:lastModifiedBy>小巴</cp:lastModifiedBy>
  <cp:revision>210</cp:revision>
  <dcterms:created xsi:type="dcterms:W3CDTF">2014-01-18T08:02:46Z</dcterms:created>
  <dcterms:modified xsi:type="dcterms:W3CDTF">2014-03-06T13:39:53Z</dcterms:modified>
</cp:coreProperties>
</file>