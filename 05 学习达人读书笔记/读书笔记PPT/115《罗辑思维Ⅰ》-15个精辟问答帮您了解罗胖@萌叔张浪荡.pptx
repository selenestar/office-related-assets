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2" r:id="rId1"/>
    <p:sldMasterId id="2147483670" r:id="rId2"/>
  </p:sldMasterIdLst>
  <p:notesMasterIdLst>
    <p:notesMasterId r:id="rId59"/>
  </p:notesMasterIdLst>
  <p:handoutMasterIdLst>
    <p:handoutMasterId r:id="rId60"/>
  </p:handoutMasterIdLst>
  <p:sldIdLst>
    <p:sldId id="256" r:id="rId3"/>
    <p:sldId id="358" r:id="rId4"/>
    <p:sldId id="258" r:id="rId5"/>
    <p:sldId id="260" r:id="rId6"/>
    <p:sldId id="262" r:id="rId7"/>
    <p:sldId id="264" r:id="rId8"/>
    <p:sldId id="266" r:id="rId9"/>
    <p:sldId id="268" r:id="rId10"/>
    <p:sldId id="270" r:id="rId11"/>
    <p:sldId id="272" r:id="rId12"/>
    <p:sldId id="288" r:id="rId13"/>
    <p:sldId id="290" r:id="rId14"/>
    <p:sldId id="292" r:id="rId15"/>
    <p:sldId id="294" r:id="rId16"/>
    <p:sldId id="359" r:id="rId17"/>
    <p:sldId id="360" r:id="rId18"/>
    <p:sldId id="361" r:id="rId19"/>
    <p:sldId id="362" r:id="rId20"/>
    <p:sldId id="363" r:id="rId21"/>
    <p:sldId id="364" r:id="rId22"/>
    <p:sldId id="274" r:id="rId23"/>
    <p:sldId id="276" r:id="rId24"/>
    <p:sldId id="278" r:id="rId25"/>
    <p:sldId id="280" r:id="rId26"/>
    <p:sldId id="365" r:id="rId27"/>
    <p:sldId id="366" r:id="rId28"/>
    <p:sldId id="367" r:id="rId29"/>
    <p:sldId id="296" r:id="rId30"/>
    <p:sldId id="298" r:id="rId31"/>
    <p:sldId id="300" r:id="rId32"/>
    <p:sldId id="302" r:id="rId33"/>
    <p:sldId id="368" r:id="rId34"/>
    <p:sldId id="369" r:id="rId35"/>
    <p:sldId id="370" r:id="rId36"/>
    <p:sldId id="371" r:id="rId37"/>
    <p:sldId id="372" r:id="rId38"/>
    <p:sldId id="282" r:id="rId39"/>
    <p:sldId id="284" r:id="rId40"/>
    <p:sldId id="286" r:id="rId41"/>
    <p:sldId id="304" r:id="rId42"/>
    <p:sldId id="306" r:id="rId43"/>
    <p:sldId id="308" r:id="rId44"/>
    <p:sldId id="310" r:id="rId45"/>
    <p:sldId id="317" r:id="rId46"/>
    <p:sldId id="319" r:id="rId47"/>
    <p:sldId id="321" r:id="rId48"/>
    <p:sldId id="333" r:id="rId49"/>
    <p:sldId id="335" r:id="rId50"/>
    <p:sldId id="337" r:id="rId51"/>
    <p:sldId id="345" r:id="rId52"/>
    <p:sldId id="347" r:id="rId53"/>
    <p:sldId id="349" r:id="rId54"/>
    <p:sldId id="350" r:id="rId55"/>
    <p:sldId id="357" r:id="rId56"/>
    <p:sldId id="373" r:id="rId57"/>
    <p:sldId id="374" r:id="rId58"/>
  </p:sldIdLst>
  <p:sldSz cx="12192000" cy="6858000"/>
  <p:notesSz cx="6858000" cy="9144000"/>
  <p:embeddedFontLst>
    <p:embeddedFont>
      <p:font typeface="Trebuchet MS" panose="020B0603020202020204" pitchFamily="34" charset="0"/>
      <p:regular r:id="rId61"/>
      <p:bold r:id="rId62"/>
      <p:italic r:id="rId63"/>
      <p:boldItalic r:id="rId64"/>
    </p:embeddedFont>
    <p:embeddedFont>
      <p:font typeface="汉仪菱心体简" panose="02010600030101010101" charset="-122"/>
      <p:regular r:id="rId65"/>
    </p:embeddedFont>
    <p:embeddedFont>
      <p:font typeface="微软雅黑" panose="020B0503020204020204" pitchFamily="34" charset="-122"/>
      <p:regular r:id="rId66"/>
      <p:bold r:id="rId67"/>
    </p:embeddedFont>
    <p:embeddedFont>
      <p:font typeface="方正正中黑简体" panose="02000000000000000000" pitchFamily="2" charset="-122"/>
      <p:regular r:id="rId68"/>
    </p:embeddedFont>
    <p:embeddedFont>
      <p:font typeface="Webdings" panose="05030102010509060703" pitchFamily="18" charset="2"/>
      <p:regular r:id="rId69"/>
    </p:embeddedFont>
    <p:embeddedFont>
      <p:font typeface="华康俪金黑W8(P)" panose="020B0800000000000000" pitchFamily="34" charset="-122"/>
      <p:regular r:id="rId70"/>
    </p:embeddedFont>
    <p:embeddedFont>
      <p:font typeface="方正正黑简体" panose="02000000000000000000" pitchFamily="2" charset="-122"/>
      <p:regular r:id="rId71"/>
    </p:embeddedFont>
    <p:embeddedFont>
      <p:font typeface="方正粗宋简体" panose="03000509000000000000" pitchFamily="65" charset="-122"/>
      <p:regular r:id="rId72"/>
    </p:embeddedFont>
    <p:embeddedFont>
      <p:font typeface="华文细黑" panose="02010600040101010101" pitchFamily="2" charset="-122"/>
      <p:regular r:id="rId73"/>
    </p:embeddedFont>
    <p:embeddedFont>
      <p:font typeface="Calibri Light" panose="020F0302020204030204" pitchFamily="34" charset="0"/>
      <p:regular r:id="rId74"/>
      <p:italic r:id="rId75"/>
    </p:embeddedFont>
    <p:embeddedFont>
      <p:font typeface="Calibri" panose="020F0502020204030204" pitchFamily="34" charset="0"/>
      <p:regular r:id="rId76"/>
      <p:bold r:id="rId77"/>
      <p:italic r:id="rId78"/>
      <p:boldItalic r:id="rId7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75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88849" autoAdjust="0"/>
  </p:normalViewPr>
  <p:slideViewPr>
    <p:cSldViewPr snapToGrid="0">
      <p:cViewPr varScale="1">
        <p:scale>
          <a:sx n="66" d="100"/>
          <a:sy n="66" d="100"/>
        </p:scale>
        <p:origin x="822"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33" d="100"/>
        <a:sy n="33" d="100"/>
      </p:scale>
      <p:origin x="0" y="0"/>
    </p:cViewPr>
  </p:sorterViewPr>
  <p:notesViewPr>
    <p:cSldViewPr snapToGrid="0">
      <p:cViewPr varScale="1">
        <p:scale>
          <a:sx n="57" d="100"/>
          <a:sy n="57" d="100"/>
        </p:scale>
        <p:origin x="283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font" Target="fonts/font3.fntdata"/><Relationship Id="rId68" Type="http://schemas.openxmlformats.org/officeDocument/2006/relationships/font" Target="fonts/font8.fntdata"/><Relationship Id="rId76" Type="http://schemas.openxmlformats.org/officeDocument/2006/relationships/font" Target="fonts/font16.fntdata"/><Relationship Id="rId7" Type="http://schemas.openxmlformats.org/officeDocument/2006/relationships/slide" Target="slides/slide5.xml"/><Relationship Id="rId71"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6.fntdata"/><Relationship Id="rId74" Type="http://schemas.openxmlformats.org/officeDocument/2006/relationships/font" Target="fonts/font14.fntdata"/><Relationship Id="rId79" Type="http://schemas.openxmlformats.org/officeDocument/2006/relationships/font" Target="fonts/font19.fntdata"/><Relationship Id="rId5" Type="http://schemas.openxmlformats.org/officeDocument/2006/relationships/slide" Target="slides/slide3.xml"/><Relationship Id="rId61" Type="http://schemas.openxmlformats.org/officeDocument/2006/relationships/font" Target="fonts/font1.fntdata"/><Relationship Id="rId82"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font" Target="fonts/font18.fntdata"/><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font" Target="fonts/font17.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2.fntdata"/><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B0EC5C-DE15-40EF-9828-65B700AB5339}" type="datetimeFigureOut">
              <a:rPr lang="zh-CN" altLang="en-US" smtClean="0"/>
              <a:t>2014/5/30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5B4D54-F9F7-4CAE-B1B5-C8A4385C600F}" type="slidenum">
              <a:rPr lang="zh-CN" altLang="en-US" smtClean="0"/>
              <a:t>‹#›</a:t>
            </a:fld>
            <a:endParaRPr lang="zh-CN" altLang="en-US"/>
          </a:p>
        </p:txBody>
      </p:sp>
    </p:spTree>
    <p:extLst>
      <p:ext uri="{BB962C8B-B14F-4D97-AF65-F5344CB8AC3E}">
        <p14:creationId xmlns:p14="http://schemas.microsoft.com/office/powerpoint/2010/main" val="35344233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华文细黑" panose="02010600040101010101"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华文细黑" panose="02010600040101010101" pitchFamily="2" charset="-122"/>
              </a:defRPr>
            </a:lvl1pPr>
          </a:lstStyle>
          <a:p>
            <a:fld id="{4350C00A-1BF6-4617-A509-972592A2F6DA}" type="datetimeFigureOut">
              <a:rPr lang="zh-CN" altLang="en-US" smtClean="0"/>
              <a:pPr/>
              <a:t>2014/5/30</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华文细黑" panose="02010600040101010101"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华文细黑" panose="02010600040101010101" pitchFamily="2" charset="-122"/>
              </a:defRPr>
            </a:lvl1pPr>
          </a:lstStyle>
          <a:p>
            <a:fld id="{593E3333-C138-47C1-945D-4ECA5A8230EB}" type="slidenum">
              <a:rPr lang="zh-CN" altLang="en-US" smtClean="0"/>
              <a:pPr/>
              <a:t>‹#›</a:t>
            </a:fld>
            <a:endParaRPr lang="zh-CN" altLang="en-US" dirty="0"/>
          </a:p>
        </p:txBody>
      </p:sp>
    </p:spTree>
    <p:extLst>
      <p:ext uri="{BB962C8B-B14F-4D97-AF65-F5344CB8AC3E}">
        <p14:creationId xmlns:p14="http://schemas.microsoft.com/office/powerpoint/2010/main" val="533395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华文细黑" panose="02010600040101010101" pitchFamily="2" charset="-122"/>
        <a:cs typeface="+mn-cs"/>
      </a:defRPr>
    </a:lvl1pPr>
    <a:lvl2pPr marL="457200" algn="l" defTabSz="914400" rtl="0" eaLnBrk="1" latinLnBrk="0" hangingPunct="1">
      <a:defRPr sz="1200" kern="1200">
        <a:solidFill>
          <a:schemeClr val="tx1"/>
        </a:solidFill>
        <a:latin typeface="+mn-lt"/>
        <a:ea typeface="华文细黑" panose="02010600040101010101" pitchFamily="2" charset="-122"/>
        <a:cs typeface="+mn-cs"/>
      </a:defRPr>
    </a:lvl2pPr>
    <a:lvl3pPr marL="914400" algn="l" defTabSz="914400" rtl="0" eaLnBrk="1" latinLnBrk="0" hangingPunct="1">
      <a:defRPr sz="1200" kern="1200">
        <a:solidFill>
          <a:schemeClr val="tx1"/>
        </a:solidFill>
        <a:latin typeface="+mn-lt"/>
        <a:ea typeface="华文细黑" panose="02010600040101010101" pitchFamily="2" charset="-122"/>
        <a:cs typeface="+mn-cs"/>
      </a:defRPr>
    </a:lvl3pPr>
    <a:lvl4pPr marL="1371600" algn="l" defTabSz="914400" rtl="0" eaLnBrk="1" latinLnBrk="0" hangingPunct="1">
      <a:defRPr sz="1200" kern="1200">
        <a:solidFill>
          <a:schemeClr val="tx1"/>
        </a:solidFill>
        <a:latin typeface="+mn-lt"/>
        <a:ea typeface="华文细黑" panose="02010600040101010101" pitchFamily="2" charset="-122"/>
        <a:cs typeface="+mn-cs"/>
      </a:defRPr>
    </a:lvl4pPr>
    <a:lvl5pPr marL="1828800" algn="l" defTabSz="914400" rtl="0" eaLnBrk="1" latinLnBrk="0" hangingPunct="1">
      <a:defRPr sz="1200" kern="1200">
        <a:solidFill>
          <a:schemeClr val="tx1"/>
        </a:solidFill>
        <a:latin typeface="+mn-lt"/>
        <a:ea typeface="华文细黑" panose="020106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该读书笔记的四个特点</a:t>
            </a:r>
            <a:r>
              <a:rPr lang="en-US" altLang="zh-CN" dirty="0" smtClean="0"/>
              <a:t>:</a:t>
            </a:r>
            <a:r>
              <a:rPr lang="zh-CN" altLang="en-US" dirty="0" smtClean="0"/>
              <a:t>①问答方式理解罗胖②文字提炼核心思想③修改标题更见态度④重新排序分类阅读</a:t>
            </a:r>
            <a:endParaRPr lang="zh-CN" altLang="en-US" dirty="0"/>
          </a:p>
        </p:txBody>
      </p:sp>
      <p:sp>
        <p:nvSpPr>
          <p:cNvPr id="4" name="灯片编号占位符 3"/>
          <p:cNvSpPr>
            <a:spLocks noGrp="1"/>
          </p:cNvSpPr>
          <p:nvPr>
            <p:ph type="sldNum" sz="quarter" idx="10"/>
          </p:nvPr>
        </p:nvSpPr>
        <p:spPr/>
        <p:txBody>
          <a:bodyPr/>
          <a:lstStyle/>
          <a:p>
            <a:fld id="{593E3333-C138-47C1-945D-4ECA5A8230EB}" type="slidenum">
              <a:rPr lang="zh-CN" altLang="en-US" smtClean="0"/>
              <a:t>1</a:t>
            </a:fld>
            <a:endParaRPr lang="zh-CN" altLang="en-US"/>
          </a:p>
        </p:txBody>
      </p:sp>
    </p:spTree>
    <p:extLst>
      <p:ext uri="{BB962C8B-B14F-4D97-AF65-F5344CB8AC3E}">
        <p14:creationId xmlns:p14="http://schemas.microsoft.com/office/powerpoint/2010/main" val="469965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93E3333-C138-47C1-945D-4ECA5A8230EB}" type="slidenum">
              <a:rPr lang="zh-CN" altLang="en-US" smtClean="0"/>
              <a:pPr/>
              <a:t>2</a:t>
            </a:fld>
            <a:endParaRPr lang="zh-CN" altLang="en-US" dirty="0"/>
          </a:p>
        </p:txBody>
      </p:sp>
    </p:spTree>
    <p:extLst>
      <p:ext uri="{BB962C8B-B14F-4D97-AF65-F5344CB8AC3E}">
        <p14:creationId xmlns:p14="http://schemas.microsoft.com/office/powerpoint/2010/main" val="591647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3E3333-C138-47C1-945D-4ECA5A8230EB}" type="slidenum">
              <a:rPr lang="zh-CN" altLang="en-US" smtClean="0"/>
              <a:t>53</a:t>
            </a:fld>
            <a:endParaRPr lang="zh-CN" altLang="en-US"/>
          </a:p>
        </p:txBody>
      </p:sp>
    </p:spTree>
    <p:extLst>
      <p:ext uri="{BB962C8B-B14F-4D97-AF65-F5344CB8AC3E}">
        <p14:creationId xmlns:p14="http://schemas.microsoft.com/office/powerpoint/2010/main" val="13152772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4" name="矩形​​ 6"/>
          <p:cNvSpPr/>
          <p:nvPr userDrawn="1"/>
        </p:nvSpPr>
        <p:spPr>
          <a:xfrm>
            <a:off x="-3324" y="0"/>
            <a:ext cx="12192000" cy="4005263"/>
          </a:xfrm>
          <a:prstGeom prst="rect">
            <a:avLst/>
          </a:prstGeom>
          <a:solidFill>
            <a:schemeClr val="bg2">
              <a:lumMod val="9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9"/>
          <p:cNvSpPr/>
          <p:nvPr userDrawn="1"/>
        </p:nvSpPr>
        <p:spPr>
          <a:xfrm>
            <a:off x="0" y="4005263"/>
            <a:ext cx="12192000" cy="2852737"/>
          </a:xfrm>
          <a:prstGeom prst="rect">
            <a:avLst/>
          </a:prstGeom>
          <a:solidFill>
            <a:schemeClr val="bg2">
              <a:lumMod val="5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矩形 6"/>
          <p:cNvSpPr/>
          <p:nvPr userDrawn="1"/>
        </p:nvSpPr>
        <p:spPr>
          <a:xfrm>
            <a:off x="1066800" y="3258755"/>
            <a:ext cx="6366638" cy="2616101"/>
          </a:xfrm>
          <a:prstGeom prst="rect">
            <a:avLst/>
          </a:prstGeom>
        </p:spPr>
        <p:txBody>
          <a:bodyPr wrap="square">
            <a:spAutoFit/>
          </a:bodyPr>
          <a:lstStyle/>
          <a:p>
            <a:pPr algn="r">
              <a:lnSpc>
                <a:spcPct val="100000"/>
              </a:lnSpc>
              <a:spcBef>
                <a:spcPts val="1200"/>
              </a:spcBef>
            </a:pPr>
            <a:r>
              <a:rPr lang="en-US" altLang="zh-CN" sz="4400" i="0" u="none" strike="noStrike" kern="100" baseline="0" dirty="0" smtClean="0">
                <a:latin typeface="方正粗宋简体" panose="03000509000000000000" pitchFamily="65" charset="-122"/>
                <a:ea typeface="方正粗宋简体" panose="03000509000000000000" pitchFamily="65" charset="-122"/>
              </a:rPr>
              <a:t>《</a:t>
            </a:r>
            <a:r>
              <a:rPr lang="zh-CN" altLang="en-US" sz="4400" i="0" u="none" strike="noStrike" kern="100" baseline="0" dirty="0" smtClean="0">
                <a:latin typeface="方正粗宋简体" panose="03000509000000000000" pitchFamily="65" charset="-122"/>
                <a:ea typeface="方正粗宋简体" panose="03000509000000000000" pitchFamily="65" charset="-122"/>
              </a:rPr>
              <a:t>罗辑思维</a:t>
            </a:r>
            <a:r>
              <a:rPr lang="en-US" altLang="zh-CN" sz="4400" i="0" u="none" strike="noStrike" kern="100" baseline="0" dirty="0" smtClean="0">
                <a:latin typeface="方正粗宋简体" panose="03000509000000000000" pitchFamily="65" charset="-122"/>
                <a:ea typeface="方正粗宋简体" panose="03000509000000000000" pitchFamily="65" charset="-122"/>
              </a:rPr>
              <a:t>Ⅰ》</a:t>
            </a:r>
            <a:r>
              <a:rPr lang="zh-CN" altLang="en-US" sz="4400" i="0" u="none" strike="noStrike" kern="100" baseline="0" dirty="0" smtClean="0">
                <a:latin typeface="方正粗宋简体" panose="03000509000000000000" pitchFamily="65" charset="-122"/>
                <a:ea typeface="方正粗宋简体" panose="03000509000000000000" pitchFamily="65" charset="-122"/>
              </a:rPr>
              <a:t>读书笔记</a:t>
            </a:r>
            <a:r>
              <a:rPr lang="en-US" altLang="zh-CN" sz="4400" i="0" u="none" strike="noStrike" kern="100" baseline="0" dirty="0" smtClean="0">
                <a:latin typeface="方正粗宋简体" panose="03000509000000000000" pitchFamily="65" charset="-122"/>
                <a:ea typeface="方正粗宋简体" panose="03000509000000000000" pitchFamily="65" charset="-122"/>
              </a:rPr>
              <a:t/>
            </a:r>
            <a:br>
              <a:rPr lang="en-US" altLang="zh-CN" sz="4400" i="0" u="none" strike="noStrike" kern="100" baseline="0" dirty="0" smtClean="0">
                <a:latin typeface="方正粗宋简体" panose="03000509000000000000" pitchFamily="65" charset="-122"/>
                <a:ea typeface="方正粗宋简体" panose="03000509000000000000" pitchFamily="65" charset="-122"/>
              </a:rPr>
            </a:br>
            <a:r>
              <a:rPr lang="zh-CN" altLang="en-US" sz="6600" i="0" u="none" strike="noStrike" kern="100" baseline="0" dirty="0" smtClean="0">
                <a:latin typeface="汉仪菱心体简" panose="02010609000101010101" pitchFamily="49" charset="-122"/>
                <a:ea typeface="汉仪菱心体简" panose="02010609000101010101" pitchFamily="49" charset="-122"/>
              </a:rPr>
              <a:t>精辟问答</a:t>
            </a:r>
            <a:endParaRPr lang="en-US" altLang="zh-CN" sz="6600" i="0" u="none" strike="noStrike" kern="100" baseline="0" dirty="0" smtClean="0">
              <a:latin typeface="汉仪菱心体简" panose="02010609000101010101" pitchFamily="49" charset="-122"/>
              <a:ea typeface="汉仪菱心体简" panose="02010609000101010101" pitchFamily="49" charset="-122"/>
            </a:endParaRPr>
          </a:p>
          <a:p>
            <a:pPr algn="r">
              <a:lnSpc>
                <a:spcPct val="100000"/>
              </a:lnSpc>
              <a:spcBef>
                <a:spcPts val="1200"/>
              </a:spcBef>
            </a:pPr>
            <a:r>
              <a:rPr lang="zh-CN" altLang="en-US" sz="4400" i="0" u="none" strike="noStrike" kern="100" baseline="0" dirty="0" smtClean="0">
                <a:latin typeface="方正粗宋简体" panose="03000509000000000000" pitchFamily="65" charset="-122"/>
                <a:ea typeface="方正粗宋简体" panose="03000509000000000000" pitchFamily="65" charset="-122"/>
              </a:rPr>
              <a:t>帮您了解罗胖</a:t>
            </a:r>
            <a:endParaRPr lang="zh-CN" altLang="en-US" sz="4400" dirty="0">
              <a:latin typeface="方正粗宋简体" panose="03000509000000000000" pitchFamily="65" charset="-122"/>
              <a:ea typeface="方正粗宋简体" panose="03000509000000000000" pitchFamily="65" charset="-122"/>
            </a:endParaRPr>
          </a:p>
        </p:txBody>
      </p:sp>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70726" y="670800"/>
            <a:ext cx="3649809" cy="5503318"/>
          </a:xfrm>
          <a:prstGeom prst="rect">
            <a:avLst/>
          </a:prstGeom>
        </p:spPr>
      </p:pic>
      <p:sp>
        <p:nvSpPr>
          <p:cNvPr id="2" name="文本框 1"/>
          <p:cNvSpPr txBox="1"/>
          <p:nvPr userDrawn="1"/>
        </p:nvSpPr>
        <p:spPr>
          <a:xfrm>
            <a:off x="1349745" y="3562461"/>
            <a:ext cx="2616200" cy="2646878"/>
          </a:xfrm>
          <a:prstGeom prst="rect">
            <a:avLst/>
          </a:prstGeom>
          <a:noFill/>
        </p:spPr>
        <p:txBody>
          <a:bodyPr wrap="square" rtlCol="0">
            <a:spAutoFit/>
          </a:bodyPr>
          <a:lstStyle/>
          <a:p>
            <a:r>
              <a:rPr lang="en-US" altLang="zh-CN" sz="16600" dirty="0" smtClean="0">
                <a:latin typeface="汉仪菱心体简" panose="02010609000101010101" pitchFamily="49" charset="-122"/>
                <a:ea typeface="汉仪菱心体简" panose="02010609000101010101" pitchFamily="49" charset="-122"/>
              </a:rPr>
              <a:t>15</a:t>
            </a:r>
            <a:r>
              <a:rPr lang="zh-CN" altLang="en-US" sz="4000" dirty="0" smtClean="0">
                <a:latin typeface="汉仪菱心体简" panose="02010609000101010101" pitchFamily="49" charset="-122"/>
                <a:ea typeface="汉仪菱心体简" panose="02010609000101010101" pitchFamily="49" charset="-122"/>
              </a:rPr>
              <a:t>个</a:t>
            </a:r>
            <a:endParaRPr lang="zh-CN" altLang="en-US" sz="4000" dirty="0">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908938935"/>
      </p:ext>
    </p:extLst>
  </p:cSld>
  <p:clrMapOvr>
    <a:masterClrMapping/>
  </p:clrMapOvr>
  <p:transition spd="slow">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文本">
    <p:spTree>
      <p:nvGrpSpPr>
        <p:cNvPr id="1" name=""/>
        <p:cNvGrpSpPr/>
        <p:nvPr/>
      </p:nvGrpSpPr>
      <p:grpSpPr>
        <a:xfrm>
          <a:off x="0" y="0"/>
          <a:ext cx="0" cy="0"/>
          <a:chOff x="0" y="0"/>
          <a:chExt cx="0" cy="0"/>
        </a:xfrm>
      </p:grpSpPr>
      <p:sp>
        <p:nvSpPr>
          <p:cNvPr id="9" name="矩形​​ 6"/>
          <p:cNvSpPr/>
          <p:nvPr userDrawn="1"/>
        </p:nvSpPr>
        <p:spPr>
          <a:xfrm>
            <a:off x="-241300" y="333375"/>
            <a:ext cx="12674600" cy="5032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10"/>
          <p:cNvSpPr>
            <a:spLocks noChangeArrowheads="1"/>
          </p:cNvSpPr>
          <p:nvPr userDrawn="1"/>
        </p:nvSpPr>
        <p:spPr bwMode="auto">
          <a:xfrm>
            <a:off x="1631504" y="354161"/>
            <a:ext cx="2999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宋体" panose="02010600030101010101" pitchFamily="2" charset="-122"/>
              </a:defRPr>
            </a:lvl1pPr>
            <a:lvl2pPr marL="742950" indent="-285750">
              <a:defRPr>
                <a:solidFill>
                  <a:schemeClr val="tx1"/>
                </a:solidFill>
                <a:latin typeface="微软雅黑" panose="020B0503020204020204" pitchFamily="34" charset="-122"/>
                <a:ea typeface="宋体" panose="02010600030101010101" pitchFamily="2" charset="-122"/>
              </a:defRPr>
            </a:lvl2pPr>
            <a:lvl3pPr marL="1143000" indent="-228600">
              <a:defRPr>
                <a:solidFill>
                  <a:schemeClr val="tx1"/>
                </a:solidFill>
                <a:latin typeface="微软雅黑" panose="020B0503020204020204" pitchFamily="34" charset="-122"/>
                <a:ea typeface="宋体" panose="02010600030101010101" pitchFamily="2" charset="-122"/>
              </a:defRPr>
            </a:lvl3pPr>
            <a:lvl4pPr marL="1600200" indent="-228600">
              <a:defRPr>
                <a:solidFill>
                  <a:schemeClr val="tx1"/>
                </a:solidFill>
                <a:latin typeface="微软雅黑" panose="020B0503020204020204" pitchFamily="34" charset="-122"/>
                <a:ea typeface="宋体" panose="02010600030101010101" pitchFamily="2" charset="-122"/>
              </a:defRPr>
            </a:lvl4pPr>
            <a:lvl5pPr marL="2057400" indent="-228600">
              <a:defRPr>
                <a:solidFill>
                  <a:schemeClr val="tx1"/>
                </a:solidFill>
                <a:latin typeface="微软雅黑" panose="020B0503020204020204" pitchFamily="34"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9pPr>
          </a:lstStyle>
          <a:p>
            <a:pPr eaLnBrk="1" hangingPunct="1"/>
            <a:r>
              <a:rPr lang="zh-CN" altLang="en-US" sz="2400" b="1" dirty="0" smtClean="0">
                <a:solidFill>
                  <a:schemeClr val="accent6">
                    <a:lumMod val="75000"/>
                  </a:schemeClr>
                </a:solidFill>
                <a:ea typeface="微软雅黑" panose="020B0503020204020204" pitchFamily="34" charset="-122"/>
              </a:rPr>
              <a:t>简洁问、精辟答</a:t>
            </a:r>
            <a:endParaRPr lang="zh-CN" altLang="en-US" sz="2400" b="1" dirty="0">
              <a:solidFill>
                <a:schemeClr val="accent6">
                  <a:lumMod val="75000"/>
                </a:schemeClr>
              </a:solidFill>
              <a:ea typeface="微软雅黑" panose="020B0503020204020204" pitchFamily="34" charset="-122"/>
            </a:endParaRPr>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249713"/>
            <a:ext cx="1158242" cy="670561"/>
          </a:xfrm>
          <a:prstGeom prst="rect">
            <a:avLst/>
          </a:prstGeom>
        </p:spPr>
      </p:pic>
      <p:sp>
        <p:nvSpPr>
          <p:cNvPr id="12" name="矩形​​ 7"/>
          <p:cNvSpPr/>
          <p:nvPr userDrawn="1"/>
        </p:nvSpPr>
        <p:spPr>
          <a:xfrm>
            <a:off x="-241299" y="6103938"/>
            <a:ext cx="12865100" cy="25241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6"/>
          <p:cNvSpPr/>
          <p:nvPr userDrawn="1"/>
        </p:nvSpPr>
        <p:spPr>
          <a:xfrm>
            <a:off x="-241300" y="333375"/>
            <a:ext cx="12674600" cy="5032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矩形​​ 10"/>
          <p:cNvSpPr>
            <a:spLocks noChangeArrowheads="1"/>
          </p:cNvSpPr>
          <p:nvPr userDrawn="1"/>
        </p:nvSpPr>
        <p:spPr bwMode="auto">
          <a:xfrm>
            <a:off x="1478283" y="-61793"/>
            <a:ext cx="32290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宋体" panose="02010600030101010101" pitchFamily="2" charset="-122"/>
              </a:defRPr>
            </a:lvl1pPr>
            <a:lvl2pPr marL="742950" indent="-285750">
              <a:defRPr>
                <a:solidFill>
                  <a:schemeClr val="tx1"/>
                </a:solidFill>
                <a:latin typeface="微软雅黑" panose="020B0503020204020204" pitchFamily="34" charset="-122"/>
                <a:ea typeface="宋体" panose="02010600030101010101" pitchFamily="2" charset="-122"/>
              </a:defRPr>
            </a:lvl2pPr>
            <a:lvl3pPr marL="1143000" indent="-228600">
              <a:defRPr>
                <a:solidFill>
                  <a:schemeClr val="tx1"/>
                </a:solidFill>
                <a:latin typeface="微软雅黑" panose="020B0503020204020204" pitchFamily="34" charset="-122"/>
                <a:ea typeface="宋体" panose="02010600030101010101" pitchFamily="2" charset="-122"/>
              </a:defRPr>
            </a:lvl3pPr>
            <a:lvl4pPr marL="1600200" indent="-228600">
              <a:defRPr>
                <a:solidFill>
                  <a:schemeClr val="tx1"/>
                </a:solidFill>
                <a:latin typeface="微软雅黑" panose="020B0503020204020204" pitchFamily="34" charset="-122"/>
                <a:ea typeface="宋体" panose="02010600030101010101" pitchFamily="2" charset="-122"/>
              </a:defRPr>
            </a:lvl4pPr>
            <a:lvl5pPr marL="2057400" indent="-228600">
              <a:defRPr>
                <a:solidFill>
                  <a:schemeClr val="tx1"/>
                </a:solidFill>
                <a:latin typeface="微软雅黑" panose="020B0503020204020204" pitchFamily="34"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9pPr>
          </a:lstStyle>
          <a:p>
            <a:pPr algn="ctr" eaLnBrk="1" hangingPunct="1"/>
            <a:r>
              <a:rPr lang="zh-CN" altLang="en-US" sz="5400" b="0" dirty="0" smtClean="0">
                <a:solidFill>
                  <a:schemeClr val="accent6">
                    <a:lumMod val="75000"/>
                  </a:schemeClr>
                </a:solidFill>
                <a:latin typeface="华康俪金黑W8(P)" panose="020B0800000000000000" pitchFamily="34" charset="-122"/>
                <a:ea typeface="华康俪金黑W8(P)" panose="020B0800000000000000" pitchFamily="34" charset="-122"/>
              </a:rPr>
              <a:t>问答索引</a:t>
            </a:r>
            <a:endParaRPr lang="zh-CN" altLang="en-US" sz="5400" b="0" dirty="0">
              <a:solidFill>
                <a:schemeClr val="accent6">
                  <a:lumMod val="75000"/>
                </a:schemeClr>
              </a:solidFill>
              <a:latin typeface="华康俪金黑W8(P)" panose="020B0800000000000000" pitchFamily="34" charset="-122"/>
              <a:ea typeface="华康俪金黑W8(P)" panose="020B0800000000000000" pitchFamily="34" charset="-122"/>
            </a:endParaRPr>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249713"/>
            <a:ext cx="1158242" cy="670561"/>
          </a:xfrm>
          <a:prstGeom prst="rect">
            <a:avLst/>
          </a:prstGeom>
        </p:spPr>
      </p:pic>
      <p:sp>
        <p:nvSpPr>
          <p:cNvPr id="16" name="矩形​​ 7"/>
          <p:cNvSpPr/>
          <p:nvPr userDrawn="1"/>
        </p:nvSpPr>
        <p:spPr>
          <a:xfrm>
            <a:off x="-241299" y="6103938"/>
            <a:ext cx="12865100" cy="25241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日期占位符 34"/>
          <p:cNvSpPr>
            <a:spLocks noGrp="1"/>
          </p:cNvSpPr>
          <p:nvPr>
            <p:ph type="dt" sz="half" idx="10"/>
          </p:nvPr>
        </p:nvSpPr>
        <p:spPr>
          <a:xfrm>
            <a:off x="245976" y="6356351"/>
            <a:ext cx="2844800" cy="365125"/>
          </a:xfrm>
          <a:prstGeom prst="rect">
            <a:avLst/>
          </a:prstGeom>
        </p:spPr>
        <p:txBody>
          <a:bodyPr/>
          <a:lstStyle>
            <a:lvl1pPr algn="l">
              <a:defRPr sz="1600"/>
            </a:lvl1pPr>
          </a:lstStyle>
          <a:p>
            <a:fld id="{DC383419-B889-4C3B-9051-54B7600893C1}" type="datetime1">
              <a:rPr lang="zh-CN" altLang="en-US" smtClean="0"/>
              <a:t>2014/5/30</a:t>
            </a:fld>
            <a:endParaRPr lang="zh-CN" altLang="en-US" dirty="0"/>
          </a:p>
        </p:txBody>
      </p:sp>
      <p:sp>
        <p:nvSpPr>
          <p:cNvPr id="19" name="页脚占位符 35"/>
          <p:cNvSpPr>
            <a:spLocks noGrp="1"/>
          </p:cNvSpPr>
          <p:nvPr>
            <p:ph type="ftr" sz="quarter" idx="11"/>
          </p:nvPr>
        </p:nvSpPr>
        <p:spPr>
          <a:xfrm>
            <a:off x="4165600" y="6356351"/>
            <a:ext cx="3860800" cy="365125"/>
          </a:xfrm>
          <a:prstGeom prst="rect">
            <a:avLst/>
          </a:prstGeom>
        </p:spPr>
        <p:txBody>
          <a:bodyPr/>
          <a:lstStyle>
            <a:lvl1pPr algn="ctr">
              <a:defRPr sz="1600"/>
            </a:lvl1pPr>
          </a:lstStyle>
          <a:p>
            <a:r>
              <a:rPr lang="zh-CN" altLang="en-US" smtClean="0"/>
              <a:t>读书笔记</a:t>
            </a:r>
            <a:r>
              <a:rPr lang="en-US" altLang="zh-CN" smtClean="0"/>
              <a:t>PPT</a:t>
            </a:r>
            <a:endParaRPr lang="zh-CN" altLang="en-US"/>
          </a:p>
        </p:txBody>
      </p:sp>
      <p:sp>
        <p:nvSpPr>
          <p:cNvPr id="20" name="灯片编号占位符 36"/>
          <p:cNvSpPr>
            <a:spLocks noGrp="1"/>
          </p:cNvSpPr>
          <p:nvPr>
            <p:ph type="sldNum" sz="quarter" idx="12"/>
          </p:nvPr>
        </p:nvSpPr>
        <p:spPr>
          <a:xfrm>
            <a:off x="9101224" y="6356351"/>
            <a:ext cx="2844800" cy="365125"/>
          </a:xfrm>
          <a:prstGeom prst="rect">
            <a:avLst/>
          </a:prstGeom>
        </p:spPr>
        <p:txBody>
          <a:bodyPr/>
          <a:lstStyle>
            <a:lvl1pPr algn="r">
              <a:defRPr sz="1600"/>
            </a:lvl1pPr>
          </a:lstStyle>
          <a:p>
            <a:r>
              <a:rPr lang="zh-CN" altLang="en-US" smtClean="0"/>
              <a:t>第</a:t>
            </a:r>
            <a:fld id="{303FC856-7BE1-4FC9-883B-0A53792D53FF}" type="slidenum">
              <a:rPr lang="zh-CN" altLang="en-US" smtClean="0"/>
              <a:pPr/>
              <a:t>‹#›</a:t>
            </a:fld>
            <a:r>
              <a:rPr lang="zh-CN" altLang="en-US" smtClean="0"/>
              <a:t>页</a:t>
            </a:r>
            <a:endParaRPr lang="zh-CN" altLang="en-US" dirty="0"/>
          </a:p>
        </p:txBody>
      </p:sp>
    </p:spTree>
    <p:extLst>
      <p:ext uri="{BB962C8B-B14F-4D97-AF65-F5344CB8AC3E}">
        <p14:creationId xmlns:p14="http://schemas.microsoft.com/office/powerpoint/2010/main" val="16341405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11" name="图片 10"/>
          <p:cNvPicPr>
            <a:picLocks noChangeAspect="1"/>
          </p:cNvPicPr>
          <p:nvPr/>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6648" y="-1035496"/>
            <a:ext cx="9701443" cy="5616624"/>
          </a:xfrm>
          <a:prstGeom prst="rect">
            <a:avLst/>
          </a:prstGeom>
        </p:spPr>
      </p:pic>
      <p:sp>
        <p:nvSpPr>
          <p:cNvPr id="4" name="矩形​​ 6"/>
          <p:cNvSpPr/>
          <p:nvPr/>
        </p:nvSpPr>
        <p:spPr>
          <a:xfrm>
            <a:off x="-3324" y="0"/>
            <a:ext cx="12192000" cy="4005263"/>
          </a:xfrm>
          <a:prstGeom prst="rect">
            <a:avLst/>
          </a:prstGeom>
          <a:solidFill>
            <a:schemeClr val="bg2">
              <a:lumMod val="9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矩形​​ 9"/>
          <p:cNvSpPr/>
          <p:nvPr/>
        </p:nvSpPr>
        <p:spPr>
          <a:xfrm>
            <a:off x="0" y="4005263"/>
            <a:ext cx="12192000" cy="2852737"/>
          </a:xfrm>
          <a:prstGeom prst="rect">
            <a:avLst/>
          </a:prstGeom>
          <a:solidFill>
            <a:schemeClr val="bg2">
              <a:lumMod val="50000"/>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标题 1"/>
          <p:cNvSpPr>
            <a:spLocks noGrp="1"/>
          </p:cNvSpPr>
          <p:nvPr>
            <p:ph type="ctrTitle"/>
          </p:nvPr>
        </p:nvSpPr>
        <p:spPr>
          <a:xfrm>
            <a:off x="4047163" y="4138027"/>
            <a:ext cx="7898861" cy="943795"/>
          </a:xfrm>
        </p:spPr>
        <p:txBody>
          <a:bodyPr/>
          <a:lstStyle>
            <a:lvl1pPr algn="r">
              <a:defRPr sz="4800">
                <a:latin typeface="汉仪菱心体简" panose="02010609000101010101" pitchFamily="49" charset="-122"/>
                <a:ea typeface="汉仪菱心体简" panose="02010609000101010101" pitchFamily="49" charset="-122"/>
              </a:defRPr>
            </a:lvl1p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663320939"/>
      </p:ext>
    </p:extLst>
  </p:cSld>
  <p:clrMapOvr>
    <a:masterClrMapping/>
  </p:clrMapOvr>
  <p:transition spd="slow">
    <p:fade thruBlk="1"/>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文本">
    <p:spTree>
      <p:nvGrpSpPr>
        <p:cNvPr id="1" name=""/>
        <p:cNvGrpSpPr/>
        <p:nvPr/>
      </p:nvGrpSpPr>
      <p:grpSpPr>
        <a:xfrm>
          <a:off x="0" y="0"/>
          <a:ext cx="0" cy="0"/>
          <a:chOff x="0" y="0"/>
          <a:chExt cx="0" cy="0"/>
        </a:xfrm>
      </p:grpSpPr>
      <p:sp>
        <p:nvSpPr>
          <p:cNvPr id="8" name="内容占位符 2"/>
          <p:cNvSpPr>
            <a:spLocks noGrp="1"/>
          </p:cNvSpPr>
          <p:nvPr>
            <p:ph idx="1"/>
          </p:nvPr>
        </p:nvSpPr>
        <p:spPr>
          <a:xfrm>
            <a:off x="245976" y="2852936"/>
            <a:ext cx="11700048" cy="3146554"/>
          </a:xfrm>
        </p:spPr>
        <p:txBody>
          <a:bodyPr/>
          <a:lstStyle>
            <a:lvl1pPr marL="342900" indent="-342900">
              <a:lnSpc>
                <a:spcPct val="100000"/>
              </a:lnSpc>
              <a:spcBef>
                <a:spcPts val="1400"/>
              </a:spcBef>
              <a:spcAft>
                <a:spcPts val="0"/>
              </a:spcAft>
              <a:buFont typeface="Webdings" panose="05030102010509060703" pitchFamily="18" charset="2"/>
              <a:buChar char="¨"/>
              <a:defRPr/>
            </a:lvl1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9" name="矩形​​ 6"/>
          <p:cNvSpPr/>
          <p:nvPr userDrawn="1"/>
        </p:nvSpPr>
        <p:spPr>
          <a:xfrm>
            <a:off x="-241300" y="333375"/>
            <a:ext cx="12674600" cy="5032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10"/>
          <p:cNvSpPr>
            <a:spLocks noChangeArrowheads="1"/>
          </p:cNvSpPr>
          <p:nvPr userDrawn="1"/>
        </p:nvSpPr>
        <p:spPr bwMode="auto">
          <a:xfrm>
            <a:off x="1631504" y="354161"/>
            <a:ext cx="2999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宋体" panose="02010600030101010101" pitchFamily="2" charset="-122"/>
              </a:defRPr>
            </a:lvl1pPr>
            <a:lvl2pPr marL="742950" indent="-285750">
              <a:defRPr>
                <a:solidFill>
                  <a:schemeClr val="tx1"/>
                </a:solidFill>
                <a:latin typeface="微软雅黑" panose="020B0503020204020204" pitchFamily="34" charset="-122"/>
                <a:ea typeface="宋体" panose="02010600030101010101" pitchFamily="2" charset="-122"/>
              </a:defRPr>
            </a:lvl2pPr>
            <a:lvl3pPr marL="1143000" indent="-228600">
              <a:defRPr>
                <a:solidFill>
                  <a:schemeClr val="tx1"/>
                </a:solidFill>
                <a:latin typeface="微软雅黑" panose="020B0503020204020204" pitchFamily="34" charset="-122"/>
                <a:ea typeface="宋体" panose="02010600030101010101" pitchFamily="2" charset="-122"/>
              </a:defRPr>
            </a:lvl3pPr>
            <a:lvl4pPr marL="1600200" indent="-228600">
              <a:defRPr>
                <a:solidFill>
                  <a:schemeClr val="tx1"/>
                </a:solidFill>
                <a:latin typeface="微软雅黑" panose="020B0503020204020204" pitchFamily="34" charset="-122"/>
                <a:ea typeface="宋体" panose="02010600030101010101" pitchFamily="2" charset="-122"/>
              </a:defRPr>
            </a:lvl4pPr>
            <a:lvl5pPr marL="2057400" indent="-228600">
              <a:defRPr>
                <a:solidFill>
                  <a:schemeClr val="tx1"/>
                </a:solidFill>
                <a:latin typeface="微软雅黑" panose="020B0503020204020204" pitchFamily="34"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9pPr>
          </a:lstStyle>
          <a:p>
            <a:pPr eaLnBrk="1" hangingPunct="1"/>
            <a:r>
              <a:rPr lang="zh-CN" altLang="en-US" sz="2400" b="1" dirty="0" smtClean="0">
                <a:solidFill>
                  <a:schemeClr val="accent6">
                    <a:lumMod val="75000"/>
                  </a:schemeClr>
                </a:solidFill>
                <a:ea typeface="微软雅黑" panose="020B0503020204020204" pitchFamily="34" charset="-122"/>
              </a:rPr>
              <a:t>简洁问、精辟答</a:t>
            </a:r>
            <a:endParaRPr lang="zh-CN" altLang="en-US" sz="2400" b="1" dirty="0">
              <a:solidFill>
                <a:schemeClr val="accent6">
                  <a:lumMod val="75000"/>
                </a:schemeClr>
              </a:solidFill>
              <a:ea typeface="微软雅黑" panose="020B0503020204020204" pitchFamily="34" charset="-122"/>
            </a:endParaRPr>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249713"/>
            <a:ext cx="1158242" cy="670561"/>
          </a:xfrm>
          <a:prstGeom prst="rect">
            <a:avLst/>
          </a:prstGeom>
        </p:spPr>
      </p:pic>
      <p:sp>
        <p:nvSpPr>
          <p:cNvPr id="12" name="矩形​​ 7"/>
          <p:cNvSpPr/>
          <p:nvPr userDrawn="1"/>
        </p:nvSpPr>
        <p:spPr>
          <a:xfrm>
            <a:off x="-241299" y="6103938"/>
            <a:ext cx="12865100" cy="25241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6"/>
          <p:cNvSpPr/>
          <p:nvPr userDrawn="1"/>
        </p:nvSpPr>
        <p:spPr>
          <a:xfrm>
            <a:off x="-241300" y="333375"/>
            <a:ext cx="12674600" cy="503238"/>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矩形​​ 10"/>
          <p:cNvSpPr>
            <a:spLocks noChangeArrowheads="1"/>
          </p:cNvSpPr>
          <p:nvPr userDrawn="1"/>
        </p:nvSpPr>
        <p:spPr bwMode="auto">
          <a:xfrm>
            <a:off x="1631504" y="354161"/>
            <a:ext cx="31563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宋体" panose="02010600030101010101" pitchFamily="2" charset="-122"/>
              </a:defRPr>
            </a:lvl1pPr>
            <a:lvl2pPr marL="742950" indent="-285750">
              <a:defRPr>
                <a:solidFill>
                  <a:schemeClr val="tx1"/>
                </a:solidFill>
                <a:latin typeface="微软雅黑" panose="020B0503020204020204" pitchFamily="34" charset="-122"/>
                <a:ea typeface="宋体" panose="02010600030101010101" pitchFamily="2" charset="-122"/>
              </a:defRPr>
            </a:lvl2pPr>
            <a:lvl3pPr marL="1143000" indent="-228600">
              <a:defRPr>
                <a:solidFill>
                  <a:schemeClr val="tx1"/>
                </a:solidFill>
                <a:latin typeface="微软雅黑" panose="020B0503020204020204" pitchFamily="34" charset="-122"/>
                <a:ea typeface="宋体" panose="02010600030101010101" pitchFamily="2" charset="-122"/>
              </a:defRPr>
            </a:lvl3pPr>
            <a:lvl4pPr marL="1600200" indent="-228600">
              <a:defRPr>
                <a:solidFill>
                  <a:schemeClr val="tx1"/>
                </a:solidFill>
                <a:latin typeface="微软雅黑" panose="020B0503020204020204" pitchFamily="34" charset="-122"/>
                <a:ea typeface="宋体" panose="02010600030101010101" pitchFamily="2" charset="-122"/>
              </a:defRPr>
            </a:lvl4pPr>
            <a:lvl5pPr marL="2057400" indent="-228600">
              <a:defRPr>
                <a:solidFill>
                  <a:schemeClr val="tx1"/>
                </a:solidFill>
                <a:latin typeface="微软雅黑" panose="020B0503020204020204" pitchFamily="34" charset="-122"/>
                <a:ea typeface="宋体" panose="02010600030101010101" pitchFamily="2"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宋体" panose="02010600030101010101" pitchFamily="2" charset="-122"/>
              </a:defRPr>
            </a:lvl9pPr>
          </a:lstStyle>
          <a:p>
            <a:pPr eaLnBrk="1" hangingPunct="1"/>
            <a:r>
              <a:rPr lang="zh-CN" altLang="en-US" sz="2400" b="0" dirty="0" smtClean="0">
                <a:solidFill>
                  <a:schemeClr val="accent6">
                    <a:lumMod val="75000"/>
                  </a:schemeClr>
                </a:solidFill>
                <a:latin typeface="汉仪菱心体简" panose="02010609000101010101" pitchFamily="49" charset="-122"/>
                <a:ea typeface="汉仪菱心体简" panose="02010609000101010101" pitchFamily="49" charset="-122"/>
              </a:rPr>
              <a:t>简洁问、精辟答</a:t>
            </a:r>
            <a:endParaRPr lang="zh-CN" altLang="en-US" sz="2400" b="0" dirty="0">
              <a:solidFill>
                <a:schemeClr val="accent6">
                  <a:lumMod val="75000"/>
                </a:schemeClr>
              </a:solidFill>
              <a:latin typeface="汉仪菱心体简" panose="02010609000101010101" pitchFamily="49" charset="-122"/>
              <a:ea typeface="汉仪菱心体简" panose="02010609000101010101" pitchFamily="49" charset="-122"/>
            </a:endParaRPr>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249713"/>
            <a:ext cx="1158242" cy="670561"/>
          </a:xfrm>
          <a:prstGeom prst="rect">
            <a:avLst/>
          </a:prstGeom>
        </p:spPr>
      </p:pic>
      <p:sp>
        <p:nvSpPr>
          <p:cNvPr id="16" name="矩形​​ 7"/>
          <p:cNvSpPr/>
          <p:nvPr userDrawn="1"/>
        </p:nvSpPr>
        <p:spPr>
          <a:xfrm>
            <a:off x="-241299" y="6103938"/>
            <a:ext cx="12865100" cy="25241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标题 17"/>
          <p:cNvSpPr>
            <a:spLocks noGrp="1"/>
          </p:cNvSpPr>
          <p:nvPr>
            <p:ph type="title" hasCustomPrompt="1"/>
          </p:nvPr>
        </p:nvSpPr>
        <p:spPr>
          <a:xfrm>
            <a:off x="245976" y="1024722"/>
            <a:ext cx="11700048" cy="1515278"/>
          </a:xfrm>
        </p:spPr>
        <p:txBody>
          <a:bodyPr/>
          <a:lstStyle>
            <a:lvl1pPr indent="-457200" algn="l">
              <a:defRPr/>
            </a:lvl1pPr>
          </a:lstStyle>
          <a:p>
            <a:r>
              <a:rPr lang="zh-CN" altLang="en-US" dirty="0" smtClean="0"/>
              <a:t>问：单击此处编辑</a:t>
            </a:r>
            <a:r>
              <a:rPr lang="en-US" altLang="zh-CN" dirty="0" smtClean="0"/>
              <a:t/>
            </a:r>
            <a:br>
              <a:rPr lang="en-US" altLang="zh-CN" dirty="0" smtClean="0"/>
            </a:br>
            <a:r>
              <a:rPr lang="zh-CN" altLang="en-US" dirty="0" smtClean="0"/>
              <a:t>答：母版标题样式</a:t>
            </a:r>
            <a:endParaRPr lang="zh-CN" altLang="en-US" dirty="0"/>
          </a:p>
        </p:txBody>
      </p:sp>
      <p:sp>
        <p:nvSpPr>
          <p:cNvPr id="17" name="日期占位符 34"/>
          <p:cNvSpPr>
            <a:spLocks noGrp="1"/>
          </p:cNvSpPr>
          <p:nvPr>
            <p:ph type="dt" sz="half" idx="10"/>
          </p:nvPr>
        </p:nvSpPr>
        <p:spPr>
          <a:xfrm>
            <a:off x="245976" y="6356351"/>
            <a:ext cx="2844800" cy="365125"/>
          </a:xfrm>
          <a:prstGeom prst="rect">
            <a:avLst/>
          </a:prstGeom>
        </p:spPr>
        <p:txBody>
          <a:bodyPr/>
          <a:lstStyle>
            <a:lvl1pPr algn="l">
              <a:defRPr sz="1600"/>
            </a:lvl1pPr>
          </a:lstStyle>
          <a:p>
            <a:fld id="{01CAF51A-7C67-40A5-BD15-C2FE0F0193FE}" type="datetime1">
              <a:rPr lang="zh-CN" altLang="en-US" smtClean="0"/>
              <a:t>2014/5/30</a:t>
            </a:fld>
            <a:endParaRPr lang="zh-CN" altLang="en-US"/>
          </a:p>
        </p:txBody>
      </p:sp>
      <p:sp>
        <p:nvSpPr>
          <p:cNvPr id="19" name="页脚占位符 35"/>
          <p:cNvSpPr>
            <a:spLocks noGrp="1"/>
          </p:cNvSpPr>
          <p:nvPr>
            <p:ph type="ftr" sz="quarter" idx="11"/>
          </p:nvPr>
        </p:nvSpPr>
        <p:spPr>
          <a:xfrm>
            <a:off x="4165600" y="6356351"/>
            <a:ext cx="3860800" cy="365125"/>
          </a:xfrm>
          <a:prstGeom prst="rect">
            <a:avLst/>
          </a:prstGeom>
        </p:spPr>
        <p:txBody>
          <a:bodyPr/>
          <a:lstStyle>
            <a:lvl1pPr algn="ctr">
              <a:defRPr sz="1600"/>
            </a:lvl1pPr>
          </a:lstStyle>
          <a:p>
            <a:r>
              <a:rPr lang="zh-CN" altLang="en-US" smtClean="0"/>
              <a:t>读书笔记</a:t>
            </a:r>
            <a:r>
              <a:rPr lang="en-US" altLang="zh-CN" smtClean="0"/>
              <a:t>PPT</a:t>
            </a:r>
            <a:endParaRPr lang="zh-CN" altLang="en-US"/>
          </a:p>
        </p:txBody>
      </p:sp>
      <p:sp>
        <p:nvSpPr>
          <p:cNvPr id="20" name="灯片编号占位符 36"/>
          <p:cNvSpPr>
            <a:spLocks noGrp="1"/>
          </p:cNvSpPr>
          <p:nvPr>
            <p:ph type="sldNum" sz="quarter" idx="12"/>
          </p:nvPr>
        </p:nvSpPr>
        <p:spPr>
          <a:xfrm>
            <a:off x="9101224" y="6356351"/>
            <a:ext cx="2844800" cy="365125"/>
          </a:xfrm>
          <a:prstGeom prst="rect">
            <a:avLst/>
          </a:prstGeom>
        </p:spPr>
        <p:txBody>
          <a:bodyPr/>
          <a:lstStyle>
            <a:lvl1pPr algn="r">
              <a:defRPr sz="1600"/>
            </a:lvl1pPr>
          </a:lstStyle>
          <a:p>
            <a:r>
              <a:rPr lang="zh-CN" altLang="en-US" smtClean="0"/>
              <a:t>第</a:t>
            </a:r>
            <a:fld id="{303FC856-7BE1-4FC9-883B-0A53792D53FF}" type="slidenum">
              <a:rPr lang="zh-CN" altLang="en-US" smtClean="0"/>
              <a:pPr/>
              <a:t>‹#›</a:t>
            </a:fld>
            <a:r>
              <a:rPr lang="zh-CN" altLang="en-US" smtClean="0"/>
              <a:t>页</a:t>
            </a:r>
            <a:endParaRPr lang="zh-CN" altLang="en-US" dirty="0"/>
          </a:p>
        </p:txBody>
      </p:sp>
    </p:spTree>
    <p:extLst>
      <p:ext uri="{BB962C8B-B14F-4D97-AF65-F5344CB8AC3E}">
        <p14:creationId xmlns:p14="http://schemas.microsoft.com/office/powerpoint/2010/main" val="351214975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4"/>
            <a:ext cx="9144000" cy="2387600"/>
          </a:xfrm>
        </p:spPr>
        <p:txBody>
          <a:bodyPr anchor="b"/>
          <a:lstStyle>
            <a:lvl1pPr algn="ct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16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284C2EC-F852-470A-A9DD-86F0A59AC289}"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08904013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75BA8B93-8351-4898-BB24-564053CE230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14018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6"/>
          </a:xfrm>
        </p:spPr>
        <p:txBody>
          <a:bodyPr anchor="b"/>
          <a:lstStyle>
            <a:lvl1pPr>
              <a:defRPr sz="54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160">
                <a:solidFill>
                  <a:schemeClr val="tx1">
                    <a:tint val="75000"/>
                  </a:schemeClr>
                </a:solidFill>
              </a:defRPr>
            </a:lvl1pPr>
            <a:lvl2pPr marL="411480" indent="0">
              <a:buNone/>
              <a:defRPr sz="1800">
                <a:solidFill>
                  <a:schemeClr val="tx1">
                    <a:tint val="75000"/>
                  </a:schemeClr>
                </a:solidFill>
              </a:defRPr>
            </a:lvl2pPr>
            <a:lvl3pPr marL="822960" indent="0">
              <a:buNone/>
              <a:defRPr sz="1620">
                <a:solidFill>
                  <a:schemeClr val="tx1">
                    <a:tint val="75000"/>
                  </a:schemeClr>
                </a:solidFill>
              </a:defRPr>
            </a:lvl3pPr>
            <a:lvl4pPr marL="1234440" indent="0">
              <a:buNone/>
              <a:defRPr sz="1440">
                <a:solidFill>
                  <a:schemeClr val="tx1">
                    <a:tint val="75000"/>
                  </a:schemeClr>
                </a:solidFill>
              </a:defRPr>
            </a:lvl4pPr>
            <a:lvl5pPr marL="1645920" indent="0">
              <a:buNone/>
              <a:defRPr sz="1440">
                <a:solidFill>
                  <a:schemeClr val="tx1">
                    <a:tint val="75000"/>
                  </a:schemeClr>
                </a:solidFill>
              </a:defRPr>
            </a:lvl5pPr>
            <a:lvl6pPr marL="2057400" indent="0">
              <a:buNone/>
              <a:defRPr sz="1440">
                <a:solidFill>
                  <a:schemeClr val="tx1">
                    <a:tint val="75000"/>
                  </a:schemeClr>
                </a:solidFill>
              </a:defRPr>
            </a:lvl6pPr>
            <a:lvl7pPr marL="2468880" indent="0">
              <a:buNone/>
              <a:defRPr sz="1440">
                <a:solidFill>
                  <a:schemeClr val="tx1">
                    <a:tint val="75000"/>
                  </a:schemeClr>
                </a:solidFill>
              </a:defRPr>
            </a:lvl7pPr>
            <a:lvl8pPr marL="2880360" indent="0">
              <a:buNone/>
              <a:defRPr sz="1440">
                <a:solidFill>
                  <a:schemeClr val="tx1">
                    <a:tint val="75000"/>
                  </a:schemeClr>
                </a:solidFill>
              </a:defRPr>
            </a:lvl8pPr>
            <a:lvl9pPr marL="3291840" indent="0">
              <a:buNone/>
              <a:defRPr sz="144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15B5B81E-7CF0-4F5B-9FF8-B9F51549063A}"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3447946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7"/>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9CED4D57-6B8A-480D-AA65-EF318E8BA923}"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439153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9" y="1681164"/>
            <a:ext cx="5157787"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4" name="Content Placeholder 3"/>
          <p:cNvSpPr>
            <a:spLocks noGrp="1"/>
          </p:cNvSpPr>
          <p:nvPr>
            <p:ph sz="half" idx="2"/>
          </p:nvPr>
        </p:nvSpPr>
        <p:spPr>
          <a:xfrm>
            <a:off x="839789" y="2505076"/>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2" y="1681164"/>
            <a:ext cx="5183188" cy="823913"/>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2" y="2505076"/>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endParaRPr lang="zh-CN" altLang="zh-CN">
              <a:solidFill>
                <a:prstClr val="black">
                  <a:tint val="75000"/>
                </a:prstClr>
              </a:solidFill>
            </a:endParaRPr>
          </a:p>
        </p:txBody>
      </p:sp>
      <p:sp>
        <p:nvSpPr>
          <p:cNvPr id="8" name="Footer Placeholder 7"/>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9" name="Slide Number Placeholder 8"/>
          <p:cNvSpPr>
            <a:spLocks noGrp="1"/>
          </p:cNvSpPr>
          <p:nvPr>
            <p:ph type="sldNum" sz="quarter" idx="12"/>
          </p:nvPr>
        </p:nvSpPr>
        <p:spPr/>
        <p:txBody>
          <a:bodyPr/>
          <a:lstStyle/>
          <a:p>
            <a:pPr>
              <a:defRPr/>
            </a:pPr>
            <a:fld id="{272F1E0D-3DB7-4B98-B5A2-0BD6175C0CFB}"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842653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zh-CN" altLang="zh-CN">
              <a:solidFill>
                <a:prstClr val="black">
                  <a:tint val="75000"/>
                </a:prstClr>
              </a:solidFill>
            </a:endParaRPr>
          </a:p>
        </p:txBody>
      </p:sp>
      <p:sp>
        <p:nvSpPr>
          <p:cNvPr id="4" name="Footer Placeholder 3"/>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5" name="Slide Number Placeholder 4"/>
          <p:cNvSpPr>
            <a:spLocks noGrp="1"/>
          </p:cNvSpPr>
          <p:nvPr>
            <p:ph type="sldNum" sz="quarter" idx="12"/>
          </p:nvPr>
        </p:nvSpPr>
        <p:spPr/>
        <p:txBody>
          <a:bodyPr/>
          <a:lstStyle/>
          <a:p>
            <a:pPr>
              <a:defRPr/>
            </a:pPr>
            <a:fld id="{1F7E9454-2E4F-4179-AC26-B45346A8E5E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58836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zh-CN" altLang="zh-CN">
              <a:solidFill>
                <a:prstClr val="black">
                  <a:tint val="75000"/>
                </a:prstClr>
              </a:solidFill>
            </a:endParaRPr>
          </a:p>
        </p:txBody>
      </p:sp>
      <p:sp>
        <p:nvSpPr>
          <p:cNvPr id="3" name="Footer Placeholder 2"/>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4" name="Slide Number Placeholder 3"/>
          <p:cNvSpPr>
            <a:spLocks noGrp="1"/>
          </p:cNvSpPr>
          <p:nvPr>
            <p:ph type="sldNum" sz="quarter" idx="12"/>
          </p:nvPr>
        </p:nvSpPr>
        <p:spPr/>
        <p:txBody>
          <a:bodyPr/>
          <a:lstStyle/>
          <a:p>
            <a:pPr>
              <a:defRPr/>
            </a:pPr>
            <a:fld id="{22AA2A7E-54E6-4B9A-B9F2-26045CE35D3E}"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443429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F4CF94B2-F66F-4EE6-B1E1-D241C68DB758}"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173553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1"/>
            <a:ext cx="3932237" cy="1600201"/>
          </a:xfrm>
        </p:spPr>
        <p:txBody>
          <a:bodyPr anchor="b"/>
          <a:lstStyle>
            <a:lvl1pPr>
              <a:defRPr sz="288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399"/>
            <a:ext cx="3932237" cy="381158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endParaRPr lang="zh-CN" altLang="zh-CN">
              <a:solidFill>
                <a:prstClr val="black">
                  <a:tint val="75000"/>
                </a:prstClr>
              </a:solidFill>
            </a:endParaRPr>
          </a:p>
        </p:txBody>
      </p:sp>
      <p:sp>
        <p:nvSpPr>
          <p:cNvPr id="6" name="Footer Placeholder 5"/>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64BB78EF-B977-4F0E-A8A5-6144ED398882}"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940535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2B8183D7-0B93-4594-ACC5-74436FEF7CD1}"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201244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2"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endParaRPr lang="zh-CN" altLang="zh-CN">
              <a:solidFill>
                <a:prstClr val="black">
                  <a:tint val="75000"/>
                </a:prstClr>
              </a:solidFill>
            </a:endParaRPr>
          </a:p>
        </p:txBody>
      </p:sp>
      <p:sp>
        <p:nvSpPr>
          <p:cNvPr id="5" name="Footer Placeholder 4"/>
          <p:cNvSpPr>
            <a:spLocks noGrp="1"/>
          </p:cNvSpPr>
          <p:nvPr>
            <p:ph type="ftr" sz="quarter" idx="11"/>
          </p:nvPr>
        </p:nvSpPr>
        <p:spPr/>
        <p:txBody>
          <a:bodyPr/>
          <a:lstStyle/>
          <a:p>
            <a:pPr>
              <a:defRPr/>
            </a:pPr>
            <a:endParaRPr lang="zh-CN" altLang="zh-CN">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4D8372D8-672D-457D-A7E8-104FA1A9EB76}" type="slidenum">
              <a:rPr lang="zh-CN" altLang="zh-CN" smtClean="0">
                <a:solidFill>
                  <a:prstClr val="black">
                    <a:tint val="75000"/>
                  </a:prstClr>
                </a:solidFill>
              </a:rPr>
              <a:pPr>
                <a:defRPr/>
              </a:pPr>
              <a:t>‹#›</a:t>
            </a:fld>
            <a:endParaRPr lang="zh-CN" altLang="zh-CN">
              <a:solidFill>
                <a:prstClr val="black">
                  <a:tint val="75000"/>
                </a:prstClr>
              </a:solidFill>
            </a:endParaRPr>
          </a:p>
        </p:txBody>
      </p:sp>
    </p:spTree>
    <p:extLst>
      <p:ext uri="{BB962C8B-B14F-4D97-AF65-F5344CB8AC3E}">
        <p14:creationId xmlns:p14="http://schemas.microsoft.com/office/powerpoint/2010/main" val="11514494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extLst>
      <p:ext uri="{BB962C8B-B14F-4D97-AF65-F5344CB8AC3E}">
        <p14:creationId xmlns:p14="http://schemas.microsoft.com/office/powerpoint/2010/main" val="197052563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3" r:id="rId3"/>
    <p:sldLayoutId id="2147483667" r:id="rId4"/>
  </p:sldLayoutIdLst>
  <p:transition spd="slow">
    <p:fade thruBlk="1"/>
  </p:transition>
  <p:timing>
    <p:tnLst>
      <p:par>
        <p:cTn id="1" dur="indefinite" restart="never" nodeType="tmRoot"/>
      </p:par>
    </p:tnLst>
  </p:timing>
  <p:hf hdr="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2pPr>
      <a:lvl3pPr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3pPr>
      <a:lvl4pPr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4pPr>
      <a:lvl5pPr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5pPr>
      <a:lvl6pPr marL="457200"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6pPr>
      <a:lvl7pPr marL="914400"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7pPr>
      <a:lvl8pPr marL="1371600"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8pPr>
      <a:lvl9pPr marL="1828800" algn="ctr" rtl="0" eaLnBrk="1" fontAlgn="base" hangingPunct="1">
        <a:spcBef>
          <a:spcPct val="0"/>
        </a:spcBef>
        <a:spcAft>
          <a:spcPct val="0"/>
        </a:spcAft>
        <a:defRPr sz="4400">
          <a:solidFill>
            <a:schemeClr val="tx1"/>
          </a:solidFill>
          <a:latin typeface="方正粗宋简体" pitchFamily="65" charset="-122"/>
          <a:ea typeface="方正粗宋简体" pitchFamily="65" charset="-122"/>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7"/>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080">
                <a:solidFill>
                  <a:schemeClr val="tx1">
                    <a:tint val="75000"/>
                  </a:schemeClr>
                </a:solidFill>
              </a:defRPr>
            </a:lvl1pPr>
          </a:lstStyle>
          <a:p>
            <a:pPr eaLnBrk="0" fontAlgn="base" hangingPunct="0">
              <a:spcBef>
                <a:spcPct val="0"/>
              </a:spcBef>
              <a:spcAft>
                <a:spcPct val="0"/>
              </a:spcAft>
              <a:defRPr/>
            </a:pPr>
            <a:endParaRPr lang="zh-CN" altLang="zh-CN">
              <a:solidFill>
                <a:prstClr val="black">
                  <a:tint val="75000"/>
                </a:prstClr>
              </a:solidFill>
              <a:latin typeface="Arial" panose="020B0604020202020204" pitchFamily="34" charset="0"/>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080">
                <a:solidFill>
                  <a:schemeClr val="tx1">
                    <a:tint val="75000"/>
                  </a:schemeClr>
                </a:solidFill>
              </a:defRPr>
            </a:lvl1pPr>
          </a:lstStyle>
          <a:p>
            <a:pPr eaLnBrk="0" fontAlgn="base" hangingPunct="0">
              <a:spcBef>
                <a:spcPct val="0"/>
              </a:spcBef>
              <a:spcAft>
                <a:spcPct val="0"/>
              </a:spcAft>
              <a:defRPr/>
            </a:pPr>
            <a:fld id="{FB7F8D54-5516-4B2E-AB95-6F67C90F4696}" type="slidenum">
              <a:rPr lang="zh-CN" altLang="zh-CN" smtClean="0">
                <a:solidFill>
                  <a:prstClr val="black">
                    <a:tint val="75000"/>
                  </a:prstClr>
                </a:solidFill>
                <a:latin typeface="Arial" panose="020B0604020202020204" pitchFamily="34" charset="0"/>
              </a:rPr>
              <a:pPr eaLnBrk="0" fontAlgn="base" hangingPunct="0">
                <a:spcBef>
                  <a:spcPct val="0"/>
                </a:spcBef>
                <a:spcAft>
                  <a:spcPct val="0"/>
                </a:spcAft>
                <a:defRPr/>
              </a:pPr>
              <a:t>‹#›</a:t>
            </a:fld>
            <a:endParaRPr lang="zh-CN" altLang="zh-CN">
              <a:solidFill>
                <a:prstClr val="black">
                  <a:tint val="75000"/>
                </a:prstClr>
              </a:solidFill>
              <a:latin typeface="Arial" panose="020B0604020202020204" pitchFamily="34" charset="0"/>
            </a:endParaRPr>
          </a:p>
        </p:txBody>
      </p:sp>
    </p:spTree>
    <p:extLst>
      <p:ext uri="{BB962C8B-B14F-4D97-AF65-F5344CB8AC3E}">
        <p14:creationId xmlns:p14="http://schemas.microsoft.com/office/powerpoint/2010/main" val="1478722496"/>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822960" rtl="0" eaLnBrk="1" latinLnBrk="0" hangingPunct="1">
        <a:lnSpc>
          <a:spcPct val="90000"/>
        </a:lnSpc>
        <a:spcBef>
          <a:spcPct val="0"/>
        </a:spcBef>
        <a:buNone/>
        <a:defRPr sz="3960" kern="1200">
          <a:solidFill>
            <a:schemeClr val="tx1"/>
          </a:solidFill>
          <a:latin typeface="+mj-lt"/>
          <a:ea typeface="+mj-ea"/>
          <a:cs typeface="+mj-cs"/>
        </a:defRPr>
      </a:lvl1pPr>
    </p:titleStyle>
    <p:bodyStyle>
      <a:lvl1pPr marL="205740" indent="-205740" algn="l" defTabSz="822960" rtl="0" eaLnBrk="1" latinLnBrk="0" hangingPunct="1">
        <a:lnSpc>
          <a:spcPct val="90000"/>
        </a:lnSpc>
        <a:spcBef>
          <a:spcPts val="900"/>
        </a:spcBef>
        <a:buFont typeface="Arial" panose="020B0604020202020204" pitchFamily="34" charset="0"/>
        <a:buChar char="•"/>
        <a:defRPr sz="2520" kern="1200">
          <a:solidFill>
            <a:schemeClr val="tx1"/>
          </a:solidFill>
          <a:latin typeface="+mn-lt"/>
          <a:ea typeface="+mn-ea"/>
          <a:cs typeface="+mn-cs"/>
        </a:defRPr>
      </a:lvl1pPr>
      <a:lvl2pPr marL="617220" indent="-205740" algn="l" defTabSz="822960" rtl="0" eaLnBrk="1" latinLnBrk="0" hangingPunct="1">
        <a:lnSpc>
          <a:spcPct val="90000"/>
        </a:lnSpc>
        <a:spcBef>
          <a:spcPts val="450"/>
        </a:spcBef>
        <a:buFont typeface="Arial" panose="020B0604020202020204" pitchFamily="34" charset="0"/>
        <a:buChar char="•"/>
        <a:defRPr sz="2160" kern="1200">
          <a:solidFill>
            <a:schemeClr val="tx1"/>
          </a:solidFill>
          <a:latin typeface="+mn-lt"/>
          <a:ea typeface="+mn-ea"/>
          <a:cs typeface="+mn-cs"/>
        </a:defRPr>
      </a:lvl2pPr>
      <a:lvl3pPr marL="1028700" indent="-205740" algn="l" defTabSz="822960" rtl="0" eaLnBrk="1" latinLnBrk="0" hangingPunct="1">
        <a:lnSpc>
          <a:spcPct val="90000"/>
        </a:lnSpc>
        <a:spcBef>
          <a:spcPts val="450"/>
        </a:spcBef>
        <a:buFont typeface="Arial" panose="020B0604020202020204" pitchFamily="34" charset="0"/>
        <a:buChar char="•"/>
        <a:defRPr sz="1800" kern="1200">
          <a:solidFill>
            <a:schemeClr val="tx1"/>
          </a:solidFill>
          <a:latin typeface="+mn-lt"/>
          <a:ea typeface="+mn-ea"/>
          <a:cs typeface="+mn-cs"/>
        </a:defRPr>
      </a:lvl3pPr>
      <a:lvl4pPr marL="14401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4pPr>
      <a:lvl5pPr marL="185166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1113313"/>
      </p:ext>
    </p:extLst>
  </p:cSld>
  <p:clrMapOvr>
    <a:masterClrMapping/>
  </p:clrMapOvr>
  <p:transition spd="slow">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FA05FA-6C32-470F-83E9-DAA5FC46F087}" type="datetime1">
              <a:rPr lang="zh-CN" altLang="en-US" smtClean="0"/>
              <a:t>2014/5/30</a:t>
            </a:fld>
            <a:endParaRPr lang="zh-CN" altLang="en-US"/>
          </a:p>
        </p:txBody>
      </p:sp>
      <p:sp>
        <p:nvSpPr>
          <p:cNvPr id="3" name="页脚占位符 2"/>
          <p:cNvSpPr>
            <a:spLocks noGrp="1"/>
          </p:cNvSpPr>
          <p:nvPr>
            <p:ph type="ftr" sz="quarter" idx="11"/>
          </p:nvPr>
        </p:nvSpPr>
        <p:spPr/>
        <p:txBody>
          <a:bodyPr/>
          <a:lstStyle/>
          <a:p>
            <a:r>
              <a:rPr lang="zh-CN" altLang="en-US" smtClean="0"/>
              <a:t>读书笔记</a:t>
            </a:r>
            <a:r>
              <a:rPr lang="en-US" altLang="zh-CN" smtClean="0"/>
              <a:t>PPT</a:t>
            </a:r>
            <a:endParaRPr lang="zh-CN" altLang="en-US"/>
          </a:p>
        </p:txBody>
      </p:sp>
      <p:sp>
        <p:nvSpPr>
          <p:cNvPr id="4" name="灯片编号占位符 3"/>
          <p:cNvSpPr>
            <a:spLocks noGrp="1"/>
          </p:cNvSpPr>
          <p:nvPr>
            <p:ph type="sldNum" sz="quarter" idx="12"/>
          </p:nvPr>
        </p:nvSpPr>
        <p:spPr/>
        <p:txBody>
          <a:bodyPr/>
          <a:lstStyle/>
          <a:p>
            <a:r>
              <a:rPr lang="zh-CN" altLang="en-US" smtClean="0"/>
              <a:t>第</a:t>
            </a:r>
            <a:fld id="{303FC856-7BE1-4FC9-883B-0A53792D53FF}" type="slidenum">
              <a:rPr lang="zh-CN" altLang="en-US" smtClean="0"/>
              <a:pPr/>
              <a:t>2</a:t>
            </a:fld>
            <a:r>
              <a:rPr lang="zh-CN" altLang="en-US" smtClean="0"/>
              <a:t>页</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2838547782"/>
              </p:ext>
            </p:extLst>
          </p:nvPr>
        </p:nvGraphicFramePr>
        <p:xfrm>
          <a:off x="114300" y="1682747"/>
          <a:ext cx="3530600" cy="2346960"/>
        </p:xfrm>
        <a:graphic>
          <a:graphicData uri="http://schemas.openxmlformats.org/drawingml/2006/table">
            <a:tbl>
              <a:tblPr>
                <a:tableStyleId>{2D5ABB26-0587-4C30-8999-92F81FD0307C}</a:tableStyleId>
              </a:tblPr>
              <a:tblGrid>
                <a:gridCol w="2959100"/>
                <a:gridCol w="571500"/>
              </a:tblGrid>
              <a:tr h="364823">
                <a:tc gridSpan="2">
                  <a:txBody>
                    <a:bodyPr/>
                    <a:lstStyle/>
                    <a:p>
                      <a:pPr algn="ctr"/>
                      <a:r>
                        <a:rPr lang="zh-CN" altLang="en-US" sz="2800" b="0" dirty="0" smtClean="0">
                          <a:solidFill>
                            <a:schemeClr val="accent6">
                              <a:lumMod val="75000"/>
                            </a:schemeClr>
                          </a:solidFill>
                          <a:latin typeface="+mj-ea"/>
                          <a:ea typeface="+mj-ea"/>
                        </a:rPr>
                        <a:t>谈个人</a:t>
                      </a:r>
                      <a:endParaRPr lang="zh-CN" altLang="en-US" sz="2800" b="0" dirty="0">
                        <a:solidFill>
                          <a:schemeClr val="accent6">
                            <a:lumMod val="75000"/>
                          </a:schemeClr>
                        </a:solidFill>
                        <a:latin typeface="+mj-ea"/>
                        <a:ea typeface="+mj-ea"/>
                      </a:endParaRPr>
                    </a:p>
                  </a:txBody>
                  <a:tcPr/>
                </a:tc>
                <a:tc hMerge="1">
                  <a:txBody>
                    <a:bodyPr/>
                    <a:lstStyle/>
                    <a:p>
                      <a:endParaRPr lang="zh-CN" altLang="en-US"/>
                    </a:p>
                  </a:txBody>
                  <a:tcPr/>
                </a:tc>
              </a:tr>
              <a:tr h="249616">
                <a:tc>
                  <a:txBody>
                    <a:bodyPr/>
                    <a:lstStyle/>
                    <a:p>
                      <a:r>
                        <a:rPr lang="zh-CN" altLang="en-US" sz="1800" dirty="0" smtClean="0">
                          <a:solidFill>
                            <a:srgbClr val="4E75A3"/>
                          </a:solidFill>
                          <a:latin typeface="+mn-ea"/>
                          <a:ea typeface="+mn-ea"/>
                        </a:rPr>
                        <a:t>⑴</a:t>
                      </a:r>
                      <a:r>
                        <a:rPr lang="zh-CN" altLang="en-US" sz="1800" dirty="0" smtClean="0">
                          <a:latin typeface="+mn-ea"/>
                          <a:ea typeface="+mn-ea"/>
                        </a:rPr>
                        <a:t>末日启示：向死而生</a:t>
                      </a:r>
                      <a:endParaRPr lang="zh-CN" altLang="en-US" sz="1800" dirty="0">
                        <a:latin typeface="+mn-ea"/>
                        <a:ea typeface="+mn-ea"/>
                      </a:endParaRPr>
                    </a:p>
                  </a:txBody>
                  <a:tcPr/>
                </a:tc>
                <a:tc>
                  <a:txBody>
                    <a:bodyPr/>
                    <a:lstStyle/>
                    <a:p>
                      <a:pPr algn="r"/>
                      <a:r>
                        <a:rPr lang="en-US" altLang="zh-CN" sz="1800" dirty="0" smtClean="0">
                          <a:latin typeface="+mn-ea"/>
                          <a:ea typeface="+mn-ea"/>
                        </a:rPr>
                        <a:t>03</a:t>
                      </a:r>
                      <a:endParaRPr lang="zh-CN" altLang="en-US" sz="1800" dirty="0">
                        <a:latin typeface="+mn-ea"/>
                        <a:ea typeface="+mn-ea"/>
                      </a:endParaRPr>
                    </a:p>
                  </a:txBody>
                  <a:tcPr/>
                </a:tc>
              </a:tr>
              <a:tr h="249616">
                <a:tc>
                  <a:txBody>
                    <a:bodyPr/>
                    <a:lstStyle/>
                    <a:p>
                      <a:r>
                        <a:rPr lang="zh-CN" altLang="en-US" sz="1800" dirty="0" smtClean="0">
                          <a:solidFill>
                            <a:srgbClr val="4E75A3"/>
                          </a:solidFill>
                          <a:latin typeface="+mn-ea"/>
                          <a:ea typeface="+mn-ea"/>
                        </a:rPr>
                        <a:t>⑵</a:t>
                      </a:r>
                      <a:r>
                        <a:rPr lang="zh-CN" altLang="en-US" sz="1800" dirty="0" smtClean="0">
                          <a:latin typeface="+mn-ea"/>
                          <a:ea typeface="+mn-ea"/>
                        </a:rPr>
                        <a:t>拒绝逃离北上广</a:t>
                      </a:r>
                      <a:endParaRPr lang="zh-CN" altLang="en-US" sz="1800" dirty="0">
                        <a:latin typeface="+mn-ea"/>
                        <a:ea typeface="+mn-ea"/>
                      </a:endParaRPr>
                    </a:p>
                  </a:txBody>
                  <a:tcPr/>
                </a:tc>
                <a:tc>
                  <a:txBody>
                    <a:bodyPr/>
                    <a:lstStyle/>
                    <a:p>
                      <a:pPr algn="r"/>
                      <a:r>
                        <a:rPr lang="en-US" altLang="zh-CN" sz="1800" dirty="0" smtClean="0">
                          <a:latin typeface="+mn-ea"/>
                          <a:ea typeface="+mn-ea"/>
                        </a:rPr>
                        <a:t>07</a:t>
                      </a:r>
                      <a:endParaRPr lang="zh-CN" altLang="en-US" sz="1800" dirty="0">
                        <a:latin typeface="+mn-ea"/>
                        <a:ea typeface="+mn-ea"/>
                      </a:endParaRPr>
                    </a:p>
                  </a:txBody>
                  <a:tcPr/>
                </a:tc>
              </a:tr>
              <a:tr h="2496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rPr>
                        <a:t>⑶</a:t>
                      </a:r>
                      <a:r>
                        <a:rPr lang="zh-CN" altLang="en-US" sz="1800" i="0" u="none" strike="noStrike" kern="100" baseline="0" dirty="0" smtClean="0">
                          <a:latin typeface="+mn-ea"/>
                          <a:ea typeface="+mn-ea"/>
                        </a:rPr>
                        <a:t>夹缝中的</a:t>
                      </a:r>
                      <a:r>
                        <a:rPr lang="en-US" altLang="zh-CN" sz="1800" i="0" u="none" strike="noStrike" kern="100" baseline="0" dirty="0" smtClean="0">
                          <a:latin typeface="+mn-ea"/>
                          <a:ea typeface="+mn-ea"/>
                        </a:rPr>
                        <a:t>80</a:t>
                      </a:r>
                      <a:r>
                        <a:rPr lang="zh-CN" altLang="en-US" sz="1800" i="0" u="none" strike="noStrike" kern="100" baseline="0" dirty="0" smtClean="0">
                          <a:latin typeface="+mn-ea"/>
                          <a:ea typeface="+mn-ea"/>
                        </a:rPr>
                        <a:t>后</a:t>
                      </a:r>
                      <a:r>
                        <a:rPr lang="en-US" altLang="zh-CN" sz="1800" i="0" u="none" strike="noStrike" kern="100" baseline="0" dirty="0" smtClean="0">
                          <a:latin typeface="+mn-ea"/>
                          <a:ea typeface="+mn-ea"/>
                        </a:rPr>
                        <a:t>U</a:t>
                      </a:r>
                      <a:r>
                        <a:rPr lang="zh-CN" altLang="en-US" sz="1800" i="0" u="none" strike="noStrike" kern="100" baseline="0" dirty="0" smtClean="0">
                          <a:latin typeface="+mn-ea"/>
                          <a:ea typeface="+mn-ea"/>
                        </a:rPr>
                        <a:t>盘化生存</a:t>
                      </a:r>
                      <a:endParaRPr lang="zh-CN" altLang="en-US" sz="1800" dirty="0" smtClean="0">
                        <a:latin typeface="+mn-ea"/>
                        <a:ea typeface="+mn-ea"/>
                      </a:endParaRPr>
                    </a:p>
                  </a:txBody>
                  <a:tcPr/>
                </a:tc>
                <a:tc>
                  <a:txBody>
                    <a:bodyPr/>
                    <a:lstStyle/>
                    <a:p>
                      <a:pPr algn="r"/>
                      <a:r>
                        <a:rPr lang="en-US" altLang="zh-CN" sz="1800" dirty="0" smtClean="0">
                          <a:latin typeface="+mn-ea"/>
                          <a:ea typeface="+mn-ea"/>
                        </a:rPr>
                        <a:t>11</a:t>
                      </a:r>
                      <a:endParaRPr lang="zh-CN" altLang="en-US" sz="1800" dirty="0">
                        <a:latin typeface="+mn-ea"/>
                        <a:ea typeface="+mn-ea"/>
                      </a:endParaRPr>
                    </a:p>
                  </a:txBody>
                  <a:tcPr/>
                </a:tc>
              </a:tr>
              <a:tr h="2496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rPr>
                        <a:t>⑷</a:t>
                      </a:r>
                      <a:r>
                        <a:rPr lang="zh-CN" altLang="en-US" sz="1800" i="0" u="none" strike="noStrike" kern="100" baseline="0" dirty="0" smtClean="0">
                          <a:latin typeface="+mn-ea"/>
                          <a:ea typeface="+mn-ea"/>
                        </a:rPr>
                        <a:t>成名需要付出代价</a:t>
                      </a:r>
                      <a:endParaRPr lang="zh-CN" altLang="en-US" sz="1800" dirty="0" smtClean="0">
                        <a:latin typeface="+mn-ea"/>
                        <a:ea typeface="+mn-ea"/>
                      </a:endParaRPr>
                    </a:p>
                  </a:txBody>
                  <a:tcPr/>
                </a:tc>
                <a:tc>
                  <a:txBody>
                    <a:bodyPr/>
                    <a:lstStyle/>
                    <a:p>
                      <a:pPr algn="r"/>
                      <a:r>
                        <a:rPr lang="en-US" altLang="zh-CN" sz="1800" dirty="0" smtClean="0">
                          <a:latin typeface="+mn-ea"/>
                          <a:ea typeface="+mn-ea"/>
                        </a:rPr>
                        <a:t>15</a:t>
                      </a:r>
                      <a:endParaRPr lang="zh-CN" altLang="en-US" sz="1800" dirty="0">
                        <a:latin typeface="+mn-ea"/>
                        <a:ea typeface="+mn-ea"/>
                      </a:endParaRPr>
                    </a:p>
                  </a:txBody>
                  <a:tcPr/>
                </a:tc>
              </a:tr>
              <a:tr h="24961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⑸</a:t>
                      </a:r>
                      <a:r>
                        <a:rPr lang="zh-CN" altLang="en-US" sz="1800" i="0" u="none" strike="noStrike" kern="100" baseline="0" dirty="0" smtClean="0">
                          <a:latin typeface="+mn-ea"/>
                          <a:ea typeface="+mn-ea"/>
                        </a:rPr>
                        <a:t>剩女也有光荣与梦想</a:t>
                      </a:r>
                      <a:endParaRPr lang="zh-CN" altLang="en-US" sz="1800" dirty="0" smtClean="0">
                        <a:latin typeface="+mn-ea"/>
                        <a:ea typeface="+mn-ea"/>
                      </a:endParaRPr>
                    </a:p>
                  </a:txBody>
                  <a:tcPr/>
                </a:tc>
                <a:tc>
                  <a:txBody>
                    <a:bodyPr/>
                    <a:lstStyle/>
                    <a:p>
                      <a:pPr algn="r"/>
                      <a:r>
                        <a:rPr lang="en-US" altLang="zh-CN" sz="1800" dirty="0" smtClean="0">
                          <a:latin typeface="+mn-ea"/>
                          <a:ea typeface="+mn-ea"/>
                        </a:rPr>
                        <a:t>18</a:t>
                      </a:r>
                      <a:endParaRPr lang="zh-CN" altLang="en-US" sz="1800" dirty="0">
                        <a:latin typeface="+mn-ea"/>
                        <a:ea typeface="+mn-ea"/>
                      </a:endParaRPr>
                    </a:p>
                  </a:txBody>
                  <a:tcPr/>
                </a:tc>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401606787"/>
              </p:ext>
            </p:extLst>
          </p:nvPr>
        </p:nvGraphicFramePr>
        <p:xfrm>
          <a:off x="3968750" y="1682747"/>
          <a:ext cx="4165600" cy="2346960"/>
        </p:xfrm>
        <a:graphic>
          <a:graphicData uri="http://schemas.openxmlformats.org/drawingml/2006/table">
            <a:tbl>
              <a:tblPr>
                <a:tableStyleId>{2D5ABB26-0587-4C30-8999-92F81FD0307C}</a:tableStyleId>
              </a:tblPr>
              <a:tblGrid>
                <a:gridCol w="3664528"/>
                <a:gridCol w="501072"/>
              </a:tblGrid>
              <a:tr h="338970">
                <a:tc gridSpan="2">
                  <a:txBody>
                    <a:bodyPr/>
                    <a:lstStyle/>
                    <a:p>
                      <a:pPr marL="0" algn="ctr" defTabSz="914400" rtl="0" eaLnBrk="1" latinLnBrk="0" hangingPunct="1"/>
                      <a:r>
                        <a:rPr lang="zh-CN" altLang="en-US" sz="2800" b="0" kern="1200" dirty="0" smtClean="0">
                          <a:solidFill>
                            <a:schemeClr val="accent6">
                              <a:lumMod val="75000"/>
                            </a:schemeClr>
                          </a:solidFill>
                          <a:latin typeface="+mj-ea"/>
                          <a:ea typeface="+mj-ea"/>
                          <a:cs typeface="+mn-cs"/>
                        </a:rPr>
                        <a:t>谈国事</a:t>
                      </a:r>
                      <a:endParaRPr lang="zh-CN" altLang="en-US" sz="2800" b="0" kern="1200" dirty="0">
                        <a:solidFill>
                          <a:schemeClr val="accent6">
                            <a:lumMod val="75000"/>
                          </a:schemeClr>
                        </a:solidFill>
                        <a:latin typeface="+mj-ea"/>
                        <a:ea typeface="+mj-ea"/>
                        <a:cs typeface="+mn-cs"/>
                      </a:endParaRPr>
                    </a:p>
                  </a:txBody>
                  <a:tcPr/>
                </a:tc>
                <a:tc hMerge="1">
                  <a:txBody>
                    <a:bodyPr/>
                    <a:lstStyle/>
                    <a:p>
                      <a:endParaRPr lang="zh-CN" altLang="en-US" dirty="0"/>
                    </a:p>
                  </a:txBody>
                  <a:tcPr/>
                </a:tc>
              </a:tr>
              <a:tr h="2319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⑹</a:t>
                      </a:r>
                      <a:r>
                        <a:rPr lang="zh-CN" altLang="en-US" sz="1800" i="0" u="none" strike="noStrike" kern="100" baseline="0" dirty="0" smtClean="0">
                          <a:latin typeface="+mn-ea"/>
                          <a:ea typeface="+mn-ea"/>
                        </a:rPr>
                        <a:t>大国的“武器”是贸易</a:t>
                      </a:r>
                      <a:endParaRPr lang="zh-CN" altLang="en-US" sz="1800" dirty="0" smtClean="0">
                        <a:latin typeface="+mn-ea"/>
                        <a:ea typeface="+mn-ea"/>
                      </a:endParaRPr>
                    </a:p>
                  </a:txBody>
                  <a:tcPr/>
                </a:tc>
                <a:tc>
                  <a:txBody>
                    <a:bodyPr/>
                    <a:lstStyle/>
                    <a:p>
                      <a:pPr algn="r"/>
                      <a:r>
                        <a:rPr lang="en-US" altLang="zh-CN" sz="1800" dirty="0" smtClean="0">
                          <a:latin typeface="+mn-ea"/>
                          <a:ea typeface="+mn-ea"/>
                        </a:rPr>
                        <a:t>21</a:t>
                      </a:r>
                      <a:endParaRPr lang="zh-CN" altLang="en-US" sz="1800" dirty="0">
                        <a:latin typeface="+mn-ea"/>
                        <a:ea typeface="+mn-ea"/>
                      </a:endParaRPr>
                    </a:p>
                  </a:txBody>
                  <a:tcPr/>
                </a:tc>
              </a:tr>
              <a:tr h="2319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⑺</a:t>
                      </a:r>
                      <a:r>
                        <a:rPr lang="zh-CN" altLang="en-US" sz="1800" dirty="0" smtClean="0">
                          <a:latin typeface="+mn-ea"/>
                          <a:ea typeface="+mn-ea"/>
                        </a:rPr>
                        <a:t>大国不能认死理</a:t>
                      </a:r>
                    </a:p>
                  </a:txBody>
                  <a:tcPr/>
                </a:tc>
                <a:tc>
                  <a:txBody>
                    <a:bodyPr/>
                    <a:lstStyle/>
                    <a:p>
                      <a:pPr algn="r"/>
                      <a:r>
                        <a:rPr lang="en-US" altLang="zh-CN" sz="1800" dirty="0" smtClean="0">
                          <a:latin typeface="+mn-ea"/>
                          <a:ea typeface="+mn-ea"/>
                        </a:rPr>
                        <a:t>25</a:t>
                      </a:r>
                      <a:endParaRPr lang="zh-CN" altLang="en-US" sz="1800" dirty="0">
                        <a:latin typeface="+mn-ea"/>
                        <a:ea typeface="+mn-ea"/>
                      </a:endParaRPr>
                    </a:p>
                  </a:txBody>
                  <a:tcPr/>
                </a:tc>
              </a:tr>
              <a:tr h="2319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⑻</a:t>
                      </a:r>
                      <a:r>
                        <a:rPr lang="zh-CN" altLang="en-US" sz="1800" i="0" u="none" strike="noStrike" kern="100" baseline="0" dirty="0" smtClean="0">
                          <a:latin typeface="+mn-ea"/>
                          <a:ea typeface="+mn-ea"/>
                        </a:rPr>
                        <a:t>从房产税和地沟油看制度成本</a:t>
                      </a:r>
                      <a:endParaRPr lang="zh-CN" altLang="en-US" sz="1800" dirty="0" smtClean="0">
                        <a:latin typeface="+mn-ea"/>
                        <a:ea typeface="+mn-ea"/>
                      </a:endParaRPr>
                    </a:p>
                  </a:txBody>
                  <a:tcPr/>
                </a:tc>
                <a:tc>
                  <a:txBody>
                    <a:bodyPr/>
                    <a:lstStyle/>
                    <a:p>
                      <a:pPr algn="r"/>
                      <a:r>
                        <a:rPr lang="en-US" altLang="zh-CN" sz="1800" dirty="0" smtClean="0">
                          <a:latin typeface="+mn-ea"/>
                          <a:ea typeface="+mn-ea"/>
                        </a:rPr>
                        <a:t>28</a:t>
                      </a:r>
                      <a:endParaRPr lang="zh-CN" altLang="en-US" sz="1800" dirty="0">
                        <a:latin typeface="+mn-ea"/>
                        <a:ea typeface="+mn-ea"/>
                      </a:endParaRPr>
                    </a:p>
                  </a:txBody>
                  <a:tcPr/>
                </a:tc>
              </a:tr>
              <a:tr h="2319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⑼</a:t>
                      </a:r>
                      <a:r>
                        <a:rPr lang="zh-CN" altLang="en-US" sz="1800" i="0" u="none" strike="noStrike" kern="100" baseline="0" dirty="0" smtClean="0">
                          <a:latin typeface="+mn-ea"/>
                          <a:ea typeface="+mn-ea"/>
                        </a:rPr>
                        <a:t>民意需要公正来驯化</a:t>
                      </a:r>
                      <a:endParaRPr lang="zh-CN" altLang="en-US" sz="1800" dirty="0" smtClean="0">
                        <a:latin typeface="+mn-ea"/>
                        <a:ea typeface="+mn-ea"/>
                      </a:endParaRPr>
                    </a:p>
                  </a:txBody>
                  <a:tcPr/>
                </a:tc>
                <a:tc>
                  <a:txBody>
                    <a:bodyPr/>
                    <a:lstStyle/>
                    <a:p>
                      <a:pPr algn="r"/>
                      <a:r>
                        <a:rPr lang="en-US" altLang="zh-CN" sz="1800" dirty="0" smtClean="0">
                          <a:latin typeface="+mn-ea"/>
                          <a:ea typeface="+mn-ea"/>
                        </a:rPr>
                        <a:t>32</a:t>
                      </a:r>
                      <a:endParaRPr lang="zh-CN" altLang="en-US" sz="1800" dirty="0">
                        <a:latin typeface="+mn-ea"/>
                        <a:ea typeface="+mn-ea"/>
                      </a:endParaRPr>
                    </a:p>
                  </a:txBody>
                  <a:tcPr/>
                </a:tc>
              </a:tr>
              <a:tr h="2319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⑽</a:t>
                      </a:r>
                      <a:r>
                        <a:rPr lang="zh-CN" altLang="en-US" sz="1800" dirty="0" smtClean="0">
                          <a:latin typeface="+mn-ea"/>
                          <a:ea typeface="+mn-ea"/>
                        </a:rPr>
                        <a:t>反腐黑箱必被砸爆</a:t>
                      </a:r>
                    </a:p>
                  </a:txBody>
                  <a:tcPr/>
                </a:tc>
                <a:tc>
                  <a:txBody>
                    <a:bodyPr/>
                    <a:lstStyle/>
                    <a:p>
                      <a:pPr algn="r"/>
                      <a:r>
                        <a:rPr lang="en-US" altLang="zh-CN" sz="1800" dirty="0" smtClean="0">
                          <a:latin typeface="+mn-ea"/>
                          <a:ea typeface="+mn-ea"/>
                        </a:rPr>
                        <a:t>34</a:t>
                      </a:r>
                      <a:endParaRPr lang="zh-CN" altLang="en-US" sz="1800" dirty="0">
                        <a:latin typeface="+mn-ea"/>
                        <a:ea typeface="+mn-ea"/>
                      </a:endParaRPr>
                    </a:p>
                  </a:txBody>
                  <a:tcPr/>
                </a:tc>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1685569617"/>
              </p:ext>
            </p:extLst>
          </p:nvPr>
        </p:nvGraphicFramePr>
        <p:xfrm>
          <a:off x="8426449" y="1682747"/>
          <a:ext cx="3556001" cy="2346960"/>
        </p:xfrm>
        <a:graphic>
          <a:graphicData uri="http://schemas.openxmlformats.org/drawingml/2006/table">
            <a:tbl>
              <a:tblPr>
                <a:tableStyleId>{2D5ABB26-0587-4C30-8999-92F81FD0307C}</a:tableStyleId>
              </a:tblPr>
              <a:tblGrid>
                <a:gridCol w="3022601"/>
                <a:gridCol w="533400"/>
              </a:tblGrid>
              <a:tr h="300189">
                <a:tc gridSpan="2">
                  <a:txBody>
                    <a:bodyPr/>
                    <a:lstStyle/>
                    <a:p>
                      <a:pPr marL="0" algn="ctr" defTabSz="914400" rtl="0" eaLnBrk="1" latinLnBrk="0" hangingPunct="1"/>
                      <a:r>
                        <a:rPr lang="zh-CN" altLang="en-US" sz="2800" b="0" kern="1200" dirty="0" smtClean="0">
                          <a:solidFill>
                            <a:schemeClr val="accent6">
                              <a:lumMod val="75000"/>
                            </a:schemeClr>
                          </a:solidFill>
                          <a:latin typeface="+mj-ea"/>
                          <a:ea typeface="+mj-ea"/>
                          <a:cs typeface="+mn-cs"/>
                        </a:rPr>
                        <a:t>谈社会</a:t>
                      </a:r>
                      <a:endParaRPr lang="zh-CN" altLang="en-US" sz="2800" b="0" kern="1200" dirty="0">
                        <a:solidFill>
                          <a:schemeClr val="accent6">
                            <a:lumMod val="75000"/>
                          </a:schemeClr>
                        </a:solidFill>
                        <a:latin typeface="+mj-ea"/>
                        <a:ea typeface="+mj-ea"/>
                        <a:cs typeface="+mn-cs"/>
                      </a:endParaRPr>
                    </a:p>
                  </a:txBody>
                  <a:tcPr/>
                </a:tc>
                <a:tc hMerge="1">
                  <a:txBody>
                    <a:bodyPr/>
                    <a:lstStyle/>
                    <a:p>
                      <a:endParaRPr lang="zh-CN" altLang="en-US" dirty="0"/>
                    </a:p>
                  </a:txBody>
                  <a:tcPr/>
                </a:tc>
              </a:tr>
              <a:tr h="205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⑾</a:t>
                      </a:r>
                      <a:r>
                        <a:rPr lang="zh-CN" altLang="en-US" sz="1800" i="0" u="none" strike="noStrike" kern="100" baseline="0" dirty="0" smtClean="0">
                          <a:latin typeface="+mn-ea"/>
                          <a:ea typeface="+mn-ea"/>
                        </a:rPr>
                        <a:t>“治不好”的地域歧视</a:t>
                      </a:r>
                      <a:endParaRPr lang="zh-CN" altLang="en-US" sz="1800" dirty="0" smtClean="0">
                        <a:latin typeface="+mn-ea"/>
                        <a:ea typeface="+mn-ea"/>
                      </a:endParaRPr>
                    </a:p>
                  </a:txBody>
                  <a:tcPr/>
                </a:tc>
                <a:tc>
                  <a:txBody>
                    <a:bodyPr/>
                    <a:lstStyle/>
                    <a:p>
                      <a:pPr algn="r"/>
                      <a:r>
                        <a:rPr lang="en-US" altLang="zh-CN" sz="1800" dirty="0" smtClean="0">
                          <a:latin typeface="+mn-ea"/>
                          <a:ea typeface="+mn-ea"/>
                        </a:rPr>
                        <a:t>37</a:t>
                      </a:r>
                      <a:endParaRPr lang="zh-CN" altLang="en-US" sz="1800" dirty="0">
                        <a:latin typeface="+mn-ea"/>
                        <a:ea typeface="+mn-ea"/>
                      </a:endParaRPr>
                    </a:p>
                  </a:txBody>
                  <a:tcPr/>
                </a:tc>
              </a:tr>
              <a:tr h="205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⑿</a:t>
                      </a:r>
                      <a:r>
                        <a:rPr lang="zh-CN" altLang="en-US" sz="1800" i="0" u="none" strike="noStrike" kern="100" baseline="0" dirty="0" smtClean="0">
                          <a:latin typeface="+mn-ea"/>
                          <a:ea typeface="+mn-ea"/>
                        </a:rPr>
                        <a:t>慈善的善与恶</a:t>
                      </a:r>
                      <a:endParaRPr lang="zh-CN" altLang="en-US" sz="1800" dirty="0" smtClean="0">
                        <a:latin typeface="+mn-ea"/>
                        <a:ea typeface="+mn-ea"/>
                      </a:endParaRPr>
                    </a:p>
                  </a:txBody>
                  <a:tcPr/>
                </a:tc>
                <a:tc>
                  <a:txBody>
                    <a:bodyPr/>
                    <a:lstStyle/>
                    <a:p>
                      <a:pPr algn="r"/>
                      <a:r>
                        <a:rPr lang="en-US" altLang="zh-CN" sz="1800" dirty="0" smtClean="0">
                          <a:latin typeface="+mn-ea"/>
                          <a:ea typeface="+mn-ea"/>
                        </a:rPr>
                        <a:t>40</a:t>
                      </a:r>
                      <a:endParaRPr lang="zh-CN" altLang="en-US" sz="1800" dirty="0">
                        <a:latin typeface="+mn-ea"/>
                        <a:ea typeface="+mn-ea"/>
                      </a:endParaRPr>
                    </a:p>
                  </a:txBody>
                  <a:tcPr/>
                </a:tc>
              </a:tr>
              <a:tr h="205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⒀</a:t>
                      </a:r>
                      <a:r>
                        <a:rPr lang="zh-CN" altLang="en-US" sz="1800" i="0" u="none" strike="noStrike" kern="100" baseline="0" dirty="0" smtClean="0">
                          <a:latin typeface="+mn-ea"/>
                          <a:ea typeface="+mn-ea"/>
                        </a:rPr>
                        <a:t>权力之下无真相</a:t>
                      </a:r>
                      <a:endParaRPr lang="zh-CN" altLang="en-US" sz="1800" dirty="0" smtClean="0">
                        <a:latin typeface="+mn-ea"/>
                        <a:ea typeface="+mn-ea"/>
                      </a:endParaRPr>
                    </a:p>
                  </a:txBody>
                  <a:tcPr/>
                </a:tc>
                <a:tc>
                  <a:txBody>
                    <a:bodyPr/>
                    <a:lstStyle/>
                    <a:p>
                      <a:pPr algn="r"/>
                      <a:r>
                        <a:rPr lang="en-US" altLang="zh-CN" sz="1800" dirty="0" smtClean="0">
                          <a:latin typeface="+mn-ea"/>
                          <a:ea typeface="+mn-ea"/>
                        </a:rPr>
                        <a:t>44</a:t>
                      </a:r>
                      <a:endParaRPr lang="zh-CN" altLang="en-US" sz="1800" dirty="0">
                        <a:latin typeface="+mn-ea"/>
                        <a:ea typeface="+mn-ea"/>
                      </a:endParaRPr>
                    </a:p>
                  </a:txBody>
                  <a:tcPr/>
                </a:tc>
              </a:tr>
              <a:tr h="205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⒁</a:t>
                      </a:r>
                      <a:r>
                        <a:rPr lang="zh-CN" altLang="en-US" sz="1800" i="0" u="none" strike="noStrike" kern="100" baseline="0" dirty="0" smtClean="0">
                          <a:latin typeface="+mn-ea"/>
                          <a:ea typeface="+mn-ea"/>
                        </a:rPr>
                        <a:t>聊聊什么是社会主义</a:t>
                      </a:r>
                      <a:endParaRPr lang="zh-CN" altLang="en-US" sz="1800" dirty="0" smtClean="0">
                        <a:latin typeface="+mn-ea"/>
                        <a:ea typeface="+mn-ea"/>
                      </a:endParaRPr>
                    </a:p>
                  </a:txBody>
                  <a:tcPr/>
                </a:tc>
                <a:tc>
                  <a:txBody>
                    <a:bodyPr/>
                    <a:lstStyle/>
                    <a:p>
                      <a:pPr algn="r"/>
                      <a:r>
                        <a:rPr lang="en-US" altLang="zh-CN" sz="1800" dirty="0" smtClean="0">
                          <a:latin typeface="+mn-ea"/>
                          <a:ea typeface="+mn-ea"/>
                        </a:rPr>
                        <a:t>47</a:t>
                      </a:r>
                      <a:endParaRPr lang="zh-CN" altLang="en-US" sz="1800" dirty="0">
                        <a:latin typeface="+mn-ea"/>
                        <a:ea typeface="+mn-ea"/>
                      </a:endParaRPr>
                    </a:p>
                  </a:txBody>
                  <a:tcPr/>
                </a:tc>
              </a:tr>
              <a:tr h="20539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i="0" u="none" strike="noStrike" kern="100" baseline="0" dirty="0" smtClean="0">
                          <a:solidFill>
                            <a:srgbClr val="4E75A3"/>
                          </a:solidFill>
                          <a:latin typeface="+mn-ea"/>
                          <a:ea typeface="+mn-ea"/>
                          <a:cs typeface="+mn-cs"/>
                        </a:rPr>
                        <a:t>⒂</a:t>
                      </a:r>
                      <a:r>
                        <a:rPr lang="zh-CN" altLang="en-US" sz="1800" i="0" u="none" strike="noStrike" kern="100" baseline="0" dirty="0" smtClean="0">
                          <a:latin typeface="+mn-ea"/>
                          <a:ea typeface="+mn-ea"/>
                        </a:rPr>
                        <a:t>进化论其实是在否定进化</a:t>
                      </a:r>
                      <a:endParaRPr lang="zh-CN" altLang="en-US" sz="1800" dirty="0" smtClean="0">
                        <a:latin typeface="+mn-ea"/>
                        <a:ea typeface="+mn-ea"/>
                      </a:endParaRPr>
                    </a:p>
                  </a:txBody>
                  <a:tcPr/>
                </a:tc>
                <a:tc>
                  <a:txBody>
                    <a:bodyPr/>
                    <a:lstStyle/>
                    <a:p>
                      <a:pPr algn="r"/>
                      <a:r>
                        <a:rPr lang="en-US" altLang="zh-CN" sz="1800" dirty="0" smtClean="0">
                          <a:latin typeface="+mn-ea"/>
                          <a:ea typeface="+mn-ea"/>
                        </a:rPr>
                        <a:t>50</a:t>
                      </a:r>
                      <a:endParaRPr lang="zh-CN" altLang="en-US" sz="1800" dirty="0">
                        <a:latin typeface="+mn-ea"/>
                        <a:ea typeface="+mn-ea"/>
                      </a:endParaRPr>
                    </a:p>
                  </a:txBody>
                  <a:tcPr/>
                </a:tc>
              </a:tr>
            </a:tbl>
          </a:graphicData>
        </a:graphic>
      </p:graphicFrame>
      <p:cxnSp>
        <p:nvCxnSpPr>
          <p:cNvPr id="9" name="直接连接符​​ 20"/>
          <p:cNvCxnSpPr/>
          <p:nvPr/>
        </p:nvCxnSpPr>
        <p:spPr>
          <a:xfrm>
            <a:off x="3825420" y="1836738"/>
            <a:ext cx="0" cy="2340000"/>
          </a:xfrm>
          <a:prstGeom prst="line">
            <a:avLst/>
          </a:prstGeom>
          <a:ln w="28575">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22"/>
          <p:cNvCxnSpPr/>
          <p:nvPr/>
        </p:nvCxnSpPr>
        <p:spPr>
          <a:xfrm>
            <a:off x="8301038" y="1836738"/>
            <a:ext cx="0" cy="2340000"/>
          </a:xfrm>
          <a:prstGeom prst="line">
            <a:avLst/>
          </a:prstGeom>
          <a:ln w="28575">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4412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i="0" u="none" strike="noStrike" kern="100" baseline="0" dirty="0" smtClean="0"/>
              <a:t>末日启示：向死而生</a:t>
            </a:r>
          </a:p>
        </p:txBody>
      </p:sp>
      <p:sp>
        <p:nvSpPr>
          <p:cNvPr id="5" name="矩形 4"/>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2629261829"/>
      </p:ext>
    </p:extLst>
  </p:cSld>
  <p:clrMapOvr>
    <a:masterClrMapping/>
  </p:clrMapOvr>
  <p:transition spd="slow">
    <p:fade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lvl="0"/>
            <a:r>
              <a:rPr lang="zh-CN" altLang="en-US" sz="2800" b="0" i="0" u="none" strike="noStrike" kern="100" baseline="0" dirty="0" smtClean="0">
                <a:latin typeface="+mn-ea"/>
              </a:rPr>
              <a:t>古埃及的重</a:t>
            </a:r>
            <a:r>
              <a:rPr lang="en-US" altLang="zh-CN" sz="1800" kern="100" dirty="0">
                <a:latin typeface="+mn-ea"/>
              </a:rPr>
              <a:t>(</a:t>
            </a:r>
            <a:r>
              <a:rPr lang="en-US" altLang="zh-CN" sz="1800" kern="100" dirty="0" err="1">
                <a:latin typeface="+mn-ea"/>
              </a:rPr>
              <a:t>zhòng</a:t>
            </a:r>
            <a:r>
              <a:rPr lang="en-US" altLang="zh-CN" sz="1800" b="0" i="0" u="none" strike="noStrike" kern="100" baseline="0" dirty="0" smtClean="0">
                <a:latin typeface="+mn-ea"/>
              </a:rPr>
              <a:t>)</a:t>
            </a:r>
            <a:r>
              <a:rPr lang="zh-CN" altLang="en-US" sz="2800" b="0" i="0" u="none" strike="noStrike" kern="100" baseline="0" dirty="0" smtClean="0">
                <a:latin typeface="+mn-ea"/>
              </a:rPr>
              <a:t>死文明：为死后的世界去营造一个天国。</a:t>
            </a:r>
          </a:p>
          <a:p>
            <a:pPr marR="0" lvl="0" rtl="0"/>
            <a:r>
              <a:rPr lang="zh-CN" altLang="en-US" sz="2800" b="0" i="0" u="none" strike="noStrike" kern="100" baseline="0" dirty="0" smtClean="0">
                <a:latin typeface="+mn-ea"/>
              </a:rPr>
              <a:t>猜末日就是猜笨谜：命中注定的说法都是模棱两可，不可信。</a:t>
            </a:r>
          </a:p>
        </p:txBody>
      </p:sp>
      <p:sp>
        <p:nvSpPr>
          <p:cNvPr id="2" name="标题 1"/>
          <p:cNvSpPr>
            <a:spLocks noGrp="1"/>
          </p:cNvSpPr>
          <p:nvPr>
            <p:ph type="title"/>
          </p:nvPr>
        </p:nvSpPr>
        <p:spPr/>
        <p:txBody>
          <a:bodyPr>
            <a:normAutofit/>
          </a:bodyPr>
          <a:lstStyle/>
          <a:p>
            <a:pPr marR="0" rtl="0"/>
            <a:r>
              <a:rPr lang="zh-CN" altLang="en-US" b="0" i="0" u="none" strike="noStrike" kern="100" baseline="0" dirty="0" smtClean="0">
                <a:latin typeface="+mj-ea"/>
              </a:rPr>
              <a:t>问：末日何时来临？</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2800" b="0" i="0" u="none" strike="noStrike" kern="100" baseline="0" dirty="0" smtClean="0">
                <a:latin typeface="+mj-ea"/>
              </a:rPr>
              <a:t>有些文明对死亡抱有热切的渴望，我们算不出来什么时候会死。</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B5B01A26-8977-4727-AE84-79389053D48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a:t>
            </a:fld>
            <a:r>
              <a:rPr lang="zh-CN" altLang="en-US" smtClean="0"/>
              <a:t>页</a:t>
            </a:r>
            <a:endParaRPr lang="zh-CN" altLang="en-US" dirty="0"/>
          </a:p>
        </p:txBody>
      </p:sp>
    </p:spTree>
    <p:extLst>
      <p:ext uri="{BB962C8B-B14F-4D97-AF65-F5344CB8AC3E}">
        <p14:creationId xmlns:p14="http://schemas.microsoft.com/office/powerpoint/2010/main" val="16516815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我们有的时候忘了人是要死的，最后带着对父母、朋友和整个世界的遗憾离开。</a:t>
            </a:r>
          </a:p>
          <a:p>
            <a:pPr marR="0" lvl="0" rtl="0"/>
            <a:r>
              <a:rPr lang="zh-CN" altLang="en-US" sz="2400" b="0" i="0" u="none" strike="noStrike" kern="100" baseline="0" dirty="0" smtClean="0">
                <a:latin typeface="+mn-ea"/>
              </a:rPr>
              <a:t>人之将死，其言也善。不管是慈禧，路易十六，还是纳粹司令戈林。</a:t>
            </a:r>
          </a:p>
          <a:p>
            <a:pPr marR="0" lvl="0" rtl="0"/>
            <a:r>
              <a:rPr lang="zh-CN" altLang="en-US" sz="2400" b="0" i="0" u="none" strike="noStrike" kern="100" baseline="0" dirty="0" smtClean="0">
                <a:latin typeface="+mn-ea"/>
              </a:rPr>
              <a:t>人带着末日心态去活，和心中没有末日去活，会活出两种完全不同的境界。</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问：我们应该以怎样的境界活着？</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600" b="0" i="0" u="none" strike="noStrike" kern="100" baseline="0" dirty="0" smtClean="0">
                <a:latin typeface="+mj-ea"/>
              </a:rPr>
              <a:t>德国哲学家海德格尔</a:t>
            </a:r>
            <a:r>
              <a:rPr lang="zh-CN" altLang="en-US" sz="3600" kern="100" dirty="0">
                <a:latin typeface="+mj-ea"/>
              </a:rPr>
              <a:t>说</a:t>
            </a:r>
            <a:r>
              <a:rPr lang="zh-CN" altLang="en-US" sz="3600" b="0" i="0" u="none" strike="noStrike" kern="100" baseline="0" dirty="0" smtClean="0">
                <a:latin typeface="+mj-ea"/>
              </a:rPr>
              <a:t>：向死而生。</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AA6A047A-185E-44D5-9192-A98A6F747FE0}"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5</a:t>
            </a:fld>
            <a:r>
              <a:rPr lang="zh-CN" altLang="en-US" smtClean="0"/>
              <a:t>页</a:t>
            </a:r>
            <a:endParaRPr lang="zh-CN" altLang="en-US" dirty="0"/>
          </a:p>
        </p:txBody>
      </p:sp>
    </p:spTree>
    <p:extLst>
      <p:ext uri="{BB962C8B-B14F-4D97-AF65-F5344CB8AC3E}">
        <p14:creationId xmlns:p14="http://schemas.microsoft.com/office/powerpoint/2010/main" val="156415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外星人很可能忙着打游戏而忘记了开拓，大脑追求内在的虚拟体验带来的成就感。</a:t>
            </a:r>
          </a:p>
          <a:p>
            <a:pPr marR="0" lvl="0" rtl="0"/>
            <a:r>
              <a:rPr lang="zh-CN" altLang="en-US" sz="2400" b="0" i="0" u="none" strike="noStrike" kern="100" baseline="0" dirty="0" smtClean="0">
                <a:latin typeface="+mn-ea"/>
              </a:rPr>
              <a:t>为了人类的向死而生，好好活，做有意义的事。</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问：人类会以什么方式灭亡？</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可能会灭亡于电子游戏</a:t>
            </a:r>
            <a:r>
              <a:rPr lang="en-US" altLang="zh-CN" sz="3200" b="0" i="0" u="none" strike="noStrike" kern="100" baseline="0" dirty="0" smtClean="0">
                <a:latin typeface="+mj-ea"/>
              </a:rPr>
              <a:t>——</a:t>
            </a:r>
            <a:r>
              <a:rPr lang="zh-CN" altLang="en-US" sz="3200" b="0" i="0" u="none" strike="noStrike" kern="100" baseline="0" dirty="0" smtClean="0">
                <a:latin typeface="+mj-ea"/>
              </a:rPr>
              <a:t>很丢人的方式。</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E0756E25-3FB5-402B-9690-7371408974CF}"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6</a:t>
            </a:fld>
            <a:r>
              <a:rPr lang="zh-CN" altLang="en-US" smtClean="0"/>
              <a:t>页</a:t>
            </a:r>
            <a:endParaRPr lang="zh-CN" altLang="en-US" dirty="0"/>
          </a:p>
        </p:txBody>
      </p:sp>
    </p:spTree>
    <p:extLst>
      <p:ext uri="{BB962C8B-B14F-4D97-AF65-F5344CB8AC3E}">
        <p14:creationId xmlns:p14="http://schemas.microsoft.com/office/powerpoint/2010/main" val="1688815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拒绝逃离北上广</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2</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2846858394"/>
      </p:ext>
    </p:extLst>
  </p:cSld>
  <p:clrMapOvr>
    <a:masterClrMapping/>
  </p:clrMapOvr>
  <p:transition spd="slow">
    <p:fade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追求财富：工业文明的财富和农耕文明的财富形态不一样，单靠勤劳不够。</a:t>
            </a:r>
          </a:p>
          <a:p>
            <a:pPr marR="0" lvl="0" rtl="0"/>
            <a:r>
              <a:rPr lang="zh-CN" altLang="en-US" sz="2400" b="0" i="0" u="none" strike="noStrike" kern="100" baseline="0" dirty="0" smtClean="0">
                <a:latin typeface="+mn-ea"/>
              </a:rPr>
              <a:t>非延时沟通：</a:t>
            </a:r>
            <a:r>
              <a:rPr lang="en-US" altLang="zh-CN" sz="2400" b="0" i="0" u="none" strike="noStrike" kern="100" baseline="0" dirty="0" smtClean="0">
                <a:latin typeface="+mn-ea"/>
              </a:rPr>
              <a:t>1/8</a:t>
            </a:r>
            <a:r>
              <a:rPr lang="zh-CN" altLang="en-US" sz="2400" b="0" i="0" u="none" strike="noStrike" kern="100" baseline="0" dirty="0" smtClean="0">
                <a:latin typeface="+mn-ea"/>
              </a:rPr>
              <a:t>秒延时会让所有精细的体验合作崩溃掉，财富也不会发生。</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华康俪金黑W8(P)" panose="020B0800000000000000" pitchFamily="34" charset="-122"/>
                <a:ea typeface="华康俪金黑W8(P)" panose="020B0800000000000000" pitchFamily="34" charset="-122"/>
              </a:rPr>
              <a:t>问</a:t>
            </a:r>
            <a:r>
              <a:rPr lang="zh-CN" altLang="en-US" b="0" i="0" u="none" strike="noStrike" kern="100" baseline="0" dirty="0" smtClean="0">
                <a:latin typeface="华康俪金黑W8(P)" panose="020B0800000000000000" pitchFamily="34" charset="-122"/>
                <a:ea typeface="华康俪金黑W8(P)" panose="020B0800000000000000" pitchFamily="34" charset="-122"/>
              </a:rPr>
              <a:t>：逃离北上广的年轻人又回来了，这是为什么？</a:t>
            </a:r>
            <a:r>
              <a:rPr lang="en-US" altLang="zh-CN" b="0" i="0" u="none" strike="noStrike" kern="100" baseline="0" dirty="0" smtClean="0">
                <a:latin typeface="华康俪金黑W8(P)" panose="020B0800000000000000" pitchFamily="34" charset="-122"/>
                <a:ea typeface="华康俪金黑W8(P)" panose="020B0800000000000000" pitchFamily="34" charset="-122"/>
              </a:rPr>
              <a:t/>
            </a:r>
            <a:br>
              <a:rPr lang="en-US" altLang="zh-CN" b="0" i="0" u="none" strike="noStrike" kern="100" baseline="0" dirty="0" smtClean="0">
                <a:latin typeface="华康俪金黑W8(P)" panose="020B0800000000000000" pitchFamily="34" charset="-122"/>
                <a:ea typeface="华康俪金黑W8(P)" panose="020B0800000000000000" pitchFamily="34" charset="-122"/>
              </a:rPr>
            </a:br>
            <a:r>
              <a:rPr lang="zh-CN" altLang="en-US" sz="4900" b="0" i="0" u="none" strike="noStrike" kern="100" baseline="0" dirty="0" smtClean="0">
                <a:latin typeface="华康俪金黑W8(P)" panose="020B0800000000000000" pitchFamily="34" charset="-122"/>
                <a:ea typeface="华康俪金黑W8(P)" panose="020B0800000000000000" pitchFamily="34" charset="-122"/>
              </a:rPr>
              <a:t>答</a:t>
            </a:r>
            <a:r>
              <a:rPr lang="zh-CN" altLang="en-US" b="0" i="0" u="none" strike="noStrike" kern="100" baseline="0" dirty="0" smtClean="0">
                <a:latin typeface="华康俪金黑W8(P)" panose="020B0800000000000000" pitchFamily="34" charset="-122"/>
                <a:ea typeface="华康俪金黑W8(P)" panose="020B0800000000000000" pitchFamily="34" charset="-122"/>
              </a:rPr>
              <a:t>：</a:t>
            </a:r>
            <a:r>
              <a:rPr lang="zh-CN" altLang="en-US" sz="3100" b="0" i="0" u="none" strike="noStrike" kern="100" baseline="0" dirty="0" smtClean="0">
                <a:latin typeface="华康俪金黑W8(P)" panose="020B0800000000000000" pitchFamily="34" charset="-122"/>
                <a:ea typeface="华康俪金黑W8(P)" panose="020B0800000000000000" pitchFamily="34" charset="-122"/>
              </a:rPr>
              <a:t>财富是聚集的产物，城市化就意味着陌生人的大规模肉身聚集。</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348894B1-BF2C-4367-A5FB-4AE08F83DC8F}"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8</a:t>
            </a:fld>
            <a:r>
              <a:rPr lang="zh-CN" altLang="en-US" smtClean="0"/>
              <a:t>页</a:t>
            </a:r>
            <a:endParaRPr lang="zh-CN" altLang="en-US" dirty="0"/>
          </a:p>
        </p:txBody>
      </p:sp>
    </p:spTree>
    <p:extLst>
      <p:ext uri="{BB962C8B-B14F-4D97-AF65-F5344CB8AC3E}">
        <p14:creationId xmlns:p14="http://schemas.microsoft.com/office/powerpoint/2010/main" val="5411692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宋江爱带燕青和柴进出门，因为他们有见识。燕青混歌馆酒楼，柴进是皇族后裔。</a:t>
            </a:r>
          </a:p>
          <a:p>
            <a:pPr marR="0" lvl="0" rtl="0"/>
            <a:r>
              <a:rPr lang="zh-CN" altLang="en-US" sz="2400" b="0" i="0" u="none" strike="noStrike" kern="100" baseline="0" dirty="0" smtClean="0">
                <a:latin typeface="+mn-ea"/>
              </a:rPr>
              <a:t>民间有很多因为缺少见识闹出的笑话，见识贫乏对人的成长有妨碍。</a:t>
            </a:r>
          </a:p>
          <a:p>
            <a:pPr marR="0" lvl="0" rtl="0"/>
            <a:r>
              <a:rPr lang="zh-CN" altLang="en-US" sz="2400" b="0" i="0" u="none" strike="noStrike" kern="100" baseline="0" dirty="0" smtClean="0">
                <a:latin typeface="+mn-ea"/>
              </a:rPr>
              <a:t>乡村或者小镇并非没有天才，而是天才也许永远没有办法知道自己是天才。</a:t>
            </a:r>
          </a:p>
        </p:txBody>
      </p:sp>
      <p:sp>
        <p:nvSpPr>
          <p:cNvPr id="2" name="标题 1"/>
          <p:cNvSpPr>
            <a:spLocks noGrp="1"/>
          </p:cNvSpPr>
          <p:nvPr>
            <p:ph type="title"/>
          </p:nvPr>
        </p:nvSpPr>
        <p:spPr/>
        <p:txBody>
          <a:bodyPr>
            <a:normAutofit/>
          </a:bodyPr>
          <a:lstStyle/>
          <a:p>
            <a:pPr marR="0" rtl="0"/>
            <a:r>
              <a:rPr lang="zh-CN" altLang="en-US" b="0" i="0" u="none" strike="noStrike" kern="100" baseline="0" dirty="0" smtClean="0">
                <a:latin typeface="+mj-ea"/>
              </a:rPr>
              <a:t>问：除了挣钱，给我个在大城市生活的理由？</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长见识，从而发现自己的天才之处。</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1DE21E5B-337E-47CD-B03D-F7CEE1FD83B0}"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9</a:t>
            </a:fld>
            <a:r>
              <a:rPr lang="zh-CN" altLang="en-US" smtClean="0"/>
              <a:t>页</a:t>
            </a:r>
            <a:endParaRPr lang="zh-CN" altLang="en-US" dirty="0"/>
          </a:p>
        </p:txBody>
      </p:sp>
    </p:spTree>
    <p:extLst>
      <p:ext uri="{BB962C8B-B14F-4D97-AF65-F5344CB8AC3E}">
        <p14:creationId xmlns:p14="http://schemas.microsoft.com/office/powerpoint/2010/main" val="3261363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不可替代：大城市的聚集效应不是互联网或者其他的人类协作方式可以替代得了的。</a:t>
            </a:r>
          </a:p>
          <a:p>
            <a:pPr marR="0" lvl="0" rtl="0"/>
            <a:r>
              <a:rPr lang="zh-CN" altLang="en-US" sz="2400" b="0" i="0" u="none" strike="noStrike" kern="100" baseline="0" dirty="0" smtClean="0">
                <a:latin typeface="+mn-ea"/>
              </a:rPr>
              <a:t>迫不得已：个人被嵌入到城市的大系统但中，已经无法抽离。</a:t>
            </a:r>
          </a:p>
          <a:p>
            <a:pPr marR="0" lvl="0" rtl="0"/>
            <a:r>
              <a:rPr lang="zh-CN" altLang="en-US" sz="2400" b="0" i="0" u="none" strike="noStrike" kern="100" baseline="0" dirty="0" smtClean="0">
                <a:latin typeface="+mn-ea"/>
              </a:rPr>
              <a:t>死活赖着：经济文化产业的爆发需要大城市聚集，一旦离开便会跟社会系统脱节。</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问：中国城市化的未来在哪里？</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大城市的超大规模聚集也许是一个规律。</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054511D7-C047-4129-9E69-A5D73CE8D8BB}"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10</a:t>
            </a:fld>
            <a:r>
              <a:rPr lang="zh-CN" altLang="en-US" smtClean="0"/>
              <a:t>页</a:t>
            </a:r>
            <a:endParaRPr lang="zh-CN" altLang="en-US" dirty="0"/>
          </a:p>
        </p:txBody>
      </p:sp>
    </p:spTree>
    <p:extLst>
      <p:ext uri="{BB962C8B-B14F-4D97-AF65-F5344CB8AC3E}">
        <p14:creationId xmlns:p14="http://schemas.microsoft.com/office/powerpoint/2010/main" val="1844895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夹缝中的</a:t>
            </a:r>
            <a:r>
              <a:rPr lang="en-US" altLang="zh-CN" i="0" u="none" strike="noStrike" kern="100" baseline="0" dirty="0" smtClean="0"/>
              <a:t>80</a:t>
            </a:r>
            <a:r>
              <a:rPr lang="zh-CN" altLang="en-US" i="0" u="none" strike="noStrike" kern="100" baseline="0" dirty="0" smtClean="0"/>
              <a:t>后</a:t>
            </a:r>
            <a:r>
              <a:rPr lang="en-US" altLang="zh-CN" i="0" u="none" strike="noStrike" kern="100" baseline="0" dirty="0" smtClean="0"/>
              <a:t>U</a:t>
            </a:r>
            <a:r>
              <a:rPr lang="zh-CN" altLang="en-US" i="0" u="none" strike="noStrike" kern="100" baseline="0" dirty="0" smtClean="0"/>
              <a:t>盘化生存</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3</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239934233"/>
      </p:ext>
    </p:extLst>
  </p:cSld>
  <p:clrMapOvr>
    <a:masterClrMapping/>
  </p:clrMapOvr>
  <p:transition spd="slow">
    <p:fade thruBlk="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en-US" altLang="zh-CN" sz="2800" b="0" i="0" u="none" strike="noStrike" kern="100" baseline="0" dirty="0" smtClean="0">
                <a:latin typeface="Times New Roman" panose="02020603050405020304" pitchFamily="18" charset="0"/>
                <a:ea typeface="华文细黑" panose="02010600040101010101" pitchFamily="2" charset="-122"/>
              </a:rPr>
              <a:t>70</a:t>
            </a:r>
            <a:r>
              <a:rPr lang="zh-CN" altLang="en-US" sz="2800" b="0" i="0" u="none" strike="noStrike" kern="100" baseline="0" dirty="0" smtClean="0">
                <a:latin typeface="Times New Roman" panose="02020603050405020304" pitchFamily="18" charset="0"/>
                <a:ea typeface="华文细黑" panose="02010600040101010101" pitchFamily="2" charset="-122"/>
              </a:rPr>
              <a:t>后赶上了互联网爆发的第一个时代，</a:t>
            </a:r>
            <a:r>
              <a:rPr lang="en-US" altLang="zh-CN" sz="2800" b="0" i="0" u="none" strike="noStrike" kern="100" baseline="0" dirty="0" smtClean="0">
                <a:latin typeface="Times New Roman" panose="02020603050405020304" pitchFamily="18" charset="0"/>
                <a:ea typeface="华文细黑" panose="02010600040101010101" pitchFamily="2" charset="-122"/>
              </a:rPr>
              <a:t>90</a:t>
            </a:r>
            <a:r>
              <a:rPr lang="zh-CN" altLang="en-US" sz="2800" b="0" i="0" u="none" strike="noStrike" kern="100" baseline="0" dirty="0" smtClean="0">
                <a:latin typeface="Times New Roman" panose="02020603050405020304" pitchFamily="18" charset="0"/>
                <a:ea typeface="华文细黑" panose="02010600040101010101" pitchFamily="2" charset="-122"/>
              </a:rPr>
              <a:t>后是数字时代的原著民。</a:t>
            </a:r>
          </a:p>
          <a:p>
            <a:pPr marR="0" lvl="0" rtl="0"/>
            <a:r>
              <a:rPr lang="en-US" altLang="zh-CN" sz="2800" b="0" i="0" u="none" strike="noStrike" kern="100" baseline="0" dirty="0" smtClean="0">
                <a:latin typeface="Times New Roman" panose="02020603050405020304" pitchFamily="18" charset="0"/>
                <a:ea typeface="华文细黑" panose="02010600040101010101" pitchFamily="2" charset="-122"/>
              </a:rPr>
              <a:t>70</a:t>
            </a:r>
            <a:r>
              <a:rPr lang="zh-CN" altLang="en-US" sz="2800" b="0" i="0" u="none" strike="noStrike" kern="100" baseline="0" dirty="0" smtClean="0">
                <a:latin typeface="Times New Roman" panose="02020603050405020304" pitchFamily="18" charset="0"/>
                <a:ea typeface="华文细黑" panose="02010600040101010101" pitchFamily="2" charset="-122"/>
              </a:rPr>
              <a:t>后赶上了财富大爆发的时机，</a:t>
            </a:r>
            <a:r>
              <a:rPr lang="en-US" altLang="zh-CN" sz="2800" b="0" i="0" u="none" strike="noStrike" kern="100" baseline="0" dirty="0" smtClean="0">
                <a:latin typeface="Times New Roman" panose="02020603050405020304" pitchFamily="18" charset="0"/>
                <a:ea typeface="华文细黑" panose="02010600040101010101" pitchFamily="2" charset="-122"/>
              </a:rPr>
              <a:t>80</a:t>
            </a:r>
            <a:r>
              <a:rPr lang="zh-CN" altLang="en-US" sz="2800" b="0" i="0" u="none" strike="noStrike" kern="100" baseline="0" dirty="0" smtClean="0">
                <a:latin typeface="Times New Roman" panose="02020603050405020304" pitchFamily="18" charset="0"/>
                <a:ea typeface="华文细黑" panose="02010600040101010101" pitchFamily="2" charset="-122"/>
              </a:rPr>
              <a:t>后只能对这条财富鸿沟望洋兴叹。</a:t>
            </a:r>
          </a:p>
          <a:p>
            <a:pPr marR="0" lvl="0" rtl="0"/>
            <a:r>
              <a:rPr lang="zh-CN" altLang="en-US" sz="2800" b="0" i="0" u="none" strike="noStrike" kern="100" baseline="0" dirty="0" smtClean="0">
                <a:latin typeface="Times New Roman" panose="02020603050405020304" pitchFamily="18" charset="0"/>
                <a:ea typeface="华文细黑" panose="02010600040101010101" pitchFamily="2" charset="-122"/>
              </a:rPr>
              <a:t>夹缝一代需要面对一场有可能很悲催的人生。</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en-US" altLang="zh-CN" b="0" i="0" u="none" strike="noStrike" kern="100" baseline="0" dirty="0" smtClean="0">
                <a:latin typeface="+mj-ea"/>
              </a:rPr>
              <a:t>80</a:t>
            </a:r>
            <a:r>
              <a:rPr lang="zh-CN" altLang="en-US" b="0" i="0" u="none" strike="noStrike" kern="100" baseline="0" dirty="0" smtClean="0">
                <a:latin typeface="+mj-ea"/>
              </a:rPr>
              <a:t>后群体在互联网时代是个什么样的地位？</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3100" b="0" i="0" u="none" strike="noStrike" kern="100" baseline="0" dirty="0" smtClean="0">
                <a:latin typeface="+mj-ea"/>
              </a:rPr>
              <a:t>处于两代人的夹缝中，是数字时代的移民，尴尬地跨越数字鸿沟。</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D96FE545-5BF3-41B8-8479-78D1BB019958}"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12</a:t>
            </a:fld>
            <a:r>
              <a:rPr lang="zh-CN" altLang="en-US" smtClean="0"/>
              <a:t>页</a:t>
            </a:r>
            <a:endParaRPr lang="zh-CN" altLang="en-US" dirty="0"/>
          </a:p>
        </p:txBody>
      </p:sp>
    </p:spTree>
    <p:extLst>
      <p:ext uri="{BB962C8B-B14F-4D97-AF65-F5344CB8AC3E}">
        <p14:creationId xmlns:p14="http://schemas.microsoft.com/office/powerpoint/2010/main" val="2289258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十六字口号：自带信息，不装系统，随时插拔，自由协作。</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在一个组织内部衡量个人价值的尺度是领导，而作为手艺人，价值由市场来评价。</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技能像</a:t>
            </a:r>
            <a:r>
              <a:rPr lang="en-US" altLang="zh-CN" sz="2400" b="0" i="0" u="none" strike="noStrike" kern="100" baseline="0" dirty="0" smtClean="0">
                <a:latin typeface="Times New Roman" panose="02020603050405020304" pitchFamily="18" charset="0"/>
                <a:ea typeface="华文细黑" panose="02010600040101010101" pitchFamily="2" charset="-122"/>
              </a:rPr>
              <a:t>U</a:t>
            </a:r>
            <a:r>
              <a:rPr lang="zh-CN" altLang="en-US" sz="2400" b="0" i="0" u="none" strike="noStrike" kern="100" baseline="0" dirty="0" smtClean="0">
                <a:latin typeface="Times New Roman" panose="02020603050405020304" pitchFamily="18" charset="0"/>
                <a:ea typeface="华文细黑" panose="02010600040101010101" pitchFamily="2" charset="-122"/>
              </a:rPr>
              <a:t>盘，有一个独特的社会节点的价值，插到哪儿都可以运作。</a:t>
            </a:r>
          </a:p>
          <a:p>
            <a:r>
              <a:rPr lang="zh-CN" altLang="en-US" sz="2400" kern="100" dirty="0">
                <a:latin typeface="Times New Roman" panose="02020603050405020304" pitchFamily="18" charset="0"/>
                <a:ea typeface="华文细黑" panose="02010600040101010101" pitchFamily="2" charset="-122"/>
              </a:rPr>
              <a:t>历史记住的，往往只是一门</a:t>
            </a:r>
            <a:r>
              <a:rPr lang="zh-CN" altLang="en-US" sz="2400" kern="100" dirty="0" smtClean="0">
                <a:latin typeface="Times New Roman" panose="02020603050405020304" pitchFamily="18" charset="0"/>
                <a:ea typeface="华文细黑" panose="02010600040101010101" pitchFamily="2" charset="-122"/>
              </a:rPr>
              <a:t>手艺，请</a:t>
            </a:r>
            <a:r>
              <a:rPr lang="zh-CN" altLang="en-US" sz="2400" b="0" i="0" u="none" strike="noStrike" kern="100" baseline="0" dirty="0" smtClean="0">
                <a:latin typeface="Times New Roman" panose="02020603050405020304" pitchFamily="18" charset="0"/>
                <a:ea typeface="华文细黑" panose="02010600040101010101" pitchFamily="2" charset="-122"/>
              </a:rPr>
              <a:t>以手艺人的精神和这个社会进行协作。</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a:t>
            </a:r>
            <a:r>
              <a:rPr lang="zh-CN" altLang="en-US" sz="3200" b="0" i="0" u="none" strike="noStrike" kern="100" baseline="0" dirty="0" smtClean="0">
                <a:latin typeface="+mj-ea"/>
              </a:rPr>
              <a:t>：我们这一代人怎么破解这个时代难题，过上更美好的人生？</a:t>
            </a:r>
            <a:r>
              <a:rPr lang="en-US" altLang="zh-CN" sz="3200" b="0" i="0" u="none" strike="noStrike" kern="100" baseline="0" dirty="0" smtClean="0">
                <a:latin typeface="+mj-ea"/>
              </a:rPr>
              <a:t/>
            </a:r>
            <a:br>
              <a:rPr lang="en-US" altLang="zh-CN" sz="3200"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a:t>
            </a:r>
            <a:r>
              <a:rPr lang="en-US" altLang="zh-CN" b="0" i="0" u="none" strike="noStrike" kern="100" baseline="0" dirty="0" smtClean="0">
                <a:latin typeface="+mj-ea"/>
              </a:rPr>
              <a:t>U</a:t>
            </a:r>
            <a:r>
              <a:rPr lang="zh-CN" altLang="en-US" b="0" i="0" u="none" strike="noStrike" kern="100" baseline="0" dirty="0" smtClean="0">
                <a:latin typeface="+mj-ea"/>
              </a:rPr>
              <a:t>盘化生存。</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E89F96C7-C2E6-4B84-BBDA-E144A7956B99}"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13</a:t>
            </a:fld>
            <a:r>
              <a:rPr lang="zh-CN" altLang="en-US" smtClean="0"/>
              <a:t>页</a:t>
            </a:r>
            <a:endParaRPr lang="zh-CN" altLang="en-US" dirty="0"/>
          </a:p>
        </p:txBody>
      </p:sp>
    </p:spTree>
    <p:extLst>
      <p:ext uri="{BB962C8B-B14F-4D97-AF65-F5344CB8AC3E}">
        <p14:creationId xmlns:p14="http://schemas.microsoft.com/office/powerpoint/2010/main" val="6174047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有信心：任何组织内都可以诞生手艺人， 诞生专业主义者。</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有思想：切换思维，当自己已经是一个工作室了，只需要对自己的价值成长负责。</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2800" b="0" i="0" u="none" strike="noStrike" kern="100" baseline="0" dirty="0" smtClean="0">
                <a:latin typeface="+mj-ea"/>
              </a:rPr>
              <a:t>：由于种种原因，我不能脱离组织成为自由职业者，难道就没救了吗？</a:t>
            </a:r>
            <a:r>
              <a:rPr lang="en-US" altLang="zh-CN" sz="2800" b="0" i="0" u="none" strike="noStrike" kern="100" baseline="0" dirty="0" smtClean="0">
                <a:latin typeface="+mj-ea"/>
              </a:rPr>
              <a:t/>
            </a:r>
            <a:br>
              <a:rPr lang="en-US" altLang="zh-CN" sz="2800" b="0" i="0" u="none" strike="noStrike" kern="100" baseline="0" dirty="0" smtClean="0">
                <a:latin typeface="+mj-ea"/>
              </a:rPr>
            </a:br>
            <a:r>
              <a:rPr lang="zh-CN" altLang="en-US" b="0" i="0" u="none" strike="noStrike" kern="100" baseline="0" dirty="0" smtClean="0">
                <a:latin typeface="+mj-ea"/>
              </a:rPr>
              <a:t>答</a:t>
            </a:r>
            <a:r>
              <a:rPr lang="zh-CN" altLang="en-US" sz="2800" b="0" i="0" u="none" strike="noStrike" kern="100" baseline="0" dirty="0" smtClean="0">
                <a:latin typeface="+mj-ea"/>
              </a:rPr>
              <a:t>：穿越成</a:t>
            </a:r>
            <a:r>
              <a:rPr lang="en-US" altLang="zh-CN" sz="2800" b="0" i="0" u="none" strike="noStrike" kern="100" baseline="0" dirty="0" smtClean="0">
                <a:latin typeface="+mj-ea"/>
              </a:rPr>
              <a:t>70</a:t>
            </a:r>
            <a:r>
              <a:rPr lang="zh-CN" altLang="en-US" sz="2800" b="0" i="0" u="none" strike="noStrike" kern="100" baseline="0" dirty="0" smtClean="0">
                <a:latin typeface="+mj-ea"/>
              </a:rPr>
              <a:t>后或者</a:t>
            </a:r>
            <a:r>
              <a:rPr lang="en-US" altLang="zh-CN" sz="2800" b="0" i="0" u="none" strike="noStrike" kern="100" baseline="0" dirty="0" smtClean="0">
                <a:latin typeface="+mj-ea"/>
              </a:rPr>
              <a:t>90</a:t>
            </a:r>
            <a:r>
              <a:rPr lang="zh-CN" altLang="en-US" sz="2800" b="0" i="0" u="none" strike="noStrike" kern="100" baseline="0" dirty="0" smtClean="0">
                <a:latin typeface="+mj-ea"/>
              </a:rPr>
              <a:t>后的状态，或者在组织内以</a:t>
            </a:r>
            <a:r>
              <a:rPr lang="en-US" altLang="zh-CN" sz="2800" b="0" i="0" u="none" strike="noStrike" kern="100" baseline="0" dirty="0" smtClean="0">
                <a:latin typeface="+mj-ea"/>
              </a:rPr>
              <a:t>U</a:t>
            </a:r>
            <a:r>
              <a:rPr lang="zh-CN" altLang="en-US" sz="2800" b="0" i="0" u="none" strike="noStrike" kern="100" baseline="0" dirty="0" smtClean="0">
                <a:latin typeface="+mj-ea"/>
              </a:rPr>
              <a:t>盘化的方式生存。</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369237D7-5C69-4739-9854-CF4D2008E0F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14</a:t>
            </a:fld>
            <a:r>
              <a:rPr lang="zh-CN" altLang="en-US" smtClean="0"/>
              <a:t>页</a:t>
            </a:r>
            <a:endParaRPr lang="zh-CN" altLang="en-US" dirty="0"/>
          </a:p>
        </p:txBody>
      </p:sp>
    </p:spTree>
    <p:extLst>
      <p:ext uri="{BB962C8B-B14F-4D97-AF65-F5344CB8AC3E}">
        <p14:creationId xmlns:p14="http://schemas.microsoft.com/office/powerpoint/2010/main" val="1399197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成名需要付出代价</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4</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3557326887"/>
      </p:ext>
    </p:extLst>
  </p:cSld>
  <p:clrMapOvr>
    <a:masterClrMapping/>
  </p:clrMapOvr>
  <p:transition spd="slow">
    <p:fade thruBlk="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代价一：你被众人用想象力抛离了人群，你的道德底线就是普通人的道德上限。</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代价二：你根本不知道你的名伤害了谁，即使你广结善缘，也难保没有祸患。</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2700" b="0" i="0" u="none" strike="noStrike" kern="100" baseline="0" dirty="0" smtClean="0">
                <a:latin typeface="+mj-ea"/>
              </a:rPr>
              <a:t>有些明星辩解说：我也是个普通人，希望公众放过他</a:t>
            </a:r>
            <a:r>
              <a:rPr lang="en-US" altLang="zh-CN" sz="2700" b="0" i="0" u="none" strike="noStrike" kern="100" baseline="0" dirty="0" smtClean="0">
                <a:latin typeface="+mj-ea"/>
              </a:rPr>
              <a:t>——</a:t>
            </a:r>
            <a:r>
              <a:rPr lang="zh-CN" altLang="en-US" sz="2700" b="0" i="0" u="none" strike="noStrike" kern="100" baseline="0" dirty="0" smtClean="0">
                <a:latin typeface="+mj-ea"/>
              </a:rPr>
              <a:t>真的可以放过吗？</a:t>
            </a:r>
            <a:r>
              <a:rPr lang="en-US" altLang="zh-CN" sz="2700" b="0" i="0" u="none" strike="noStrike" kern="100" baseline="0" dirty="0" smtClean="0">
                <a:latin typeface="+mj-ea"/>
              </a:rPr>
              <a:t/>
            </a:r>
            <a:br>
              <a:rPr lang="en-US" altLang="zh-CN" sz="2700"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3100" b="0" i="0" u="none" strike="noStrike" kern="100" baseline="0" dirty="0" smtClean="0">
                <a:latin typeface="+mj-ea"/>
              </a:rPr>
              <a:t>成名了就要接受成名的代价，至于你能不能接受，阿弥陀佛。</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FFBD7CB0-30BF-45B8-8F2E-318F3A60E56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16</a:t>
            </a:fld>
            <a:r>
              <a:rPr lang="zh-CN" altLang="en-US" smtClean="0"/>
              <a:t>页</a:t>
            </a:r>
            <a:endParaRPr lang="zh-CN" altLang="en-US" dirty="0"/>
          </a:p>
        </p:txBody>
      </p:sp>
    </p:spTree>
    <p:extLst>
      <p:ext uri="{BB962C8B-B14F-4D97-AF65-F5344CB8AC3E}">
        <p14:creationId xmlns:p14="http://schemas.microsoft.com/office/powerpoint/2010/main" val="2397622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互联网时代，安稳感不再存在，我们需要面对的是整个汪洋大海。</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互联网时代，没有时空前提，你是面对千秋万世，面对所有人表演和说话。</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互联网时代，会有一种天道的力量把那些过度冒尖的东西割掉。</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3100" b="0" i="0" u="none" strike="noStrike" kern="100" baseline="0" dirty="0" smtClean="0">
                <a:latin typeface="+mj-ea"/>
              </a:rPr>
              <a:t>看看各种新闻就知道，互联网时代成恶名很容易，我该怎么办？</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2700" b="0" i="0" u="none" strike="noStrike" kern="100" baseline="0" dirty="0" smtClean="0">
                <a:latin typeface="+mj-ea"/>
              </a:rPr>
              <a:t>有一点点警惕，最重要的还是活得真实，至于会不会成名，随他去吧。</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C1AF7F8E-B383-4160-8D8B-ED727C2C93B6}"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17</a:t>
            </a:fld>
            <a:r>
              <a:rPr lang="zh-CN" altLang="en-US" smtClean="0"/>
              <a:t>页</a:t>
            </a:r>
            <a:endParaRPr lang="zh-CN" altLang="en-US" dirty="0"/>
          </a:p>
        </p:txBody>
      </p:sp>
    </p:spTree>
    <p:extLst>
      <p:ext uri="{BB962C8B-B14F-4D97-AF65-F5344CB8AC3E}">
        <p14:creationId xmlns:p14="http://schemas.microsoft.com/office/powerpoint/2010/main" val="419716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剩女也有光荣与梦想</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5</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586860665"/>
      </p:ext>
    </p:extLst>
  </p:cSld>
  <p:clrMapOvr>
    <a:masterClrMapping/>
  </p:clrMapOvr>
  <p:transition spd="slow">
    <p:fade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婚姻制度的基础：婚姻是私有制的产物，男人为了传承私有财产而结婚。</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基础在瓦解：剩女不是缺男人，而是根本看不上那些男人。</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女性的本能：雌性动物扮演的角色就是挑剔，寻找胜利的雄性乃是天道。</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a:t>
            </a:r>
            <a:r>
              <a:rPr lang="zh-CN" altLang="en-US" sz="4000" b="0" i="0" u="none" strike="noStrike" kern="100" baseline="0" dirty="0" smtClean="0">
                <a:latin typeface="+mj-ea"/>
              </a:rPr>
              <a:t>：为什么剩女越来越多？</a:t>
            </a:r>
            <a:r>
              <a:rPr lang="en-US" altLang="zh-CN" sz="4000" b="0" i="0" u="none" strike="noStrike" kern="100" baseline="0" dirty="0" smtClean="0">
                <a:latin typeface="+mj-ea"/>
              </a:rPr>
              <a:t/>
            </a:r>
            <a:br>
              <a:rPr lang="en-US" altLang="zh-CN" sz="4000" b="0" i="0" u="none" strike="noStrike" kern="100" baseline="0" dirty="0" smtClean="0">
                <a:latin typeface="+mj-ea"/>
              </a:rPr>
            </a:br>
            <a:r>
              <a:rPr lang="zh-CN" altLang="en-US" b="0" i="0" u="none" strike="noStrike" kern="100" baseline="0" dirty="0" smtClean="0">
                <a:latin typeface="+mj-ea"/>
              </a:rPr>
              <a:t>答</a:t>
            </a:r>
            <a:r>
              <a:rPr lang="zh-CN" altLang="en-US" sz="4000" b="0" i="0" u="none" strike="noStrike" kern="100" baseline="0" dirty="0" smtClean="0">
                <a:latin typeface="+mj-ea"/>
              </a:rPr>
              <a:t>：时代变了，本能还在。</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DF69E2FD-A352-419E-9C5D-32B498D1E71E}"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19</a:t>
            </a:fld>
            <a:r>
              <a:rPr lang="zh-CN" altLang="en-US" smtClean="0"/>
              <a:t>页</a:t>
            </a:r>
            <a:endParaRPr lang="zh-CN" altLang="en-US" dirty="0"/>
          </a:p>
        </p:txBody>
      </p:sp>
    </p:spTree>
    <p:extLst>
      <p:ext uri="{BB962C8B-B14F-4D97-AF65-F5344CB8AC3E}">
        <p14:creationId xmlns:p14="http://schemas.microsoft.com/office/powerpoint/2010/main" val="13658274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女性需要在婚姻中以柔克刚，用阴性力量掌控主导权</a:t>
            </a:r>
            <a:r>
              <a:rPr lang="en-US" altLang="zh-CN" sz="2400" b="0" i="0" u="none" strike="noStrike" kern="100" baseline="0" dirty="0" smtClean="0">
                <a:latin typeface="Times New Roman" panose="02020603050405020304" pitchFamily="18" charset="0"/>
                <a:ea typeface="华文细黑" panose="02010600040101010101" pitchFamily="2" charset="-122"/>
              </a:rPr>
              <a:t>——</a:t>
            </a:r>
            <a:r>
              <a:rPr lang="zh-CN" altLang="en-US" sz="2400" b="0" i="0" u="none" strike="noStrike" kern="100" baseline="0" dirty="0" smtClean="0">
                <a:latin typeface="Times New Roman" panose="02020603050405020304" pitchFamily="18" charset="0"/>
                <a:ea typeface="华文细黑" panose="02010600040101010101" pitchFamily="2" charset="-122"/>
              </a:rPr>
              <a:t>男性就是女性生娃的工具。</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女性不要被恐惧本身打败，拥有自己的光荣和梦想会让人生璀璨。</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女性可以选择不要婚姻，但是不可以选择不要多样性，不可以选择不要男人。</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问：剩女应该怎么办？</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2800" b="0" i="0" u="none" strike="noStrike" kern="100" baseline="0" dirty="0" smtClean="0">
                <a:latin typeface="+mj-ea"/>
              </a:rPr>
              <a:t>可以结婚，也可以不结婚，重要的是多样的选择。</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D1653FB4-7D3A-4239-8468-D73E9626F5D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20</a:t>
            </a:fld>
            <a:r>
              <a:rPr lang="zh-CN" altLang="en-US" smtClean="0"/>
              <a:t>页</a:t>
            </a:r>
            <a:endParaRPr lang="zh-CN" altLang="en-US" dirty="0"/>
          </a:p>
        </p:txBody>
      </p:sp>
    </p:spTree>
    <p:extLst>
      <p:ext uri="{BB962C8B-B14F-4D97-AF65-F5344CB8AC3E}">
        <p14:creationId xmlns:p14="http://schemas.microsoft.com/office/powerpoint/2010/main" val="26781253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大国的“武器”是贸易</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6</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3912954164"/>
      </p:ext>
    </p:extLst>
  </p:cSld>
  <p:clrMapOvr>
    <a:masterClrMapping/>
  </p:clrMapOvr>
  <p:transition spd="slow">
    <p:fade thruBlk="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一个认知：贸易到底是让敌人更强大还是让和平更强大？真相是贸易造就和平。</a:t>
            </a:r>
          </a:p>
          <a:p>
            <a:pPr marR="0" lvl="0" rtl="0"/>
            <a:r>
              <a:rPr lang="zh-CN" altLang="en-US" sz="2400" b="0" i="0" u="none" strike="noStrike" kern="100" baseline="0" dirty="0" smtClean="0">
                <a:latin typeface="+mn-ea"/>
              </a:rPr>
              <a:t>一个定论：草原民族和农耕民族经过几千年的博弈，认为做生意比打仗好。</a:t>
            </a:r>
          </a:p>
          <a:p>
            <a:pPr marR="0" lvl="0" rtl="0"/>
            <a:r>
              <a:rPr lang="zh-CN" altLang="en-US" sz="2400" b="0" i="0" u="none" strike="noStrike" kern="100" baseline="0" dirty="0" smtClean="0">
                <a:latin typeface="+mn-ea"/>
              </a:rPr>
              <a:t>一个问题：财富到底是哪里来的？答案是贸易，而不是抢。</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3600" b="0" i="0" u="none" strike="noStrike" kern="100" baseline="0" dirty="0" smtClean="0">
                <a:latin typeface="+mj-ea"/>
              </a:rPr>
              <a:t>：</a:t>
            </a:r>
            <a:r>
              <a:rPr lang="zh-CN" altLang="en-US" sz="3200" b="0" i="0" u="none" strike="noStrike" kern="100" baseline="0" dirty="0" smtClean="0">
                <a:latin typeface="+mj-ea"/>
              </a:rPr>
              <a:t>中国人不买日货导致日本经济受创，我们应该高兴吗？</a:t>
            </a:r>
            <a:r>
              <a:rPr lang="en-US" altLang="zh-CN" sz="3600" b="0" i="0" u="none" strike="noStrike" kern="100" baseline="0" dirty="0" smtClean="0">
                <a:latin typeface="+mj-ea"/>
              </a:rPr>
              <a:t/>
            </a:r>
            <a:br>
              <a:rPr lang="en-US" altLang="zh-CN" sz="3600" b="0" i="0" u="none" strike="noStrike" kern="100" baseline="0" dirty="0" smtClean="0">
                <a:latin typeface="+mj-ea"/>
              </a:rPr>
            </a:br>
            <a:r>
              <a:rPr lang="zh-CN" altLang="en-US" b="0" i="0" u="none" strike="noStrike" kern="100" baseline="0" dirty="0" smtClean="0">
                <a:latin typeface="+mj-ea"/>
              </a:rPr>
              <a:t>答</a:t>
            </a:r>
            <a:r>
              <a:rPr lang="zh-CN" altLang="en-US" sz="3600" b="0" i="0" u="none" strike="noStrike" kern="100" baseline="0" dirty="0" smtClean="0">
                <a:latin typeface="+mj-ea"/>
              </a:rPr>
              <a:t>：</a:t>
            </a:r>
            <a:r>
              <a:rPr lang="zh-CN" altLang="en-US" sz="2800" b="0" i="0" u="none" strike="noStrike" kern="100" baseline="0" dirty="0" smtClean="0">
                <a:latin typeface="+mj-ea"/>
              </a:rPr>
              <a:t>恰恰应该忧心，因为东亚贸易一体化是中国崛起的一个必要条件。</a:t>
            </a:r>
            <a:endParaRPr lang="zh-CN" altLang="en-US" sz="3600" b="0" i="0" u="none" strike="noStrike" kern="100" baseline="0" dirty="0" smtClean="0">
              <a:latin typeface="+mj-ea"/>
            </a:endParaRP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4059E095-1BB6-4D89-8AB3-1ABF88656E25}"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22</a:t>
            </a:fld>
            <a:r>
              <a:rPr lang="zh-CN" altLang="en-US" smtClean="0"/>
              <a:t>页</a:t>
            </a:r>
            <a:endParaRPr lang="zh-CN" altLang="en-US" dirty="0"/>
          </a:p>
        </p:txBody>
      </p:sp>
    </p:spTree>
    <p:extLst>
      <p:ext uri="{BB962C8B-B14F-4D97-AF65-F5344CB8AC3E}">
        <p14:creationId xmlns:p14="http://schemas.microsoft.com/office/powerpoint/2010/main" val="1526908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杨继盛认为一定要跟蒙古人死磕，反对停战谈判，被称为“爱国贼”。</a:t>
            </a:r>
          </a:p>
          <a:p>
            <a:pPr marR="0" lvl="0" rtl="0"/>
            <a:r>
              <a:rPr lang="zh-CN" altLang="en-US" sz="2400" kern="100" dirty="0">
                <a:latin typeface="+mn-ea"/>
              </a:rPr>
              <a:t>被称为</a:t>
            </a:r>
            <a:r>
              <a:rPr lang="zh-CN" altLang="en-US" sz="2400" b="0" i="0" u="none" strike="noStrike" kern="100" baseline="0" dirty="0" smtClean="0">
                <a:latin typeface="+mn-ea"/>
              </a:rPr>
              <a:t>“卖国贼”李鸿章欢迎西方国家和中国进行贸易，推动中国经济发展。</a:t>
            </a:r>
          </a:p>
          <a:p>
            <a:pPr marR="0" lvl="0" rtl="0"/>
            <a:r>
              <a:rPr lang="zh-CN" altLang="en-US" sz="2400" b="0" i="0" u="none" strike="noStrike" kern="100" baseline="0" dirty="0" smtClean="0">
                <a:latin typeface="+mn-ea"/>
              </a:rPr>
              <a:t>爱国要有常识，才能理性爱国。用强力改变大势所趋，只会增加国家的崛起成本。</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：抗日就是爱国的表现吗？</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3100" b="0" i="0" u="none" strike="noStrike" kern="100" baseline="0" dirty="0" smtClean="0">
                <a:latin typeface="+mj-ea"/>
              </a:rPr>
              <a:t>爱国主义是一种基本情怀，想想怎么去推动国家发展才是真的爱国。</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CC95FE32-EFF5-4F61-B0EA-9CB15024F70D}"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23</a:t>
            </a:fld>
            <a:r>
              <a:rPr lang="zh-CN" altLang="en-US" smtClean="0"/>
              <a:t>页</a:t>
            </a:r>
            <a:endParaRPr lang="zh-CN" altLang="en-US" dirty="0"/>
          </a:p>
        </p:txBody>
      </p:sp>
    </p:spTree>
    <p:extLst>
      <p:ext uri="{BB962C8B-B14F-4D97-AF65-F5344CB8AC3E}">
        <p14:creationId xmlns:p14="http://schemas.microsoft.com/office/powerpoint/2010/main" val="13208476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区域经济一体化是长远趋势，</a:t>
            </a:r>
            <a:r>
              <a:rPr lang="zh-CN" altLang="en-US" sz="2400" kern="100" dirty="0">
                <a:latin typeface="+mn-ea"/>
              </a:rPr>
              <a:t>必须</a:t>
            </a:r>
            <a:r>
              <a:rPr lang="zh-CN" altLang="en-US" sz="2400" b="0" i="0" u="none" strike="noStrike" kern="100" baseline="0" dirty="0" smtClean="0">
                <a:latin typeface="+mn-ea"/>
              </a:rPr>
              <a:t>通过“贸易”武器将日本嵌入到我们的系统中。</a:t>
            </a:r>
          </a:p>
          <a:p>
            <a:pPr marR="0" lvl="0" rtl="0"/>
            <a:r>
              <a:rPr lang="zh-CN" altLang="en-US" sz="2400" b="0" i="0" u="none" strike="noStrike" kern="100" baseline="0" dirty="0" smtClean="0">
                <a:latin typeface="+mn-ea"/>
              </a:rPr>
              <a:t>美国崛起之路值得借鉴，成为中央国家必须</a:t>
            </a:r>
            <a:r>
              <a:rPr lang="zh-CN" altLang="en-US" sz="2400" kern="100" dirty="0" smtClean="0">
                <a:latin typeface="+mn-ea"/>
              </a:rPr>
              <a:t>利用“</a:t>
            </a:r>
            <a:r>
              <a:rPr lang="zh-CN" altLang="en-US" sz="2400" b="0" i="0" u="none" strike="noStrike" kern="100" baseline="0" dirty="0" smtClean="0">
                <a:latin typeface="+mn-ea"/>
              </a:rPr>
              <a:t>贸易”指挥棒发挥政治影响力。</a:t>
            </a:r>
          </a:p>
          <a:p>
            <a:pPr marR="0" lvl="0" rtl="0"/>
            <a:r>
              <a:rPr lang="zh-CN" altLang="en-US" sz="2400" b="0" i="0" u="none" strike="noStrike" kern="100" baseline="0" dirty="0" smtClean="0">
                <a:latin typeface="+mn-ea"/>
              </a:rPr>
              <a:t>谈中日贸易，要认清事实，审时度势，顺应趋势，才是大国的姿态。</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3200" b="0" i="0" u="none" strike="noStrike" kern="100" baseline="0" dirty="0" smtClean="0">
                <a:latin typeface="+mj-ea"/>
              </a:rPr>
              <a:t>：中国人在“大国崛起”的过程中需要具备什么样的姿态？</a:t>
            </a:r>
            <a:r>
              <a:rPr lang="en-US" altLang="zh-CN" sz="3200" b="0" i="0" u="none" strike="noStrike" kern="100" baseline="0" dirty="0" smtClean="0">
                <a:latin typeface="+mj-ea"/>
              </a:rPr>
              <a:t/>
            </a:r>
            <a:br>
              <a:rPr lang="en-US" altLang="zh-CN" sz="3200"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a:t>
            </a:r>
            <a:r>
              <a:rPr lang="zh-CN" altLang="en-US" sz="2800" b="0" i="0" u="none" strike="noStrike" kern="100" baseline="0" dirty="0" smtClean="0">
                <a:latin typeface="+mj-ea"/>
              </a:rPr>
              <a:t>放下仇恨，放大格局，建立以中国为主导的世界经济体系。</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FF85A86B-6B1A-4970-BA65-337A900A1FF2}"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24</a:t>
            </a:fld>
            <a:r>
              <a:rPr lang="zh-CN" altLang="en-US" smtClean="0"/>
              <a:t>页</a:t>
            </a:r>
            <a:endParaRPr lang="zh-CN" altLang="en-US" dirty="0"/>
          </a:p>
        </p:txBody>
      </p:sp>
    </p:spTree>
    <p:extLst>
      <p:ext uri="{BB962C8B-B14F-4D97-AF65-F5344CB8AC3E}">
        <p14:creationId xmlns:p14="http://schemas.microsoft.com/office/powerpoint/2010/main" val="29396633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大国不能认死理</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7</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665616558"/>
      </p:ext>
    </p:extLst>
  </p:cSld>
  <p:clrMapOvr>
    <a:masterClrMapping/>
  </p:clrMapOvr>
  <p:transition spd="slow">
    <p:fade thruBlk="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俾斯麦：国家是时间河流上的航船，看大趋势，不主动挑起战争。</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俾斯麦：政治是“可能性的艺术”，确保德国在非常模糊的战略状态当中保持优势。</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俾斯麦：大战略上思路清晰，实践上灵活多样。</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威廉二世：不再续约“三皇同盟”，朋友就是朋友，敌人就是敌人。</a:t>
            </a:r>
          </a:p>
        </p:txBody>
      </p:sp>
      <p:sp>
        <p:nvSpPr>
          <p:cNvPr id="2" name="标题 1"/>
          <p:cNvSpPr>
            <a:spLocks noGrp="1"/>
          </p:cNvSpPr>
          <p:nvPr>
            <p:ph type="title"/>
          </p:nvPr>
        </p:nvSpPr>
        <p:spPr/>
        <p:txBody>
          <a:bodyPr>
            <a:normAutofit fontScale="90000"/>
          </a:bodyPr>
          <a:lstStyle/>
          <a:p>
            <a:pPr indent="-201600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3100" b="0" i="0" u="none" strike="noStrike" kern="100" baseline="0" dirty="0" smtClean="0">
                <a:latin typeface="华康俪金黑W8(P)" panose="020B0800000000000000" pitchFamily="34" charset="-122"/>
                <a:ea typeface="华康俪金黑W8(P)" panose="020B0800000000000000" pitchFamily="34" charset="-122"/>
              </a:rPr>
              <a:t>中国真的要把国家战略，包括谁是敌人谁是朋友，搞得那么清楚吗？</a:t>
            </a:r>
            <a:r>
              <a:rPr lang="en-US" altLang="zh-CN" sz="3100" b="0" i="0" u="none" strike="noStrike" kern="100" baseline="0" dirty="0" smtClean="0">
                <a:latin typeface="华康俪金黑W8(P)" panose="020B0800000000000000" pitchFamily="34" charset="-122"/>
                <a:ea typeface="华康俪金黑W8(P)" panose="020B0800000000000000" pitchFamily="34" charset="-122"/>
              </a:rPr>
              <a:t/>
            </a:r>
            <a:br>
              <a:rPr lang="en-US" altLang="zh-CN" sz="3100"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a:t>
            </a:r>
            <a:r>
              <a:rPr lang="zh-CN" altLang="en-US" sz="3600" kern="100" dirty="0">
                <a:latin typeface="华康俪金黑W8(P)" panose="020B0800000000000000" pitchFamily="34" charset="-122"/>
                <a:ea typeface="华康俪金黑W8(P)" panose="020B0800000000000000" pitchFamily="34" charset="-122"/>
              </a:rPr>
              <a:t>俾斯麦机智地保持模糊，威廉二世愚蠢地划清界限</a:t>
            </a:r>
            <a:r>
              <a:rPr lang="zh-CN" altLang="en-US" sz="3600" kern="100" dirty="0" smtClean="0">
                <a:latin typeface="华康俪金黑W8(P)" panose="020B0800000000000000" pitchFamily="34" charset="-122"/>
                <a:ea typeface="华康俪金黑W8(P)" panose="020B0800000000000000" pitchFamily="34" charset="-122"/>
              </a:rPr>
              <a:t>，借助</a:t>
            </a:r>
            <a:r>
              <a:rPr lang="zh-CN" altLang="en-US" sz="3600" kern="100" dirty="0">
                <a:latin typeface="华康俪金黑W8(P)" panose="020B0800000000000000" pitchFamily="34" charset="-122"/>
                <a:ea typeface="华康俪金黑W8(P)" panose="020B0800000000000000" pitchFamily="34" charset="-122"/>
              </a:rPr>
              <a:t>自我实现的预言，结果导致了世界大战，懂？</a:t>
            </a:r>
            <a:endParaRPr lang="zh-CN" altLang="en-US" sz="3600" b="0" i="0" u="none" strike="noStrike" kern="100" baseline="0" dirty="0" smtClean="0">
              <a:latin typeface="华康俪金黑W8(P)" panose="020B0800000000000000" pitchFamily="34" charset="-122"/>
              <a:ea typeface="华康俪金黑W8(P)" panose="020B0800000000000000" pitchFamily="34" charset="-122"/>
            </a:endParaRP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43832973-879C-4610-B57C-6AC12DED2FED}"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26</a:t>
            </a:fld>
            <a:r>
              <a:rPr lang="zh-CN" altLang="en-US" smtClean="0"/>
              <a:t>页</a:t>
            </a:r>
            <a:endParaRPr lang="zh-CN" altLang="en-US" dirty="0"/>
          </a:p>
        </p:txBody>
      </p:sp>
    </p:spTree>
    <p:extLst>
      <p:ext uri="{BB962C8B-B14F-4D97-AF65-F5344CB8AC3E}">
        <p14:creationId xmlns:p14="http://schemas.microsoft.com/office/powerpoint/2010/main" val="101908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英国人的心魔是传统的光荣孤立和大陆均衡政策，担心大陆成为德国的天下。</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英国历史学家假设历史：假如英国未参战，欧盟会提前成立，苏联不会出现。</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3600" b="0" i="0" u="none" strike="noStrike" kern="100" baseline="0" dirty="0" smtClean="0">
                <a:latin typeface="华康俪金黑W8(P)" panose="020B0800000000000000" pitchFamily="34" charset="-122"/>
                <a:ea typeface="华康俪金黑W8(P)" panose="020B0800000000000000" pitchFamily="34" charset="-122"/>
              </a:rPr>
              <a:t>狡猾的英国为什么也被拖入了第一次世界大战？</a:t>
            </a:r>
            <a:r>
              <a:rPr lang="en-US" altLang="zh-CN" b="0" i="0" u="none" strike="noStrike" kern="100" baseline="0" dirty="0" smtClean="0">
                <a:latin typeface="华康俪金黑W8(P)" panose="020B0800000000000000" pitchFamily="34" charset="-122"/>
                <a:ea typeface="华康俪金黑W8(P)" panose="020B0800000000000000" pitchFamily="34" charset="-122"/>
              </a:rPr>
              <a:t/>
            </a:r>
            <a:br>
              <a:rPr lang="en-US" altLang="zh-CN"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答：它也认死理。</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B94DF703-93C7-456A-AF11-94B848CA971E}"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27</a:t>
            </a:fld>
            <a:r>
              <a:rPr lang="zh-CN" altLang="en-US" smtClean="0"/>
              <a:t>页</a:t>
            </a:r>
            <a:endParaRPr lang="zh-CN" altLang="en-US" dirty="0"/>
          </a:p>
        </p:txBody>
      </p:sp>
    </p:spTree>
    <p:extLst>
      <p:ext uri="{BB962C8B-B14F-4D97-AF65-F5344CB8AC3E}">
        <p14:creationId xmlns:p14="http://schemas.microsoft.com/office/powerpoint/2010/main" val="3865490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352801" y="4138027"/>
            <a:ext cx="8593224" cy="943795"/>
          </a:xfrm>
        </p:spPr>
        <p:txBody>
          <a:bodyPr/>
          <a:lstStyle/>
          <a:p>
            <a:pPr marR="0" rtl="0"/>
            <a:r>
              <a:rPr lang="zh-CN" altLang="en-US" i="0" u="none" strike="noStrike" kern="100" baseline="0" dirty="0" smtClean="0"/>
              <a:t>从房产税和地沟油看制度成本</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8</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710357415"/>
      </p:ext>
    </p:extLst>
  </p:cSld>
  <p:clrMapOvr>
    <a:masterClrMapping/>
  </p:clrMapOvr>
  <p:transition spd="slow">
    <p:fade thruBlk="1"/>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窗户税：用窗户税代替房产税，导致法国人去造那些根本没窗户的房子。</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可见的后果：第一套免税，会导致大量的离婚；按人均收税，会冒出不少穷亲戚。</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农业税：永远取消农业税是因为收税成本高过了收益，收税是“零和博弈”。</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一项社会政策从设计到推行的过程中，会有根本意料不到的情况发生。</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问：全面征收房产税，怎么这么难？</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600" b="0" i="0" u="none" strike="noStrike" kern="100" baseline="0" dirty="0" smtClean="0">
                <a:latin typeface="+mj-ea"/>
              </a:rPr>
              <a:t>这项税收制度的政治和社会成本太大。</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E6D072C6-5C3B-44C9-9EF6-2537694635A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29</a:t>
            </a:fld>
            <a:r>
              <a:rPr lang="zh-CN" altLang="en-US" smtClean="0"/>
              <a:t>页</a:t>
            </a:r>
            <a:endParaRPr lang="zh-CN" altLang="en-US" dirty="0"/>
          </a:p>
        </p:txBody>
      </p:sp>
    </p:spTree>
    <p:extLst>
      <p:ext uri="{BB962C8B-B14F-4D97-AF65-F5344CB8AC3E}">
        <p14:creationId xmlns:p14="http://schemas.microsoft.com/office/powerpoint/2010/main" val="3017724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印花税：商人心甘情愿，税期广，成本低。一箭三雕，优秀的社会政策设计。</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美国也没能很好地解决税收的制度成本问题，他们的公民报税很复杂。</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税收是门技术活。</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3600" b="0" i="0" u="none" strike="noStrike" kern="100" baseline="0" dirty="0" smtClean="0">
                <a:latin typeface="+mj-ea"/>
              </a:rPr>
              <a:t>国家要运营，不收税不行，什么样的税收才是好税收？</a:t>
            </a:r>
            <a:r>
              <a:rPr lang="en-US" altLang="zh-CN" sz="3600" b="0" i="0" u="none" strike="noStrike" kern="100" baseline="0" dirty="0" smtClean="0">
                <a:latin typeface="+mj-ea"/>
              </a:rPr>
              <a:t/>
            </a:r>
            <a:br>
              <a:rPr lang="en-US" altLang="zh-CN" sz="3600"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：多拔点鹅毛，少听点鹅叫。</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2DB26CE6-DB04-4E3E-A451-2C596849DDC5}"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30</a:t>
            </a:fld>
            <a:r>
              <a:rPr lang="zh-CN" altLang="en-US" smtClean="0"/>
              <a:t>页</a:t>
            </a:r>
            <a:endParaRPr lang="zh-CN" altLang="en-US" dirty="0"/>
          </a:p>
        </p:txBody>
      </p:sp>
    </p:spTree>
    <p:extLst>
      <p:ext uri="{BB962C8B-B14F-4D97-AF65-F5344CB8AC3E}">
        <p14:creationId xmlns:p14="http://schemas.microsoft.com/office/powerpoint/2010/main" val="42272154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原因：要对所有用油的餐馆摊点进行监管，成本太大。</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解决：靠市场经济，把零散的商家整合成几个寡头。</a:t>
            </a:r>
            <a:endParaRPr lang="en-US" altLang="zh-CN" sz="2400" b="0" i="0" u="none" strike="noStrike" kern="100" baseline="0" dirty="0" smtClean="0">
              <a:latin typeface="Times New Roman" panose="02020603050405020304" pitchFamily="18" charset="0"/>
              <a:ea typeface="华文细黑" panose="02010600040101010101" pitchFamily="2" charset="-122"/>
            </a:endParaRPr>
          </a:p>
          <a:p>
            <a:pPr marL="0" marR="0" lvl="0" indent="0" rtl="0">
              <a:buNone/>
            </a:pPr>
            <a:r>
              <a:rPr lang="en-US" altLang="zh-CN" sz="2400" kern="100" dirty="0">
                <a:latin typeface="Times New Roman" panose="02020603050405020304" pitchFamily="18" charset="0"/>
                <a:ea typeface="华文细黑" panose="02010600040101010101" pitchFamily="2" charset="-122"/>
              </a:rPr>
              <a:t>	 </a:t>
            </a:r>
            <a:r>
              <a:rPr lang="en-US" altLang="zh-CN" sz="2400" kern="100" dirty="0" smtClean="0">
                <a:latin typeface="Times New Roman" panose="02020603050405020304" pitchFamily="18" charset="0"/>
                <a:ea typeface="华文细黑" panose="02010600040101010101" pitchFamily="2" charset="-122"/>
              </a:rPr>
              <a:t>   </a:t>
            </a:r>
            <a:r>
              <a:rPr lang="zh-CN" altLang="en-US" sz="2400" b="0" i="0" u="none" strike="noStrike" kern="100" baseline="0" dirty="0" smtClean="0">
                <a:latin typeface="Times New Roman" panose="02020603050405020304" pitchFamily="18" charset="0"/>
                <a:ea typeface="华文细黑" panose="02010600040101010101" pitchFamily="2" charset="-122"/>
              </a:rPr>
              <a:t>用“职业经理人”和“品牌”的力量消灭地沟油。</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我们生活在一个复利的时代，好处之后还有好处，成本之后还有成本。</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3600" b="0" i="0" u="none" strike="noStrike" kern="100" baseline="0" dirty="0" smtClean="0">
                <a:latin typeface="+mj-ea"/>
              </a:rPr>
              <a:t>发现使用地沟油就判刑的制度，能够解决地沟油问题吗？</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4000" b="0" i="0" u="none" strike="noStrike" kern="100" baseline="0" dirty="0" smtClean="0">
                <a:latin typeface="+mj-ea"/>
              </a:rPr>
              <a:t>完全是简单粗暴、异想天开，要解决还得靠市场。</a:t>
            </a:r>
            <a:endParaRPr lang="zh-CN" altLang="en-US" b="0" i="0" u="none" strike="noStrike" kern="100" baseline="0" dirty="0" smtClean="0">
              <a:latin typeface="+mj-ea"/>
            </a:endParaRP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092FC8A2-888C-4154-BA18-F6510A298E2C}"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31</a:t>
            </a:fld>
            <a:r>
              <a:rPr lang="zh-CN" altLang="en-US" smtClean="0"/>
              <a:t>页</a:t>
            </a:r>
            <a:endParaRPr lang="zh-CN" altLang="en-US" dirty="0"/>
          </a:p>
        </p:txBody>
      </p:sp>
    </p:spTree>
    <p:extLst>
      <p:ext uri="{BB962C8B-B14F-4D97-AF65-F5344CB8AC3E}">
        <p14:creationId xmlns:p14="http://schemas.microsoft.com/office/powerpoint/2010/main" val="753586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民意需要公正来驯化</a:t>
            </a:r>
          </a:p>
        </p:txBody>
      </p:sp>
      <p:sp>
        <p:nvSpPr>
          <p:cNvPr id="4" name="矩形 3"/>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9</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23538381"/>
      </p:ext>
    </p:extLst>
  </p:cSld>
  <p:clrMapOvr>
    <a:masterClrMapping/>
  </p:clrMapOvr>
  <p:transition spd="slow">
    <p:fade thruBlk="1"/>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民意往往很简单：要么非常好，要么非常坏，政府一定会找到玩弄民意的空间。</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民意不等于公正：民意会强奸法律，制造不公正的角色。</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民意会不负责任：民意有时候不仅不理智，甚至会暗藏着一种恶意。</a:t>
            </a:r>
          </a:p>
        </p:txBody>
      </p:sp>
      <p:sp>
        <p:nvSpPr>
          <p:cNvPr id="2" name="标题 1"/>
          <p:cNvSpPr>
            <a:spLocks noGrp="1"/>
          </p:cNvSpPr>
          <p:nvPr>
            <p:ph type="title"/>
          </p:nvPr>
        </p:nvSpPr>
        <p:spPr/>
        <p:txBody>
          <a:bodyPr>
            <a:normAutofit/>
          </a:bodyPr>
          <a:lstStyle/>
          <a:p>
            <a:pPr marR="0" rtl="0"/>
            <a:r>
              <a:rPr lang="zh-CN" altLang="en-US" b="0" i="0" u="none" strike="noStrike" kern="100" baseline="0" dirty="0" smtClean="0">
                <a:latin typeface="+mj-ea"/>
              </a:rPr>
              <a:t>问：</a:t>
            </a:r>
            <a:r>
              <a:rPr lang="zh-CN" altLang="en-US" sz="2700" b="0" i="0" u="none" strike="noStrike" kern="100" baseline="0" dirty="0" smtClean="0">
                <a:latin typeface="+mj-ea"/>
              </a:rPr>
              <a:t>希特勒是德国老百姓票选出来的</a:t>
            </a:r>
            <a:r>
              <a:rPr lang="en-US" altLang="zh-CN" sz="2700" kern="100" dirty="0">
                <a:latin typeface="+mj-ea"/>
              </a:rPr>
              <a:t>——</a:t>
            </a:r>
            <a:r>
              <a:rPr lang="zh-CN" altLang="en-US" sz="2700" b="0" i="0" u="none" strike="noStrike" kern="100" baseline="0" dirty="0" smtClean="0">
                <a:latin typeface="+mj-ea"/>
              </a:rPr>
              <a:t>让民意做决定，真的可以吗？</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2700" b="0" i="0" u="none" strike="noStrike" kern="100" baseline="0" dirty="0" smtClean="0">
                <a:latin typeface="+mj-ea"/>
              </a:rPr>
              <a:t>民主并非“如民所愿”，民意是需要被驯化的野兽，公正则是驯兽师。</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CDBF336D-E4FC-4E43-895B-99374789F236}"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33</a:t>
            </a:fld>
            <a:r>
              <a:rPr lang="zh-CN" altLang="en-US" smtClean="0"/>
              <a:t>页</a:t>
            </a:r>
            <a:endParaRPr lang="zh-CN" altLang="en-US" dirty="0"/>
          </a:p>
        </p:txBody>
      </p:sp>
    </p:spTree>
    <p:extLst>
      <p:ext uri="{BB962C8B-B14F-4D97-AF65-F5344CB8AC3E}">
        <p14:creationId xmlns:p14="http://schemas.microsoft.com/office/powerpoint/2010/main" val="28683754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反腐黑箱必被砸爆</a:t>
            </a:r>
          </a:p>
        </p:txBody>
      </p:sp>
      <p:sp>
        <p:nvSpPr>
          <p:cNvPr id="6" name="矩形 5"/>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10</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3530852201"/>
      </p:ext>
    </p:extLst>
  </p:cSld>
  <p:clrMapOvr>
    <a:masterClrMapping/>
  </p:clrMapOvr>
  <p:transition spd="slow">
    <p:fade thruBlk="1"/>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现金管理制度：普遍使用电子支付手段，持有大额现金需要登记。</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信息公开制度：解决了我们社会的基本信用制度，人性最怕信息公开。</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社会转型需要付出代价，以单一身份为基点联通个人所有信用信息是关键。</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生人社会构建信任需要道德惩罚的存在，</a:t>
            </a:r>
            <a:r>
              <a:rPr lang="zh-CN" altLang="en-US" sz="2400" kern="100" dirty="0">
                <a:latin typeface="Times New Roman" panose="02020603050405020304" pitchFamily="18" charset="0"/>
                <a:ea typeface="华文细黑" panose="02010600040101010101" pitchFamily="2" charset="-122"/>
              </a:rPr>
              <a:t>有助于</a:t>
            </a:r>
            <a:r>
              <a:rPr lang="zh-CN" altLang="en-US" sz="2400" b="0" i="0" u="none" strike="noStrike" kern="100" baseline="0" dirty="0" smtClean="0">
                <a:latin typeface="Times New Roman" panose="02020603050405020304" pitchFamily="18" charset="0"/>
                <a:ea typeface="华文细黑" panose="02010600040101010101" pitchFamily="2" charset="-122"/>
              </a:rPr>
              <a:t>形成整个社会的道德水准。</a:t>
            </a:r>
          </a:p>
        </p:txBody>
      </p:sp>
      <p:sp>
        <p:nvSpPr>
          <p:cNvPr id="2" name="标题 1"/>
          <p:cNvSpPr>
            <a:spLocks noGrp="1"/>
          </p:cNvSpPr>
          <p:nvPr>
            <p:ph type="title"/>
          </p:nvPr>
        </p:nvSpPr>
        <p:spPr/>
        <p:txBody>
          <a:bodyPr>
            <a:noAutofit/>
          </a:bodyPr>
          <a:lstStyle/>
          <a:p>
            <a:pPr marR="0" indent="-457200" rtl="0"/>
            <a:r>
              <a:rPr lang="zh-CN" altLang="en-US" b="0" i="0" u="none" strike="noStrike" kern="100" baseline="0" dirty="0" smtClean="0">
                <a:latin typeface="+mj-ea"/>
              </a:rPr>
              <a:t>问：</a:t>
            </a:r>
            <a:r>
              <a:rPr lang="zh-CN" altLang="en-US" sz="2800" b="0" i="0" u="none" strike="noStrike" kern="100" baseline="0" dirty="0" smtClean="0">
                <a:latin typeface="+mj-ea"/>
              </a:rPr>
              <a:t>中国处于转型社会时期，各种腐败问题层出不穷，我们平时听到、看到的各种严刑峻法和制度建设貌似作用不大，为什么这些问题解决不了？</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答：底层制度缺失，上层制度失效。</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6D2EFEE6-9921-4638-AB64-42E258717B51}"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35</a:t>
            </a:fld>
            <a:r>
              <a:rPr lang="zh-CN" altLang="en-US" smtClean="0"/>
              <a:t>页</a:t>
            </a:r>
            <a:endParaRPr lang="zh-CN" altLang="en-US" dirty="0"/>
          </a:p>
        </p:txBody>
      </p:sp>
    </p:spTree>
    <p:extLst>
      <p:ext uri="{BB962C8B-B14F-4D97-AF65-F5344CB8AC3E}">
        <p14:creationId xmlns:p14="http://schemas.microsoft.com/office/powerpoint/2010/main" val="9080718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老百姓反对“关联”，因为暴露隐私，但互联网的存在使中央数据银行早已成立。</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政府反对“公开”，以保密为名来抵挡民众的知情，但挡不住时代大势。</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在网络社会对待隐私的态度：应该以没有隐私的方式来生存，才会活得安全。</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信息公开制度是大势所趋，只要有人勇敢修复和完善，它就会生根发芽。</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2400" b="0" i="0" u="none" strike="noStrike" kern="100" baseline="0" dirty="0" smtClean="0">
                <a:latin typeface="+mj-ea"/>
              </a:rPr>
              <a:t>美国的</a:t>
            </a:r>
            <a:r>
              <a:rPr lang="en-US" altLang="zh-CN" sz="2400" b="0" i="0" u="none" strike="noStrike" kern="100" baseline="0" dirty="0" smtClean="0">
                <a:latin typeface="+mj-ea"/>
              </a:rPr>
              <a:t>《</a:t>
            </a:r>
            <a:r>
              <a:rPr lang="zh-CN" altLang="en-US" sz="2400" b="0" i="0" u="none" strike="noStrike" kern="100" baseline="0" dirty="0" smtClean="0">
                <a:latin typeface="+mj-ea"/>
              </a:rPr>
              <a:t>信息自由法</a:t>
            </a:r>
            <a:r>
              <a:rPr lang="en-US" altLang="zh-CN" sz="2400" b="0" i="0" u="none" strike="noStrike" kern="100" baseline="0" dirty="0" smtClean="0">
                <a:latin typeface="+mj-ea"/>
              </a:rPr>
              <a:t>》</a:t>
            </a:r>
            <a:r>
              <a:rPr lang="zh-CN" altLang="en-US" sz="2400" b="0" i="0" u="none" strike="noStrike" kern="100" baseline="0" dirty="0" smtClean="0">
                <a:latin typeface="+mj-ea"/>
              </a:rPr>
              <a:t>也历经波折才得以立法，信息自由是否为大势所趋？</a:t>
            </a:r>
            <a:r>
              <a:rPr lang="en-US" altLang="zh-CN" sz="2400" b="0" i="0" u="none" strike="noStrike" kern="100" baseline="0" dirty="0" smtClean="0">
                <a:latin typeface="+mj-ea"/>
              </a:rPr>
              <a:t/>
            </a:r>
            <a:br>
              <a:rPr lang="en-US" altLang="zh-CN" sz="2400" b="0" i="0" u="none" strike="noStrike" kern="100" baseline="0" dirty="0" smtClean="0">
                <a:latin typeface="+mj-ea"/>
              </a:rPr>
            </a:br>
            <a:r>
              <a:rPr lang="zh-CN" altLang="en-US" b="0" i="0" u="none" strike="noStrike" kern="100" baseline="0" dirty="0" smtClean="0">
                <a:latin typeface="+mj-ea"/>
              </a:rPr>
              <a:t>答：</a:t>
            </a:r>
            <a:r>
              <a:rPr lang="zh-CN" altLang="en-US" sz="3600" b="0" i="0" u="none" strike="noStrike" kern="100" baseline="0" dirty="0" smtClean="0">
                <a:latin typeface="+mj-ea"/>
              </a:rPr>
              <a:t>信息集成分为“关联”和“公开”，在网络时代，你享受多少便利，就要让出多少隐私。</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6611D0F5-CE60-4759-8068-9046EBBB4D7A}"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36</a:t>
            </a:fld>
            <a:r>
              <a:rPr lang="zh-CN" altLang="en-US" smtClean="0"/>
              <a:t>页</a:t>
            </a:r>
            <a:endParaRPr lang="zh-CN" altLang="en-US" dirty="0"/>
          </a:p>
        </p:txBody>
      </p:sp>
    </p:spTree>
    <p:extLst>
      <p:ext uri="{BB962C8B-B14F-4D97-AF65-F5344CB8AC3E}">
        <p14:creationId xmlns:p14="http://schemas.microsoft.com/office/powerpoint/2010/main" val="34517036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“治不好”的地域歧视</a:t>
            </a:r>
          </a:p>
        </p:txBody>
      </p:sp>
      <p:sp>
        <p:nvSpPr>
          <p:cNvPr id="6" name="矩形 5"/>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11</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845876856"/>
      </p:ext>
    </p:extLst>
  </p:cSld>
  <p:clrMapOvr>
    <a:masterClrMapping/>
  </p:clrMapOvr>
  <p:transition spd="slow">
    <p:fade thruBlk="1"/>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生存本能：任何生物若要生存，必须有一种把世界简化（符号化）的本领。</a:t>
            </a:r>
          </a:p>
          <a:p>
            <a:pPr marR="0" lvl="0" rtl="0"/>
            <a:r>
              <a:rPr lang="zh-CN" altLang="en-US" sz="2400" b="0" i="0" u="none" strike="noStrike" kern="100" baseline="0" dirty="0" smtClean="0">
                <a:latin typeface="+mn-ea"/>
              </a:rPr>
              <a:t>求知本能：对于任何一个想准确把握外在世界的人来说，复杂性都是一个难题。</a:t>
            </a:r>
          </a:p>
          <a:p>
            <a:pPr marR="0" lvl="0" rtl="0"/>
            <a:r>
              <a:rPr lang="zh-CN" altLang="en-US" sz="2400" b="0" i="0" u="none" strike="noStrike" kern="100" baseline="0" dirty="0" smtClean="0">
                <a:latin typeface="+mn-ea"/>
              </a:rPr>
              <a:t>维特根斯坦：凡是能够言说的世界，就是我们能够掌握的世界。</a:t>
            </a:r>
          </a:p>
        </p:txBody>
      </p:sp>
      <p:sp>
        <p:nvSpPr>
          <p:cNvPr id="2" name="标题 1"/>
          <p:cNvSpPr>
            <a:spLocks noGrp="1"/>
          </p:cNvSpPr>
          <p:nvPr>
            <p:ph type="title"/>
          </p:nvPr>
        </p:nvSpPr>
        <p:spPr/>
        <p:txBody>
          <a:bodyPr>
            <a:normAutofit/>
          </a:bodyPr>
          <a:lstStyle/>
          <a:p>
            <a:pPr marR="0" rtl="0"/>
            <a:r>
              <a:rPr lang="zh-CN" altLang="en-US" b="0" i="0" u="none" strike="noStrike" kern="100" baseline="0" dirty="0" smtClean="0">
                <a:latin typeface="+mj-ea"/>
              </a:rPr>
              <a:t>问：地域歧视为什么会跨越时空、普遍存在？</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因为地域歧视是一种“简化机制”。</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410F65F1-75E4-464E-9650-D1C7D9371420}"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38</a:t>
            </a:fld>
            <a:r>
              <a:rPr lang="zh-CN" altLang="en-US" smtClean="0"/>
              <a:t>页</a:t>
            </a:r>
            <a:endParaRPr lang="zh-CN" altLang="en-US" dirty="0"/>
          </a:p>
        </p:txBody>
      </p:sp>
    </p:spTree>
    <p:extLst>
      <p:ext uri="{BB962C8B-B14F-4D97-AF65-F5344CB8AC3E}">
        <p14:creationId xmlns:p14="http://schemas.microsoft.com/office/powerpoint/2010/main" val="8274732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800" b="0" i="0" u="none" strike="noStrike" kern="100" baseline="0" dirty="0" smtClean="0">
                <a:latin typeface="Times New Roman" panose="02020603050405020304" pitchFamily="18" charset="0"/>
                <a:ea typeface="华文细黑" panose="02010600040101010101" pitchFamily="2" charset="-122"/>
              </a:rPr>
              <a:t>我们的成长过程就是不断构建“我们”和“他们”之间边界的过程。</a:t>
            </a:r>
          </a:p>
          <a:p>
            <a:pPr marR="0" lvl="0" rtl="0"/>
            <a:r>
              <a:rPr lang="zh-CN" altLang="en-US" sz="2800" b="0" i="0" u="none" strike="noStrike" kern="100" baseline="0" dirty="0" smtClean="0">
                <a:latin typeface="Times New Roman" panose="02020603050405020304" pitchFamily="18" charset="0"/>
                <a:ea typeface="华文细黑" panose="02010600040101010101" pitchFamily="2" charset="-122"/>
              </a:rPr>
              <a:t>人格修炼方法一：把人格扩大到无远弗届，丧钟为每个人而鸣。</a:t>
            </a:r>
          </a:p>
          <a:p>
            <a:pPr marR="0" lvl="0" rtl="0"/>
            <a:r>
              <a:rPr lang="zh-CN" altLang="en-US" sz="2800" b="0" i="0" u="none" strike="noStrike" kern="100" baseline="0" dirty="0" smtClean="0">
                <a:latin typeface="Times New Roman" panose="02020603050405020304" pitchFamily="18" charset="0"/>
                <a:ea typeface="华文细黑" panose="02010600040101010101" pitchFamily="2" charset="-122"/>
              </a:rPr>
              <a:t>人格修炼方法二：把人格收缩得非常独立，是佛法中的“剥离”思维。</a:t>
            </a:r>
          </a:p>
          <a:p>
            <a:pPr marR="0" lvl="0" rtl="0"/>
            <a:r>
              <a:rPr lang="zh-CN" altLang="en-US" sz="2800" b="0" i="0" u="none" strike="noStrike" kern="100" baseline="0" dirty="0" smtClean="0">
                <a:latin typeface="Times New Roman" panose="02020603050405020304" pitchFamily="18" charset="0"/>
                <a:ea typeface="华文细黑" panose="02010600040101010101" pitchFamily="2" charset="-122"/>
              </a:rPr>
              <a:t>美国的反种族歧视法案正是黑人通过有组织地维权获得的。</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mj-ea"/>
              </a:rPr>
              <a:t>问：如何解决地域歧视的问题？</a:t>
            </a:r>
            <a:r>
              <a:rPr lang="en-US" altLang="zh-CN" b="0" i="0" u="none" strike="noStrike" kern="100" baseline="0" dirty="0" smtClean="0">
                <a:latin typeface="+mj-ea"/>
              </a:rPr>
              <a:t/>
            </a:r>
            <a:br>
              <a:rPr lang="en-US" altLang="zh-CN" b="0" i="0" u="none" strike="noStrike" kern="100" baseline="0" dirty="0" smtClean="0">
                <a:latin typeface="+mj-ea"/>
              </a:rPr>
            </a:br>
            <a:r>
              <a:rPr lang="zh-CN" altLang="en-US" b="0" i="0" u="none" strike="noStrike" kern="100" baseline="0" dirty="0" smtClean="0">
                <a:latin typeface="+mj-ea"/>
              </a:rPr>
              <a:t>答：</a:t>
            </a:r>
            <a:r>
              <a:rPr lang="zh-CN" altLang="en-US" sz="3200" b="0" i="0" u="none" strike="noStrike" kern="100" baseline="0" dirty="0" smtClean="0">
                <a:latin typeface="+mj-ea"/>
              </a:rPr>
              <a:t>人格修炼，必要时有组织地维权。</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9614B620-E181-40B1-AE36-53C220CF73C9}"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39</a:t>
            </a:fld>
            <a:r>
              <a:rPr lang="zh-CN" altLang="en-US" smtClean="0"/>
              <a:t>页</a:t>
            </a:r>
            <a:endParaRPr lang="zh-CN" altLang="en-US" dirty="0"/>
          </a:p>
        </p:txBody>
      </p:sp>
    </p:spTree>
    <p:extLst>
      <p:ext uri="{BB962C8B-B14F-4D97-AF65-F5344CB8AC3E}">
        <p14:creationId xmlns:p14="http://schemas.microsoft.com/office/powerpoint/2010/main" val="3393835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慈善的善与恶</a:t>
            </a:r>
          </a:p>
        </p:txBody>
      </p:sp>
      <p:sp>
        <p:nvSpPr>
          <p:cNvPr id="6" name="矩形 5"/>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12</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408201782"/>
      </p:ext>
    </p:extLst>
  </p:cSld>
  <p:clrMapOvr>
    <a:masterClrMapping/>
  </p:clrMapOvr>
  <p:transition spd="slow">
    <p:fade thruBlk="1"/>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慈善是生生地把富人的钱通过某一种社会管道转移给穷人，这个管道容易癌变。</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癌变一：受援助的社会结构中的缺点导致慈善会养肥贪污者和暴力者，害了百姓。</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癌变二：受援助的社会结构中的好因素，比如自由贸易被破坏，毁掉了萨赫尔。</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2700" b="0" i="0" u="none" strike="noStrike" kern="100" baseline="0" dirty="0" smtClean="0">
                <a:latin typeface="+mj-ea"/>
              </a:rPr>
              <a:t>周其仁说非洲人民吃不上饭是因为西方国家的粮食援助，这不是狗咬吕洞宾吗？</a:t>
            </a:r>
            <a:r>
              <a:rPr lang="en-US" altLang="zh-CN" sz="2700" b="0" i="0" u="none" strike="noStrike" kern="100" baseline="0" dirty="0" smtClean="0">
                <a:latin typeface="+mj-ea"/>
              </a:rPr>
              <a:t/>
            </a:r>
            <a:br>
              <a:rPr lang="en-US" altLang="zh-CN" sz="2700"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2700" b="0" i="0" u="none" strike="noStrike" kern="100" baseline="0" dirty="0" smtClean="0">
                <a:latin typeface="+mj-ea"/>
              </a:rPr>
              <a:t>他人的世界和你假想的世界很可能是不一样的，让好事产生好的结果</a:t>
            </a:r>
            <a:r>
              <a:rPr lang="en-US" altLang="zh-CN" sz="2700" b="0" i="0" u="none" strike="noStrike" kern="100" baseline="0" dirty="0" smtClean="0">
                <a:latin typeface="+mj-ea"/>
              </a:rPr>
              <a:t>——</a:t>
            </a:r>
            <a:r>
              <a:rPr lang="zh-CN" altLang="en-US" sz="2700" b="0" i="0" u="none" strike="noStrike" kern="100" baseline="0" dirty="0" smtClean="0">
                <a:latin typeface="+mj-ea"/>
              </a:rPr>
              <a:t>很难。</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A8F3A44D-6053-4843-A494-0D00CDF1A4C8}"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41</a:t>
            </a:fld>
            <a:r>
              <a:rPr lang="zh-CN" altLang="en-US" smtClean="0"/>
              <a:t>页</a:t>
            </a:r>
            <a:endParaRPr lang="zh-CN" altLang="en-US" dirty="0"/>
          </a:p>
        </p:txBody>
      </p:sp>
    </p:spTree>
    <p:extLst>
      <p:ext uri="{BB962C8B-B14F-4D97-AF65-F5344CB8AC3E}">
        <p14:creationId xmlns:p14="http://schemas.microsoft.com/office/powerpoint/2010/main" val="4085515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noAutofit/>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利他和自私是人性的两面，它们根植在每个人的人性深处，我们有做慈善的基础。</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协和医院创办之初的硬件和软件都选最好的，千年大计，要树立精神的高峰。</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技术高标准：协和医学院的淘汰率很高，是因为要在中国的医学界培养出几个泰斗。</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医德高标准：仁心是一个大夫的品行，林巧稚的故事说明了这一点。</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个人做慈善，曾国藩主张“看到就做，看不到就不管”，后者是社会进步的结果。</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3600" b="0" i="0" u="none" strike="noStrike" kern="100" baseline="0" dirty="0" smtClean="0">
                <a:latin typeface="+mj-ea"/>
              </a:rPr>
              <a:t>什么样的慈善才是好慈善，避免把好事办成坏事？</a:t>
            </a:r>
            <a:r>
              <a:rPr lang="en-US" altLang="zh-CN" sz="3600" b="0" i="0" u="none" strike="noStrike" kern="100" baseline="0" dirty="0" smtClean="0">
                <a:latin typeface="+mj-ea"/>
              </a:rPr>
              <a:t/>
            </a:r>
            <a:br>
              <a:rPr lang="en-US" altLang="zh-CN" sz="3600" b="0" i="0" u="none" strike="noStrike" kern="100" baseline="0" dirty="0" smtClean="0">
                <a:latin typeface="+mj-ea"/>
              </a:rPr>
            </a:br>
            <a:r>
              <a:rPr lang="zh-CN" altLang="en-US" b="0" i="0" u="none" strike="noStrike" kern="100" baseline="0" dirty="0" smtClean="0">
                <a:latin typeface="+mj-ea"/>
              </a:rPr>
              <a:t>答：好慈善是一座座矗立的高峰。</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646B3BCD-31BA-4CC1-8044-10CDECE55920}"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42</a:t>
            </a:fld>
            <a:r>
              <a:rPr lang="zh-CN" altLang="en-US" smtClean="0"/>
              <a:t>页</a:t>
            </a:r>
            <a:endParaRPr lang="zh-CN" altLang="en-US" dirty="0"/>
          </a:p>
        </p:txBody>
      </p:sp>
    </p:spTree>
    <p:extLst>
      <p:ext uri="{BB962C8B-B14F-4D97-AF65-F5344CB8AC3E}">
        <p14:creationId xmlns:p14="http://schemas.microsoft.com/office/powerpoint/2010/main" val="35015715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怀疑一：富人的钱也不是捡来的，而是靠自己的勤奋努力挣来的。</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怀疑二：穷人拿到钱也不知道怎么花，他们已失去摆脱贫穷的智力了，只能混吃喝。</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怀疑三：普济众生的牧师认为应该把救济机构变成人间地狱，才有益于世道人心。</a:t>
            </a:r>
          </a:p>
        </p:txBody>
      </p:sp>
      <p:sp>
        <p:nvSpPr>
          <p:cNvPr id="2" name="标题 1"/>
          <p:cNvSpPr>
            <a:spLocks noGrp="1"/>
          </p:cNvSpPr>
          <p:nvPr>
            <p:ph type="title"/>
          </p:nvPr>
        </p:nvSpPr>
        <p:spPr>
          <a:xfrm>
            <a:off x="245976" y="1024722"/>
            <a:ext cx="11700048" cy="1515278"/>
          </a:xfrm>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3600" b="0" i="0" u="none" strike="noStrike" kern="100" baseline="0" dirty="0" smtClean="0">
                <a:latin typeface="+mj-ea"/>
              </a:rPr>
              <a:t>慈善之心每个人都有，那为什么关于慈善的争论一直存在？</a:t>
            </a:r>
            <a:r>
              <a:rPr lang="en-US" altLang="zh-CN" sz="3600" b="0" i="0" u="none" strike="noStrike" kern="100" baseline="0" dirty="0" smtClean="0">
                <a:latin typeface="+mj-ea"/>
              </a:rPr>
              <a:t/>
            </a:r>
            <a:br>
              <a:rPr lang="en-US" altLang="zh-CN" sz="3600"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3100" b="0" i="0" u="none" strike="noStrike" kern="100" baseline="0" dirty="0" smtClean="0">
                <a:latin typeface="+mj-ea"/>
              </a:rPr>
              <a:t>慈善是个真理名词，但我们不能迷信真理，适当的怀疑很有必要。</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B3C5EA22-0D0A-4B3B-BC06-1F86E52AF047}"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43</a:t>
            </a:fld>
            <a:r>
              <a:rPr lang="zh-CN" altLang="en-US" smtClean="0"/>
              <a:t>页</a:t>
            </a:r>
            <a:endParaRPr lang="zh-CN" altLang="en-US" dirty="0"/>
          </a:p>
        </p:txBody>
      </p:sp>
    </p:spTree>
    <p:extLst>
      <p:ext uri="{BB962C8B-B14F-4D97-AF65-F5344CB8AC3E}">
        <p14:creationId xmlns:p14="http://schemas.microsoft.com/office/powerpoint/2010/main" val="387063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权力之下无真相</a:t>
            </a:r>
          </a:p>
        </p:txBody>
      </p:sp>
      <p:sp>
        <p:nvSpPr>
          <p:cNvPr id="6" name="矩形 5"/>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13</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3422722007"/>
      </p:ext>
    </p:extLst>
  </p:cSld>
  <p:clrMapOvr>
    <a:masterClrMapping/>
  </p:clrMapOvr>
  <p:transition spd="slow">
    <p:fade thruBlk="1"/>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是真爱吗：自由意志会屈服于权力，自由意志会在权力面前变得非常谄媚。</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莫斯科大审判：如果法庭只信证词，只信自我招供，是不可能获得真相的。</a:t>
            </a:r>
          </a:p>
          <a:p>
            <a:pPr marR="0" lvl="0" rtl="0"/>
            <a:r>
              <a:rPr lang="en-US" altLang="zh-CN" sz="2400" b="0" i="0" u="none" strike="noStrike" kern="100" baseline="0" dirty="0" smtClean="0">
                <a:latin typeface="Times New Roman" panose="02020603050405020304" pitchFamily="18" charset="0"/>
                <a:ea typeface="华文细黑" panose="02010600040101010101" pitchFamily="2" charset="-122"/>
              </a:rPr>
              <a:t>《</a:t>
            </a:r>
            <a:r>
              <a:rPr lang="zh-CN" altLang="en-US" sz="2400" b="0" i="0" u="none" strike="noStrike" kern="100" baseline="0" dirty="0" smtClean="0">
                <a:latin typeface="Times New Roman" panose="02020603050405020304" pitchFamily="18" charset="0"/>
                <a:ea typeface="华文细黑" panose="02010600040101010101" pitchFamily="2" charset="-122"/>
              </a:rPr>
              <a:t>逆臣录</a:t>
            </a:r>
            <a:r>
              <a:rPr lang="en-US" altLang="zh-CN" sz="2400" b="0" i="0" u="none" strike="noStrike" kern="100" baseline="0" dirty="0" smtClean="0">
                <a:latin typeface="Times New Roman" panose="02020603050405020304" pitchFamily="18" charset="0"/>
                <a:ea typeface="华文细黑" panose="02010600040101010101" pitchFamily="2" charset="-122"/>
              </a:rPr>
              <a:t>》</a:t>
            </a:r>
            <a:r>
              <a:rPr lang="zh-CN" altLang="en-US" sz="2400" b="0" i="0" u="none" strike="noStrike" kern="100" baseline="0" dirty="0" smtClean="0">
                <a:latin typeface="Times New Roman" panose="02020603050405020304" pitchFamily="18" charset="0"/>
                <a:ea typeface="华文细黑" panose="02010600040101010101" pitchFamily="2" charset="-122"/>
              </a:rPr>
              <a:t>：现在来看，所谓的铁证如山都是笑话。权力之下无真相。</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4000" b="0" i="0" u="none" strike="noStrike" kern="100" baseline="0" dirty="0" smtClean="0">
                <a:latin typeface="+mj-ea"/>
              </a:rPr>
              <a:t>台湾为什么禁止师生恋？这不是妨碍自由恋爱吗？</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：因为隐隐然、淡淡然的权力存在。</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FC9408D6-3D36-4FDD-8334-4A45551165FB}"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45</a:t>
            </a:fld>
            <a:r>
              <a:rPr lang="zh-CN" altLang="en-US" smtClean="0"/>
              <a:t>页</a:t>
            </a:r>
            <a:endParaRPr lang="zh-CN" altLang="en-US" dirty="0"/>
          </a:p>
        </p:txBody>
      </p:sp>
    </p:spTree>
    <p:extLst>
      <p:ext uri="{BB962C8B-B14F-4D97-AF65-F5344CB8AC3E}">
        <p14:creationId xmlns:p14="http://schemas.microsoft.com/office/powerpoint/2010/main" val="37615426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古代技术条件缺陷：获取权力中心者的意见偏向甚至只有靠纯文艺的方法。</a:t>
            </a:r>
          </a:p>
          <a:p>
            <a:pPr marR="0" lvl="0" rtl="0"/>
            <a:r>
              <a:rPr lang="zh-CN" altLang="en-US" sz="2400" b="0" i="0" u="none" strike="noStrike" kern="100" baseline="0" dirty="0" smtClean="0">
                <a:latin typeface="+mn-ea"/>
              </a:rPr>
              <a:t>古代社会结构缺陷：权力内部斗争激烈，群体的政治倾向会扭曲真相。</a:t>
            </a:r>
          </a:p>
          <a:p>
            <a:pPr marR="0" lvl="0" rtl="0"/>
            <a:r>
              <a:rPr lang="en-US" altLang="zh-CN" sz="2400" b="0" i="0" u="none" strike="noStrike" kern="100" baseline="0" dirty="0" smtClean="0">
                <a:latin typeface="+mn-ea"/>
              </a:rPr>
              <a:t>《</a:t>
            </a:r>
            <a:r>
              <a:rPr lang="zh-CN" altLang="en-US" sz="2400" b="0" i="0" u="none" strike="noStrike" kern="100" baseline="0" dirty="0" smtClean="0">
                <a:latin typeface="+mn-ea"/>
              </a:rPr>
              <a:t>大数据</a:t>
            </a:r>
            <a:r>
              <a:rPr lang="en-US" altLang="zh-CN" sz="2400" b="0" i="0" u="none" strike="noStrike" kern="100" baseline="0" dirty="0" smtClean="0">
                <a:latin typeface="+mn-ea"/>
              </a:rPr>
              <a:t>》</a:t>
            </a:r>
            <a:r>
              <a:rPr lang="zh-CN" altLang="en-US" sz="2400" b="0" i="0" u="none" strike="noStrike" kern="100" baseline="0" dirty="0" smtClean="0">
                <a:latin typeface="+mn-ea"/>
              </a:rPr>
              <a:t>：在互联网时代，一个人想要掩盖真相已经不太可能了。</a:t>
            </a:r>
          </a:p>
        </p:txBody>
      </p:sp>
      <p:sp>
        <p:nvSpPr>
          <p:cNvPr id="2" name="标题 1"/>
          <p:cNvSpPr>
            <a:spLocks noGrp="1"/>
          </p:cNvSpPr>
          <p:nvPr>
            <p:ph type="title"/>
          </p:nvPr>
        </p:nvSpPr>
        <p:spPr/>
        <p:txBody>
          <a:bodyPr/>
          <a:lstStyle/>
          <a:p>
            <a:pPr marR="0" rtl="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3600" b="0" i="0" u="none" strike="noStrike" kern="100" baseline="0" dirty="0" smtClean="0">
                <a:latin typeface="华康俪金黑W8(P)" panose="020B0800000000000000" pitchFamily="34" charset="-122"/>
                <a:ea typeface="华康俪金黑W8(P)" panose="020B0800000000000000" pitchFamily="34" charset="-122"/>
              </a:rPr>
              <a:t>权力永远在，那么互联网时代，真相如何浮现出来？</a:t>
            </a:r>
            <a:r>
              <a:rPr lang="en-US" altLang="zh-CN" b="0" i="0" u="none" strike="noStrike" kern="100" baseline="0" dirty="0" smtClean="0">
                <a:latin typeface="华康俪金黑W8(P)" panose="020B0800000000000000" pitchFamily="34" charset="-122"/>
                <a:ea typeface="华康俪金黑W8(P)" panose="020B0800000000000000" pitchFamily="34" charset="-122"/>
              </a:rPr>
              <a:t/>
            </a:r>
            <a:br>
              <a:rPr lang="en-US" altLang="zh-CN"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答：大数据。</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2E44BC7D-4321-453F-AF0B-D74412EB0386}"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46</a:t>
            </a:fld>
            <a:r>
              <a:rPr lang="zh-CN" altLang="en-US" smtClean="0"/>
              <a:t>页</a:t>
            </a:r>
            <a:endParaRPr lang="zh-CN" altLang="en-US" dirty="0"/>
          </a:p>
        </p:txBody>
      </p:sp>
    </p:spTree>
    <p:extLst>
      <p:ext uri="{BB962C8B-B14F-4D97-AF65-F5344CB8AC3E}">
        <p14:creationId xmlns:p14="http://schemas.microsoft.com/office/powerpoint/2010/main" val="91895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聊聊什么是社会主义</a:t>
            </a:r>
          </a:p>
        </p:txBody>
      </p:sp>
      <p:sp>
        <p:nvSpPr>
          <p:cNvPr id="6" name="矩形 5"/>
          <p:cNvSpPr/>
          <p:nvPr/>
        </p:nvSpPr>
        <p:spPr>
          <a:xfrm>
            <a:off x="9231853" y="4609923"/>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14</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964063880"/>
      </p:ext>
    </p:extLst>
  </p:cSld>
  <p:clrMapOvr>
    <a:masterClrMapping/>
  </p:clrMapOvr>
  <p:transition spd="slow">
    <p:fade thruBlk="1"/>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我们的思考起点应该回到马克思主义，回到思想的源发地。</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马克思说：资本主义干了一件好事，把人从不自由的状态中摆脱出来，售卖劳动力。</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马克思说：人又沦入不自由，是人们太依附于资本组织起来的那些大组织了。</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马克思说：在未来，每个人重新用一种更自由的方式和他人协作，就是共产主义。</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互联网就是自由人的自由联合。</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3200" b="0" i="0" u="none" strike="noStrike" kern="100" baseline="0" dirty="0" smtClean="0">
                <a:latin typeface="华康俪金黑W8(P)" panose="020B0800000000000000" pitchFamily="34" charset="-122"/>
                <a:ea typeface="华康俪金黑W8(P)" panose="020B0800000000000000" pitchFamily="34" charset="-122"/>
              </a:rPr>
              <a:t>苏联解体以及东欧剧变是不是说明马克思主义错了呢？</a:t>
            </a:r>
            <a:r>
              <a:rPr lang="en-US" altLang="zh-CN" sz="4800" b="0" i="0" u="none" strike="noStrike" kern="100" baseline="0" dirty="0" smtClean="0">
                <a:latin typeface="华康俪金黑W8(P)" panose="020B0800000000000000" pitchFamily="34" charset="-122"/>
                <a:ea typeface="华康俪金黑W8(P)" panose="020B0800000000000000" pitchFamily="34" charset="-122"/>
              </a:rPr>
              <a:t/>
            </a:r>
            <a:br>
              <a:rPr lang="en-US" altLang="zh-CN" sz="4800"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a:t>
            </a:r>
            <a:r>
              <a:rPr lang="zh-CN" altLang="en-US" sz="2800" b="0" i="0" u="none" strike="noStrike" kern="100" baseline="0" dirty="0" smtClean="0">
                <a:latin typeface="华康俪金黑W8(P)" panose="020B0800000000000000" pitchFamily="34" charset="-122"/>
                <a:ea typeface="华康俪金黑W8(P)" panose="020B0800000000000000" pitchFamily="34" charset="-122"/>
              </a:rPr>
              <a:t>不是。有些人念歪了经，马克思的理想永远是伟大的。</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5A2DB2DF-61C4-49E1-B697-F01B4E808ED7}"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48</a:t>
            </a:fld>
            <a:r>
              <a:rPr lang="zh-CN" altLang="en-US" smtClean="0"/>
              <a:t>页</a:t>
            </a:r>
            <a:endParaRPr lang="zh-CN" altLang="en-US" dirty="0"/>
          </a:p>
        </p:txBody>
      </p:sp>
    </p:spTree>
    <p:extLst>
      <p:ext uri="{BB962C8B-B14F-4D97-AF65-F5344CB8AC3E}">
        <p14:creationId xmlns:p14="http://schemas.microsoft.com/office/powerpoint/2010/main" val="1590712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mn-ea"/>
              </a:rPr>
              <a:t>托马斯</a:t>
            </a:r>
            <a:r>
              <a:rPr lang="en-US" altLang="zh-CN" sz="2400" b="0" i="0" u="none" strike="noStrike" kern="100" baseline="0" dirty="0" smtClean="0">
                <a:latin typeface="+mn-ea"/>
              </a:rPr>
              <a:t>·</a:t>
            </a:r>
            <a:r>
              <a:rPr lang="zh-CN" altLang="en-US" sz="2400" b="0" i="0" u="none" strike="noStrike" kern="100" baseline="0" dirty="0" smtClean="0">
                <a:latin typeface="+mn-ea"/>
              </a:rPr>
              <a:t>莫尔：为了自由的圣徒精神。</a:t>
            </a:r>
          </a:p>
          <a:p>
            <a:pPr marR="0" lvl="0" rtl="0"/>
            <a:r>
              <a:rPr lang="zh-CN" altLang="en-US" sz="2400" b="0" i="0" u="none" strike="noStrike" kern="100" baseline="0" dirty="0" smtClean="0">
                <a:latin typeface="+mn-ea"/>
              </a:rPr>
              <a:t>欧文：建设人间乐土的试验精神。</a:t>
            </a:r>
          </a:p>
          <a:p>
            <a:pPr marR="0" lvl="0" rtl="0"/>
            <a:r>
              <a:rPr lang="zh-CN" altLang="en-US" sz="2400" b="0" i="0" u="none" strike="noStrike" kern="100" baseline="0" dirty="0" smtClean="0">
                <a:latin typeface="+mn-ea"/>
              </a:rPr>
              <a:t>圣西门：终身思考的精神。</a:t>
            </a:r>
          </a:p>
          <a:p>
            <a:pPr marR="0" lvl="0" rtl="0"/>
            <a:r>
              <a:rPr lang="zh-CN" altLang="en-US" sz="2400" b="0" i="0" u="none" strike="noStrike" kern="100" baseline="0" dirty="0" smtClean="0">
                <a:latin typeface="+mn-ea"/>
              </a:rPr>
              <a:t>马克思：对真理和人类未来的探寻精神。</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2600" b="0" i="0" u="none" strike="noStrike" kern="100" baseline="0" dirty="0" smtClean="0">
                <a:latin typeface="华康俪金黑W8(P)" panose="020B0800000000000000" pitchFamily="34" charset="-122"/>
                <a:ea typeface="华康俪金黑W8(P)" panose="020B0800000000000000" pitchFamily="34" charset="-122"/>
              </a:rPr>
              <a:t>“公知”成为到处乱喷的代名词，作为一个好公知，应该有怎样的境界？</a:t>
            </a:r>
            <a:r>
              <a:rPr lang="en-US" altLang="zh-CN" sz="2600" b="0" i="0" u="none" strike="noStrike" kern="100" baseline="0" dirty="0" smtClean="0">
                <a:latin typeface="华康俪金黑W8(P)" panose="020B0800000000000000" pitchFamily="34" charset="-122"/>
                <a:ea typeface="华康俪金黑W8(P)" panose="020B0800000000000000" pitchFamily="34" charset="-122"/>
              </a:rPr>
              <a:t/>
            </a:r>
            <a:br>
              <a:rPr lang="en-US" altLang="zh-CN" sz="2600"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a:t>
            </a:r>
            <a:r>
              <a:rPr lang="zh-CN" altLang="en-US" sz="2400" b="0" i="0" u="none" strike="noStrike" kern="100" baseline="0" dirty="0" smtClean="0">
                <a:latin typeface="华康俪金黑W8(P)" panose="020B0800000000000000" pitchFamily="34" charset="-122"/>
                <a:ea typeface="华康俪金黑W8(P)" panose="020B0800000000000000" pitchFamily="34" charset="-122"/>
              </a:rPr>
              <a:t>要有对爱情的追求，对知识的渴望，还有对人类苦难不可遏制的同情心</a:t>
            </a:r>
            <a:r>
              <a:rPr lang="en-US" altLang="zh-CN" sz="2400" b="0" i="0" u="none" strike="noStrike" kern="100" baseline="0" dirty="0" smtClean="0">
                <a:latin typeface="华康俪金黑W8(P)" panose="020B0800000000000000" pitchFamily="34" charset="-122"/>
                <a:ea typeface="华康俪金黑W8(P)" panose="020B0800000000000000" pitchFamily="34" charset="-122"/>
              </a:rPr>
              <a:t>(</a:t>
            </a:r>
            <a:r>
              <a:rPr lang="zh-CN" altLang="en-US" sz="2400" b="0" i="0" u="none" strike="noStrike" kern="100" baseline="0" dirty="0" smtClean="0">
                <a:latin typeface="华康俪金黑W8(P)" panose="020B0800000000000000" pitchFamily="34" charset="-122"/>
                <a:ea typeface="华康俪金黑W8(P)" panose="020B0800000000000000" pitchFamily="34" charset="-122"/>
              </a:rPr>
              <a:t>罗素</a:t>
            </a:r>
            <a:r>
              <a:rPr lang="en-US" altLang="zh-CN" sz="2400" b="0" i="0" u="none" strike="noStrike" kern="100" baseline="0" dirty="0" smtClean="0">
                <a:latin typeface="华康俪金黑W8(P)" panose="020B0800000000000000" pitchFamily="34" charset="-122"/>
                <a:ea typeface="华康俪金黑W8(P)" panose="020B0800000000000000" pitchFamily="34" charset="-122"/>
              </a:rPr>
              <a:t>)</a:t>
            </a:r>
            <a:r>
              <a:rPr lang="zh-CN" altLang="en-US" sz="2400" b="0" i="0" u="none" strike="noStrike" kern="100" baseline="0" dirty="0" smtClean="0">
                <a:latin typeface="华康俪金黑W8(P)" panose="020B0800000000000000" pitchFamily="34" charset="-122"/>
                <a:ea typeface="华康俪金黑W8(P)" panose="020B0800000000000000" pitchFamily="34" charset="-122"/>
              </a:rPr>
              <a:t>。</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784F3418-6915-4724-A2B1-E614314BA043}"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49</a:t>
            </a:fld>
            <a:r>
              <a:rPr lang="zh-CN" altLang="en-US" smtClean="0"/>
              <a:t>页</a:t>
            </a:r>
            <a:endParaRPr lang="zh-CN" altLang="en-US" dirty="0"/>
          </a:p>
        </p:txBody>
      </p:sp>
    </p:spTree>
    <p:extLst>
      <p:ext uri="{BB962C8B-B14F-4D97-AF65-F5344CB8AC3E}">
        <p14:creationId xmlns:p14="http://schemas.microsoft.com/office/powerpoint/2010/main" val="15926975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marR="0" rtl="0"/>
            <a:r>
              <a:rPr lang="zh-CN" altLang="en-US" i="0" u="none" strike="noStrike" kern="100" baseline="0" dirty="0" smtClean="0"/>
              <a:t>进化论其实是在否定进化</a:t>
            </a:r>
          </a:p>
        </p:txBody>
      </p:sp>
      <p:sp>
        <p:nvSpPr>
          <p:cNvPr id="6" name="矩形 5"/>
          <p:cNvSpPr/>
          <p:nvPr/>
        </p:nvSpPr>
        <p:spPr>
          <a:xfrm>
            <a:off x="9231853" y="4609924"/>
            <a:ext cx="2714171" cy="2646878"/>
          </a:xfrm>
          <a:prstGeom prst="rect">
            <a:avLst/>
          </a:prstGeom>
        </p:spPr>
        <p:txBody>
          <a:bodyPr wrap="square">
            <a:spAutoFit/>
          </a:bodyPr>
          <a:lstStyle/>
          <a:p>
            <a:pPr algn="r"/>
            <a:r>
              <a:rPr lang="en-US" altLang="zh-CN" sz="16600" dirty="0" smtClean="0">
                <a:solidFill>
                  <a:sysClr val="windowText" lastClr="000000"/>
                </a:solidFill>
                <a:latin typeface="汉仪菱心体简" panose="02010609000101010101" pitchFamily="49" charset="-122"/>
                <a:ea typeface="汉仪菱心体简" panose="02010609000101010101" pitchFamily="49" charset="-122"/>
              </a:rPr>
              <a:t>15</a:t>
            </a:r>
            <a:endParaRPr lang="zh-CN" altLang="en-US" sz="16600" dirty="0">
              <a:solidFill>
                <a:sysClr val="windowText" lastClr="000000"/>
              </a:solidFill>
              <a:latin typeface="汉仪菱心体简" panose="02010609000101010101" pitchFamily="49" charset="-122"/>
              <a:ea typeface="汉仪菱心体简" panose="02010609000101010101" pitchFamily="49" charset="-122"/>
            </a:endParaRPr>
          </a:p>
        </p:txBody>
      </p:sp>
    </p:spTree>
    <p:extLst>
      <p:ext uri="{BB962C8B-B14F-4D97-AF65-F5344CB8AC3E}">
        <p14:creationId xmlns:p14="http://schemas.microsoft.com/office/powerpoint/2010/main" val="1621670387"/>
      </p:ext>
    </p:extLst>
  </p:cSld>
  <p:clrMapOvr>
    <a:masterClrMapping/>
  </p:clrMapOvr>
  <p:transition spd="slow">
    <p:fade thruBlk="1"/>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达尔文的进化论颠覆了信仰：进化压根没有方向！</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达尔文发现没有物种是通过自己的努力然后获得一种向上的动力，大自然决定一切。</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创造要付出的不只是智慧，首先要付出的就是勇气。</a:t>
            </a:r>
          </a:p>
        </p:txBody>
      </p:sp>
      <p:sp>
        <p:nvSpPr>
          <p:cNvPr id="2" name="标题 1"/>
          <p:cNvSpPr>
            <a:spLocks noGrp="1"/>
          </p:cNvSpPr>
          <p:nvPr>
            <p:ph type="title"/>
          </p:nvPr>
        </p:nvSpPr>
        <p:spPr/>
        <p:txBody>
          <a:bodyPr>
            <a:normAutofit fontScale="90000"/>
          </a:bodyPr>
          <a:lstStyle/>
          <a:p>
            <a:pPr marR="0" rtl="0"/>
            <a:r>
              <a:rPr lang="zh-CN" altLang="en-US" sz="4900" b="0" i="0" u="none" strike="noStrike" kern="100" baseline="0" dirty="0" smtClean="0">
                <a:latin typeface="+mj-ea"/>
              </a:rPr>
              <a:t>问</a:t>
            </a:r>
            <a:r>
              <a:rPr lang="zh-CN" altLang="en-US" b="0" i="0" u="none" strike="noStrike" kern="100" baseline="0" dirty="0" smtClean="0">
                <a:latin typeface="+mj-ea"/>
              </a:rPr>
              <a:t>：</a:t>
            </a:r>
            <a:r>
              <a:rPr lang="zh-CN" altLang="en-US" sz="3600" b="0" i="0" u="none" strike="noStrike" kern="100" baseline="0" dirty="0" smtClean="0">
                <a:latin typeface="+mj-ea"/>
              </a:rPr>
              <a:t>达尔文是有拖延症吗？为什么拖了</a:t>
            </a:r>
            <a:r>
              <a:rPr lang="en-US" altLang="zh-CN" sz="3600" b="0" i="0" u="none" strike="noStrike" kern="100" baseline="0" dirty="0" smtClean="0">
                <a:latin typeface="+mj-ea"/>
              </a:rPr>
              <a:t>20</a:t>
            </a:r>
            <a:r>
              <a:rPr lang="zh-CN" altLang="en-US" sz="3600" b="0" i="0" u="none" strike="noStrike" kern="100" baseline="0" dirty="0" smtClean="0">
                <a:latin typeface="+mj-ea"/>
              </a:rPr>
              <a:t>年才写</a:t>
            </a:r>
            <a:r>
              <a:rPr lang="en-US" altLang="zh-CN" sz="3600" b="0" i="0" u="none" strike="noStrike" kern="100" baseline="0" dirty="0" smtClean="0">
                <a:latin typeface="+mj-ea"/>
              </a:rPr>
              <a:t>《</a:t>
            </a:r>
            <a:r>
              <a:rPr lang="zh-CN" altLang="en-US" sz="3600" b="0" i="0" u="none" strike="noStrike" kern="100" baseline="0" dirty="0" smtClean="0">
                <a:latin typeface="+mj-ea"/>
              </a:rPr>
              <a:t>物种起源</a:t>
            </a:r>
            <a:r>
              <a:rPr lang="en-US" altLang="zh-CN" sz="3600" b="0" i="0" u="none" strike="noStrike" kern="100" baseline="0" dirty="0" smtClean="0">
                <a:latin typeface="+mj-ea"/>
              </a:rPr>
              <a:t>》</a:t>
            </a:r>
            <a:r>
              <a:rPr lang="zh-CN" altLang="en-US" sz="3600" b="0" i="0" u="none" strike="noStrike" kern="100" baseline="0" dirty="0" smtClean="0">
                <a:latin typeface="+mj-ea"/>
              </a:rPr>
              <a:t>？</a:t>
            </a:r>
            <a:r>
              <a:rPr lang="en-US" altLang="zh-CN" b="0" i="0" u="none" strike="noStrike" kern="100" baseline="0" dirty="0" smtClean="0">
                <a:latin typeface="+mj-ea"/>
              </a:rPr>
              <a:t/>
            </a:r>
            <a:br>
              <a:rPr lang="en-US" altLang="zh-CN" b="0" i="0" u="none" strike="noStrike" kern="100" baseline="0" dirty="0" smtClean="0">
                <a:latin typeface="+mj-ea"/>
              </a:rPr>
            </a:br>
            <a:r>
              <a:rPr lang="zh-CN" altLang="en-US" sz="4900" b="0" i="0" u="none" strike="noStrike" kern="100" baseline="0" dirty="0" smtClean="0">
                <a:latin typeface="+mj-ea"/>
              </a:rPr>
              <a:t>答</a:t>
            </a:r>
            <a:r>
              <a:rPr lang="zh-CN" altLang="en-US" b="0" i="0" u="none" strike="noStrike" kern="100" baseline="0" dirty="0" smtClean="0">
                <a:latin typeface="+mj-ea"/>
              </a:rPr>
              <a:t>：</a:t>
            </a:r>
            <a:r>
              <a:rPr lang="zh-CN" altLang="en-US" sz="3100" b="0" i="0" u="none" strike="noStrike" kern="100" baseline="0" dirty="0" smtClean="0">
                <a:latin typeface="+mj-ea"/>
              </a:rPr>
              <a:t>因为面对自己发现的新理论，他没有勇气表达出来，痛苦了</a:t>
            </a:r>
            <a:r>
              <a:rPr lang="en-US" altLang="zh-CN" sz="3100" b="0" i="0" u="none" strike="noStrike" kern="100" baseline="0" dirty="0" smtClean="0">
                <a:latin typeface="+mj-ea"/>
              </a:rPr>
              <a:t>20</a:t>
            </a:r>
            <a:r>
              <a:rPr lang="zh-CN" altLang="en-US" sz="3100" b="0" i="0" u="none" strike="noStrike" kern="100" baseline="0" dirty="0" smtClean="0">
                <a:latin typeface="+mj-ea"/>
              </a:rPr>
              <a:t>年。</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9C34D1C1-9B2B-4B42-8134-EC4A0BF08329}"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51</a:t>
            </a:fld>
            <a:r>
              <a:rPr lang="zh-CN" altLang="en-US" smtClean="0"/>
              <a:t>页</a:t>
            </a:r>
            <a:endParaRPr lang="zh-CN" altLang="en-US" dirty="0"/>
          </a:p>
        </p:txBody>
      </p:sp>
    </p:spTree>
    <p:extLst>
      <p:ext uri="{BB962C8B-B14F-4D97-AF65-F5344CB8AC3E}">
        <p14:creationId xmlns:p14="http://schemas.microsoft.com/office/powerpoint/2010/main" val="2564532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华莱士很绅士，他不跟达尔文去抢这个理论的发明权。</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达尔文所在的环境有一个非常绅士的科学家群落。</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创新需要勇气，也需要一个好的创新环境。</a:t>
            </a:r>
          </a:p>
          <a:p>
            <a:pPr marR="0" lvl="0" rtl="0"/>
            <a:endParaRPr lang="zh-CN" altLang="en-US" sz="2400" b="0" i="0" u="none" strike="noStrike" kern="100" baseline="0" dirty="0" smtClean="0">
              <a:latin typeface="Times New Roman" panose="02020603050405020304" pitchFamily="18" charset="0"/>
              <a:ea typeface="华文细黑" panose="02010600040101010101" pitchFamily="2" charset="-122"/>
            </a:endParaRP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mj-ea"/>
              </a:rPr>
              <a:t>问：</a:t>
            </a:r>
            <a:r>
              <a:rPr lang="zh-CN" altLang="en-US" sz="2800" b="0" i="0" u="none" strike="noStrike" kern="100" baseline="0" dirty="0" smtClean="0">
                <a:latin typeface="+mj-ea"/>
              </a:rPr>
              <a:t>那为什么他最终仅用一年的时间，就把</a:t>
            </a:r>
            <a:r>
              <a:rPr lang="en-US" altLang="zh-CN" sz="2800" b="0" i="0" u="none" strike="noStrike" kern="100" baseline="0" dirty="0" smtClean="0">
                <a:latin typeface="+mj-ea"/>
              </a:rPr>
              <a:t>《</a:t>
            </a:r>
            <a:r>
              <a:rPr lang="zh-CN" altLang="en-US" sz="2800" b="0" i="0" u="none" strike="noStrike" kern="100" baseline="0" dirty="0" smtClean="0">
                <a:latin typeface="+mj-ea"/>
              </a:rPr>
              <a:t>物种起源</a:t>
            </a:r>
            <a:r>
              <a:rPr lang="en-US" altLang="zh-CN" sz="2800" b="0" i="0" u="none" strike="noStrike" kern="100" baseline="0" dirty="0" smtClean="0">
                <a:latin typeface="+mj-ea"/>
              </a:rPr>
              <a:t>》</a:t>
            </a:r>
            <a:r>
              <a:rPr lang="zh-CN" altLang="en-US" sz="2800" b="0" i="0" u="none" strike="noStrike" kern="100" baseline="0" dirty="0" smtClean="0">
                <a:latin typeface="+mj-ea"/>
              </a:rPr>
              <a:t>给写出来了？</a:t>
            </a:r>
            <a:r>
              <a:rPr lang="en-US" altLang="zh-CN" sz="2800" b="0" i="0" u="none" strike="noStrike" kern="100" baseline="0" dirty="0" smtClean="0">
                <a:latin typeface="+mj-ea"/>
              </a:rPr>
              <a:t/>
            </a:r>
            <a:br>
              <a:rPr lang="en-US" altLang="zh-CN" sz="2800" b="0" i="0" u="none" strike="noStrike" kern="100" baseline="0" dirty="0" smtClean="0">
                <a:latin typeface="+mj-ea"/>
              </a:rPr>
            </a:br>
            <a:r>
              <a:rPr lang="zh-CN" altLang="en-US" b="0" i="0" u="none" strike="noStrike" kern="100" baseline="0" dirty="0" smtClean="0">
                <a:latin typeface="+mj-ea"/>
              </a:rPr>
              <a:t>答：</a:t>
            </a:r>
            <a:r>
              <a:rPr lang="zh-CN" altLang="en-US" sz="2800" b="0" i="0" u="none" strike="noStrike" kern="100" baseline="0" dirty="0" smtClean="0">
                <a:latin typeface="+mj-ea"/>
              </a:rPr>
              <a:t>不是勇气来了，而是华莱士来了，他的研究成果和达尔文几乎一样。</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6CDC71F9-5441-4D86-9176-2C3137D9DFA5}"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52</a:t>
            </a:fld>
            <a:r>
              <a:rPr lang="zh-CN" altLang="en-US" smtClean="0"/>
              <a:t>页</a:t>
            </a:r>
            <a:endParaRPr lang="zh-CN" altLang="en-US" dirty="0"/>
          </a:p>
        </p:txBody>
      </p:sp>
    </p:spTree>
    <p:extLst>
      <p:ext uri="{BB962C8B-B14F-4D97-AF65-F5344CB8AC3E}">
        <p14:creationId xmlns:p14="http://schemas.microsoft.com/office/powerpoint/2010/main" val="3107677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idx="1"/>
          </p:nvPr>
        </p:nvSpPr>
        <p:spPr/>
        <p:txBody>
          <a:bodyPr/>
          <a:lstStyle/>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严复翻译成：物竞天择，适者生存。</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达尔文的进化论是在否定所谓的进化。生物就是演化，没有进化，没有进步趋势。</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人类所谓的进化，所谓的进步，其实只是像醉汉回家般的一种偶然性。</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人类只是生物这个巨大的树杈上新生的一个小小的枝条，而且随时可能被毁灭。</a:t>
            </a:r>
          </a:p>
          <a:p>
            <a:pPr marR="0" lvl="0" rtl="0"/>
            <a:r>
              <a:rPr lang="zh-CN" altLang="en-US" sz="2400" b="0" i="0" u="none" strike="noStrike" kern="100" baseline="0" dirty="0" smtClean="0">
                <a:latin typeface="Times New Roman" panose="02020603050405020304" pitchFamily="18" charset="0"/>
                <a:ea typeface="华文细黑" panose="02010600040101010101" pitchFamily="2" charset="-122"/>
              </a:rPr>
              <a:t>人类渴求进步，必须靠自己的努力。人类很渺小，个体很伟大。</a:t>
            </a:r>
          </a:p>
        </p:txBody>
      </p:sp>
      <p:sp>
        <p:nvSpPr>
          <p:cNvPr id="2" name="标题 1"/>
          <p:cNvSpPr>
            <a:spLocks noGrp="1"/>
          </p:cNvSpPr>
          <p:nvPr>
            <p:ph type="title"/>
          </p:nvPr>
        </p:nvSpPr>
        <p:spPr/>
        <p:txBody>
          <a:bodyPr>
            <a:noAutofit/>
          </a:bodyPr>
          <a:lstStyle/>
          <a:p>
            <a:pPr marR="0" rtl="0"/>
            <a:r>
              <a:rPr lang="zh-CN" altLang="en-US" b="0" i="0" u="none" strike="noStrike" kern="100" baseline="0" dirty="0" smtClean="0">
                <a:latin typeface="华康俪金黑W8(P)" panose="020B0800000000000000" pitchFamily="34" charset="-122"/>
                <a:ea typeface="华康俪金黑W8(P)" panose="020B0800000000000000" pitchFamily="34" charset="-122"/>
              </a:rPr>
              <a:t>问：</a:t>
            </a:r>
            <a:r>
              <a:rPr lang="zh-CN" altLang="en-US" sz="2800" b="0" i="0" u="none" strike="noStrike" kern="100" baseline="0" dirty="0" smtClean="0">
                <a:latin typeface="华康俪金黑W8(P)" panose="020B0800000000000000" pitchFamily="34" charset="-122"/>
                <a:ea typeface="华康俪金黑W8(P)" panose="020B0800000000000000" pitchFamily="34" charset="-122"/>
              </a:rPr>
              <a:t>如果说进化没有方向，那人类怎么来的？未来又将去向何方？</a:t>
            </a:r>
            <a:r>
              <a:rPr lang="en-US" altLang="zh-CN" sz="2800" b="0" i="0" u="none" strike="noStrike" kern="100" baseline="0" dirty="0" smtClean="0">
                <a:latin typeface="华康俪金黑W8(P)" panose="020B0800000000000000" pitchFamily="34" charset="-122"/>
                <a:ea typeface="华康俪金黑W8(P)" panose="020B0800000000000000" pitchFamily="34" charset="-122"/>
              </a:rPr>
              <a:t/>
            </a:r>
            <a:br>
              <a:rPr lang="en-US" altLang="zh-CN" sz="2800" b="0" i="0" u="none" strike="noStrike" kern="100" baseline="0" dirty="0" smtClean="0">
                <a:latin typeface="华康俪金黑W8(P)" panose="020B0800000000000000" pitchFamily="34" charset="-122"/>
                <a:ea typeface="华康俪金黑W8(P)" panose="020B0800000000000000" pitchFamily="34" charset="-122"/>
              </a:rPr>
            </a:br>
            <a:r>
              <a:rPr lang="zh-CN" altLang="en-US" b="0" i="0" u="none" strike="noStrike" kern="100" baseline="0" dirty="0" smtClean="0">
                <a:latin typeface="华康俪金黑W8(P)" panose="020B0800000000000000" pitchFamily="34" charset="-122"/>
                <a:ea typeface="华康俪金黑W8(P)" panose="020B0800000000000000" pitchFamily="34" charset="-122"/>
              </a:rPr>
              <a:t>答：人类只是一个偶然，随时可能被毁灭。</a:t>
            </a:r>
          </a:p>
        </p:txBody>
      </p:sp>
      <p:sp>
        <p:nvSpPr>
          <p:cNvPr id="4" name="日期占位符 3"/>
          <p:cNvSpPr>
            <a:spLocks noGrp="1"/>
          </p:cNvSpPr>
          <p:nvPr>
            <p:ph type="dt" sz="half" idx="10"/>
          </p:nvPr>
        </p:nvSpPr>
        <p:spPr>
          <a:xfrm>
            <a:off x="245976" y="6356351"/>
            <a:ext cx="2844800" cy="365125"/>
          </a:xfrm>
          <a:prstGeom prst="rect">
            <a:avLst/>
          </a:prstGeom>
        </p:spPr>
        <p:txBody>
          <a:bodyPr/>
          <a:lstStyle/>
          <a:p>
            <a:fld id="{0B5B05F8-7390-4DB6-9E32-17B1D26D0233}" type="datetime1">
              <a:rPr lang="zh-CN" altLang="en-US" smtClean="0"/>
              <a:t>2014/5/30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r>
              <a:rPr lang="zh-CN" altLang="en-US" smtClean="0"/>
              <a:t>读书笔记</a:t>
            </a:r>
            <a:r>
              <a:rPr lang="en-US" altLang="zh-CN" smtClean="0"/>
              <a:t>PPT</a:t>
            </a:r>
            <a:endParaRPr lang="zh-CN" altLang="en-US"/>
          </a:p>
        </p:txBody>
      </p:sp>
      <p:sp>
        <p:nvSpPr>
          <p:cNvPr id="6" name="灯片编号占位符 5"/>
          <p:cNvSpPr>
            <a:spLocks noGrp="1"/>
          </p:cNvSpPr>
          <p:nvPr>
            <p:ph type="sldNum" sz="quarter" idx="12"/>
          </p:nvPr>
        </p:nvSpPr>
        <p:spPr>
          <a:xfrm>
            <a:off x="9101224" y="6356351"/>
            <a:ext cx="2844800" cy="365125"/>
          </a:xfrm>
          <a:prstGeom prst="rect">
            <a:avLst/>
          </a:prstGeom>
        </p:spPr>
        <p:txBody>
          <a:bodyPr/>
          <a:lstStyle/>
          <a:p>
            <a:r>
              <a:rPr lang="zh-CN" altLang="en-US" smtClean="0"/>
              <a:t>第</a:t>
            </a:r>
            <a:fld id="{303FC856-7BE1-4FC9-883B-0A53792D53FF}" type="slidenum">
              <a:rPr lang="zh-CN" altLang="en-US" smtClean="0"/>
              <a:pPr/>
              <a:t>53</a:t>
            </a:fld>
            <a:r>
              <a:rPr lang="zh-CN" altLang="en-US" smtClean="0"/>
              <a:t>页</a:t>
            </a:r>
            <a:endParaRPr lang="zh-CN" altLang="en-US" dirty="0"/>
          </a:p>
        </p:txBody>
      </p:sp>
    </p:spTree>
    <p:extLst>
      <p:ext uri="{BB962C8B-B14F-4D97-AF65-F5344CB8AC3E}">
        <p14:creationId xmlns:p14="http://schemas.microsoft.com/office/powerpoint/2010/main" val="3159407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974591" y="4065455"/>
            <a:ext cx="7898861" cy="2349859"/>
          </a:xfrm>
        </p:spPr>
        <p:txBody>
          <a:bodyPr/>
          <a:lstStyle/>
          <a:p>
            <a:r>
              <a:rPr lang="zh-CN" altLang="en-US" sz="11500" dirty="0" smtClean="0"/>
              <a:t>谢谢</a:t>
            </a:r>
            <a:r>
              <a:rPr lang="en-US" altLang="zh-CN" sz="4000" dirty="0" smtClean="0"/>
              <a:t/>
            </a:r>
            <a:br>
              <a:rPr lang="en-US" altLang="zh-CN" sz="4000" dirty="0" smtClean="0"/>
            </a:br>
            <a:r>
              <a:rPr lang="en-US" altLang="zh-CN" sz="3600" dirty="0" smtClean="0"/>
              <a:t>@</a:t>
            </a:r>
            <a:r>
              <a:rPr lang="zh-CN" altLang="en-US" sz="3600" dirty="0" smtClean="0"/>
              <a:t>萌叔张浪荡</a:t>
            </a:r>
            <a:endParaRPr lang="zh-CN" altLang="en-US" sz="3600" dirty="0"/>
          </a:p>
        </p:txBody>
      </p:sp>
    </p:spTree>
    <p:extLst>
      <p:ext uri="{BB962C8B-B14F-4D97-AF65-F5344CB8AC3E}">
        <p14:creationId xmlns:p14="http://schemas.microsoft.com/office/powerpoint/2010/main" val="2282336740"/>
      </p:ext>
    </p:extLst>
  </p:cSld>
  <p:clrMapOvr>
    <a:masterClrMapping/>
  </p:clrMapOvr>
  <p:transition spd="slow">
    <p:fade thruBlk="1"/>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3" y="1092485"/>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1"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098"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54"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129" y="3987562"/>
            <a:ext cx="7405675"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29" y="2291753"/>
            <a:ext cx="1574654" cy="1086373"/>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4"/>
            <a:ext cx="1574654" cy="1279207"/>
            <a:chOff x="107380" y="2024805"/>
            <a:chExt cx="1944270" cy="1579471"/>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323411" y="2382195"/>
              <a:ext cx="1728239" cy="1222081"/>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购买后去微博私信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4" cy="1086373"/>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4" cy="1086373"/>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11089422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8" y="3953873"/>
            <a:ext cx="7425926" cy="1301778"/>
            <a:chOff x="0" y="3359571"/>
            <a:chExt cx="9169004" cy="1607344"/>
          </a:xfrm>
        </p:grpSpPr>
        <p:sp>
          <p:nvSpPr>
            <p:cNvPr id="5" name="矩形 4"/>
            <p:cNvSpPr/>
            <p:nvPr/>
          </p:nvSpPr>
          <p:spPr>
            <a:xfrm>
              <a:off x="1245140" y="3973770"/>
              <a:ext cx="4572001" cy="545013"/>
            </a:xfrm>
            <a:prstGeom prst="rect">
              <a:avLst/>
            </a:prstGeom>
          </p:spPr>
          <p:txBody>
            <a:bodyPr>
              <a:spAutoFit/>
            </a:bodyPr>
            <a:lstStyle/>
            <a:p>
              <a:pPr defTabSz="74504"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7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43296" cy="92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43"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3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2"/>
              <a:ext cx="757239" cy="76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857"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540" y="1387104"/>
            <a:ext cx="5481623"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a:solidFill>
                  <a:prstClr val="black"/>
                </a:solidFill>
                <a:latin typeface="微软雅黑" panose="020B0503020204020204" pitchFamily="34" charset="-122"/>
                <a:ea typeface="微软雅黑" panose="020B0503020204020204" pitchFamily="34" charset="-122"/>
              </a:rPr>
              <a:t>学员寒假读书笔记</a:t>
            </a:r>
            <a:r>
              <a:rPr lang="en-US" altLang="zh-CN" sz="3564" b="1" dirty="0" smtClean="0">
                <a:solidFill>
                  <a:prstClr val="black"/>
                </a:solidFill>
                <a:latin typeface="微软雅黑" panose="020B0503020204020204" pitchFamily="34" charset="-122"/>
                <a:ea typeface="微软雅黑" panose="020B0503020204020204" pitchFamily="34" charset="-122"/>
              </a:rPr>
              <a:t>115</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41979907"/>
      </p:ext>
    </p:extLst>
  </p:cSld>
  <p:clrMapOvr>
    <a:masterClrMapping/>
  </p:clrMapOvr>
  <p:timing>
    <p:tnLst>
      <p:par>
        <p:cTn id="1" dur="indefinite" restart="never" nodeType="tmRoot"/>
      </p:par>
    </p:tnLst>
  </p:timing>
</p:sld>
</file>

<file path=ppt/theme/theme1.xml><?xml version="1.0" encoding="utf-8"?>
<a:theme xmlns:a="http://schemas.openxmlformats.org/drawingml/2006/main" name="罗辑思维纸张">
  <a:themeElements>
    <a:clrScheme name="自定义 2">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自定义 1">
      <a:majorFont>
        <a:latin typeface="Trebuchet MS"/>
        <a:ea typeface="华康俪金黑W8(P)"/>
        <a:cs typeface=""/>
      </a:majorFont>
      <a:minorFont>
        <a:latin typeface="Trebuchet MS"/>
        <a:ea typeface="华文细黑"/>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罗辑思维纸张" id="{9419B91A-69AD-4329-9670-100B0FDB4B38}" vid="{5A9EBAB5-F579-4C19-861F-C719F1D24AC2}"/>
    </a:ext>
  </a:extLst>
</a:theme>
</file>

<file path=ppt/theme/theme2.xml><?xml version="1.0" encoding="utf-8"?>
<a:theme xmlns:a="http://schemas.openxmlformats.org/drawingml/2006/main" name="1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罗辑思维纸张</Template>
  <TotalTime>328</TotalTime>
  <Words>3438</Words>
  <Application>Microsoft Office PowerPoint</Application>
  <PresentationFormat>宽屏</PresentationFormat>
  <Paragraphs>358</Paragraphs>
  <Slides>56</Slides>
  <Notes>3</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56</vt:i4>
      </vt:variant>
    </vt:vector>
  </HeadingPairs>
  <TitlesOfParts>
    <vt:vector size="72" baseType="lpstr">
      <vt:lpstr>Times New Roman</vt:lpstr>
      <vt:lpstr>Trebuchet MS</vt:lpstr>
      <vt:lpstr>汉仪菱心体简</vt:lpstr>
      <vt:lpstr>微软雅黑</vt:lpstr>
      <vt:lpstr>Arial</vt:lpstr>
      <vt:lpstr>方正正中黑简体</vt:lpstr>
      <vt:lpstr>Webdings</vt:lpstr>
      <vt:lpstr>华康俪金黑W8(P)</vt:lpstr>
      <vt:lpstr>方正正黑简体</vt:lpstr>
      <vt:lpstr>方正粗宋简体</vt:lpstr>
      <vt:lpstr>宋体</vt:lpstr>
      <vt:lpstr>华文细黑</vt:lpstr>
      <vt:lpstr>Calibri Light</vt:lpstr>
      <vt:lpstr>Calibri</vt:lpstr>
      <vt:lpstr>罗辑思维纸张</vt:lpstr>
      <vt:lpstr>1_默认设计模板</vt:lpstr>
      <vt:lpstr>PowerPoint 演示文稿</vt:lpstr>
      <vt:lpstr>PowerPoint 演示文稿</vt:lpstr>
      <vt:lpstr>末日启示：向死而生</vt:lpstr>
      <vt:lpstr>问：末日何时来临？ 答：有些文明对死亡抱有热切的渴望，我们算不出来什么时候会死。</vt:lpstr>
      <vt:lpstr>问：我们应该以怎样的境界活着？ 答：德国哲学家海德格尔说：向死而生。</vt:lpstr>
      <vt:lpstr>问：人类会以什么方式灭亡？ 答：可能会灭亡于电子游戏——很丢人的方式。</vt:lpstr>
      <vt:lpstr>拒绝逃离北上广</vt:lpstr>
      <vt:lpstr>问：逃离北上广的年轻人又回来了，这是为什么？ 答：财富是聚集的产物，城市化就意味着陌生人的大规模肉身聚集。</vt:lpstr>
      <vt:lpstr>问：除了挣钱，给我个在大城市生活的理由？ 答：长见识，从而发现自己的天才之处。</vt:lpstr>
      <vt:lpstr>问：中国城市化的未来在哪里？ 答：大城市的超大规模聚集也许是一个规律。</vt:lpstr>
      <vt:lpstr>夹缝中的80后U盘化生存</vt:lpstr>
      <vt:lpstr>问：80后群体在互联网时代是个什么样的地位？ 答：处于两代人的夹缝中，是数字时代的移民，尴尬地跨越数字鸿沟。</vt:lpstr>
      <vt:lpstr>问：我们这一代人怎么破解这个时代难题，过上更美好的人生？ 答：U盘化生存。</vt:lpstr>
      <vt:lpstr>问：由于种种原因，我不能脱离组织成为自由职业者，难道就没救了吗？ 答：穿越成70后或者90后的状态，或者在组织内以U盘化的方式生存。</vt:lpstr>
      <vt:lpstr>成名需要付出代价</vt:lpstr>
      <vt:lpstr>问：有些明星辩解说：我也是个普通人，希望公众放过他——真的可以放过吗？ 答：成名了就要接受成名的代价，至于你能不能接受，阿弥陀佛。</vt:lpstr>
      <vt:lpstr>问：看看各种新闻就知道，互联网时代成恶名很容易，我该怎么办？ 答：有一点点警惕，最重要的还是活得真实，至于会不会成名，随他去吧。</vt:lpstr>
      <vt:lpstr>剩女也有光荣与梦想</vt:lpstr>
      <vt:lpstr>问：为什么剩女越来越多？ 答：时代变了，本能还在。</vt:lpstr>
      <vt:lpstr>问：剩女应该怎么办？ 答：可以结婚，也可以不结婚，重要的是多样的选择。</vt:lpstr>
      <vt:lpstr>大国的“武器”是贸易</vt:lpstr>
      <vt:lpstr>问：中国人不买日货导致日本经济受创，我们应该高兴吗？ 答：恰恰应该忧心，因为东亚贸易一体化是中国崛起的一个必要条件。</vt:lpstr>
      <vt:lpstr>问：抗日就是爱国的表现吗？ 答：爱国主义是一种基本情怀，想想怎么去推动国家发展才是真的爱国。</vt:lpstr>
      <vt:lpstr>问：中国人在“大国崛起”的过程中需要具备什么样的姿态？ 答：放下仇恨，放大格局，建立以中国为主导的世界经济体系。</vt:lpstr>
      <vt:lpstr>大国不能认死理</vt:lpstr>
      <vt:lpstr>问：中国真的要把国家战略，包括谁是敌人谁是朋友，搞得那么清楚吗？ 答：俾斯麦机智地保持模糊，威廉二世愚蠢地划清界限，借助自我实现的预言，结果导致了世界大战，懂？</vt:lpstr>
      <vt:lpstr>问：狡猾的英国为什么也被拖入了第一次世界大战？ 答：它也认死理。</vt:lpstr>
      <vt:lpstr>从房产税和地沟油看制度成本</vt:lpstr>
      <vt:lpstr>问：全面征收房产税，怎么这么难？ 答：这项税收制度的政治和社会成本太大。</vt:lpstr>
      <vt:lpstr>问：国家要运营，不收税不行，什么样的税收才是好税收？ 答：多拔点鹅毛，少听点鹅叫。</vt:lpstr>
      <vt:lpstr>问：发现使用地沟油就判刑的制度，能够解决地沟油问题吗？ 答：完全是简单粗暴、异想天开，要解决还得靠市场。</vt:lpstr>
      <vt:lpstr>民意需要公正来驯化</vt:lpstr>
      <vt:lpstr>问：希特勒是德国老百姓票选出来的——让民意做决定，真的可以吗？ 答：民主并非“如民所愿”，民意是需要被驯化的野兽，公正则是驯兽师。</vt:lpstr>
      <vt:lpstr>反腐黑箱必被砸爆</vt:lpstr>
      <vt:lpstr>问：中国处于转型社会时期，各种腐败问题层出不穷，我们平时听到、看到的各种严刑峻法和制度建设貌似作用不大，为什么这些问题解决不了？ 答：底层制度缺失，上层制度失效。</vt:lpstr>
      <vt:lpstr>问：美国的《信息自由法》也历经波折才得以立法，信息自由是否为大势所趋？ 答：信息集成分为“关联”和“公开”，在网络时代，你享受多少便利，就要让出多少隐私。</vt:lpstr>
      <vt:lpstr>“治不好”的地域歧视</vt:lpstr>
      <vt:lpstr>问：地域歧视为什么会跨越时空、普遍存在？ 答：因为地域歧视是一种“简化机制”。</vt:lpstr>
      <vt:lpstr>问：如何解决地域歧视的问题？ 答：人格修炼，必要时有组织地维权。</vt:lpstr>
      <vt:lpstr>慈善的善与恶</vt:lpstr>
      <vt:lpstr>问：周其仁说非洲人民吃不上饭是因为西方国家的粮食援助，这不是狗咬吕洞宾吗？ 答：他人的世界和你假想的世界很可能是不一样的，让好事产生好的结果——很难。</vt:lpstr>
      <vt:lpstr>问：什么样的慈善才是好慈善，避免把好事办成坏事？ 答：好慈善是一座座矗立的高峰。</vt:lpstr>
      <vt:lpstr>问：慈善之心每个人都有，那为什么关于慈善的争论一直存在？ 答：慈善是个真理名词，但我们不能迷信真理，适当的怀疑很有必要。</vt:lpstr>
      <vt:lpstr>权力之下无真相</vt:lpstr>
      <vt:lpstr>问：台湾为什么禁止师生恋？这不是妨碍自由恋爱吗？ 答：因为隐隐然、淡淡然的权力存在。</vt:lpstr>
      <vt:lpstr>问：权力永远在，那么互联网时代，真相如何浮现出来？ 答：大数据。</vt:lpstr>
      <vt:lpstr>聊聊什么是社会主义</vt:lpstr>
      <vt:lpstr>问：苏联解体以及东欧剧变是不是说明马克思主义错了呢？ 答：不是。有些人念歪了经，马克思的理想永远是伟大的。</vt:lpstr>
      <vt:lpstr>问：“公知”成为到处乱喷的代名词，作为一个好公知，应该有怎样的境界？ 答：要有对爱情的追求，对知识的渴望，还有对人类苦难不可遏制的同情心(罗素)。</vt:lpstr>
      <vt:lpstr>进化论其实是在否定进化</vt:lpstr>
      <vt:lpstr>问：达尔文是有拖延症吗？为什么拖了20年才写《物种起源》？ 答：因为面对自己发现的新理论，他没有勇气表达出来，痛苦了20年。</vt:lpstr>
      <vt:lpstr>问：那为什么他最终仅用一年的时间，就把《物种起源》给写出来了？ 答：不是勇气来了，而是华莱士来了，他的研究成果和达尔文几乎一样。</vt:lpstr>
      <vt:lpstr>问：如果说进化没有方向，那人类怎么来的？未来又将去向何方？ 答：人类只是一个偶然，随时可能被毁灭。</vt:lpstr>
      <vt:lpstr>谢谢 @萌叔张浪荡</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《罗辑思维》读书笔记：简洁问、精辟答</dc:title>
  <dc:creator>张波</dc:creator>
  <cp:lastModifiedBy>小巴</cp:lastModifiedBy>
  <cp:revision>91</cp:revision>
  <dcterms:created xsi:type="dcterms:W3CDTF">2014-05-15T03:09:19Z</dcterms:created>
  <dcterms:modified xsi:type="dcterms:W3CDTF">2014-05-30T00:17:10Z</dcterms:modified>
</cp:coreProperties>
</file>