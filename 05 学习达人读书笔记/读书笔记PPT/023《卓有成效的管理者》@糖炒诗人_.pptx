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1"/>
    <p:sldMasterId id="2147483696" r:id="rId2"/>
    <p:sldMasterId id="2147483709" r:id="rId3"/>
    <p:sldMasterId id="2147483721" r:id="rId4"/>
  </p:sldMasterIdLst>
  <p:notesMasterIdLst>
    <p:notesMasterId r:id="rId24"/>
  </p:notesMasterIdLst>
  <p:sldIdLst>
    <p:sldId id="256" r:id="rId5"/>
    <p:sldId id="257" r:id="rId6"/>
    <p:sldId id="278" r:id="rId7"/>
    <p:sldId id="281" r:id="rId8"/>
    <p:sldId id="258" r:id="rId9"/>
    <p:sldId id="282" r:id="rId10"/>
    <p:sldId id="295" r:id="rId11"/>
    <p:sldId id="291" r:id="rId12"/>
    <p:sldId id="296" r:id="rId13"/>
    <p:sldId id="292" r:id="rId14"/>
    <p:sldId id="297" r:id="rId15"/>
    <p:sldId id="293" r:id="rId16"/>
    <p:sldId id="298" r:id="rId17"/>
    <p:sldId id="294" r:id="rId18"/>
    <p:sldId id="299" r:id="rId19"/>
    <p:sldId id="274" r:id="rId20"/>
    <p:sldId id="302" r:id="rId21"/>
    <p:sldId id="301" r:id="rId22"/>
    <p:sldId id="300" r:id="rId23"/>
  </p:sldIdLst>
  <p:sldSz cx="9144000" cy="6858000" type="screen4x3"/>
  <p:notesSz cx="6858000" cy="9144000"/>
  <p:embeddedFontLst>
    <p:embeddedFont>
      <p:font typeface="方正粗宋简体" panose="03000509000000000000" pitchFamily="65" charset="-122"/>
      <p:regular r:id="rId25"/>
    </p:embeddedFont>
    <p:embeddedFont>
      <p:font typeface="方正正中黑简体" panose="02000000000000000000" pitchFamily="2" charset="-122"/>
      <p:regular r:id="rId26"/>
    </p:embeddedFont>
    <p:embeddedFont>
      <p:font typeface="Calibri Light" panose="020F0302020204030204" pitchFamily="34" charset="0"/>
      <p:regular r:id="rId27"/>
      <p:italic r:id="rId28"/>
    </p:embeddedFont>
    <p:embeddedFont>
      <p:font typeface="方正正黑简体" panose="02000000000000000000" pitchFamily="2" charset="-122"/>
      <p:regular r:id="rId29"/>
    </p:embeddedFont>
    <p:embeddedFont>
      <p:font typeface="经典繁毛楷" panose="02010609000101010101" pitchFamily="49" charset="-122"/>
      <p:regular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微软雅黑" panose="020B0503020204020204" pitchFamily="34" charset="-122"/>
      <p:regular r:id="rId35"/>
      <p:bold r:id="rId36"/>
    </p:embeddedFont>
    <p:embeddedFont>
      <p:font typeface="黑体" panose="02010609060101010101" pitchFamily="49" charset="-122"/>
      <p:regular r:id="rId3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54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740000"/>
    <a:srgbClr val="860000"/>
    <a:srgbClr val="FFD5D5"/>
    <a:srgbClr val="FFA3A3"/>
    <a:srgbClr val="FF7D7D"/>
    <a:srgbClr val="FF4B4B"/>
    <a:srgbClr val="FF0909"/>
    <a:srgbClr val="EE0000"/>
    <a:srgbClr val="D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29" autoAdjust="0"/>
    <p:restoredTop sz="94659" autoAdjust="0"/>
  </p:normalViewPr>
  <p:slideViewPr>
    <p:cSldViewPr>
      <p:cViewPr varScale="1">
        <p:scale>
          <a:sx n="70" d="100"/>
          <a:sy n="70" d="100"/>
        </p:scale>
        <p:origin x="1266" y="66"/>
      </p:cViewPr>
      <p:guideLst>
        <p:guide orient="horz" pos="2160"/>
        <p:guide pos="54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font" Target="fonts/font10.fntdata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5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7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58509295334623"/>
          <c:y val="0.12707967754030747"/>
          <c:w val="0.74209592313071604"/>
          <c:h val="0.7659490063742032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人数比例</c:v>
                </c:pt>
              </c:strCache>
            </c:strRef>
          </c:tx>
          <c:spPr>
            <a:solidFill>
              <a:srgbClr val="C00000"/>
            </a:solidFill>
          </c:spPr>
          <c:dPt>
            <c:idx val="0"/>
            <c:bubble3D val="0"/>
            <c:spPr>
              <a:noFill/>
            </c:spPr>
          </c:dPt>
          <c:dPt>
            <c:idx val="1"/>
            <c:bubble3D val="0"/>
            <c:spPr>
              <a:solidFill>
                <a:srgbClr val="C00000"/>
              </a:solidFill>
              <a:ln>
                <a:solidFill>
                  <a:schemeClr val="bg1"/>
                </a:solidFill>
              </a:ln>
            </c:spPr>
          </c:dPt>
          <c:dPt>
            <c:idx val="2"/>
            <c:bubble3D val="0"/>
            <c:spPr>
              <a:solidFill>
                <a:srgbClr val="C00000"/>
              </a:solidFill>
              <a:ln>
                <a:solidFill>
                  <a:schemeClr val="bg1"/>
                </a:solidFill>
              </a:ln>
            </c:spPr>
          </c:dPt>
          <c:dPt>
            <c:idx val="3"/>
            <c:bubble3D val="0"/>
            <c:spPr>
              <a:solidFill>
                <a:srgbClr val="C00000"/>
              </a:solidFill>
              <a:ln>
                <a:solidFill>
                  <a:schemeClr val="bg1"/>
                </a:solidFill>
              </a:ln>
            </c:spPr>
          </c:dPt>
          <c:dPt>
            <c:idx val="4"/>
            <c:bubble3D val="0"/>
            <c:spPr>
              <a:solidFill>
                <a:srgbClr val="C00000"/>
              </a:solidFill>
              <a:ln>
                <a:solidFill>
                  <a:schemeClr val="bg1"/>
                </a:solidFill>
              </a:ln>
            </c:spPr>
          </c:dPt>
          <c:dPt>
            <c:idx val="5"/>
            <c:bubble3D val="0"/>
            <c:spPr>
              <a:noFill/>
            </c:spPr>
          </c:dPt>
          <c:cat>
            <c:strRef>
              <c:f>Sheet1!$A$2:$A$7</c:f>
              <c:strCache>
                <c:ptCount val="6"/>
                <c:pt idx="0">
                  <c:v>辅助</c:v>
                </c:pt>
                <c:pt idx="1">
                  <c:v>Part1</c:v>
                </c:pt>
                <c:pt idx="2">
                  <c:v>Part3</c:v>
                </c:pt>
                <c:pt idx="3">
                  <c:v>Part3</c:v>
                </c:pt>
                <c:pt idx="4">
                  <c:v>Part4</c:v>
                </c:pt>
                <c:pt idx="5">
                  <c:v>辅助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</c:v>
                </c:pt>
                <c:pt idx="1">
                  <c:v>18</c:v>
                </c:pt>
                <c:pt idx="2">
                  <c:v>13</c:v>
                </c:pt>
                <c:pt idx="3">
                  <c:v>24</c:v>
                </c:pt>
                <c:pt idx="4">
                  <c:v>45</c:v>
                </c:pt>
                <c:pt idx="5">
                  <c:v>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C9575C-272F-4962-A732-C89CC0DECD6A}" type="doc">
      <dgm:prSet loTypeId="urn:microsoft.com/office/officeart/2005/8/layout/cycle2" loCatId="cycle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F14C7872-FA2F-4F70-85CF-077223BB540E}">
      <dgm:prSet phldrT="[文本]" custT="1"/>
      <dgm:spPr>
        <a:solidFill>
          <a:srgbClr val="C00000"/>
        </a:solidFill>
      </dgm:spPr>
      <dgm:t>
        <a:bodyPr/>
        <a:lstStyle/>
        <a:p>
          <a:r>
            <a:rPr lang="zh-CN" altLang="en-US" sz="1600" dirty="0" smtClean="0">
              <a:latin typeface="微软雅黑" pitchFamily="34" charset="-122"/>
              <a:ea typeface="微软雅黑" pitchFamily="34" charset="-122"/>
            </a:rPr>
            <a:t>明确问题的性质</a:t>
          </a:r>
          <a:endParaRPr lang="zh-CN" altLang="en-US" sz="1600" dirty="0">
            <a:latin typeface="微软雅黑" pitchFamily="34" charset="-122"/>
            <a:ea typeface="微软雅黑" pitchFamily="34" charset="-122"/>
          </a:endParaRPr>
        </a:p>
      </dgm:t>
    </dgm:pt>
    <dgm:pt modelId="{63A47552-6171-45C2-965E-8F611E876255}" type="parTrans" cxnId="{454B1AF5-24B4-4F59-8787-66861B603264}">
      <dgm:prSet/>
      <dgm:spPr/>
      <dgm:t>
        <a:bodyPr/>
        <a:lstStyle/>
        <a:p>
          <a:endParaRPr lang="zh-CN" altLang="en-US" sz="2000">
            <a:latin typeface="微软雅黑" pitchFamily="34" charset="-122"/>
            <a:ea typeface="微软雅黑" pitchFamily="34" charset="-122"/>
          </a:endParaRPr>
        </a:p>
      </dgm:t>
    </dgm:pt>
    <dgm:pt modelId="{F9DAA45D-7EEA-4381-BF9E-0247A8EC6765}" type="sibTrans" cxnId="{454B1AF5-24B4-4F59-8787-66861B603264}">
      <dgm:prSet custT="1"/>
      <dgm:spPr>
        <a:solidFill>
          <a:srgbClr val="C00000"/>
        </a:solidFill>
      </dgm:spPr>
      <dgm:t>
        <a:bodyPr/>
        <a:lstStyle/>
        <a:p>
          <a:endParaRPr lang="zh-CN" altLang="en-US" sz="1100">
            <a:latin typeface="微软雅黑" pitchFamily="34" charset="-122"/>
            <a:ea typeface="微软雅黑" pitchFamily="34" charset="-122"/>
          </a:endParaRPr>
        </a:p>
      </dgm:t>
    </dgm:pt>
    <dgm:pt modelId="{8E460B14-72DD-4F47-88EB-A355E11A4E64}">
      <dgm:prSet custT="1"/>
      <dgm:spPr>
        <a:solidFill>
          <a:srgbClr val="C00000"/>
        </a:solidFill>
      </dgm:spPr>
      <dgm:t>
        <a:bodyPr/>
        <a:lstStyle/>
        <a:p>
          <a:r>
            <a:rPr lang="zh-CN" altLang="en-US" sz="1600" dirty="0" smtClean="0">
              <a:latin typeface="微软雅黑" pitchFamily="34" charset="-122"/>
              <a:ea typeface="微软雅黑" pitchFamily="34" charset="-122"/>
            </a:rPr>
            <a:t>划定界限条件</a:t>
          </a:r>
          <a:endParaRPr lang="en-US" altLang="zh-CN" sz="1600" dirty="0" smtClean="0">
            <a:latin typeface="微软雅黑" pitchFamily="34" charset="-122"/>
            <a:ea typeface="微软雅黑" pitchFamily="34" charset="-122"/>
          </a:endParaRPr>
        </a:p>
      </dgm:t>
    </dgm:pt>
    <dgm:pt modelId="{F1CF40A6-0846-40A6-A2B2-0F333D5D1A1A}" type="parTrans" cxnId="{90E12BA1-B548-431E-AC25-6E29C4A60E99}">
      <dgm:prSet/>
      <dgm:spPr/>
      <dgm:t>
        <a:bodyPr/>
        <a:lstStyle/>
        <a:p>
          <a:endParaRPr lang="zh-CN" altLang="en-US" sz="2000">
            <a:latin typeface="微软雅黑" pitchFamily="34" charset="-122"/>
            <a:ea typeface="微软雅黑" pitchFamily="34" charset="-122"/>
          </a:endParaRPr>
        </a:p>
      </dgm:t>
    </dgm:pt>
    <dgm:pt modelId="{FDDC9EAC-F745-443A-A48F-77A74B148CB3}" type="sibTrans" cxnId="{90E12BA1-B548-431E-AC25-6E29C4A60E99}">
      <dgm:prSet custT="1"/>
      <dgm:spPr>
        <a:solidFill>
          <a:srgbClr val="C00000"/>
        </a:solidFill>
      </dgm:spPr>
      <dgm:t>
        <a:bodyPr/>
        <a:lstStyle/>
        <a:p>
          <a:endParaRPr lang="zh-CN" altLang="en-US" sz="1100">
            <a:latin typeface="微软雅黑" pitchFamily="34" charset="-122"/>
            <a:ea typeface="微软雅黑" pitchFamily="34" charset="-122"/>
          </a:endParaRPr>
        </a:p>
      </dgm:t>
    </dgm:pt>
    <dgm:pt modelId="{6E982129-8F0C-4255-9580-419EB4F2E3B2}">
      <dgm:prSet custT="1"/>
      <dgm:spPr>
        <a:solidFill>
          <a:srgbClr val="C00000"/>
        </a:solidFill>
      </dgm:spPr>
      <dgm:t>
        <a:bodyPr/>
        <a:lstStyle/>
        <a:p>
          <a:r>
            <a:rPr lang="zh-CN" altLang="en-US" sz="1600" dirty="0" smtClean="0">
              <a:latin typeface="微软雅黑" pitchFamily="34" charset="-122"/>
              <a:ea typeface="微软雅黑" pitchFamily="34" charset="-122"/>
            </a:rPr>
            <a:t>反复推敲方案</a:t>
          </a:r>
          <a:endParaRPr lang="en-US" altLang="zh-CN" sz="1600" dirty="0" smtClean="0">
            <a:latin typeface="微软雅黑" pitchFamily="34" charset="-122"/>
            <a:ea typeface="微软雅黑" pitchFamily="34" charset="-122"/>
          </a:endParaRPr>
        </a:p>
      </dgm:t>
    </dgm:pt>
    <dgm:pt modelId="{61D20A5E-35F1-434D-B906-DEE6CDCF69CF}" type="parTrans" cxnId="{23A0CBEB-61FD-4DD3-A6E0-543B5EFECB59}">
      <dgm:prSet/>
      <dgm:spPr/>
      <dgm:t>
        <a:bodyPr/>
        <a:lstStyle/>
        <a:p>
          <a:endParaRPr lang="zh-CN" altLang="en-US" sz="2000">
            <a:latin typeface="微软雅黑" pitchFamily="34" charset="-122"/>
            <a:ea typeface="微软雅黑" pitchFamily="34" charset="-122"/>
          </a:endParaRPr>
        </a:p>
      </dgm:t>
    </dgm:pt>
    <dgm:pt modelId="{A5C449C6-1495-488E-810B-264A23AC241A}" type="sibTrans" cxnId="{23A0CBEB-61FD-4DD3-A6E0-543B5EFECB59}">
      <dgm:prSet custT="1"/>
      <dgm:spPr>
        <a:solidFill>
          <a:srgbClr val="C00000"/>
        </a:solidFill>
      </dgm:spPr>
      <dgm:t>
        <a:bodyPr/>
        <a:lstStyle/>
        <a:p>
          <a:endParaRPr lang="zh-CN" altLang="en-US" sz="1100">
            <a:latin typeface="微软雅黑" pitchFamily="34" charset="-122"/>
            <a:ea typeface="微软雅黑" pitchFamily="34" charset="-122"/>
          </a:endParaRPr>
        </a:p>
      </dgm:t>
    </dgm:pt>
    <dgm:pt modelId="{70AC6A47-9418-48D8-9592-509D0A9A74B6}">
      <dgm:prSet custT="1"/>
      <dgm:spPr>
        <a:solidFill>
          <a:srgbClr val="C00000"/>
        </a:solidFill>
      </dgm:spPr>
      <dgm:t>
        <a:bodyPr/>
        <a:lstStyle/>
        <a:p>
          <a:r>
            <a:rPr lang="zh-CN" altLang="en-US" sz="1600" dirty="0" smtClean="0">
              <a:latin typeface="微软雅黑" pitchFamily="34" charset="-122"/>
              <a:ea typeface="微软雅黑" pitchFamily="34" charset="-122"/>
            </a:rPr>
            <a:t>保证落实措施</a:t>
          </a:r>
          <a:endParaRPr lang="en-US" altLang="zh-CN" sz="1600" dirty="0" smtClean="0">
            <a:latin typeface="微软雅黑" pitchFamily="34" charset="-122"/>
            <a:ea typeface="微软雅黑" pitchFamily="34" charset="-122"/>
          </a:endParaRPr>
        </a:p>
      </dgm:t>
    </dgm:pt>
    <dgm:pt modelId="{80C7CEB8-746C-452D-951C-E7F8FDA7E87D}" type="parTrans" cxnId="{5F89335E-77B6-44FA-AEBF-950351DAE497}">
      <dgm:prSet/>
      <dgm:spPr/>
      <dgm:t>
        <a:bodyPr/>
        <a:lstStyle/>
        <a:p>
          <a:endParaRPr lang="zh-CN" altLang="en-US" sz="2000">
            <a:latin typeface="微软雅黑" pitchFamily="34" charset="-122"/>
            <a:ea typeface="微软雅黑" pitchFamily="34" charset="-122"/>
          </a:endParaRPr>
        </a:p>
      </dgm:t>
    </dgm:pt>
    <dgm:pt modelId="{74DA53CB-2821-4B75-BF41-F2F8F83513EB}" type="sibTrans" cxnId="{5F89335E-77B6-44FA-AEBF-950351DAE497}">
      <dgm:prSet custT="1"/>
      <dgm:spPr>
        <a:solidFill>
          <a:srgbClr val="C00000"/>
        </a:solidFill>
      </dgm:spPr>
      <dgm:t>
        <a:bodyPr/>
        <a:lstStyle/>
        <a:p>
          <a:endParaRPr lang="zh-CN" altLang="en-US" sz="1100">
            <a:latin typeface="微软雅黑" pitchFamily="34" charset="-122"/>
            <a:ea typeface="微软雅黑" pitchFamily="34" charset="-122"/>
          </a:endParaRPr>
        </a:p>
      </dgm:t>
    </dgm:pt>
    <dgm:pt modelId="{251B364C-A051-4A17-BF97-474731C21246}">
      <dgm:prSet custT="1"/>
      <dgm:spPr>
        <a:solidFill>
          <a:srgbClr val="C00000"/>
        </a:solidFill>
      </dgm:spPr>
      <dgm:t>
        <a:bodyPr/>
        <a:lstStyle/>
        <a:p>
          <a:r>
            <a:rPr lang="zh-CN" altLang="en-US" sz="1600" smtClean="0">
              <a:latin typeface="微软雅黑" pitchFamily="34" charset="-122"/>
              <a:ea typeface="微软雅黑" pitchFamily="34" charset="-122"/>
            </a:rPr>
            <a:t>重视反馈改进</a:t>
          </a:r>
          <a:endParaRPr lang="zh-CN" altLang="en-US" sz="1600" dirty="0">
            <a:latin typeface="微软雅黑" pitchFamily="34" charset="-122"/>
            <a:ea typeface="微软雅黑" pitchFamily="34" charset="-122"/>
          </a:endParaRPr>
        </a:p>
      </dgm:t>
    </dgm:pt>
    <dgm:pt modelId="{C062E4D3-6F4C-4CFB-B704-1647F54BFD04}" type="parTrans" cxnId="{1AEB4744-63B7-4EDB-BE4F-3177027D98CB}">
      <dgm:prSet/>
      <dgm:spPr/>
      <dgm:t>
        <a:bodyPr/>
        <a:lstStyle/>
        <a:p>
          <a:endParaRPr lang="zh-CN" altLang="en-US" sz="2000">
            <a:latin typeface="微软雅黑" pitchFamily="34" charset="-122"/>
            <a:ea typeface="微软雅黑" pitchFamily="34" charset="-122"/>
          </a:endParaRPr>
        </a:p>
      </dgm:t>
    </dgm:pt>
    <dgm:pt modelId="{23DA11A4-4AF4-4DAB-AE3F-CCF2D15E65C3}" type="sibTrans" cxnId="{1AEB4744-63B7-4EDB-BE4F-3177027D98CB}">
      <dgm:prSet custT="1"/>
      <dgm:spPr>
        <a:solidFill>
          <a:srgbClr val="C00000"/>
        </a:solidFill>
      </dgm:spPr>
      <dgm:t>
        <a:bodyPr/>
        <a:lstStyle/>
        <a:p>
          <a:endParaRPr lang="zh-CN" altLang="en-US" sz="1100">
            <a:latin typeface="微软雅黑" pitchFamily="34" charset="-122"/>
            <a:ea typeface="微软雅黑" pitchFamily="34" charset="-122"/>
          </a:endParaRPr>
        </a:p>
      </dgm:t>
    </dgm:pt>
    <dgm:pt modelId="{3B073FD4-133C-48D5-BDBE-256495E2782A}" type="pres">
      <dgm:prSet presAssocID="{9AC9575C-272F-4962-A732-C89CC0DECD6A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B75553EC-02B1-40F3-A551-47C3D8217347}" type="pres">
      <dgm:prSet presAssocID="{F14C7872-FA2F-4F70-85CF-077223BB540E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1F18CDC-9066-4654-AA72-26322D444D7C}" type="pres">
      <dgm:prSet presAssocID="{F9DAA45D-7EEA-4381-BF9E-0247A8EC6765}" presName="sibTrans" presStyleLbl="sibTrans2D1" presStyleIdx="0" presStyleCnt="5"/>
      <dgm:spPr/>
      <dgm:t>
        <a:bodyPr/>
        <a:lstStyle/>
        <a:p>
          <a:endParaRPr lang="zh-CN" altLang="en-US"/>
        </a:p>
      </dgm:t>
    </dgm:pt>
    <dgm:pt modelId="{001360D8-73FC-4BD2-A2CA-952FE88786DF}" type="pres">
      <dgm:prSet presAssocID="{F9DAA45D-7EEA-4381-BF9E-0247A8EC6765}" presName="connectorText" presStyleLbl="sibTrans2D1" presStyleIdx="0" presStyleCnt="5"/>
      <dgm:spPr/>
      <dgm:t>
        <a:bodyPr/>
        <a:lstStyle/>
        <a:p>
          <a:endParaRPr lang="zh-CN" altLang="en-US"/>
        </a:p>
      </dgm:t>
    </dgm:pt>
    <dgm:pt modelId="{DA2A5A9D-B335-41DB-8D96-E3B67BB2C80C}" type="pres">
      <dgm:prSet presAssocID="{8E460B14-72DD-4F47-88EB-A355E11A4E64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5F27DB2-3CD1-42F2-938C-3F68B043C148}" type="pres">
      <dgm:prSet presAssocID="{FDDC9EAC-F745-443A-A48F-77A74B148CB3}" presName="sibTrans" presStyleLbl="sibTrans2D1" presStyleIdx="1" presStyleCnt="5"/>
      <dgm:spPr/>
      <dgm:t>
        <a:bodyPr/>
        <a:lstStyle/>
        <a:p>
          <a:endParaRPr lang="zh-CN" altLang="en-US"/>
        </a:p>
      </dgm:t>
    </dgm:pt>
    <dgm:pt modelId="{0E1C0095-6F60-473E-B6AB-49A2708D0BAB}" type="pres">
      <dgm:prSet presAssocID="{FDDC9EAC-F745-443A-A48F-77A74B148CB3}" presName="connectorText" presStyleLbl="sibTrans2D1" presStyleIdx="1" presStyleCnt="5"/>
      <dgm:spPr/>
      <dgm:t>
        <a:bodyPr/>
        <a:lstStyle/>
        <a:p>
          <a:endParaRPr lang="zh-CN" altLang="en-US"/>
        </a:p>
      </dgm:t>
    </dgm:pt>
    <dgm:pt modelId="{931FD588-046B-4068-B31B-16060C6BCFA1}" type="pres">
      <dgm:prSet presAssocID="{6E982129-8F0C-4255-9580-419EB4F2E3B2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3F7F10A-CF6C-4CD0-B874-50394D54BA1B}" type="pres">
      <dgm:prSet presAssocID="{A5C449C6-1495-488E-810B-264A23AC241A}" presName="sibTrans" presStyleLbl="sibTrans2D1" presStyleIdx="2" presStyleCnt="5"/>
      <dgm:spPr/>
      <dgm:t>
        <a:bodyPr/>
        <a:lstStyle/>
        <a:p>
          <a:endParaRPr lang="zh-CN" altLang="en-US"/>
        </a:p>
      </dgm:t>
    </dgm:pt>
    <dgm:pt modelId="{E7F26D0D-9D4E-480A-AF30-B9DB8E2C1BA9}" type="pres">
      <dgm:prSet presAssocID="{A5C449C6-1495-488E-810B-264A23AC241A}" presName="connectorText" presStyleLbl="sibTrans2D1" presStyleIdx="2" presStyleCnt="5"/>
      <dgm:spPr/>
      <dgm:t>
        <a:bodyPr/>
        <a:lstStyle/>
        <a:p>
          <a:endParaRPr lang="zh-CN" altLang="en-US"/>
        </a:p>
      </dgm:t>
    </dgm:pt>
    <dgm:pt modelId="{E1AE96BE-B76C-4CC8-833C-6F55487CF9E5}" type="pres">
      <dgm:prSet presAssocID="{70AC6A47-9418-48D8-9592-509D0A9A74B6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2171FE5-2C55-44CB-90DF-0179891F37F9}" type="pres">
      <dgm:prSet presAssocID="{74DA53CB-2821-4B75-BF41-F2F8F83513EB}" presName="sibTrans" presStyleLbl="sibTrans2D1" presStyleIdx="3" presStyleCnt="5"/>
      <dgm:spPr/>
      <dgm:t>
        <a:bodyPr/>
        <a:lstStyle/>
        <a:p>
          <a:endParaRPr lang="zh-CN" altLang="en-US"/>
        </a:p>
      </dgm:t>
    </dgm:pt>
    <dgm:pt modelId="{7635A9A9-14ED-423C-AAA8-E3AFC961643C}" type="pres">
      <dgm:prSet presAssocID="{74DA53CB-2821-4B75-BF41-F2F8F83513EB}" presName="connectorText" presStyleLbl="sibTrans2D1" presStyleIdx="3" presStyleCnt="5"/>
      <dgm:spPr/>
      <dgm:t>
        <a:bodyPr/>
        <a:lstStyle/>
        <a:p>
          <a:endParaRPr lang="zh-CN" altLang="en-US"/>
        </a:p>
      </dgm:t>
    </dgm:pt>
    <dgm:pt modelId="{04967DC6-CFAB-4416-91D8-6922EBE30767}" type="pres">
      <dgm:prSet presAssocID="{251B364C-A051-4A17-BF97-474731C21246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D774F9E-3CAB-478F-8C9C-E4B04056154D}" type="pres">
      <dgm:prSet presAssocID="{23DA11A4-4AF4-4DAB-AE3F-CCF2D15E65C3}" presName="sibTrans" presStyleLbl="sibTrans2D1" presStyleIdx="4" presStyleCnt="5"/>
      <dgm:spPr/>
      <dgm:t>
        <a:bodyPr/>
        <a:lstStyle/>
        <a:p>
          <a:endParaRPr lang="zh-CN" altLang="en-US"/>
        </a:p>
      </dgm:t>
    </dgm:pt>
    <dgm:pt modelId="{EE90E964-D750-49CC-93C1-2FE79A3A9264}" type="pres">
      <dgm:prSet presAssocID="{23DA11A4-4AF4-4DAB-AE3F-CCF2D15E65C3}" presName="connectorText" presStyleLbl="sibTrans2D1" presStyleIdx="4" presStyleCnt="5"/>
      <dgm:spPr/>
      <dgm:t>
        <a:bodyPr/>
        <a:lstStyle/>
        <a:p>
          <a:endParaRPr lang="zh-CN" altLang="en-US"/>
        </a:p>
      </dgm:t>
    </dgm:pt>
  </dgm:ptLst>
  <dgm:cxnLst>
    <dgm:cxn modelId="{2D5B992E-A274-4EA5-B9C3-2D9A71B8DE7A}" type="presOf" srcId="{A5C449C6-1495-488E-810B-264A23AC241A}" destId="{E3F7F10A-CF6C-4CD0-B874-50394D54BA1B}" srcOrd="0" destOrd="0" presId="urn:microsoft.com/office/officeart/2005/8/layout/cycle2"/>
    <dgm:cxn modelId="{E786F6B2-2A51-42E8-A0B8-4BEB1135BA95}" type="presOf" srcId="{70AC6A47-9418-48D8-9592-509D0A9A74B6}" destId="{E1AE96BE-B76C-4CC8-833C-6F55487CF9E5}" srcOrd="0" destOrd="0" presId="urn:microsoft.com/office/officeart/2005/8/layout/cycle2"/>
    <dgm:cxn modelId="{219BFCF4-3C56-4F12-8FB2-6D424EC69A38}" type="presOf" srcId="{74DA53CB-2821-4B75-BF41-F2F8F83513EB}" destId="{7635A9A9-14ED-423C-AAA8-E3AFC961643C}" srcOrd="1" destOrd="0" presId="urn:microsoft.com/office/officeart/2005/8/layout/cycle2"/>
    <dgm:cxn modelId="{1AEB4744-63B7-4EDB-BE4F-3177027D98CB}" srcId="{9AC9575C-272F-4962-A732-C89CC0DECD6A}" destId="{251B364C-A051-4A17-BF97-474731C21246}" srcOrd="4" destOrd="0" parTransId="{C062E4D3-6F4C-4CFB-B704-1647F54BFD04}" sibTransId="{23DA11A4-4AF4-4DAB-AE3F-CCF2D15E65C3}"/>
    <dgm:cxn modelId="{E74B6889-4EAB-444E-9E11-FDC17AEBD2EA}" type="presOf" srcId="{F9DAA45D-7EEA-4381-BF9E-0247A8EC6765}" destId="{001360D8-73FC-4BD2-A2CA-952FE88786DF}" srcOrd="1" destOrd="0" presId="urn:microsoft.com/office/officeart/2005/8/layout/cycle2"/>
    <dgm:cxn modelId="{23A0CBEB-61FD-4DD3-A6E0-543B5EFECB59}" srcId="{9AC9575C-272F-4962-A732-C89CC0DECD6A}" destId="{6E982129-8F0C-4255-9580-419EB4F2E3B2}" srcOrd="2" destOrd="0" parTransId="{61D20A5E-35F1-434D-B906-DEE6CDCF69CF}" sibTransId="{A5C449C6-1495-488E-810B-264A23AC241A}"/>
    <dgm:cxn modelId="{047A6949-6314-4FE6-AF0A-71DF9901E0BC}" type="presOf" srcId="{FDDC9EAC-F745-443A-A48F-77A74B148CB3}" destId="{D5F27DB2-3CD1-42F2-938C-3F68B043C148}" srcOrd="0" destOrd="0" presId="urn:microsoft.com/office/officeart/2005/8/layout/cycle2"/>
    <dgm:cxn modelId="{8B7508FD-4868-4E32-B6FA-E9F8A359A71C}" type="presOf" srcId="{9AC9575C-272F-4962-A732-C89CC0DECD6A}" destId="{3B073FD4-133C-48D5-BDBE-256495E2782A}" srcOrd="0" destOrd="0" presId="urn:microsoft.com/office/officeart/2005/8/layout/cycle2"/>
    <dgm:cxn modelId="{3B13C0F4-E790-4ADA-82BA-938D419A480C}" type="presOf" srcId="{74DA53CB-2821-4B75-BF41-F2F8F83513EB}" destId="{A2171FE5-2C55-44CB-90DF-0179891F37F9}" srcOrd="0" destOrd="0" presId="urn:microsoft.com/office/officeart/2005/8/layout/cycle2"/>
    <dgm:cxn modelId="{3DFF3572-C6C8-4F8E-BAE6-963CAD9C1F13}" type="presOf" srcId="{251B364C-A051-4A17-BF97-474731C21246}" destId="{04967DC6-CFAB-4416-91D8-6922EBE30767}" srcOrd="0" destOrd="0" presId="urn:microsoft.com/office/officeart/2005/8/layout/cycle2"/>
    <dgm:cxn modelId="{5B0F0004-70CB-4D8C-9FB2-6D95EDCFB755}" type="presOf" srcId="{A5C449C6-1495-488E-810B-264A23AC241A}" destId="{E7F26D0D-9D4E-480A-AF30-B9DB8E2C1BA9}" srcOrd="1" destOrd="0" presId="urn:microsoft.com/office/officeart/2005/8/layout/cycle2"/>
    <dgm:cxn modelId="{454B1AF5-24B4-4F59-8787-66861B603264}" srcId="{9AC9575C-272F-4962-A732-C89CC0DECD6A}" destId="{F14C7872-FA2F-4F70-85CF-077223BB540E}" srcOrd="0" destOrd="0" parTransId="{63A47552-6171-45C2-965E-8F611E876255}" sibTransId="{F9DAA45D-7EEA-4381-BF9E-0247A8EC6765}"/>
    <dgm:cxn modelId="{2C2871BC-6F3B-4B0C-A89E-BB80900D3267}" type="presOf" srcId="{8E460B14-72DD-4F47-88EB-A355E11A4E64}" destId="{DA2A5A9D-B335-41DB-8D96-E3B67BB2C80C}" srcOrd="0" destOrd="0" presId="urn:microsoft.com/office/officeart/2005/8/layout/cycle2"/>
    <dgm:cxn modelId="{BE810AC1-2247-4326-AE7F-4AE211CA4041}" type="presOf" srcId="{23DA11A4-4AF4-4DAB-AE3F-CCF2D15E65C3}" destId="{EE90E964-D750-49CC-93C1-2FE79A3A9264}" srcOrd="1" destOrd="0" presId="urn:microsoft.com/office/officeart/2005/8/layout/cycle2"/>
    <dgm:cxn modelId="{E1EFE0CE-C622-4F4A-9D0E-7DA0C53BB8F9}" type="presOf" srcId="{6E982129-8F0C-4255-9580-419EB4F2E3B2}" destId="{931FD588-046B-4068-B31B-16060C6BCFA1}" srcOrd="0" destOrd="0" presId="urn:microsoft.com/office/officeart/2005/8/layout/cycle2"/>
    <dgm:cxn modelId="{902554DB-FBA4-41AE-BB80-3971244CA587}" type="presOf" srcId="{23DA11A4-4AF4-4DAB-AE3F-CCF2D15E65C3}" destId="{0D774F9E-3CAB-478F-8C9C-E4B04056154D}" srcOrd="0" destOrd="0" presId="urn:microsoft.com/office/officeart/2005/8/layout/cycle2"/>
    <dgm:cxn modelId="{5F89335E-77B6-44FA-AEBF-950351DAE497}" srcId="{9AC9575C-272F-4962-A732-C89CC0DECD6A}" destId="{70AC6A47-9418-48D8-9592-509D0A9A74B6}" srcOrd="3" destOrd="0" parTransId="{80C7CEB8-746C-452D-951C-E7F8FDA7E87D}" sibTransId="{74DA53CB-2821-4B75-BF41-F2F8F83513EB}"/>
    <dgm:cxn modelId="{90E12BA1-B548-431E-AC25-6E29C4A60E99}" srcId="{9AC9575C-272F-4962-A732-C89CC0DECD6A}" destId="{8E460B14-72DD-4F47-88EB-A355E11A4E64}" srcOrd="1" destOrd="0" parTransId="{F1CF40A6-0846-40A6-A2B2-0F333D5D1A1A}" sibTransId="{FDDC9EAC-F745-443A-A48F-77A74B148CB3}"/>
    <dgm:cxn modelId="{6AE53CB2-8753-4BA4-A34E-8292EE442283}" type="presOf" srcId="{FDDC9EAC-F745-443A-A48F-77A74B148CB3}" destId="{0E1C0095-6F60-473E-B6AB-49A2708D0BAB}" srcOrd="1" destOrd="0" presId="urn:microsoft.com/office/officeart/2005/8/layout/cycle2"/>
    <dgm:cxn modelId="{456D35B1-4780-4519-A7DA-D9856F85BC4F}" type="presOf" srcId="{F9DAA45D-7EEA-4381-BF9E-0247A8EC6765}" destId="{C1F18CDC-9066-4654-AA72-26322D444D7C}" srcOrd="0" destOrd="0" presId="urn:microsoft.com/office/officeart/2005/8/layout/cycle2"/>
    <dgm:cxn modelId="{AF8C1642-9706-484E-A2D4-2AF31B90712B}" type="presOf" srcId="{F14C7872-FA2F-4F70-85CF-077223BB540E}" destId="{B75553EC-02B1-40F3-A551-47C3D8217347}" srcOrd="0" destOrd="0" presId="urn:microsoft.com/office/officeart/2005/8/layout/cycle2"/>
    <dgm:cxn modelId="{BFAC8DC9-8252-4E45-9AF4-A5F2D747F597}" type="presParOf" srcId="{3B073FD4-133C-48D5-BDBE-256495E2782A}" destId="{B75553EC-02B1-40F3-A551-47C3D8217347}" srcOrd="0" destOrd="0" presId="urn:microsoft.com/office/officeart/2005/8/layout/cycle2"/>
    <dgm:cxn modelId="{E4C6002E-3A63-41F1-8E53-0F44CE6AD358}" type="presParOf" srcId="{3B073FD4-133C-48D5-BDBE-256495E2782A}" destId="{C1F18CDC-9066-4654-AA72-26322D444D7C}" srcOrd="1" destOrd="0" presId="urn:microsoft.com/office/officeart/2005/8/layout/cycle2"/>
    <dgm:cxn modelId="{21BC8E22-0E82-42BD-B01D-99B5AD53B8F9}" type="presParOf" srcId="{C1F18CDC-9066-4654-AA72-26322D444D7C}" destId="{001360D8-73FC-4BD2-A2CA-952FE88786DF}" srcOrd="0" destOrd="0" presId="urn:microsoft.com/office/officeart/2005/8/layout/cycle2"/>
    <dgm:cxn modelId="{BD1FD89A-6DDE-4775-BCC9-690AC7C823D2}" type="presParOf" srcId="{3B073FD4-133C-48D5-BDBE-256495E2782A}" destId="{DA2A5A9D-B335-41DB-8D96-E3B67BB2C80C}" srcOrd="2" destOrd="0" presId="urn:microsoft.com/office/officeart/2005/8/layout/cycle2"/>
    <dgm:cxn modelId="{385BA470-DF81-46F7-AB1F-B645D598881B}" type="presParOf" srcId="{3B073FD4-133C-48D5-BDBE-256495E2782A}" destId="{D5F27DB2-3CD1-42F2-938C-3F68B043C148}" srcOrd="3" destOrd="0" presId="urn:microsoft.com/office/officeart/2005/8/layout/cycle2"/>
    <dgm:cxn modelId="{1E0036C2-69A2-4DA9-8CB6-AD6A58BC12F0}" type="presParOf" srcId="{D5F27DB2-3CD1-42F2-938C-3F68B043C148}" destId="{0E1C0095-6F60-473E-B6AB-49A2708D0BAB}" srcOrd="0" destOrd="0" presId="urn:microsoft.com/office/officeart/2005/8/layout/cycle2"/>
    <dgm:cxn modelId="{EA3870C5-CAA0-4950-A496-74403482DAC8}" type="presParOf" srcId="{3B073FD4-133C-48D5-BDBE-256495E2782A}" destId="{931FD588-046B-4068-B31B-16060C6BCFA1}" srcOrd="4" destOrd="0" presId="urn:microsoft.com/office/officeart/2005/8/layout/cycle2"/>
    <dgm:cxn modelId="{ABA0AB83-2709-4E23-B4F9-DCE606D391E4}" type="presParOf" srcId="{3B073FD4-133C-48D5-BDBE-256495E2782A}" destId="{E3F7F10A-CF6C-4CD0-B874-50394D54BA1B}" srcOrd="5" destOrd="0" presId="urn:microsoft.com/office/officeart/2005/8/layout/cycle2"/>
    <dgm:cxn modelId="{7409B4CE-32BA-4ADA-AD1B-0029DAAFC128}" type="presParOf" srcId="{E3F7F10A-CF6C-4CD0-B874-50394D54BA1B}" destId="{E7F26D0D-9D4E-480A-AF30-B9DB8E2C1BA9}" srcOrd="0" destOrd="0" presId="urn:microsoft.com/office/officeart/2005/8/layout/cycle2"/>
    <dgm:cxn modelId="{0FDC128B-B69F-4818-BC6D-50142707B006}" type="presParOf" srcId="{3B073FD4-133C-48D5-BDBE-256495E2782A}" destId="{E1AE96BE-B76C-4CC8-833C-6F55487CF9E5}" srcOrd="6" destOrd="0" presId="urn:microsoft.com/office/officeart/2005/8/layout/cycle2"/>
    <dgm:cxn modelId="{BAB2182A-1AA7-4175-B4C9-A5F1FAF9BD8C}" type="presParOf" srcId="{3B073FD4-133C-48D5-BDBE-256495E2782A}" destId="{A2171FE5-2C55-44CB-90DF-0179891F37F9}" srcOrd="7" destOrd="0" presId="urn:microsoft.com/office/officeart/2005/8/layout/cycle2"/>
    <dgm:cxn modelId="{FD8C4BFB-AAC2-494F-84F0-7F4F96C3DA59}" type="presParOf" srcId="{A2171FE5-2C55-44CB-90DF-0179891F37F9}" destId="{7635A9A9-14ED-423C-AAA8-E3AFC961643C}" srcOrd="0" destOrd="0" presId="urn:microsoft.com/office/officeart/2005/8/layout/cycle2"/>
    <dgm:cxn modelId="{1E3F9EE5-C409-44BD-9A9E-EE8A62ECE8FB}" type="presParOf" srcId="{3B073FD4-133C-48D5-BDBE-256495E2782A}" destId="{04967DC6-CFAB-4416-91D8-6922EBE30767}" srcOrd="8" destOrd="0" presId="urn:microsoft.com/office/officeart/2005/8/layout/cycle2"/>
    <dgm:cxn modelId="{7F6A8909-7996-4901-AA06-9C65D19616A4}" type="presParOf" srcId="{3B073FD4-133C-48D5-BDBE-256495E2782A}" destId="{0D774F9E-3CAB-478F-8C9C-E4B04056154D}" srcOrd="9" destOrd="0" presId="urn:microsoft.com/office/officeart/2005/8/layout/cycle2"/>
    <dgm:cxn modelId="{DE66B239-2846-467C-9288-76D5A3CF128F}" type="presParOf" srcId="{0D774F9E-3CAB-478F-8C9C-E4B04056154D}" destId="{EE90E964-D750-49CC-93C1-2FE79A3A9264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8A9B94-16C4-4512-8C26-9AFF6C3B07ED}" type="datetimeFigureOut">
              <a:rPr lang="zh-CN" altLang="en-US" smtClean="0"/>
              <a:t>2014/2/21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4689A6-D123-4798-9449-9D566FA8D4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24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AAACF-9404-4F29-8350-E062FEAA9552}" type="datetimeFigureOut">
              <a:rPr lang="zh-CN" altLang="en-US" smtClean="0"/>
              <a:t>2014/2/21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F599-616E-4C69-8F1B-9EA8EC7A6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6709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AAACF-9404-4F29-8350-E062FEAA9552}" type="datetimeFigureOut">
              <a:rPr lang="zh-CN" altLang="en-US" smtClean="0"/>
              <a:t>2014/2/21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F599-616E-4C69-8F1B-9EA8EC7A6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292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AAACF-9404-4F29-8350-E062FEAA9552}" type="datetimeFigureOut">
              <a:rPr lang="zh-CN" altLang="en-US" smtClean="0"/>
              <a:t>2014/2/21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F599-616E-4C69-8F1B-9EA8EC7A6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756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AAACF-9404-4F29-8350-E062FEAA9552}" type="datetimeFigureOut">
              <a:rPr lang="zh-CN" altLang="en-US" smtClean="0"/>
              <a:t>2014/2/21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F599-616E-4C69-8F1B-9EA8EC7A6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811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AAACF-9404-4F29-8350-E062FEAA9552}" type="datetimeFigureOut">
              <a:rPr lang="zh-CN" altLang="en-US" smtClean="0"/>
              <a:t>2014/2/21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F599-616E-4C69-8F1B-9EA8EC7A6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230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AAACF-9404-4F29-8350-E062FEAA9552}" type="datetimeFigureOut">
              <a:rPr lang="zh-CN" altLang="en-US" smtClean="0"/>
              <a:t>2014/2/21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F599-616E-4C69-8F1B-9EA8EC7A6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007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AAACF-9404-4F29-8350-E062FEAA9552}" type="datetimeFigureOut">
              <a:rPr lang="zh-CN" altLang="en-US" smtClean="0"/>
              <a:t>2014/2/21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F599-616E-4C69-8F1B-9EA8EC7A6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5541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AAACF-9404-4F29-8350-E062FEAA9552}" type="datetimeFigureOut">
              <a:rPr lang="zh-CN" altLang="en-US" smtClean="0"/>
              <a:t>2014/2/21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F599-616E-4C69-8F1B-9EA8EC7A6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173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AAACF-9404-4F29-8350-E062FEAA9552}" type="datetimeFigureOut">
              <a:rPr lang="zh-CN" altLang="en-US" smtClean="0"/>
              <a:t>2014/2/21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F599-616E-4C69-8F1B-9EA8EC7A6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189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AAACF-9404-4F29-8350-E062FEAA9552}" type="datetimeFigureOut">
              <a:rPr lang="zh-CN" altLang="en-US" smtClean="0"/>
              <a:t>2014/2/21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F599-616E-4C69-8F1B-9EA8EC7A6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886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AAACF-9404-4F29-8350-E062FEAA9552}" type="datetimeFigureOut">
              <a:rPr lang="zh-CN" altLang="en-US" smtClean="0"/>
              <a:t>2014/2/21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F599-616E-4C69-8F1B-9EA8EC7A6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921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2791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980728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45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3221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6032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0814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3861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7911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3946" y="-51325"/>
            <a:ext cx="9140054" cy="706827"/>
          </a:xfrm>
          <a:prstGeom prst="rect">
            <a:avLst/>
          </a:prstGeom>
          <a:solidFill>
            <a:srgbClr val="9B743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椭圆 5"/>
          <p:cNvSpPr/>
          <p:nvPr userDrawn="1"/>
        </p:nvSpPr>
        <p:spPr>
          <a:xfrm>
            <a:off x="894850" y="585521"/>
            <a:ext cx="468052" cy="468000"/>
          </a:xfrm>
          <a:prstGeom prst="ellipse">
            <a:avLst/>
          </a:prstGeom>
          <a:solidFill>
            <a:srgbClr val="D1B48C"/>
          </a:solidFill>
          <a:ln>
            <a:solidFill>
              <a:schemeClr val="bg1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3946" y="26340"/>
            <a:ext cx="1080000" cy="1080000"/>
          </a:xfrm>
          <a:prstGeom prst="ellipse">
            <a:avLst/>
          </a:prstGeom>
          <a:blipFill dpi="0" rotWithShape="1">
            <a:blip r:embed="rId2"/>
            <a:srcRect/>
            <a:tile tx="-177800" ty="-158750" sx="100000" sy="100000" flip="none" algn="tl"/>
          </a:blipFill>
          <a:ln>
            <a:solidFill>
              <a:schemeClr val="bg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9662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6805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9114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7436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51576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1430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47824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94992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4221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92192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4049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41595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2023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8957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7866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9145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2" y="2130426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75851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005448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6976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1600201"/>
            <a:ext cx="403860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45555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69971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156430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539598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2" y="273051"/>
            <a:ext cx="511174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2546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6164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492855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399" y="274639"/>
            <a:ext cx="2057401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1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965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AAACF-9404-4F29-8350-E062FEAA9552}" type="datetimeFigureOut">
              <a:rPr lang="zh-CN" altLang="en-US" smtClean="0"/>
              <a:t>2014/2/21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1F599-616E-4C69-8F1B-9EA8EC7A6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406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772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9515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2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511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23528" y="1238895"/>
            <a:ext cx="8496944" cy="1470025"/>
          </a:xfrm>
        </p:spPr>
        <p:txBody>
          <a:bodyPr>
            <a:noAutofit/>
            <a:scene3d>
              <a:camera prst="orthographicFront"/>
              <a:lightRig rig="threePt" dir="t"/>
            </a:scene3d>
            <a:sp3d extrusionH="88900"/>
          </a:bodyPr>
          <a:lstStyle/>
          <a:p>
            <a:pPr algn="r"/>
            <a:r>
              <a:rPr lang="zh-CN" altLang="en-US" sz="6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  <a:cs typeface="经典繁毛楷" pitchFamily="49" charset="-122"/>
              </a:rPr>
              <a:t>卓有</a:t>
            </a:r>
            <a:r>
              <a:rPr lang="zh-CN" alt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  <a:cs typeface="经典繁毛楷" pitchFamily="49" charset="-122"/>
              </a:rPr>
              <a:t>成效</a:t>
            </a:r>
            <a:r>
              <a:rPr lang="zh-CN" altLang="en-US" sz="6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  <a:cs typeface="经典繁毛楷" pitchFamily="49" charset="-122"/>
              </a:rPr>
              <a:t>的</a:t>
            </a:r>
            <a:r>
              <a:rPr lang="en-US" altLang="zh-CN" sz="6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  <a:cs typeface="经典繁毛楷" pitchFamily="49" charset="-122"/>
              </a:rPr>
              <a:t/>
            </a:r>
            <a:br>
              <a:rPr lang="en-US" altLang="zh-CN" sz="6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  <a:cs typeface="经典繁毛楷" pitchFamily="49" charset="-122"/>
              </a:rPr>
            </a:br>
            <a:r>
              <a:rPr lang="zh-CN" altLang="en-US" sz="6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  <a:cs typeface="经典繁毛楷" pitchFamily="49" charset="-122"/>
              </a:rPr>
              <a:t>管理</a:t>
            </a:r>
            <a:r>
              <a:rPr lang="zh-CN" altLang="en-US" sz="6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  <a:cs typeface="经典繁毛楷" pitchFamily="49" charset="-122"/>
              </a:rPr>
              <a:t>者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0" y="3068960"/>
            <a:ext cx="9144000" cy="720080"/>
            <a:chOff x="0" y="2780928"/>
            <a:chExt cx="9144000" cy="720080"/>
          </a:xfrm>
        </p:grpSpPr>
        <p:sp>
          <p:nvSpPr>
            <p:cNvPr id="4" name="矩形 3"/>
            <p:cNvSpPr/>
            <p:nvPr/>
          </p:nvSpPr>
          <p:spPr>
            <a:xfrm>
              <a:off x="0" y="2780928"/>
              <a:ext cx="9144000" cy="36004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0" y="3140968"/>
              <a:ext cx="9144000" cy="36004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635896" y="3127672"/>
            <a:ext cx="6192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The Effective Executive</a:t>
            </a:r>
            <a:endParaRPr lang="zh-CN" altLang="en-US" sz="2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976456" y="5286350"/>
            <a:ext cx="2700000" cy="360040"/>
            <a:chOff x="5556672" y="4494262"/>
            <a:chExt cx="2615728" cy="360040"/>
          </a:xfrm>
        </p:grpSpPr>
        <p:sp>
          <p:nvSpPr>
            <p:cNvPr id="8" name="矩形 7"/>
            <p:cNvSpPr/>
            <p:nvPr/>
          </p:nvSpPr>
          <p:spPr>
            <a:xfrm>
              <a:off x="5556672" y="4494262"/>
              <a:ext cx="1247576" cy="36004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原文作者</a:t>
              </a:r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780808" y="4494262"/>
              <a:ext cx="1391592" cy="36004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彼得</a:t>
              </a:r>
              <a:r>
                <a:rPr lang="en-US" altLang="zh-CN" dirty="0" smtClean="0">
                  <a:latin typeface="微软雅黑" pitchFamily="34" charset="-122"/>
                  <a:ea typeface="微软雅黑" pitchFamily="34" charset="-122"/>
                </a:rPr>
                <a:t>·</a:t>
              </a:r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德鲁克</a:t>
              </a:r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976456" y="5805264"/>
            <a:ext cx="2700000" cy="360040"/>
            <a:chOff x="5556672" y="5229200"/>
            <a:chExt cx="2615728" cy="360040"/>
          </a:xfrm>
        </p:grpSpPr>
        <p:sp>
          <p:nvSpPr>
            <p:cNvPr id="9" name="矩形 8"/>
            <p:cNvSpPr/>
            <p:nvPr/>
          </p:nvSpPr>
          <p:spPr>
            <a:xfrm>
              <a:off x="5556672" y="5229200"/>
              <a:ext cx="1247576" cy="36004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改编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6780808" y="5229200"/>
              <a:ext cx="1391592" cy="36004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糖炒诗人</a:t>
              </a:r>
              <a:r>
                <a:rPr lang="en-US" altLang="zh-CN" dirty="0" smtClean="0">
                  <a:latin typeface="微软雅黑" pitchFamily="34" charset="-122"/>
                  <a:ea typeface="微软雅黑" pitchFamily="34" charset="-122"/>
                </a:rPr>
                <a:t>-</a:t>
              </a:r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183" y="1961937"/>
            <a:ext cx="3021585" cy="4275375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isometricOffAxis2Right">
              <a:rot lat="21253035" lon="19968891" rev="322808"/>
            </a:camera>
            <a:lightRig rig="threePt" dir="t"/>
          </a:scene3d>
          <a:sp3d extrusionH="234950"/>
        </p:spPr>
      </p:pic>
    </p:spTree>
    <p:extLst>
      <p:ext uri="{BB962C8B-B14F-4D97-AF65-F5344CB8AC3E}">
        <p14:creationId xmlns:p14="http://schemas.microsoft.com/office/powerpoint/2010/main" val="98762439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4060322" y="1556792"/>
            <a:ext cx="1023357" cy="3744416"/>
            <a:chOff x="4096325" y="1908840"/>
            <a:chExt cx="1023357" cy="3744416"/>
          </a:xfrm>
        </p:grpSpPr>
        <p:sp>
          <p:nvSpPr>
            <p:cNvPr id="7" name="矩形 6"/>
            <p:cNvSpPr/>
            <p:nvPr/>
          </p:nvSpPr>
          <p:spPr>
            <a:xfrm>
              <a:off x="4211960" y="1908840"/>
              <a:ext cx="792088" cy="3744416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/>
            <a:lstStyle/>
            <a:p>
              <a:pPr algn="ctr"/>
              <a:endParaRPr lang="zh-CN" altLang="en-US" sz="44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096325" y="1908840"/>
              <a:ext cx="1023357" cy="374441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CN" altLang="en-US" sz="44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我想</a:t>
              </a:r>
              <a:r>
                <a:rPr lang="zh-CN" altLang="en-US" sz="4400" dirty="0" smtClean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要</a:t>
              </a:r>
              <a:r>
                <a:rPr lang="en-US" altLang="zh-CN" sz="44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……</a:t>
              </a:r>
              <a:endParaRPr lang="zh-CN" altLang="en-US" sz="4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lang="zh-CN" altLang="en-US" sz="105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42" name="矩形 41"/>
          <p:cNvSpPr/>
          <p:nvPr/>
        </p:nvSpPr>
        <p:spPr>
          <a:xfrm>
            <a:off x="5087697" y="2591571"/>
            <a:ext cx="216024" cy="640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5375729" y="2648139"/>
            <a:ext cx="2952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自我的完善</a:t>
            </a:r>
            <a:endParaRPr lang="en-US" altLang="zh-CN" sz="2800" b="1" dirty="0" smtClean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087697" y="3626350"/>
            <a:ext cx="216024" cy="640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5375729" y="3686642"/>
            <a:ext cx="2952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幸福的感觉</a:t>
            </a:r>
            <a:endParaRPr lang="en-US" altLang="zh-CN" sz="2800" b="1" dirty="0" smtClean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5087697" y="4661128"/>
            <a:ext cx="216024" cy="640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5375729" y="4725144"/>
            <a:ext cx="2952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丰富充实的人生</a:t>
            </a:r>
            <a:endParaRPr lang="en-US" altLang="zh-CN" sz="2800" b="1" dirty="0" smtClean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矩形 58"/>
          <p:cNvSpPr/>
          <p:nvPr/>
        </p:nvSpPr>
        <p:spPr>
          <a:xfrm flipH="1">
            <a:off x="3844298" y="2591571"/>
            <a:ext cx="216024" cy="640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TextBox 59"/>
          <p:cNvSpPr txBox="1"/>
          <p:nvPr/>
        </p:nvSpPr>
        <p:spPr>
          <a:xfrm flipH="1">
            <a:off x="819962" y="2635050"/>
            <a:ext cx="2952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体面的工作</a:t>
            </a:r>
            <a:endParaRPr lang="zh-CN" altLang="en-US" sz="28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" name="矩形 61"/>
          <p:cNvSpPr/>
          <p:nvPr/>
        </p:nvSpPr>
        <p:spPr>
          <a:xfrm flipH="1">
            <a:off x="3844298" y="3626350"/>
            <a:ext cx="216024" cy="640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TextBox 62"/>
          <p:cNvSpPr txBox="1"/>
          <p:nvPr/>
        </p:nvSpPr>
        <p:spPr>
          <a:xfrm flipH="1">
            <a:off x="819962" y="3641300"/>
            <a:ext cx="2952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丰厚的收入</a:t>
            </a:r>
            <a:endParaRPr lang="zh-CN" altLang="en-US" sz="28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 flipH="1">
            <a:off x="3844298" y="4661128"/>
            <a:ext cx="216024" cy="640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TextBox 65"/>
          <p:cNvSpPr txBox="1"/>
          <p:nvPr/>
        </p:nvSpPr>
        <p:spPr>
          <a:xfrm flipH="1">
            <a:off x="819962" y="4647550"/>
            <a:ext cx="2952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对社会做出贡献</a:t>
            </a:r>
            <a:endParaRPr lang="zh-CN" altLang="en-US" sz="28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5087697" y="1556792"/>
            <a:ext cx="216024" cy="640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TextBox 72"/>
          <p:cNvSpPr txBox="1"/>
          <p:nvPr/>
        </p:nvSpPr>
        <p:spPr>
          <a:xfrm>
            <a:off x="5375729" y="1609636"/>
            <a:ext cx="2952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精神</a:t>
            </a:r>
            <a:r>
              <a:rPr lang="en-US" altLang="zh-CN" sz="28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内部世界</a:t>
            </a:r>
            <a:endParaRPr lang="en-US" altLang="zh-CN" sz="2800" b="1" dirty="0" smtClean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矩形 73"/>
          <p:cNvSpPr/>
          <p:nvPr/>
        </p:nvSpPr>
        <p:spPr>
          <a:xfrm flipH="1">
            <a:off x="3844298" y="1556792"/>
            <a:ext cx="216024" cy="640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TextBox 74"/>
          <p:cNvSpPr txBox="1"/>
          <p:nvPr/>
        </p:nvSpPr>
        <p:spPr>
          <a:xfrm flipH="1">
            <a:off x="819962" y="1628800"/>
            <a:ext cx="2952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物质</a:t>
            </a:r>
            <a:r>
              <a:rPr lang="en-US" altLang="zh-CN" sz="28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外部世界</a:t>
            </a:r>
            <a:endParaRPr lang="zh-CN" altLang="en-US" sz="28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44232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4060322" y="1556792"/>
            <a:ext cx="1023357" cy="3744416"/>
            <a:chOff x="4096325" y="1908840"/>
            <a:chExt cx="1023357" cy="3744416"/>
          </a:xfrm>
        </p:grpSpPr>
        <p:sp>
          <p:nvSpPr>
            <p:cNvPr id="7" name="矩形 6"/>
            <p:cNvSpPr/>
            <p:nvPr/>
          </p:nvSpPr>
          <p:spPr>
            <a:xfrm>
              <a:off x="4211960" y="1908840"/>
              <a:ext cx="792088" cy="374441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/>
            <a:lstStyle/>
            <a:p>
              <a:pPr algn="ctr"/>
              <a:endParaRPr lang="zh-CN" altLang="en-US" sz="44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096325" y="1908840"/>
              <a:ext cx="1023357" cy="374441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CN" altLang="en-US" sz="4400" dirty="0" smtClean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我</a:t>
              </a:r>
              <a:r>
                <a:rPr lang="zh-CN" altLang="en-US" sz="44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正在</a:t>
              </a:r>
              <a:r>
                <a:rPr lang="en-US" altLang="zh-CN" sz="4400" dirty="0" smtClean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……</a:t>
              </a:r>
              <a:endParaRPr lang="zh-CN" altLang="en-US" sz="4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lang="zh-CN" altLang="en-US" sz="105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42" name="矩形 41"/>
          <p:cNvSpPr/>
          <p:nvPr/>
        </p:nvSpPr>
        <p:spPr>
          <a:xfrm>
            <a:off x="5087697" y="3108960"/>
            <a:ext cx="216024" cy="6400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5375729" y="3212976"/>
            <a:ext cx="2952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微软雅黑" pitchFamily="34" charset="-122"/>
                <a:ea typeface="微软雅黑" pitchFamily="34" charset="-122"/>
              </a:rPr>
              <a:t>没有计划</a:t>
            </a:r>
            <a:endParaRPr lang="en-US" altLang="zh-CN" sz="28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087697" y="4661128"/>
            <a:ext cx="216024" cy="6400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5375729" y="4725144"/>
            <a:ext cx="2952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微软雅黑" pitchFamily="34" charset="-122"/>
                <a:ea typeface="微软雅黑" pitchFamily="34" charset="-122"/>
              </a:rPr>
              <a:t>没有行动</a:t>
            </a:r>
            <a:endParaRPr lang="en-US" altLang="zh-CN" sz="28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矩形 58"/>
          <p:cNvSpPr/>
          <p:nvPr/>
        </p:nvSpPr>
        <p:spPr>
          <a:xfrm flipH="1">
            <a:off x="3844298" y="3112956"/>
            <a:ext cx="216024" cy="6400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TextBox 59"/>
          <p:cNvSpPr txBox="1"/>
          <p:nvPr/>
        </p:nvSpPr>
        <p:spPr>
          <a:xfrm flipH="1">
            <a:off x="819962" y="3081154"/>
            <a:ext cx="29523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晚起</a:t>
            </a:r>
            <a:endParaRPr lang="zh-CN" altLang="en-US" sz="4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" name="矩形 61"/>
          <p:cNvSpPr/>
          <p:nvPr/>
        </p:nvSpPr>
        <p:spPr>
          <a:xfrm flipH="1">
            <a:off x="3844298" y="4661128"/>
            <a:ext cx="216024" cy="6400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TextBox 62"/>
          <p:cNvSpPr txBox="1"/>
          <p:nvPr/>
        </p:nvSpPr>
        <p:spPr>
          <a:xfrm flipH="1">
            <a:off x="819962" y="4665330"/>
            <a:ext cx="29523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拖延</a:t>
            </a:r>
            <a:endParaRPr lang="zh-CN" altLang="en-US" sz="4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5087697" y="1556792"/>
            <a:ext cx="216024" cy="6400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TextBox 72"/>
          <p:cNvSpPr txBox="1"/>
          <p:nvPr/>
        </p:nvSpPr>
        <p:spPr>
          <a:xfrm>
            <a:off x="5375729" y="1628800"/>
            <a:ext cx="2952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微软雅黑" pitchFamily="34" charset="-122"/>
                <a:ea typeface="微软雅黑" pitchFamily="34" charset="-122"/>
              </a:rPr>
              <a:t>没有目标</a:t>
            </a:r>
            <a:endParaRPr lang="en-US" altLang="zh-CN" sz="28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矩形 73"/>
          <p:cNvSpPr/>
          <p:nvPr/>
        </p:nvSpPr>
        <p:spPr>
          <a:xfrm flipH="1">
            <a:off x="3844298" y="1564784"/>
            <a:ext cx="216024" cy="6400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TextBox 74"/>
          <p:cNvSpPr txBox="1"/>
          <p:nvPr/>
        </p:nvSpPr>
        <p:spPr>
          <a:xfrm flipH="1">
            <a:off x="819962" y="1568986"/>
            <a:ext cx="29523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熬夜</a:t>
            </a:r>
            <a:endParaRPr lang="zh-CN" altLang="en-US" sz="4000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12590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4594224" y="0"/>
            <a:ext cx="4572000" cy="68580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4060322" y="1556792"/>
            <a:ext cx="1023357" cy="374441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4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我想要改变</a:t>
            </a:r>
            <a:endParaRPr lang="zh-CN" altLang="en-US" sz="4400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105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07704" y="4470211"/>
            <a:ext cx="720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？</a:t>
            </a:r>
            <a:endParaRPr lang="zh-CN" altLang="en-US" sz="4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92633" y="4470211"/>
            <a:ext cx="6156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!</a:t>
            </a:r>
            <a:endParaRPr lang="zh-CN" altLang="en-US" sz="4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35950" y="2644170"/>
            <a:ext cx="900100" cy="15696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latin typeface="微软雅黑" pitchFamily="34" charset="-122"/>
                <a:ea typeface="微软雅黑" pitchFamily="34" charset="-122"/>
              </a:rPr>
              <a:t>现实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981" y="2644170"/>
            <a:ext cx="900100" cy="15696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理想</a:t>
            </a:r>
          </a:p>
        </p:txBody>
      </p:sp>
    </p:spTree>
    <p:extLst>
      <p:ext uri="{BB962C8B-B14F-4D97-AF65-F5344CB8AC3E}">
        <p14:creationId xmlns:p14="http://schemas.microsoft.com/office/powerpoint/2010/main" val="12940551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0" grpId="0" animBg="1"/>
      <p:bldP spid="37" grpId="0"/>
      <p:bldP spid="2" grpId="0"/>
      <p:bldP spid="18" grpId="0"/>
      <p:bldP spid="4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204864"/>
            <a:ext cx="9144000" cy="2708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475656" y="3316976"/>
            <a:ext cx="6408712" cy="731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8"/>
          <p:cNvSpPr txBox="1"/>
          <p:nvPr/>
        </p:nvSpPr>
        <p:spPr>
          <a:xfrm>
            <a:off x="779132" y="2397075"/>
            <a:ext cx="780176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chemeClr val="bg1">
                    <a:lumMod val="95000"/>
                  </a:schemeClr>
                </a:solidFill>
                <a:latin typeface="黑体" pitchFamily="49" charset="-122"/>
                <a:ea typeface="黑体" pitchFamily="49" charset="-122"/>
              </a:rPr>
              <a:t>迈出改变的</a:t>
            </a:r>
            <a:r>
              <a:rPr lang="zh-CN" altLang="en-US" sz="5400" b="1" dirty="0" smtClean="0">
                <a:solidFill>
                  <a:schemeClr val="bg1">
                    <a:lumMod val="95000"/>
                  </a:schemeClr>
                </a:solidFill>
                <a:latin typeface="黑体" pitchFamily="49" charset="-122"/>
                <a:ea typeface="黑体" pitchFamily="49" charset="-122"/>
              </a:rPr>
              <a:t>第一步</a:t>
            </a:r>
            <a:r>
              <a:rPr lang="zh-CN" altLang="en-US" sz="2800" b="1" dirty="0" smtClean="0">
                <a:solidFill>
                  <a:schemeClr val="bg1">
                    <a:lumMod val="95000"/>
                  </a:schemeClr>
                </a:solidFill>
                <a:latin typeface="黑体" pitchFamily="49" charset="-122"/>
                <a:ea typeface="黑体" pitchFamily="49" charset="-122"/>
              </a:rPr>
              <a:t>：</a:t>
            </a:r>
            <a:endParaRPr lang="en-US" altLang="zh-CN" sz="2800" b="1" dirty="0" smtClean="0">
              <a:solidFill>
                <a:schemeClr val="bg1">
                  <a:lumMod val="95000"/>
                </a:schemeClr>
              </a:solidFill>
              <a:latin typeface="黑体" pitchFamily="49" charset="-122"/>
              <a:ea typeface="黑体" pitchFamily="49" charset="-122"/>
            </a:endParaRPr>
          </a:p>
          <a:p>
            <a:pPr algn="ctr"/>
            <a:r>
              <a:rPr lang="zh-CN" altLang="en-US" sz="2800" b="1" dirty="0" smtClean="0">
                <a:solidFill>
                  <a:schemeClr val="bg1">
                    <a:lumMod val="95000"/>
                  </a:schemeClr>
                </a:solidFill>
                <a:latin typeface="黑体" pitchFamily="49" charset="-122"/>
                <a:ea typeface="黑体" pitchFamily="49" charset="-122"/>
              </a:rPr>
              <a:t>从</a:t>
            </a:r>
            <a:r>
              <a:rPr lang="en-US" altLang="zh-CN" sz="5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《</a:t>
            </a:r>
            <a:r>
              <a:rPr lang="zh-CN" altLang="en-US" sz="5400" dirty="0">
                <a:solidFill>
                  <a:srgbClr val="C00000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卓有成效的管理者</a:t>
            </a:r>
            <a:r>
              <a:rPr lang="en-US" altLang="zh-CN" sz="5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》</a:t>
            </a:r>
            <a:r>
              <a:rPr lang="zh-CN" altLang="en-US" sz="2800" b="1" dirty="0" smtClean="0">
                <a:solidFill>
                  <a:schemeClr val="bg1">
                    <a:lumMod val="95000"/>
                  </a:schemeClr>
                </a:solidFill>
                <a:latin typeface="黑体" pitchFamily="49" charset="-122"/>
                <a:ea typeface="黑体" pitchFamily="49" charset="-122"/>
              </a:rPr>
              <a:t>中学习自我管理开始！</a:t>
            </a:r>
            <a:endParaRPr lang="zh-CN" altLang="en-US" sz="2800" b="1" dirty="0">
              <a:solidFill>
                <a:schemeClr val="bg1">
                  <a:lumMod val="95000"/>
                </a:schemeClr>
              </a:solidFill>
              <a:latin typeface="黑体" pitchFamily="49" charset="-122"/>
              <a:ea typeface="黑体" pitchFamily="49" charset="-122"/>
            </a:endParaRPr>
          </a:p>
          <a:p>
            <a:endParaRPr lang="zh-CN" alt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0501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714080" y="2420888"/>
            <a:ext cx="6048794" cy="201622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23528" y="0"/>
            <a:ext cx="1695756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椭圆 4"/>
          <p:cNvSpPr/>
          <p:nvPr/>
        </p:nvSpPr>
        <p:spPr>
          <a:xfrm>
            <a:off x="571866" y="695866"/>
            <a:ext cx="1199080" cy="119908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6990" tIns="46990" rIns="46990" bIns="46990" numCol="1" spcCol="1270" anchor="ctr" anchorCtr="0">
            <a:noAutofit/>
          </a:bodyPr>
          <a:lstStyle/>
          <a:p>
            <a:pPr lvl="0" algn="ctr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3700" kern="1200" dirty="0" smtClean="0">
                <a:latin typeface="微软雅黑" pitchFamily="34" charset="-122"/>
                <a:ea typeface="微软雅黑" pitchFamily="34" charset="-122"/>
              </a:rPr>
              <a:t>善用时间</a:t>
            </a:r>
            <a:endParaRPr lang="zh-CN" altLang="en-US" sz="3700" kern="12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339630" y="866304"/>
            <a:ext cx="3240360" cy="640080"/>
            <a:chOff x="2339752" y="362248"/>
            <a:chExt cx="3240360" cy="640080"/>
          </a:xfrm>
        </p:grpSpPr>
        <p:sp>
          <p:nvSpPr>
            <p:cNvPr id="36" name="矩形 35"/>
            <p:cNvSpPr/>
            <p:nvPr/>
          </p:nvSpPr>
          <p:spPr>
            <a:xfrm>
              <a:off x="2339752" y="362248"/>
              <a:ext cx="216024" cy="6400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627784" y="434256"/>
              <a:ext cx="2952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latin typeface="微软雅黑" pitchFamily="34" charset="-122"/>
                  <a:ea typeface="微软雅黑" pitchFamily="34" charset="-122"/>
                </a:rPr>
                <a:t>管理要点</a:t>
              </a:r>
              <a:endParaRPr lang="en-US" altLang="zh-CN" sz="2800" b="1" dirty="0" smtClean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2712806" y="1538154"/>
            <a:ext cx="6053538" cy="39703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记录</a:t>
            </a:r>
            <a:r>
              <a:rPr lang="zh-CN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时间支出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，掌握</a:t>
            </a:r>
            <a:r>
              <a:rPr lang="zh-CN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时间动向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 marL="285750" lvl="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砍掉</a:t>
            </a:r>
            <a:r>
              <a:rPr lang="zh-CN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低效率</a:t>
            </a:r>
            <a:r>
              <a:rPr lang="zh-CN" altLang="zh-CN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时间</a:t>
            </a:r>
            <a:r>
              <a:rPr lang="zh-CN" altLang="zh-CN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对浪费时间说</a:t>
            </a:r>
            <a:r>
              <a:rPr lang="zh-CN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不</a:t>
            </a:r>
            <a:r>
              <a:rPr lang="zh-CN" altLang="zh-CN" dirty="0" smtClean="0"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285750" lvl="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285750" lvl="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lvl="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285750" lvl="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lvl="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285750" lvl="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285750" lvl="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r>
              <a:rPr lang="zh-CN" altLang="zh-CN" dirty="0" smtClean="0">
                <a:latin typeface="微软雅黑" pitchFamily="34" charset="-122"/>
                <a:ea typeface="微软雅黑" pitchFamily="34" charset="-122"/>
              </a:rPr>
              <a:t>统一</a:t>
            </a:r>
            <a:r>
              <a:rPr lang="zh-CN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安排时间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，碎片时间处理碎片信息，</a:t>
            </a:r>
            <a:r>
              <a:rPr lang="zh-CN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整块时间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用于</a:t>
            </a:r>
            <a:r>
              <a:rPr lang="zh-CN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重要</a:t>
            </a:r>
            <a:r>
              <a:rPr lang="zh-CN" altLang="zh-CN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工作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！</a:t>
            </a:r>
            <a:endParaRPr lang="zh-CN" altLang="zh-CN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712806" y="2706554"/>
            <a:ext cx="1404156" cy="1586542"/>
            <a:chOff x="1878958" y="3437648"/>
            <a:chExt cx="1404156" cy="1586542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58978" y="3437648"/>
              <a:ext cx="914400" cy="914400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1878958" y="4654858"/>
              <a:ext cx="14041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无</a:t>
              </a:r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意义的事</a:t>
              </a:r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650515" y="2706554"/>
            <a:ext cx="1404156" cy="1586542"/>
            <a:chOff x="3859178" y="3437648"/>
            <a:chExt cx="1404156" cy="1586542"/>
          </a:xfrm>
        </p:grpSpPr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87793" y="3437648"/>
              <a:ext cx="1217210" cy="1217210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3859178" y="4654858"/>
              <a:ext cx="14041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可委托</a:t>
              </a:r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的事</a:t>
              </a:r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588224" y="2887314"/>
            <a:ext cx="2160240" cy="1405782"/>
            <a:chOff x="5731386" y="3618408"/>
            <a:chExt cx="2160240" cy="1405782"/>
          </a:xfrm>
        </p:grpSpPr>
        <p:sp>
          <p:nvSpPr>
            <p:cNvPr id="48" name="TextBox 47"/>
            <p:cNvSpPr txBox="1"/>
            <p:nvPr/>
          </p:nvSpPr>
          <p:spPr>
            <a:xfrm>
              <a:off x="5731386" y="4654858"/>
              <a:ext cx="2160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浪费他人时间的事</a:t>
              </a:r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6019418" y="3618408"/>
              <a:ext cx="1224136" cy="648072"/>
              <a:chOff x="6444208" y="2132856"/>
              <a:chExt cx="1224136" cy="648072"/>
            </a:xfrm>
          </p:grpSpPr>
          <p:sp>
            <p:nvSpPr>
              <p:cNvPr id="50" name="矩形标注 49"/>
              <p:cNvSpPr/>
              <p:nvPr/>
            </p:nvSpPr>
            <p:spPr>
              <a:xfrm flipH="1">
                <a:off x="6948264" y="2272258"/>
                <a:ext cx="720080" cy="508670"/>
              </a:xfrm>
              <a:prstGeom prst="wedgeRectCallout">
                <a:avLst>
                  <a:gd name="adj1" fmla="val -42659"/>
                  <a:gd name="adj2" fmla="val 107441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矩形标注 45"/>
              <p:cNvSpPr/>
              <p:nvPr/>
            </p:nvSpPr>
            <p:spPr>
              <a:xfrm>
                <a:off x="6444208" y="2132856"/>
                <a:ext cx="720080" cy="508670"/>
              </a:xfrm>
              <a:prstGeom prst="wedgeRectCallout">
                <a:avLst>
                  <a:gd name="adj1" fmla="val -42659"/>
                  <a:gd name="adj2" fmla="val 107441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 smtClean="0"/>
                  <a:t>@$%#^&amp;*!~</a:t>
                </a:r>
                <a:endParaRPr lang="zh-CN" altLang="en-US" sz="1200" dirty="0"/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7092280" y="2348880"/>
                <a:ext cx="5020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</a:rPr>
                  <a:t>……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3" name="矩形 12"/>
          <p:cNvSpPr/>
          <p:nvPr/>
        </p:nvSpPr>
        <p:spPr>
          <a:xfrm>
            <a:off x="8244408" y="2420888"/>
            <a:ext cx="504056" cy="285666"/>
          </a:xfrm>
          <a:prstGeom prst="rect">
            <a:avLst/>
          </a:pr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7365456" y="2554653"/>
            <a:ext cx="182880" cy="5721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7843232" y="2494061"/>
            <a:ext cx="282222" cy="139320"/>
            <a:chOff x="6915165" y="1755626"/>
            <a:chExt cx="282222" cy="139320"/>
          </a:xfrm>
        </p:grpSpPr>
        <p:sp>
          <p:nvSpPr>
            <p:cNvPr id="35" name="矩形 19"/>
            <p:cNvSpPr/>
            <p:nvPr/>
          </p:nvSpPr>
          <p:spPr>
            <a:xfrm>
              <a:off x="7020272" y="1755626"/>
              <a:ext cx="177115" cy="89198"/>
            </a:xfrm>
            <a:custGeom>
              <a:avLst/>
              <a:gdLst/>
              <a:ahLst/>
              <a:cxnLst/>
              <a:rect l="l" t="t" r="r" b="b"/>
              <a:pathLst>
                <a:path w="3442888" h="1562290">
                  <a:moveTo>
                    <a:pt x="399438" y="533648"/>
                  </a:moveTo>
                  <a:lnTo>
                    <a:pt x="399438" y="1205498"/>
                  </a:lnTo>
                  <a:lnTo>
                    <a:pt x="3043450" y="1205498"/>
                  </a:lnTo>
                  <a:lnTo>
                    <a:pt x="3043450" y="533648"/>
                  </a:lnTo>
                  <a:close/>
                  <a:moveTo>
                    <a:pt x="0" y="0"/>
                  </a:moveTo>
                  <a:lnTo>
                    <a:pt x="3442888" y="0"/>
                  </a:lnTo>
                  <a:lnTo>
                    <a:pt x="3442888" y="1562290"/>
                  </a:lnTo>
                  <a:lnTo>
                    <a:pt x="0" y="156229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6915165" y="1805748"/>
              <a:ext cx="177115" cy="89198"/>
            </a:xfrm>
            <a:custGeom>
              <a:avLst/>
              <a:gdLst/>
              <a:ahLst/>
              <a:cxnLst/>
              <a:rect l="l" t="t" r="r" b="b"/>
              <a:pathLst>
                <a:path w="3442888" h="1562290">
                  <a:moveTo>
                    <a:pt x="399438" y="533648"/>
                  </a:moveTo>
                  <a:lnTo>
                    <a:pt x="399438" y="1205498"/>
                  </a:lnTo>
                  <a:lnTo>
                    <a:pt x="3043450" y="1205498"/>
                  </a:lnTo>
                  <a:lnTo>
                    <a:pt x="3043450" y="533648"/>
                  </a:lnTo>
                  <a:close/>
                  <a:moveTo>
                    <a:pt x="0" y="0"/>
                  </a:moveTo>
                  <a:lnTo>
                    <a:pt x="3442888" y="0"/>
                  </a:lnTo>
                  <a:lnTo>
                    <a:pt x="3442888" y="1562290"/>
                  </a:lnTo>
                  <a:lnTo>
                    <a:pt x="0" y="156229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>
            <a:grpSpLocks noChangeAspect="1"/>
          </p:cNvGrpSpPr>
          <p:nvPr/>
        </p:nvGrpSpPr>
        <p:grpSpPr>
          <a:xfrm>
            <a:off x="8455962" y="2478040"/>
            <a:ext cx="28258" cy="182880"/>
            <a:chOff x="6548711" y="92579"/>
            <a:chExt cx="354972" cy="2297321"/>
          </a:xfrm>
        </p:grpSpPr>
        <p:sp>
          <p:nvSpPr>
            <p:cNvPr id="42" name="平行四边形 41"/>
            <p:cNvSpPr/>
            <p:nvPr/>
          </p:nvSpPr>
          <p:spPr>
            <a:xfrm rot="18000000" flipV="1">
              <a:off x="5577536" y="1063754"/>
              <a:ext cx="2297321" cy="354972"/>
            </a:xfrm>
            <a:prstGeom prst="parallelogram">
              <a:avLst>
                <a:gd name="adj" fmla="val 59013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平行四边形 22"/>
            <p:cNvSpPr/>
            <p:nvPr/>
          </p:nvSpPr>
          <p:spPr>
            <a:xfrm rot="3600000">
              <a:off x="5577536" y="1063754"/>
              <a:ext cx="2297321" cy="354972"/>
            </a:xfrm>
            <a:prstGeom prst="parallelogram">
              <a:avLst>
                <a:gd name="adj" fmla="val 59013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右箭头 28"/>
          <p:cNvSpPr/>
          <p:nvPr/>
        </p:nvSpPr>
        <p:spPr>
          <a:xfrm rot="14400000">
            <a:off x="8461827" y="2642278"/>
            <a:ext cx="287013" cy="146622"/>
          </a:xfrm>
          <a:prstGeom prst="rightArrow">
            <a:avLst>
              <a:gd name="adj1" fmla="val 23304"/>
              <a:gd name="adj2" fmla="val 87869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 descr="http://tp3.sinaimg.cn/3965020470/180/40046187586/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5496" y="5369348"/>
            <a:ext cx="1097378" cy="1097280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椭圆 31"/>
          <p:cNvSpPr/>
          <p:nvPr/>
        </p:nvSpPr>
        <p:spPr>
          <a:xfrm>
            <a:off x="8534465" y="5109391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8</a:t>
            </a:r>
            <a:endParaRPr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83568" y="2641526"/>
            <a:ext cx="932366" cy="19396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b="1" dirty="0">
                <a:solidFill>
                  <a:srgbClr val="C00000"/>
                </a:solidFill>
                <a:latin typeface="+mn-ea"/>
              </a:rPr>
              <a:t>1</a:t>
            </a:r>
            <a:endParaRPr lang="zh-CN" altLang="en-US" sz="13800" b="1" dirty="0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254757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9" grpId="0" animBg="1"/>
      <p:bldP spid="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699284" y="1700808"/>
            <a:ext cx="6121188" cy="513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形成</a:t>
            </a:r>
            <a:r>
              <a:rPr lang="zh-CN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时间观念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时间感觉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 marL="28575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r>
              <a:rPr lang="zh-CN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时间利用率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有效</a:t>
            </a:r>
            <a:r>
              <a:rPr lang="zh-CN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提高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，以前完成一件工作的时间现在能够完成数件工作</a:t>
            </a:r>
            <a:r>
              <a:rPr lang="zh-CN" altLang="zh-CN" dirty="0" smtClean="0"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endParaRPr lang="zh-CN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时间的浪费感产生或更加强烈但真正浪费的时间却大幅减少。</a:t>
            </a:r>
          </a:p>
          <a:p>
            <a:pPr marL="28575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23528" y="0"/>
            <a:ext cx="1695756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1" name="组合 10"/>
          <p:cNvGrpSpPr/>
          <p:nvPr/>
        </p:nvGrpSpPr>
        <p:grpSpPr>
          <a:xfrm>
            <a:off x="2339630" y="866304"/>
            <a:ext cx="3240360" cy="640080"/>
            <a:chOff x="2339752" y="362248"/>
            <a:chExt cx="3240360" cy="640080"/>
          </a:xfrm>
        </p:grpSpPr>
        <p:sp>
          <p:nvSpPr>
            <p:cNvPr id="13" name="矩形 12"/>
            <p:cNvSpPr/>
            <p:nvPr/>
          </p:nvSpPr>
          <p:spPr>
            <a:xfrm>
              <a:off x="2339752" y="362248"/>
              <a:ext cx="216024" cy="64008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627784" y="434256"/>
              <a:ext cx="2952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成效标志</a:t>
              </a:r>
              <a:endParaRPr lang="en-US" altLang="zh-CN" sz="28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1" name="文本框 36"/>
          <p:cNvSpPr txBox="1"/>
          <p:nvPr/>
        </p:nvSpPr>
        <p:spPr>
          <a:xfrm>
            <a:off x="3818549" y="4293096"/>
            <a:ext cx="681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15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071" algn="l" defTabSz="91415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50" algn="l" defTabSz="91415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226" algn="l" defTabSz="91415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301" algn="l" defTabSz="91415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82" algn="l" defTabSz="91415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450" algn="l" defTabSz="91415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520" algn="l" defTabSz="91415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91" algn="l" defTabSz="91415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 smtClean="0">
                <a:latin typeface="Myriad Pro Cond" panose="020B0506030403020204" pitchFamily="34" charset="0"/>
              </a:rPr>
              <a:t>现在</a:t>
            </a:r>
            <a:endParaRPr lang="zh-CN" altLang="en-US" sz="1800" dirty="0">
              <a:latin typeface="Myriad Pro Cond" panose="020B0506030403020204" pitchFamily="34" charset="0"/>
            </a:endParaRPr>
          </a:p>
        </p:txBody>
      </p:sp>
      <p:sp>
        <p:nvSpPr>
          <p:cNvPr id="44" name="文本框 36"/>
          <p:cNvSpPr txBox="1"/>
          <p:nvPr/>
        </p:nvSpPr>
        <p:spPr>
          <a:xfrm>
            <a:off x="3827638" y="3779748"/>
            <a:ext cx="663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15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071" algn="l" defTabSz="91415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50" algn="l" defTabSz="91415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226" algn="l" defTabSz="91415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301" algn="l" defTabSz="91415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82" algn="l" defTabSz="91415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450" algn="l" defTabSz="91415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520" algn="l" defTabSz="91415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91" algn="l" defTabSz="914150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Myriad Pro Cond" panose="020B0506030403020204" pitchFamily="34" charset="0"/>
              </a:rPr>
              <a:t>以前</a:t>
            </a:r>
          </a:p>
        </p:txBody>
      </p:sp>
      <p:graphicFrame>
        <p:nvGraphicFramePr>
          <p:cNvPr id="26" name="图表 25"/>
          <p:cNvGraphicFramePr/>
          <p:nvPr>
            <p:extLst>
              <p:ext uri="{D42A27DB-BD31-4B8C-83A1-F6EECF244321}">
                <p14:modId xmlns:p14="http://schemas.microsoft.com/office/powerpoint/2010/main" val="3821908205"/>
              </p:ext>
            </p:extLst>
          </p:nvPr>
        </p:nvGraphicFramePr>
        <p:xfrm>
          <a:off x="2633326" y="2789241"/>
          <a:ext cx="3051887" cy="29568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49" name="直接连接符 48"/>
          <p:cNvCxnSpPr/>
          <p:nvPr/>
        </p:nvCxnSpPr>
        <p:spPr>
          <a:xfrm>
            <a:off x="2735674" y="4206800"/>
            <a:ext cx="58687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空心弧 50"/>
          <p:cNvSpPr/>
          <p:nvPr/>
        </p:nvSpPr>
        <p:spPr>
          <a:xfrm>
            <a:off x="3063718" y="2957974"/>
            <a:ext cx="2199218" cy="2199218"/>
          </a:xfrm>
          <a:prstGeom prst="blockArc">
            <a:avLst>
              <a:gd name="adj1" fmla="val 10800000"/>
              <a:gd name="adj2" fmla="val 21523990"/>
              <a:gd name="adj3" fmla="val 1830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5652120" y="3436992"/>
            <a:ext cx="216024" cy="640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5652120" y="4240743"/>
            <a:ext cx="998730" cy="640080"/>
            <a:chOff x="5652120" y="4240743"/>
            <a:chExt cx="998730" cy="640080"/>
          </a:xfrm>
        </p:grpSpPr>
        <p:sp>
          <p:nvSpPr>
            <p:cNvPr id="56" name="矩形 55"/>
            <p:cNvSpPr/>
            <p:nvPr/>
          </p:nvSpPr>
          <p:spPr>
            <a:xfrm>
              <a:off x="5652120" y="4240743"/>
              <a:ext cx="216024" cy="64008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5913022" y="4240743"/>
              <a:ext cx="216024" cy="64008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6173924" y="4240743"/>
              <a:ext cx="216024" cy="64008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65" name="矩形 64"/>
            <p:cNvSpPr/>
            <p:nvPr/>
          </p:nvSpPr>
          <p:spPr>
            <a:xfrm>
              <a:off x="6434826" y="4240743"/>
              <a:ext cx="216024" cy="64008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5608688" y="358864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>
                    <a:lumMod val="95000"/>
                  </a:schemeClr>
                </a:solidFill>
              </a:rPr>
              <a:t>1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86488" y="436510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>
                    <a:lumMod val="95000"/>
                  </a:schemeClr>
                </a:solidFill>
              </a:rPr>
              <a:t>4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29046" y="436510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>
                    <a:lumMod val="95000"/>
                  </a:schemeClr>
                </a:solidFill>
              </a:rPr>
              <a:t>3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871604" y="436510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>
                    <a:lumMod val="95000"/>
                  </a:schemeClr>
                </a:solidFill>
              </a:rPr>
              <a:t>2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14162" y="436510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>
                    <a:lumMod val="95000"/>
                  </a:schemeClr>
                </a:solidFill>
              </a:rPr>
              <a:t>1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22230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6" grpId="0">
        <p:bldAsOne/>
      </p:bldGraphic>
      <p:bldP spid="51" grpId="0" animBg="1"/>
      <p:bldP spid="5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23528" y="0"/>
            <a:ext cx="1695756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椭圆 4"/>
          <p:cNvSpPr/>
          <p:nvPr/>
        </p:nvSpPr>
        <p:spPr>
          <a:xfrm>
            <a:off x="571866" y="695866"/>
            <a:ext cx="1199080" cy="119908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6990" tIns="46990" rIns="46990" bIns="46990" numCol="1" spcCol="1270" anchor="ctr" anchorCtr="0">
            <a:noAutofit/>
          </a:bodyPr>
          <a:lstStyle/>
          <a:p>
            <a:pPr lvl="0" algn="ctr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3700" dirty="0">
                <a:latin typeface="微软雅黑" pitchFamily="34" charset="-122"/>
                <a:ea typeface="微软雅黑" pitchFamily="34" charset="-122"/>
              </a:rPr>
              <a:t>要事优先</a:t>
            </a:r>
            <a:endParaRPr lang="zh-CN" altLang="en-US" sz="3700" kern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83568" y="2641526"/>
            <a:ext cx="932366" cy="19396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b="1" dirty="0">
                <a:solidFill>
                  <a:srgbClr val="C00000"/>
                </a:solidFill>
                <a:latin typeface="+mn-ea"/>
              </a:rPr>
              <a:t>2</a:t>
            </a:r>
            <a:endParaRPr lang="zh-CN" altLang="en-US" sz="13800" b="1" dirty="0">
              <a:solidFill>
                <a:srgbClr val="C00000"/>
              </a:solidFill>
              <a:latin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39752" y="856426"/>
            <a:ext cx="3240360" cy="640080"/>
            <a:chOff x="2339752" y="362248"/>
            <a:chExt cx="3240360" cy="640080"/>
          </a:xfrm>
        </p:grpSpPr>
        <p:sp>
          <p:nvSpPr>
            <p:cNvPr id="6" name="矩形 5"/>
            <p:cNvSpPr/>
            <p:nvPr/>
          </p:nvSpPr>
          <p:spPr>
            <a:xfrm>
              <a:off x="2339752" y="362248"/>
              <a:ext cx="216024" cy="6400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627784" y="434256"/>
              <a:ext cx="2952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latin typeface="微软雅黑" pitchFamily="34" charset="-122"/>
                  <a:ea typeface="微软雅黑" pitchFamily="34" charset="-122"/>
                </a:rPr>
                <a:t>管理要点</a:t>
              </a:r>
              <a:endParaRPr lang="en-US" altLang="zh-CN" sz="2800" b="1" dirty="0" smtClean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2267744" y="1618922"/>
            <a:ext cx="64447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itchFamily="2" charset="2"/>
              <a:buChar char="u"/>
            </a:pPr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为什么要要事优先</a:t>
            </a:r>
            <a:r>
              <a:rPr lang="zh-CN" altLang="zh-CN" b="1" dirty="0" smtClean="0">
                <a:latin typeface="微软雅黑" pitchFamily="34" charset="-122"/>
                <a:ea typeface="微软雅黑" pitchFamily="34" charset="-122"/>
              </a:rPr>
              <a:t>？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 marL="648000" lvl="1" indent="-285750">
              <a:buFont typeface="Calibri Light" panose="020F0302020204030204" pitchFamily="34" charset="0"/>
              <a:buChar char="‒"/>
            </a:pPr>
            <a:r>
              <a:rPr lang="zh-CN" altLang="zh-CN" dirty="0" smtClean="0">
                <a:latin typeface="微软雅黑" pitchFamily="34" charset="-122"/>
                <a:ea typeface="微软雅黑" pitchFamily="34" charset="-122"/>
              </a:rPr>
              <a:t>精力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时间</a:t>
            </a:r>
            <a:r>
              <a:rPr lang="zh-CN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有限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，工作琐事</a:t>
            </a:r>
            <a:r>
              <a:rPr lang="zh-CN" altLang="zh-CN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无限</a:t>
            </a:r>
            <a:endParaRPr lang="en-US" altLang="zh-CN" dirty="0" smtClean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648000" lvl="1" indent="-285750">
              <a:buFont typeface="Calibri Light" panose="020F0302020204030204" pitchFamily="34" charset="0"/>
              <a:buChar char="‒"/>
            </a:pPr>
            <a:endParaRPr lang="zh-CN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lvl="0" indent="-285750">
              <a:buFont typeface="Wingdings" pitchFamily="2" charset="2"/>
              <a:buChar char="u"/>
            </a:pPr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要事优先的原则是什么</a:t>
            </a:r>
            <a:r>
              <a:rPr lang="zh-CN" altLang="zh-CN" b="1" dirty="0" smtClean="0">
                <a:latin typeface="微软雅黑" pitchFamily="34" charset="-122"/>
                <a:ea typeface="微软雅黑" pitchFamily="34" charset="-122"/>
              </a:rPr>
              <a:t>？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 marL="648000" lvl="1" indent="-285750">
              <a:buFont typeface="Calibri Light" panose="020F0302020204030204" pitchFamily="34" charset="0"/>
              <a:buChar char="‒"/>
            </a:pPr>
            <a:r>
              <a:rPr lang="zh-CN" altLang="zh-CN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将来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zh-CN" altLang="zh-CN" dirty="0" smtClean="0">
                <a:latin typeface="微软雅黑" pitchFamily="34" charset="-122"/>
                <a:ea typeface="微软雅黑" pitchFamily="34" charset="-122"/>
              </a:rPr>
              <a:t>过去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648000" lvl="1" indent="-285750">
              <a:buFont typeface="Calibri Light" panose="020F0302020204030204" pitchFamily="34" charset="0"/>
              <a:buChar char="‒"/>
            </a:pPr>
            <a:r>
              <a:rPr lang="zh-CN" altLang="zh-CN" dirty="0" smtClean="0">
                <a:latin typeface="微软雅黑" pitchFamily="34" charset="-122"/>
                <a:ea typeface="微软雅黑" pitchFamily="34" charset="-122"/>
              </a:rPr>
              <a:t>重视</a:t>
            </a:r>
            <a:r>
              <a:rPr lang="zh-CN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机会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重视</a:t>
            </a:r>
            <a:r>
              <a:rPr lang="zh-CN" altLang="zh-CN" dirty="0" smtClean="0">
                <a:latin typeface="微软雅黑" pitchFamily="34" charset="-122"/>
                <a:ea typeface="微软雅黑" pitchFamily="34" charset="-122"/>
              </a:rPr>
              <a:t>问题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648000" lvl="1" indent="-285750">
              <a:buFont typeface="Calibri Light" panose="020F0302020204030204" pitchFamily="34" charset="0"/>
              <a:buChar char="‒"/>
            </a:pPr>
            <a:r>
              <a:rPr lang="zh-CN" altLang="zh-CN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自主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选择方向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zh-CN" altLang="zh-CN" dirty="0" smtClean="0">
                <a:latin typeface="微软雅黑" pitchFamily="34" charset="-122"/>
                <a:ea typeface="微软雅黑" pitchFamily="34" charset="-122"/>
              </a:rPr>
              <a:t>随波逐流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648000" lvl="1" indent="-285750">
              <a:buFont typeface="Calibri Light" panose="020F0302020204030204" pitchFamily="34" charset="0"/>
              <a:buChar char="‒"/>
            </a:pPr>
            <a:r>
              <a:rPr lang="zh-CN" altLang="zh-CN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挑战</a:t>
            </a:r>
            <a:r>
              <a:rPr lang="zh-CN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、创意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安全、</a:t>
            </a:r>
            <a:r>
              <a:rPr lang="zh-CN" altLang="zh-CN" dirty="0" smtClean="0">
                <a:latin typeface="微软雅黑" pitchFamily="34" charset="-122"/>
                <a:ea typeface="微软雅黑" pitchFamily="34" charset="-122"/>
              </a:rPr>
              <a:t>方便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648000" lvl="1" indent="-285750">
              <a:buFont typeface="Calibri Light" panose="020F0302020204030204" pitchFamily="34" charset="0"/>
              <a:buChar char="‒"/>
            </a:pPr>
            <a:endParaRPr lang="zh-CN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lvl="0" indent="-285750">
              <a:buFont typeface="Wingdings" pitchFamily="2" charset="2"/>
              <a:buChar char="u"/>
            </a:pPr>
            <a:r>
              <a:rPr lang="zh-CN" altLang="zh-CN" b="1" dirty="0" smtClean="0">
                <a:latin typeface="微软雅黑" pitchFamily="34" charset="-122"/>
                <a:ea typeface="微软雅黑" pitchFamily="34" charset="-122"/>
              </a:rPr>
              <a:t>怎样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确保</a:t>
            </a:r>
            <a:r>
              <a:rPr lang="zh-CN" altLang="zh-CN" b="1" dirty="0" smtClean="0">
                <a:latin typeface="微软雅黑" pitchFamily="34" charset="-122"/>
                <a:ea typeface="微软雅黑" pitchFamily="34" charset="-122"/>
              </a:rPr>
              <a:t>要事</a:t>
            </a:r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优先</a:t>
            </a:r>
            <a:r>
              <a:rPr lang="zh-CN" altLang="zh-CN" b="1" dirty="0" smtClean="0">
                <a:latin typeface="微软雅黑" pitchFamily="34" charset="-122"/>
                <a:ea typeface="微软雅黑" pitchFamily="34" charset="-122"/>
              </a:rPr>
              <a:t>？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 marL="648000" lvl="1" indent="-285750">
              <a:buFont typeface="Calibri Light" panose="020F0302020204030204" pitchFamily="34" charset="0"/>
              <a:buChar char="‒"/>
            </a:pPr>
            <a:r>
              <a:rPr lang="zh-CN" altLang="zh-CN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一</a:t>
            </a:r>
            <a:r>
              <a:rPr lang="zh-CN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次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只做</a:t>
            </a:r>
            <a:r>
              <a:rPr lang="zh-CN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一件事</a:t>
            </a:r>
            <a:r>
              <a:rPr lang="zh-CN" altLang="zh-CN" dirty="0" smtClean="0"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648000" lvl="1" indent="-285750">
              <a:buFont typeface="Calibri Light" panose="020F0302020204030204" pitchFamily="34" charset="0"/>
              <a:buChar char="‒"/>
            </a:pPr>
            <a:r>
              <a:rPr lang="zh-CN" altLang="zh-CN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砍</a:t>
            </a:r>
            <a:r>
              <a:rPr lang="zh-CN" altLang="zh-CN" dirty="0" smtClean="0">
                <a:latin typeface="微软雅黑" pitchFamily="34" charset="-122"/>
                <a:ea typeface="微软雅黑" pitchFamily="34" charset="-122"/>
              </a:rPr>
              <a:t>掉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旧的任务，为新的任务腾时间</a:t>
            </a:r>
            <a:r>
              <a:rPr lang="zh-CN" altLang="zh-CN" dirty="0" smtClean="0"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648000" lvl="1" indent="-285750">
              <a:buFont typeface="Calibri Light" panose="020F0302020204030204" pitchFamily="34" charset="0"/>
              <a:buChar char="‒"/>
            </a:pPr>
            <a:r>
              <a:rPr lang="zh-CN" altLang="zh-CN" dirty="0" smtClean="0"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如果有一天就做”，那一天</a:t>
            </a:r>
            <a:r>
              <a:rPr lang="zh-CN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永远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不会到来</a:t>
            </a:r>
            <a:r>
              <a:rPr lang="zh-CN" altLang="zh-CN" dirty="0" smtClean="0"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648000" lvl="1" indent="-285750">
              <a:buFont typeface="Calibri Light" panose="020F0302020204030204" pitchFamily="34" charset="0"/>
              <a:buChar char="‒"/>
            </a:pPr>
            <a:r>
              <a:rPr lang="zh-CN" altLang="zh-CN" dirty="0" smtClean="0">
                <a:latin typeface="微软雅黑" pitchFamily="34" charset="-122"/>
                <a:ea typeface="微软雅黑" pitchFamily="34" charset="-122"/>
              </a:rPr>
              <a:t>随时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根据</a:t>
            </a:r>
            <a:r>
              <a:rPr lang="zh-CN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目标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改变事件</a:t>
            </a:r>
            <a:r>
              <a:rPr lang="zh-CN" altLang="zh-CN" dirty="0" smtClean="0">
                <a:latin typeface="微软雅黑" pitchFamily="34" charset="-122"/>
                <a:ea typeface="微软雅黑" pitchFamily="34" charset="-122"/>
              </a:rPr>
              <a:t>优先级</a:t>
            </a:r>
            <a:endParaRPr lang="zh-CN" altLang="zh-CN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40352" y="2465962"/>
            <a:ext cx="1152128" cy="7920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A</a:t>
            </a:r>
            <a:r>
              <a:rPr lang="zh-CN" altLang="en-US" dirty="0" smtClean="0"/>
              <a:t>级任务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7740352" y="3480270"/>
            <a:ext cx="1152128" cy="7920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r>
              <a:rPr lang="zh-CN" altLang="en-US" dirty="0" smtClean="0"/>
              <a:t>级任务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7740352" y="4494578"/>
            <a:ext cx="1152128" cy="7920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</a:t>
            </a:r>
            <a:r>
              <a:rPr lang="zh-CN" altLang="en-US" dirty="0" smtClean="0"/>
              <a:t>级任务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7740352" y="1451654"/>
            <a:ext cx="1152128" cy="7920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</a:t>
            </a:r>
            <a:r>
              <a:rPr lang="zh-CN" altLang="en-US" dirty="0" smtClean="0"/>
              <a:t>级任务</a:t>
            </a:r>
            <a:endParaRPr lang="zh-CN" altLang="en-US" dirty="0"/>
          </a:p>
        </p:txBody>
      </p:sp>
      <p:sp>
        <p:nvSpPr>
          <p:cNvPr id="4" name="下箭头 3"/>
          <p:cNvSpPr/>
          <p:nvPr/>
        </p:nvSpPr>
        <p:spPr>
          <a:xfrm>
            <a:off x="8244408" y="2265628"/>
            <a:ext cx="72008" cy="145382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8244408" y="3273740"/>
            <a:ext cx="72008" cy="145382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8244408" y="4339572"/>
            <a:ext cx="72008" cy="145382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450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 animBg="1"/>
      <p:bldP spid="16" grpId="0" animBg="1"/>
      <p:bldP spid="17" grpId="0" animBg="1"/>
      <p:bldP spid="4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23528" y="0"/>
            <a:ext cx="1695756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0" name="TextBox 19"/>
          <p:cNvSpPr txBox="1"/>
          <p:nvPr/>
        </p:nvSpPr>
        <p:spPr>
          <a:xfrm>
            <a:off x="2699284" y="1700808"/>
            <a:ext cx="61211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不再被</a:t>
            </a: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琐事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所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累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拖延症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说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再见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2339630" y="866304"/>
            <a:ext cx="3240360" cy="640080"/>
            <a:chOff x="2339752" y="362248"/>
            <a:chExt cx="3240360" cy="640080"/>
          </a:xfrm>
        </p:grpSpPr>
        <p:sp>
          <p:nvSpPr>
            <p:cNvPr id="22" name="矩形 21"/>
            <p:cNvSpPr/>
            <p:nvPr/>
          </p:nvSpPr>
          <p:spPr>
            <a:xfrm>
              <a:off x="2339752" y="362248"/>
              <a:ext cx="216024" cy="64008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627784" y="434256"/>
              <a:ext cx="2952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成效标志</a:t>
              </a:r>
              <a:endParaRPr lang="en-US" altLang="zh-CN" sz="28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 rot="60000">
            <a:off x="7241295" y="3484852"/>
            <a:ext cx="2017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聊天</a:t>
            </a:r>
            <a:endParaRPr lang="zh-CN" altLang="en-US" b="1" dirty="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 rot="60000">
            <a:off x="6221288" y="3556846"/>
            <a:ext cx="2017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打盹</a:t>
            </a:r>
            <a:endParaRPr lang="zh-CN" altLang="en-US" sz="2800" b="1" dirty="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 rot="60000">
            <a:off x="7024147" y="3662596"/>
            <a:ext cx="2017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看小说</a:t>
            </a:r>
            <a:endParaRPr lang="zh-CN" altLang="en-US" sz="1600" b="1" dirty="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圆柱形 23"/>
          <p:cNvSpPr/>
          <p:nvPr/>
        </p:nvSpPr>
        <p:spPr>
          <a:xfrm>
            <a:off x="6221288" y="3430116"/>
            <a:ext cx="1836458" cy="2664296"/>
          </a:xfrm>
          <a:custGeom>
            <a:avLst/>
            <a:gdLst/>
            <a:ahLst/>
            <a:cxnLst/>
            <a:rect l="l" t="t" r="r" b="b"/>
            <a:pathLst>
              <a:path w="1836458" h="2664296">
                <a:moveTo>
                  <a:pt x="0" y="230324"/>
                </a:moveTo>
                <a:cubicBezTo>
                  <a:pt x="0" y="356576"/>
                  <a:pt x="411105" y="458924"/>
                  <a:pt x="918229" y="458924"/>
                </a:cubicBezTo>
                <a:cubicBezTo>
                  <a:pt x="1425353" y="458924"/>
                  <a:pt x="1836458" y="356576"/>
                  <a:pt x="1836458" y="230324"/>
                </a:cubicBezTo>
                <a:lnTo>
                  <a:pt x="1836458" y="2434739"/>
                </a:lnTo>
                <a:cubicBezTo>
                  <a:pt x="1836458" y="2561520"/>
                  <a:pt x="1425353" y="2664296"/>
                  <a:pt x="918229" y="2664296"/>
                </a:cubicBezTo>
                <a:cubicBezTo>
                  <a:pt x="411105" y="2664296"/>
                  <a:pt x="0" y="2561520"/>
                  <a:pt x="0" y="2434739"/>
                </a:cubicBezTo>
                <a:close/>
                <a:moveTo>
                  <a:pt x="918229" y="0"/>
                </a:moveTo>
                <a:cubicBezTo>
                  <a:pt x="1425353" y="0"/>
                  <a:pt x="1836458" y="102776"/>
                  <a:pt x="1836458" y="229557"/>
                </a:cubicBezTo>
                <a:lnTo>
                  <a:pt x="1836458" y="230324"/>
                </a:lnTo>
                <a:cubicBezTo>
                  <a:pt x="1836458" y="104072"/>
                  <a:pt x="1425353" y="1724"/>
                  <a:pt x="918229" y="1724"/>
                </a:cubicBezTo>
                <a:cubicBezTo>
                  <a:pt x="411105" y="1724"/>
                  <a:pt x="0" y="104072"/>
                  <a:pt x="0" y="230324"/>
                </a:cubicBezTo>
                <a:lnTo>
                  <a:pt x="0" y="229557"/>
                </a:lnTo>
                <a:cubicBezTo>
                  <a:pt x="0" y="102776"/>
                  <a:pt x="411105" y="0"/>
                  <a:pt x="918229" y="0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 rot="4500000">
            <a:off x="5831715" y="2629985"/>
            <a:ext cx="1764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拖</a:t>
            </a:r>
            <a:r>
              <a:rPr lang="zh-CN" altLang="en-US" sz="3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延症</a:t>
            </a:r>
          </a:p>
        </p:txBody>
      </p:sp>
      <p:sp>
        <p:nvSpPr>
          <p:cNvPr id="25" name="TextBox 24"/>
          <p:cNvSpPr txBox="1"/>
          <p:nvPr/>
        </p:nvSpPr>
        <p:spPr>
          <a:xfrm rot="60000">
            <a:off x="6797352" y="3356992"/>
            <a:ext cx="2017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发呆</a:t>
            </a:r>
            <a:endParaRPr lang="zh-CN" altLang="en-US" b="1" dirty="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020272" y="4653136"/>
            <a:ext cx="119245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172672" y="4805536"/>
            <a:ext cx="119245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7020272" y="4941168"/>
            <a:ext cx="119245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6744828" y="4797152"/>
            <a:ext cx="779500" cy="836389"/>
            <a:chOff x="6425557" y="1700808"/>
            <a:chExt cx="3691059" cy="3960440"/>
          </a:xfrm>
          <a:solidFill>
            <a:schemeClr val="bg1">
              <a:lumMod val="95000"/>
            </a:schemeClr>
          </a:solidFill>
        </p:grpSpPr>
        <p:sp>
          <p:nvSpPr>
            <p:cNvPr id="10" name="矩形 9"/>
            <p:cNvSpPr/>
            <p:nvPr/>
          </p:nvSpPr>
          <p:spPr>
            <a:xfrm>
              <a:off x="6860932" y="5322574"/>
              <a:ext cx="2880384" cy="33867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平行四边形 26"/>
            <p:cNvSpPr/>
            <p:nvPr/>
          </p:nvSpPr>
          <p:spPr>
            <a:xfrm flipH="1">
              <a:off x="6425557" y="1700808"/>
              <a:ext cx="750604" cy="3621989"/>
            </a:xfrm>
            <a:prstGeom prst="parallelogram">
              <a:avLst>
                <a:gd name="adj" fmla="val 5038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平行四边形 30"/>
            <p:cNvSpPr/>
            <p:nvPr/>
          </p:nvSpPr>
          <p:spPr>
            <a:xfrm>
              <a:off x="9366014" y="1700808"/>
              <a:ext cx="750602" cy="3621991"/>
            </a:xfrm>
            <a:prstGeom prst="parallelogram">
              <a:avLst>
                <a:gd name="adj" fmla="val 5038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112977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23528" y="0"/>
            <a:ext cx="1695756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椭圆 4"/>
          <p:cNvSpPr/>
          <p:nvPr/>
        </p:nvSpPr>
        <p:spPr>
          <a:xfrm>
            <a:off x="571866" y="695866"/>
            <a:ext cx="1199080" cy="119908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6990" tIns="46990" rIns="46990" bIns="46990" numCol="1" spcCol="1270" anchor="ctr" anchorCtr="0">
            <a:noAutofit/>
          </a:bodyPr>
          <a:lstStyle/>
          <a:p>
            <a:pPr lvl="0" algn="ctr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3700" dirty="0">
                <a:latin typeface="微软雅黑" pitchFamily="34" charset="-122"/>
                <a:ea typeface="微软雅黑" pitchFamily="34" charset="-122"/>
              </a:rPr>
              <a:t>着眼贡献</a:t>
            </a:r>
            <a:endParaRPr lang="zh-CN" altLang="en-US" sz="3700" kern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83568" y="2641526"/>
            <a:ext cx="932366" cy="19396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b="1" dirty="0">
                <a:solidFill>
                  <a:srgbClr val="C00000"/>
                </a:solidFill>
                <a:latin typeface="+mn-ea"/>
              </a:rPr>
              <a:t>3</a:t>
            </a:r>
            <a:endParaRPr lang="zh-CN" altLang="en-US" sz="13800" b="1" dirty="0">
              <a:solidFill>
                <a:srgbClr val="C00000"/>
              </a:solidFill>
              <a:latin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39752" y="362248"/>
            <a:ext cx="3240360" cy="640080"/>
            <a:chOff x="2339752" y="362248"/>
            <a:chExt cx="3240360" cy="640080"/>
          </a:xfrm>
        </p:grpSpPr>
        <p:sp>
          <p:nvSpPr>
            <p:cNvPr id="6" name="矩形 5"/>
            <p:cNvSpPr/>
            <p:nvPr/>
          </p:nvSpPr>
          <p:spPr>
            <a:xfrm>
              <a:off x="2339752" y="362248"/>
              <a:ext cx="216024" cy="6400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627784" y="434256"/>
              <a:ext cx="2952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latin typeface="微软雅黑" pitchFamily="34" charset="-122"/>
                  <a:ea typeface="微软雅黑" pitchFamily="34" charset="-122"/>
                </a:rPr>
                <a:t>管理要点</a:t>
              </a:r>
              <a:endParaRPr lang="en-US" altLang="zh-CN" sz="2800" b="1" dirty="0" smtClean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2267744" y="1124744"/>
            <a:ext cx="64447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微软雅黑" pitchFamily="34" charset="-122"/>
              <a:buChar char="−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重视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目标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绩效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，才能做出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正确</a:t>
            </a:r>
            <a:r>
              <a:rPr lang="zh-CN" altLang="en-US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的事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 marL="285750" lvl="0" indent="-285750">
              <a:buFont typeface="微软雅黑" pitchFamily="34" charset="-122"/>
              <a:buChar char="−"/>
            </a:pPr>
            <a:r>
              <a:rPr lang="zh-CN" altLang="en-US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适应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与自己所处的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环境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才能让自己的知识发挥效果；</a:t>
            </a:r>
          </a:p>
          <a:p>
            <a:pPr marL="285750" lvl="0" indent="-285750">
              <a:buFont typeface="微软雅黑" pitchFamily="34" charset="-122"/>
              <a:buChar char="−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他人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可用的贡献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才有意义；</a:t>
            </a:r>
          </a:p>
          <a:p>
            <a:pPr marL="285750" lvl="0" indent="-285750">
              <a:buFont typeface="微软雅黑" pitchFamily="34" charset="-122"/>
              <a:buChar char="−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多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沟通、多协作、多自我提高、多培养他人（助手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;</a:t>
            </a:r>
          </a:p>
          <a:p>
            <a:pPr marL="285750" lvl="0" indent="-285750">
              <a:buFont typeface="微软雅黑" pitchFamily="34" charset="-122"/>
              <a:buChar char="−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多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问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自己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131840" y="2924944"/>
            <a:ext cx="4608512" cy="2160240"/>
            <a:chOff x="3131840" y="2924944"/>
            <a:chExt cx="4608512" cy="2160240"/>
          </a:xfrm>
        </p:grpSpPr>
        <p:sp>
          <p:nvSpPr>
            <p:cNvPr id="10" name="矩形标注 9"/>
            <p:cNvSpPr/>
            <p:nvPr/>
          </p:nvSpPr>
          <p:spPr>
            <a:xfrm flipV="1">
              <a:off x="3131840" y="2924944"/>
              <a:ext cx="4608512" cy="2077076"/>
            </a:xfrm>
            <a:prstGeom prst="wedgeRectCallout">
              <a:avLst>
                <a:gd name="adj1" fmla="val -39557"/>
                <a:gd name="adj2" fmla="val 68081"/>
              </a:avLst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203848" y="3269302"/>
              <a:ext cx="4338427" cy="181588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lvl="0" algn="ctr"/>
              <a:r>
                <a:rPr lang="zh-CN" altLang="en-US" sz="40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我能为我的</a:t>
              </a:r>
              <a:r>
                <a:rPr lang="zh-CN" altLang="en-US" sz="4000" b="1" dirty="0" smtClean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目标</a:t>
              </a:r>
              <a:endParaRPr lang="en-US" altLang="zh-CN" sz="4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lvl="0" algn="ctr"/>
              <a:r>
                <a:rPr lang="zh-CN" altLang="en-US" sz="4000" b="1" dirty="0" smtClean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做</a:t>
              </a:r>
              <a:r>
                <a:rPr lang="zh-CN" altLang="en-US" sz="40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些什么？</a:t>
              </a:r>
              <a:endParaRPr lang="zh-CN" altLang="en-US" sz="4000" b="1" dirty="0">
                <a:solidFill>
                  <a:srgbClr val="C00000"/>
                </a:solidFill>
              </a:endParaRPr>
            </a:p>
            <a:p>
              <a:endParaRPr lang="zh-CN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398078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23528" y="0"/>
            <a:ext cx="1695756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6" name="组合 15"/>
          <p:cNvGrpSpPr/>
          <p:nvPr/>
        </p:nvGrpSpPr>
        <p:grpSpPr>
          <a:xfrm>
            <a:off x="2339630" y="866304"/>
            <a:ext cx="3240360" cy="640080"/>
            <a:chOff x="2339752" y="362248"/>
            <a:chExt cx="3240360" cy="640080"/>
          </a:xfrm>
        </p:grpSpPr>
        <p:sp>
          <p:nvSpPr>
            <p:cNvPr id="17" name="矩形 16"/>
            <p:cNvSpPr/>
            <p:nvPr/>
          </p:nvSpPr>
          <p:spPr>
            <a:xfrm>
              <a:off x="2339752" y="362248"/>
              <a:ext cx="216024" cy="64008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627784" y="434256"/>
              <a:ext cx="2952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成效标志</a:t>
              </a:r>
              <a:endParaRPr lang="en-US" altLang="zh-CN" sz="28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2699284" y="1700808"/>
            <a:ext cx="6121188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收获</a:t>
            </a:r>
            <a:r>
              <a:rPr lang="zh-CN" altLang="en-US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良师益友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作出切实的</a:t>
            </a:r>
            <a:r>
              <a:rPr lang="zh-CN" altLang="en-US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成果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比如这张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PPT</a:t>
            </a:r>
            <a:endParaRPr lang="en-US" altLang="zh-CN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r>
              <a:rPr lang="zh-CN" altLang="en-US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完成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一个个以前只能说说的</a:t>
            </a:r>
            <a:r>
              <a:rPr lang="zh-CN" altLang="en-US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目标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从遇事抱怨变成遇事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思考解决</a:t>
            </a:r>
            <a:r>
              <a:rPr lang="zh-CN" altLang="en-US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办法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1" name="肘形连接符 20"/>
          <p:cNvCxnSpPr/>
          <p:nvPr/>
        </p:nvCxnSpPr>
        <p:spPr>
          <a:xfrm>
            <a:off x="2843808" y="4941168"/>
            <a:ext cx="1584176" cy="936104"/>
          </a:xfrm>
          <a:prstGeom prst="bentConnector3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肘形连接符 34"/>
          <p:cNvCxnSpPr/>
          <p:nvPr/>
        </p:nvCxnSpPr>
        <p:spPr>
          <a:xfrm flipV="1">
            <a:off x="2843808" y="4005064"/>
            <a:ext cx="1584176" cy="936104"/>
          </a:xfrm>
          <a:prstGeom prst="bentConnector3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4427984" y="5409220"/>
            <a:ext cx="864096" cy="8640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抱怨</a:t>
            </a:r>
          </a:p>
        </p:txBody>
      </p:sp>
      <p:sp>
        <p:nvSpPr>
          <p:cNvPr id="39" name="矩形 38"/>
          <p:cNvSpPr/>
          <p:nvPr/>
        </p:nvSpPr>
        <p:spPr>
          <a:xfrm>
            <a:off x="4427984" y="3611327"/>
            <a:ext cx="864096" cy="86409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思考</a:t>
            </a:r>
          </a:p>
        </p:txBody>
      </p:sp>
      <p:cxnSp>
        <p:nvCxnSpPr>
          <p:cNvPr id="36" name="直接箭头连接符 35"/>
          <p:cNvCxnSpPr>
            <a:stCxn id="39" idx="3"/>
          </p:cNvCxnSpPr>
          <p:nvPr/>
        </p:nvCxnSpPr>
        <p:spPr>
          <a:xfrm>
            <a:off x="5292080" y="4043375"/>
            <a:ext cx="648072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5940152" y="3611327"/>
            <a:ext cx="864096" cy="86409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方案一</a:t>
            </a:r>
            <a:endParaRPr lang="zh-CN" altLang="en-US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>
            <a:off x="6804248" y="4043375"/>
            <a:ext cx="648072" cy="0"/>
          </a:xfrm>
          <a:prstGeom prst="straightConnector1">
            <a:avLst/>
          </a:prstGeom>
          <a:ln w="28575">
            <a:solidFill>
              <a:srgbClr val="C0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7452320" y="3611327"/>
            <a:ext cx="864096" cy="864096"/>
          </a:xfrm>
          <a:prstGeom prst="rect">
            <a:avLst/>
          </a:prstGeom>
          <a:noFill/>
          <a:ln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方案</a:t>
            </a:r>
            <a:endParaRPr lang="en-US" altLang="zh-CN" dirty="0" smtClean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……</a:t>
            </a:r>
            <a:endParaRPr lang="zh-CN" altLang="en-US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5" name="直接箭头连接符 44"/>
          <p:cNvCxnSpPr/>
          <p:nvPr/>
        </p:nvCxnSpPr>
        <p:spPr>
          <a:xfrm>
            <a:off x="7884368" y="4509120"/>
            <a:ext cx="0" cy="936104"/>
          </a:xfrm>
          <a:prstGeom prst="straightConnector1">
            <a:avLst/>
          </a:prstGeom>
          <a:ln w="28575">
            <a:solidFill>
              <a:srgbClr val="C0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5940152" y="5445224"/>
            <a:ext cx="864096" cy="86409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目标</a:t>
            </a:r>
          </a:p>
        </p:txBody>
      </p:sp>
      <p:sp>
        <p:nvSpPr>
          <p:cNvPr id="48" name="矩形 47"/>
          <p:cNvSpPr/>
          <p:nvPr/>
        </p:nvSpPr>
        <p:spPr>
          <a:xfrm>
            <a:off x="7452320" y="5445224"/>
            <a:ext cx="864096" cy="86409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最终方案</a:t>
            </a:r>
            <a:endParaRPr lang="zh-CN" altLang="en-US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9" name="直接箭头连接符 48"/>
          <p:cNvCxnSpPr/>
          <p:nvPr/>
        </p:nvCxnSpPr>
        <p:spPr>
          <a:xfrm rot="10800000">
            <a:off x="6804248" y="5877284"/>
            <a:ext cx="648072" cy="0"/>
          </a:xfrm>
          <a:prstGeom prst="straightConnector1">
            <a:avLst/>
          </a:prstGeom>
          <a:ln w="28575">
            <a:solidFill>
              <a:srgbClr val="C0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5292080" y="5841268"/>
            <a:ext cx="648072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乘号 37"/>
          <p:cNvSpPr/>
          <p:nvPr/>
        </p:nvSpPr>
        <p:spPr>
          <a:xfrm>
            <a:off x="5364088" y="5646960"/>
            <a:ext cx="432048" cy="432048"/>
          </a:xfrm>
          <a:prstGeom prst="mathMultiply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6707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9" grpId="0" animBg="1"/>
      <p:bldP spid="42" grpId="0" animBg="1"/>
      <p:bldP spid="44" grpId="0" animBg="1"/>
      <p:bldP spid="48" grpId="0" animBg="1"/>
      <p:bldP spid="3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23528" y="0"/>
            <a:ext cx="1695756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椭圆 4"/>
          <p:cNvSpPr/>
          <p:nvPr/>
        </p:nvSpPr>
        <p:spPr>
          <a:xfrm>
            <a:off x="571866" y="695866"/>
            <a:ext cx="1199080" cy="119908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6990" tIns="46990" rIns="46990" bIns="46990" numCol="1" spcCol="1270" anchor="ctr" anchorCtr="0">
            <a:noAutofit/>
          </a:bodyPr>
          <a:lstStyle/>
          <a:p>
            <a:pPr lvl="0" algn="ctr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3700" kern="1200" dirty="0" smtClean="0">
                <a:latin typeface="微软雅黑" pitchFamily="34" charset="-122"/>
                <a:ea typeface="微软雅黑" pitchFamily="34" charset="-122"/>
              </a:rPr>
              <a:t>聚焦优势</a:t>
            </a:r>
            <a:endParaRPr lang="zh-CN" altLang="en-US" sz="3700" kern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83568" y="2641526"/>
            <a:ext cx="932366" cy="19396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b="1" dirty="0" smtClean="0">
                <a:solidFill>
                  <a:srgbClr val="C00000"/>
                </a:solidFill>
                <a:latin typeface="+mn-ea"/>
              </a:rPr>
              <a:t>4</a:t>
            </a:r>
            <a:endParaRPr lang="zh-CN" altLang="en-US" sz="13800" b="1" dirty="0">
              <a:solidFill>
                <a:srgbClr val="C00000"/>
              </a:solidFill>
              <a:latin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39752" y="362248"/>
            <a:ext cx="3240360" cy="640080"/>
            <a:chOff x="2339752" y="362248"/>
            <a:chExt cx="3240360" cy="640080"/>
          </a:xfrm>
        </p:grpSpPr>
        <p:sp>
          <p:nvSpPr>
            <p:cNvPr id="6" name="矩形 5"/>
            <p:cNvSpPr/>
            <p:nvPr/>
          </p:nvSpPr>
          <p:spPr>
            <a:xfrm>
              <a:off x="2339752" y="362248"/>
              <a:ext cx="216024" cy="6400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627784" y="434256"/>
              <a:ext cx="2952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latin typeface="微软雅黑" pitchFamily="34" charset="-122"/>
                  <a:ea typeface="微软雅黑" pitchFamily="34" charset="-122"/>
                </a:rPr>
                <a:t>管理要点</a:t>
              </a:r>
              <a:endParaRPr lang="en-US" altLang="zh-CN" sz="2800" b="1" dirty="0" smtClean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2267744" y="1124744"/>
            <a:ext cx="6444716" cy="3540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40000"/>
              </a:lnSpc>
              <a:buFont typeface="Wingdings" pitchFamily="2" charset="2"/>
              <a:buChar char="u"/>
            </a:pPr>
            <a:r>
              <a:rPr lang="zh-CN" altLang="en-US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人无完人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，金无足赤，但长袖善舞，多钱善贾，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适才适</a:t>
            </a:r>
            <a:r>
              <a:rPr lang="zh-CN" altLang="en-US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所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就能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发挥个人最大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价值；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40000"/>
              </a:lnSpc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只想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避免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短处的人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最终必然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平庸；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marL="285750" lvl="0" indent="-285750">
              <a:lnSpc>
                <a:spcPct val="140000"/>
              </a:lnSpc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怎样</a:t>
            </a:r>
            <a:r>
              <a:rPr lang="zh-CN" altLang="en-US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找到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我的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优势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？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lnSpc>
                <a:spcPct val="140000"/>
              </a:lnSpc>
              <a:buFont typeface="微软雅黑" pitchFamily="34" charset="-122"/>
              <a:buChar char="−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我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在做什么工作的时候得心应手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？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lnSpc>
                <a:spcPct val="140000"/>
              </a:lnSpc>
              <a:buFont typeface="微软雅黑" pitchFamily="34" charset="-122"/>
              <a:buChar char="−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我通过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努力能够很好的完成哪方面的工作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？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285750" lvl="0" indent="-285750">
              <a:lnSpc>
                <a:spcPct val="140000"/>
              </a:lnSpc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怎样</a:t>
            </a:r>
            <a:r>
              <a:rPr lang="zh-CN" altLang="en-US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发挥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我的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优势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？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lnSpc>
                <a:spcPct val="140000"/>
              </a:lnSpc>
              <a:buFont typeface="微软雅黑" pitchFamily="34" charset="-122"/>
              <a:buChar char="−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如果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要发挥我的优势，我需要学习哪些知识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？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lnSpc>
                <a:spcPct val="140000"/>
              </a:lnSpc>
              <a:buFont typeface="微软雅黑" pitchFamily="34" charset="-122"/>
              <a:buChar char="−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如果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要发挥我的优势，我应该与谁合作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？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76256" y="5318279"/>
            <a:ext cx="19686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短</a:t>
            </a:r>
            <a:r>
              <a:rPr lang="zh-CN" altLang="en-US" sz="2400" dirty="0" smtClean="0"/>
              <a:t>处</a:t>
            </a:r>
            <a:r>
              <a:rPr lang="zh-CN" altLang="en-US" sz="6000" dirty="0" smtClean="0"/>
              <a:t>优</a:t>
            </a:r>
            <a:r>
              <a:rPr lang="zh-CN" altLang="en-US" sz="2400" dirty="0" smtClean="0"/>
              <a:t>势</a:t>
            </a:r>
            <a:endParaRPr lang="zh-CN" altLang="en-US" sz="6600" dirty="0"/>
          </a:p>
        </p:txBody>
      </p:sp>
      <p:grpSp>
        <p:nvGrpSpPr>
          <p:cNvPr id="15" name="组合 14"/>
          <p:cNvGrpSpPr/>
          <p:nvPr/>
        </p:nvGrpSpPr>
        <p:grpSpPr>
          <a:xfrm>
            <a:off x="6876256" y="5012548"/>
            <a:ext cx="2555709" cy="1880053"/>
            <a:chOff x="5177027" y="3613414"/>
            <a:chExt cx="3346305" cy="2461638"/>
          </a:xfrm>
        </p:grpSpPr>
        <p:sp>
          <p:nvSpPr>
            <p:cNvPr id="24" name="椭圆 23"/>
            <p:cNvSpPr/>
            <p:nvPr/>
          </p:nvSpPr>
          <p:spPr>
            <a:xfrm>
              <a:off x="5346418" y="3771370"/>
              <a:ext cx="2015965" cy="2015965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  <a:alpha val="63000"/>
                  </a:schemeClr>
                </a:gs>
                <a:gs pos="64000">
                  <a:schemeClr val="bg1">
                    <a:lumMod val="95000"/>
                    <a:alpha val="7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gradFill>
                <a:gsLst>
                  <a:gs pos="0">
                    <a:schemeClr val="bg1"/>
                  </a:gs>
                  <a:gs pos="5000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177027" y="3613414"/>
              <a:ext cx="3346305" cy="2461638"/>
              <a:chOff x="5220072" y="3602238"/>
              <a:chExt cx="3346305" cy="2461638"/>
            </a:xfrm>
            <a:effectLst/>
          </p:grpSpPr>
          <p:sp>
            <p:nvSpPr>
              <p:cNvPr id="21" name="圆角矩形 20"/>
              <p:cNvSpPr/>
              <p:nvPr/>
            </p:nvSpPr>
            <p:spPr>
              <a:xfrm rot="2220000">
                <a:off x="7060312" y="5672738"/>
                <a:ext cx="1506065" cy="391138"/>
              </a:xfrm>
              <a:prstGeom prst="round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同心圆 19"/>
              <p:cNvSpPr/>
              <p:nvPr/>
            </p:nvSpPr>
            <p:spPr>
              <a:xfrm>
                <a:off x="5220072" y="3602238"/>
                <a:ext cx="2347042" cy="2347042"/>
              </a:xfrm>
              <a:prstGeom prst="donut">
                <a:avLst>
                  <a:gd name="adj" fmla="val 10011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908573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23528" y="0"/>
            <a:ext cx="1695756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9" name="组合 18"/>
          <p:cNvGrpSpPr/>
          <p:nvPr/>
        </p:nvGrpSpPr>
        <p:grpSpPr>
          <a:xfrm>
            <a:off x="2339630" y="866304"/>
            <a:ext cx="3240360" cy="640080"/>
            <a:chOff x="2339752" y="362248"/>
            <a:chExt cx="3240360" cy="640080"/>
          </a:xfrm>
        </p:grpSpPr>
        <p:sp>
          <p:nvSpPr>
            <p:cNvPr id="25" name="矩形 24"/>
            <p:cNvSpPr/>
            <p:nvPr/>
          </p:nvSpPr>
          <p:spPr>
            <a:xfrm>
              <a:off x="2339752" y="362248"/>
              <a:ext cx="216024" cy="64008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627784" y="434256"/>
              <a:ext cx="2952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成效标志</a:t>
              </a:r>
              <a:endParaRPr lang="en-US" altLang="zh-CN" sz="28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2699284" y="1700808"/>
            <a:ext cx="6121188" cy="1255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目标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变得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明确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工作有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成就感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并期待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挑战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变得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自信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651998" y="2956536"/>
            <a:ext cx="1800322" cy="3664635"/>
            <a:chOff x="5579990" y="2738671"/>
            <a:chExt cx="1800322" cy="3664635"/>
          </a:xfrm>
        </p:grpSpPr>
        <p:grpSp>
          <p:nvGrpSpPr>
            <p:cNvPr id="6" name="组合 5"/>
            <p:cNvGrpSpPr/>
            <p:nvPr/>
          </p:nvGrpSpPr>
          <p:grpSpPr>
            <a:xfrm>
              <a:off x="5579990" y="3611327"/>
              <a:ext cx="1800322" cy="2791979"/>
              <a:chOff x="5579990" y="3611327"/>
              <a:chExt cx="1800322" cy="2791979"/>
            </a:xfrm>
          </p:grpSpPr>
          <p:sp>
            <p:nvSpPr>
              <p:cNvPr id="3" name="梯形 2"/>
              <p:cNvSpPr/>
              <p:nvPr/>
            </p:nvSpPr>
            <p:spPr>
              <a:xfrm>
                <a:off x="5687870" y="4005064"/>
                <a:ext cx="1620434" cy="2398242"/>
              </a:xfrm>
              <a:prstGeom prst="trapezoid">
                <a:avLst>
                  <a:gd name="adj" fmla="val 7521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5579990" y="3611327"/>
                <a:ext cx="1800322" cy="39373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椭圆 4"/>
              <p:cNvSpPr/>
              <p:nvPr/>
            </p:nvSpPr>
            <p:spPr>
              <a:xfrm>
                <a:off x="5583609" y="3852083"/>
                <a:ext cx="374859" cy="376921"/>
              </a:xfrm>
              <a:custGeom>
                <a:avLst/>
                <a:gdLst/>
                <a:ahLst/>
                <a:cxnLst/>
                <a:rect l="l" t="t" r="r" b="b"/>
                <a:pathLst>
                  <a:path w="374859" h="376921">
                    <a:moveTo>
                      <a:pt x="185620" y="0"/>
                    </a:moveTo>
                    <a:cubicBezTo>
                      <a:pt x="290134" y="0"/>
                      <a:pt x="374859" y="84725"/>
                      <a:pt x="374859" y="189239"/>
                    </a:cubicBezTo>
                    <a:cubicBezTo>
                      <a:pt x="374859" y="288528"/>
                      <a:pt x="298395" y="369957"/>
                      <a:pt x="201065" y="376921"/>
                    </a:cubicBezTo>
                    <a:lnTo>
                      <a:pt x="202828" y="359428"/>
                    </a:lnTo>
                    <a:cubicBezTo>
                      <a:pt x="202828" y="246621"/>
                      <a:pt x="112351" y="154946"/>
                      <a:pt x="0" y="153346"/>
                    </a:cubicBezTo>
                    <a:cubicBezTo>
                      <a:pt x="16575" y="65976"/>
                      <a:pt x="93393" y="0"/>
                      <a:pt x="185620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6995494" y="3852083"/>
                <a:ext cx="367863" cy="377876"/>
              </a:xfrm>
              <a:custGeom>
                <a:avLst/>
                <a:gdLst/>
                <a:ahLst/>
                <a:cxnLst/>
                <a:rect l="l" t="t" r="r" b="b"/>
                <a:pathLst>
                  <a:path w="367863" h="377876">
                    <a:moveTo>
                      <a:pt x="189239" y="0"/>
                    </a:moveTo>
                    <a:cubicBezTo>
                      <a:pt x="272697" y="0"/>
                      <a:pt x="343537" y="54026"/>
                      <a:pt x="367863" y="129290"/>
                    </a:cubicBezTo>
                    <a:cubicBezTo>
                      <a:pt x="261733" y="136937"/>
                      <a:pt x="178371" y="225747"/>
                      <a:pt x="178371" y="334028"/>
                    </a:cubicBezTo>
                    <a:cubicBezTo>
                      <a:pt x="178371" y="349091"/>
                      <a:pt x="179984" y="363776"/>
                      <a:pt x="183261" y="377876"/>
                    </a:cubicBezTo>
                    <a:cubicBezTo>
                      <a:pt x="81505" y="375220"/>
                      <a:pt x="0" y="291748"/>
                      <a:pt x="0" y="189239"/>
                    </a:cubicBezTo>
                    <a:cubicBezTo>
                      <a:pt x="0" y="84725"/>
                      <a:pt x="84725" y="0"/>
                      <a:pt x="189239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5978441" y="2738671"/>
              <a:ext cx="1088390" cy="872656"/>
              <a:chOff x="5978441" y="2738671"/>
              <a:chExt cx="1088390" cy="872656"/>
            </a:xfrm>
            <a:solidFill>
              <a:srgbClr val="C00000"/>
            </a:solidFill>
          </p:grpSpPr>
          <p:sp>
            <p:nvSpPr>
              <p:cNvPr id="10" name="矩形 9"/>
              <p:cNvSpPr/>
              <p:nvPr/>
            </p:nvSpPr>
            <p:spPr>
              <a:xfrm>
                <a:off x="6372200" y="3140968"/>
                <a:ext cx="125887" cy="47035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4" name="组合 13"/>
              <p:cNvGrpSpPr/>
              <p:nvPr/>
            </p:nvGrpSpPr>
            <p:grpSpPr>
              <a:xfrm rot="2700000">
                <a:off x="6293813" y="2423299"/>
                <a:ext cx="457645" cy="1088390"/>
                <a:chOff x="5704153" y="1133037"/>
                <a:chExt cx="601162" cy="1429707"/>
              </a:xfrm>
              <a:grpFill/>
            </p:grpSpPr>
            <p:sp>
              <p:nvSpPr>
                <p:cNvPr id="12" name="椭圆 11"/>
                <p:cNvSpPr/>
                <p:nvPr/>
              </p:nvSpPr>
              <p:spPr>
                <a:xfrm>
                  <a:off x="5704153" y="1133037"/>
                  <a:ext cx="601162" cy="60116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5879685" y="1700808"/>
                  <a:ext cx="276492" cy="86193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15" name="组合 14"/>
          <p:cNvGrpSpPr/>
          <p:nvPr/>
        </p:nvGrpSpPr>
        <p:grpSpPr>
          <a:xfrm>
            <a:off x="7074128" y="2926785"/>
            <a:ext cx="882248" cy="369332"/>
            <a:chOff x="7002120" y="2708920"/>
            <a:chExt cx="882248" cy="369332"/>
          </a:xfrm>
        </p:grpSpPr>
        <p:sp>
          <p:nvSpPr>
            <p:cNvPr id="28" name="矩形标注 27"/>
            <p:cNvSpPr/>
            <p:nvPr/>
          </p:nvSpPr>
          <p:spPr>
            <a:xfrm>
              <a:off x="7048915" y="2743376"/>
              <a:ext cx="518777" cy="332258"/>
            </a:xfrm>
            <a:prstGeom prst="wedgeRectCallout">
              <a:avLst>
                <a:gd name="adj1" fmla="val -34400"/>
                <a:gd name="adj2" fmla="val 85801"/>
              </a:avLst>
            </a:prstGeom>
            <a:solidFill>
              <a:srgbClr val="C00000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002120" y="2708920"/>
              <a:ext cx="8822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1">
                      <a:lumMod val="95000"/>
                    </a:schemeClr>
                  </a:solidFill>
                </a:rPr>
                <a:t>PPT</a:t>
              </a:r>
              <a:endParaRPr lang="zh-CN" alt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7609036" y="2454087"/>
            <a:ext cx="882248" cy="346208"/>
            <a:chOff x="7537028" y="2236222"/>
            <a:chExt cx="882248" cy="346208"/>
          </a:xfrm>
        </p:grpSpPr>
        <p:sp>
          <p:nvSpPr>
            <p:cNvPr id="29" name="矩形标注 28"/>
            <p:cNvSpPr/>
            <p:nvPr/>
          </p:nvSpPr>
          <p:spPr>
            <a:xfrm>
              <a:off x="7578184" y="2244524"/>
              <a:ext cx="527596" cy="337906"/>
            </a:xfrm>
            <a:prstGeom prst="wedgeRectCallout">
              <a:avLst>
                <a:gd name="adj1" fmla="val -34400"/>
                <a:gd name="adj2" fmla="val 85801"/>
              </a:avLst>
            </a:prstGeom>
            <a:solidFill>
              <a:srgbClr val="C00000">
                <a:alpha val="6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537028" y="2236222"/>
              <a:ext cx="8822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 smtClean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管理</a:t>
              </a:r>
              <a:endParaRPr lang="zh-CN" altLang="en-US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603980" y="2112811"/>
            <a:ext cx="882248" cy="423331"/>
            <a:chOff x="6531972" y="1894946"/>
            <a:chExt cx="882248" cy="423331"/>
          </a:xfrm>
        </p:grpSpPr>
        <p:sp>
          <p:nvSpPr>
            <p:cNvPr id="30" name="矩形标注 29"/>
            <p:cNvSpPr/>
            <p:nvPr/>
          </p:nvSpPr>
          <p:spPr>
            <a:xfrm>
              <a:off x="6545767" y="1894946"/>
              <a:ext cx="660977" cy="423331"/>
            </a:xfrm>
            <a:prstGeom prst="wedgeRectCallout">
              <a:avLst>
                <a:gd name="adj1" fmla="val -34400"/>
                <a:gd name="adj2" fmla="val 85801"/>
              </a:avLst>
            </a:prstGeom>
            <a:solidFill>
              <a:srgbClr val="C000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531972" y="1937334"/>
              <a:ext cx="8822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逻辑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7537028" y="1370415"/>
            <a:ext cx="1247440" cy="779504"/>
            <a:chOff x="7465020" y="1152550"/>
            <a:chExt cx="1247440" cy="779504"/>
          </a:xfrm>
        </p:grpSpPr>
        <p:sp>
          <p:nvSpPr>
            <p:cNvPr id="23" name="矩形标注 22"/>
            <p:cNvSpPr/>
            <p:nvPr/>
          </p:nvSpPr>
          <p:spPr>
            <a:xfrm>
              <a:off x="7495366" y="1152550"/>
              <a:ext cx="1217094" cy="779504"/>
            </a:xfrm>
            <a:prstGeom prst="wedgeRectCallout">
              <a:avLst>
                <a:gd name="adj1" fmla="val -34400"/>
                <a:gd name="adj2" fmla="val 85801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465020" y="1196752"/>
              <a:ext cx="117028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批判</a:t>
              </a:r>
              <a:r>
                <a:rPr lang="zh-CN" altLang="en-US" sz="2000" dirty="0" smtClean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性思维</a:t>
              </a:r>
              <a:endParaRPr lang="zh-CN" altLang="en-US" sz="20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049" y="4336229"/>
            <a:ext cx="428203" cy="118669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4" name="矩形 33"/>
          <p:cNvSpPr/>
          <p:nvPr/>
        </p:nvSpPr>
        <p:spPr>
          <a:xfrm>
            <a:off x="5796136" y="5675906"/>
            <a:ext cx="1577676" cy="7817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小巴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_1990</a:t>
            </a:r>
          </a:p>
          <a:p>
            <a:pPr>
              <a:lnSpc>
                <a:spcPct val="140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专注管理类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53613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23528" y="0"/>
            <a:ext cx="1695756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椭圆 4"/>
          <p:cNvSpPr/>
          <p:nvPr/>
        </p:nvSpPr>
        <p:spPr>
          <a:xfrm>
            <a:off x="571866" y="695866"/>
            <a:ext cx="1199080" cy="119908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6990" tIns="46990" rIns="46990" bIns="46990" numCol="1" spcCol="1270" anchor="ctr" anchorCtr="0">
            <a:noAutofit/>
          </a:bodyPr>
          <a:lstStyle/>
          <a:p>
            <a:pPr lvl="0" algn="ctr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3700" kern="1200" dirty="0" smtClean="0">
                <a:latin typeface="微软雅黑" pitchFamily="34" charset="-122"/>
                <a:ea typeface="微软雅黑" pitchFamily="34" charset="-122"/>
              </a:rPr>
              <a:t>有效决策</a:t>
            </a:r>
            <a:endParaRPr lang="zh-CN" altLang="en-US" sz="3700" kern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83568" y="2641526"/>
            <a:ext cx="932366" cy="19396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b="1" dirty="0">
                <a:solidFill>
                  <a:srgbClr val="C00000"/>
                </a:solidFill>
                <a:latin typeface="+mn-ea"/>
              </a:rPr>
              <a:t>5</a:t>
            </a:r>
            <a:endParaRPr lang="zh-CN" altLang="en-US" sz="13800" b="1" dirty="0">
              <a:solidFill>
                <a:srgbClr val="C00000"/>
              </a:solidFill>
              <a:latin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39752" y="362248"/>
            <a:ext cx="3240360" cy="640080"/>
            <a:chOff x="2339752" y="362248"/>
            <a:chExt cx="3240360" cy="640080"/>
          </a:xfrm>
        </p:grpSpPr>
        <p:sp>
          <p:nvSpPr>
            <p:cNvPr id="6" name="矩形 5"/>
            <p:cNvSpPr/>
            <p:nvPr/>
          </p:nvSpPr>
          <p:spPr>
            <a:xfrm>
              <a:off x="2339752" y="362248"/>
              <a:ext cx="216024" cy="6400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627784" y="434256"/>
              <a:ext cx="2952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latin typeface="微软雅黑" pitchFamily="34" charset="-122"/>
                  <a:ea typeface="微软雅黑" pitchFamily="34" charset="-122"/>
                </a:rPr>
                <a:t>管理要点</a:t>
              </a:r>
              <a:endParaRPr lang="en-US" altLang="zh-CN" sz="2800" b="1" dirty="0" smtClean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2267744" y="1124744"/>
            <a:ext cx="644471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明确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决策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要素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285750" lvl="0" indent="-285750">
              <a:buFont typeface="Wingdings" pitchFamily="2" charset="2"/>
              <a:buChar char="u"/>
            </a:pP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285750" lvl="0" indent="-285750">
              <a:buFont typeface="Wingdings" pitchFamily="2" charset="2"/>
              <a:buChar char="u"/>
            </a:pP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lvl="0" indent="-285750">
              <a:buFont typeface="Wingdings" pitchFamily="2" charset="2"/>
              <a:buChar char="u"/>
            </a:pP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285750" lvl="0" indent="-285750">
              <a:buFont typeface="Wingdings" pitchFamily="2" charset="2"/>
              <a:buChar char="u"/>
            </a:pP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lvl="0" indent="-285750">
              <a:buFont typeface="Wingdings" pitchFamily="2" charset="2"/>
              <a:buChar char="u"/>
            </a:pP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285750" lvl="0" indent="-285750">
              <a:buFont typeface="Wingdings" pitchFamily="2" charset="2"/>
              <a:buChar char="u"/>
            </a:pP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lvl="0" indent="-285750">
              <a:buFont typeface="Wingdings" pitchFamily="2" charset="2"/>
              <a:buChar char="u"/>
            </a:pP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285750" lvl="0" indent="-285750">
              <a:buFont typeface="Wingdings" pitchFamily="2" charset="2"/>
              <a:buChar char="u"/>
            </a:pP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285750" lvl="0" indent="-285750">
              <a:buFont typeface="Wingdings" pitchFamily="2" charset="2"/>
              <a:buChar char="u"/>
            </a:pP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lvl="0" indent="-285750">
              <a:buFont typeface="Wingdings" pitchFamily="2" charset="2"/>
              <a:buChar char="u"/>
            </a:pP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285750" lvl="0" indent="-285750">
              <a:buFont typeface="Wingdings" pitchFamily="2" charset="2"/>
              <a:buChar char="u"/>
            </a:pP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285750" lvl="0" indent="-285750">
              <a:buFont typeface="Wingdings" pitchFamily="2" charset="2"/>
              <a:buChar char="u"/>
            </a:pP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285750" lvl="0" indent="-285750"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行动验证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想法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微软雅黑" pitchFamily="34" charset="-122"/>
              <a:buChar char="−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要么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不做，要么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做好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！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微软雅黑" pitchFamily="34" charset="-122"/>
              <a:buChar char="−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只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做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必要的决策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！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buFont typeface="微软雅黑" pitchFamily="34" charset="-122"/>
              <a:buChar char="−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利益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远大于成本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风险，果断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行动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！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1772753791"/>
              </p:ext>
            </p:extLst>
          </p:nvPr>
        </p:nvGraphicFramePr>
        <p:xfrm>
          <a:off x="3467863" y="1124744"/>
          <a:ext cx="5184576" cy="34563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46956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75553EC-02B1-40F3-A551-47C3D82173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B75553EC-02B1-40F3-A551-47C3D821734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1F18CDC-9066-4654-AA72-26322D444D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graphicEl>
                                              <a:dgm id="{C1F18CDC-9066-4654-AA72-26322D444D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A2A5A9D-B335-41DB-8D96-E3B67BB2C8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graphicEl>
                                              <a:dgm id="{DA2A5A9D-B335-41DB-8D96-E3B67BB2C80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5F27DB2-3CD1-42F2-938C-3F68B043C1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graphicEl>
                                              <a:dgm id="{D5F27DB2-3CD1-42F2-938C-3F68B043C14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31FD588-046B-4068-B31B-16060C6BCF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graphicEl>
                                              <a:dgm id="{931FD588-046B-4068-B31B-16060C6BCFA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3F7F10A-CF6C-4CD0-B874-50394D54BA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graphicEl>
                                              <a:dgm id="{E3F7F10A-CF6C-4CD0-B874-50394D54BA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1AE96BE-B76C-4CC8-833C-6F55487CF9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graphicEl>
                                              <a:dgm id="{E1AE96BE-B76C-4CC8-833C-6F55487CF9E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2171FE5-2C55-44CB-90DF-0179891F37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graphicEl>
                                              <a:dgm id="{A2171FE5-2C55-44CB-90DF-0179891F37F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4967DC6-CFAB-4416-91D8-6922EBE307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graphicEl>
                                              <a:dgm id="{04967DC6-CFAB-4416-91D8-6922EBE3076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D774F9E-3CAB-478F-8C9C-E4B0405615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graphicEl>
                                              <a:dgm id="{0D774F9E-3CAB-478F-8C9C-E4B0405615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23528" y="0"/>
            <a:ext cx="1695756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5" name="组合 14"/>
          <p:cNvGrpSpPr/>
          <p:nvPr/>
        </p:nvGrpSpPr>
        <p:grpSpPr>
          <a:xfrm>
            <a:off x="2339630" y="866304"/>
            <a:ext cx="3240360" cy="640080"/>
            <a:chOff x="2339752" y="362248"/>
            <a:chExt cx="3240360" cy="640080"/>
          </a:xfrm>
        </p:grpSpPr>
        <p:sp>
          <p:nvSpPr>
            <p:cNvPr id="16" name="矩形 15"/>
            <p:cNvSpPr/>
            <p:nvPr/>
          </p:nvSpPr>
          <p:spPr>
            <a:xfrm>
              <a:off x="2339752" y="362248"/>
              <a:ext cx="216024" cy="64008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627784" y="434256"/>
              <a:ext cx="2952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成效标志</a:t>
              </a:r>
              <a:endParaRPr lang="en-US" altLang="zh-CN" sz="28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699284" y="1700808"/>
            <a:ext cx="61211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迷茫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犹豫变少</a:t>
            </a:r>
          </a:p>
          <a:p>
            <a:pPr marL="28575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后悔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的情况明显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减少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生活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变得</a:t>
            </a: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简单</a:t>
            </a:r>
            <a:r>
              <a:rPr lang="zh-CN" altLang="en-US" sz="20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有序</a:t>
            </a:r>
            <a:endParaRPr lang="en-US" altLang="zh-CN" sz="2000" dirty="0" smtClean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40000"/>
              </a:lnSpc>
              <a:buFont typeface="Calibri Light" panose="020F0302020204030204" pitchFamily="34" charset="0"/>
              <a:buChar char="‒"/>
            </a:pP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想法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一个个变为了</a:t>
            </a: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现实</a:t>
            </a:r>
          </a:p>
          <a:p>
            <a:pPr>
              <a:lnSpc>
                <a:spcPct val="140000"/>
              </a:lnSpc>
            </a:pPr>
            <a:endParaRPr lang="zh-CN" altLang="en-US" sz="20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156176" y="4195688"/>
            <a:ext cx="1800200" cy="1753592"/>
            <a:chOff x="6156176" y="4195688"/>
            <a:chExt cx="1800200" cy="1753592"/>
          </a:xfrm>
        </p:grpSpPr>
        <p:sp>
          <p:nvSpPr>
            <p:cNvPr id="3" name="流程图: 磁盘 2"/>
            <p:cNvSpPr/>
            <p:nvPr/>
          </p:nvSpPr>
          <p:spPr>
            <a:xfrm>
              <a:off x="6372200" y="4437112"/>
              <a:ext cx="1368152" cy="1512168"/>
            </a:xfrm>
            <a:prstGeom prst="flowChartMagneticDisk">
              <a:avLst/>
            </a:prstGeom>
            <a:solidFill>
              <a:srgbClr val="C00000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同心圆 3"/>
            <p:cNvSpPr/>
            <p:nvPr/>
          </p:nvSpPr>
          <p:spPr>
            <a:xfrm>
              <a:off x="6156176" y="4195688"/>
              <a:ext cx="1800200" cy="972108"/>
            </a:xfrm>
            <a:prstGeom prst="donut">
              <a:avLst/>
            </a:prstGeom>
            <a:solidFill>
              <a:srgbClr val="C00000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" name="梯形 5"/>
          <p:cNvSpPr/>
          <p:nvPr/>
        </p:nvSpPr>
        <p:spPr>
          <a:xfrm rot="13500000">
            <a:off x="7929761" y="2343787"/>
            <a:ext cx="244321" cy="1929468"/>
          </a:xfrm>
          <a:prstGeom prst="trapezoid">
            <a:avLst/>
          </a:prstGeom>
          <a:solidFill>
            <a:srgbClr val="C0000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十字星 6"/>
          <p:cNvSpPr/>
          <p:nvPr/>
        </p:nvSpPr>
        <p:spPr>
          <a:xfrm>
            <a:off x="6499349" y="3799085"/>
            <a:ext cx="624318" cy="624318"/>
          </a:xfrm>
          <a:prstGeom prst="star4">
            <a:avLst>
              <a:gd name="adj" fmla="val 17689"/>
            </a:avLst>
          </a:prstGeom>
          <a:solidFill>
            <a:srgbClr val="C0000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十字星 18"/>
          <p:cNvSpPr/>
          <p:nvPr/>
        </p:nvSpPr>
        <p:spPr>
          <a:xfrm>
            <a:off x="6156176" y="3554317"/>
            <a:ext cx="489535" cy="489535"/>
          </a:xfrm>
          <a:prstGeom prst="star4">
            <a:avLst>
              <a:gd name="adj" fmla="val 20283"/>
            </a:avLst>
          </a:prstGeom>
          <a:solidFill>
            <a:srgbClr val="C0000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十字星 21"/>
          <p:cNvSpPr/>
          <p:nvPr/>
        </p:nvSpPr>
        <p:spPr>
          <a:xfrm>
            <a:off x="6962785" y="3458042"/>
            <a:ext cx="489535" cy="489535"/>
          </a:xfrm>
          <a:prstGeom prst="star4">
            <a:avLst>
              <a:gd name="adj" fmla="val 17689"/>
            </a:avLst>
          </a:prstGeom>
          <a:solidFill>
            <a:srgbClr val="C0000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436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340992"/>
            <a:ext cx="6300192" cy="4032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67544" y="2461011"/>
            <a:ext cx="63001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  <a:cs typeface="经典繁毛楷" pitchFamily="49" charset="-122"/>
              </a:rPr>
              <a:t>  还等什么？</a:t>
            </a:r>
            <a:endParaRPr lang="en-US" altLang="zh-CN" sz="5400" dirty="0" smtClean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  <a:cs typeface="经典繁毛楷" pitchFamily="49" charset="-122"/>
            </a:endParaRPr>
          </a:p>
          <a:p>
            <a:r>
              <a:rPr lang="en-US" altLang="zh-CN" sz="54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  <a:cs typeface="经典繁毛楷" pitchFamily="49" charset="-122"/>
              </a:rPr>
              <a:t>	    </a:t>
            </a:r>
            <a:r>
              <a:rPr lang="zh-CN" altLang="en-US" sz="54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  <a:cs typeface="经典繁毛楷" pitchFamily="49" charset="-122"/>
              </a:rPr>
              <a:t>马上行动！</a:t>
            </a:r>
            <a:endParaRPr lang="en-US" altLang="zh-CN" sz="5400" dirty="0" smtClean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  <a:cs typeface="经典繁毛楷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483768" y="4437112"/>
            <a:ext cx="3816424" cy="4320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Thanks for watching!</a:t>
            </a:r>
            <a:endParaRPr lang="zh-CN" altLang="en-US" sz="24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300192" y="4437112"/>
            <a:ext cx="1512168" cy="432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糖炒诗人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0" y="3356992"/>
            <a:ext cx="615617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37317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2"/>
          <p:cNvSpPr>
            <a:spLocks noChangeArrowheads="1"/>
          </p:cNvSpPr>
          <p:nvPr/>
        </p:nvSpPr>
        <p:spPr bwMode="auto">
          <a:xfrm>
            <a:off x="500034" y="381261"/>
            <a:ext cx="8286808" cy="105258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xtLst/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2800" b="1">
              <a:solidFill>
                <a:srgbClr val="004D8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6"/>
          <p:cNvSpPr>
            <a:spLocks noChangeArrowheads="1"/>
          </p:cNvSpPr>
          <p:nvPr/>
        </p:nvSpPr>
        <p:spPr bwMode="auto">
          <a:xfrm>
            <a:off x="571472" y="5640406"/>
            <a:ext cx="3671888" cy="431800"/>
          </a:xfrm>
          <a:prstGeom prst="roundRect">
            <a:avLst>
              <a:gd name="adj" fmla="val 16667"/>
            </a:avLst>
          </a:prstGeom>
          <a:solidFill>
            <a:schemeClr val="bg1">
              <a:lumMod val="65000"/>
            </a:schemeClr>
          </a:solidFill>
          <a:ln>
            <a:noFill/>
          </a:ln>
          <a:extLst/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修改前</a:t>
            </a:r>
          </a:p>
        </p:txBody>
      </p:sp>
      <p:sp>
        <p:nvSpPr>
          <p:cNvPr id="6" name="圆角矩形 9"/>
          <p:cNvSpPr>
            <a:spLocks noChangeArrowheads="1"/>
          </p:cNvSpPr>
          <p:nvPr/>
        </p:nvSpPr>
        <p:spPr bwMode="auto">
          <a:xfrm>
            <a:off x="4964909" y="5640406"/>
            <a:ext cx="3671888" cy="431800"/>
          </a:xfrm>
          <a:prstGeom prst="roundRect">
            <a:avLst>
              <a:gd name="adj" fmla="val 16667"/>
            </a:avLst>
          </a:prstGeom>
          <a:solidFill>
            <a:schemeClr val="bg1">
              <a:lumMod val="65000"/>
            </a:schemeClr>
          </a:solidFill>
          <a:ln>
            <a:noFill/>
          </a:ln>
          <a:extLst/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修改后</a:t>
            </a:r>
          </a:p>
        </p:txBody>
      </p: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1721273" y="415110"/>
            <a:ext cx="5844330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秋叶 大叔，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小巴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_199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反复指导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ts val="1200"/>
              </a:spcBef>
              <a:spcAft>
                <a:spcPct val="0"/>
              </a:spcAft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我在网易云课堂等你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489" y="2074867"/>
            <a:ext cx="3899353" cy="29245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076" y="2075545"/>
            <a:ext cx="3899353" cy="29245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65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554912"/>
            <a:ext cx="914400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  <a:endParaRPr lang="zh-CN" altLang="en-US" sz="24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2281289" y="2709877"/>
            <a:ext cx="144020" cy="26796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489389" y="2709877"/>
            <a:ext cx="144020" cy="26796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6793709" y="2709877"/>
            <a:ext cx="144020" cy="26796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380" y="4139575"/>
            <a:ext cx="9144000" cy="2169825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800"/>
              </a:spcBef>
            </a:pP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dirty="0" smtClean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800"/>
              </a:spcBef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1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dirty="0" smtClean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200"/>
              </a:spcBef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2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200"/>
              </a:spcBef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3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200"/>
              </a:spcBef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4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  <a:endParaRPr lang="zh-CN" altLang="en-US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323410" y="4509150"/>
            <a:ext cx="84971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07380" y="2024805"/>
            <a:ext cx="1944270" cy="1341376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381146" y="2024805"/>
            <a:ext cx="1944270" cy="1341376"/>
            <a:chOff x="107380" y="2024805"/>
            <a:chExt cx="1944270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617672" y="2024805"/>
            <a:ext cx="1944270" cy="1341376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浪微博晒作业被老师肯定奖励内部选书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865719" y="2024805"/>
            <a:ext cx="1944270" cy="1341376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1489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979" y="4077072"/>
            <a:ext cx="9169004" cy="1607344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0" cy="5232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91989">
                <a:defRPr/>
              </a:pPr>
              <a:r>
                <a:rPr lang="en-US" altLang="zh-CN" sz="1400" kern="0" dirty="0">
                  <a:solidFill>
                    <a:prstClr val="black"/>
                  </a:solidFill>
                </a:rPr>
                <a:t/>
              </a:r>
              <a:br>
                <a:rPr lang="en-US" altLang="zh-CN" sz="1400" kern="0" dirty="0">
                  <a:solidFill>
                    <a:prstClr val="black"/>
                  </a:solidFill>
                </a:rPr>
              </a:br>
              <a:endParaRPr lang="en-US" altLang="zh-CN" sz="1400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50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0" y="3613173"/>
              <a:ext cx="594122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300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6000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69" y="3441723"/>
              <a:ext cx="3496470" cy="906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40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240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450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240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40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240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240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6858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788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5"/>
              <a:ext cx="1596629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100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50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8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100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2" y="4353742"/>
              <a:ext cx="3070071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500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1367521" y="908720"/>
            <a:ext cx="640895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360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360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3000"/>
              </a:spcBef>
            </a:pPr>
            <a:r>
              <a:rPr lang="zh-CN" altLang="en-US" sz="4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4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023</a:t>
            </a:r>
            <a:r>
              <a:rPr lang="zh-CN" altLang="en-US" sz="4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4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3000"/>
              </a:spcBef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2562212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b="1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1562</TotalTime>
  <Words>885</Words>
  <Application>Microsoft Office PowerPoint</Application>
  <PresentationFormat>全屏显示(4:3)</PresentationFormat>
  <Paragraphs>203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19</vt:i4>
      </vt:variant>
    </vt:vector>
  </HeadingPairs>
  <TitlesOfParts>
    <vt:vector size="35" baseType="lpstr">
      <vt:lpstr>方正粗宋简体</vt:lpstr>
      <vt:lpstr>Arial</vt:lpstr>
      <vt:lpstr>方正正中黑简体</vt:lpstr>
      <vt:lpstr>Calibri Light</vt:lpstr>
      <vt:lpstr>宋体</vt:lpstr>
      <vt:lpstr>方正正黑简体</vt:lpstr>
      <vt:lpstr>Myriad Pro Cond</vt:lpstr>
      <vt:lpstr>经典繁毛楷</vt:lpstr>
      <vt:lpstr>Calibri</vt:lpstr>
      <vt:lpstr>微软雅黑</vt:lpstr>
      <vt:lpstr>黑体</vt:lpstr>
      <vt:lpstr>Wingdings</vt:lpstr>
      <vt:lpstr>Office 主题​​</vt:lpstr>
      <vt:lpstr>1_Office 主题​​</vt:lpstr>
      <vt:lpstr>2_Office 主题​​</vt:lpstr>
      <vt:lpstr>Office 主题</vt:lpstr>
      <vt:lpstr>卓有成效的 管理者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workgroup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卓有成效的管理者</dc:title>
  <dc:creator>L</dc:creator>
  <cp:lastModifiedBy>小巴</cp:lastModifiedBy>
  <cp:revision>191</cp:revision>
  <dcterms:created xsi:type="dcterms:W3CDTF">2014-01-11T10:25:27Z</dcterms:created>
  <dcterms:modified xsi:type="dcterms:W3CDTF">2014-02-21T04:09:53Z</dcterms:modified>
</cp:coreProperties>
</file>