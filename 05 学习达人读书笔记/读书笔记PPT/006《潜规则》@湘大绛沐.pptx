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 id="2147483672" r:id="rId3"/>
  </p:sldMasterIdLst>
  <p:sldIdLst>
    <p:sldId id="256" r:id="rId4"/>
    <p:sldId id="257" r:id="rId5"/>
    <p:sldId id="260" r:id="rId6"/>
    <p:sldId id="259" r:id="rId7"/>
    <p:sldId id="261" r:id="rId8"/>
    <p:sldId id="264" r:id="rId9"/>
    <p:sldId id="262" r:id="rId10"/>
    <p:sldId id="265" r:id="rId11"/>
    <p:sldId id="263" r:id="rId12"/>
    <p:sldId id="269" r:id="rId13"/>
    <p:sldId id="271" r:id="rId14"/>
    <p:sldId id="280" r:id="rId15"/>
    <p:sldId id="273" r:id="rId16"/>
    <p:sldId id="276" r:id="rId17"/>
    <p:sldId id="278" r:id="rId18"/>
    <p:sldId id="279" r:id="rId19"/>
    <p:sldId id="281" r:id="rId20"/>
    <p:sldId id="282" r:id="rId21"/>
    <p:sldId id="283" r:id="rId22"/>
    <p:sldId id="285" r:id="rId23"/>
    <p:sldId id="286" r:id="rId24"/>
    <p:sldId id="287" r:id="rId25"/>
    <p:sldId id="288" r:id="rId26"/>
    <p:sldId id="289" r:id="rId27"/>
    <p:sldId id="291" r:id="rId28"/>
    <p:sldId id="290" r:id="rId29"/>
  </p:sldIdLst>
  <p:sldSz cx="12192000" cy="6858000"/>
  <p:notesSz cx="6858000" cy="9144000"/>
  <p:embeddedFontLst>
    <p:embeddedFont>
      <p:font typeface="Calibri" panose="020F0502020204030204" pitchFamily="34" charset="0"/>
      <p:regular r:id="rId30"/>
      <p:bold r:id="rId31"/>
      <p:italic r:id="rId32"/>
      <p:boldItalic r:id="rId33"/>
    </p:embeddedFont>
    <p:embeddedFont>
      <p:font typeface="方正正黑简体" panose="02000000000000000000" pitchFamily="2" charset="-122"/>
      <p:regular r:id="rId34"/>
    </p:embeddedFont>
    <p:embeddedFont>
      <p:font typeface="微软雅黑" panose="020B0503020204020204" pitchFamily="34" charset="-122"/>
      <p:regular r:id="rId35"/>
      <p:bold r:id="rId36"/>
    </p:embeddedFont>
    <p:embeddedFont>
      <p:font typeface="华康俪金黑W8" panose="020B0809000000000000" pitchFamily="49" charset="-122"/>
      <p:regular r:id="rId37"/>
    </p:embeddedFont>
    <p:embeddedFont>
      <p:font typeface="Calibri Light" panose="020F0302020204030204" pitchFamily="34" charset="0"/>
      <p:regular r:id="rId38"/>
      <p:italic r:id="rId39"/>
    </p:embeddedFont>
    <p:embeddedFont>
      <p:font typeface="方正正中黑简体" panose="02000000000000000000" pitchFamily="2" charset="-122"/>
      <p:regular r:id="rId4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986FEEC0-D703-4F91-8113-62BA2FD10EB7}">
          <p14:sldIdLst>
            <p14:sldId id="256"/>
            <p14:sldId id="257"/>
            <p14:sldId id="260"/>
            <p14:sldId id="259"/>
            <p14:sldId id="261"/>
            <p14:sldId id="264"/>
            <p14:sldId id="262"/>
            <p14:sldId id="265"/>
            <p14:sldId id="263"/>
            <p14:sldId id="269"/>
            <p14:sldId id="271"/>
            <p14:sldId id="280"/>
            <p14:sldId id="273"/>
            <p14:sldId id="276"/>
            <p14:sldId id="278"/>
            <p14:sldId id="279"/>
            <p14:sldId id="281"/>
            <p14:sldId id="282"/>
            <p14:sldId id="283"/>
            <p14:sldId id="285"/>
            <p14:sldId id="286"/>
            <p14:sldId id="287"/>
            <p14:sldId id="288"/>
            <p14:sldId id="289"/>
            <p14:sldId id="291"/>
            <p14:sldId id="290"/>
          </p14:sldIdLst>
        </p14:section>
      </p14:sectionLst>
    </p:ex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绛木" initials="绛木" lastIdx="1" clrIdx="0">
    <p:extLst>
      <p:ext uri="{19B8F6BF-5375-455C-9EA6-DF929625EA0E}">
        <p15:presenceInfo xmlns:p15="http://schemas.microsoft.com/office/powerpoint/2012/main" userId="绛木"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464C"/>
    <a:srgbClr val="981F21"/>
    <a:srgbClr val="3E494F"/>
    <a:srgbClr val="FDFEF9"/>
    <a:srgbClr val="3D48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guide orient="horz" pos="2137"/>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0.fntdata"/><Relationship Id="rId21" Type="http://schemas.openxmlformats.org/officeDocument/2006/relationships/slide" Target="slides/slide18.xml"/><Relationship Id="rId34" Type="http://schemas.openxmlformats.org/officeDocument/2006/relationships/font" Target="fonts/font5.fntdata"/><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7.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2.fntdata"/><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7.xml"/><Relationship Id="rId41"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2AEB305-1309-45FC-A95C-264E316ADA10}" type="datetimeFigureOut">
              <a:rPr lang="zh-CN" altLang="en-US" smtClean="0"/>
              <a:t>2014/1/26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46F9B22-1B51-49F7-B320-6019D7A2669D}" type="slidenum">
              <a:rPr lang="zh-CN" altLang="en-US" smtClean="0"/>
              <a:t>‹#›</a:t>
            </a:fld>
            <a:endParaRPr lang="zh-CN" altLang="en-US"/>
          </a:p>
        </p:txBody>
      </p:sp>
    </p:spTree>
    <p:extLst>
      <p:ext uri="{BB962C8B-B14F-4D97-AF65-F5344CB8AC3E}">
        <p14:creationId xmlns:p14="http://schemas.microsoft.com/office/powerpoint/2010/main" val="1843986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2AEB305-1309-45FC-A95C-264E316ADA10}" type="datetimeFigureOut">
              <a:rPr lang="zh-CN" altLang="en-US" smtClean="0"/>
              <a:t>2014/1/26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46F9B22-1B51-49F7-B320-6019D7A2669D}" type="slidenum">
              <a:rPr lang="zh-CN" altLang="en-US" smtClean="0"/>
              <a:t>‹#›</a:t>
            </a:fld>
            <a:endParaRPr lang="zh-CN" altLang="en-US"/>
          </a:p>
        </p:txBody>
      </p:sp>
    </p:spTree>
    <p:extLst>
      <p:ext uri="{BB962C8B-B14F-4D97-AF65-F5344CB8AC3E}">
        <p14:creationId xmlns:p14="http://schemas.microsoft.com/office/powerpoint/2010/main" val="401605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2AEB305-1309-45FC-A95C-264E316ADA10}" type="datetimeFigureOut">
              <a:rPr lang="zh-CN" altLang="en-US" smtClean="0"/>
              <a:t>2014/1/26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46F9B22-1B51-49F7-B320-6019D7A2669D}" type="slidenum">
              <a:rPr lang="zh-CN" altLang="en-US" smtClean="0"/>
              <a:t>‹#›</a:t>
            </a:fld>
            <a:endParaRPr lang="zh-CN" altLang="en-US"/>
          </a:p>
        </p:txBody>
      </p:sp>
    </p:spTree>
    <p:extLst>
      <p:ext uri="{BB962C8B-B14F-4D97-AF65-F5344CB8AC3E}">
        <p14:creationId xmlns:p14="http://schemas.microsoft.com/office/powerpoint/2010/main" val="1770245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2AEB305-1309-45FC-A95C-264E316ADA10}" type="datetimeFigureOut">
              <a:rPr lang="zh-CN" altLang="en-US" smtClean="0"/>
              <a:t>2014/1/26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46F9B22-1B51-49F7-B320-6019D7A2669D}" type="slidenum">
              <a:rPr lang="zh-CN" altLang="en-US" smtClean="0"/>
              <a:t>‹#›</a:t>
            </a:fld>
            <a:endParaRPr lang="zh-CN" altLang="en-US"/>
          </a:p>
        </p:txBody>
      </p:sp>
    </p:spTree>
    <p:extLst>
      <p:ext uri="{BB962C8B-B14F-4D97-AF65-F5344CB8AC3E}">
        <p14:creationId xmlns:p14="http://schemas.microsoft.com/office/powerpoint/2010/main" val="2744197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2AEB305-1309-45FC-A95C-264E316ADA10}" type="datetimeFigureOut">
              <a:rPr lang="zh-CN" altLang="en-US" smtClean="0"/>
              <a:t>2014/1/26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46F9B22-1B51-49F7-B320-6019D7A2669D}" type="slidenum">
              <a:rPr lang="zh-CN" altLang="en-US" smtClean="0"/>
              <a:t>‹#›</a:t>
            </a:fld>
            <a:endParaRPr lang="zh-CN" altLang="en-US"/>
          </a:p>
        </p:txBody>
      </p:sp>
    </p:spTree>
    <p:extLst>
      <p:ext uri="{BB962C8B-B14F-4D97-AF65-F5344CB8AC3E}">
        <p14:creationId xmlns:p14="http://schemas.microsoft.com/office/powerpoint/2010/main" val="2126244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2AEB305-1309-45FC-A95C-264E316ADA10}" type="datetimeFigureOut">
              <a:rPr lang="zh-CN" altLang="en-US" smtClean="0"/>
              <a:t>2014/1/26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46F9B22-1B51-49F7-B320-6019D7A2669D}" type="slidenum">
              <a:rPr lang="zh-CN" altLang="en-US" smtClean="0"/>
              <a:t>‹#›</a:t>
            </a:fld>
            <a:endParaRPr lang="zh-CN" altLang="en-US"/>
          </a:p>
        </p:txBody>
      </p:sp>
    </p:spTree>
    <p:extLst>
      <p:ext uri="{BB962C8B-B14F-4D97-AF65-F5344CB8AC3E}">
        <p14:creationId xmlns:p14="http://schemas.microsoft.com/office/powerpoint/2010/main" val="1851435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2AEB305-1309-45FC-A95C-264E316ADA10}" type="datetimeFigureOut">
              <a:rPr lang="zh-CN" altLang="en-US" smtClean="0"/>
              <a:t>2014/1/26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46F9B22-1B51-49F7-B320-6019D7A2669D}" type="slidenum">
              <a:rPr lang="zh-CN" altLang="en-US" smtClean="0"/>
              <a:t>‹#›</a:t>
            </a:fld>
            <a:endParaRPr lang="zh-CN" altLang="en-US"/>
          </a:p>
        </p:txBody>
      </p:sp>
    </p:spTree>
    <p:extLst>
      <p:ext uri="{BB962C8B-B14F-4D97-AF65-F5344CB8AC3E}">
        <p14:creationId xmlns:p14="http://schemas.microsoft.com/office/powerpoint/2010/main" val="3900941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2AEB305-1309-45FC-A95C-264E316ADA10}" type="datetimeFigureOut">
              <a:rPr lang="zh-CN" altLang="en-US" smtClean="0"/>
              <a:t>2014/1/26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46F9B22-1B51-49F7-B320-6019D7A2669D}" type="slidenum">
              <a:rPr lang="zh-CN" altLang="en-US" smtClean="0"/>
              <a:t>‹#›</a:t>
            </a:fld>
            <a:endParaRPr lang="zh-CN" altLang="en-US"/>
          </a:p>
        </p:txBody>
      </p:sp>
    </p:spTree>
    <p:extLst>
      <p:ext uri="{BB962C8B-B14F-4D97-AF65-F5344CB8AC3E}">
        <p14:creationId xmlns:p14="http://schemas.microsoft.com/office/powerpoint/2010/main" val="1666881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2AEB305-1309-45FC-A95C-264E316ADA10}" type="datetimeFigureOut">
              <a:rPr lang="zh-CN" altLang="en-US" smtClean="0"/>
              <a:t>2014/1/26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46F9B22-1B51-49F7-B320-6019D7A2669D}" type="slidenum">
              <a:rPr lang="zh-CN" altLang="en-US" smtClean="0"/>
              <a:t>‹#›</a:t>
            </a:fld>
            <a:endParaRPr lang="zh-CN" altLang="en-US"/>
          </a:p>
        </p:txBody>
      </p:sp>
    </p:spTree>
    <p:extLst>
      <p:ext uri="{BB962C8B-B14F-4D97-AF65-F5344CB8AC3E}">
        <p14:creationId xmlns:p14="http://schemas.microsoft.com/office/powerpoint/2010/main" val="4186996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2AEB305-1309-45FC-A95C-264E316ADA10}" type="datetimeFigureOut">
              <a:rPr lang="zh-CN" altLang="en-US" smtClean="0"/>
              <a:t>2014/1/26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46F9B22-1B51-49F7-B320-6019D7A2669D}" type="slidenum">
              <a:rPr lang="zh-CN" altLang="en-US" smtClean="0"/>
              <a:t>‹#›</a:t>
            </a:fld>
            <a:endParaRPr lang="zh-CN" altLang="en-US"/>
          </a:p>
        </p:txBody>
      </p:sp>
    </p:spTree>
    <p:extLst>
      <p:ext uri="{BB962C8B-B14F-4D97-AF65-F5344CB8AC3E}">
        <p14:creationId xmlns:p14="http://schemas.microsoft.com/office/powerpoint/2010/main" val="1804153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2AEB305-1309-45FC-A95C-264E316ADA10}" type="datetimeFigureOut">
              <a:rPr lang="zh-CN" altLang="en-US" smtClean="0"/>
              <a:t>2014/1/26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46F9B22-1B51-49F7-B320-6019D7A2669D}" type="slidenum">
              <a:rPr lang="zh-CN" altLang="en-US" smtClean="0"/>
              <a:t>‹#›</a:t>
            </a:fld>
            <a:endParaRPr lang="zh-CN" altLang="en-US"/>
          </a:p>
        </p:txBody>
      </p:sp>
    </p:spTree>
    <p:extLst>
      <p:ext uri="{BB962C8B-B14F-4D97-AF65-F5344CB8AC3E}">
        <p14:creationId xmlns:p14="http://schemas.microsoft.com/office/powerpoint/2010/main" val="2457352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999853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41951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2"/>
            <a:ext cx="10363200" cy="1362076"/>
          </a:xfrm>
        </p:spPr>
        <p:txBody>
          <a:bodyPr anchor="t"/>
          <a:lstStyle>
            <a:lvl1pPr algn="l">
              <a:defRPr sz="36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208756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3444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4"/>
            <a:ext cx="5386917" cy="63976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9" y="1535114"/>
            <a:ext cx="5389033" cy="63976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364364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97164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951324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1"/>
            <a:ext cx="4011084" cy="1162050"/>
          </a:xfrm>
        </p:spPr>
        <p:txBody>
          <a:bodyPr anchor="b"/>
          <a:lstStyle>
            <a:lvl1pPr algn="l">
              <a:defRPr sz="18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2"/>
            <a:ext cx="6815667" cy="5853113"/>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2" y="1435102"/>
            <a:ext cx="4011084" cy="4691063"/>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756098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8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282373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493086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40"/>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405002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732533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980728"/>
            <a:ext cx="10972800" cy="1143000"/>
          </a:xfrm>
        </p:spPr>
        <p:txBody>
          <a:body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
        <p:nvSpPr>
          <p:cNvPr id="6" name="矩形 5"/>
          <p:cNvSpPr/>
          <p:nvPr userDrawn="1"/>
        </p:nvSpPr>
        <p:spPr>
          <a:xfrm>
            <a:off x="0" y="0"/>
            <a:ext cx="12192000" cy="620688"/>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Tree>
    <p:extLst>
      <p:ext uri="{BB962C8B-B14F-4D97-AF65-F5344CB8AC3E}">
        <p14:creationId xmlns:p14="http://schemas.microsoft.com/office/powerpoint/2010/main" val="28014339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597157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2"/>
            <a:ext cx="10363200" cy="1362076"/>
          </a:xfrm>
        </p:spPr>
        <p:txBody>
          <a:bodyPr anchor="t"/>
          <a:lstStyle>
            <a:lvl1pPr algn="l">
              <a:defRPr sz="36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374865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194371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4"/>
            <a:ext cx="5386917" cy="63976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9" y="1535114"/>
            <a:ext cx="5389033" cy="63976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508672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649438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
        <p:nvSpPr>
          <p:cNvPr id="5" name="矩形 4"/>
          <p:cNvSpPr/>
          <p:nvPr userDrawn="1"/>
        </p:nvSpPr>
        <p:spPr>
          <a:xfrm>
            <a:off x="5261" y="-51325"/>
            <a:ext cx="12186739" cy="706828"/>
          </a:xfrm>
          <a:prstGeom prst="rect">
            <a:avLst/>
          </a:prstGeom>
          <a:solidFill>
            <a:srgbClr val="9B743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6" name="椭圆 5"/>
          <p:cNvSpPr/>
          <p:nvPr userDrawn="1"/>
        </p:nvSpPr>
        <p:spPr>
          <a:xfrm>
            <a:off x="1193135" y="585521"/>
            <a:ext cx="624069" cy="468000"/>
          </a:xfrm>
          <a:prstGeom prst="ellipse">
            <a:avLst/>
          </a:prstGeom>
          <a:solidFill>
            <a:srgbClr val="D1B48C"/>
          </a:solidFill>
          <a:ln>
            <a:solidFill>
              <a:schemeClr val="bg1"/>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7" name="椭圆 6"/>
          <p:cNvSpPr/>
          <p:nvPr userDrawn="1"/>
        </p:nvSpPr>
        <p:spPr>
          <a:xfrm>
            <a:off x="5261" y="26340"/>
            <a:ext cx="1440000" cy="1080000"/>
          </a:xfrm>
          <a:prstGeom prst="ellipse">
            <a:avLst/>
          </a:prstGeom>
          <a:blipFill dpi="0" rotWithShape="1">
            <a:blip r:embed="rId2"/>
            <a:srcRect/>
            <a:tile tx="-177800" ty="-158750" sx="100000" sy="100000" flip="none" algn="tl"/>
          </a:blipFill>
          <a:ln>
            <a:solidFill>
              <a:schemeClr val="bg1"/>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Tree>
    <p:extLst>
      <p:ext uri="{BB962C8B-B14F-4D97-AF65-F5344CB8AC3E}">
        <p14:creationId xmlns:p14="http://schemas.microsoft.com/office/powerpoint/2010/main" val="3147256813"/>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1"/>
            <a:ext cx="4011084" cy="1162050"/>
          </a:xfrm>
        </p:spPr>
        <p:txBody>
          <a:bodyPr anchor="b"/>
          <a:lstStyle>
            <a:lvl1pPr algn="l">
              <a:defRPr sz="18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2"/>
            <a:ext cx="6815667" cy="5853113"/>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2" y="1435102"/>
            <a:ext cx="4011084" cy="4691063"/>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898907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8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862826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580560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40"/>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78925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AEB305-1309-45FC-A95C-264E316ADA10}" type="datetimeFigureOut">
              <a:rPr lang="zh-CN" altLang="en-US" smtClean="0"/>
              <a:t>2014/1/26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6F9B22-1B51-49F7-B320-6019D7A2669D}" type="slidenum">
              <a:rPr lang="zh-CN" altLang="en-US" smtClean="0"/>
              <a:t>‹#›</a:t>
            </a:fld>
            <a:endParaRPr lang="zh-CN" altLang="en-US"/>
          </a:p>
        </p:txBody>
      </p:sp>
    </p:spTree>
    <p:extLst>
      <p:ext uri="{BB962C8B-B14F-4D97-AF65-F5344CB8AC3E}">
        <p14:creationId xmlns:p14="http://schemas.microsoft.com/office/powerpoint/2010/main" val="3056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080">
                <a:solidFill>
                  <a:schemeClr val="tx1">
                    <a:tint val="75000"/>
                  </a:schemeClr>
                </a:solidFill>
              </a:defRPr>
            </a:lvl1pPr>
          </a:lstStyle>
          <a:p>
            <a:fld id="{F8D27441-63DE-4ADF-BAF3-45B112D3498E}"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080">
                <a:solidFill>
                  <a:schemeClr val="tx1">
                    <a:tint val="75000"/>
                  </a:schemeClr>
                </a:solidFill>
              </a:defRPr>
            </a:lvl1p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27700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82296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822960" rtl="0" eaLnBrk="1" latinLnBrk="0" hangingPunct="1">
        <a:spcBef>
          <a:spcPct val="20000"/>
        </a:spcBef>
        <a:buFont typeface="Arial" pitchFamily="34" charset="0"/>
        <a:buChar char="•"/>
        <a:defRPr sz="2880" kern="1200">
          <a:solidFill>
            <a:schemeClr val="tx1"/>
          </a:solidFill>
          <a:latin typeface="+mn-lt"/>
          <a:ea typeface="+mn-ea"/>
          <a:cs typeface="+mn-cs"/>
        </a:defRPr>
      </a:lvl1pPr>
      <a:lvl2pPr marL="668656" indent="-257176" algn="l" defTabSz="822960" rtl="0" eaLnBrk="1" latinLnBrk="0" hangingPunct="1">
        <a:spcBef>
          <a:spcPct val="20000"/>
        </a:spcBef>
        <a:buFont typeface="Arial" pitchFamily="34" charset="0"/>
        <a:buChar char="–"/>
        <a:defRPr sz="2520" kern="1200">
          <a:solidFill>
            <a:schemeClr val="tx1"/>
          </a:solidFill>
          <a:latin typeface="+mn-lt"/>
          <a:ea typeface="+mn-ea"/>
          <a:cs typeface="+mn-cs"/>
        </a:defRPr>
      </a:lvl2pPr>
      <a:lvl3pPr marL="1028700" indent="-205740" algn="l" defTabSz="822960" rtl="0" eaLnBrk="1" latinLnBrk="0" hangingPunct="1">
        <a:spcBef>
          <a:spcPct val="20000"/>
        </a:spcBef>
        <a:buFont typeface="Arial" pitchFamily="34" charset="0"/>
        <a:buChar char="•"/>
        <a:defRPr sz="2160" kern="1200">
          <a:solidFill>
            <a:schemeClr val="tx1"/>
          </a:solidFill>
          <a:latin typeface="+mn-lt"/>
          <a:ea typeface="+mn-ea"/>
          <a:cs typeface="+mn-cs"/>
        </a:defRPr>
      </a:lvl3pPr>
      <a:lvl4pPr marL="14401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5166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080">
                <a:solidFill>
                  <a:schemeClr val="tx1">
                    <a:tint val="75000"/>
                  </a:schemeClr>
                </a:solidFill>
              </a:defRPr>
            </a:lvl1pPr>
          </a:lstStyle>
          <a:p>
            <a:fld id="{59F66714-2674-4B81-913D-D82F31896798}" type="datetimeFigureOut">
              <a:rPr lang="zh-CN" altLang="en-US" smtClean="0">
                <a:solidFill>
                  <a:prstClr val="black">
                    <a:tint val="75000"/>
                  </a:prstClr>
                </a:solidFill>
              </a:rPr>
              <a:pPr/>
              <a:t>2014/1/26</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080">
                <a:solidFill>
                  <a:schemeClr val="tx1">
                    <a:tint val="75000"/>
                  </a:schemeClr>
                </a:solidFill>
              </a:defRPr>
            </a:lvl1p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70477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ctr" defTabSz="82296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822960" rtl="0" eaLnBrk="1" latinLnBrk="0" hangingPunct="1">
        <a:spcBef>
          <a:spcPct val="20000"/>
        </a:spcBef>
        <a:buFont typeface="Arial" pitchFamily="34" charset="0"/>
        <a:buChar char="•"/>
        <a:defRPr sz="2880" kern="1200">
          <a:solidFill>
            <a:schemeClr val="tx1"/>
          </a:solidFill>
          <a:latin typeface="+mn-lt"/>
          <a:ea typeface="+mn-ea"/>
          <a:cs typeface="+mn-cs"/>
        </a:defRPr>
      </a:lvl1pPr>
      <a:lvl2pPr marL="668656" indent="-257176" algn="l" defTabSz="822960" rtl="0" eaLnBrk="1" latinLnBrk="0" hangingPunct="1">
        <a:spcBef>
          <a:spcPct val="20000"/>
        </a:spcBef>
        <a:buFont typeface="Arial" pitchFamily="34" charset="0"/>
        <a:buChar char="–"/>
        <a:defRPr sz="2520" kern="1200">
          <a:solidFill>
            <a:schemeClr val="tx1"/>
          </a:solidFill>
          <a:latin typeface="+mn-lt"/>
          <a:ea typeface="+mn-ea"/>
          <a:cs typeface="+mn-cs"/>
        </a:defRPr>
      </a:lvl2pPr>
      <a:lvl3pPr marL="1028700" indent="-205740" algn="l" defTabSz="822960" rtl="0" eaLnBrk="1" latinLnBrk="0" hangingPunct="1">
        <a:spcBef>
          <a:spcPct val="20000"/>
        </a:spcBef>
        <a:buFont typeface="Arial" pitchFamily="34" charset="0"/>
        <a:buChar char="•"/>
        <a:defRPr sz="2160" kern="1200">
          <a:solidFill>
            <a:schemeClr val="tx1"/>
          </a:solidFill>
          <a:latin typeface="+mn-lt"/>
          <a:ea typeface="+mn-ea"/>
          <a:cs typeface="+mn-cs"/>
        </a:defRPr>
      </a:lvl3pPr>
      <a:lvl4pPr marL="14401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5166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B464C"/>
        </a:solidFill>
        <a:effectLst/>
      </p:bgPr>
    </p:bg>
    <p:spTree>
      <p:nvGrpSpPr>
        <p:cNvPr id="1" name=""/>
        <p:cNvGrpSpPr/>
        <p:nvPr/>
      </p:nvGrpSpPr>
      <p:grpSpPr>
        <a:xfrm>
          <a:off x="0" y="0"/>
          <a:ext cx="0" cy="0"/>
          <a:chOff x="0" y="0"/>
          <a:chExt cx="0" cy="0"/>
        </a:xfrm>
      </p:grpSpPr>
      <p:sp>
        <p:nvSpPr>
          <p:cNvPr id="14" name="矩形 13"/>
          <p:cNvSpPr/>
          <p:nvPr/>
        </p:nvSpPr>
        <p:spPr>
          <a:xfrm>
            <a:off x="0" y="2222695"/>
            <a:ext cx="12192000" cy="4635305"/>
          </a:xfrm>
          <a:prstGeom prst="rect">
            <a:avLst/>
          </a:prstGeom>
          <a:solidFill>
            <a:srgbClr val="FDFE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8314" y="1028229"/>
            <a:ext cx="3396589" cy="4801542"/>
          </a:xfrm>
          <a:prstGeom prst="rect">
            <a:avLst/>
          </a:prstGeom>
          <a:effectLst>
            <a:outerShdw blurRad="50800" dist="127000" dir="2700000" algn="tl" rotWithShape="0">
              <a:prstClr val="black">
                <a:alpha val="40000"/>
              </a:prstClr>
            </a:outerShdw>
          </a:effectLst>
        </p:spPr>
      </p:pic>
      <p:sp>
        <p:nvSpPr>
          <p:cNvPr id="6" name="文本框 5"/>
          <p:cNvSpPr txBox="1"/>
          <p:nvPr/>
        </p:nvSpPr>
        <p:spPr>
          <a:xfrm>
            <a:off x="6096000" y="1028228"/>
            <a:ext cx="5495778" cy="2215991"/>
          </a:xfrm>
          <a:prstGeom prst="rect">
            <a:avLst/>
          </a:prstGeom>
          <a:noFill/>
        </p:spPr>
        <p:txBody>
          <a:bodyPr wrap="square" rtlCol="0">
            <a:spAutoFit/>
          </a:bodyPr>
          <a:lstStyle/>
          <a:p>
            <a:r>
              <a:rPr lang="zh-CN" altLang="en-US" sz="13800" dirty="0" smtClean="0">
                <a:solidFill>
                  <a:srgbClr val="FDFEF9"/>
                </a:solidFill>
                <a:latin typeface="华康俪金黑W8" panose="020B0809000000000000" pitchFamily="49" charset="-122"/>
                <a:ea typeface="华康俪金黑W8" panose="020B0809000000000000" pitchFamily="49" charset="-122"/>
              </a:rPr>
              <a:t>潜规则</a:t>
            </a:r>
            <a:endParaRPr lang="zh-CN" altLang="en-US" sz="13800" dirty="0">
              <a:solidFill>
                <a:srgbClr val="FDFEF9"/>
              </a:solidFill>
              <a:latin typeface="华康俪金黑W8" panose="020B0809000000000000" pitchFamily="49" charset="-122"/>
              <a:ea typeface="华康俪金黑W8" panose="020B0809000000000000" pitchFamily="49" charset="-122"/>
            </a:endParaRPr>
          </a:p>
        </p:txBody>
      </p:sp>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l="13005" t="45203" r="13071" b="27807"/>
          <a:stretch/>
        </p:blipFill>
        <p:spPr>
          <a:xfrm>
            <a:off x="6091310" y="2208628"/>
            <a:ext cx="5444197" cy="998806"/>
          </a:xfrm>
          <a:prstGeom prst="rect">
            <a:avLst/>
          </a:prstGeom>
        </p:spPr>
      </p:pic>
      <p:sp>
        <p:nvSpPr>
          <p:cNvPr id="11" name="文本框 10"/>
          <p:cNvSpPr txBox="1"/>
          <p:nvPr/>
        </p:nvSpPr>
        <p:spPr>
          <a:xfrm>
            <a:off x="6362163" y="4125335"/>
            <a:ext cx="5048519" cy="769441"/>
          </a:xfrm>
          <a:prstGeom prst="rect">
            <a:avLst/>
          </a:prstGeom>
          <a:noFill/>
        </p:spPr>
        <p:txBody>
          <a:bodyPr wrap="square" rtlCol="0">
            <a:spAutoFit/>
          </a:bodyPr>
          <a:lstStyle/>
          <a:p>
            <a:r>
              <a:rPr lang="zh-CN" altLang="en-US" sz="4400" b="1" dirty="0">
                <a:solidFill>
                  <a:srgbClr val="3E494F"/>
                </a:solidFill>
                <a:latin typeface="微软雅黑" panose="020B0503020204020204" pitchFamily="34" charset="-122"/>
                <a:ea typeface="微软雅黑" panose="020B0503020204020204" pitchFamily="34" charset="-122"/>
              </a:rPr>
              <a:t>入选</a:t>
            </a:r>
            <a:r>
              <a:rPr lang="zh-CN" altLang="en-US" sz="4400" b="1" dirty="0" smtClean="0">
                <a:solidFill>
                  <a:srgbClr val="3E494F"/>
                </a:solidFill>
                <a:latin typeface="微软雅黑" panose="020B0503020204020204" pitchFamily="34" charset="-122"/>
                <a:ea typeface="微软雅黑" panose="020B0503020204020204" pitchFamily="34" charset="-122"/>
              </a:rPr>
              <a:t>“</a:t>
            </a:r>
            <a:r>
              <a:rPr lang="en-US" altLang="zh-CN" sz="4400" b="1" dirty="0" smtClean="0">
                <a:solidFill>
                  <a:srgbClr val="3E494F"/>
                </a:solidFill>
                <a:latin typeface="微软雅黑" panose="020B0503020204020204" pitchFamily="34" charset="-122"/>
                <a:ea typeface="微软雅黑" panose="020B0503020204020204" pitchFamily="34" charset="-122"/>
              </a:rPr>
              <a:t>30</a:t>
            </a:r>
            <a:r>
              <a:rPr lang="zh-CN" altLang="en-US" sz="4400" b="1" dirty="0" smtClean="0">
                <a:solidFill>
                  <a:srgbClr val="3E494F"/>
                </a:solidFill>
                <a:latin typeface="微软雅黑" panose="020B0503020204020204" pitchFamily="34" charset="-122"/>
                <a:ea typeface="微软雅黑" panose="020B0503020204020204" pitchFamily="34" charset="-122"/>
              </a:rPr>
              <a:t>年</a:t>
            </a:r>
            <a:r>
              <a:rPr lang="en-US" altLang="zh-CN" sz="4400" b="1" dirty="0" smtClean="0">
                <a:solidFill>
                  <a:srgbClr val="3E494F"/>
                </a:solidFill>
                <a:latin typeface="微软雅黑" panose="020B0503020204020204" pitchFamily="34" charset="-122"/>
                <a:ea typeface="微软雅黑" panose="020B0503020204020204" pitchFamily="34" charset="-122"/>
              </a:rPr>
              <a:t>30</a:t>
            </a:r>
            <a:r>
              <a:rPr lang="zh-CN" altLang="en-US" sz="4400" b="1" dirty="0" smtClean="0">
                <a:solidFill>
                  <a:srgbClr val="3E494F"/>
                </a:solidFill>
                <a:latin typeface="微软雅黑" panose="020B0503020204020204" pitchFamily="34" charset="-122"/>
                <a:ea typeface="微软雅黑" panose="020B0503020204020204" pitchFamily="34" charset="-122"/>
              </a:rPr>
              <a:t>本书”</a:t>
            </a:r>
            <a:endParaRPr lang="zh-CN" altLang="en-US" sz="4400" b="1" dirty="0">
              <a:solidFill>
                <a:srgbClr val="3E494F"/>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6503039" y="3361611"/>
            <a:ext cx="4765975" cy="646331"/>
          </a:xfrm>
          <a:prstGeom prst="rect">
            <a:avLst/>
          </a:prstGeom>
          <a:noFill/>
        </p:spPr>
        <p:txBody>
          <a:bodyPr wrap="square" rtlCol="0">
            <a:spAutoFit/>
          </a:bodyPr>
          <a:lstStyle/>
          <a:p>
            <a:r>
              <a:rPr lang="zh-CN" altLang="en-US" sz="3600" b="1" dirty="0" smtClean="0">
                <a:solidFill>
                  <a:srgbClr val="981F21"/>
                </a:solidFill>
                <a:latin typeface="微软雅黑" panose="020B0503020204020204" pitchFamily="34" charset="-122"/>
                <a:ea typeface="微软雅黑" panose="020B0503020204020204" pitchFamily="34" charset="-122"/>
              </a:rPr>
              <a:t>中国历史中的真实游戏</a:t>
            </a:r>
            <a:endParaRPr lang="zh-CN" altLang="en-US" sz="3600" b="1" dirty="0">
              <a:solidFill>
                <a:srgbClr val="981F21"/>
              </a:solidFill>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9155" b="100000" l="0" r="58808">
                        <a14:foregroundMark x1="38211" y1="56338" x2="38211" y2="56338"/>
                        <a14:foregroundMark x1="33333" y1="52817" x2="33333" y2="52817"/>
                        <a14:foregroundMark x1="47154" y1="45070" x2="36585" y2="85211"/>
                        <a14:foregroundMark x1="47154" y1="40141" x2="49322" y2="91549"/>
                        <a14:foregroundMark x1="52575" y1="39437" x2="54201" y2="85915"/>
                        <a14:foregroundMark x1="56098" y1="47183" x2="56098" y2="83099"/>
                        <a14:foregroundMark x1="46341" y1="34507" x2="23306" y2="89437"/>
                        <a14:foregroundMark x1="28184" y1="49296" x2="54201" y2="88732"/>
                        <a14:foregroundMark x1="27913" y1="38732" x2="38482" y2="53521"/>
                      </a14:backgroundRemoval>
                    </a14:imgEffect>
                  </a14:imgLayer>
                </a14:imgProps>
              </a:ext>
              <a:ext uri="{28A0092B-C50C-407E-A947-70E740481C1C}">
                <a14:useLocalDpi xmlns:a14="http://schemas.microsoft.com/office/drawing/2010/main" val="0"/>
              </a:ext>
            </a:extLst>
          </a:blip>
          <a:srcRect l="601" t="29189" r="38892" b="-780"/>
          <a:stretch/>
        </p:blipFill>
        <p:spPr>
          <a:xfrm>
            <a:off x="3725242" y="5052820"/>
            <a:ext cx="2835521" cy="1291065"/>
          </a:xfrm>
          <a:prstGeom prst="rect">
            <a:avLst/>
          </a:prstGeom>
        </p:spPr>
      </p:pic>
    </p:spTree>
    <p:extLst>
      <p:ext uri="{BB962C8B-B14F-4D97-AF65-F5344CB8AC3E}">
        <p14:creationId xmlns:p14="http://schemas.microsoft.com/office/powerpoint/2010/main" val="34517955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989256" y="-1"/>
            <a:ext cx="3207428" cy="6881811"/>
          </a:xfrm>
          <a:prstGeom prst="rect">
            <a:avLst/>
          </a:prstGeom>
        </p:spPr>
      </p:pic>
      <p:sp>
        <p:nvSpPr>
          <p:cNvPr id="6" name="矩形 5"/>
          <p:cNvSpPr/>
          <p:nvPr/>
        </p:nvSpPr>
        <p:spPr>
          <a:xfrm>
            <a:off x="-1" y="0"/>
            <a:ext cx="2686929" cy="6858000"/>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09488" y="323556"/>
            <a:ext cx="6682153" cy="1015663"/>
          </a:xfrm>
          <a:prstGeom prst="rect">
            <a:avLst/>
          </a:prstGeom>
          <a:noFill/>
        </p:spPr>
        <p:txBody>
          <a:bodyPr wrap="square" rtlCol="0">
            <a:spAutoFit/>
          </a:bodyPr>
          <a:lstStyle/>
          <a:p>
            <a:r>
              <a:rPr lang="zh-CN" altLang="en-US" sz="6000" dirty="0" smtClean="0">
                <a:solidFill>
                  <a:schemeClr val="bg1"/>
                </a:solidFill>
                <a:latin typeface="华康俪金黑W8" panose="020B0809000000000000" pitchFamily="49" charset="-122"/>
                <a:ea typeface="华康俪金黑W8" panose="020B0809000000000000" pitchFamily="49" charset="-122"/>
              </a:rPr>
              <a:t>什么是</a:t>
            </a:r>
            <a:r>
              <a:rPr lang="zh-CN" altLang="en-US" sz="6000" dirty="0" smtClean="0">
                <a:solidFill>
                  <a:srgbClr val="981F21"/>
                </a:solidFill>
                <a:latin typeface="华康俪金黑W8" panose="020B0809000000000000" pitchFamily="49" charset="-122"/>
                <a:ea typeface="华康俪金黑W8" panose="020B0809000000000000" pitchFamily="49" charset="-122"/>
              </a:rPr>
              <a:t>潜规则？</a:t>
            </a:r>
            <a:endParaRPr lang="zh-CN" altLang="en-US" sz="6000" dirty="0">
              <a:solidFill>
                <a:srgbClr val="981F21"/>
              </a:solidFill>
              <a:latin typeface="华康俪金黑W8" panose="020B0809000000000000" pitchFamily="49" charset="-122"/>
              <a:ea typeface="华康俪金黑W8" panose="020B0809000000000000" pitchFamily="49" charset="-122"/>
            </a:endParaRPr>
          </a:p>
        </p:txBody>
      </p:sp>
      <p:sp>
        <p:nvSpPr>
          <p:cNvPr id="7" name="文本框 6"/>
          <p:cNvSpPr txBox="1"/>
          <p:nvPr/>
        </p:nvSpPr>
        <p:spPr>
          <a:xfrm>
            <a:off x="2588454" y="2802486"/>
            <a:ext cx="7498080" cy="1015663"/>
          </a:xfrm>
          <a:prstGeom prst="rect">
            <a:avLst/>
          </a:prstGeom>
          <a:noFill/>
        </p:spPr>
        <p:txBody>
          <a:bodyPr wrap="square" rtlCol="0">
            <a:spAutoFit/>
          </a:bodyPr>
          <a:lstStyle/>
          <a:p>
            <a:r>
              <a:rPr lang="zh-CN" altLang="en-US" sz="6000" b="1" dirty="0" smtClean="0">
                <a:solidFill>
                  <a:srgbClr val="981F21"/>
                </a:solidFill>
                <a:latin typeface="微软雅黑" panose="020B0503020204020204" pitchFamily="34" charset="-122"/>
                <a:ea typeface="微软雅黑" panose="020B0503020204020204" pitchFamily="34" charset="-122"/>
              </a:rPr>
              <a:t>势</a:t>
            </a:r>
            <a:r>
              <a:rPr lang="zh-CN" altLang="en-US" sz="4400" b="1" dirty="0" smtClean="0">
                <a:solidFill>
                  <a:srgbClr val="3E494F"/>
                </a:solidFill>
                <a:latin typeface="微软雅黑" panose="020B0503020204020204" pitchFamily="34" charset="-122"/>
                <a:ea typeface="微软雅黑" panose="020B0503020204020204" pitchFamily="34" charset="-122"/>
              </a:rPr>
              <a:t>之所至，潜规则</a:t>
            </a:r>
            <a:r>
              <a:rPr lang="zh-CN" altLang="en-US" sz="6000" b="1" dirty="0" smtClean="0">
                <a:solidFill>
                  <a:srgbClr val="981F21"/>
                </a:solidFill>
                <a:latin typeface="微软雅黑" panose="020B0503020204020204" pitchFamily="34" charset="-122"/>
                <a:ea typeface="微软雅黑" panose="020B0503020204020204" pitchFamily="34" charset="-122"/>
              </a:rPr>
              <a:t>生</a:t>
            </a:r>
            <a:r>
              <a:rPr lang="zh-CN" altLang="en-US" sz="4400" b="1" dirty="0" smtClean="0">
                <a:solidFill>
                  <a:srgbClr val="3E494F"/>
                </a:solidFill>
                <a:latin typeface="微软雅黑" panose="020B0503020204020204" pitchFamily="34" charset="-122"/>
                <a:ea typeface="微软雅黑" panose="020B0503020204020204" pitchFamily="34" charset="-122"/>
              </a:rPr>
              <a:t>焉</a:t>
            </a:r>
            <a:r>
              <a:rPr lang="zh-CN" altLang="en-US" sz="4800" b="1" dirty="0" smtClean="0">
                <a:solidFill>
                  <a:srgbClr val="3E494F"/>
                </a:solidFill>
                <a:latin typeface="微软雅黑" panose="020B0503020204020204" pitchFamily="34" charset="-122"/>
                <a:ea typeface="微软雅黑" panose="020B0503020204020204" pitchFamily="34" charset="-122"/>
              </a:rPr>
              <a:t>。</a:t>
            </a:r>
            <a:endParaRPr lang="zh-CN" altLang="en-US" sz="4800" b="1" dirty="0">
              <a:solidFill>
                <a:srgbClr val="3E494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202258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0"/>
            <a:ext cx="2686929" cy="6858000"/>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09488" y="323556"/>
            <a:ext cx="6682153" cy="1015663"/>
          </a:xfrm>
          <a:prstGeom prst="rect">
            <a:avLst/>
          </a:prstGeom>
          <a:noFill/>
        </p:spPr>
        <p:txBody>
          <a:bodyPr wrap="square" rtlCol="0">
            <a:spAutoFit/>
          </a:bodyPr>
          <a:lstStyle/>
          <a:p>
            <a:r>
              <a:rPr lang="zh-CN" altLang="en-US" sz="6000" dirty="0" smtClean="0">
                <a:solidFill>
                  <a:schemeClr val="bg1"/>
                </a:solidFill>
                <a:latin typeface="华康俪金黑W8" panose="020B0809000000000000" pitchFamily="49" charset="-122"/>
                <a:ea typeface="华康俪金黑W8" panose="020B0809000000000000" pitchFamily="49" charset="-122"/>
              </a:rPr>
              <a:t>什么是</a:t>
            </a:r>
            <a:r>
              <a:rPr lang="zh-CN" altLang="en-US" sz="6000" dirty="0" smtClean="0">
                <a:solidFill>
                  <a:srgbClr val="981F21"/>
                </a:solidFill>
                <a:latin typeface="华康俪金黑W8" panose="020B0809000000000000" pitchFamily="49" charset="-122"/>
                <a:ea typeface="华康俪金黑W8" panose="020B0809000000000000" pitchFamily="49" charset="-122"/>
              </a:rPr>
              <a:t>潜规则？</a:t>
            </a:r>
            <a:endParaRPr lang="zh-CN" altLang="en-US" sz="6000" dirty="0">
              <a:solidFill>
                <a:srgbClr val="981F21"/>
              </a:solidFill>
              <a:latin typeface="华康俪金黑W8" panose="020B0809000000000000" pitchFamily="49" charset="-122"/>
              <a:ea typeface="华康俪金黑W8" panose="020B0809000000000000" pitchFamily="49" charset="-122"/>
            </a:endParaRPr>
          </a:p>
        </p:txBody>
      </p:sp>
      <p:sp>
        <p:nvSpPr>
          <p:cNvPr id="2" name="矩形 1"/>
          <p:cNvSpPr/>
          <p:nvPr/>
        </p:nvSpPr>
        <p:spPr>
          <a:xfrm>
            <a:off x="2686928" y="1520179"/>
            <a:ext cx="6077244" cy="4811574"/>
          </a:xfrm>
          <a:prstGeom prst="rect">
            <a:avLst/>
          </a:prstGeom>
        </p:spPr>
        <p:txBody>
          <a:bodyPr wrap="square">
            <a:spAutoFit/>
          </a:bodyPr>
          <a:lstStyle/>
          <a:p>
            <a:pPr marL="285750" indent="-285750" algn="just">
              <a:lnSpc>
                <a:spcPct val="120000"/>
              </a:lnSpc>
              <a:spcBef>
                <a:spcPts val="1000"/>
              </a:spcBef>
              <a:spcAft>
                <a:spcPts val="1000"/>
              </a:spcAft>
              <a:buFont typeface="Wingdings" panose="05000000000000000000" pitchFamily="2" charset="2"/>
              <a:buChar char="u"/>
            </a:pPr>
            <a:r>
              <a:rPr lang="zh-CN" altLang="en-US" sz="2000" b="0" i="0" dirty="0" smtClean="0">
                <a:solidFill>
                  <a:srgbClr val="3B464C"/>
                </a:solidFill>
                <a:effectLst/>
                <a:latin typeface="微软雅黑" panose="020B0503020204020204" pitchFamily="34" charset="-122"/>
                <a:ea typeface="微软雅黑" panose="020B0503020204020204" pitchFamily="34" charset="-122"/>
              </a:rPr>
              <a:t>人们</a:t>
            </a:r>
            <a:r>
              <a:rPr lang="zh-CN" altLang="en-US" sz="2000" b="1" i="0" dirty="0" smtClean="0">
                <a:solidFill>
                  <a:srgbClr val="981F21"/>
                </a:solidFill>
                <a:effectLst/>
                <a:latin typeface="微软雅黑" panose="020B0503020204020204" pitchFamily="34" charset="-122"/>
                <a:ea typeface="微软雅黑" panose="020B0503020204020204" pitchFamily="34" charset="-122"/>
              </a:rPr>
              <a:t>私下认可</a:t>
            </a:r>
            <a:r>
              <a:rPr lang="zh-CN" altLang="en-US" sz="2000" b="0" i="0" dirty="0" smtClean="0">
                <a:solidFill>
                  <a:srgbClr val="3B464C"/>
                </a:solidFill>
                <a:effectLst/>
                <a:latin typeface="微软雅黑" panose="020B0503020204020204" pitchFamily="34" charset="-122"/>
                <a:ea typeface="微软雅黑" panose="020B0503020204020204" pitchFamily="34" charset="-122"/>
              </a:rPr>
              <a:t>的行为约束； </a:t>
            </a:r>
            <a:endParaRPr lang="en-US" altLang="zh-CN" sz="2000" b="0" i="0" dirty="0" smtClean="0">
              <a:solidFill>
                <a:srgbClr val="3B464C"/>
              </a:solidFill>
              <a:effectLst/>
              <a:latin typeface="微软雅黑" panose="020B0503020204020204" pitchFamily="34" charset="-122"/>
              <a:ea typeface="微软雅黑" panose="020B0503020204020204" pitchFamily="34" charset="-122"/>
            </a:endParaRPr>
          </a:p>
          <a:p>
            <a:pPr marL="285750" indent="-285750" algn="just">
              <a:lnSpc>
                <a:spcPct val="120000"/>
              </a:lnSpc>
              <a:spcBef>
                <a:spcPts val="1000"/>
              </a:spcBef>
              <a:spcAft>
                <a:spcPts val="1000"/>
              </a:spcAft>
              <a:buFont typeface="Wingdings" panose="05000000000000000000" pitchFamily="2" charset="2"/>
              <a:buChar char="u"/>
            </a:pPr>
            <a:r>
              <a:rPr lang="zh-CN" altLang="en-US" sz="2000" b="0" i="0" dirty="0" smtClean="0">
                <a:solidFill>
                  <a:srgbClr val="3B464C"/>
                </a:solidFill>
                <a:effectLst/>
                <a:latin typeface="微软雅黑" panose="020B0503020204020204" pitchFamily="34" charset="-122"/>
                <a:ea typeface="微软雅黑" panose="020B0503020204020204" pitchFamily="34" charset="-122"/>
              </a:rPr>
              <a:t>在社会行为主体的互动中</a:t>
            </a:r>
            <a:r>
              <a:rPr lang="zh-CN" altLang="en-US" sz="2000" b="1" i="0" dirty="0" smtClean="0">
                <a:solidFill>
                  <a:srgbClr val="981F21"/>
                </a:solidFill>
                <a:effectLst/>
                <a:latin typeface="微软雅黑" panose="020B0503020204020204" pitchFamily="34" charset="-122"/>
                <a:ea typeface="微软雅黑" panose="020B0503020204020204" pitchFamily="34" charset="-122"/>
              </a:rPr>
              <a:t>自发生成</a:t>
            </a:r>
            <a:r>
              <a:rPr lang="zh-CN" altLang="en-US" sz="2000" b="0" i="0" dirty="0" smtClean="0">
                <a:solidFill>
                  <a:srgbClr val="3B464C"/>
                </a:solidFill>
                <a:effectLst/>
                <a:latin typeface="微软雅黑" panose="020B0503020204020204" pitchFamily="34" charset="-122"/>
                <a:ea typeface="微软雅黑" panose="020B0503020204020204" pitchFamily="34" charset="-122"/>
              </a:rPr>
              <a:t>，可以使互动各方的冲突减少，交易成本降低；</a:t>
            </a:r>
            <a:endParaRPr lang="en-US" altLang="zh-CN" sz="2000" b="0" i="0" dirty="0" smtClean="0">
              <a:solidFill>
                <a:srgbClr val="3B464C"/>
              </a:solidFill>
              <a:effectLst/>
              <a:latin typeface="微软雅黑" panose="020B0503020204020204" pitchFamily="34" charset="-122"/>
              <a:ea typeface="微软雅黑" panose="020B0503020204020204" pitchFamily="34" charset="-122"/>
            </a:endParaRPr>
          </a:p>
          <a:p>
            <a:pPr marL="285750" indent="-285750" algn="just">
              <a:lnSpc>
                <a:spcPct val="120000"/>
              </a:lnSpc>
              <a:spcBef>
                <a:spcPts val="1000"/>
              </a:spcBef>
              <a:spcAft>
                <a:spcPts val="1000"/>
              </a:spcAft>
              <a:buFont typeface="Wingdings" panose="05000000000000000000" pitchFamily="2" charset="2"/>
              <a:buChar char="u"/>
            </a:pPr>
            <a:r>
              <a:rPr lang="zh-CN" altLang="en-US" sz="2000" b="0" i="0" dirty="0" smtClean="0">
                <a:solidFill>
                  <a:srgbClr val="3B464C"/>
                </a:solidFill>
                <a:effectLst/>
                <a:latin typeface="微软雅黑" panose="020B0503020204020204" pitchFamily="34" charset="-122"/>
                <a:ea typeface="微软雅黑" panose="020B0503020204020204" pitchFamily="34" charset="-122"/>
              </a:rPr>
              <a:t>行为越界必将招致报复，强化了互动各方对彼此行为的预期</a:t>
            </a:r>
            <a:r>
              <a:rPr lang="zh-CN" altLang="en-US" sz="2000" b="1" i="0" dirty="0" smtClean="0">
                <a:solidFill>
                  <a:srgbClr val="981F21"/>
                </a:solidFill>
                <a:effectLst/>
                <a:latin typeface="微软雅黑" panose="020B0503020204020204" pitchFamily="34" charset="-122"/>
                <a:ea typeface="微软雅黑" panose="020B0503020204020204" pitchFamily="34" charset="-122"/>
              </a:rPr>
              <a:t>稳定性</a:t>
            </a:r>
            <a:r>
              <a:rPr lang="zh-CN" altLang="en-US" sz="2000" b="0" i="0" dirty="0" smtClean="0">
                <a:solidFill>
                  <a:srgbClr val="3B464C"/>
                </a:solidFill>
                <a:effectLst/>
                <a:latin typeface="微软雅黑" panose="020B0503020204020204" pitchFamily="34" charset="-122"/>
                <a:ea typeface="微软雅黑" panose="020B0503020204020204" pitchFamily="34" charset="-122"/>
              </a:rPr>
              <a:t>；</a:t>
            </a:r>
            <a:endParaRPr lang="en-US" altLang="zh-CN" sz="2000" b="0" i="0" dirty="0" smtClean="0">
              <a:solidFill>
                <a:srgbClr val="3B464C"/>
              </a:solidFill>
              <a:effectLst/>
              <a:latin typeface="微软雅黑" panose="020B0503020204020204" pitchFamily="34" charset="-122"/>
              <a:ea typeface="微软雅黑" panose="020B0503020204020204" pitchFamily="34" charset="-122"/>
            </a:endParaRPr>
          </a:p>
          <a:p>
            <a:pPr marL="285750" indent="-285750" algn="just">
              <a:lnSpc>
                <a:spcPct val="120000"/>
              </a:lnSpc>
              <a:spcBef>
                <a:spcPts val="1000"/>
              </a:spcBef>
              <a:spcAft>
                <a:spcPts val="1000"/>
              </a:spcAft>
              <a:buFont typeface="Wingdings" panose="05000000000000000000" pitchFamily="2" charset="2"/>
              <a:buChar char="u"/>
            </a:pPr>
            <a:r>
              <a:rPr lang="zh-CN" altLang="en-US" sz="2000" i="0" dirty="0" smtClean="0">
                <a:solidFill>
                  <a:srgbClr val="3E494F"/>
                </a:solidFill>
                <a:effectLst/>
                <a:latin typeface="微软雅黑" panose="020B0503020204020204" pitchFamily="34" charset="-122"/>
                <a:ea typeface="微软雅黑" panose="020B0503020204020204" pitchFamily="34" charset="-122"/>
              </a:rPr>
              <a:t>背离了</a:t>
            </a:r>
            <a:r>
              <a:rPr lang="zh-CN" altLang="en-US" sz="2000" b="0" i="0" dirty="0" smtClean="0">
                <a:solidFill>
                  <a:srgbClr val="3B464C"/>
                </a:solidFill>
                <a:effectLst/>
                <a:latin typeface="微软雅黑" panose="020B0503020204020204" pitchFamily="34" charset="-122"/>
                <a:ea typeface="微软雅黑" panose="020B0503020204020204" pitchFamily="34" charset="-122"/>
              </a:rPr>
              <a:t>正义观念或正式制度的规定，</a:t>
            </a:r>
            <a:r>
              <a:rPr lang="zh-CN" altLang="en-US" sz="2000" b="1" i="0" dirty="0" smtClean="0">
                <a:solidFill>
                  <a:srgbClr val="981F21"/>
                </a:solidFill>
                <a:effectLst/>
                <a:latin typeface="微软雅黑" panose="020B0503020204020204" pitchFamily="34" charset="-122"/>
                <a:ea typeface="微软雅黑" panose="020B0503020204020204" pitchFamily="34" charset="-122"/>
              </a:rPr>
              <a:t>侵犯</a:t>
            </a:r>
            <a:r>
              <a:rPr lang="zh-CN" altLang="en-US" sz="2000" b="0" i="0" dirty="0" smtClean="0">
                <a:solidFill>
                  <a:srgbClr val="3B464C"/>
                </a:solidFill>
                <a:effectLst/>
                <a:latin typeface="微软雅黑" panose="020B0503020204020204" pitchFamily="34" charset="-122"/>
                <a:ea typeface="微软雅黑" panose="020B0503020204020204" pitchFamily="34" charset="-122"/>
              </a:rPr>
              <a:t>了主流意识形态或正式制度所</a:t>
            </a:r>
            <a:r>
              <a:rPr lang="zh-CN" altLang="en-US" sz="2000" b="1" i="0" dirty="0" smtClean="0">
                <a:solidFill>
                  <a:srgbClr val="981F21"/>
                </a:solidFill>
                <a:effectLst/>
                <a:latin typeface="微软雅黑" panose="020B0503020204020204" pitchFamily="34" charset="-122"/>
                <a:ea typeface="微软雅黑" panose="020B0503020204020204" pitchFamily="34" charset="-122"/>
              </a:rPr>
              <a:t>维护的利益</a:t>
            </a:r>
            <a:r>
              <a:rPr lang="zh-CN" altLang="en-US" sz="2000" b="0" i="0" dirty="0" smtClean="0">
                <a:solidFill>
                  <a:srgbClr val="3B464C"/>
                </a:solidFill>
                <a:effectLst/>
                <a:latin typeface="微软雅黑" panose="020B0503020204020204" pitchFamily="34" charset="-122"/>
                <a:ea typeface="微软雅黑" panose="020B0503020204020204" pitchFamily="34" charset="-122"/>
              </a:rPr>
              <a:t>；</a:t>
            </a:r>
            <a:endParaRPr lang="en-US" altLang="zh-CN" sz="2000" b="0" i="0" dirty="0" smtClean="0">
              <a:solidFill>
                <a:srgbClr val="3B464C"/>
              </a:solidFill>
              <a:effectLst/>
              <a:latin typeface="微软雅黑" panose="020B0503020204020204" pitchFamily="34" charset="-122"/>
              <a:ea typeface="微软雅黑" panose="020B0503020204020204" pitchFamily="34" charset="-122"/>
            </a:endParaRPr>
          </a:p>
          <a:p>
            <a:pPr marL="285750" indent="-285750" algn="just">
              <a:lnSpc>
                <a:spcPct val="120000"/>
              </a:lnSpc>
              <a:spcBef>
                <a:spcPts val="1000"/>
              </a:spcBef>
              <a:spcAft>
                <a:spcPts val="1000"/>
              </a:spcAft>
              <a:buFont typeface="Wingdings" panose="05000000000000000000" pitchFamily="2" charset="2"/>
              <a:buChar char="u"/>
            </a:pPr>
            <a:r>
              <a:rPr lang="zh-CN" altLang="en-US" sz="2000" b="0" i="0" dirty="0" smtClean="0">
                <a:solidFill>
                  <a:srgbClr val="3B464C"/>
                </a:solidFill>
                <a:effectLst/>
                <a:latin typeface="微软雅黑" panose="020B0503020204020204" pitchFamily="34" charset="-122"/>
                <a:ea typeface="微软雅黑" panose="020B0503020204020204" pitchFamily="34" charset="-122"/>
              </a:rPr>
              <a:t>当事人将正式规则的代表屏蔽于局部互动之外或者拉入私下交易之中，</a:t>
            </a:r>
            <a:r>
              <a:rPr lang="zh-CN" altLang="en-US" sz="2000" b="1" i="0" dirty="0" smtClean="0">
                <a:solidFill>
                  <a:srgbClr val="981F21"/>
                </a:solidFill>
                <a:effectLst/>
                <a:latin typeface="微软雅黑" panose="020B0503020204020204" pitchFamily="34" charset="-122"/>
                <a:ea typeface="微软雅黑" panose="020B0503020204020204" pitchFamily="34" charset="-122"/>
              </a:rPr>
              <a:t>获取</a:t>
            </a:r>
            <a:r>
              <a:rPr lang="zh-CN" altLang="en-US" sz="2000" b="0" i="0" dirty="0" smtClean="0">
                <a:solidFill>
                  <a:srgbClr val="3B464C"/>
                </a:solidFill>
                <a:effectLst/>
                <a:latin typeface="微软雅黑" panose="020B0503020204020204" pitchFamily="34" charset="-122"/>
                <a:ea typeface="微软雅黑" panose="020B0503020204020204" pitchFamily="34" charset="-122"/>
              </a:rPr>
              <a:t>正式规则所不能提供的</a:t>
            </a:r>
            <a:r>
              <a:rPr lang="zh-CN" altLang="en-US" sz="2000" b="1" i="0" dirty="0" smtClean="0">
                <a:solidFill>
                  <a:srgbClr val="981F21"/>
                </a:solidFill>
                <a:effectLst/>
                <a:latin typeface="微软雅黑" panose="020B0503020204020204" pitchFamily="34" charset="-122"/>
                <a:ea typeface="微软雅黑" panose="020B0503020204020204" pitchFamily="34" charset="-122"/>
              </a:rPr>
              <a:t>利益</a:t>
            </a:r>
            <a:r>
              <a:rPr lang="zh-CN" altLang="en-US" sz="2000" b="0" i="0" dirty="0" smtClean="0">
                <a:solidFill>
                  <a:srgbClr val="3B464C"/>
                </a:solidFill>
                <a:effectLst/>
                <a:latin typeface="微软雅黑" panose="020B0503020204020204" pitchFamily="34" charset="-122"/>
                <a:ea typeface="微软雅黑" panose="020B0503020204020204" pitchFamily="34" charset="-122"/>
              </a:rPr>
              <a:t>。</a:t>
            </a:r>
            <a:endParaRPr lang="zh-CN" altLang="en-US" sz="2000" dirty="0">
              <a:solidFill>
                <a:srgbClr val="3B464C"/>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9003323" y="0"/>
            <a:ext cx="3188677" cy="6858000"/>
          </a:xfrm>
          <a:prstGeom prst="rect">
            <a:avLst/>
          </a:prstGeom>
        </p:spPr>
      </p:pic>
    </p:spTree>
    <p:extLst>
      <p:ext uri="{BB962C8B-B14F-4D97-AF65-F5344CB8AC3E}">
        <p14:creationId xmlns:p14="http://schemas.microsoft.com/office/powerpoint/2010/main" val="31868235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0"/>
            <a:ext cx="2686929" cy="6858000"/>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09488" y="323556"/>
            <a:ext cx="6682153" cy="1015663"/>
          </a:xfrm>
          <a:prstGeom prst="rect">
            <a:avLst/>
          </a:prstGeom>
          <a:noFill/>
        </p:spPr>
        <p:txBody>
          <a:bodyPr wrap="square" rtlCol="0">
            <a:spAutoFit/>
          </a:bodyPr>
          <a:lstStyle/>
          <a:p>
            <a:r>
              <a:rPr lang="zh-CN" altLang="en-US" sz="6000" dirty="0" smtClean="0">
                <a:solidFill>
                  <a:schemeClr val="bg1"/>
                </a:solidFill>
                <a:latin typeface="华康俪金黑W8" panose="020B0809000000000000" pitchFamily="49" charset="-122"/>
                <a:ea typeface="华康俪金黑W8" panose="020B0809000000000000" pitchFamily="49" charset="-122"/>
              </a:rPr>
              <a:t>有哪些</a:t>
            </a:r>
            <a:r>
              <a:rPr lang="zh-CN" altLang="en-US" sz="6000" dirty="0" smtClean="0">
                <a:solidFill>
                  <a:srgbClr val="981F21"/>
                </a:solidFill>
                <a:latin typeface="华康俪金黑W8" panose="020B0809000000000000" pitchFamily="49" charset="-122"/>
                <a:ea typeface="华康俪金黑W8" panose="020B0809000000000000" pitchFamily="49" charset="-122"/>
              </a:rPr>
              <a:t>潜规则？</a:t>
            </a:r>
            <a:endParaRPr lang="zh-CN" altLang="en-US" sz="6000" dirty="0">
              <a:solidFill>
                <a:srgbClr val="981F21"/>
              </a:solidFill>
              <a:latin typeface="华康俪金黑W8" panose="020B0809000000000000" pitchFamily="49" charset="-122"/>
              <a:ea typeface="华康俪金黑W8" panose="020B0809000000000000" pitchFamily="49" charset="-122"/>
            </a:endParaRPr>
          </a:p>
        </p:txBody>
      </p:sp>
      <p:sp>
        <p:nvSpPr>
          <p:cNvPr id="5" name="文本框 4"/>
          <p:cNvSpPr txBox="1"/>
          <p:nvPr/>
        </p:nvSpPr>
        <p:spPr>
          <a:xfrm>
            <a:off x="3545058" y="2113169"/>
            <a:ext cx="5753687" cy="3303468"/>
          </a:xfrm>
          <a:prstGeom prst="rect">
            <a:avLst/>
          </a:prstGeom>
          <a:noFill/>
        </p:spPr>
        <p:txBody>
          <a:bodyPr wrap="square" rtlCol="0">
            <a:spAutoFit/>
          </a:bodyPr>
          <a:lstStyle/>
          <a:p>
            <a:pPr marL="685800" indent="-685800">
              <a:spcBef>
                <a:spcPts val="1400"/>
              </a:spcBef>
              <a:spcAft>
                <a:spcPts val="1400"/>
              </a:spcAft>
              <a:buFont typeface="Wingdings" panose="05000000000000000000" pitchFamily="2" charset="2"/>
              <a:buChar char="u"/>
            </a:pPr>
            <a:r>
              <a:rPr lang="zh-CN" altLang="en-US" sz="5400" b="1" dirty="0" smtClean="0">
                <a:solidFill>
                  <a:srgbClr val="3E494F"/>
                </a:solidFill>
                <a:latin typeface="微软雅黑" panose="020B0503020204020204" pitchFamily="34" charset="-122"/>
                <a:ea typeface="微软雅黑" panose="020B0503020204020204" pitchFamily="34" charset="-122"/>
              </a:rPr>
              <a:t>官员潜规则</a:t>
            </a:r>
            <a:endParaRPr lang="en-US" altLang="zh-CN" sz="5400" b="1" dirty="0">
              <a:solidFill>
                <a:srgbClr val="3E494F"/>
              </a:solidFill>
              <a:latin typeface="微软雅黑" panose="020B0503020204020204" pitchFamily="34" charset="-122"/>
              <a:ea typeface="微软雅黑" panose="020B0503020204020204" pitchFamily="34" charset="-122"/>
            </a:endParaRPr>
          </a:p>
          <a:p>
            <a:pPr marL="685800" indent="-685800">
              <a:spcBef>
                <a:spcPts val="1400"/>
              </a:spcBef>
              <a:spcAft>
                <a:spcPts val="1400"/>
              </a:spcAft>
              <a:buFont typeface="Wingdings" panose="05000000000000000000" pitchFamily="2" charset="2"/>
              <a:buChar char="u"/>
            </a:pPr>
            <a:r>
              <a:rPr lang="zh-CN" altLang="en-US" sz="5400" b="1" dirty="0" smtClean="0">
                <a:solidFill>
                  <a:srgbClr val="3E494F"/>
                </a:solidFill>
                <a:latin typeface="微软雅黑" panose="020B0503020204020204" pitchFamily="34" charset="-122"/>
                <a:ea typeface="微软雅黑" panose="020B0503020204020204" pitchFamily="34" charset="-122"/>
              </a:rPr>
              <a:t>平民潜规则</a:t>
            </a:r>
            <a:endParaRPr lang="en-US" altLang="zh-CN" sz="5400" b="1" dirty="0">
              <a:solidFill>
                <a:srgbClr val="3E494F"/>
              </a:solidFill>
              <a:latin typeface="微软雅黑" panose="020B0503020204020204" pitchFamily="34" charset="-122"/>
              <a:ea typeface="微软雅黑" panose="020B0503020204020204" pitchFamily="34" charset="-122"/>
            </a:endParaRPr>
          </a:p>
          <a:p>
            <a:pPr marL="685800" indent="-685800">
              <a:spcBef>
                <a:spcPts val="1400"/>
              </a:spcBef>
              <a:spcAft>
                <a:spcPts val="1400"/>
              </a:spcAft>
              <a:buFont typeface="Wingdings" panose="05000000000000000000" pitchFamily="2" charset="2"/>
              <a:buChar char="u"/>
            </a:pPr>
            <a:r>
              <a:rPr lang="zh-CN" altLang="en-US" sz="5400" b="1" dirty="0" smtClean="0">
                <a:solidFill>
                  <a:srgbClr val="3E494F"/>
                </a:solidFill>
                <a:latin typeface="微软雅黑" panose="020B0503020204020204" pitchFamily="34" charset="-122"/>
                <a:ea typeface="微软雅黑" panose="020B0503020204020204" pitchFamily="34" charset="-122"/>
              </a:rPr>
              <a:t>制度</a:t>
            </a:r>
            <a:r>
              <a:rPr lang="zh-CN" altLang="en-US" sz="5400" b="1" dirty="0">
                <a:solidFill>
                  <a:srgbClr val="3E494F"/>
                </a:solidFill>
                <a:latin typeface="微软雅黑" panose="020B0503020204020204" pitchFamily="34" charset="-122"/>
                <a:ea typeface="微软雅黑" panose="020B0503020204020204" pitchFamily="34" charset="-122"/>
              </a:rPr>
              <a:t>潜</a:t>
            </a:r>
            <a:r>
              <a:rPr lang="zh-CN" altLang="en-US" sz="5400" b="1" dirty="0" smtClean="0">
                <a:solidFill>
                  <a:srgbClr val="3E494F"/>
                </a:solidFill>
                <a:latin typeface="微软雅黑" panose="020B0503020204020204" pitchFamily="34" charset="-122"/>
                <a:ea typeface="微软雅黑" panose="020B0503020204020204" pitchFamily="34" charset="-122"/>
              </a:rPr>
              <a:t>规则</a:t>
            </a:r>
            <a:endParaRPr lang="en-US" altLang="zh-CN" sz="5400" b="1" dirty="0" smtClean="0">
              <a:solidFill>
                <a:srgbClr val="3E494F"/>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989255" y="0"/>
            <a:ext cx="3202745" cy="6858000"/>
          </a:xfrm>
          <a:prstGeom prst="rect">
            <a:avLst/>
          </a:prstGeom>
        </p:spPr>
      </p:pic>
    </p:spTree>
    <p:extLst>
      <p:ext uri="{BB962C8B-B14F-4D97-AF65-F5344CB8AC3E}">
        <p14:creationId xmlns:p14="http://schemas.microsoft.com/office/powerpoint/2010/main" val="41303569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0"/>
            <a:ext cx="2686929" cy="6858000"/>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069144" y="379827"/>
            <a:ext cx="4037429" cy="1015663"/>
          </a:xfrm>
          <a:prstGeom prst="rect">
            <a:avLst/>
          </a:prstGeom>
          <a:noFill/>
        </p:spPr>
        <p:txBody>
          <a:bodyPr wrap="square" rtlCol="0">
            <a:spAutoFit/>
          </a:bodyPr>
          <a:lstStyle/>
          <a:p>
            <a:r>
              <a:rPr lang="zh-CN" altLang="en-US" sz="6000" b="1" dirty="0" smtClean="0">
                <a:solidFill>
                  <a:schemeClr val="bg1"/>
                </a:solidFill>
                <a:latin typeface="微软雅黑" panose="020B0503020204020204" pitchFamily="34" charset="-122"/>
                <a:ea typeface="微软雅黑" panose="020B0503020204020204" pitchFamily="34" charset="-122"/>
              </a:rPr>
              <a:t>官员</a:t>
            </a:r>
            <a:r>
              <a:rPr lang="zh-CN" altLang="en-US" sz="6000" dirty="0" smtClean="0">
                <a:solidFill>
                  <a:srgbClr val="981F21"/>
                </a:solidFill>
                <a:latin typeface="华康俪金黑W8" panose="020B0809000000000000" pitchFamily="49" charset="-122"/>
                <a:ea typeface="华康俪金黑W8" panose="020B0809000000000000" pitchFamily="49" charset="-122"/>
              </a:rPr>
              <a:t>潜规则</a:t>
            </a:r>
            <a:endParaRPr lang="zh-CN" altLang="en-US" sz="6000" dirty="0">
              <a:solidFill>
                <a:srgbClr val="981F21"/>
              </a:solidFill>
              <a:latin typeface="华康俪金黑W8" panose="020B0809000000000000" pitchFamily="49" charset="-122"/>
              <a:ea typeface="华康俪金黑W8" panose="020B0809000000000000" pitchFamily="49" charset="-122"/>
            </a:endParaRPr>
          </a:p>
        </p:txBody>
      </p:sp>
      <p:sp>
        <p:nvSpPr>
          <p:cNvPr id="3" name="矩形 2"/>
          <p:cNvSpPr/>
          <p:nvPr/>
        </p:nvSpPr>
        <p:spPr>
          <a:xfrm>
            <a:off x="2818227" y="1395490"/>
            <a:ext cx="6006905" cy="4966039"/>
          </a:xfrm>
          <a:prstGeom prst="rect">
            <a:avLst/>
          </a:prstGeom>
        </p:spPr>
        <p:txBody>
          <a:bodyPr wrap="square">
            <a:spAutoFit/>
          </a:bodyPr>
          <a:lstStyle/>
          <a:p>
            <a:pPr marL="342900" indent="-342900" algn="just">
              <a:lnSpc>
                <a:spcPct val="120000"/>
              </a:lnSpc>
              <a:spcBef>
                <a:spcPts val="700"/>
              </a:spcBef>
              <a:buFont typeface="Wingdings" panose="05000000000000000000" pitchFamily="2" charset="2"/>
              <a:buChar char="p"/>
            </a:pPr>
            <a:r>
              <a:rPr lang="zh-CN" altLang="en-US" sz="2400" b="1" i="0" dirty="0" smtClean="0">
                <a:solidFill>
                  <a:srgbClr val="981F21"/>
                </a:solidFill>
                <a:effectLst/>
                <a:latin typeface="微软雅黑" panose="020B0503020204020204" pitchFamily="34" charset="-122"/>
                <a:ea typeface="微软雅黑" panose="020B0503020204020204" pitchFamily="34" charset="-122"/>
              </a:rPr>
              <a:t>合法伤害，威胁生命</a:t>
            </a:r>
            <a:endParaRPr lang="en-US" altLang="zh-CN" sz="2400" b="1" i="0" dirty="0" smtClean="0">
              <a:solidFill>
                <a:srgbClr val="981F21"/>
              </a:solidFill>
              <a:effectLst/>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b="0" i="0" dirty="0" smtClean="0">
                <a:solidFill>
                  <a:srgbClr val="3E494F"/>
                </a:solidFill>
                <a:effectLst/>
                <a:latin typeface="微软雅黑" panose="020B0503020204020204" pitchFamily="34" charset="-122"/>
                <a:ea typeface="微软雅黑" panose="020B0503020204020204" pitchFamily="34" charset="-122"/>
              </a:rPr>
              <a:t>构成潜规则体系的基础是“</a:t>
            </a:r>
            <a:r>
              <a:rPr lang="zh-CN" altLang="en-US" b="1" i="0" dirty="0" smtClean="0">
                <a:solidFill>
                  <a:srgbClr val="981F21"/>
                </a:solidFill>
                <a:effectLst/>
                <a:latin typeface="微软雅黑" panose="020B0503020204020204" pitchFamily="34" charset="-122"/>
                <a:ea typeface="微软雅黑" panose="020B0503020204020204" pitchFamily="34" charset="-122"/>
              </a:rPr>
              <a:t>合法伤害权</a:t>
            </a:r>
            <a:r>
              <a:rPr lang="zh-CN" altLang="en-US" b="0" i="0" dirty="0" smtClean="0">
                <a:solidFill>
                  <a:srgbClr val="3E494F"/>
                </a:solidFill>
                <a:effectLst/>
                <a:latin typeface="微软雅黑" panose="020B0503020204020204" pitchFamily="34" charset="-122"/>
                <a:ea typeface="微软雅黑" panose="020B0503020204020204" pitchFamily="34" charset="-122"/>
              </a:rPr>
              <a:t>”。合法伤害权亦可叫合法恩惠权，指能够合法予夺他人资源（包括生命资源）的权力。掌握合法伤害权的人一定与国家暴力机器挂钩，即能够对他人产生直接或间接的威胁，而又不至于触犯法律。 </a:t>
            </a:r>
          </a:p>
          <a:p>
            <a:pPr marL="342900" indent="-342900" algn="just">
              <a:lnSpc>
                <a:spcPct val="120000"/>
              </a:lnSpc>
              <a:spcBef>
                <a:spcPts val="700"/>
              </a:spcBef>
              <a:buFont typeface="Wingdings" panose="05000000000000000000" pitchFamily="2" charset="2"/>
              <a:buChar char="p"/>
            </a:pPr>
            <a:r>
              <a:rPr lang="zh-CN" altLang="en-US" sz="2400" b="1" i="0" dirty="0" smtClean="0">
                <a:solidFill>
                  <a:srgbClr val="981F21"/>
                </a:solidFill>
                <a:effectLst/>
                <a:latin typeface="微软雅黑" panose="020B0503020204020204" pitchFamily="34" charset="-122"/>
                <a:ea typeface="微软雅黑" panose="020B0503020204020204" pitchFamily="34" charset="-122"/>
              </a:rPr>
              <a:t>身怀利器，杀心自起</a:t>
            </a:r>
            <a:endParaRPr lang="en-US" altLang="zh-CN" sz="2400" b="1" i="0" dirty="0" smtClean="0">
              <a:solidFill>
                <a:srgbClr val="981F21"/>
              </a:solidFill>
              <a:effectLst/>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b="0" i="0" dirty="0" smtClean="0">
                <a:solidFill>
                  <a:srgbClr val="3E494F"/>
                </a:solidFill>
                <a:effectLst/>
                <a:latin typeface="微软雅黑" panose="020B0503020204020204" pitchFamily="34" charset="-122"/>
                <a:ea typeface="微软雅黑" panose="020B0503020204020204" pitchFamily="34" charset="-122"/>
              </a:rPr>
              <a:t>具备合法伤害权之后，便可借机进行</a:t>
            </a:r>
            <a:r>
              <a:rPr lang="zh-CN" altLang="en-US" b="1" i="0" dirty="0" smtClean="0">
                <a:solidFill>
                  <a:srgbClr val="981F21"/>
                </a:solidFill>
                <a:effectLst/>
                <a:latin typeface="微软雅黑" panose="020B0503020204020204" pitchFamily="34" charset="-122"/>
                <a:ea typeface="微软雅黑" panose="020B0503020204020204" pitchFamily="34" charset="-122"/>
              </a:rPr>
              <a:t>敲诈勒索</a:t>
            </a:r>
            <a:r>
              <a:rPr lang="zh-CN" altLang="en-US" b="0" i="0" dirty="0" smtClean="0">
                <a:solidFill>
                  <a:srgbClr val="3E494F"/>
                </a:solidFill>
                <a:effectLst/>
                <a:latin typeface="微软雅黑" panose="020B0503020204020204" pitchFamily="34" charset="-122"/>
                <a:ea typeface="微软雅黑" panose="020B0503020204020204" pitchFamily="34" charset="-122"/>
              </a:rPr>
              <a:t>或者</a:t>
            </a:r>
            <a:r>
              <a:rPr lang="zh-CN" altLang="en-US" b="1" i="0" dirty="0" smtClean="0">
                <a:solidFill>
                  <a:srgbClr val="981F21"/>
                </a:solidFill>
                <a:effectLst/>
                <a:latin typeface="微软雅黑" panose="020B0503020204020204" pitchFamily="34" charset="-122"/>
                <a:ea typeface="微软雅黑" panose="020B0503020204020204" pitchFamily="34" charset="-122"/>
              </a:rPr>
              <a:t>打击报复</a:t>
            </a:r>
            <a:r>
              <a:rPr lang="zh-CN" altLang="en-US" b="0" i="0" dirty="0" smtClean="0">
                <a:solidFill>
                  <a:srgbClr val="3E494F"/>
                </a:solidFill>
                <a:effectLst/>
                <a:latin typeface="微软雅黑" panose="020B0503020204020204" pitchFamily="34" charset="-122"/>
                <a:ea typeface="微软雅黑" panose="020B0503020204020204" pitchFamily="34" charset="-122"/>
              </a:rPr>
              <a:t>，继而攫取利益。</a:t>
            </a:r>
            <a:endParaRPr lang="en-US" altLang="zh-CN" dirty="0">
              <a:solidFill>
                <a:srgbClr val="3E494F"/>
              </a:solidFill>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b="0" i="0" dirty="0" smtClean="0">
                <a:solidFill>
                  <a:srgbClr val="3E494F"/>
                </a:solidFill>
                <a:effectLst/>
                <a:latin typeface="微软雅黑" panose="020B0503020204020204" pitchFamily="34" charset="-122"/>
                <a:ea typeface="微软雅黑" panose="020B0503020204020204" pitchFamily="34" charset="-122"/>
              </a:rPr>
              <a:t>拥有合法伤害权的人，可以凭借此权力恣意伤害他人，受害者则由于不具备合法伤害权而只能任人宰割。伤害者与受害者双方，处于伤害权力</a:t>
            </a:r>
            <a:r>
              <a:rPr lang="zh-CN" altLang="en-US" b="1" i="0" dirty="0" smtClean="0">
                <a:solidFill>
                  <a:srgbClr val="981F21"/>
                </a:solidFill>
                <a:effectLst/>
                <a:latin typeface="微软雅黑" panose="020B0503020204020204" pitchFamily="34" charset="-122"/>
                <a:ea typeface="微软雅黑" panose="020B0503020204020204" pitchFamily="34" charset="-122"/>
              </a:rPr>
              <a:t>极端不对等</a:t>
            </a:r>
            <a:r>
              <a:rPr lang="zh-CN" altLang="en-US" b="0" i="0" dirty="0" smtClean="0">
                <a:solidFill>
                  <a:srgbClr val="3E494F"/>
                </a:solidFill>
                <a:effectLst/>
                <a:latin typeface="微软雅黑" panose="020B0503020204020204" pitchFamily="34" charset="-122"/>
                <a:ea typeface="微软雅黑" panose="020B0503020204020204" pitchFamily="34" charset="-122"/>
              </a:rPr>
              <a:t>的条件之下。（详见</a:t>
            </a:r>
            <a:r>
              <a:rPr lang="en-US" altLang="zh-CN" b="0" i="0" dirty="0" smtClean="0">
                <a:solidFill>
                  <a:srgbClr val="3E494F"/>
                </a:solidFill>
                <a:effectLst/>
                <a:latin typeface="微软雅黑" panose="020B0503020204020204" pitchFamily="34" charset="-122"/>
                <a:ea typeface="微软雅黑" panose="020B0503020204020204" pitchFamily="34" charset="-122"/>
              </a:rPr>
              <a:t>《</a:t>
            </a:r>
            <a:r>
              <a:rPr lang="zh-CN" altLang="en-US" b="0" i="0" dirty="0" smtClean="0">
                <a:solidFill>
                  <a:srgbClr val="3E494F"/>
                </a:solidFill>
                <a:effectLst/>
                <a:latin typeface="微软雅黑" panose="020B0503020204020204" pitchFamily="34" charset="-122"/>
                <a:ea typeface="微软雅黑" panose="020B0503020204020204" pitchFamily="34" charset="-122"/>
              </a:rPr>
              <a:t>潜规则</a:t>
            </a:r>
            <a:r>
              <a:rPr lang="en-US" altLang="zh-CN" b="0" i="0" dirty="0" smtClean="0">
                <a:solidFill>
                  <a:srgbClr val="3E494F"/>
                </a:solidFill>
                <a:effectLst/>
                <a:latin typeface="微软雅黑" panose="020B0503020204020204" pitchFamily="34" charset="-122"/>
                <a:ea typeface="微软雅黑" panose="020B0503020204020204" pitchFamily="34" charset="-122"/>
              </a:rPr>
              <a:t>•</a:t>
            </a:r>
            <a:r>
              <a:rPr lang="zh-CN" altLang="en-US" b="0" i="0" dirty="0" smtClean="0">
                <a:solidFill>
                  <a:srgbClr val="3E494F"/>
                </a:solidFill>
                <a:effectLst/>
                <a:latin typeface="微软雅黑" panose="020B0503020204020204" pitchFamily="34" charset="-122"/>
                <a:ea typeface="微软雅黑" panose="020B0503020204020204" pitchFamily="34" charset="-122"/>
              </a:rPr>
              <a:t>身怀利器</a:t>
            </a:r>
            <a:r>
              <a:rPr lang="en-US" altLang="zh-CN" b="0" i="0" dirty="0" smtClean="0">
                <a:solidFill>
                  <a:srgbClr val="3E494F"/>
                </a:solidFill>
                <a:effectLst/>
                <a:latin typeface="微软雅黑" panose="020B0503020204020204" pitchFamily="34" charset="-122"/>
                <a:ea typeface="微软雅黑" panose="020B0503020204020204" pitchFamily="34" charset="-122"/>
              </a:rPr>
              <a:t>》</a:t>
            </a:r>
            <a:r>
              <a:rPr lang="zh-CN" altLang="en-US" b="0" i="0" dirty="0" smtClean="0">
                <a:solidFill>
                  <a:srgbClr val="3E494F"/>
                </a:solidFill>
                <a:effectLst/>
                <a:latin typeface="微软雅黑" panose="020B0503020204020204" pitchFamily="34" charset="-122"/>
                <a:ea typeface="微软雅黑" panose="020B0503020204020204" pitchFamily="34" charset="-122"/>
              </a:rPr>
              <a:t>） </a:t>
            </a:r>
            <a:endParaRPr lang="zh-CN" altLang="en-US" dirty="0">
              <a:solidFill>
                <a:srgbClr val="3E494F"/>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963696" y="0"/>
            <a:ext cx="3232598" cy="6858000"/>
          </a:xfrm>
          <a:prstGeom prst="rect">
            <a:avLst/>
          </a:prstGeom>
        </p:spPr>
      </p:pic>
    </p:spTree>
    <p:extLst>
      <p:ext uri="{BB962C8B-B14F-4D97-AF65-F5344CB8AC3E}">
        <p14:creationId xmlns:p14="http://schemas.microsoft.com/office/powerpoint/2010/main" val="11696605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0"/>
            <a:ext cx="2686929" cy="6858000"/>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069144" y="379827"/>
            <a:ext cx="4037429" cy="1015663"/>
          </a:xfrm>
          <a:prstGeom prst="rect">
            <a:avLst/>
          </a:prstGeom>
          <a:noFill/>
        </p:spPr>
        <p:txBody>
          <a:bodyPr wrap="square" rtlCol="0">
            <a:spAutoFit/>
          </a:bodyPr>
          <a:lstStyle/>
          <a:p>
            <a:r>
              <a:rPr lang="zh-CN" altLang="en-US" sz="6000" b="1" dirty="0" smtClean="0">
                <a:solidFill>
                  <a:schemeClr val="bg1"/>
                </a:solidFill>
                <a:latin typeface="微软雅黑" panose="020B0503020204020204" pitchFamily="34" charset="-122"/>
                <a:ea typeface="微软雅黑" panose="020B0503020204020204" pitchFamily="34" charset="-122"/>
              </a:rPr>
              <a:t>官员</a:t>
            </a:r>
            <a:r>
              <a:rPr lang="zh-CN" altLang="en-US" sz="6000" dirty="0" smtClean="0">
                <a:solidFill>
                  <a:srgbClr val="981F21"/>
                </a:solidFill>
                <a:latin typeface="华康俪金黑W8" panose="020B0809000000000000" pitchFamily="49" charset="-122"/>
                <a:ea typeface="华康俪金黑W8" panose="020B0809000000000000" pitchFamily="49" charset="-122"/>
              </a:rPr>
              <a:t>潜规则</a:t>
            </a:r>
            <a:endParaRPr lang="zh-CN" altLang="en-US" sz="6000" dirty="0">
              <a:solidFill>
                <a:srgbClr val="981F21"/>
              </a:solidFill>
              <a:latin typeface="华康俪金黑W8" panose="020B0809000000000000" pitchFamily="49" charset="-122"/>
              <a:ea typeface="华康俪金黑W8" panose="020B0809000000000000" pitchFamily="49" charset="-122"/>
            </a:endParaRPr>
          </a:p>
        </p:txBody>
      </p:sp>
      <p:sp>
        <p:nvSpPr>
          <p:cNvPr id="3" name="矩形 2"/>
          <p:cNvSpPr/>
          <p:nvPr/>
        </p:nvSpPr>
        <p:spPr>
          <a:xfrm>
            <a:off x="2818227" y="1395490"/>
            <a:ext cx="6006905" cy="5263492"/>
          </a:xfrm>
          <a:prstGeom prst="rect">
            <a:avLst/>
          </a:prstGeom>
        </p:spPr>
        <p:txBody>
          <a:bodyPr wrap="square">
            <a:spAutoFit/>
          </a:bodyPr>
          <a:lstStyle/>
          <a:p>
            <a:pPr marL="342900" indent="-342900" algn="just">
              <a:lnSpc>
                <a:spcPct val="120000"/>
              </a:lnSpc>
              <a:spcBef>
                <a:spcPts val="700"/>
              </a:spcBef>
              <a:buFont typeface="Wingdings" panose="05000000000000000000" pitchFamily="2" charset="2"/>
              <a:buChar char="p"/>
            </a:pPr>
            <a:r>
              <a:rPr lang="zh-CN" altLang="en-US" sz="2400" b="1" dirty="0" smtClean="0">
                <a:solidFill>
                  <a:srgbClr val="981F21"/>
                </a:solidFill>
                <a:latin typeface="微软雅黑" panose="020B0503020204020204" pitchFamily="34" charset="-122"/>
                <a:ea typeface="微软雅黑" panose="020B0503020204020204" pitchFamily="34" charset="-122"/>
              </a:rPr>
              <a:t>艰难的清官</a:t>
            </a:r>
            <a:r>
              <a:rPr lang="zh-CN" altLang="en-US" sz="2400" b="1" dirty="0">
                <a:solidFill>
                  <a:srgbClr val="981F21"/>
                </a:solidFill>
                <a:latin typeface="微软雅黑" panose="020B0503020204020204" pitchFamily="34" charset="-122"/>
                <a:ea typeface="微软雅黑" panose="020B0503020204020204" pitchFamily="34" charset="-122"/>
              </a:rPr>
              <a:t>之路</a:t>
            </a:r>
            <a:endParaRPr lang="en-US" altLang="zh-CN" sz="2400" b="1" i="0" dirty="0" smtClean="0">
              <a:solidFill>
                <a:srgbClr val="981F21"/>
              </a:solidFill>
              <a:effectLst/>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smtClean="0">
                <a:solidFill>
                  <a:srgbClr val="3E494F"/>
                </a:solidFill>
                <a:latin typeface="微软雅黑" panose="020B0503020204020204" pitchFamily="34" charset="-122"/>
                <a:ea typeface="微软雅黑" panose="020B0503020204020204" pitchFamily="34" charset="-122"/>
              </a:rPr>
              <a:t>官员</a:t>
            </a:r>
            <a:r>
              <a:rPr lang="zh-CN" altLang="en-US" dirty="0">
                <a:solidFill>
                  <a:srgbClr val="3E494F"/>
                </a:solidFill>
                <a:latin typeface="微软雅黑" panose="020B0503020204020204" pitchFamily="34" charset="-122"/>
                <a:ea typeface="微软雅黑" panose="020B0503020204020204" pitchFamily="34" charset="-122"/>
              </a:rPr>
              <a:t>的实际</a:t>
            </a:r>
            <a:r>
              <a:rPr lang="zh-CN" altLang="en-US" b="1" dirty="0">
                <a:solidFill>
                  <a:srgbClr val="981F21"/>
                </a:solidFill>
                <a:latin typeface="微软雅黑" panose="020B0503020204020204" pitchFamily="34" charset="-122"/>
                <a:ea typeface="微软雅黑" panose="020B0503020204020204" pitchFamily="34" charset="-122"/>
              </a:rPr>
              <a:t>工资较少</a:t>
            </a:r>
            <a:r>
              <a:rPr lang="zh-CN" altLang="en-US" dirty="0">
                <a:solidFill>
                  <a:srgbClr val="3E494F"/>
                </a:solidFill>
                <a:latin typeface="微软雅黑" panose="020B0503020204020204" pitchFamily="34" charset="-122"/>
                <a:ea typeface="微软雅黑" panose="020B0503020204020204" pitchFamily="34" charset="-122"/>
              </a:rPr>
              <a:t>，有些朝代的官员俸禄甚至少到难以维持生存的地步</a:t>
            </a:r>
            <a:r>
              <a:rPr lang="zh-CN" altLang="en-US" dirty="0" smtClean="0">
                <a:solidFill>
                  <a:srgbClr val="3E494F"/>
                </a:solidFill>
                <a:latin typeface="微软雅黑" panose="020B0503020204020204" pitchFamily="34" charset="-122"/>
                <a:ea typeface="微软雅黑" panose="020B0503020204020204" pitchFamily="34" charset="-122"/>
              </a:rPr>
              <a:t>。为了</a:t>
            </a:r>
            <a:r>
              <a:rPr lang="zh-CN" altLang="en-US" dirty="0">
                <a:solidFill>
                  <a:srgbClr val="3E494F"/>
                </a:solidFill>
                <a:latin typeface="微软雅黑" panose="020B0503020204020204" pitchFamily="34" charset="-122"/>
                <a:ea typeface="微软雅黑" panose="020B0503020204020204" pitchFamily="34" charset="-122"/>
              </a:rPr>
              <a:t>维持私人家庭的生存发展，还有行政部门的正常开支，官员不得已而参与潜规则。 </a:t>
            </a:r>
          </a:p>
          <a:p>
            <a:pPr marL="742950" lvl="1" indent="-285750" algn="just">
              <a:lnSpc>
                <a:spcPct val="120000"/>
              </a:lnSpc>
              <a:spcBef>
                <a:spcPts val="700"/>
              </a:spcBef>
              <a:buFont typeface="微软雅黑" panose="020B0503020204020204" pitchFamily="34" charset="-122"/>
              <a:buChar char="−"/>
            </a:pPr>
            <a:r>
              <a:rPr lang="zh-CN" altLang="en-US" dirty="0" smtClean="0">
                <a:solidFill>
                  <a:srgbClr val="3E494F"/>
                </a:solidFill>
                <a:latin typeface="微软雅黑" panose="020B0503020204020204" pitchFamily="34" charset="-122"/>
                <a:ea typeface="微软雅黑" panose="020B0503020204020204" pitchFamily="34" charset="-122"/>
              </a:rPr>
              <a:t>清官</a:t>
            </a:r>
            <a:r>
              <a:rPr lang="zh-CN" altLang="en-US" b="1" dirty="0">
                <a:solidFill>
                  <a:srgbClr val="981F21"/>
                </a:solidFill>
                <a:latin typeface="微软雅黑" panose="020B0503020204020204" pitchFamily="34" charset="-122"/>
                <a:ea typeface="微软雅黑" panose="020B0503020204020204" pitchFamily="34" charset="-122"/>
              </a:rPr>
              <a:t>难以满足</a:t>
            </a:r>
            <a:r>
              <a:rPr lang="zh-CN" altLang="en-US" dirty="0">
                <a:solidFill>
                  <a:srgbClr val="3E494F"/>
                </a:solidFill>
                <a:latin typeface="微软雅黑" panose="020B0503020204020204" pitchFamily="34" charset="-122"/>
                <a:ea typeface="微软雅黑" panose="020B0503020204020204" pitchFamily="34" charset="-122"/>
              </a:rPr>
              <a:t>政权征收苛捐杂税的要求</a:t>
            </a:r>
            <a:r>
              <a:rPr lang="zh-CN" altLang="en-US" dirty="0" smtClean="0">
                <a:solidFill>
                  <a:srgbClr val="3E494F"/>
                </a:solidFill>
                <a:latin typeface="微软雅黑" panose="020B0503020204020204" pitchFamily="34" charset="-122"/>
                <a:ea typeface="微软雅黑" panose="020B0503020204020204" pitchFamily="34" charset="-122"/>
              </a:rPr>
              <a:t>。</a:t>
            </a:r>
            <a:endParaRPr lang="en-US" altLang="zh-CN" dirty="0" smtClean="0">
              <a:solidFill>
                <a:srgbClr val="3E494F"/>
              </a:solidFill>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smtClean="0">
                <a:solidFill>
                  <a:srgbClr val="3E494F"/>
                </a:solidFill>
                <a:latin typeface="微软雅黑" panose="020B0503020204020204" pitchFamily="34" charset="-122"/>
                <a:ea typeface="微软雅黑" panose="020B0503020204020204" pitchFamily="34" charset="-122"/>
              </a:rPr>
              <a:t>利益</a:t>
            </a:r>
            <a:r>
              <a:rPr lang="zh-CN" altLang="en-US" dirty="0">
                <a:solidFill>
                  <a:srgbClr val="3E494F"/>
                </a:solidFill>
                <a:latin typeface="微软雅黑" panose="020B0503020204020204" pitchFamily="34" charset="-122"/>
                <a:ea typeface="微软雅黑" panose="020B0503020204020204" pitchFamily="34" charset="-122"/>
              </a:rPr>
              <a:t>群体的</a:t>
            </a:r>
            <a:r>
              <a:rPr lang="zh-CN" altLang="en-US" b="1" dirty="0">
                <a:solidFill>
                  <a:srgbClr val="981F21"/>
                </a:solidFill>
                <a:latin typeface="微软雅黑" panose="020B0503020204020204" pitchFamily="34" charset="-122"/>
                <a:ea typeface="微软雅黑" panose="020B0503020204020204" pitchFamily="34" charset="-122"/>
              </a:rPr>
              <a:t>阻挠</a:t>
            </a:r>
            <a:r>
              <a:rPr lang="zh-CN" altLang="en-US" dirty="0" smtClean="0">
                <a:solidFill>
                  <a:srgbClr val="3E494F"/>
                </a:solidFill>
                <a:latin typeface="微软雅黑" panose="020B0503020204020204" pitchFamily="34" charset="-122"/>
                <a:ea typeface="微软雅黑" panose="020B0503020204020204" pitchFamily="34" charset="-122"/>
              </a:rPr>
              <a:t>。由</a:t>
            </a:r>
            <a:r>
              <a:rPr lang="zh-CN" altLang="en-US" dirty="0">
                <a:solidFill>
                  <a:srgbClr val="3E494F"/>
                </a:solidFill>
                <a:latin typeface="微软雅黑" panose="020B0503020204020204" pitchFamily="34" charset="-122"/>
                <a:ea typeface="微软雅黑" panose="020B0503020204020204" pitchFamily="34" charset="-122"/>
              </a:rPr>
              <a:t>潜规则滋生出的利益群体，比如贪官污吏或土豪劣绅等，会千方百计来拉拢腐蚀，或者阻挠陷害那些不同流合污的清官</a:t>
            </a:r>
            <a:r>
              <a:rPr lang="zh-CN" altLang="en-US" dirty="0" smtClean="0">
                <a:solidFill>
                  <a:srgbClr val="3E494F"/>
                </a:solidFill>
                <a:latin typeface="微软雅黑" panose="020B0503020204020204" pitchFamily="34" charset="-122"/>
                <a:ea typeface="微软雅黑" panose="020B0503020204020204" pitchFamily="34" charset="-122"/>
              </a:rPr>
              <a:t>。</a:t>
            </a:r>
            <a:endParaRPr lang="en-US" altLang="zh-CN" dirty="0">
              <a:solidFill>
                <a:srgbClr val="3E494F"/>
              </a:solidFill>
              <a:latin typeface="微软雅黑" panose="020B0503020204020204" pitchFamily="34" charset="-122"/>
              <a:ea typeface="微软雅黑" panose="020B0503020204020204" pitchFamily="34" charset="-122"/>
            </a:endParaRPr>
          </a:p>
          <a:p>
            <a:pPr marL="342900" indent="-342900" algn="just">
              <a:lnSpc>
                <a:spcPct val="120000"/>
              </a:lnSpc>
              <a:spcBef>
                <a:spcPts val="700"/>
              </a:spcBef>
              <a:buFont typeface="Wingdings" panose="05000000000000000000" pitchFamily="2" charset="2"/>
              <a:buChar char="p"/>
            </a:pPr>
            <a:r>
              <a:rPr lang="zh-CN" altLang="en-US" sz="2400" b="1" dirty="0" smtClean="0">
                <a:solidFill>
                  <a:srgbClr val="981F21"/>
                </a:solidFill>
                <a:latin typeface="微软雅黑" panose="020B0503020204020204" pitchFamily="34" charset="-122"/>
                <a:ea typeface="微软雅黑" panose="020B0503020204020204" pitchFamily="34" charset="-122"/>
              </a:rPr>
              <a:t>悲惨的清官结局</a:t>
            </a:r>
            <a:endParaRPr lang="en-US" altLang="zh-CN" sz="2400" b="1" i="0" dirty="0" smtClean="0">
              <a:solidFill>
                <a:srgbClr val="981F21"/>
              </a:solidFill>
              <a:effectLst/>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smtClean="0">
                <a:solidFill>
                  <a:srgbClr val="3E494F"/>
                </a:solidFill>
                <a:latin typeface="微软雅黑" panose="020B0503020204020204" pitchFamily="34" charset="-122"/>
                <a:ea typeface="微软雅黑" panose="020B0503020204020204" pitchFamily="34" charset="-122"/>
              </a:rPr>
              <a:t>同流合污</a:t>
            </a:r>
            <a:endParaRPr lang="en-US" altLang="zh-CN" dirty="0" smtClean="0">
              <a:solidFill>
                <a:srgbClr val="3E494F"/>
              </a:solidFill>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smtClean="0">
                <a:solidFill>
                  <a:srgbClr val="3E494F"/>
                </a:solidFill>
                <a:latin typeface="微软雅黑" panose="020B0503020204020204" pitchFamily="34" charset="-122"/>
                <a:ea typeface="微软雅黑" panose="020B0503020204020204" pitchFamily="34" charset="-122"/>
              </a:rPr>
              <a:t>蒙冤惨败</a:t>
            </a:r>
            <a:endParaRPr lang="en-US" altLang="zh-CN" dirty="0" smtClean="0">
              <a:solidFill>
                <a:srgbClr val="3E494F"/>
              </a:solidFill>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smtClean="0">
                <a:solidFill>
                  <a:srgbClr val="3E494F"/>
                </a:solidFill>
                <a:latin typeface="微软雅黑" panose="020B0503020204020204" pitchFamily="34" charset="-122"/>
                <a:ea typeface="微软雅黑" panose="020B0503020204020204" pitchFamily="34" charset="-122"/>
              </a:rPr>
              <a:t>辞官</a:t>
            </a:r>
            <a:r>
              <a:rPr lang="zh-CN" altLang="en-US" dirty="0">
                <a:solidFill>
                  <a:srgbClr val="3E494F"/>
                </a:solidFill>
                <a:latin typeface="微软雅黑" panose="020B0503020204020204" pitchFamily="34" charset="-122"/>
                <a:ea typeface="微软雅黑" panose="020B0503020204020204" pitchFamily="34" charset="-122"/>
              </a:rPr>
              <a:t>隐退</a:t>
            </a:r>
          </a:p>
        </p:txBody>
      </p:sp>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971721" y="12551"/>
            <a:ext cx="3207027" cy="6858000"/>
          </a:xfrm>
          <a:prstGeom prst="rect">
            <a:avLst/>
          </a:prstGeom>
        </p:spPr>
      </p:pic>
    </p:spTree>
    <p:extLst>
      <p:ext uri="{BB962C8B-B14F-4D97-AF65-F5344CB8AC3E}">
        <p14:creationId xmlns:p14="http://schemas.microsoft.com/office/powerpoint/2010/main" val="9856783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0"/>
            <a:ext cx="2686929" cy="6858000"/>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069144" y="379827"/>
            <a:ext cx="4037429" cy="1015663"/>
          </a:xfrm>
          <a:prstGeom prst="rect">
            <a:avLst/>
          </a:prstGeom>
          <a:noFill/>
        </p:spPr>
        <p:txBody>
          <a:bodyPr wrap="square" rtlCol="0">
            <a:spAutoFit/>
          </a:bodyPr>
          <a:lstStyle/>
          <a:p>
            <a:r>
              <a:rPr lang="zh-CN" altLang="en-US" sz="6000" b="1" dirty="0">
                <a:solidFill>
                  <a:schemeClr val="bg1"/>
                </a:solidFill>
                <a:latin typeface="微软雅黑" panose="020B0503020204020204" pitchFamily="34" charset="-122"/>
                <a:ea typeface="微软雅黑" panose="020B0503020204020204" pitchFamily="34" charset="-122"/>
              </a:rPr>
              <a:t>平民</a:t>
            </a:r>
            <a:r>
              <a:rPr lang="zh-CN" altLang="en-US" sz="6000" dirty="0" smtClean="0">
                <a:solidFill>
                  <a:srgbClr val="981F21"/>
                </a:solidFill>
                <a:latin typeface="华康俪金黑W8" panose="020B0809000000000000" pitchFamily="49" charset="-122"/>
                <a:ea typeface="华康俪金黑W8" panose="020B0809000000000000" pitchFamily="49" charset="-122"/>
              </a:rPr>
              <a:t>潜规则</a:t>
            </a:r>
            <a:endParaRPr lang="zh-CN" altLang="en-US" sz="6000" dirty="0">
              <a:solidFill>
                <a:srgbClr val="981F21"/>
              </a:solidFill>
              <a:latin typeface="华康俪金黑W8" panose="020B0809000000000000" pitchFamily="49" charset="-122"/>
              <a:ea typeface="华康俪金黑W8" panose="020B0809000000000000" pitchFamily="49" charset="-122"/>
            </a:endParaRPr>
          </a:p>
        </p:txBody>
      </p:sp>
      <p:sp>
        <p:nvSpPr>
          <p:cNvPr id="5" name="矩形 4"/>
          <p:cNvSpPr/>
          <p:nvPr/>
        </p:nvSpPr>
        <p:spPr>
          <a:xfrm>
            <a:off x="2818227" y="1395490"/>
            <a:ext cx="6006905" cy="5416355"/>
          </a:xfrm>
          <a:prstGeom prst="rect">
            <a:avLst/>
          </a:prstGeom>
        </p:spPr>
        <p:txBody>
          <a:bodyPr wrap="square">
            <a:spAutoFit/>
          </a:bodyPr>
          <a:lstStyle/>
          <a:p>
            <a:pPr marL="342900" indent="-342900" algn="just">
              <a:lnSpc>
                <a:spcPct val="120000"/>
              </a:lnSpc>
              <a:spcBef>
                <a:spcPts val="700"/>
              </a:spcBef>
              <a:buFont typeface="Wingdings" panose="05000000000000000000" pitchFamily="2" charset="2"/>
              <a:buChar char="p"/>
            </a:pPr>
            <a:r>
              <a:rPr lang="zh-CN" altLang="en-US" sz="2400" b="1" dirty="0" smtClean="0">
                <a:solidFill>
                  <a:srgbClr val="981F21"/>
                </a:solidFill>
                <a:latin typeface="微软雅黑" panose="020B0503020204020204" pitchFamily="34" charset="-122"/>
                <a:ea typeface="微软雅黑" panose="020B0503020204020204" pitchFamily="34" charset="-122"/>
              </a:rPr>
              <a:t>何谓平民，官之于民</a:t>
            </a:r>
            <a:endParaRPr lang="en-US" altLang="zh-CN" sz="2400" b="1" i="0" dirty="0" smtClean="0">
              <a:solidFill>
                <a:srgbClr val="981F21"/>
              </a:solidFill>
              <a:effectLst/>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a:solidFill>
                  <a:srgbClr val="3E494F"/>
                </a:solidFill>
                <a:latin typeface="微软雅黑" panose="020B0503020204020204" pitchFamily="34" charset="-122"/>
                <a:ea typeface="微软雅黑" panose="020B0503020204020204" pitchFamily="34" charset="-122"/>
              </a:rPr>
              <a:t>所谓平民，并非指无官无位的平头百姓，而是</a:t>
            </a:r>
            <a:r>
              <a:rPr lang="zh-CN" altLang="en-US" b="1" dirty="0">
                <a:solidFill>
                  <a:srgbClr val="981F21"/>
                </a:solidFill>
                <a:latin typeface="微软雅黑" panose="020B0503020204020204" pitchFamily="34" charset="-122"/>
                <a:ea typeface="微软雅黑" panose="020B0503020204020204" pitchFamily="34" charset="-122"/>
              </a:rPr>
              <a:t>指不具备合法伤害权</a:t>
            </a:r>
            <a:r>
              <a:rPr lang="zh-CN" altLang="en-US" dirty="0">
                <a:solidFill>
                  <a:srgbClr val="3E494F"/>
                </a:solidFill>
                <a:latin typeface="微软雅黑" panose="020B0503020204020204" pitchFamily="34" charset="-122"/>
                <a:ea typeface="微软雅黑" panose="020B0503020204020204" pitchFamily="34" charset="-122"/>
              </a:rPr>
              <a:t>的人。而平民潜规则，并非指平民之间的潜</a:t>
            </a:r>
            <a:r>
              <a:rPr lang="zh-CN" altLang="en-US" dirty="0" smtClean="0">
                <a:solidFill>
                  <a:srgbClr val="3E494F"/>
                </a:solidFill>
                <a:latin typeface="微软雅黑" panose="020B0503020204020204" pitchFamily="34" charset="-122"/>
                <a:ea typeface="微软雅黑" panose="020B0503020204020204" pitchFamily="34" charset="-122"/>
              </a:rPr>
              <a:t>规则，</a:t>
            </a:r>
            <a:r>
              <a:rPr lang="zh-CN" altLang="en-US" dirty="0">
                <a:solidFill>
                  <a:srgbClr val="3E494F"/>
                </a:solidFill>
                <a:latin typeface="微软雅黑" panose="020B0503020204020204" pitchFamily="34" charset="-122"/>
                <a:ea typeface="微软雅黑" panose="020B0503020204020204" pitchFamily="34" charset="-122"/>
              </a:rPr>
              <a:t>而是指</a:t>
            </a:r>
            <a:r>
              <a:rPr lang="zh-CN" altLang="en-US" b="1" dirty="0">
                <a:solidFill>
                  <a:srgbClr val="981F21"/>
                </a:solidFill>
                <a:latin typeface="微软雅黑" panose="020B0503020204020204" pitchFamily="34" charset="-122"/>
                <a:ea typeface="微软雅黑" panose="020B0503020204020204" pitchFamily="34" charset="-122"/>
              </a:rPr>
              <a:t>官员针对平民</a:t>
            </a:r>
            <a:r>
              <a:rPr lang="zh-CN" altLang="en-US" dirty="0">
                <a:solidFill>
                  <a:srgbClr val="3E494F"/>
                </a:solidFill>
                <a:latin typeface="微软雅黑" panose="020B0503020204020204" pitchFamily="34" charset="-122"/>
                <a:ea typeface="微软雅黑" panose="020B0503020204020204" pitchFamily="34" charset="-122"/>
              </a:rPr>
              <a:t>制订的潜规则</a:t>
            </a:r>
            <a:r>
              <a:rPr lang="zh-CN" altLang="en-US" dirty="0" smtClean="0">
                <a:solidFill>
                  <a:srgbClr val="3E494F"/>
                </a:solidFill>
                <a:latin typeface="微软雅黑" panose="020B0503020204020204" pitchFamily="34" charset="-122"/>
                <a:ea typeface="微软雅黑" panose="020B0503020204020204" pitchFamily="34" charset="-122"/>
              </a:rPr>
              <a:t>。</a:t>
            </a:r>
            <a:endParaRPr lang="en-US" altLang="zh-CN" dirty="0" smtClean="0">
              <a:solidFill>
                <a:srgbClr val="3E494F"/>
              </a:solidFill>
              <a:latin typeface="微软雅黑" panose="020B0503020204020204" pitchFamily="34" charset="-122"/>
              <a:ea typeface="微软雅黑" panose="020B0503020204020204" pitchFamily="34" charset="-122"/>
            </a:endParaRPr>
          </a:p>
          <a:p>
            <a:pPr marL="342900" indent="-342900" algn="just">
              <a:lnSpc>
                <a:spcPct val="120000"/>
              </a:lnSpc>
              <a:spcBef>
                <a:spcPts val="700"/>
              </a:spcBef>
              <a:buFont typeface="Wingdings" panose="05000000000000000000" pitchFamily="2" charset="2"/>
              <a:buChar char="p"/>
            </a:pPr>
            <a:r>
              <a:rPr lang="zh-CN" altLang="en-US" sz="2400" b="1" i="0" dirty="0" smtClean="0">
                <a:solidFill>
                  <a:srgbClr val="981F21"/>
                </a:solidFill>
                <a:effectLst/>
                <a:latin typeface="微软雅黑" panose="020B0503020204020204" pitchFamily="34" charset="-122"/>
                <a:ea typeface="微软雅黑" panose="020B0503020204020204" pitchFamily="34" charset="-122"/>
              </a:rPr>
              <a:t>三种公平，层层逼近</a:t>
            </a:r>
            <a:endParaRPr lang="en-US" altLang="zh-CN" sz="2400" b="1" i="0" dirty="0" smtClean="0">
              <a:solidFill>
                <a:srgbClr val="981F21"/>
              </a:solidFill>
              <a:effectLst/>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a:solidFill>
                  <a:srgbClr val="3E494F"/>
                </a:solidFill>
                <a:latin typeface="微软雅黑" panose="020B0503020204020204" pitchFamily="34" charset="-122"/>
                <a:ea typeface="微软雅黑" panose="020B0503020204020204" pitchFamily="34" charset="-122"/>
              </a:rPr>
              <a:t>头等公平的标准，即</a:t>
            </a:r>
            <a:r>
              <a:rPr lang="zh-CN" altLang="en-US" b="1" dirty="0">
                <a:solidFill>
                  <a:srgbClr val="981F21"/>
                </a:solidFill>
                <a:latin typeface="微软雅黑" panose="020B0503020204020204" pitchFamily="34" charset="-122"/>
                <a:ea typeface="微软雅黑" panose="020B0503020204020204" pitchFamily="34" charset="-122"/>
              </a:rPr>
              <a:t>正式规则下</a:t>
            </a:r>
            <a:r>
              <a:rPr lang="zh-CN" altLang="en-US" dirty="0">
                <a:solidFill>
                  <a:srgbClr val="3E494F"/>
                </a:solidFill>
                <a:latin typeface="微软雅黑" panose="020B0503020204020204" pitchFamily="34" charset="-122"/>
                <a:ea typeface="微软雅黑" panose="020B0503020204020204" pitchFamily="34" charset="-122"/>
              </a:rPr>
              <a:t>公平的标准</a:t>
            </a:r>
            <a:r>
              <a:rPr lang="zh-CN" altLang="en-US" dirty="0" smtClean="0">
                <a:solidFill>
                  <a:srgbClr val="3E494F"/>
                </a:solidFill>
                <a:latin typeface="微软雅黑" panose="020B0503020204020204" pitchFamily="34" charset="-122"/>
                <a:ea typeface="微软雅黑" panose="020B0503020204020204" pitchFamily="34" charset="-122"/>
              </a:rPr>
              <a:t>。大多数</a:t>
            </a:r>
            <a:r>
              <a:rPr lang="zh-CN" altLang="en-US" dirty="0">
                <a:solidFill>
                  <a:srgbClr val="3E494F"/>
                </a:solidFill>
                <a:latin typeface="微软雅黑" panose="020B0503020204020204" pitchFamily="34" charset="-122"/>
                <a:ea typeface="微软雅黑" panose="020B0503020204020204" pitchFamily="34" charset="-122"/>
              </a:rPr>
              <a:t>百姓不敢奢望这种标准，这种名义上的标准也极少真实存在过。 </a:t>
            </a:r>
          </a:p>
          <a:p>
            <a:pPr marL="742950" lvl="1" indent="-285750" algn="just">
              <a:lnSpc>
                <a:spcPct val="120000"/>
              </a:lnSpc>
              <a:spcBef>
                <a:spcPts val="700"/>
              </a:spcBef>
              <a:buFont typeface="微软雅黑" panose="020B0503020204020204" pitchFamily="34" charset="-122"/>
              <a:buChar char="−"/>
            </a:pPr>
            <a:r>
              <a:rPr lang="zh-CN" altLang="en-US" dirty="0" smtClean="0">
                <a:solidFill>
                  <a:srgbClr val="3E494F"/>
                </a:solidFill>
                <a:latin typeface="微软雅黑" panose="020B0503020204020204" pitchFamily="34" charset="-122"/>
                <a:ea typeface="微软雅黑" panose="020B0503020204020204" pitchFamily="34" charset="-122"/>
              </a:rPr>
              <a:t>第</a:t>
            </a:r>
            <a:r>
              <a:rPr lang="zh-CN" altLang="en-US" dirty="0">
                <a:solidFill>
                  <a:srgbClr val="3E494F"/>
                </a:solidFill>
                <a:latin typeface="微软雅黑" panose="020B0503020204020204" pitchFamily="34" charset="-122"/>
                <a:ea typeface="微软雅黑" panose="020B0503020204020204" pitchFamily="34" charset="-122"/>
              </a:rPr>
              <a:t>二等标准</a:t>
            </a:r>
            <a:r>
              <a:rPr lang="zh-CN" altLang="en-US" b="1" dirty="0">
                <a:solidFill>
                  <a:srgbClr val="981F21"/>
                </a:solidFill>
                <a:latin typeface="微软雅黑" panose="020B0503020204020204" pitchFamily="34" charset="-122"/>
                <a:ea typeface="微软雅黑" panose="020B0503020204020204" pitchFamily="34" charset="-122"/>
              </a:rPr>
              <a:t>开始侵害</a:t>
            </a:r>
            <a:r>
              <a:rPr lang="zh-CN" altLang="en-US" dirty="0">
                <a:solidFill>
                  <a:srgbClr val="3E494F"/>
                </a:solidFill>
                <a:latin typeface="微软雅黑" panose="020B0503020204020204" pitchFamily="34" charset="-122"/>
                <a:ea typeface="微软雅黑" panose="020B0503020204020204" pitchFamily="34" charset="-122"/>
              </a:rPr>
              <a:t>平民的利益，却又不会超过平民承受的底线，并使地方官员能够从中获利，官民两方达到了一种相对稳定的供需平衡</a:t>
            </a:r>
            <a:r>
              <a:rPr lang="zh-CN" altLang="en-US" dirty="0" smtClean="0">
                <a:solidFill>
                  <a:srgbClr val="3E494F"/>
                </a:solidFill>
                <a:latin typeface="微软雅黑" panose="020B0503020204020204" pitchFamily="34" charset="-122"/>
                <a:ea typeface="微软雅黑" panose="020B0503020204020204" pitchFamily="34" charset="-122"/>
              </a:rPr>
              <a:t>。</a:t>
            </a:r>
            <a:endParaRPr lang="en-US" altLang="zh-CN" dirty="0" smtClean="0">
              <a:solidFill>
                <a:srgbClr val="3E494F"/>
              </a:solidFill>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smtClean="0">
                <a:solidFill>
                  <a:srgbClr val="3E494F"/>
                </a:solidFill>
                <a:latin typeface="微软雅黑" panose="020B0503020204020204" pitchFamily="34" charset="-122"/>
                <a:ea typeface="微软雅黑" panose="020B0503020204020204" pitchFamily="34" charset="-122"/>
              </a:rPr>
              <a:t>第</a:t>
            </a:r>
            <a:r>
              <a:rPr lang="zh-CN" altLang="en-US" dirty="0">
                <a:solidFill>
                  <a:srgbClr val="3E494F"/>
                </a:solidFill>
                <a:latin typeface="微软雅黑" panose="020B0503020204020204" pitchFamily="34" charset="-122"/>
                <a:ea typeface="微软雅黑" panose="020B0503020204020204" pitchFamily="34" charset="-122"/>
              </a:rPr>
              <a:t>三等公平的标准，是在第二等的基础上</a:t>
            </a:r>
            <a:r>
              <a:rPr lang="zh-CN" altLang="en-US" b="1" dirty="0">
                <a:solidFill>
                  <a:srgbClr val="981F21"/>
                </a:solidFill>
                <a:latin typeface="微软雅黑" panose="020B0503020204020204" pitchFamily="34" charset="-122"/>
                <a:ea typeface="微软雅黑" panose="020B0503020204020204" pitchFamily="34" charset="-122"/>
              </a:rPr>
              <a:t>继续侵害</a:t>
            </a:r>
            <a:r>
              <a:rPr lang="zh-CN" altLang="en-US" dirty="0">
                <a:solidFill>
                  <a:srgbClr val="3E494F"/>
                </a:solidFill>
                <a:latin typeface="微软雅黑" panose="020B0503020204020204" pitchFamily="34" charset="-122"/>
                <a:ea typeface="微软雅黑" panose="020B0503020204020204" pitchFamily="34" charset="-122"/>
              </a:rPr>
              <a:t>平民利益，使地方官可以牟取暴利</a:t>
            </a:r>
            <a:r>
              <a:rPr lang="zh-CN" altLang="en-US" dirty="0" smtClean="0">
                <a:solidFill>
                  <a:srgbClr val="3E494F"/>
                </a:solidFill>
                <a:latin typeface="微软雅黑" panose="020B0503020204020204" pitchFamily="34" charset="-122"/>
                <a:ea typeface="微软雅黑" panose="020B0503020204020204" pitchFamily="34" charset="-122"/>
              </a:rPr>
              <a:t>。（</a:t>
            </a:r>
            <a:r>
              <a:rPr lang="en-US" altLang="zh-CN" dirty="0">
                <a:solidFill>
                  <a:srgbClr val="3E494F"/>
                </a:solidFill>
                <a:latin typeface="微软雅黑" panose="020B0503020204020204" pitchFamily="34" charset="-122"/>
                <a:ea typeface="微软雅黑" panose="020B0503020204020204" pitchFamily="34" charset="-122"/>
              </a:rPr>
              <a:t>《</a:t>
            </a:r>
            <a:r>
              <a:rPr lang="zh-CN" altLang="en-US" dirty="0">
                <a:solidFill>
                  <a:srgbClr val="3E494F"/>
                </a:solidFill>
                <a:latin typeface="微软雅黑" panose="020B0503020204020204" pitchFamily="34" charset="-122"/>
                <a:ea typeface="微软雅黑" panose="020B0503020204020204" pitchFamily="34" charset="-122"/>
              </a:rPr>
              <a:t>潜规则</a:t>
            </a:r>
            <a:r>
              <a:rPr lang="en-US" altLang="zh-CN" dirty="0">
                <a:solidFill>
                  <a:srgbClr val="3E494F"/>
                </a:solidFill>
                <a:latin typeface="微软雅黑" panose="020B0503020204020204" pitchFamily="34" charset="-122"/>
                <a:ea typeface="微软雅黑" panose="020B0503020204020204" pitchFamily="34" charset="-122"/>
              </a:rPr>
              <a:t>•</a:t>
            </a:r>
            <a:r>
              <a:rPr lang="zh-CN" altLang="en-US" dirty="0">
                <a:solidFill>
                  <a:srgbClr val="3E494F"/>
                </a:solidFill>
                <a:latin typeface="微软雅黑" panose="020B0503020204020204" pitchFamily="34" charset="-122"/>
                <a:ea typeface="微软雅黑" panose="020B0503020204020204" pitchFamily="34" charset="-122"/>
              </a:rPr>
              <a:t>公平是有等级的</a:t>
            </a:r>
            <a:r>
              <a:rPr lang="en-US" altLang="zh-CN" dirty="0">
                <a:solidFill>
                  <a:srgbClr val="3E494F"/>
                </a:solidFill>
                <a:latin typeface="微软雅黑" panose="020B0503020204020204" pitchFamily="34" charset="-122"/>
                <a:ea typeface="微软雅黑" panose="020B0503020204020204" pitchFamily="34" charset="-122"/>
              </a:rPr>
              <a:t>》</a:t>
            </a:r>
            <a:r>
              <a:rPr lang="zh-CN" altLang="en-US" dirty="0">
                <a:solidFill>
                  <a:srgbClr val="3E494F"/>
                </a:solidFill>
                <a:latin typeface="微软雅黑" panose="020B0503020204020204" pitchFamily="34" charset="-122"/>
                <a:ea typeface="微软雅黑" panose="020B0503020204020204" pitchFamily="34" charset="-122"/>
              </a:rPr>
              <a:t>） </a:t>
            </a:r>
          </a:p>
        </p:txBody>
      </p:sp>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937938" y="0"/>
            <a:ext cx="3254062" cy="6864439"/>
          </a:xfrm>
          <a:prstGeom prst="rect">
            <a:avLst/>
          </a:prstGeom>
        </p:spPr>
      </p:pic>
    </p:spTree>
    <p:extLst>
      <p:ext uri="{BB962C8B-B14F-4D97-AF65-F5344CB8AC3E}">
        <p14:creationId xmlns:p14="http://schemas.microsoft.com/office/powerpoint/2010/main" val="14601870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0"/>
            <a:ext cx="2686929" cy="6858000"/>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069144" y="379827"/>
            <a:ext cx="4037429" cy="1015663"/>
          </a:xfrm>
          <a:prstGeom prst="rect">
            <a:avLst/>
          </a:prstGeom>
          <a:noFill/>
        </p:spPr>
        <p:txBody>
          <a:bodyPr wrap="square" rtlCol="0">
            <a:spAutoFit/>
          </a:bodyPr>
          <a:lstStyle/>
          <a:p>
            <a:r>
              <a:rPr lang="zh-CN" altLang="en-US" sz="6000" b="1" dirty="0">
                <a:solidFill>
                  <a:schemeClr val="bg1"/>
                </a:solidFill>
                <a:latin typeface="微软雅黑" panose="020B0503020204020204" pitchFamily="34" charset="-122"/>
                <a:ea typeface="微软雅黑" panose="020B0503020204020204" pitchFamily="34" charset="-122"/>
              </a:rPr>
              <a:t>平民</a:t>
            </a:r>
            <a:r>
              <a:rPr lang="zh-CN" altLang="en-US" sz="6000" dirty="0" smtClean="0">
                <a:solidFill>
                  <a:srgbClr val="981F21"/>
                </a:solidFill>
                <a:latin typeface="华康俪金黑W8" panose="020B0809000000000000" pitchFamily="49" charset="-122"/>
                <a:ea typeface="华康俪金黑W8" panose="020B0809000000000000" pitchFamily="49" charset="-122"/>
              </a:rPr>
              <a:t>潜规则</a:t>
            </a:r>
            <a:endParaRPr lang="zh-CN" altLang="en-US" sz="6000" dirty="0">
              <a:solidFill>
                <a:srgbClr val="981F21"/>
              </a:solidFill>
              <a:latin typeface="华康俪金黑W8" panose="020B0809000000000000" pitchFamily="49" charset="-122"/>
              <a:ea typeface="华康俪金黑W8" panose="020B0809000000000000" pitchFamily="49" charset="-122"/>
            </a:endParaRPr>
          </a:p>
        </p:txBody>
      </p:sp>
      <p:sp>
        <p:nvSpPr>
          <p:cNvPr id="5" name="矩形 4"/>
          <p:cNvSpPr/>
          <p:nvPr/>
        </p:nvSpPr>
        <p:spPr>
          <a:xfrm>
            <a:off x="2818228" y="1395490"/>
            <a:ext cx="5926528" cy="5305555"/>
          </a:xfrm>
          <a:prstGeom prst="rect">
            <a:avLst/>
          </a:prstGeom>
        </p:spPr>
        <p:txBody>
          <a:bodyPr wrap="square">
            <a:spAutoFit/>
          </a:bodyPr>
          <a:lstStyle/>
          <a:p>
            <a:pPr marL="342900" indent="-342900" algn="just">
              <a:lnSpc>
                <a:spcPct val="120000"/>
              </a:lnSpc>
              <a:spcBef>
                <a:spcPts val="700"/>
              </a:spcBef>
              <a:buFont typeface="Wingdings" panose="05000000000000000000" pitchFamily="2" charset="2"/>
              <a:buChar char="p"/>
            </a:pPr>
            <a:r>
              <a:rPr lang="zh-CN" altLang="en-US" sz="2400" b="1" dirty="0" smtClean="0">
                <a:solidFill>
                  <a:srgbClr val="981F21"/>
                </a:solidFill>
                <a:latin typeface="微软雅黑" panose="020B0503020204020204" pitchFamily="34" charset="-122"/>
                <a:ea typeface="微软雅黑" panose="020B0503020204020204" pitchFamily="34" charset="-122"/>
              </a:rPr>
              <a:t>五种手段，难偿所愿</a:t>
            </a:r>
            <a:endParaRPr lang="en-US" altLang="zh-CN" sz="2400" b="1" i="0" dirty="0" smtClean="0">
              <a:solidFill>
                <a:srgbClr val="981F21"/>
              </a:solidFill>
              <a:effectLst/>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a:solidFill>
                  <a:srgbClr val="3E494F"/>
                </a:solidFill>
                <a:latin typeface="微软雅黑" panose="020B0503020204020204" pitchFamily="34" charset="-122"/>
                <a:ea typeface="微软雅黑" panose="020B0503020204020204" pitchFamily="34" charset="-122"/>
              </a:rPr>
              <a:t>第一种手段是</a:t>
            </a:r>
            <a:r>
              <a:rPr lang="zh-CN" altLang="en-US" b="1" dirty="0">
                <a:solidFill>
                  <a:srgbClr val="981F21"/>
                </a:solidFill>
                <a:latin typeface="微软雅黑" panose="020B0503020204020204" pitchFamily="34" charset="-122"/>
                <a:ea typeface="微软雅黑" panose="020B0503020204020204" pitchFamily="34" charset="-122"/>
              </a:rPr>
              <a:t>上访</a:t>
            </a:r>
            <a:r>
              <a:rPr lang="zh-CN" altLang="en-US" dirty="0">
                <a:solidFill>
                  <a:srgbClr val="3E494F"/>
                </a:solidFill>
                <a:latin typeface="微软雅黑" panose="020B0503020204020204" pitchFamily="34" charset="-122"/>
                <a:ea typeface="微软雅黑" panose="020B0503020204020204" pitchFamily="34" charset="-122"/>
              </a:rPr>
              <a:t>。这种手段成功的几率很小。首先，民告官需要具备足够的勇气的识见，需要有人甘愿出头</a:t>
            </a:r>
            <a:r>
              <a:rPr lang="zh-CN" altLang="en-US" dirty="0" smtClean="0">
                <a:solidFill>
                  <a:srgbClr val="3E494F"/>
                </a:solidFill>
                <a:latin typeface="微软雅黑" panose="020B0503020204020204" pitchFamily="34" charset="-122"/>
                <a:ea typeface="微软雅黑" panose="020B0503020204020204" pitchFamily="34" charset="-122"/>
              </a:rPr>
              <a:t>。</a:t>
            </a:r>
            <a:endParaRPr lang="en-US" altLang="zh-CN" dirty="0" smtClean="0">
              <a:solidFill>
                <a:srgbClr val="3E494F"/>
              </a:solidFill>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smtClean="0">
                <a:solidFill>
                  <a:srgbClr val="3E494F"/>
                </a:solidFill>
                <a:latin typeface="微软雅黑" panose="020B0503020204020204" pitchFamily="34" charset="-122"/>
                <a:ea typeface="微软雅黑" panose="020B0503020204020204" pitchFamily="34" charset="-122"/>
              </a:rPr>
              <a:t>第二</a:t>
            </a:r>
            <a:r>
              <a:rPr lang="zh-CN" altLang="en-US" dirty="0">
                <a:solidFill>
                  <a:srgbClr val="3E494F"/>
                </a:solidFill>
                <a:latin typeface="微软雅黑" panose="020B0503020204020204" pitchFamily="34" charset="-122"/>
                <a:ea typeface="微软雅黑" panose="020B0503020204020204" pitchFamily="34" charset="-122"/>
              </a:rPr>
              <a:t>种手段是</a:t>
            </a:r>
            <a:r>
              <a:rPr lang="zh-CN" altLang="en-US" b="1" dirty="0">
                <a:solidFill>
                  <a:srgbClr val="981F21"/>
                </a:solidFill>
                <a:latin typeface="微软雅黑" panose="020B0503020204020204" pitchFamily="34" charset="-122"/>
                <a:ea typeface="微软雅黑" panose="020B0503020204020204" pitchFamily="34" charset="-122"/>
              </a:rPr>
              <a:t>闹事</a:t>
            </a:r>
            <a:r>
              <a:rPr lang="zh-CN" altLang="en-US" dirty="0">
                <a:solidFill>
                  <a:srgbClr val="3E494F"/>
                </a:solidFill>
                <a:latin typeface="微软雅黑" panose="020B0503020204020204" pitchFamily="34" charset="-122"/>
                <a:ea typeface="微软雅黑" panose="020B0503020204020204" pitchFamily="34" charset="-122"/>
              </a:rPr>
              <a:t>。闹得不大名曰“请愿”，闹得大了便叫“造反”</a:t>
            </a:r>
            <a:r>
              <a:rPr lang="zh-CN" altLang="en-US" dirty="0" smtClean="0">
                <a:solidFill>
                  <a:srgbClr val="3E494F"/>
                </a:solidFill>
                <a:latin typeface="微软雅黑" panose="020B0503020204020204" pitchFamily="34" charset="-122"/>
                <a:ea typeface="微软雅黑" panose="020B0503020204020204" pitchFamily="34" charset="-122"/>
              </a:rPr>
              <a:t>。</a:t>
            </a:r>
            <a:endParaRPr lang="en-US" altLang="zh-CN" dirty="0" smtClean="0">
              <a:solidFill>
                <a:srgbClr val="3E494F"/>
              </a:solidFill>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smtClean="0">
                <a:solidFill>
                  <a:srgbClr val="3E494F"/>
                </a:solidFill>
                <a:latin typeface="微软雅黑" panose="020B0503020204020204" pitchFamily="34" charset="-122"/>
                <a:ea typeface="微软雅黑" panose="020B0503020204020204" pitchFamily="34" charset="-122"/>
              </a:rPr>
              <a:t>第三</a:t>
            </a:r>
            <a:r>
              <a:rPr lang="zh-CN" altLang="en-US" dirty="0">
                <a:solidFill>
                  <a:srgbClr val="3E494F"/>
                </a:solidFill>
                <a:latin typeface="微软雅黑" panose="020B0503020204020204" pitchFamily="34" charset="-122"/>
                <a:ea typeface="微软雅黑" panose="020B0503020204020204" pitchFamily="34" charset="-122"/>
              </a:rPr>
              <a:t>种手段</a:t>
            </a:r>
            <a:r>
              <a:rPr lang="zh-CN" altLang="en-US" dirty="0" smtClean="0">
                <a:solidFill>
                  <a:srgbClr val="3E494F"/>
                </a:solidFill>
                <a:latin typeface="微软雅黑" panose="020B0503020204020204" pitchFamily="34" charset="-122"/>
                <a:ea typeface="微软雅黑" panose="020B0503020204020204" pitchFamily="34" charset="-122"/>
              </a:rPr>
              <a:t>是</a:t>
            </a:r>
            <a:r>
              <a:rPr lang="zh-CN" altLang="en-US" b="1" dirty="0" smtClean="0">
                <a:solidFill>
                  <a:srgbClr val="981F21"/>
                </a:solidFill>
                <a:latin typeface="微软雅黑" panose="020B0503020204020204" pitchFamily="34" charset="-122"/>
                <a:ea typeface="微软雅黑" panose="020B0503020204020204" pitchFamily="34" charset="-122"/>
              </a:rPr>
              <a:t>服从</a:t>
            </a:r>
            <a:r>
              <a:rPr lang="zh-CN" altLang="en-US" dirty="0" smtClean="0">
                <a:solidFill>
                  <a:srgbClr val="3E494F"/>
                </a:solidFill>
                <a:latin typeface="微软雅黑" panose="020B0503020204020204" pitchFamily="34" charset="-122"/>
                <a:ea typeface="微软雅黑" panose="020B0503020204020204" pitchFamily="34" charset="-122"/>
              </a:rPr>
              <a:t>潜</a:t>
            </a:r>
            <a:r>
              <a:rPr lang="zh-CN" altLang="en-US" dirty="0">
                <a:solidFill>
                  <a:srgbClr val="3E494F"/>
                </a:solidFill>
                <a:latin typeface="微软雅黑" panose="020B0503020204020204" pitchFamily="34" charset="-122"/>
                <a:ea typeface="微软雅黑" panose="020B0503020204020204" pitchFamily="34" charset="-122"/>
              </a:rPr>
              <a:t>规则</a:t>
            </a:r>
            <a:r>
              <a:rPr lang="zh-CN" altLang="en-US" dirty="0" smtClean="0">
                <a:solidFill>
                  <a:srgbClr val="3E494F"/>
                </a:solidFill>
                <a:latin typeface="微软雅黑" panose="020B0503020204020204" pitchFamily="34" charset="-122"/>
                <a:ea typeface="微软雅黑" panose="020B0503020204020204" pitchFamily="34" charset="-122"/>
              </a:rPr>
              <a:t>。这里的“服从”不是指无条件地全盘服从，而是指以相对较小的利益牺牲，减少或停止潜规则的继续加害。</a:t>
            </a:r>
            <a:endParaRPr lang="en-US" altLang="zh-CN" dirty="0" smtClean="0">
              <a:solidFill>
                <a:srgbClr val="3E494F"/>
              </a:solidFill>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smtClean="0">
                <a:solidFill>
                  <a:srgbClr val="3E494F"/>
                </a:solidFill>
                <a:latin typeface="微软雅黑" panose="020B0503020204020204" pitchFamily="34" charset="-122"/>
                <a:ea typeface="微软雅黑" panose="020B0503020204020204" pitchFamily="34" charset="-122"/>
              </a:rPr>
              <a:t>第四种手段是</a:t>
            </a:r>
            <a:r>
              <a:rPr lang="zh-CN" altLang="en-US" b="1" dirty="0" smtClean="0">
                <a:solidFill>
                  <a:srgbClr val="981F21"/>
                </a:solidFill>
                <a:latin typeface="微软雅黑" panose="020B0503020204020204" pitchFamily="34" charset="-122"/>
                <a:ea typeface="微软雅黑" panose="020B0503020204020204" pitchFamily="34" charset="-122"/>
              </a:rPr>
              <a:t>求助</a:t>
            </a:r>
            <a:r>
              <a:rPr lang="zh-CN" altLang="en-US" dirty="0" smtClean="0">
                <a:solidFill>
                  <a:srgbClr val="3E494F"/>
                </a:solidFill>
                <a:latin typeface="微软雅黑" panose="020B0503020204020204" pitchFamily="34" charset="-122"/>
                <a:ea typeface="微软雅黑" panose="020B0503020204020204" pitchFamily="34" charset="-122"/>
              </a:rPr>
              <a:t>。这种手段只有在特定的场合下才能使用，并且需要满足先行条件：第三方势力存在。</a:t>
            </a:r>
            <a:endParaRPr lang="en-US" altLang="zh-CN" dirty="0" smtClean="0">
              <a:solidFill>
                <a:srgbClr val="3E494F"/>
              </a:solidFill>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smtClean="0">
                <a:solidFill>
                  <a:srgbClr val="3E494F"/>
                </a:solidFill>
                <a:latin typeface="微软雅黑" panose="020B0503020204020204" pitchFamily="34" charset="-122"/>
                <a:ea typeface="微软雅黑" panose="020B0503020204020204" pitchFamily="34" charset="-122"/>
              </a:rPr>
              <a:t>第五种</a:t>
            </a:r>
            <a:r>
              <a:rPr lang="zh-CN" altLang="en-US" dirty="0">
                <a:solidFill>
                  <a:srgbClr val="3E494F"/>
                </a:solidFill>
                <a:latin typeface="微软雅黑" panose="020B0503020204020204" pitchFamily="34" charset="-122"/>
                <a:ea typeface="微软雅黑" panose="020B0503020204020204" pitchFamily="34" charset="-122"/>
              </a:rPr>
              <a:t>手段是</a:t>
            </a:r>
            <a:r>
              <a:rPr lang="zh-CN" altLang="en-US" b="1" dirty="0">
                <a:solidFill>
                  <a:srgbClr val="981F21"/>
                </a:solidFill>
                <a:latin typeface="微软雅黑" panose="020B0503020204020204" pitchFamily="34" charset="-122"/>
                <a:ea typeface="微软雅黑" panose="020B0503020204020204" pitchFamily="34" charset="-122"/>
              </a:rPr>
              <a:t>偷懒</a:t>
            </a:r>
            <a:r>
              <a:rPr lang="zh-CN" altLang="en-US" dirty="0">
                <a:solidFill>
                  <a:srgbClr val="3E494F"/>
                </a:solidFill>
                <a:latin typeface="微软雅黑" panose="020B0503020204020204" pitchFamily="34" charset="-122"/>
                <a:ea typeface="微软雅黑" panose="020B0503020204020204" pitchFamily="34" charset="-122"/>
              </a:rPr>
              <a:t>。这种手段只有在特定时期与特定政策下才能实现</a:t>
            </a:r>
            <a:r>
              <a:rPr lang="zh-CN" altLang="en-US" dirty="0" smtClean="0">
                <a:solidFill>
                  <a:srgbClr val="3E494F"/>
                </a:solidFill>
                <a:latin typeface="微软雅黑" panose="020B0503020204020204" pitchFamily="34" charset="-122"/>
                <a:ea typeface="微软雅黑" panose="020B0503020204020204" pitchFamily="34" charset="-122"/>
              </a:rPr>
              <a:t>。</a:t>
            </a:r>
            <a:endParaRPr lang="zh-CN" altLang="en-US" dirty="0">
              <a:solidFill>
                <a:srgbClr val="3E494F"/>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971722" y="0"/>
            <a:ext cx="3193774" cy="6858000"/>
          </a:xfrm>
          <a:prstGeom prst="rect">
            <a:avLst/>
          </a:prstGeom>
        </p:spPr>
      </p:pic>
    </p:spTree>
    <p:extLst>
      <p:ext uri="{BB962C8B-B14F-4D97-AF65-F5344CB8AC3E}">
        <p14:creationId xmlns:p14="http://schemas.microsoft.com/office/powerpoint/2010/main" val="5347753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0"/>
            <a:ext cx="2686929" cy="6858000"/>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069144" y="365759"/>
            <a:ext cx="4037429" cy="1015663"/>
          </a:xfrm>
          <a:prstGeom prst="rect">
            <a:avLst/>
          </a:prstGeom>
          <a:noFill/>
        </p:spPr>
        <p:txBody>
          <a:bodyPr wrap="square" rtlCol="0">
            <a:spAutoFit/>
          </a:bodyPr>
          <a:lstStyle/>
          <a:p>
            <a:r>
              <a:rPr lang="zh-CN" altLang="en-US" sz="6000" dirty="0" smtClean="0">
                <a:solidFill>
                  <a:schemeClr val="bg1"/>
                </a:solidFill>
                <a:latin typeface="华康俪金黑W8" panose="020B0809000000000000" pitchFamily="49" charset="-122"/>
                <a:ea typeface="华康俪金黑W8" panose="020B0809000000000000" pitchFamily="49" charset="-122"/>
              </a:rPr>
              <a:t>制度</a:t>
            </a:r>
            <a:r>
              <a:rPr lang="zh-CN" altLang="en-US" sz="6000" dirty="0" smtClean="0">
                <a:solidFill>
                  <a:srgbClr val="981F21"/>
                </a:solidFill>
                <a:latin typeface="华康俪金黑W8" panose="020B0809000000000000" pitchFamily="49" charset="-122"/>
                <a:ea typeface="华康俪金黑W8" panose="020B0809000000000000" pitchFamily="49" charset="-122"/>
              </a:rPr>
              <a:t>潜规则</a:t>
            </a:r>
            <a:endParaRPr lang="zh-CN" altLang="en-US" sz="6000" dirty="0">
              <a:solidFill>
                <a:srgbClr val="981F21"/>
              </a:solidFill>
              <a:latin typeface="华康俪金黑W8" panose="020B0809000000000000" pitchFamily="49" charset="-122"/>
              <a:ea typeface="华康俪金黑W8" panose="020B0809000000000000" pitchFamily="49" charset="-122"/>
            </a:endParaRPr>
          </a:p>
        </p:txBody>
      </p:sp>
      <p:sp>
        <p:nvSpPr>
          <p:cNvPr id="5" name="矩形 4"/>
          <p:cNvSpPr/>
          <p:nvPr/>
        </p:nvSpPr>
        <p:spPr>
          <a:xfrm>
            <a:off x="2818227" y="1395490"/>
            <a:ext cx="6006905" cy="5416355"/>
          </a:xfrm>
          <a:prstGeom prst="rect">
            <a:avLst/>
          </a:prstGeom>
        </p:spPr>
        <p:txBody>
          <a:bodyPr wrap="square">
            <a:spAutoFit/>
          </a:bodyPr>
          <a:lstStyle/>
          <a:p>
            <a:pPr marL="342900" indent="-342900" algn="just">
              <a:lnSpc>
                <a:spcPct val="120000"/>
              </a:lnSpc>
              <a:spcBef>
                <a:spcPts val="700"/>
              </a:spcBef>
              <a:buFont typeface="Wingdings" panose="05000000000000000000" pitchFamily="2" charset="2"/>
              <a:buChar char="p"/>
            </a:pPr>
            <a:r>
              <a:rPr lang="zh-CN" altLang="en-US" sz="2400" b="1" i="0" dirty="0" smtClean="0">
                <a:solidFill>
                  <a:srgbClr val="981F21"/>
                </a:solidFill>
                <a:effectLst/>
                <a:latin typeface="微软雅黑" panose="020B0503020204020204" pitchFamily="34" charset="-122"/>
                <a:ea typeface="微软雅黑" panose="020B0503020204020204" pitchFamily="34" charset="-122"/>
              </a:rPr>
              <a:t>规则偏倚，王朝重建</a:t>
            </a:r>
            <a:endParaRPr lang="en-US" altLang="zh-CN" sz="2400" b="1" i="0" dirty="0" smtClean="0">
              <a:solidFill>
                <a:srgbClr val="981F21"/>
              </a:solidFill>
              <a:effectLst/>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a:solidFill>
                  <a:srgbClr val="3E494F"/>
                </a:solidFill>
                <a:latin typeface="微软雅黑" panose="020B0503020204020204" pitchFamily="34" charset="-122"/>
                <a:ea typeface="微软雅黑" panose="020B0503020204020204" pitchFamily="34" charset="-122"/>
              </a:rPr>
              <a:t>在宏观社会层面，正式规则总要向潜规则不断偏倚，当偏倚到一定程度时，平民由于</a:t>
            </a:r>
            <a:r>
              <a:rPr lang="zh-CN" altLang="en-US" b="1" dirty="0">
                <a:solidFill>
                  <a:srgbClr val="981F21"/>
                </a:solidFill>
                <a:latin typeface="微软雅黑" panose="020B0503020204020204" pitchFamily="34" charset="-122"/>
                <a:ea typeface="微软雅黑" panose="020B0503020204020204" pitchFamily="34" charset="-122"/>
              </a:rPr>
              <a:t>无法接受潜规则</a:t>
            </a:r>
            <a:r>
              <a:rPr lang="zh-CN" altLang="en-US" dirty="0">
                <a:solidFill>
                  <a:srgbClr val="3E494F"/>
                </a:solidFill>
                <a:latin typeface="微软雅黑" panose="020B0503020204020204" pitchFamily="34" charset="-122"/>
                <a:ea typeface="微软雅黑" panose="020B0503020204020204" pitchFamily="34" charset="-122"/>
              </a:rPr>
              <a:t>的侵害而聚众起义，</a:t>
            </a:r>
            <a:r>
              <a:rPr lang="zh-CN" altLang="en-US" b="1" dirty="0">
                <a:solidFill>
                  <a:srgbClr val="981F21"/>
                </a:solidFill>
                <a:latin typeface="微软雅黑" panose="020B0503020204020204" pitchFamily="34" charset="-122"/>
                <a:ea typeface="微软雅黑" panose="020B0503020204020204" pitchFamily="34" charset="-122"/>
              </a:rPr>
              <a:t>打破</a:t>
            </a:r>
            <a:r>
              <a:rPr lang="zh-CN" altLang="en-US" dirty="0">
                <a:solidFill>
                  <a:srgbClr val="3E494F"/>
                </a:solidFill>
                <a:latin typeface="微软雅黑" panose="020B0503020204020204" pitchFamily="34" charset="-122"/>
                <a:ea typeface="微软雅黑" panose="020B0503020204020204" pitchFamily="34" charset="-122"/>
              </a:rPr>
              <a:t>既有潜规则，</a:t>
            </a:r>
            <a:r>
              <a:rPr lang="zh-CN" altLang="en-US" b="1" dirty="0">
                <a:solidFill>
                  <a:srgbClr val="981F21"/>
                </a:solidFill>
                <a:latin typeface="微软雅黑" panose="020B0503020204020204" pitchFamily="34" charset="-122"/>
                <a:ea typeface="微软雅黑" panose="020B0503020204020204" pitchFamily="34" charset="-122"/>
              </a:rPr>
              <a:t>重新制定</a:t>
            </a:r>
            <a:r>
              <a:rPr lang="zh-CN" altLang="en-US" dirty="0">
                <a:solidFill>
                  <a:srgbClr val="3E494F"/>
                </a:solidFill>
                <a:latin typeface="微软雅黑" panose="020B0503020204020204" pitchFamily="34" charset="-122"/>
                <a:ea typeface="微软雅黑" panose="020B0503020204020204" pitchFamily="34" charset="-122"/>
              </a:rPr>
              <a:t>正式规则。这种过程外在表现为一个王朝的发展与覆亡</a:t>
            </a:r>
            <a:r>
              <a:rPr lang="zh-CN" altLang="en-US" dirty="0" smtClean="0">
                <a:solidFill>
                  <a:srgbClr val="3E494F"/>
                </a:solidFill>
                <a:latin typeface="微软雅黑" panose="020B0503020204020204" pitchFamily="34" charset="-122"/>
                <a:ea typeface="微软雅黑" panose="020B0503020204020204" pitchFamily="34" charset="-122"/>
              </a:rPr>
              <a:t>。</a:t>
            </a:r>
            <a:endParaRPr lang="en-US" altLang="zh-CN" dirty="0" smtClean="0">
              <a:solidFill>
                <a:srgbClr val="3E494F"/>
              </a:solidFill>
              <a:latin typeface="微软雅黑" panose="020B0503020204020204" pitchFamily="34" charset="-122"/>
              <a:ea typeface="微软雅黑" panose="020B0503020204020204" pitchFamily="34" charset="-122"/>
            </a:endParaRPr>
          </a:p>
          <a:p>
            <a:pPr marL="342900" indent="-342900" algn="just">
              <a:lnSpc>
                <a:spcPct val="120000"/>
              </a:lnSpc>
              <a:spcBef>
                <a:spcPts val="700"/>
              </a:spcBef>
              <a:buFont typeface="Wingdings" panose="05000000000000000000" pitchFamily="2" charset="2"/>
              <a:buChar char="p"/>
            </a:pPr>
            <a:r>
              <a:rPr lang="zh-CN" altLang="en-US" sz="2400" b="1" i="0" dirty="0" smtClean="0">
                <a:solidFill>
                  <a:srgbClr val="981F21"/>
                </a:solidFill>
                <a:effectLst/>
                <a:latin typeface="微软雅黑" panose="020B0503020204020204" pitchFamily="34" charset="-122"/>
                <a:ea typeface="微软雅黑" panose="020B0503020204020204" pitchFamily="34" charset="-122"/>
              </a:rPr>
              <a:t>潜规则生，执政者止</a:t>
            </a:r>
            <a:endParaRPr lang="en-US" altLang="zh-CN" sz="2400" b="1" i="0" dirty="0" smtClean="0">
              <a:solidFill>
                <a:srgbClr val="981F21"/>
              </a:solidFill>
              <a:effectLst/>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dirty="0" smtClean="0">
                <a:solidFill>
                  <a:srgbClr val="3E494F"/>
                </a:solidFill>
                <a:latin typeface="微软雅黑" panose="020B0503020204020204" pitchFamily="34" charset="-122"/>
                <a:ea typeface="微软雅黑" panose="020B0503020204020204" pitchFamily="34" charset="-122"/>
              </a:rPr>
              <a:t>皇帝</a:t>
            </a:r>
            <a:r>
              <a:rPr lang="zh-CN" altLang="en-US" dirty="0">
                <a:solidFill>
                  <a:srgbClr val="3E494F"/>
                </a:solidFill>
                <a:latin typeface="微软雅黑" panose="020B0503020204020204" pitchFamily="34" charset="-122"/>
                <a:ea typeface="微软雅黑" panose="020B0503020204020204" pitchFamily="34" charset="-122"/>
              </a:rPr>
              <a:t>实行严格的</a:t>
            </a:r>
            <a:r>
              <a:rPr lang="zh-CN" altLang="en-US" b="1" dirty="0">
                <a:solidFill>
                  <a:srgbClr val="981F21"/>
                </a:solidFill>
                <a:latin typeface="微软雅黑" panose="020B0503020204020204" pitchFamily="34" charset="-122"/>
                <a:ea typeface="微软雅黑" panose="020B0503020204020204" pitchFamily="34" charset="-122"/>
              </a:rPr>
              <a:t>监察制度</a:t>
            </a:r>
            <a:r>
              <a:rPr lang="zh-CN" altLang="en-US" dirty="0">
                <a:solidFill>
                  <a:srgbClr val="3E494F"/>
                </a:solidFill>
                <a:latin typeface="微软雅黑" panose="020B0503020204020204" pitchFamily="34" charset="-122"/>
                <a:ea typeface="微软雅黑" panose="020B0503020204020204" pitchFamily="34" charset="-122"/>
              </a:rPr>
              <a:t>。但监察者往往会被潜规则所收买、同化，甚至充当起潜规则的主力军，迫使清官加入潜</a:t>
            </a:r>
            <a:r>
              <a:rPr lang="zh-CN" altLang="en-US" dirty="0" smtClean="0">
                <a:solidFill>
                  <a:srgbClr val="3E494F"/>
                </a:solidFill>
                <a:latin typeface="微软雅黑" panose="020B0503020204020204" pitchFamily="34" charset="-122"/>
                <a:ea typeface="微软雅黑" panose="020B0503020204020204" pitchFamily="34" charset="-122"/>
              </a:rPr>
              <a:t>规则。</a:t>
            </a:r>
            <a:endParaRPr lang="en-US" altLang="zh-CN" dirty="0" smtClean="0">
              <a:solidFill>
                <a:srgbClr val="3E494F"/>
              </a:solidFill>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b="1" dirty="0" smtClean="0">
                <a:solidFill>
                  <a:srgbClr val="981F21"/>
                </a:solidFill>
                <a:latin typeface="微软雅黑" panose="020B0503020204020204" pitchFamily="34" charset="-122"/>
                <a:ea typeface="微软雅黑" panose="020B0503020204020204" pitchFamily="34" charset="-122"/>
              </a:rPr>
              <a:t>下令</a:t>
            </a:r>
            <a:r>
              <a:rPr lang="zh-CN" altLang="en-US" b="1" dirty="0">
                <a:solidFill>
                  <a:srgbClr val="981F21"/>
                </a:solidFill>
                <a:latin typeface="微软雅黑" panose="020B0503020204020204" pitchFamily="34" charset="-122"/>
                <a:ea typeface="微软雅黑" panose="020B0503020204020204" pitchFamily="34" charset="-122"/>
              </a:rPr>
              <a:t>严禁</a:t>
            </a:r>
            <a:r>
              <a:rPr lang="zh-CN" altLang="en-US" dirty="0">
                <a:solidFill>
                  <a:srgbClr val="3E494F"/>
                </a:solidFill>
                <a:latin typeface="微软雅黑" panose="020B0503020204020204" pitchFamily="34" charset="-122"/>
                <a:ea typeface="微软雅黑" panose="020B0503020204020204" pitchFamily="34" charset="-122"/>
              </a:rPr>
              <a:t>潜规则</a:t>
            </a:r>
            <a:r>
              <a:rPr lang="zh-CN" altLang="en-US" dirty="0" smtClean="0">
                <a:solidFill>
                  <a:srgbClr val="3E494F"/>
                </a:solidFill>
                <a:latin typeface="微软雅黑" panose="020B0503020204020204" pitchFamily="34" charset="-122"/>
                <a:ea typeface="微软雅黑" panose="020B0503020204020204" pitchFamily="34" charset="-122"/>
              </a:rPr>
              <a:t>。但</a:t>
            </a:r>
            <a:r>
              <a:rPr lang="zh-CN" altLang="en-US" dirty="0">
                <a:solidFill>
                  <a:srgbClr val="3E494F"/>
                </a:solidFill>
                <a:latin typeface="微软雅黑" panose="020B0503020204020204" pitchFamily="34" charset="-122"/>
                <a:ea typeface="微软雅黑" panose="020B0503020204020204" pitchFamily="34" charset="-122"/>
              </a:rPr>
              <a:t>基本上只是空口白话，对潜规则没有实质性的威胁</a:t>
            </a:r>
            <a:r>
              <a:rPr lang="zh-CN" altLang="en-US" dirty="0" smtClean="0">
                <a:solidFill>
                  <a:srgbClr val="3E494F"/>
                </a:solidFill>
                <a:latin typeface="微软雅黑" panose="020B0503020204020204" pitchFamily="34" charset="-122"/>
                <a:ea typeface="微软雅黑" panose="020B0503020204020204" pitchFamily="34" charset="-122"/>
              </a:rPr>
              <a:t>。</a:t>
            </a:r>
            <a:endParaRPr lang="en-US" altLang="zh-CN" dirty="0" smtClean="0">
              <a:solidFill>
                <a:srgbClr val="3E494F"/>
              </a:solidFill>
              <a:latin typeface="微软雅黑" panose="020B0503020204020204" pitchFamily="34" charset="-122"/>
              <a:ea typeface="微软雅黑" panose="020B0503020204020204" pitchFamily="34" charset="-122"/>
            </a:endParaRPr>
          </a:p>
          <a:p>
            <a:pPr marL="742950" lvl="1" indent="-285750" algn="just">
              <a:lnSpc>
                <a:spcPct val="120000"/>
              </a:lnSpc>
              <a:spcBef>
                <a:spcPts val="700"/>
              </a:spcBef>
              <a:buFont typeface="微软雅黑" panose="020B0503020204020204" pitchFamily="34" charset="-122"/>
              <a:buChar char="−"/>
            </a:pPr>
            <a:r>
              <a:rPr lang="zh-CN" altLang="en-US" b="1" dirty="0" smtClean="0">
                <a:solidFill>
                  <a:srgbClr val="981F21"/>
                </a:solidFill>
                <a:latin typeface="微软雅黑" panose="020B0503020204020204" pitchFamily="34" charset="-122"/>
                <a:ea typeface="微软雅黑" panose="020B0503020204020204" pitchFamily="34" charset="-122"/>
              </a:rPr>
              <a:t>改变</a:t>
            </a:r>
            <a:r>
              <a:rPr lang="zh-CN" altLang="en-US" b="1" dirty="0">
                <a:solidFill>
                  <a:srgbClr val="981F21"/>
                </a:solidFill>
                <a:latin typeface="微软雅黑" panose="020B0503020204020204" pitchFamily="34" charset="-122"/>
                <a:ea typeface="微软雅黑" panose="020B0503020204020204" pitchFamily="34" charset="-122"/>
              </a:rPr>
              <a:t>人事制度</a:t>
            </a:r>
            <a:r>
              <a:rPr lang="zh-CN" altLang="en-US" dirty="0">
                <a:solidFill>
                  <a:srgbClr val="3E494F"/>
                </a:solidFill>
                <a:latin typeface="微软雅黑" panose="020B0503020204020204" pitchFamily="34" charset="-122"/>
                <a:ea typeface="微软雅黑" panose="020B0503020204020204" pitchFamily="34" charset="-122"/>
              </a:rPr>
              <a:t>。为了防止官员之间结党营私或徇私舞弊，执政者会考虑使用一些更具公平性与随机性的人事管理机制</a:t>
            </a:r>
            <a:r>
              <a:rPr lang="zh-CN" altLang="en-US" dirty="0" smtClean="0">
                <a:solidFill>
                  <a:srgbClr val="3E494F"/>
                </a:solidFill>
                <a:latin typeface="微软雅黑" panose="020B0503020204020204" pitchFamily="34" charset="-122"/>
                <a:ea typeface="微软雅黑" panose="020B0503020204020204" pitchFamily="34" charset="-122"/>
              </a:rPr>
              <a:t>。</a:t>
            </a:r>
            <a:endParaRPr lang="zh-CN" altLang="en-US" dirty="0">
              <a:solidFill>
                <a:srgbClr val="3E494F"/>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963695" y="0"/>
            <a:ext cx="3245477" cy="6859770"/>
          </a:xfrm>
          <a:prstGeom prst="rect">
            <a:avLst/>
          </a:prstGeom>
        </p:spPr>
      </p:pic>
    </p:spTree>
    <p:extLst>
      <p:ext uri="{BB962C8B-B14F-4D97-AF65-F5344CB8AC3E}">
        <p14:creationId xmlns:p14="http://schemas.microsoft.com/office/powerpoint/2010/main" val="38710439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1" cy="3428084"/>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0" y="1579626"/>
            <a:ext cx="12192000" cy="1862048"/>
          </a:xfrm>
          <a:prstGeom prst="rect">
            <a:avLst/>
          </a:prstGeom>
          <a:noFill/>
        </p:spPr>
        <p:txBody>
          <a:bodyPr wrap="square" rtlCol="0">
            <a:spAutoFit/>
          </a:bodyPr>
          <a:lstStyle/>
          <a:p>
            <a:pPr algn="ctr"/>
            <a:r>
              <a:rPr lang="zh-CN" altLang="en-US" sz="11500" dirty="0" smtClean="0">
                <a:solidFill>
                  <a:schemeClr val="bg1"/>
                </a:solidFill>
                <a:latin typeface="华康俪金黑W8" panose="020B0809000000000000" pitchFamily="49" charset="-122"/>
                <a:ea typeface="华康俪金黑W8" panose="020B0809000000000000" pitchFamily="49" charset="-122"/>
              </a:rPr>
              <a:t>习总新政</a:t>
            </a:r>
            <a:endParaRPr lang="zh-CN" altLang="en-US" sz="11500" dirty="0">
              <a:solidFill>
                <a:schemeClr val="bg1"/>
              </a:solidFill>
              <a:latin typeface="华康俪金黑W8" panose="020B0809000000000000" pitchFamily="49" charset="-122"/>
              <a:ea typeface="华康俪金黑W8" panose="020B0809000000000000" pitchFamily="49" charset="-122"/>
            </a:endParaRPr>
          </a:p>
        </p:txBody>
      </p:sp>
      <p:sp>
        <p:nvSpPr>
          <p:cNvPr id="2" name="矩形 1"/>
          <p:cNvSpPr/>
          <p:nvPr/>
        </p:nvSpPr>
        <p:spPr>
          <a:xfrm>
            <a:off x="1335857" y="3455263"/>
            <a:ext cx="10856142" cy="1862048"/>
          </a:xfrm>
          <a:prstGeom prst="rect">
            <a:avLst/>
          </a:prstGeom>
        </p:spPr>
        <p:txBody>
          <a:bodyPr wrap="square">
            <a:spAutoFit/>
          </a:bodyPr>
          <a:lstStyle/>
          <a:p>
            <a:pPr algn="ctr"/>
            <a:r>
              <a:rPr lang="zh-CN" altLang="en-US" sz="8800" dirty="0" smtClean="0">
                <a:solidFill>
                  <a:srgbClr val="3E494F"/>
                </a:solidFill>
                <a:latin typeface="华康俪金黑W8" panose="020B0809000000000000" pitchFamily="49" charset="-122"/>
                <a:ea typeface="华康俪金黑W8" panose="020B0809000000000000" pitchFamily="49" charset="-122"/>
              </a:rPr>
              <a:t>要挑战哪些</a:t>
            </a:r>
            <a:r>
              <a:rPr lang="zh-CN" altLang="en-US" sz="11500" dirty="0" smtClean="0">
                <a:solidFill>
                  <a:srgbClr val="981F21"/>
                </a:solidFill>
                <a:latin typeface="华康俪金黑W8" panose="020B0809000000000000" pitchFamily="49" charset="-122"/>
                <a:ea typeface="华康俪金黑W8" panose="020B0809000000000000" pitchFamily="49" charset="-122"/>
              </a:rPr>
              <a:t>潜规则？</a:t>
            </a:r>
            <a:endParaRPr lang="zh-CN" altLang="en-US" sz="11500" dirty="0">
              <a:solidFill>
                <a:srgbClr val="981F21"/>
              </a:solidFill>
              <a:latin typeface="华康俪金黑W8" panose="020B0809000000000000" pitchFamily="49" charset="-122"/>
              <a:ea typeface="华康俪金黑W8" panose="020B0809000000000000" pitchFamily="49" charset="-122"/>
            </a:endParaRPr>
          </a:p>
        </p:txBody>
      </p:sp>
    </p:spTree>
    <p:extLst>
      <p:ext uri="{BB962C8B-B14F-4D97-AF65-F5344CB8AC3E}">
        <p14:creationId xmlns:p14="http://schemas.microsoft.com/office/powerpoint/2010/main" val="41120040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091706" y="0"/>
            <a:ext cx="6100293" cy="6858000"/>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rot="20705002">
            <a:off x="712783" y="2474263"/>
            <a:ext cx="11075831" cy="1862048"/>
          </a:xfrm>
          <a:prstGeom prst="rect">
            <a:avLst/>
          </a:prstGeom>
          <a:noFill/>
        </p:spPr>
        <p:txBody>
          <a:bodyPr wrap="square" rtlCol="0">
            <a:spAutoFit/>
          </a:bodyPr>
          <a:lstStyle/>
          <a:p>
            <a:r>
              <a:rPr lang="zh-CN" altLang="en-US" sz="11500" dirty="0">
                <a:solidFill>
                  <a:srgbClr val="981F21"/>
                </a:solidFill>
                <a:latin typeface="华康俪金黑W8" panose="020B0809000000000000" pitchFamily="49" charset="-122"/>
                <a:ea typeface="华康俪金黑W8" panose="020B0809000000000000" pitchFamily="49" charset="-122"/>
              </a:rPr>
              <a:t>铁律八条</a:t>
            </a:r>
            <a:r>
              <a:rPr lang="zh-CN" altLang="en-US" sz="11500" dirty="0">
                <a:solidFill>
                  <a:schemeClr val="bg1"/>
                </a:solidFill>
                <a:latin typeface="华康俪金黑W8" panose="020B0809000000000000" pitchFamily="49" charset="-122"/>
                <a:ea typeface="华康俪金黑W8" panose="020B0809000000000000" pitchFamily="49" charset="-122"/>
              </a:rPr>
              <a:t>告诉你</a:t>
            </a:r>
          </a:p>
        </p:txBody>
      </p:sp>
      <p:sp>
        <p:nvSpPr>
          <p:cNvPr id="11" name="矩形 10"/>
          <p:cNvSpPr/>
          <p:nvPr/>
        </p:nvSpPr>
        <p:spPr>
          <a:xfrm rot="20695336">
            <a:off x="471119" y="2466089"/>
            <a:ext cx="11241172" cy="2312187"/>
          </a:xfrm>
          <a:prstGeom prst="rect">
            <a:avLst/>
          </a:prstGeom>
          <a:noFill/>
          <a:ln w="76200">
            <a:solidFill>
              <a:srgbClr val="981F2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20695336">
            <a:off x="616434" y="2666887"/>
            <a:ext cx="10875372" cy="1910177"/>
          </a:xfrm>
          <a:prstGeom prst="rect">
            <a:avLst/>
          </a:prstGeom>
          <a:noFill/>
          <a:ln w="76200">
            <a:solidFill>
              <a:srgbClr val="981F2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46388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0" y="1439024"/>
            <a:ext cx="12191999" cy="5418976"/>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28603" y="374652"/>
            <a:ext cx="7900709" cy="1015663"/>
          </a:xfrm>
          <a:prstGeom prst="rect">
            <a:avLst/>
          </a:prstGeom>
          <a:noFill/>
        </p:spPr>
        <p:txBody>
          <a:bodyPr wrap="square" rtlCol="0">
            <a:spAutoFit/>
          </a:bodyPr>
          <a:lstStyle/>
          <a:p>
            <a:r>
              <a:rPr lang="zh-CN" altLang="en-US" sz="6000" dirty="0" smtClean="0">
                <a:solidFill>
                  <a:srgbClr val="981F21"/>
                </a:solidFill>
                <a:latin typeface="华康俪金黑W8" panose="020B0809000000000000" pitchFamily="49" charset="-122"/>
                <a:ea typeface="华康俪金黑W8" panose="020B0809000000000000" pitchFamily="49" charset="-122"/>
              </a:rPr>
              <a:t>要</a:t>
            </a:r>
            <a:r>
              <a:rPr lang="zh-CN" altLang="en-US" sz="6000" dirty="0">
                <a:solidFill>
                  <a:srgbClr val="981F21"/>
                </a:solidFill>
                <a:latin typeface="华康俪金黑W8" panose="020B0809000000000000" pitchFamily="49" charset="-122"/>
                <a:ea typeface="华康俪金黑W8" panose="020B0809000000000000" pitchFamily="49" charset="-122"/>
              </a:rPr>
              <a:t>轻车简从不扰民</a:t>
            </a:r>
            <a:endParaRPr lang="en-US" altLang="zh-CN" sz="6000" dirty="0">
              <a:solidFill>
                <a:srgbClr val="981F21"/>
              </a:solidFill>
              <a:latin typeface="华康俪金黑W8" panose="020B0809000000000000" pitchFamily="49" charset="-122"/>
              <a:ea typeface="华康俪金黑W8" panose="020B0809000000000000" pitchFamily="49" charset="-122"/>
            </a:endParaRPr>
          </a:p>
        </p:txBody>
      </p:sp>
      <p:pic>
        <p:nvPicPr>
          <p:cNvPr id="11" name="图片 10"/>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b="40712"/>
          <a:stretch/>
        </p:blipFill>
        <p:spPr>
          <a:xfrm>
            <a:off x="-1" y="1439024"/>
            <a:ext cx="12191999" cy="4455339"/>
          </a:xfrm>
          <a:prstGeom prst="rect">
            <a:avLst/>
          </a:prstGeom>
        </p:spPr>
      </p:pic>
      <p:sp>
        <p:nvSpPr>
          <p:cNvPr id="10" name="文本框 9"/>
          <p:cNvSpPr txBox="1"/>
          <p:nvPr/>
        </p:nvSpPr>
        <p:spPr>
          <a:xfrm rot="21197421">
            <a:off x="501299" y="5862511"/>
            <a:ext cx="3681104" cy="853121"/>
          </a:xfrm>
          <a:prstGeom prst="rect">
            <a:avLst/>
          </a:prstGeom>
          <a:noFill/>
        </p:spPr>
        <p:txBody>
          <a:bodyPr wrap="square" rtlCol="0">
            <a:spAutoFit/>
          </a:bodyPr>
          <a:lstStyle/>
          <a:p>
            <a:r>
              <a:rPr lang="zh-CN" altLang="en-US" sz="4800" dirty="0">
                <a:solidFill>
                  <a:schemeClr val="bg1"/>
                </a:solidFill>
                <a:latin typeface="华康俪金黑W8" panose="020B0809000000000000" pitchFamily="49" charset="-122"/>
                <a:ea typeface="华康俪金黑W8" panose="020B0809000000000000" pitchFamily="49" charset="-122"/>
              </a:rPr>
              <a:t>警车开道</a:t>
            </a:r>
            <a:r>
              <a:rPr lang="zh-CN" altLang="en-US" sz="4800" dirty="0" smtClean="0">
                <a:solidFill>
                  <a:schemeClr val="bg1"/>
                </a:solidFill>
                <a:latin typeface="华康俪金黑W8" panose="020B0809000000000000" pitchFamily="49" charset="-122"/>
                <a:ea typeface="华康俪金黑W8" panose="020B0809000000000000" pitchFamily="49" charset="-122"/>
              </a:rPr>
              <a:t>？</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8" name="文本框 7"/>
          <p:cNvSpPr txBox="1"/>
          <p:nvPr/>
        </p:nvSpPr>
        <p:spPr>
          <a:xfrm rot="21366491">
            <a:off x="4649631" y="5873571"/>
            <a:ext cx="3680926" cy="830997"/>
          </a:xfrm>
          <a:prstGeom prst="rect">
            <a:avLst/>
          </a:prstGeom>
          <a:noFill/>
        </p:spPr>
        <p:txBody>
          <a:bodyPr wrap="square" rtlCol="0">
            <a:spAutoFit/>
          </a:bodyPr>
          <a:lstStyle/>
          <a:p>
            <a:r>
              <a:rPr lang="zh-CN" altLang="en-US" sz="4800" dirty="0">
                <a:solidFill>
                  <a:schemeClr val="bg1"/>
                </a:solidFill>
                <a:latin typeface="华康俪金黑W8" panose="020B0809000000000000" pitchFamily="49" charset="-122"/>
                <a:ea typeface="华康俪金黑W8" panose="020B0809000000000000" pitchFamily="49" charset="-122"/>
              </a:rPr>
              <a:t>道路封锁</a:t>
            </a:r>
            <a:r>
              <a:rPr lang="en-US" altLang="zh-CN" sz="4800" dirty="0" smtClean="0">
                <a:solidFill>
                  <a:schemeClr val="bg1"/>
                </a:solidFill>
                <a:latin typeface="华康俪金黑W8" panose="020B0809000000000000" pitchFamily="49" charset="-122"/>
                <a:ea typeface="华康俪金黑W8" panose="020B0809000000000000" pitchFamily="49" charset="-122"/>
              </a:rPr>
              <a:t>?</a:t>
            </a:r>
          </a:p>
        </p:txBody>
      </p:sp>
      <p:sp>
        <p:nvSpPr>
          <p:cNvPr id="9" name="文本框 8"/>
          <p:cNvSpPr txBox="1"/>
          <p:nvPr/>
        </p:nvSpPr>
        <p:spPr>
          <a:xfrm rot="21048097">
            <a:off x="8560151" y="5835937"/>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随从甚重？</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12" name="任意多边形 11"/>
          <p:cNvSpPr/>
          <p:nvPr/>
        </p:nvSpPr>
        <p:spPr>
          <a:xfrm>
            <a:off x="3973877" y="1576787"/>
            <a:ext cx="4055435" cy="4055435"/>
          </a:xfrm>
          <a:custGeom>
            <a:avLst/>
            <a:gdLst>
              <a:gd name="connsiteX0" fmla="*/ 1378039 w 2756080"/>
              <a:gd name="connsiteY0" fmla="*/ 283334 h 2756080"/>
              <a:gd name="connsiteX1" fmla="*/ 283334 w 2756080"/>
              <a:gd name="connsiteY1" fmla="*/ 1378039 h 2756080"/>
              <a:gd name="connsiteX2" fmla="*/ 1378039 w 2756080"/>
              <a:gd name="connsiteY2" fmla="*/ 2472744 h 2756080"/>
              <a:gd name="connsiteX3" fmla="*/ 2472744 w 2756080"/>
              <a:gd name="connsiteY3" fmla="*/ 1378039 h 2756080"/>
              <a:gd name="connsiteX4" fmla="*/ 1378039 w 2756080"/>
              <a:gd name="connsiteY4" fmla="*/ 283334 h 2756080"/>
              <a:gd name="connsiteX5" fmla="*/ 1378040 w 2756080"/>
              <a:gd name="connsiteY5" fmla="*/ 0 h 2756080"/>
              <a:gd name="connsiteX6" fmla="*/ 2756080 w 2756080"/>
              <a:gd name="connsiteY6" fmla="*/ 1378040 h 2756080"/>
              <a:gd name="connsiteX7" fmla="*/ 1378040 w 2756080"/>
              <a:gd name="connsiteY7" fmla="*/ 2756080 h 2756080"/>
              <a:gd name="connsiteX8" fmla="*/ 0 w 2756080"/>
              <a:gd name="connsiteY8" fmla="*/ 1378040 h 2756080"/>
              <a:gd name="connsiteX9" fmla="*/ 1378040 w 2756080"/>
              <a:gd name="connsiteY9" fmla="*/ 0 h 27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6080" h="2756080">
                <a:moveTo>
                  <a:pt x="1378039" y="283334"/>
                </a:moveTo>
                <a:cubicBezTo>
                  <a:pt x="773450" y="283334"/>
                  <a:pt x="283334" y="773450"/>
                  <a:pt x="283334" y="1378039"/>
                </a:cubicBezTo>
                <a:cubicBezTo>
                  <a:pt x="283334" y="1982628"/>
                  <a:pt x="773450" y="2472744"/>
                  <a:pt x="1378039" y="2472744"/>
                </a:cubicBezTo>
                <a:cubicBezTo>
                  <a:pt x="1982628" y="2472744"/>
                  <a:pt x="2472744" y="1982628"/>
                  <a:pt x="2472744" y="1378039"/>
                </a:cubicBezTo>
                <a:cubicBezTo>
                  <a:pt x="2472744" y="773450"/>
                  <a:pt x="1982628" y="283334"/>
                  <a:pt x="1378039" y="283334"/>
                </a:cubicBezTo>
                <a:close/>
                <a:moveTo>
                  <a:pt x="1378040" y="0"/>
                </a:moveTo>
                <a:cubicBezTo>
                  <a:pt x="2139110" y="0"/>
                  <a:pt x="2756080" y="616970"/>
                  <a:pt x="2756080" y="1378040"/>
                </a:cubicBezTo>
                <a:cubicBezTo>
                  <a:pt x="2756080" y="2139110"/>
                  <a:pt x="2139110" y="2756080"/>
                  <a:pt x="1378040" y="2756080"/>
                </a:cubicBezTo>
                <a:cubicBezTo>
                  <a:pt x="616970" y="2756080"/>
                  <a:pt x="0" y="2139110"/>
                  <a:pt x="0" y="1378040"/>
                </a:cubicBezTo>
                <a:cubicBezTo>
                  <a:pt x="0" y="616970"/>
                  <a:pt x="616970" y="0"/>
                  <a:pt x="1378040" y="0"/>
                </a:cubicBezTo>
                <a:close/>
              </a:path>
            </a:pathLst>
          </a:custGeom>
          <a:solidFill>
            <a:srgbClr val="981F21"/>
          </a:solidFill>
          <a:ln>
            <a:solidFill>
              <a:srgbClr val="981F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文本框 15"/>
          <p:cNvSpPr txBox="1"/>
          <p:nvPr/>
        </p:nvSpPr>
        <p:spPr>
          <a:xfrm rot="20628397">
            <a:off x="4356138" y="1613616"/>
            <a:ext cx="3290913" cy="3631763"/>
          </a:xfrm>
          <a:prstGeom prst="rect">
            <a:avLst/>
          </a:prstGeom>
          <a:noFill/>
          <a:ln>
            <a:noFill/>
          </a:ln>
        </p:spPr>
        <p:txBody>
          <a:bodyPr wrap="square" rtlCol="0">
            <a:spAutoFit/>
          </a:bodyPr>
          <a:lstStyle/>
          <a:p>
            <a:r>
              <a:rPr lang="zh-CN" altLang="en-US" sz="23000" dirty="0" smtClean="0">
                <a:solidFill>
                  <a:srgbClr val="981F21"/>
                </a:solidFill>
                <a:latin typeface="华康俪金黑W8" panose="020B0809000000000000" pitchFamily="49" charset="-122"/>
                <a:ea typeface="华康俪金黑W8" panose="020B0809000000000000" pitchFamily="49" charset="-122"/>
              </a:rPr>
              <a:t>慎</a:t>
            </a:r>
            <a:endParaRPr lang="zh-CN" altLang="en-US" sz="23000" dirty="0">
              <a:solidFill>
                <a:srgbClr val="981F21"/>
              </a:solidFill>
              <a:latin typeface="华康俪金黑W8" panose="020B0809000000000000" pitchFamily="49" charset="-122"/>
              <a:ea typeface="华康俪金黑W8" panose="020B0809000000000000" pitchFamily="49" charset="-122"/>
            </a:endParaRPr>
          </a:p>
        </p:txBody>
      </p:sp>
    </p:spTree>
    <p:extLst>
      <p:ext uri="{BB962C8B-B14F-4D97-AF65-F5344CB8AC3E}">
        <p14:creationId xmlns:p14="http://schemas.microsoft.com/office/powerpoint/2010/main" val="3842944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1439024"/>
            <a:ext cx="12191999" cy="5418976"/>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20923" r="-4773" b="14051"/>
          <a:stretch/>
        </p:blipFill>
        <p:spPr>
          <a:xfrm>
            <a:off x="0" y="1434904"/>
            <a:ext cx="12778881" cy="4459459"/>
          </a:xfrm>
          <a:prstGeom prst="rect">
            <a:avLst/>
          </a:prstGeom>
          <a:ln>
            <a:noFill/>
          </a:ln>
          <a:effectLst>
            <a:outerShdw blurRad="292100" dist="139700" dir="2700000" algn="tl" rotWithShape="0">
              <a:srgbClr val="333333">
                <a:alpha val="65000"/>
              </a:srgbClr>
            </a:outerShdw>
          </a:effectLst>
        </p:spPr>
      </p:pic>
      <p:sp>
        <p:nvSpPr>
          <p:cNvPr id="4" name="文本框 3"/>
          <p:cNvSpPr txBox="1"/>
          <p:nvPr/>
        </p:nvSpPr>
        <p:spPr>
          <a:xfrm>
            <a:off x="128603" y="374652"/>
            <a:ext cx="5795493" cy="1015663"/>
          </a:xfrm>
          <a:prstGeom prst="rect">
            <a:avLst/>
          </a:prstGeom>
          <a:noFill/>
        </p:spPr>
        <p:txBody>
          <a:bodyPr wrap="square" rtlCol="0">
            <a:spAutoFit/>
          </a:bodyPr>
          <a:lstStyle/>
          <a:p>
            <a:r>
              <a:rPr lang="zh-CN" altLang="en-US" sz="6000" dirty="0" smtClean="0">
                <a:solidFill>
                  <a:srgbClr val="981F21"/>
                </a:solidFill>
                <a:latin typeface="华康俪金黑W8" panose="020B0809000000000000" pitchFamily="49" charset="-122"/>
                <a:ea typeface="华康俪金黑W8" panose="020B0809000000000000" pitchFamily="49" charset="-122"/>
              </a:rPr>
              <a:t>要精简会议活动</a:t>
            </a:r>
            <a:endParaRPr lang="en-US" altLang="zh-CN" sz="6000" dirty="0" smtClean="0">
              <a:solidFill>
                <a:srgbClr val="981F21"/>
              </a:solidFill>
              <a:latin typeface="华康俪金黑W8" panose="020B0809000000000000" pitchFamily="49" charset="-122"/>
              <a:ea typeface="华康俪金黑W8" panose="020B0809000000000000" pitchFamily="49" charset="-122"/>
            </a:endParaRPr>
          </a:p>
        </p:txBody>
      </p:sp>
      <p:sp>
        <p:nvSpPr>
          <p:cNvPr id="10" name="文本框 9"/>
          <p:cNvSpPr txBox="1"/>
          <p:nvPr/>
        </p:nvSpPr>
        <p:spPr>
          <a:xfrm rot="21048097">
            <a:off x="384236" y="5825672"/>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启动仪式？</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8" name="文本框 7"/>
          <p:cNvSpPr txBox="1"/>
          <p:nvPr/>
        </p:nvSpPr>
        <p:spPr>
          <a:xfrm rot="21048097">
            <a:off x="4724372" y="5788625"/>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官员剪彩？</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9" name="文本框 8"/>
          <p:cNvSpPr txBox="1"/>
          <p:nvPr/>
        </p:nvSpPr>
        <p:spPr>
          <a:xfrm rot="21048097">
            <a:off x="8735235" y="5788625"/>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奠基大会？</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13" name="任意多边形 12"/>
          <p:cNvSpPr/>
          <p:nvPr/>
        </p:nvSpPr>
        <p:spPr>
          <a:xfrm>
            <a:off x="3295794" y="1775137"/>
            <a:ext cx="4055435" cy="4055435"/>
          </a:xfrm>
          <a:custGeom>
            <a:avLst/>
            <a:gdLst>
              <a:gd name="connsiteX0" fmla="*/ 1378039 w 2756080"/>
              <a:gd name="connsiteY0" fmla="*/ 283334 h 2756080"/>
              <a:gd name="connsiteX1" fmla="*/ 283334 w 2756080"/>
              <a:gd name="connsiteY1" fmla="*/ 1378039 h 2756080"/>
              <a:gd name="connsiteX2" fmla="*/ 1378039 w 2756080"/>
              <a:gd name="connsiteY2" fmla="*/ 2472744 h 2756080"/>
              <a:gd name="connsiteX3" fmla="*/ 2472744 w 2756080"/>
              <a:gd name="connsiteY3" fmla="*/ 1378039 h 2756080"/>
              <a:gd name="connsiteX4" fmla="*/ 1378039 w 2756080"/>
              <a:gd name="connsiteY4" fmla="*/ 283334 h 2756080"/>
              <a:gd name="connsiteX5" fmla="*/ 1378040 w 2756080"/>
              <a:gd name="connsiteY5" fmla="*/ 0 h 2756080"/>
              <a:gd name="connsiteX6" fmla="*/ 2756080 w 2756080"/>
              <a:gd name="connsiteY6" fmla="*/ 1378040 h 2756080"/>
              <a:gd name="connsiteX7" fmla="*/ 1378040 w 2756080"/>
              <a:gd name="connsiteY7" fmla="*/ 2756080 h 2756080"/>
              <a:gd name="connsiteX8" fmla="*/ 0 w 2756080"/>
              <a:gd name="connsiteY8" fmla="*/ 1378040 h 2756080"/>
              <a:gd name="connsiteX9" fmla="*/ 1378040 w 2756080"/>
              <a:gd name="connsiteY9" fmla="*/ 0 h 27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6080" h="2756080">
                <a:moveTo>
                  <a:pt x="1378039" y="283334"/>
                </a:moveTo>
                <a:cubicBezTo>
                  <a:pt x="773450" y="283334"/>
                  <a:pt x="283334" y="773450"/>
                  <a:pt x="283334" y="1378039"/>
                </a:cubicBezTo>
                <a:cubicBezTo>
                  <a:pt x="283334" y="1982628"/>
                  <a:pt x="773450" y="2472744"/>
                  <a:pt x="1378039" y="2472744"/>
                </a:cubicBezTo>
                <a:cubicBezTo>
                  <a:pt x="1982628" y="2472744"/>
                  <a:pt x="2472744" y="1982628"/>
                  <a:pt x="2472744" y="1378039"/>
                </a:cubicBezTo>
                <a:cubicBezTo>
                  <a:pt x="2472744" y="773450"/>
                  <a:pt x="1982628" y="283334"/>
                  <a:pt x="1378039" y="283334"/>
                </a:cubicBezTo>
                <a:close/>
                <a:moveTo>
                  <a:pt x="1378040" y="0"/>
                </a:moveTo>
                <a:cubicBezTo>
                  <a:pt x="2139110" y="0"/>
                  <a:pt x="2756080" y="616970"/>
                  <a:pt x="2756080" y="1378040"/>
                </a:cubicBezTo>
                <a:cubicBezTo>
                  <a:pt x="2756080" y="2139110"/>
                  <a:pt x="2139110" y="2756080"/>
                  <a:pt x="1378040" y="2756080"/>
                </a:cubicBezTo>
                <a:cubicBezTo>
                  <a:pt x="616970" y="2756080"/>
                  <a:pt x="0" y="2139110"/>
                  <a:pt x="0" y="1378040"/>
                </a:cubicBezTo>
                <a:cubicBezTo>
                  <a:pt x="0" y="616970"/>
                  <a:pt x="616970" y="0"/>
                  <a:pt x="1378040" y="0"/>
                </a:cubicBezTo>
                <a:close/>
              </a:path>
            </a:pathLst>
          </a:custGeom>
          <a:solidFill>
            <a:srgbClr val="981F21"/>
          </a:solidFill>
          <a:ln>
            <a:solidFill>
              <a:srgbClr val="981F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文本框 13"/>
          <p:cNvSpPr txBox="1"/>
          <p:nvPr/>
        </p:nvSpPr>
        <p:spPr>
          <a:xfrm rot="20628397">
            <a:off x="3678054" y="1901000"/>
            <a:ext cx="3290913" cy="3631763"/>
          </a:xfrm>
          <a:prstGeom prst="rect">
            <a:avLst/>
          </a:prstGeom>
          <a:noFill/>
          <a:ln>
            <a:noFill/>
          </a:ln>
        </p:spPr>
        <p:txBody>
          <a:bodyPr wrap="square" rtlCol="0">
            <a:spAutoFit/>
          </a:bodyPr>
          <a:lstStyle/>
          <a:p>
            <a:r>
              <a:rPr lang="zh-CN" altLang="en-US" sz="23000" dirty="0" smtClean="0">
                <a:solidFill>
                  <a:srgbClr val="981F21"/>
                </a:solidFill>
                <a:latin typeface="华康俪金黑W8" panose="020B0809000000000000" pitchFamily="49" charset="-122"/>
                <a:ea typeface="华康俪金黑W8" panose="020B0809000000000000" pitchFamily="49" charset="-122"/>
              </a:rPr>
              <a:t>禁</a:t>
            </a:r>
            <a:endParaRPr lang="zh-CN" altLang="en-US" sz="23000" dirty="0">
              <a:solidFill>
                <a:srgbClr val="981F21"/>
              </a:solidFill>
              <a:latin typeface="华康俪金黑W8" panose="020B0809000000000000" pitchFamily="49" charset="-122"/>
              <a:ea typeface="华康俪金黑W8" panose="020B0809000000000000" pitchFamily="49" charset="-122"/>
            </a:endParaRPr>
          </a:p>
        </p:txBody>
      </p:sp>
    </p:spTree>
    <p:extLst>
      <p:ext uri="{BB962C8B-B14F-4D97-AF65-F5344CB8AC3E}">
        <p14:creationId xmlns:p14="http://schemas.microsoft.com/office/powerpoint/2010/main" val="21598758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0" y="1439024"/>
            <a:ext cx="12191999" cy="5418976"/>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20343" r="760" b="16033"/>
          <a:stretch/>
        </p:blipFill>
        <p:spPr>
          <a:xfrm>
            <a:off x="0" y="1439024"/>
            <a:ext cx="12192000" cy="4487593"/>
          </a:xfrm>
          <a:prstGeom prst="rect">
            <a:avLst/>
          </a:prstGeom>
          <a:ln>
            <a:noFill/>
          </a:ln>
          <a:effectLst>
            <a:outerShdw blurRad="292100" dist="139700" dir="2700000" algn="tl" rotWithShape="0">
              <a:srgbClr val="333333">
                <a:alpha val="65000"/>
              </a:srgbClr>
            </a:outerShdw>
          </a:effectLst>
        </p:spPr>
      </p:pic>
      <p:sp>
        <p:nvSpPr>
          <p:cNvPr id="4" name="文本框 3"/>
          <p:cNvSpPr txBox="1"/>
          <p:nvPr/>
        </p:nvSpPr>
        <p:spPr>
          <a:xfrm>
            <a:off x="128603" y="374652"/>
            <a:ext cx="5795493" cy="1015663"/>
          </a:xfrm>
          <a:prstGeom prst="rect">
            <a:avLst/>
          </a:prstGeom>
          <a:noFill/>
        </p:spPr>
        <p:txBody>
          <a:bodyPr wrap="square" rtlCol="0">
            <a:spAutoFit/>
          </a:bodyPr>
          <a:lstStyle/>
          <a:p>
            <a:r>
              <a:rPr lang="zh-CN" altLang="en-US" sz="6000" dirty="0" smtClean="0">
                <a:solidFill>
                  <a:srgbClr val="981F21"/>
                </a:solidFill>
                <a:latin typeface="华康俪金黑W8" panose="020B0809000000000000" pitchFamily="49" charset="-122"/>
                <a:ea typeface="华康俪金黑W8" panose="020B0809000000000000" pitchFamily="49" charset="-122"/>
              </a:rPr>
              <a:t>要</a:t>
            </a:r>
            <a:r>
              <a:rPr lang="zh-CN" altLang="en-US" sz="6000" dirty="0">
                <a:solidFill>
                  <a:srgbClr val="981F21"/>
                </a:solidFill>
                <a:latin typeface="华康俪金黑W8" panose="020B0809000000000000" pitchFamily="49" charset="-122"/>
                <a:ea typeface="华康俪金黑W8" panose="020B0809000000000000" pitchFamily="49" charset="-122"/>
              </a:rPr>
              <a:t>精简文件简报</a:t>
            </a:r>
            <a:endParaRPr lang="en-US" altLang="zh-CN" sz="6000" dirty="0" smtClean="0">
              <a:solidFill>
                <a:srgbClr val="981F21"/>
              </a:solidFill>
              <a:latin typeface="华康俪金黑W8" panose="020B0809000000000000" pitchFamily="49" charset="-122"/>
              <a:ea typeface="华康俪金黑W8" panose="020B0809000000000000" pitchFamily="49" charset="-122"/>
            </a:endParaRPr>
          </a:p>
        </p:txBody>
      </p:sp>
      <p:sp>
        <p:nvSpPr>
          <p:cNvPr id="10" name="文本框 9"/>
          <p:cNvSpPr txBox="1"/>
          <p:nvPr/>
        </p:nvSpPr>
        <p:spPr>
          <a:xfrm rot="21375222">
            <a:off x="279265" y="5899896"/>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办公室抽烟？</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8" name="文本框 7"/>
          <p:cNvSpPr txBox="1"/>
          <p:nvPr/>
        </p:nvSpPr>
        <p:spPr>
          <a:xfrm rot="21048097">
            <a:off x="4726673" y="5825673"/>
            <a:ext cx="3680926" cy="830997"/>
          </a:xfrm>
          <a:prstGeom prst="rect">
            <a:avLst/>
          </a:prstGeom>
          <a:noFill/>
        </p:spPr>
        <p:txBody>
          <a:bodyPr wrap="square" rtlCol="0">
            <a:spAutoFit/>
          </a:bodyPr>
          <a:lstStyle/>
          <a:p>
            <a:r>
              <a:rPr lang="zh-CN" altLang="en-US" sz="4800" dirty="0">
                <a:solidFill>
                  <a:schemeClr val="bg1"/>
                </a:solidFill>
                <a:latin typeface="华康俪金黑W8" panose="020B0809000000000000" pitchFamily="49" charset="-122"/>
                <a:ea typeface="华康俪金黑W8" panose="020B0809000000000000" pitchFamily="49" charset="-122"/>
              </a:rPr>
              <a:t>会议不断</a:t>
            </a:r>
            <a:r>
              <a:rPr lang="en-US" altLang="zh-CN" sz="4800" dirty="0" smtClean="0">
                <a:solidFill>
                  <a:schemeClr val="bg1"/>
                </a:solidFill>
                <a:latin typeface="华康俪金黑W8" panose="020B0809000000000000" pitchFamily="49" charset="-122"/>
                <a:ea typeface="华康俪金黑W8" panose="020B0809000000000000" pitchFamily="49" charset="-122"/>
              </a:rPr>
              <a:t>?</a:t>
            </a:r>
          </a:p>
        </p:txBody>
      </p:sp>
      <p:sp>
        <p:nvSpPr>
          <p:cNvPr id="9" name="文本框 8"/>
          <p:cNvSpPr txBox="1"/>
          <p:nvPr/>
        </p:nvSpPr>
        <p:spPr>
          <a:xfrm rot="21048097">
            <a:off x="8851132" y="5836826"/>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文件成山？</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12" name="任意多边形 11"/>
          <p:cNvSpPr/>
          <p:nvPr/>
        </p:nvSpPr>
        <p:spPr>
          <a:xfrm>
            <a:off x="3295794" y="1775137"/>
            <a:ext cx="4055435" cy="4055435"/>
          </a:xfrm>
          <a:custGeom>
            <a:avLst/>
            <a:gdLst>
              <a:gd name="connsiteX0" fmla="*/ 1378039 w 2756080"/>
              <a:gd name="connsiteY0" fmla="*/ 283334 h 2756080"/>
              <a:gd name="connsiteX1" fmla="*/ 283334 w 2756080"/>
              <a:gd name="connsiteY1" fmla="*/ 1378039 h 2756080"/>
              <a:gd name="connsiteX2" fmla="*/ 1378039 w 2756080"/>
              <a:gd name="connsiteY2" fmla="*/ 2472744 h 2756080"/>
              <a:gd name="connsiteX3" fmla="*/ 2472744 w 2756080"/>
              <a:gd name="connsiteY3" fmla="*/ 1378039 h 2756080"/>
              <a:gd name="connsiteX4" fmla="*/ 1378039 w 2756080"/>
              <a:gd name="connsiteY4" fmla="*/ 283334 h 2756080"/>
              <a:gd name="connsiteX5" fmla="*/ 1378040 w 2756080"/>
              <a:gd name="connsiteY5" fmla="*/ 0 h 2756080"/>
              <a:gd name="connsiteX6" fmla="*/ 2756080 w 2756080"/>
              <a:gd name="connsiteY6" fmla="*/ 1378040 h 2756080"/>
              <a:gd name="connsiteX7" fmla="*/ 1378040 w 2756080"/>
              <a:gd name="connsiteY7" fmla="*/ 2756080 h 2756080"/>
              <a:gd name="connsiteX8" fmla="*/ 0 w 2756080"/>
              <a:gd name="connsiteY8" fmla="*/ 1378040 h 2756080"/>
              <a:gd name="connsiteX9" fmla="*/ 1378040 w 2756080"/>
              <a:gd name="connsiteY9" fmla="*/ 0 h 27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6080" h="2756080">
                <a:moveTo>
                  <a:pt x="1378039" y="283334"/>
                </a:moveTo>
                <a:cubicBezTo>
                  <a:pt x="773450" y="283334"/>
                  <a:pt x="283334" y="773450"/>
                  <a:pt x="283334" y="1378039"/>
                </a:cubicBezTo>
                <a:cubicBezTo>
                  <a:pt x="283334" y="1982628"/>
                  <a:pt x="773450" y="2472744"/>
                  <a:pt x="1378039" y="2472744"/>
                </a:cubicBezTo>
                <a:cubicBezTo>
                  <a:pt x="1982628" y="2472744"/>
                  <a:pt x="2472744" y="1982628"/>
                  <a:pt x="2472744" y="1378039"/>
                </a:cubicBezTo>
                <a:cubicBezTo>
                  <a:pt x="2472744" y="773450"/>
                  <a:pt x="1982628" y="283334"/>
                  <a:pt x="1378039" y="283334"/>
                </a:cubicBezTo>
                <a:close/>
                <a:moveTo>
                  <a:pt x="1378040" y="0"/>
                </a:moveTo>
                <a:cubicBezTo>
                  <a:pt x="2139110" y="0"/>
                  <a:pt x="2756080" y="616970"/>
                  <a:pt x="2756080" y="1378040"/>
                </a:cubicBezTo>
                <a:cubicBezTo>
                  <a:pt x="2756080" y="2139110"/>
                  <a:pt x="2139110" y="2756080"/>
                  <a:pt x="1378040" y="2756080"/>
                </a:cubicBezTo>
                <a:cubicBezTo>
                  <a:pt x="616970" y="2756080"/>
                  <a:pt x="0" y="2139110"/>
                  <a:pt x="0" y="1378040"/>
                </a:cubicBezTo>
                <a:cubicBezTo>
                  <a:pt x="0" y="616970"/>
                  <a:pt x="616970" y="0"/>
                  <a:pt x="1378040" y="0"/>
                </a:cubicBezTo>
                <a:close/>
              </a:path>
            </a:pathLst>
          </a:custGeom>
          <a:solidFill>
            <a:srgbClr val="981F21"/>
          </a:solidFill>
          <a:ln>
            <a:solidFill>
              <a:srgbClr val="981F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文本框 15"/>
          <p:cNvSpPr txBox="1"/>
          <p:nvPr/>
        </p:nvSpPr>
        <p:spPr>
          <a:xfrm rot="20628397">
            <a:off x="3945934" y="1803365"/>
            <a:ext cx="3290913" cy="3631763"/>
          </a:xfrm>
          <a:prstGeom prst="rect">
            <a:avLst/>
          </a:prstGeom>
          <a:noFill/>
          <a:ln>
            <a:noFill/>
          </a:ln>
        </p:spPr>
        <p:txBody>
          <a:bodyPr wrap="square" rtlCol="0">
            <a:spAutoFit/>
          </a:bodyPr>
          <a:lstStyle/>
          <a:p>
            <a:r>
              <a:rPr lang="zh-CN" altLang="en-US" sz="23000" dirty="0" smtClean="0">
                <a:solidFill>
                  <a:srgbClr val="981F21"/>
                </a:solidFill>
                <a:latin typeface="华康俪金黑W8" panose="020B0809000000000000" pitchFamily="49" charset="-122"/>
                <a:ea typeface="华康俪金黑W8" panose="020B0809000000000000" pitchFamily="49" charset="-122"/>
              </a:rPr>
              <a:t>少</a:t>
            </a:r>
            <a:endParaRPr lang="zh-CN" altLang="en-US" sz="23000" dirty="0">
              <a:solidFill>
                <a:srgbClr val="981F21"/>
              </a:solidFill>
              <a:latin typeface="华康俪金黑W8" panose="020B0809000000000000" pitchFamily="49" charset="-122"/>
              <a:ea typeface="华康俪金黑W8" panose="020B0809000000000000" pitchFamily="49" charset="-122"/>
            </a:endParaRPr>
          </a:p>
        </p:txBody>
      </p:sp>
    </p:spTree>
    <p:extLst>
      <p:ext uri="{BB962C8B-B14F-4D97-AF65-F5344CB8AC3E}">
        <p14:creationId xmlns:p14="http://schemas.microsoft.com/office/powerpoint/2010/main" val="35592744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0" y="1439024"/>
            <a:ext cx="12191999" cy="5418976"/>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15669" r="192" b="35479"/>
          <a:stretch/>
        </p:blipFill>
        <p:spPr>
          <a:xfrm>
            <a:off x="0" y="1434906"/>
            <a:ext cx="12168554" cy="4473526"/>
          </a:xfrm>
          <a:prstGeom prst="rect">
            <a:avLst/>
          </a:prstGeom>
        </p:spPr>
      </p:pic>
      <p:sp>
        <p:nvSpPr>
          <p:cNvPr id="4" name="文本框 3"/>
          <p:cNvSpPr txBox="1"/>
          <p:nvPr/>
        </p:nvSpPr>
        <p:spPr>
          <a:xfrm>
            <a:off x="128603" y="374652"/>
            <a:ext cx="6455077" cy="1015663"/>
          </a:xfrm>
          <a:prstGeom prst="rect">
            <a:avLst/>
          </a:prstGeom>
          <a:noFill/>
        </p:spPr>
        <p:txBody>
          <a:bodyPr wrap="square" rtlCol="0">
            <a:spAutoFit/>
          </a:bodyPr>
          <a:lstStyle/>
          <a:p>
            <a:r>
              <a:rPr lang="zh-CN" altLang="en-US" sz="6000" dirty="0" smtClean="0">
                <a:solidFill>
                  <a:srgbClr val="981F21"/>
                </a:solidFill>
                <a:latin typeface="华康俪金黑W8" panose="020B0809000000000000" pitchFamily="49" charset="-122"/>
                <a:ea typeface="华康俪金黑W8" panose="020B0809000000000000" pitchFamily="49" charset="-122"/>
              </a:rPr>
              <a:t>要规范出访活动</a:t>
            </a:r>
            <a:endParaRPr lang="en-US" altLang="zh-CN" sz="6000" dirty="0" smtClean="0">
              <a:solidFill>
                <a:srgbClr val="981F21"/>
              </a:solidFill>
              <a:latin typeface="华康俪金黑W8" panose="020B0809000000000000" pitchFamily="49" charset="-122"/>
              <a:ea typeface="华康俪金黑W8" panose="020B0809000000000000" pitchFamily="49" charset="-122"/>
            </a:endParaRPr>
          </a:p>
        </p:txBody>
      </p:sp>
      <p:sp>
        <p:nvSpPr>
          <p:cNvPr id="10" name="文本框 9"/>
          <p:cNvSpPr txBox="1"/>
          <p:nvPr/>
        </p:nvSpPr>
        <p:spPr>
          <a:xfrm rot="21048097">
            <a:off x="307401" y="5825672"/>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夹道欢迎？</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8" name="文本框 7"/>
          <p:cNvSpPr txBox="1"/>
          <p:nvPr/>
        </p:nvSpPr>
        <p:spPr>
          <a:xfrm rot="21048097">
            <a:off x="4743217" y="5875906"/>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组织迎接</a:t>
            </a:r>
            <a:r>
              <a:rPr lang="en-US" altLang="zh-CN" sz="4800" dirty="0" smtClean="0">
                <a:solidFill>
                  <a:schemeClr val="bg1"/>
                </a:solidFill>
                <a:latin typeface="华康俪金黑W8" panose="020B0809000000000000" pitchFamily="49" charset="-122"/>
                <a:ea typeface="华康俪金黑W8" panose="020B0809000000000000" pitchFamily="49" charset="-122"/>
              </a:rPr>
              <a:t>?</a:t>
            </a:r>
          </a:p>
        </p:txBody>
      </p:sp>
      <p:sp>
        <p:nvSpPr>
          <p:cNvPr id="9" name="文本框 8"/>
          <p:cNvSpPr txBox="1"/>
          <p:nvPr/>
        </p:nvSpPr>
        <p:spPr>
          <a:xfrm rot="21048097">
            <a:off x="9013446" y="5807024"/>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豪车出行？</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12" name="任意多边形 11"/>
          <p:cNvSpPr/>
          <p:nvPr/>
        </p:nvSpPr>
        <p:spPr>
          <a:xfrm>
            <a:off x="3295794" y="1775137"/>
            <a:ext cx="4055435" cy="4055435"/>
          </a:xfrm>
          <a:custGeom>
            <a:avLst/>
            <a:gdLst>
              <a:gd name="connsiteX0" fmla="*/ 1378039 w 2756080"/>
              <a:gd name="connsiteY0" fmla="*/ 283334 h 2756080"/>
              <a:gd name="connsiteX1" fmla="*/ 283334 w 2756080"/>
              <a:gd name="connsiteY1" fmla="*/ 1378039 h 2756080"/>
              <a:gd name="connsiteX2" fmla="*/ 1378039 w 2756080"/>
              <a:gd name="connsiteY2" fmla="*/ 2472744 h 2756080"/>
              <a:gd name="connsiteX3" fmla="*/ 2472744 w 2756080"/>
              <a:gd name="connsiteY3" fmla="*/ 1378039 h 2756080"/>
              <a:gd name="connsiteX4" fmla="*/ 1378039 w 2756080"/>
              <a:gd name="connsiteY4" fmla="*/ 283334 h 2756080"/>
              <a:gd name="connsiteX5" fmla="*/ 1378040 w 2756080"/>
              <a:gd name="connsiteY5" fmla="*/ 0 h 2756080"/>
              <a:gd name="connsiteX6" fmla="*/ 2756080 w 2756080"/>
              <a:gd name="connsiteY6" fmla="*/ 1378040 h 2756080"/>
              <a:gd name="connsiteX7" fmla="*/ 1378040 w 2756080"/>
              <a:gd name="connsiteY7" fmla="*/ 2756080 h 2756080"/>
              <a:gd name="connsiteX8" fmla="*/ 0 w 2756080"/>
              <a:gd name="connsiteY8" fmla="*/ 1378040 h 2756080"/>
              <a:gd name="connsiteX9" fmla="*/ 1378040 w 2756080"/>
              <a:gd name="connsiteY9" fmla="*/ 0 h 27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6080" h="2756080">
                <a:moveTo>
                  <a:pt x="1378039" y="283334"/>
                </a:moveTo>
                <a:cubicBezTo>
                  <a:pt x="773450" y="283334"/>
                  <a:pt x="283334" y="773450"/>
                  <a:pt x="283334" y="1378039"/>
                </a:cubicBezTo>
                <a:cubicBezTo>
                  <a:pt x="283334" y="1982628"/>
                  <a:pt x="773450" y="2472744"/>
                  <a:pt x="1378039" y="2472744"/>
                </a:cubicBezTo>
                <a:cubicBezTo>
                  <a:pt x="1982628" y="2472744"/>
                  <a:pt x="2472744" y="1982628"/>
                  <a:pt x="2472744" y="1378039"/>
                </a:cubicBezTo>
                <a:cubicBezTo>
                  <a:pt x="2472744" y="773450"/>
                  <a:pt x="1982628" y="283334"/>
                  <a:pt x="1378039" y="283334"/>
                </a:cubicBezTo>
                <a:close/>
                <a:moveTo>
                  <a:pt x="1378040" y="0"/>
                </a:moveTo>
                <a:cubicBezTo>
                  <a:pt x="2139110" y="0"/>
                  <a:pt x="2756080" y="616970"/>
                  <a:pt x="2756080" y="1378040"/>
                </a:cubicBezTo>
                <a:cubicBezTo>
                  <a:pt x="2756080" y="2139110"/>
                  <a:pt x="2139110" y="2756080"/>
                  <a:pt x="1378040" y="2756080"/>
                </a:cubicBezTo>
                <a:cubicBezTo>
                  <a:pt x="616970" y="2756080"/>
                  <a:pt x="0" y="2139110"/>
                  <a:pt x="0" y="1378040"/>
                </a:cubicBezTo>
                <a:cubicBezTo>
                  <a:pt x="0" y="616970"/>
                  <a:pt x="616970" y="0"/>
                  <a:pt x="1378040" y="0"/>
                </a:cubicBezTo>
                <a:close/>
              </a:path>
            </a:pathLst>
          </a:custGeom>
          <a:solidFill>
            <a:srgbClr val="981F21"/>
          </a:solidFill>
          <a:ln>
            <a:solidFill>
              <a:srgbClr val="981F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文本框 15"/>
          <p:cNvSpPr txBox="1"/>
          <p:nvPr/>
        </p:nvSpPr>
        <p:spPr>
          <a:xfrm rot="20628397">
            <a:off x="3781498" y="2024216"/>
            <a:ext cx="3290913" cy="3631763"/>
          </a:xfrm>
          <a:prstGeom prst="rect">
            <a:avLst/>
          </a:prstGeom>
          <a:noFill/>
          <a:ln>
            <a:noFill/>
          </a:ln>
        </p:spPr>
        <p:txBody>
          <a:bodyPr wrap="square" rtlCol="0">
            <a:spAutoFit/>
          </a:bodyPr>
          <a:lstStyle/>
          <a:p>
            <a:r>
              <a:rPr lang="zh-CN" altLang="en-US" sz="23000" dirty="0" smtClean="0">
                <a:solidFill>
                  <a:srgbClr val="981F21"/>
                </a:solidFill>
                <a:latin typeface="华康俪金黑W8" panose="020B0809000000000000" pitchFamily="49" charset="-122"/>
                <a:ea typeface="华康俪金黑W8" panose="020B0809000000000000" pitchFamily="49" charset="-122"/>
              </a:rPr>
              <a:t>不</a:t>
            </a:r>
            <a:endParaRPr lang="zh-CN" altLang="en-US" sz="23000" dirty="0">
              <a:solidFill>
                <a:srgbClr val="981F21"/>
              </a:solidFill>
              <a:latin typeface="华康俪金黑W8" panose="020B0809000000000000" pitchFamily="49" charset="-122"/>
              <a:ea typeface="华康俪金黑W8" panose="020B0809000000000000" pitchFamily="49" charset="-122"/>
            </a:endParaRPr>
          </a:p>
        </p:txBody>
      </p:sp>
    </p:spTree>
    <p:extLst>
      <p:ext uri="{BB962C8B-B14F-4D97-AF65-F5344CB8AC3E}">
        <p14:creationId xmlns:p14="http://schemas.microsoft.com/office/powerpoint/2010/main" val="41487240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0" y="1439024"/>
            <a:ext cx="12191999" cy="5418976"/>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28603" y="374652"/>
            <a:ext cx="6455077" cy="1015663"/>
          </a:xfrm>
          <a:prstGeom prst="rect">
            <a:avLst/>
          </a:prstGeom>
          <a:noFill/>
        </p:spPr>
        <p:txBody>
          <a:bodyPr wrap="square" rtlCol="0">
            <a:spAutoFit/>
          </a:bodyPr>
          <a:lstStyle/>
          <a:p>
            <a:r>
              <a:rPr lang="zh-CN" altLang="en-US" sz="6000" dirty="0">
                <a:solidFill>
                  <a:srgbClr val="981F21"/>
                </a:solidFill>
                <a:latin typeface="华康俪金黑W8" panose="020B0809000000000000" pitchFamily="49" charset="-122"/>
                <a:ea typeface="华康俪金黑W8" panose="020B0809000000000000" pitchFamily="49" charset="-122"/>
              </a:rPr>
              <a:t>要改进警卫工作</a:t>
            </a:r>
            <a:endParaRPr lang="en-US" altLang="zh-CN" sz="6000" dirty="0" smtClean="0">
              <a:solidFill>
                <a:srgbClr val="981F21"/>
              </a:solidFill>
              <a:latin typeface="华康俪金黑W8" panose="020B0809000000000000" pitchFamily="49" charset="-122"/>
              <a:ea typeface="华康俪金黑W8" panose="020B0809000000000000" pitchFamily="49" charset="-122"/>
            </a:endParaRPr>
          </a:p>
        </p:txBody>
      </p:sp>
      <p:pic>
        <p:nvPicPr>
          <p:cNvPr id="11" name="图片 10"/>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18147" b="26814"/>
          <a:stretch/>
        </p:blipFill>
        <p:spPr>
          <a:xfrm>
            <a:off x="0" y="1448971"/>
            <a:ext cx="12192000" cy="4473527"/>
          </a:xfrm>
          <a:prstGeom prst="rect">
            <a:avLst/>
          </a:prstGeom>
        </p:spPr>
      </p:pic>
      <p:sp>
        <p:nvSpPr>
          <p:cNvPr id="10" name="文本框 9"/>
          <p:cNvSpPr txBox="1"/>
          <p:nvPr/>
        </p:nvSpPr>
        <p:spPr>
          <a:xfrm rot="21197421">
            <a:off x="501299" y="5862511"/>
            <a:ext cx="3681104" cy="853121"/>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清场闭馆？</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8" name="文本框 7"/>
          <p:cNvSpPr txBox="1"/>
          <p:nvPr/>
        </p:nvSpPr>
        <p:spPr>
          <a:xfrm rot="21366491">
            <a:off x="4649631" y="5873571"/>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交通管制</a:t>
            </a:r>
            <a:r>
              <a:rPr lang="en-US" altLang="zh-CN" sz="4800" dirty="0" smtClean="0">
                <a:solidFill>
                  <a:schemeClr val="bg1"/>
                </a:solidFill>
                <a:latin typeface="华康俪金黑W8" panose="020B0809000000000000" pitchFamily="49" charset="-122"/>
                <a:ea typeface="华康俪金黑W8" panose="020B0809000000000000" pitchFamily="49" charset="-122"/>
              </a:rPr>
              <a:t>?</a:t>
            </a:r>
          </a:p>
        </p:txBody>
      </p:sp>
      <p:sp>
        <p:nvSpPr>
          <p:cNvPr id="9" name="文本框 8"/>
          <p:cNvSpPr txBox="1"/>
          <p:nvPr/>
        </p:nvSpPr>
        <p:spPr>
          <a:xfrm rot="21048097">
            <a:off x="8560151" y="5835937"/>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脱离群众？</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12" name="任意多边形 11"/>
          <p:cNvSpPr/>
          <p:nvPr/>
        </p:nvSpPr>
        <p:spPr>
          <a:xfrm>
            <a:off x="3973877" y="1576787"/>
            <a:ext cx="4055435" cy="4055435"/>
          </a:xfrm>
          <a:custGeom>
            <a:avLst/>
            <a:gdLst>
              <a:gd name="connsiteX0" fmla="*/ 1378039 w 2756080"/>
              <a:gd name="connsiteY0" fmla="*/ 283334 h 2756080"/>
              <a:gd name="connsiteX1" fmla="*/ 283334 w 2756080"/>
              <a:gd name="connsiteY1" fmla="*/ 1378039 h 2756080"/>
              <a:gd name="connsiteX2" fmla="*/ 1378039 w 2756080"/>
              <a:gd name="connsiteY2" fmla="*/ 2472744 h 2756080"/>
              <a:gd name="connsiteX3" fmla="*/ 2472744 w 2756080"/>
              <a:gd name="connsiteY3" fmla="*/ 1378039 h 2756080"/>
              <a:gd name="connsiteX4" fmla="*/ 1378039 w 2756080"/>
              <a:gd name="connsiteY4" fmla="*/ 283334 h 2756080"/>
              <a:gd name="connsiteX5" fmla="*/ 1378040 w 2756080"/>
              <a:gd name="connsiteY5" fmla="*/ 0 h 2756080"/>
              <a:gd name="connsiteX6" fmla="*/ 2756080 w 2756080"/>
              <a:gd name="connsiteY6" fmla="*/ 1378040 h 2756080"/>
              <a:gd name="connsiteX7" fmla="*/ 1378040 w 2756080"/>
              <a:gd name="connsiteY7" fmla="*/ 2756080 h 2756080"/>
              <a:gd name="connsiteX8" fmla="*/ 0 w 2756080"/>
              <a:gd name="connsiteY8" fmla="*/ 1378040 h 2756080"/>
              <a:gd name="connsiteX9" fmla="*/ 1378040 w 2756080"/>
              <a:gd name="connsiteY9" fmla="*/ 0 h 27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6080" h="2756080">
                <a:moveTo>
                  <a:pt x="1378039" y="283334"/>
                </a:moveTo>
                <a:cubicBezTo>
                  <a:pt x="773450" y="283334"/>
                  <a:pt x="283334" y="773450"/>
                  <a:pt x="283334" y="1378039"/>
                </a:cubicBezTo>
                <a:cubicBezTo>
                  <a:pt x="283334" y="1982628"/>
                  <a:pt x="773450" y="2472744"/>
                  <a:pt x="1378039" y="2472744"/>
                </a:cubicBezTo>
                <a:cubicBezTo>
                  <a:pt x="1982628" y="2472744"/>
                  <a:pt x="2472744" y="1982628"/>
                  <a:pt x="2472744" y="1378039"/>
                </a:cubicBezTo>
                <a:cubicBezTo>
                  <a:pt x="2472744" y="773450"/>
                  <a:pt x="1982628" y="283334"/>
                  <a:pt x="1378039" y="283334"/>
                </a:cubicBezTo>
                <a:close/>
                <a:moveTo>
                  <a:pt x="1378040" y="0"/>
                </a:moveTo>
                <a:cubicBezTo>
                  <a:pt x="2139110" y="0"/>
                  <a:pt x="2756080" y="616970"/>
                  <a:pt x="2756080" y="1378040"/>
                </a:cubicBezTo>
                <a:cubicBezTo>
                  <a:pt x="2756080" y="2139110"/>
                  <a:pt x="2139110" y="2756080"/>
                  <a:pt x="1378040" y="2756080"/>
                </a:cubicBezTo>
                <a:cubicBezTo>
                  <a:pt x="616970" y="2756080"/>
                  <a:pt x="0" y="2139110"/>
                  <a:pt x="0" y="1378040"/>
                </a:cubicBezTo>
                <a:cubicBezTo>
                  <a:pt x="0" y="616970"/>
                  <a:pt x="616970" y="0"/>
                  <a:pt x="1378040" y="0"/>
                </a:cubicBezTo>
                <a:close/>
              </a:path>
            </a:pathLst>
          </a:custGeom>
          <a:solidFill>
            <a:srgbClr val="981F21"/>
          </a:solidFill>
          <a:ln>
            <a:solidFill>
              <a:srgbClr val="981F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文本框 15"/>
          <p:cNvSpPr txBox="1"/>
          <p:nvPr/>
        </p:nvSpPr>
        <p:spPr>
          <a:xfrm rot="20628397">
            <a:off x="4292025" y="1443882"/>
            <a:ext cx="3290913" cy="3631763"/>
          </a:xfrm>
          <a:prstGeom prst="rect">
            <a:avLst/>
          </a:prstGeom>
          <a:noFill/>
          <a:ln>
            <a:noFill/>
          </a:ln>
        </p:spPr>
        <p:txBody>
          <a:bodyPr wrap="square" rtlCol="0">
            <a:spAutoFit/>
          </a:bodyPr>
          <a:lstStyle/>
          <a:p>
            <a:r>
              <a:rPr lang="zh-CN" altLang="en-US" sz="23000" dirty="0" smtClean="0">
                <a:solidFill>
                  <a:srgbClr val="981F21"/>
                </a:solidFill>
                <a:latin typeface="华康俪金黑W8" panose="020B0809000000000000" pitchFamily="49" charset="-122"/>
                <a:ea typeface="华康俪金黑W8" panose="020B0809000000000000" pitchFamily="49" charset="-122"/>
              </a:rPr>
              <a:t>止</a:t>
            </a:r>
            <a:endParaRPr lang="zh-CN" altLang="en-US" sz="23000" dirty="0">
              <a:solidFill>
                <a:srgbClr val="981F21"/>
              </a:solidFill>
              <a:latin typeface="华康俪金黑W8" panose="020B0809000000000000" pitchFamily="49" charset="-122"/>
              <a:ea typeface="华康俪金黑W8" panose="020B0809000000000000" pitchFamily="49" charset="-122"/>
            </a:endParaRPr>
          </a:p>
        </p:txBody>
      </p:sp>
    </p:spTree>
    <p:extLst>
      <p:ext uri="{BB962C8B-B14F-4D97-AF65-F5344CB8AC3E}">
        <p14:creationId xmlns:p14="http://schemas.microsoft.com/office/powerpoint/2010/main" val="31742145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0" y="1439024"/>
            <a:ext cx="12191999" cy="5418976"/>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21727" b="29540"/>
          <a:stretch/>
        </p:blipFill>
        <p:spPr>
          <a:xfrm>
            <a:off x="-1" y="1442435"/>
            <a:ext cx="12191999" cy="4456090"/>
          </a:xfrm>
          <a:prstGeom prst="rect">
            <a:avLst/>
          </a:prstGeom>
        </p:spPr>
      </p:pic>
      <p:sp>
        <p:nvSpPr>
          <p:cNvPr id="4" name="文本框 3"/>
          <p:cNvSpPr txBox="1"/>
          <p:nvPr/>
        </p:nvSpPr>
        <p:spPr>
          <a:xfrm>
            <a:off x="128603" y="374652"/>
            <a:ext cx="6455077" cy="1015663"/>
          </a:xfrm>
          <a:prstGeom prst="rect">
            <a:avLst/>
          </a:prstGeom>
          <a:noFill/>
        </p:spPr>
        <p:txBody>
          <a:bodyPr wrap="square" rtlCol="0">
            <a:spAutoFit/>
          </a:bodyPr>
          <a:lstStyle/>
          <a:p>
            <a:r>
              <a:rPr lang="zh-CN" altLang="en-US" sz="6000" dirty="0" smtClean="0">
                <a:solidFill>
                  <a:srgbClr val="981F21"/>
                </a:solidFill>
                <a:latin typeface="华康俪金黑W8" panose="020B0809000000000000" pitchFamily="49" charset="-122"/>
                <a:ea typeface="华康俪金黑W8" panose="020B0809000000000000" pitchFamily="49" charset="-122"/>
              </a:rPr>
              <a:t>要改进新闻报道</a:t>
            </a:r>
            <a:endParaRPr lang="en-US" altLang="zh-CN" sz="6000" dirty="0" smtClean="0">
              <a:solidFill>
                <a:srgbClr val="981F21"/>
              </a:solidFill>
              <a:latin typeface="华康俪金黑W8" panose="020B0809000000000000" pitchFamily="49" charset="-122"/>
              <a:ea typeface="华康俪金黑W8" panose="020B0809000000000000" pitchFamily="49" charset="-122"/>
            </a:endParaRPr>
          </a:p>
        </p:txBody>
      </p:sp>
      <p:sp>
        <p:nvSpPr>
          <p:cNvPr id="10" name="文本框 9"/>
          <p:cNvSpPr txBox="1"/>
          <p:nvPr/>
        </p:nvSpPr>
        <p:spPr>
          <a:xfrm rot="21197421">
            <a:off x="501299" y="5862511"/>
            <a:ext cx="3681104" cy="853121"/>
          </a:xfrm>
          <a:prstGeom prst="rect">
            <a:avLst/>
          </a:prstGeom>
          <a:noFill/>
        </p:spPr>
        <p:txBody>
          <a:bodyPr wrap="square" rtlCol="0">
            <a:spAutoFit/>
          </a:bodyPr>
          <a:lstStyle/>
          <a:p>
            <a:r>
              <a:rPr lang="zh-CN" altLang="en-US" sz="4800" dirty="0">
                <a:solidFill>
                  <a:schemeClr val="bg1"/>
                </a:solidFill>
                <a:latin typeface="华康俪金黑W8" panose="020B0809000000000000" pitchFamily="49" charset="-122"/>
                <a:ea typeface="华康俪金黑W8" panose="020B0809000000000000" pitchFamily="49" charset="-122"/>
              </a:rPr>
              <a:t>虚假新闻</a:t>
            </a:r>
            <a:r>
              <a:rPr lang="zh-CN" altLang="en-US" sz="4800" dirty="0" smtClean="0">
                <a:solidFill>
                  <a:schemeClr val="bg1"/>
                </a:solidFill>
                <a:latin typeface="华康俪金黑W8" panose="020B0809000000000000" pitchFamily="49" charset="-122"/>
                <a:ea typeface="华康俪金黑W8" panose="020B0809000000000000" pitchFamily="49" charset="-122"/>
              </a:rPr>
              <a:t>？</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8" name="文本框 7"/>
          <p:cNvSpPr txBox="1"/>
          <p:nvPr/>
        </p:nvSpPr>
        <p:spPr>
          <a:xfrm rot="21366491">
            <a:off x="4649631" y="5873571"/>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华而不实</a:t>
            </a:r>
            <a:r>
              <a:rPr lang="en-US" altLang="zh-CN" sz="4800" dirty="0" smtClean="0">
                <a:solidFill>
                  <a:schemeClr val="bg1"/>
                </a:solidFill>
                <a:latin typeface="华康俪金黑W8" panose="020B0809000000000000" pitchFamily="49" charset="-122"/>
                <a:ea typeface="华康俪金黑W8" panose="020B0809000000000000" pitchFamily="49" charset="-122"/>
              </a:rPr>
              <a:t>?</a:t>
            </a:r>
          </a:p>
        </p:txBody>
      </p:sp>
      <p:sp>
        <p:nvSpPr>
          <p:cNvPr id="9" name="文本框 8"/>
          <p:cNvSpPr txBox="1"/>
          <p:nvPr/>
        </p:nvSpPr>
        <p:spPr>
          <a:xfrm rot="21048097">
            <a:off x="8560151" y="5835937"/>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拖沓冗余？</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12" name="任意多边形 11"/>
          <p:cNvSpPr/>
          <p:nvPr/>
        </p:nvSpPr>
        <p:spPr>
          <a:xfrm>
            <a:off x="3973877" y="1576787"/>
            <a:ext cx="4055435" cy="4055435"/>
          </a:xfrm>
          <a:custGeom>
            <a:avLst/>
            <a:gdLst>
              <a:gd name="connsiteX0" fmla="*/ 1378039 w 2756080"/>
              <a:gd name="connsiteY0" fmla="*/ 283334 h 2756080"/>
              <a:gd name="connsiteX1" fmla="*/ 283334 w 2756080"/>
              <a:gd name="connsiteY1" fmla="*/ 1378039 h 2756080"/>
              <a:gd name="connsiteX2" fmla="*/ 1378039 w 2756080"/>
              <a:gd name="connsiteY2" fmla="*/ 2472744 h 2756080"/>
              <a:gd name="connsiteX3" fmla="*/ 2472744 w 2756080"/>
              <a:gd name="connsiteY3" fmla="*/ 1378039 h 2756080"/>
              <a:gd name="connsiteX4" fmla="*/ 1378039 w 2756080"/>
              <a:gd name="connsiteY4" fmla="*/ 283334 h 2756080"/>
              <a:gd name="connsiteX5" fmla="*/ 1378040 w 2756080"/>
              <a:gd name="connsiteY5" fmla="*/ 0 h 2756080"/>
              <a:gd name="connsiteX6" fmla="*/ 2756080 w 2756080"/>
              <a:gd name="connsiteY6" fmla="*/ 1378040 h 2756080"/>
              <a:gd name="connsiteX7" fmla="*/ 1378040 w 2756080"/>
              <a:gd name="connsiteY7" fmla="*/ 2756080 h 2756080"/>
              <a:gd name="connsiteX8" fmla="*/ 0 w 2756080"/>
              <a:gd name="connsiteY8" fmla="*/ 1378040 h 2756080"/>
              <a:gd name="connsiteX9" fmla="*/ 1378040 w 2756080"/>
              <a:gd name="connsiteY9" fmla="*/ 0 h 27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6080" h="2756080">
                <a:moveTo>
                  <a:pt x="1378039" y="283334"/>
                </a:moveTo>
                <a:cubicBezTo>
                  <a:pt x="773450" y="283334"/>
                  <a:pt x="283334" y="773450"/>
                  <a:pt x="283334" y="1378039"/>
                </a:cubicBezTo>
                <a:cubicBezTo>
                  <a:pt x="283334" y="1982628"/>
                  <a:pt x="773450" y="2472744"/>
                  <a:pt x="1378039" y="2472744"/>
                </a:cubicBezTo>
                <a:cubicBezTo>
                  <a:pt x="1982628" y="2472744"/>
                  <a:pt x="2472744" y="1982628"/>
                  <a:pt x="2472744" y="1378039"/>
                </a:cubicBezTo>
                <a:cubicBezTo>
                  <a:pt x="2472744" y="773450"/>
                  <a:pt x="1982628" y="283334"/>
                  <a:pt x="1378039" y="283334"/>
                </a:cubicBezTo>
                <a:close/>
                <a:moveTo>
                  <a:pt x="1378040" y="0"/>
                </a:moveTo>
                <a:cubicBezTo>
                  <a:pt x="2139110" y="0"/>
                  <a:pt x="2756080" y="616970"/>
                  <a:pt x="2756080" y="1378040"/>
                </a:cubicBezTo>
                <a:cubicBezTo>
                  <a:pt x="2756080" y="2139110"/>
                  <a:pt x="2139110" y="2756080"/>
                  <a:pt x="1378040" y="2756080"/>
                </a:cubicBezTo>
                <a:cubicBezTo>
                  <a:pt x="616970" y="2756080"/>
                  <a:pt x="0" y="2139110"/>
                  <a:pt x="0" y="1378040"/>
                </a:cubicBezTo>
                <a:cubicBezTo>
                  <a:pt x="0" y="616970"/>
                  <a:pt x="616970" y="0"/>
                  <a:pt x="1378040" y="0"/>
                </a:cubicBezTo>
                <a:close/>
              </a:path>
            </a:pathLst>
          </a:custGeom>
          <a:solidFill>
            <a:srgbClr val="981F21"/>
          </a:solidFill>
          <a:ln>
            <a:solidFill>
              <a:srgbClr val="981F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文本框 15"/>
          <p:cNvSpPr txBox="1"/>
          <p:nvPr/>
        </p:nvSpPr>
        <p:spPr>
          <a:xfrm rot="20628397">
            <a:off x="4356138" y="1631781"/>
            <a:ext cx="3290913" cy="3631763"/>
          </a:xfrm>
          <a:prstGeom prst="rect">
            <a:avLst/>
          </a:prstGeom>
          <a:noFill/>
          <a:ln>
            <a:noFill/>
          </a:ln>
        </p:spPr>
        <p:txBody>
          <a:bodyPr wrap="square" rtlCol="0">
            <a:spAutoFit/>
          </a:bodyPr>
          <a:lstStyle/>
          <a:p>
            <a:r>
              <a:rPr lang="zh-CN" altLang="en-US" sz="23000" dirty="0" smtClean="0">
                <a:solidFill>
                  <a:srgbClr val="981F21"/>
                </a:solidFill>
                <a:latin typeface="华康俪金黑W8" panose="020B0809000000000000" pitchFamily="49" charset="-122"/>
                <a:ea typeface="华康俪金黑W8" panose="020B0809000000000000" pitchFamily="49" charset="-122"/>
              </a:rPr>
              <a:t>该</a:t>
            </a:r>
            <a:endParaRPr lang="zh-CN" altLang="en-US" sz="23000" dirty="0">
              <a:solidFill>
                <a:srgbClr val="981F21"/>
              </a:solidFill>
              <a:latin typeface="华康俪金黑W8" panose="020B0809000000000000" pitchFamily="49" charset="-122"/>
              <a:ea typeface="华康俪金黑W8" panose="020B0809000000000000" pitchFamily="49" charset="-122"/>
            </a:endParaRPr>
          </a:p>
        </p:txBody>
      </p:sp>
    </p:spTree>
    <p:extLst>
      <p:ext uri="{BB962C8B-B14F-4D97-AF65-F5344CB8AC3E}">
        <p14:creationId xmlns:p14="http://schemas.microsoft.com/office/powerpoint/2010/main" val="30784479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0" y="1439024"/>
            <a:ext cx="12191999" cy="5418976"/>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rotWithShape="1">
          <a:blip r:embed="rId2" cstate="print">
            <a:grayscl/>
            <a:extLst>
              <a:ext uri="{28A0092B-C50C-407E-A947-70E740481C1C}">
                <a14:useLocalDpi xmlns:a14="http://schemas.microsoft.com/office/drawing/2010/main" val="0"/>
              </a:ext>
            </a:extLst>
          </a:blip>
          <a:srcRect b="23980"/>
          <a:stretch/>
        </p:blipFill>
        <p:spPr>
          <a:xfrm>
            <a:off x="3692675" y="1439023"/>
            <a:ext cx="8499323" cy="4489573"/>
          </a:xfrm>
          <a:prstGeom prst="rect">
            <a:avLst/>
          </a:prstGeom>
        </p:spPr>
      </p:pic>
      <p:sp>
        <p:nvSpPr>
          <p:cNvPr id="4" name="文本框 3"/>
          <p:cNvSpPr txBox="1"/>
          <p:nvPr/>
        </p:nvSpPr>
        <p:spPr>
          <a:xfrm>
            <a:off x="128603" y="374652"/>
            <a:ext cx="6455077" cy="1015663"/>
          </a:xfrm>
          <a:prstGeom prst="rect">
            <a:avLst/>
          </a:prstGeom>
          <a:noFill/>
        </p:spPr>
        <p:txBody>
          <a:bodyPr wrap="square" rtlCol="0">
            <a:spAutoFit/>
          </a:bodyPr>
          <a:lstStyle/>
          <a:p>
            <a:r>
              <a:rPr lang="zh-CN" altLang="en-US" sz="6000" dirty="0">
                <a:solidFill>
                  <a:srgbClr val="981F21"/>
                </a:solidFill>
                <a:latin typeface="华康俪金黑W8" panose="020B0809000000000000" pitchFamily="49" charset="-122"/>
                <a:ea typeface="华康俪金黑W8" panose="020B0809000000000000" pitchFamily="49" charset="-122"/>
              </a:rPr>
              <a:t>要严格文稿发表</a:t>
            </a:r>
            <a:endParaRPr lang="en-US" altLang="zh-CN" sz="6000" dirty="0" smtClean="0">
              <a:solidFill>
                <a:srgbClr val="981F21"/>
              </a:solidFill>
              <a:latin typeface="华康俪金黑W8" panose="020B0809000000000000" pitchFamily="49" charset="-122"/>
              <a:ea typeface="华康俪金黑W8" panose="020B0809000000000000" pitchFamily="49" charset="-122"/>
            </a:endParaRPr>
          </a:p>
        </p:txBody>
      </p:sp>
      <p:sp>
        <p:nvSpPr>
          <p:cNvPr id="10" name="文本框 9"/>
          <p:cNvSpPr txBox="1"/>
          <p:nvPr/>
        </p:nvSpPr>
        <p:spPr>
          <a:xfrm rot="21197421">
            <a:off x="501299" y="5862511"/>
            <a:ext cx="3681104" cy="853121"/>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官员著作？</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8" name="文本框 7"/>
          <p:cNvSpPr txBox="1"/>
          <p:nvPr/>
        </p:nvSpPr>
        <p:spPr>
          <a:xfrm rot="21366491">
            <a:off x="4649631" y="5873571"/>
            <a:ext cx="3680926" cy="830997"/>
          </a:xfrm>
          <a:prstGeom prst="rect">
            <a:avLst/>
          </a:prstGeom>
          <a:noFill/>
        </p:spPr>
        <p:txBody>
          <a:bodyPr wrap="square" rtlCol="0">
            <a:spAutoFit/>
          </a:bodyPr>
          <a:lstStyle/>
          <a:p>
            <a:r>
              <a:rPr lang="zh-CN" altLang="en-US" sz="4800" dirty="0">
                <a:solidFill>
                  <a:schemeClr val="bg1"/>
                </a:solidFill>
                <a:latin typeface="华康俪金黑W8" panose="020B0809000000000000" pitchFamily="49" charset="-122"/>
                <a:ea typeface="华康俪金黑W8" panose="020B0809000000000000" pitchFamily="49" charset="-122"/>
              </a:rPr>
              <a:t>亲笔题字</a:t>
            </a:r>
            <a:r>
              <a:rPr lang="en-US" altLang="zh-CN" sz="4800" dirty="0" smtClean="0">
                <a:solidFill>
                  <a:schemeClr val="bg1"/>
                </a:solidFill>
                <a:latin typeface="华康俪金黑W8" panose="020B0809000000000000" pitchFamily="49" charset="-122"/>
                <a:ea typeface="华康俪金黑W8" panose="020B0809000000000000" pitchFamily="49" charset="-122"/>
              </a:rPr>
              <a:t>?</a:t>
            </a:r>
          </a:p>
        </p:txBody>
      </p:sp>
      <p:sp>
        <p:nvSpPr>
          <p:cNvPr id="9" name="文本框 8"/>
          <p:cNvSpPr txBox="1"/>
          <p:nvPr/>
        </p:nvSpPr>
        <p:spPr>
          <a:xfrm rot="21048097">
            <a:off x="8560151" y="5835937"/>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贺词贺信？</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12" name="任意多边形 11"/>
          <p:cNvSpPr/>
          <p:nvPr/>
        </p:nvSpPr>
        <p:spPr>
          <a:xfrm>
            <a:off x="3973877" y="1576787"/>
            <a:ext cx="4055435" cy="4055435"/>
          </a:xfrm>
          <a:custGeom>
            <a:avLst/>
            <a:gdLst>
              <a:gd name="connsiteX0" fmla="*/ 1378039 w 2756080"/>
              <a:gd name="connsiteY0" fmla="*/ 283334 h 2756080"/>
              <a:gd name="connsiteX1" fmla="*/ 283334 w 2756080"/>
              <a:gd name="connsiteY1" fmla="*/ 1378039 h 2756080"/>
              <a:gd name="connsiteX2" fmla="*/ 1378039 w 2756080"/>
              <a:gd name="connsiteY2" fmla="*/ 2472744 h 2756080"/>
              <a:gd name="connsiteX3" fmla="*/ 2472744 w 2756080"/>
              <a:gd name="connsiteY3" fmla="*/ 1378039 h 2756080"/>
              <a:gd name="connsiteX4" fmla="*/ 1378039 w 2756080"/>
              <a:gd name="connsiteY4" fmla="*/ 283334 h 2756080"/>
              <a:gd name="connsiteX5" fmla="*/ 1378040 w 2756080"/>
              <a:gd name="connsiteY5" fmla="*/ 0 h 2756080"/>
              <a:gd name="connsiteX6" fmla="*/ 2756080 w 2756080"/>
              <a:gd name="connsiteY6" fmla="*/ 1378040 h 2756080"/>
              <a:gd name="connsiteX7" fmla="*/ 1378040 w 2756080"/>
              <a:gd name="connsiteY7" fmla="*/ 2756080 h 2756080"/>
              <a:gd name="connsiteX8" fmla="*/ 0 w 2756080"/>
              <a:gd name="connsiteY8" fmla="*/ 1378040 h 2756080"/>
              <a:gd name="connsiteX9" fmla="*/ 1378040 w 2756080"/>
              <a:gd name="connsiteY9" fmla="*/ 0 h 27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6080" h="2756080">
                <a:moveTo>
                  <a:pt x="1378039" y="283334"/>
                </a:moveTo>
                <a:cubicBezTo>
                  <a:pt x="773450" y="283334"/>
                  <a:pt x="283334" y="773450"/>
                  <a:pt x="283334" y="1378039"/>
                </a:cubicBezTo>
                <a:cubicBezTo>
                  <a:pt x="283334" y="1982628"/>
                  <a:pt x="773450" y="2472744"/>
                  <a:pt x="1378039" y="2472744"/>
                </a:cubicBezTo>
                <a:cubicBezTo>
                  <a:pt x="1982628" y="2472744"/>
                  <a:pt x="2472744" y="1982628"/>
                  <a:pt x="2472744" y="1378039"/>
                </a:cubicBezTo>
                <a:cubicBezTo>
                  <a:pt x="2472744" y="773450"/>
                  <a:pt x="1982628" y="283334"/>
                  <a:pt x="1378039" y="283334"/>
                </a:cubicBezTo>
                <a:close/>
                <a:moveTo>
                  <a:pt x="1378040" y="0"/>
                </a:moveTo>
                <a:cubicBezTo>
                  <a:pt x="2139110" y="0"/>
                  <a:pt x="2756080" y="616970"/>
                  <a:pt x="2756080" y="1378040"/>
                </a:cubicBezTo>
                <a:cubicBezTo>
                  <a:pt x="2756080" y="2139110"/>
                  <a:pt x="2139110" y="2756080"/>
                  <a:pt x="1378040" y="2756080"/>
                </a:cubicBezTo>
                <a:cubicBezTo>
                  <a:pt x="616970" y="2756080"/>
                  <a:pt x="0" y="2139110"/>
                  <a:pt x="0" y="1378040"/>
                </a:cubicBezTo>
                <a:cubicBezTo>
                  <a:pt x="0" y="616970"/>
                  <a:pt x="616970" y="0"/>
                  <a:pt x="1378040" y="0"/>
                </a:cubicBezTo>
                <a:close/>
              </a:path>
            </a:pathLst>
          </a:custGeom>
          <a:solidFill>
            <a:srgbClr val="981F21"/>
          </a:solidFill>
          <a:ln>
            <a:solidFill>
              <a:srgbClr val="981F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文本框 15"/>
          <p:cNvSpPr txBox="1"/>
          <p:nvPr/>
        </p:nvSpPr>
        <p:spPr>
          <a:xfrm rot="20628397">
            <a:off x="4460152" y="1607427"/>
            <a:ext cx="3290913" cy="3631763"/>
          </a:xfrm>
          <a:prstGeom prst="rect">
            <a:avLst/>
          </a:prstGeom>
          <a:noFill/>
          <a:ln>
            <a:noFill/>
          </a:ln>
        </p:spPr>
        <p:txBody>
          <a:bodyPr wrap="square" rtlCol="0">
            <a:spAutoFit/>
          </a:bodyPr>
          <a:lstStyle/>
          <a:p>
            <a:r>
              <a:rPr lang="zh-CN" altLang="en-US" sz="23000" dirty="0" smtClean="0">
                <a:solidFill>
                  <a:srgbClr val="981F21"/>
                </a:solidFill>
                <a:latin typeface="华康俪金黑W8" panose="020B0809000000000000" pitchFamily="49" charset="-122"/>
                <a:ea typeface="华康俪金黑W8" panose="020B0809000000000000" pitchFamily="49" charset="-122"/>
              </a:rPr>
              <a:t>限</a:t>
            </a:r>
            <a:endParaRPr lang="zh-CN" altLang="en-US" sz="23000" dirty="0">
              <a:solidFill>
                <a:srgbClr val="981F21"/>
              </a:solidFill>
              <a:latin typeface="华康俪金黑W8" panose="020B0809000000000000" pitchFamily="49" charset="-122"/>
              <a:ea typeface="华康俪金黑W8" panose="020B0809000000000000" pitchFamily="49" charset="-122"/>
            </a:endParaRPr>
          </a:p>
        </p:txBody>
      </p:sp>
      <p:pic>
        <p:nvPicPr>
          <p:cNvPr id="5" name="图片 4"/>
          <p:cNvPicPr>
            <a:picLocks noChangeAspect="1"/>
          </p:cNvPicPr>
          <p:nvPr/>
        </p:nvPicPr>
        <p:blipFill>
          <a:blip r:embed="rId3">
            <a:grayscl/>
            <a:extLst>
              <a:ext uri="{28A0092B-C50C-407E-A947-70E740481C1C}">
                <a14:useLocalDpi xmlns:a14="http://schemas.microsoft.com/office/drawing/2010/main" val="0"/>
              </a:ext>
            </a:extLst>
          </a:blip>
          <a:stretch>
            <a:fillRect/>
          </a:stretch>
        </p:blipFill>
        <p:spPr>
          <a:xfrm>
            <a:off x="-26496" y="1439024"/>
            <a:ext cx="3719172" cy="4489572"/>
          </a:xfrm>
          <a:prstGeom prst="rect">
            <a:avLst/>
          </a:prstGeom>
        </p:spPr>
      </p:pic>
    </p:spTree>
    <p:extLst>
      <p:ext uri="{BB962C8B-B14F-4D97-AF65-F5344CB8AC3E}">
        <p14:creationId xmlns:p14="http://schemas.microsoft.com/office/powerpoint/2010/main" val="31234258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0" y="1439024"/>
            <a:ext cx="12191999" cy="5418976"/>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17871" b="27078"/>
          <a:stretch/>
        </p:blipFill>
        <p:spPr>
          <a:xfrm>
            <a:off x="-1" y="1442434"/>
            <a:ext cx="12191999" cy="4443211"/>
          </a:xfrm>
          <a:prstGeom prst="rect">
            <a:avLst/>
          </a:prstGeom>
        </p:spPr>
      </p:pic>
      <p:sp>
        <p:nvSpPr>
          <p:cNvPr id="4" name="文本框 3"/>
          <p:cNvSpPr txBox="1"/>
          <p:nvPr/>
        </p:nvSpPr>
        <p:spPr>
          <a:xfrm>
            <a:off x="128603" y="374652"/>
            <a:ext cx="6455077" cy="1015663"/>
          </a:xfrm>
          <a:prstGeom prst="rect">
            <a:avLst/>
          </a:prstGeom>
          <a:noFill/>
        </p:spPr>
        <p:txBody>
          <a:bodyPr wrap="square" rtlCol="0">
            <a:spAutoFit/>
          </a:bodyPr>
          <a:lstStyle/>
          <a:p>
            <a:r>
              <a:rPr lang="zh-CN" altLang="en-US" sz="6000" dirty="0">
                <a:solidFill>
                  <a:srgbClr val="981F21"/>
                </a:solidFill>
                <a:latin typeface="华康俪金黑W8" panose="020B0809000000000000" pitchFamily="49" charset="-122"/>
                <a:ea typeface="华康俪金黑W8" panose="020B0809000000000000" pitchFamily="49" charset="-122"/>
              </a:rPr>
              <a:t>要厉行勤俭节约</a:t>
            </a:r>
            <a:endParaRPr lang="en-US" altLang="zh-CN" sz="6000" dirty="0" smtClean="0">
              <a:solidFill>
                <a:srgbClr val="981F21"/>
              </a:solidFill>
              <a:latin typeface="华康俪金黑W8" panose="020B0809000000000000" pitchFamily="49" charset="-122"/>
              <a:ea typeface="华康俪金黑W8" panose="020B0809000000000000" pitchFamily="49" charset="-122"/>
            </a:endParaRPr>
          </a:p>
        </p:txBody>
      </p:sp>
      <p:sp>
        <p:nvSpPr>
          <p:cNvPr id="10" name="文本框 9"/>
          <p:cNvSpPr txBox="1"/>
          <p:nvPr/>
        </p:nvSpPr>
        <p:spPr>
          <a:xfrm rot="21197421">
            <a:off x="501299" y="5862511"/>
            <a:ext cx="3681104" cy="853121"/>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住房多处？</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8" name="文本框 7"/>
          <p:cNvSpPr txBox="1"/>
          <p:nvPr/>
        </p:nvSpPr>
        <p:spPr>
          <a:xfrm rot="21366491">
            <a:off x="4649631" y="5873571"/>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铺张浪费</a:t>
            </a:r>
            <a:r>
              <a:rPr lang="en-US" altLang="zh-CN" sz="4800" dirty="0" smtClean="0">
                <a:solidFill>
                  <a:schemeClr val="bg1"/>
                </a:solidFill>
                <a:latin typeface="华康俪金黑W8" panose="020B0809000000000000" pitchFamily="49" charset="-122"/>
                <a:ea typeface="华康俪金黑W8" panose="020B0809000000000000" pitchFamily="49" charset="-122"/>
              </a:rPr>
              <a:t>?</a:t>
            </a:r>
          </a:p>
        </p:txBody>
      </p:sp>
      <p:sp>
        <p:nvSpPr>
          <p:cNvPr id="9" name="文本框 8"/>
          <p:cNvSpPr txBox="1"/>
          <p:nvPr/>
        </p:nvSpPr>
        <p:spPr>
          <a:xfrm rot="21048097">
            <a:off x="8560151" y="5835937"/>
            <a:ext cx="3680926" cy="830997"/>
          </a:xfrm>
          <a:prstGeom prst="rect">
            <a:avLst/>
          </a:prstGeom>
          <a:noFill/>
        </p:spPr>
        <p:txBody>
          <a:bodyPr wrap="square" rtlCol="0">
            <a:spAutoFit/>
          </a:bodyPr>
          <a:lstStyle/>
          <a:p>
            <a:r>
              <a:rPr lang="zh-CN" altLang="en-US" sz="4800" dirty="0" smtClean="0">
                <a:solidFill>
                  <a:schemeClr val="bg1"/>
                </a:solidFill>
                <a:latin typeface="华康俪金黑W8" panose="020B0809000000000000" pitchFamily="49" charset="-122"/>
                <a:ea typeface="华康俪金黑W8" panose="020B0809000000000000" pitchFamily="49" charset="-122"/>
              </a:rPr>
              <a:t>会员办卡？</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p:txBody>
      </p:sp>
      <p:sp>
        <p:nvSpPr>
          <p:cNvPr id="12" name="任意多边形 11"/>
          <p:cNvSpPr/>
          <p:nvPr/>
        </p:nvSpPr>
        <p:spPr>
          <a:xfrm>
            <a:off x="3973877" y="1576787"/>
            <a:ext cx="4055435" cy="4055435"/>
          </a:xfrm>
          <a:custGeom>
            <a:avLst/>
            <a:gdLst>
              <a:gd name="connsiteX0" fmla="*/ 1378039 w 2756080"/>
              <a:gd name="connsiteY0" fmla="*/ 283334 h 2756080"/>
              <a:gd name="connsiteX1" fmla="*/ 283334 w 2756080"/>
              <a:gd name="connsiteY1" fmla="*/ 1378039 h 2756080"/>
              <a:gd name="connsiteX2" fmla="*/ 1378039 w 2756080"/>
              <a:gd name="connsiteY2" fmla="*/ 2472744 h 2756080"/>
              <a:gd name="connsiteX3" fmla="*/ 2472744 w 2756080"/>
              <a:gd name="connsiteY3" fmla="*/ 1378039 h 2756080"/>
              <a:gd name="connsiteX4" fmla="*/ 1378039 w 2756080"/>
              <a:gd name="connsiteY4" fmla="*/ 283334 h 2756080"/>
              <a:gd name="connsiteX5" fmla="*/ 1378040 w 2756080"/>
              <a:gd name="connsiteY5" fmla="*/ 0 h 2756080"/>
              <a:gd name="connsiteX6" fmla="*/ 2756080 w 2756080"/>
              <a:gd name="connsiteY6" fmla="*/ 1378040 h 2756080"/>
              <a:gd name="connsiteX7" fmla="*/ 1378040 w 2756080"/>
              <a:gd name="connsiteY7" fmla="*/ 2756080 h 2756080"/>
              <a:gd name="connsiteX8" fmla="*/ 0 w 2756080"/>
              <a:gd name="connsiteY8" fmla="*/ 1378040 h 2756080"/>
              <a:gd name="connsiteX9" fmla="*/ 1378040 w 2756080"/>
              <a:gd name="connsiteY9" fmla="*/ 0 h 27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6080" h="2756080">
                <a:moveTo>
                  <a:pt x="1378039" y="283334"/>
                </a:moveTo>
                <a:cubicBezTo>
                  <a:pt x="773450" y="283334"/>
                  <a:pt x="283334" y="773450"/>
                  <a:pt x="283334" y="1378039"/>
                </a:cubicBezTo>
                <a:cubicBezTo>
                  <a:pt x="283334" y="1982628"/>
                  <a:pt x="773450" y="2472744"/>
                  <a:pt x="1378039" y="2472744"/>
                </a:cubicBezTo>
                <a:cubicBezTo>
                  <a:pt x="1982628" y="2472744"/>
                  <a:pt x="2472744" y="1982628"/>
                  <a:pt x="2472744" y="1378039"/>
                </a:cubicBezTo>
                <a:cubicBezTo>
                  <a:pt x="2472744" y="773450"/>
                  <a:pt x="1982628" y="283334"/>
                  <a:pt x="1378039" y="283334"/>
                </a:cubicBezTo>
                <a:close/>
                <a:moveTo>
                  <a:pt x="1378040" y="0"/>
                </a:moveTo>
                <a:cubicBezTo>
                  <a:pt x="2139110" y="0"/>
                  <a:pt x="2756080" y="616970"/>
                  <a:pt x="2756080" y="1378040"/>
                </a:cubicBezTo>
                <a:cubicBezTo>
                  <a:pt x="2756080" y="2139110"/>
                  <a:pt x="2139110" y="2756080"/>
                  <a:pt x="1378040" y="2756080"/>
                </a:cubicBezTo>
                <a:cubicBezTo>
                  <a:pt x="616970" y="2756080"/>
                  <a:pt x="0" y="2139110"/>
                  <a:pt x="0" y="1378040"/>
                </a:cubicBezTo>
                <a:cubicBezTo>
                  <a:pt x="0" y="616970"/>
                  <a:pt x="616970" y="0"/>
                  <a:pt x="1378040" y="0"/>
                </a:cubicBezTo>
                <a:close/>
              </a:path>
            </a:pathLst>
          </a:custGeom>
          <a:solidFill>
            <a:srgbClr val="981F21"/>
          </a:solidFill>
          <a:ln>
            <a:solidFill>
              <a:srgbClr val="981F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文本框 15"/>
          <p:cNvSpPr txBox="1"/>
          <p:nvPr/>
        </p:nvSpPr>
        <p:spPr>
          <a:xfrm rot="20628397">
            <a:off x="4415008" y="1579662"/>
            <a:ext cx="3290913" cy="3631763"/>
          </a:xfrm>
          <a:prstGeom prst="rect">
            <a:avLst/>
          </a:prstGeom>
          <a:noFill/>
          <a:ln>
            <a:noFill/>
          </a:ln>
        </p:spPr>
        <p:txBody>
          <a:bodyPr wrap="square" rtlCol="0">
            <a:spAutoFit/>
          </a:bodyPr>
          <a:lstStyle/>
          <a:p>
            <a:r>
              <a:rPr lang="zh-CN" altLang="en-US" sz="23000" dirty="0" smtClean="0">
                <a:solidFill>
                  <a:srgbClr val="981F21"/>
                </a:solidFill>
                <a:latin typeface="华康俪金黑W8" panose="020B0809000000000000" pitchFamily="49" charset="-122"/>
                <a:ea typeface="华康俪金黑W8" panose="020B0809000000000000" pitchFamily="49" charset="-122"/>
              </a:rPr>
              <a:t>停</a:t>
            </a:r>
            <a:endParaRPr lang="zh-CN" altLang="en-US" sz="23000" dirty="0">
              <a:solidFill>
                <a:srgbClr val="981F21"/>
              </a:solidFill>
              <a:latin typeface="华康俪金黑W8" panose="020B0809000000000000" pitchFamily="49" charset="-122"/>
              <a:ea typeface="华康俪金黑W8" panose="020B0809000000000000" pitchFamily="49" charset="-122"/>
            </a:endParaRPr>
          </a:p>
        </p:txBody>
      </p:sp>
    </p:spTree>
    <p:extLst>
      <p:ext uri="{BB962C8B-B14F-4D97-AF65-F5344CB8AC3E}">
        <p14:creationId xmlns:p14="http://schemas.microsoft.com/office/powerpoint/2010/main" val="3850508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1" cy="3428084"/>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rot="20628397">
            <a:off x="337741" y="367010"/>
            <a:ext cx="5216852" cy="1569660"/>
          </a:xfrm>
          <a:prstGeom prst="rect">
            <a:avLst/>
          </a:prstGeom>
          <a:noFill/>
          <a:ln>
            <a:noFill/>
          </a:ln>
        </p:spPr>
        <p:txBody>
          <a:bodyPr wrap="square" rtlCol="0">
            <a:spAutoFit/>
          </a:bodyPr>
          <a:lstStyle/>
          <a:p>
            <a:r>
              <a:rPr lang="zh-CN" altLang="en-US" sz="9600" dirty="0" smtClean="0">
                <a:solidFill>
                  <a:schemeClr val="bg1"/>
                </a:solidFill>
                <a:latin typeface="华康俪金黑W8" panose="020B0809000000000000" pitchFamily="49" charset="-122"/>
                <a:ea typeface="华康俪金黑W8" panose="020B0809000000000000" pitchFamily="49" charset="-122"/>
              </a:rPr>
              <a:t>习总</a:t>
            </a:r>
            <a:endParaRPr lang="zh-CN" altLang="en-US" sz="9600" dirty="0">
              <a:solidFill>
                <a:schemeClr val="bg1"/>
              </a:solidFill>
              <a:latin typeface="华康俪金黑W8" panose="020B0809000000000000" pitchFamily="49" charset="-122"/>
              <a:ea typeface="华康俪金黑W8" panose="020B0809000000000000" pitchFamily="49" charset="-122"/>
            </a:endParaRPr>
          </a:p>
        </p:txBody>
      </p:sp>
      <p:sp>
        <p:nvSpPr>
          <p:cNvPr id="10" name="任意多边形 9"/>
          <p:cNvSpPr/>
          <p:nvPr/>
        </p:nvSpPr>
        <p:spPr>
          <a:xfrm>
            <a:off x="222353" y="169953"/>
            <a:ext cx="2929906" cy="2682144"/>
          </a:xfrm>
          <a:custGeom>
            <a:avLst/>
            <a:gdLst>
              <a:gd name="connsiteX0" fmla="*/ 1378039 w 2756080"/>
              <a:gd name="connsiteY0" fmla="*/ 283334 h 2756080"/>
              <a:gd name="connsiteX1" fmla="*/ 283334 w 2756080"/>
              <a:gd name="connsiteY1" fmla="*/ 1378039 h 2756080"/>
              <a:gd name="connsiteX2" fmla="*/ 1378039 w 2756080"/>
              <a:gd name="connsiteY2" fmla="*/ 2472744 h 2756080"/>
              <a:gd name="connsiteX3" fmla="*/ 2472744 w 2756080"/>
              <a:gd name="connsiteY3" fmla="*/ 1378039 h 2756080"/>
              <a:gd name="connsiteX4" fmla="*/ 1378039 w 2756080"/>
              <a:gd name="connsiteY4" fmla="*/ 283334 h 2756080"/>
              <a:gd name="connsiteX5" fmla="*/ 1378040 w 2756080"/>
              <a:gd name="connsiteY5" fmla="*/ 0 h 2756080"/>
              <a:gd name="connsiteX6" fmla="*/ 2756080 w 2756080"/>
              <a:gd name="connsiteY6" fmla="*/ 1378040 h 2756080"/>
              <a:gd name="connsiteX7" fmla="*/ 1378040 w 2756080"/>
              <a:gd name="connsiteY7" fmla="*/ 2756080 h 2756080"/>
              <a:gd name="connsiteX8" fmla="*/ 0 w 2756080"/>
              <a:gd name="connsiteY8" fmla="*/ 1378040 h 2756080"/>
              <a:gd name="connsiteX9" fmla="*/ 1378040 w 2756080"/>
              <a:gd name="connsiteY9" fmla="*/ 0 h 27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6080" h="2756080">
                <a:moveTo>
                  <a:pt x="1378039" y="283334"/>
                </a:moveTo>
                <a:cubicBezTo>
                  <a:pt x="773450" y="283334"/>
                  <a:pt x="283334" y="773450"/>
                  <a:pt x="283334" y="1378039"/>
                </a:cubicBezTo>
                <a:cubicBezTo>
                  <a:pt x="283334" y="1982628"/>
                  <a:pt x="773450" y="2472744"/>
                  <a:pt x="1378039" y="2472744"/>
                </a:cubicBezTo>
                <a:cubicBezTo>
                  <a:pt x="1982628" y="2472744"/>
                  <a:pt x="2472744" y="1982628"/>
                  <a:pt x="2472744" y="1378039"/>
                </a:cubicBezTo>
                <a:cubicBezTo>
                  <a:pt x="2472744" y="773450"/>
                  <a:pt x="1982628" y="283334"/>
                  <a:pt x="1378039" y="283334"/>
                </a:cubicBezTo>
                <a:close/>
                <a:moveTo>
                  <a:pt x="1378040" y="0"/>
                </a:moveTo>
                <a:cubicBezTo>
                  <a:pt x="2139110" y="0"/>
                  <a:pt x="2756080" y="616970"/>
                  <a:pt x="2756080" y="1378040"/>
                </a:cubicBezTo>
                <a:cubicBezTo>
                  <a:pt x="2756080" y="2139110"/>
                  <a:pt x="2139110" y="2756080"/>
                  <a:pt x="1378040" y="2756080"/>
                </a:cubicBezTo>
                <a:cubicBezTo>
                  <a:pt x="616970" y="2756080"/>
                  <a:pt x="0" y="2139110"/>
                  <a:pt x="0" y="1378040"/>
                </a:cubicBezTo>
                <a:cubicBezTo>
                  <a:pt x="0" y="616970"/>
                  <a:pt x="616970" y="0"/>
                  <a:pt x="1378040" y="0"/>
                </a:cubicBezTo>
                <a:close/>
              </a:path>
            </a:pathLst>
          </a:custGeom>
          <a:solidFill>
            <a:srgbClr val="3B464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文本框 5"/>
          <p:cNvSpPr txBox="1"/>
          <p:nvPr/>
        </p:nvSpPr>
        <p:spPr>
          <a:xfrm rot="20628397">
            <a:off x="8727920" y="3754514"/>
            <a:ext cx="5216852" cy="2015936"/>
          </a:xfrm>
          <a:prstGeom prst="rect">
            <a:avLst/>
          </a:prstGeom>
          <a:noFill/>
          <a:ln>
            <a:noFill/>
          </a:ln>
        </p:spPr>
        <p:txBody>
          <a:bodyPr wrap="square" rtlCol="0">
            <a:spAutoFit/>
          </a:bodyPr>
          <a:lstStyle/>
          <a:p>
            <a:r>
              <a:rPr lang="zh-CN" altLang="en-US" sz="12500" dirty="0" smtClean="0">
                <a:solidFill>
                  <a:srgbClr val="981F21"/>
                </a:solidFill>
                <a:latin typeface="华康俪金黑W8" panose="020B0809000000000000" pitchFamily="49" charset="-122"/>
                <a:ea typeface="华康俪金黑W8" panose="020B0809000000000000" pitchFamily="49" charset="-122"/>
              </a:rPr>
              <a:t>给力</a:t>
            </a:r>
            <a:endParaRPr lang="zh-CN" altLang="en-US" sz="12500" dirty="0">
              <a:solidFill>
                <a:srgbClr val="981F21"/>
              </a:solidFill>
              <a:latin typeface="华康俪金黑W8" panose="020B0809000000000000" pitchFamily="49" charset="-122"/>
              <a:ea typeface="华康俪金黑W8" panose="020B0809000000000000" pitchFamily="49" charset="-122"/>
            </a:endParaRPr>
          </a:p>
        </p:txBody>
      </p:sp>
      <p:sp>
        <p:nvSpPr>
          <p:cNvPr id="5" name="任意多边形 4"/>
          <p:cNvSpPr/>
          <p:nvPr/>
        </p:nvSpPr>
        <p:spPr>
          <a:xfrm>
            <a:off x="8466845" y="3366516"/>
            <a:ext cx="3947510" cy="3613696"/>
          </a:xfrm>
          <a:custGeom>
            <a:avLst/>
            <a:gdLst>
              <a:gd name="connsiteX0" fmla="*/ 1378039 w 2756080"/>
              <a:gd name="connsiteY0" fmla="*/ 283334 h 2756080"/>
              <a:gd name="connsiteX1" fmla="*/ 283334 w 2756080"/>
              <a:gd name="connsiteY1" fmla="*/ 1378039 h 2756080"/>
              <a:gd name="connsiteX2" fmla="*/ 1378039 w 2756080"/>
              <a:gd name="connsiteY2" fmla="*/ 2472744 h 2756080"/>
              <a:gd name="connsiteX3" fmla="*/ 2472744 w 2756080"/>
              <a:gd name="connsiteY3" fmla="*/ 1378039 h 2756080"/>
              <a:gd name="connsiteX4" fmla="*/ 1378039 w 2756080"/>
              <a:gd name="connsiteY4" fmla="*/ 283334 h 2756080"/>
              <a:gd name="connsiteX5" fmla="*/ 1378040 w 2756080"/>
              <a:gd name="connsiteY5" fmla="*/ 0 h 2756080"/>
              <a:gd name="connsiteX6" fmla="*/ 2756080 w 2756080"/>
              <a:gd name="connsiteY6" fmla="*/ 1378040 h 2756080"/>
              <a:gd name="connsiteX7" fmla="*/ 1378040 w 2756080"/>
              <a:gd name="connsiteY7" fmla="*/ 2756080 h 2756080"/>
              <a:gd name="connsiteX8" fmla="*/ 0 w 2756080"/>
              <a:gd name="connsiteY8" fmla="*/ 1378040 h 2756080"/>
              <a:gd name="connsiteX9" fmla="*/ 1378040 w 2756080"/>
              <a:gd name="connsiteY9" fmla="*/ 0 h 27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6080" h="2756080">
                <a:moveTo>
                  <a:pt x="1378039" y="283334"/>
                </a:moveTo>
                <a:cubicBezTo>
                  <a:pt x="773450" y="283334"/>
                  <a:pt x="283334" y="773450"/>
                  <a:pt x="283334" y="1378039"/>
                </a:cubicBezTo>
                <a:cubicBezTo>
                  <a:pt x="283334" y="1982628"/>
                  <a:pt x="773450" y="2472744"/>
                  <a:pt x="1378039" y="2472744"/>
                </a:cubicBezTo>
                <a:cubicBezTo>
                  <a:pt x="1982628" y="2472744"/>
                  <a:pt x="2472744" y="1982628"/>
                  <a:pt x="2472744" y="1378039"/>
                </a:cubicBezTo>
                <a:cubicBezTo>
                  <a:pt x="2472744" y="773450"/>
                  <a:pt x="1982628" y="283334"/>
                  <a:pt x="1378039" y="283334"/>
                </a:cubicBezTo>
                <a:close/>
                <a:moveTo>
                  <a:pt x="1378040" y="0"/>
                </a:moveTo>
                <a:cubicBezTo>
                  <a:pt x="2139110" y="0"/>
                  <a:pt x="2756080" y="616970"/>
                  <a:pt x="2756080" y="1378040"/>
                </a:cubicBezTo>
                <a:cubicBezTo>
                  <a:pt x="2756080" y="2139110"/>
                  <a:pt x="2139110" y="2756080"/>
                  <a:pt x="1378040" y="2756080"/>
                </a:cubicBezTo>
                <a:cubicBezTo>
                  <a:pt x="616970" y="2756080"/>
                  <a:pt x="0" y="2139110"/>
                  <a:pt x="0" y="1378040"/>
                </a:cubicBezTo>
                <a:cubicBezTo>
                  <a:pt x="0" y="616970"/>
                  <a:pt x="616970" y="0"/>
                  <a:pt x="1378040" y="0"/>
                </a:cubicBezTo>
                <a:close/>
              </a:path>
            </a:pathLst>
          </a:custGeom>
          <a:solidFill>
            <a:srgbClr val="981F21"/>
          </a:solidFill>
          <a:ln>
            <a:solidFill>
              <a:srgbClr val="981F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 name="矩形 1"/>
          <p:cNvSpPr/>
          <p:nvPr/>
        </p:nvSpPr>
        <p:spPr>
          <a:xfrm>
            <a:off x="1335858" y="1806767"/>
            <a:ext cx="10856142" cy="2646878"/>
          </a:xfrm>
          <a:prstGeom prst="rect">
            <a:avLst/>
          </a:prstGeom>
        </p:spPr>
        <p:txBody>
          <a:bodyPr wrap="square">
            <a:spAutoFit/>
          </a:bodyPr>
          <a:lstStyle/>
          <a:p>
            <a:pPr algn="ctr"/>
            <a:r>
              <a:rPr lang="zh-CN" altLang="en-US" sz="16600" dirty="0">
                <a:solidFill>
                  <a:schemeClr val="bg1"/>
                </a:solidFill>
                <a:latin typeface="华康俪金黑W8" panose="020B0809000000000000" pitchFamily="49" charset="-122"/>
                <a:ea typeface="华康俪金黑W8" panose="020B0809000000000000" pitchFamily="49" charset="-122"/>
              </a:rPr>
              <a:t>还有</a:t>
            </a:r>
            <a:r>
              <a:rPr lang="zh-CN" altLang="en-US" sz="16600" dirty="0" smtClean="0">
                <a:solidFill>
                  <a:schemeClr val="bg1"/>
                </a:solidFill>
                <a:latin typeface="华康俪金黑W8" panose="020B0809000000000000" pitchFamily="49" charset="-122"/>
                <a:ea typeface="华康俪金黑W8" panose="020B0809000000000000" pitchFamily="49" charset="-122"/>
              </a:rPr>
              <a:t>哪些？</a:t>
            </a:r>
            <a:endParaRPr lang="zh-CN" altLang="en-US" sz="19900" dirty="0">
              <a:solidFill>
                <a:srgbClr val="981F21"/>
              </a:solidFill>
              <a:latin typeface="华康俪金黑W8" panose="020B0809000000000000" pitchFamily="49" charset="-122"/>
              <a:ea typeface="华康俪金黑W8" panose="020B0809000000000000" pitchFamily="49" charset="-122"/>
            </a:endParaRPr>
          </a:p>
        </p:txBody>
      </p:sp>
      <p:pic>
        <p:nvPicPr>
          <p:cNvPr id="7" name="图片 6"/>
          <p:cNvPicPr>
            <a:picLocks noChangeAspect="1"/>
          </p:cNvPicPr>
          <p:nvPr/>
        </p:nvPicPr>
        <p:blipFill rotWithShape="1">
          <a:blip r:embed="rId2"/>
          <a:srcRect t="49658"/>
          <a:stretch/>
        </p:blipFill>
        <p:spPr>
          <a:xfrm>
            <a:off x="222354" y="3412900"/>
            <a:ext cx="13083150" cy="2231271"/>
          </a:xfrm>
          <a:prstGeom prst="rect">
            <a:avLst/>
          </a:prstGeom>
        </p:spPr>
      </p:pic>
    </p:spTree>
    <p:extLst>
      <p:ext uri="{BB962C8B-B14F-4D97-AF65-F5344CB8AC3E}">
        <p14:creationId xmlns:p14="http://schemas.microsoft.com/office/powerpoint/2010/main" val="36190807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096000" y="0"/>
            <a:ext cx="6095999" cy="6858000"/>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p:cNvSpPr txBox="1"/>
          <p:nvPr/>
        </p:nvSpPr>
        <p:spPr>
          <a:xfrm rot="20705002">
            <a:off x="1048450" y="399951"/>
            <a:ext cx="3510140" cy="1015663"/>
          </a:xfrm>
          <a:prstGeom prst="rect">
            <a:avLst/>
          </a:prstGeom>
          <a:noFill/>
          <a:ln>
            <a:noFill/>
          </a:ln>
        </p:spPr>
        <p:txBody>
          <a:bodyPr wrap="square" rtlCol="0">
            <a:spAutoFit/>
          </a:bodyPr>
          <a:lstStyle/>
          <a:p>
            <a:r>
              <a:rPr lang="zh-CN" altLang="en-US" sz="6000" dirty="0" smtClean="0">
                <a:solidFill>
                  <a:srgbClr val="3E494F"/>
                </a:solidFill>
                <a:latin typeface="华康俪金黑W8" panose="020B0809000000000000" pitchFamily="49" charset="-122"/>
                <a:ea typeface="华康俪金黑W8" panose="020B0809000000000000" pitchFamily="49" charset="-122"/>
              </a:rPr>
              <a:t>公款聚餐</a:t>
            </a:r>
            <a:endParaRPr lang="zh-CN" altLang="en-US" sz="6000" dirty="0">
              <a:solidFill>
                <a:srgbClr val="3E494F"/>
              </a:solidFill>
              <a:latin typeface="华康俪金黑W8" panose="020B0809000000000000" pitchFamily="49" charset="-122"/>
              <a:ea typeface="华康俪金黑W8" panose="020B0809000000000000" pitchFamily="49" charset="-122"/>
            </a:endParaRPr>
          </a:p>
        </p:txBody>
      </p:sp>
      <p:sp>
        <p:nvSpPr>
          <p:cNvPr id="11" name="矩形 10"/>
          <p:cNvSpPr/>
          <p:nvPr/>
        </p:nvSpPr>
        <p:spPr>
          <a:xfrm rot="20695336">
            <a:off x="890018" y="326428"/>
            <a:ext cx="3677265" cy="1337417"/>
          </a:xfrm>
          <a:prstGeom prst="rect">
            <a:avLst/>
          </a:prstGeom>
          <a:noFill/>
          <a:ln w="76200">
            <a:solidFill>
              <a:srgbClr val="3B464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E494F"/>
              </a:solidFill>
            </a:endParaRPr>
          </a:p>
        </p:txBody>
      </p:sp>
      <p:sp>
        <p:nvSpPr>
          <p:cNvPr id="12" name="矩形 11"/>
          <p:cNvSpPr/>
          <p:nvPr/>
        </p:nvSpPr>
        <p:spPr>
          <a:xfrm rot="20695336">
            <a:off x="1009842" y="419493"/>
            <a:ext cx="3440353" cy="1104886"/>
          </a:xfrm>
          <a:prstGeom prst="rect">
            <a:avLst/>
          </a:prstGeom>
          <a:noFill/>
          <a:ln w="76200">
            <a:solidFill>
              <a:srgbClr val="3B464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E494F"/>
              </a:solidFill>
            </a:endParaRPr>
          </a:p>
        </p:txBody>
      </p:sp>
      <p:sp>
        <p:nvSpPr>
          <p:cNvPr id="7" name="文本框 6"/>
          <p:cNvSpPr txBox="1"/>
          <p:nvPr/>
        </p:nvSpPr>
        <p:spPr>
          <a:xfrm rot="1048423">
            <a:off x="2712220" y="3061709"/>
            <a:ext cx="3510140" cy="1015663"/>
          </a:xfrm>
          <a:prstGeom prst="rect">
            <a:avLst/>
          </a:prstGeom>
          <a:noFill/>
          <a:ln>
            <a:noFill/>
          </a:ln>
        </p:spPr>
        <p:txBody>
          <a:bodyPr wrap="square" rtlCol="0">
            <a:spAutoFit/>
          </a:bodyPr>
          <a:lstStyle/>
          <a:p>
            <a:r>
              <a:rPr lang="zh-CN" altLang="en-US" sz="6000" dirty="0" smtClean="0">
                <a:solidFill>
                  <a:srgbClr val="3E494F"/>
                </a:solidFill>
                <a:latin typeface="华康俪金黑W8" panose="020B0809000000000000" pitchFamily="49" charset="-122"/>
                <a:ea typeface="华康俪金黑W8" panose="020B0809000000000000" pitchFamily="49" charset="-122"/>
              </a:rPr>
              <a:t>劳教制度</a:t>
            </a:r>
            <a:endParaRPr lang="zh-CN" altLang="en-US" sz="6000" dirty="0">
              <a:solidFill>
                <a:srgbClr val="3E494F"/>
              </a:solidFill>
              <a:latin typeface="华康俪金黑W8" panose="020B0809000000000000" pitchFamily="49" charset="-122"/>
              <a:ea typeface="华康俪金黑W8" panose="020B0809000000000000" pitchFamily="49" charset="-122"/>
            </a:endParaRPr>
          </a:p>
        </p:txBody>
      </p:sp>
      <p:sp>
        <p:nvSpPr>
          <p:cNvPr id="8" name="矩形 7"/>
          <p:cNvSpPr/>
          <p:nvPr/>
        </p:nvSpPr>
        <p:spPr>
          <a:xfrm rot="1038757">
            <a:off x="2449788" y="2880741"/>
            <a:ext cx="3677265" cy="1337417"/>
          </a:xfrm>
          <a:prstGeom prst="rect">
            <a:avLst/>
          </a:prstGeom>
          <a:noFill/>
          <a:ln w="76200">
            <a:solidFill>
              <a:srgbClr val="3B464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E494F"/>
              </a:solidFill>
            </a:endParaRPr>
          </a:p>
        </p:txBody>
      </p:sp>
      <p:sp>
        <p:nvSpPr>
          <p:cNvPr id="9" name="矩形 8"/>
          <p:cNvSpPr/>
          <p:nvPr/>
        </p:nvSpPr>
        <p:spPr>
          <a:xfrm rot="1038757">
            <a:off x="2584265" y="2985208"/>
            <a:ext cx="3440353" cy="1104886"/>
          </a:xfrm>
          <a:prstGeom prst="rect">
            <a:avLst/>
          </a:prstGeom>
          <a:noFill/>
          <a:ln w="76200">
            <a:solidFill>
              <a:srgbClr val="3B464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E494F"/>
              </a:solidFill>
            </a:endParaRPr>
          </a:p>
        </p:txBody>
      </p:sp>
      <p:sp>
        <p:nvSpPr>
          <p:cNvPr id="10" name="文本框 9"/>
          <p:cNvSpPr txBox="1"/>
          <p:nvPr/>
        </p:nvSpPr>
        <p:spPr>
          <a:xfrm rot="21311511">
            <a:off x="793623" y="5300687"/>
            <a:ext cx="3510140" cy="1015663"/>
          </a:xfrm>
          <a:prstGeom prst="rect">
            <a:avLst/>
          </a:prstGeom>
          <a:noFill/>
          <a:ln>
            <a:noFill/>
          </a:ln>
        </p:spPr>
        <p:txBody>
          <a:bodyPr wrap="square" rtlCol="0">
            <a:spAutoFit/>
          </a:bodyPr>
          <a:lstStyle/>
          <a:p>
            <a:r>
              <a:rPr lang="zh-CN" altLang="en-US" sz="6000" dirty="0" smtClean="0">
                <a:solidFill>
                  <a:srgbClr val="3E494F"/>
                </a:solidFill>
                <a:latin typeface="华康俪金黑W8" panose="020B0809000000000000" pitchFamily="49" charset="-122"/>
                <a:ea typeface="华康俪金黑W8" panose="020B0809000000000000" pitchFamily="49" charset="-122"/>
              </a:rPr>
              <a:t>部队豪车</a:t>
            </a:r>
            <a:endParaRPr lang="zh-CN" altLang="en-US" sz="6000" dirty="0">
              <a:solidFill>
                <a:srgbClr val="3E494F"/>
              </a:solidFill>
              <a:latin typeface="华康俪金黑W8" panose="020B0809000000000000" pitchFamily="49" charset="-122"/>
              <a:ea typeface="华康俪金黑W8" panose="020B0809000000000000" pitchFamily="49" charset="-122"/>
            </a:endParaRPr>
          </a:p>
        </p:txBody>
      </p:sp>
      <p:sp>
        <p:nvSpPr>
          <p:cNvPr id="13" name="矩形 12"/>
          <p:cNvSpPr/>
          <p:nvPr/>
        </p:nvSpPr>
        <p:spPr>
          <a:xfrm rot="21301845">
            <a:off x="635191" y="5227164"/>
            <a:ext cx="3677265" cy="1337417"/>
          </a:xfrm>
          <a:prstGeom prst="rect">
            <a:avLst/>
          </a:prstGeom>
          <a:noFill/>
          <a:ln w="76200">
            <a:solidFill>
              <a:srgbClr val="3B464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E494F"/>
              </a:solidFill>
            </a:endParaRPr>
          </a:p>
        </p:txBody>
      </p:sp>
      <p:sp>
        <p:nvSpPr>
          <p:cNvPr id="14" name="矩形 13"/>
          <p:cNvSpPr/>
          <p:nvPr/>
        </p:nvSpPr>
        <p:spPr>
          <a:xfrm rot="21301845">
            <a:off x="755015" y="5320229"/>
            <a:ext cx="3440353" cy="1104886"/>
          </a:xfrm>
          <a:prstGeom prst="rect">
            <a:avLst/>
          </a:prstGeom>
          <a:noFill/>
          <a:ln w="76200">
            <a:solidFill>
              <a:srgbClr val="3B464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E494F"/>
              </a:solidFill>
            </a:endParaRPr>
          </a:p>
        </p:txBody>
      </p:sp>
      <p:sp>
        <p:nvSpPr>
          <p:cNvPr id="15" name="文本框 14"/>
          <p:cNvSpPr txBox="1"/>
          <p:nvPr/>
        </p:nvSpPr>
        <p:spPr>
          <a:xfrm rot="515854">
            <a:off x="7682450" y="1145362"/>
            <a:ext cx="3510140" cy="769441"/>
          </a:xfrm>
          <a:prstGeom prst="rect">
            <a:avLst/>
          </a:prstGeom>
          <a:noFill/>
          <a:ln>
            <a:noFill/>
          </a:ln>
        </p:spPr>
        <p:txBody>
          <a:bodyPr wrap="square" rtlCol="0">
            <a:spAutoFit/>
          </a:bodyPr>
          <a:lstStyle/>
          <a:p>
            <a:r>
              <a:rPr lang="zh-CN" altLang="en-US" sz="4400" dirty="0" smtClean="0">
                <a:solidFill>
                  <a:schemeClr val="bg1"/>
                </a:solidFill>
                <a:latin typeface="华康俪金黑W8" panose="020B0809000000000000" pitchFamily="49" charset="-122"/>
                <a:ea typeface="华康俪金黑W8" panose="020B0809000000000000" pitchFamily="49" charset="-122"/>
              </a:rPr>
              <a:t>下调</a:t>
            </a:r>
            <a:r>
              <a:rPr lang="en-US" altLang="zh-CN" sz="4400" dirty="0" smtClean="0">
                <a:solidFill>
                  <a:schemeClr val="bg1"/>
                </a:solidFill>
                <a:latin typeface="华康俪金黑W8" panose="020B0809000000000000" pitchFamily="49" charset="-122"/>
                <a:ea typeface="华康俪金黑W8" panose="020B0809000000000000" pitchFamily="49" charset="-122"/>
              </a:rPr>
              <a:t>GDP</a:t>
            </a:r>
            <a:r>
              <a:rPr lang="zh-CN" altLang="en-US" sz="4400" dirty="0" smtClean="0">
                <a:solidFill>
                  <a:schemeClr val="bg1"/>
                </a:solidFill>
                <a:latin typeface="华康俪金黑W8" panose="020B0809000000000000" pitchFamily="49" charset="-122"/>
                <a:ea typeface="华康俪金黑W8" panose="020B0809000000000000" pitchFamily="49" charset="-122"/>
              </a:rPr>
              <a:t>增速</a:t>
            </a:r>
            <a:endParaRPr lang="zh-CN" altLang="en-US" sz="4400" dirty="0">
              <a:solidFill>
                <a:schemeClr val="bg1"/>
              </a:solidFill>
              <a:latin typeface="华康俪金黑W8" panose="020B0809000000000000" pitchFamily="49" charset="-122"/>
              <a:ea typeface="华康俪金黑W8" panose="020B0809000000000000" pitchFamily="49" charset="-122"/>
            </a:endParaRPr>
          </a:p>
        </p:txBody>
      </p:sp>
      <p:sp>
        <p:nvSpPr>
          <p:cNvPr id="16" name="矩形 15"/>
          <p:cNvSpPr/>
          <p:nvPr/>
        </p:nvSpPr>
        <p:spPr>
          <a:xfrm rot="506188">
            <a:off x="7524018" y="948728"/>
            <a:ext cx="3677265" cy="1337417"/>
          </a:xfrm>
          <a:prstGeom prst="rect">
            <a:avLst/>
          </a:prstGeom>
          <a:noFill/>
          <a:ln w="7620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7" name="矩形 16"/>
          <p:cNvSpPr/>
          <p:nvPr/>
        </p:nvSpPr>
        <p:spPr>
          <a:xfrm rot="506188">
            <a:off x="7643842" y="1041793"/>
            <a:ext cx="3440353" cy="1104886"/>
          </a:xfrm>
          <a:prstGeom prst="rect">
            <a:avLst/>
          </a:prstGeom>
          <a:noFill/>
          <a:ln w="762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1" name="文本框 20"/>
          <p:cNvSpPr txBox="1"/>
          <p:nvPr/>
        </p:nvSpPr>
        <p:spPr>
          <a:xfrm rot="20705002">
            <a:off x="6461512" y="2747072"/>
            <a:ext cx="3510140" cy="1015663"/>
          </a:xfrm>
          <a:prstGeom prst="rect">
            <a:avLst/>
          </a:prstGeom>
          <a:noFill/>
        </p:spPr>
        <p:txBody>
          <a:bodyPr wrap="square" rtlCol="0">
            <a:spAutoFit/>
          </a:bodyPr>
          <a:lstStyle/>
          <a:p>
            <a:r>
              <a:rPr lang="zh-CN" altLang="en-US" sz="6000" dirty="0" smtClean="0">
                <a:solidFill>
                  <a:schemeClr val="bg1"/>
                </a:solidFill>
                <a:latin typeface="华康俪金黑W8" panose="020B0809000000000000" pitchFamily="49" charset="-122"/>
                <a:ea typeface="华康俪金黑W8" panose="020B0809000000000000" pitchFamily="49" charset="-122"/>
              </a:rPr>
              <a:t>允许二胎</a:t>
            </a:r>
            <a:endParaRPr lang="zh-CN" altLang="en-US" sz="6000" dirty="0">
              <a:solidFill>
                <a:schemeClr val="bg1"/>
              </a:solidFill>
              <a:latin typeface="华康俪金黑W8" panose="020B0809000000000000" pitchFamily="49" charset="-122"/>
              <a:ea typeface="华康俪金黑W8" panose="020B0809000000000000" pitchFamily="49" charset="-122"/>
            </a:endParaRPr>
          </a:p>
        </p:txBody>
      </p:sp>
      <p:sp>
        <p:nvSpPr>
          <p:cNvPr id="22" name="矩形 21"/>
          <p:cNvSpPr/>
          <p:nvPr/>
        </p:nvSpPr>
        <p:spPr>
          <a:xfrm rot="20695336">
            <a:off x="6303080" y="2673549"/>
            <a:ext cx="3677265" cy="1337417"/>
          </a:xfrm>
          <a:prstGeom prst="rect">
            <a:avLst/>
          </a:prstGeom>
          <a:noFill/>
          <a:ln w="7620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3" name="矩形 22"/>
          <p:cNvSpPr/>
          <p:nvPr/>
        </p:nvSpPr>
        <p:spPr>
          <a:xfrm rot="20695336">
            <a:off x="6422904" y="2766614"/>
            <a:ext cx="3440353" cy="1104886"/>
          </a:xfrm>
          <a:prstGeom prst="rect">
            <a:avLst/>
          </a:prstGeom>
          <a:noFill/>
          <a:ln w="762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4" name="文本框 23"/>
          <p:cNvSpPr txBox="1"/>
          <p:nvPr/>
        </p:nvSpPr>
        <p:spPr>
          <a:xfrm>
            <a:off x="8152376" y="4974693"/>
            <a:ext cx="3510140" cy="1015663"/>
          </a:xfrm>
          <a:prstGeom prst="rect">
            <a:avLst/>
          </a:prstGeom>
          <a:noFill/>
          <a:ln>
            <a:noFill/>
          </a:ln>
        </p:spPr>
        <p:txBody>
          <a:bodyPr wrap="square" rtlCol="0">
            <a:spAutoFit/>
          </a:bodyPr>
          <a:lstStyle/>
          <a:p>
            <a:r>
              <a:rPr lang="zh-CN" altLang="en-US" sz="6000" dirty="0" smtClean="0">
                <a:solidFill>
                  <a:schemeClr val="bg1"/>
                </a:solidFill>
                <a:latin typeface="华康俪金黑W8" panose="020B0809000000000000" pitchFamily="49" charset="-122"/>
                <a:ea typeface="华康俪金黑W8" panose="020B0809000000000000" pitchFamily="49" charset="-122"/>
              </a:rPr>
              <a:t>改革出台</a:t>
            </a:r>
            <a:endParaRPr lang="zh-CN" altLang="en-US" sz="6000" dirty="0">
              <a:solidFill>
                <a:schemeClr val="bg1"/>
              </a:solidFill>
              <a:latin typeface="华康俪金黑W8" panose="020B0809000000000000" pitchFamily="49" charset="-122"/>
              <a:ea typeface="华康俪金黑W8" panose="020B0809000000000000" pitchFamily="49" charset="-122"/>
            </a:endParaRPr>
          </a:p>
        </p:txBody>
      </p:sp>
      <p:sp>
        <p:nvSpPr>
          <p:cNvPr id="25" name="矩形 24"/>
          <p:cNvSpPr/>
          <p:nvPr/>
        </p:nvSpPr>
        <p:spPr>
          <a:xfrm rot="21590334">
            <a:off x="7993944" y="4901170"/>
            <a:ext cx="3677265" cy="1337417"/>
          </a:xfrm>
          <a:prstGeom prst="rect">
            <a:avLst/>
          </a:prstGeom>
          <a:noFill/>
          <a:ln w="7620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21590334">
            <a:off x="8113768" y="4994235"/>
            <a:ext cx="3440353" cy="1104886"/>
          </a:xfrm>
          <a:prstGeom prst="rect">
            <a:avLst/>
          </a:prstGeom>
          <a:noFill/>
          <a:ln w="762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2"/>
          <a:srcRect l="34149" t="26913" r="34348" b="39809"/>
          <a:stretch/>
        </p:blipFill>
        <p:spPr>
          <a:xfrm>
            <a:off x="163773" y="311857"/>
            <a:ext cx="4596353" cy="5931898"/>
          </a:xfrm>
          <a:prstGeom prst="rect">
            <a:avLst/>
          </a:prstGeom>
        </p:spPr>
      </p:pic>
      <p:pic>
        <p:nvPicPr>
          <p:cNvPr id="27" name="图片 26"/>
          <p:cNvPicPr>
            <a:picLocks noChangeAspect="1"/>
          </p:cNvPicPr>
          <p:nvPr/>
        </p:nvPicPr>
        <p:blipFill rotWithShape="1">
          <a:blip r:embed="rId3"/>
          <a:srcRect l="29217" t="20271" r="24609" b="42674"/>
          <a:stretch/>
        </p:blipFill>
        <p:spPr>
          <a:xfrm>
            <a:off x="5537342" y="887313"/>
            <a:ext cx="7329550" cy="6012865"/>
          </a:xfrm>
          <a:prstGeom prst="rect">
            <a:avLst/>
          </a:prstGeom>
        </p:spPr>
      </p:pic>
    </p:spTree>
    <p:extLst>
      <p:ext uri="{BB962C8B-B14F-4D97-AF65-F5344CB8AC3E}">
        <p14:creationId xmlns:p14="http://schemas.microsoft.com/office/powerpoint/2010/main" val="11299243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2370"/>
            <a:ext cx="12192001" cy="3391572"/>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321573" y="807165"/>
            <a:ext cx="10857289" cy="2585323"/>
          </a:xfrm>
          <a:prstGeom prst="rect">
            <a:avLst/>
          </a:prstGeom>
          <a:noFill/>
        </p:spPr>
        <p:txBody>
          <a:bodyPr wrap="square" rtlCol="0">
            <a:spAutoFit/>
          </a:bodyPr>
          <a:lstStyle/>
          <a:p>
            <a:r>
              <a:rPr lang="zh-CN" altLang="en-US" sz="6600" dirty="0" smtClean="0">
                <a:solidFill>
                  <a:schemeClr val="bg1"/>
                </a:solidFill>
                <a:latin typeface="华康俪金黑W8" panose="020B0809000000000000" pitchFamily="49" charset="-122"/>
                <a:ea typeface="华康俪金黑W8" panose="020B0809000000000000" pitchFamily="49" charset="-122"/>
              </a:rPr>
              <a:t>这些</a:t>
            </a:r>
            <a:r>
              <a:rPr lang="zh-CN" altLang="en-US" sz="9600" dirty="0" smtClean="0">
                <a:solidFill>
                  <a:srgbClr val="981F21"/>
                </a:solidFill>
                <a:latin typeface="华康俪金黑W8" panose="020B0809000000000000" pitchFamily="49" charset="-122"/>
                <a:ea typeface="华康俪金黑W8" panose="020B0809000000000000" pitchFamily="49" charset="-122"/>
              </a:rPr>
              <a:t>准</a:t>
            </a:r>
            <a:r>
              <a:rPr lang="zh-CN" altLang="en-US" sz="6600" dirty="0" smtClean="0">
                <a:solidFill>
                  <a:schemeClr val="bg1"/>
                </a:solidFill>
                <a:latin typeface="华康俪金黑W8" panose="020B0809000000000000" pitchFamily="49" charset="-122"/>
                <a:ea typeface="华康俪金黑W8" panose="020B0809000000000000" pitchFamily="49" charset="-122"/>
              </a:rPr>
              <a:t>和</a:t>
            </a:r>
            <a:r>
              <a:rPr lang="zh-CN" altLang="en-US" sz="9600" dirty="0" smtClean="0">
                <a:solidFill>
                  <a:srgbClr val="981F21"/>
                </a:solidFill>
                <a:latin typeface="华康俪金黑W8" panose="020B0809000000000000" pitchFamily="49" charset="-122"/>
                <a:ea typeface="华康俪金黑W8" panose="020B0809000000000000" pitchFamily="49" charset="-122"/>
              </a:rPr>
              <a:t>不准</a:t>
            </a:r>
            <a:r>
              <a:rPr lang="zh-CN" altLang="en-US" sz="6600" dirty="0" smtClean="0">
                <a:solidFill>
                  <a:schemeClr val="bg1"/>
                </a:solidFill>
                <a:latin typeface="华康俪金黑W8" panose="020B0809000000000000" pitchFamily="49" charset="-122"/>
                <a:ea typeface="华康俪金黑W8" panose="020B0809000000000000" pitchFamily="49" charset="-122"/>
              </a:rPr>
              <a:t>，</a:t>
            </a:r>
            <a:endParaRPr lang="en-US" altLang="zh-CN" sz="6600" dirty="0" smtClean="0">
              <a:solidFill>
                <a:schemeClr val="bg1"/>
              </a:solidFill>
              <a:latin typeface="华康俪金黑W8" panose="020B0809000000000000" pitchFamily="49" charset="-122"/>
              <a:ea typeface="华康俪金黑W8" panose="020B0809000000000000" pitchFamily="49" charset="-122"/>
            </a:endParaRPr>
          </a:p>
          <a:p>
            <a:pPr algn="r"/>
            <a:r>
              <a:rPr lang="zh-CN" altLang="en-US" sz="6600" dirty="0" smtClean="0">
                <a:solidFill>
                  <a:schemeClr val="bg1"/>
                </a:solidFill>
                <a:latin typeface="华康俪金黑W8" panose="020B0809000000000000" pitchFamily="49" charset="-122"/>
                <a:ea typeface="华康俪金黑W8" panose="020B0809000000000000" pitchFamily="49" charset="-122"/>
              </a:rPr>
              <a:t>背后的潜规则是哪种</a:t>
            </a:r>
            <a:endParaRPr lang="zh-CN" altLang="en-US" sz="6600" dirty="0">
              <a:solidFill>
                <a:schemeClr val="bg1"/>
              </a:solidFill>
              <a:latin typeface="华康俪金黑W8" panose="020B0809000000000000" pitchFamily="49" charset="-122"/>
              <a:ea typeface="华康俪金黑W8" panose="020B0809000000000000" pitchFamily="49" charset="-122"/>
            </a:endParaRPr>
          </a:p>
        </p:txBody>
      </p:sp>
      <p:sp>
        <p:nvSpPr>
          <p:cNvPr id="2" name="矩形 1"/>
          <p:cNvSpPr/>
          <p:nvPr/>
        </p:nvSpPr>
        <p:spPr>
          <a:xfrm>
            <a:off x="1" y="3389202"/>
            <a:ext cx="12192000" cy="1862048"/>
          </a:xfrm>
          <a:prstGeom prst="rect">
            <a:avLst/>
          </a:prstGeom>
        </p:spPr>
        <p:txBody>
          <a:bodyPr wrap="square">
            <a:spAutoFit/>
          </a:bodyPr>
          <a:lstStyle/>
          <a:p>
            <a:pPr algn="ctr"/>
            <a:r>
              <a:rPr lang="zh-CN" altLang="en-US" sz="11500" dirty="0" smtClean="0">
                <a:solidFill>
                  <a:srgbClr val="981F21"/>
                </a:solidFill>
                <a:latin typeface="华康俪金黑W8" panose="020B0809000000000000" pitchFamily="49" charset="-122"/>
                <a:ea typeface="华康俪金黑W8" panose="020B0809000000000000" pitchFamily="49" charset="-122"/>
              </a:rPr>
              <a:t>你看懂了么？</a:t>
            </a:r>
            <a:endParaRPr lang="zh-CN" altLang="en-US" sz="11500" dirty="0">
              <a:solidFill>
                <a:srgbClr val="981F21"/>
              </a:solidFill>
              <a:latin typeface="华康俪金黑W8" panose="020B0809000000000000" pitchFamily="49" charset="-122"/>
              <a:ea typeface="华康俪金黑W8" panose="020B0809000000000000" pitchFamily="49" charset="-122"/>
            </a:endParaRPr>
          </a:p>
        </p:txBody>
      </p:sp>
    </p:spTree>
    <p:extLst>
      <p:ext uri="{BB962C8B-B14F-4D97-AF65-F5344CB8AC3E}">
        <p14:creationId xmlns:p14="http://schemas.microsoft.com/office/powerpoint/2010/main" val="31413812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2370"/>
            <a:ext cx="12192001" cy="3391572"/>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72278" y="687537"/>
            <a:ext cx="10857289" cy="1323439"/>
          </a:xfrm>
          <a:prstGeom prst="rect">
            <a:avLst/>
          </a:prstGeom>
          <a:noFill/>
        </p:spPr>
        <p:txBody>
          <a:bodyPr wrap="square" rtlCol="0">
            <a:spAutoFit/>
          </a:bodyPr>
          <a:lstStyle/>
          <a:p>
            <a:r>
              <a:rPr lang="zh-CN" altLang="en-US" sz="8000" dirty="0" smtClean="0">
                <a:solidFill>
                  <a:schemeClr val="bg1"/>
                </a:solidFill>
                <a:latin typeface="华康俪金黑W8" panose="020B0809000000000000" pitchFamily="49" charset="-122"/>
                <a:ea typeface="华康俪金黑W8" panose="020B0809000000000000" pitchFamily="49" charset="-122"/>
              </a:rPr>
              <a:t>提问时间：</a:t>
            </a:r>
            <a:endParaRPr lang="zh-CN" altLang="en-US" sz="8000" dirty="0">
              <a:solidFill>
                <a:schemeClr val="bg1"/>
              </a:solidFill>
              <a:latin typeface="华康俪金黑W8" panose="020B0809000000000000" pitchFamily="49" charset="-122"/>
              <a:ea typeface="华康俪金黑W8" panose="020B0809000000000000" pitchFamily="49" charset="-122"/>
            </a:endParaRPr>
          </a:p>
        </p:txBody>
      </p:sp>
      <p:sp>
        <p:nvSpPr>
          <p:cNvPr id="2" name="矩形 1"/>
          <p:cNvSpPr/>
          <p:nvPr/>
        </p:nvSpPr>
        <p:spPr>
          <a:xfrm>
            <a:off x="321573" y="2010976"/>
            <a:ext cx="12192000" cy="3339376"/>
          </a:xfrm>
          <a:prstGeom prst="rect">
            <a:avLst/>
          </a:prstGeom>
        </p:spPr>
        <p:txBody>
          <a:bodyPr wrap="square">
            <a:spAutoFit/>
          </a:bodyPr>
          <a:lstStyle/>
          <a:p>
            <a:pPr algn="ctr"/>
            <a:r>
              <a:rPr lang="zh-CN" altLang="en-US" sz="8800" dirty="0" smtClean="0">
                <a:solidFill>
                  <a:schemeClr val="bg1"/>
                </a:solidFill>
                <a:latin typeface="华康俪金黑W8" panose="020B0809000000000000" pitchFamily="49" charset="-122"/>
                <a:ea typeface="华康俪金黑W8" panose="020B0809000000000000" pitchFamily="49" charset="-122"/>
              </a:rPr>
              <a:t>习大大吃包子</a:t>
            </a:r>
            <a:endParaRPr lang="en-US" altLang="zh-CN" sz="8800" dirty="0" smtClean="0">
              <a:solidFill>
                <a:schemeClr val="bg1"/>
              </a:solidFill>
              <a:latin typeface="华康俪金黑W8" panose="020B0809000000000000" pitchFamily="49" charset="-122"/>
              <a:ea typeface="华康俪金黑W8" panose="020B0809000000000000" pitchFamily="49" charset="-122"/>
            </a:endParaRPr>
          </a:p>
          <a:p>
            <a:pPr algn="ctr"/>
            <a:r>
              <a:rPr lang="zh-CN" altLang="en-US" sz="8000" dirty="0" smtClean="0">
                <a:solidFill>
                  <a:srgbClr val="981F21"/>
                </a:solidFill>
                <a:latin typeface="华康俪金黑W8" panose="020B0809000000000000" pitchFamily="49" charset="-122"/>
                <a:ea typeface="华康俪金黑W8" panose="020B0809000000000000" pitchFamily="49" charset="-122"/>
              </a:rPr>
              <a:t>挑战的是什么潜规则呢</a:t>
            </a:r>
            <a:r>
              <a:rPr lang="zh-CN" altLang="en-US" sz="11500" dirty="0" smtClean="0">
                <a:solidFill>
                  <a:srgbClr val="981F21"/>
                </a:solidFill>
                <a:latin typeface="华康俪金黑W8" panose="020B0809000000000000" pitchFamily="49" charset="-122"/>
                <a:ea typeface="华康俪金黑W8" panose="020B0809000000000000" pitchFamily="49" charset="-122"/>
              </a:rPr>
              <a:t>？</a:t>
            </a:r>
            <a:endParaRPr lang="zh-CN" altLang="en-US" sz="11500" dirty="0">
              <a:solidFill>
                <a:srgbClr val="981F21"/>
              </a:solidFill>
              <a:latin typeface="华康俪金黑W8" panose="020B0809000000000000" pitchFamily="49" charset="-122"/>
              <a:ea typeface="华康俪金黑W8" panose="020B0809000000000000" pitchFamily="49" charset="-122"/>
            </a:endParaRPr>
          </a:p>
        </p:txBody>
      </p:sp>
      <p:sp>
        <p:nvSpPr>
          <p:cNvPr id="7" name="文本框 6"/>
          <p:cNvSpPr txBox="1"/>
          <p:nvPr/>
        </p:nvSpPr>
        <p:spPr>
          <a:xfrm>
            <a:off x="10143186" y="6290648"/>
            <a:ext cx="2421228" cy="523220"/>
          </a:xfrm>
          <a:prstGeom prst="rect">
            <a:avLst/>
          </a:prstGeom>
          <a:noFill/>
        </p:spPr>
        <p:txBody>
          <a:bodyPr wrap="square" rtlCol="0">
            <a:spAutoFit/>
          </a:bodyPr>
          <a:lstStyle/>
          <a:p>
            <a:r>
              <a:rPr lang="en-US" altLang="zh-CN" sz="2800" b="1" dirty="0" smtClean="0">
                <a:solidFill>
                  <a:srgbClr val="3E494F"/>
                </a:solidFill>
                <a:latin typeface="微软雅黑" panose="020B0503020204020204" pitchFamily="34" charset="-122"/>
                <a:ea typeface="微软雅黑" panose="020B0503020204020204" pitchFamily="34" charset="-122"/>
              </a:rPr>
              <a:t>@</a:t>
            </a:r>
            <a:r>
              <a:rPr lang="zh-CN" altLang="en-US" sz="2800" b="1" dirty="0" smtClean="0">
                <a:solidFill>
                  <a:srgbClr val="3E494F"/>
                </a:solidFill>
                <a:latin typeface="微软雅黑" panose="020B0503020204020204" pitchFamily="34" charset="-122"/>
                <a:ea typeface="微软雅黑" panose="020B0503020204020204" pitchFamily="34" charset="-122"/>
              </a:rPr>
              <a:t>湘大绛沐</a:t>
            </a:r>
            <a:endParaRPr lang="zh-CN" altLang="en-US" sz="2800" b="1" dirty="0">
              <a:solidFill>
                <a:srgbClr val="3E494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731548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5" name="矩形 4"/>
          <p:cNvSpPr/>
          <p:nvPr/>
        </p:nvSpPr>
        <p:spPr>
          <a:xfrm>
            <a:off x="-1" y="-15249"/>
            <a:ext cx="12192001" cy="3391572"/>
          </a:xfrm>
          <a:prstGeom prst="rect">
            <a:avLst/>
          </a:prstGeom>
          <a:solidFill>
            <a:srgbClr val="3E4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 y="157043"/>
            <a:ext cx="12192001" cy="3046988"/>
          </a:xfrm>
          <a:prstGeom prst="rect">
            <a:avLst/>
          </a:prstGeom>
          <a:noFill/>
        </p:spPr>
        <p:txBody>
          <a:bodyPr wrap="square" rtlCol="0">
            <a:spAutoFit/>
          </a:bodyPr>
          <a:lstStyle/>
          <a:p>
            <a:pPr algn="ctr"/>
            <a:r>
              <a:rPr lang="zh-CN" altLang="en-US" sz="4800" dirty="0" smtClean="0">
                <a:solidFill>
                  <a:schemeClr val="bg1"/>
                </a:solidFill>
                <a:latin typeface="华康俪金黑W8" panose="020B0809000000000000" pitchFamily="49" charset="-122"/>
                <a:ea typeface="华康俪金黑W8" panose="020B0809000000000000" pitchFamily="49" charset="-122"/>
              </a:rPr>
              <a:t>感谢</a:t>
            </a:r>
            <a:r>
              <a:rPr lang="en-US" altLang="zh-CN" sz="4800" dirty="0" smtClean="0">
                <a:solidFill>
                  <a:schemeClr val="bg1"/>
                </a:solidFill>
                <a:latin typeface="华康俪金黑W8" panose="020B0809000000000000" pitchFamily="49" charset="-122"/>
                <a:ea typeface="华康俪金黑W8" panose="020B0809000000000000" pitchFamily="49" charset="-122"/>
              </a:rPr>
              <a:t>@</a:t>
            </a:r>
            <a:r>
              <a:rPr lang="zh-CN" altLang="en-US" sz="4800" dirty="0" smtClean="0">
                <a:solidFill>
                  <a:schemeClr val="bg1"/>
                </a:solidFill>
                <a:latin typeface="华康俪金黑W8" panose="020B0809000000000000" pitchFamily="49" charset="-122"/>
                <a:ea typeface="华康俪金黑W8" panose="020B0809000000000000" pitchFamily="49" charset="-122"/>
              </a:rPr>
              <a:t>秋叶 大叔的反复指导</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a:p>
            <a:pPr algn="ctr"/>
            <a:r>
              <a:rPr lang="zh-CN" altLang="en-US" sz="4800" dirty="0" smtClean="0">
                <a:solidFill>
                  <a:schemeClr val="bg1"/>
                </a:solidFill>
                <a:latin typeface="华康俪金黑W8" panose="020B0809000000000000" pitchFamily="49" charset="-122"/>
                <a:ea typeface="华康俪金黑W8" panose="020B0809000000000000" pitchFamily="49" charset="-122"/>
              </a:rPr>
              <a:t>感谢</a:t>
            </a:r>
            <a:r>
              <a:rPr lang="en-US" altLang="zh-CN" sz="4800" dirty="0" smtClean="0">
                <a:solidFill>
                  <a:schemeClr val="bg1"/>
                </a:solidFill>
                <a:latin typeface="华康俪金黑W8" panose="020B0809000000000000" pitchFamily="49" charset="-122"/>
                <a:ea typeface="华康俪金黑W8" panose="020B0809000000000000" pitchFamily="49" charset="-122"/>
              </a:rPr>
              <a:t>@</a:t>
            </a:r>
            <a:r>
              <a:rPr lang="zh-CN" altLang="en-US" sz="4800" dirty="0" smtClean="0">
                <a:solidFill>
                  <a:schemeClr val="bg1"/>
                </a:solidFill>
                <a:latin typeface="华康俪金黑W8" panose="020B0809000000000000" pitchFamily="49" charset="-122"/>
                <a:ea typeface="华康俪金黑W8" panose="020B0809000000000000" pitchFamily="49" charset="-122"/>
              </a:rPr>
              <a:t>小巴</a:t>
            </a:r>
            <a:r>
              <a:rPr lang="en-US" altLang="zh-CN" sz="4800" dirty="0" smtClean="0">
                <a:solidFill>
                  <a:schemeClr val="bg1"/>
                </a:solidFill>
                <a:latin typeface="华康俪金黑W8" panose="020B0809000000000000" pitchFamily="49" charset="-122"/>
                <a:ea typeface="华康俪金黑W8" panose="020B0809000000000000" pitchFamily="49" charset="-122"/>
              </a:rPr>
              <a:t>_1990</a:t>
            </a:r>
            <a:r>
              <a:rPr lang="zh-CN" altLang="en-US" sz="4800" dirty="0" smtClean="0">
                <a:solidFill>
                  <a:schemeClr val="bg1"/>
                </a:solidFill>
                <a:latin typeface="华康俪金黑W8" panose="020B0809000000000000" pitchFamily="49" charset="-122"/>
                <a:ea typeface="华康俪金黑W8" panose="020B0809000000000000" pitchFamily="49" charset="-122"/>
              </a:rPr>
              <a:t>老师的帮助</a:t>
            </a:r>
            <a:endParaRPr lang="en-US" altLang="zh-CN" sz="4800" dirty="0" smtClean="0">
              <a:solidFill>
                <a:schemeClr val="bg1"/>
              </a:solidFill>
              <a:latin typeface="华康俪金黑W8" panose="020B0809000000000000" pitchFamily="49" charset="-122"/>
              <a:ea typeface="华康俪金黑W8" panose="020B0809000000000000" pitchFamily="49" charset="-122"/>
            </a:endParaRPr>
          </a:p>
          <a:p>
            <a:pPr algn="ctr"/>
            <a:r>
              <a:rPr lang="en-US" altLang="zh-CN" sz="4800" dirty="0" smtClean="0">
                <a:solidFill>
                  <a:srgbClr val="981F21"/>
                </a:solidFill>
                <a:latin typeface="华康俪金黑W8" panose="020B0809000000000000" pitchFamily="49" charset="-122"/>
                <a:ea typeface="华康俪金黑W8" panose="020B0809000000000000" pitchFamily="49" charset="-122"/>
              </a:rPr>
              <a:t>#</a:t>
            </a:r>
            <a:r>
              <a:rPr lang="zh-CN" altLang="en-US" sz="4800" dirty="0" smtClean="0">
                <a:solidFill>
                  <a:srgbClr val="981F21"/>
                </a:solidFill>
                <a:latin typeface="华康俪金黑W8" panose="020B0809000000000000" pitchFamily="49" charset="-122"/>
                <a:ea typeface="华康俪金黑W8" panose="020B0809000000000000" pitchFamily="49" charset="-122"/>
              </a:rPr>
              <a:t>和秋叶一起学</a:t>
            </a:r>
            <a:r>
              <a:rPr lang="en-US" altLang="zh-CN" sz="4800" dirty="0" smtClean="0">
                <a:solidFill>
                  <a:srgbClr val="981F21"/>
                </a:solidFill>
                <a:latin typeface="华康俪金黑W8" panose="020B0809000000000000" pitchFamily="49" charset="-122"/>
                <a:ea typeface="华康俪金黑W8" panose="020B0809000000000000" pitchFamily="49" charset="-122"/>
              </a:rPr>
              <a:t>PPT#</a:t>
            </a:r>
          </a:p>
          <a:p>
            <a:pPr algn="ctr"/>
            <a:r>
              <a:rPr lang="zh-CN" altLang="en-US" sz="4800" dirty="0" smtClean="0">
                <a:solidFill>
                  <a:schemeClr val="bg1"/>
                </a:solidFill>
                <a:latin typeface="华康俪金黑W8" panose="020B0809000000000000" pitchFamily="49" charset="-122"/>
                <a:ea typeface="华康俪金黑W8" panose="020B0809000000000000" pitchFamily="49" charset="-122"/>
              </a:rPr>
              <a:t>我在网易云课堂等你</a:t>
            </a:r>
            <a:endParaRPr lang="en-US" altLang="zh-CN" sz="4800" dirty="0">
              <a:solidFill>
                <a:schemeClr val="bg1"/>
              </a:solidFill>
              <a:latin typeface="华康俪金黑W8" panose="020B0809000000000000" pitchFamily="49" charset="-122"/>
              <a:ea typeface="华康俪金黑W8" panose="020B0809000000000000" pitchFamily="49"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4094" y="3777457"/>
            <a:ext cx="4467896" cy="2513191"/>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40510" y="3777457"/>
            <a:ext cx="4467896" cy="2513191"/>
          </a:xfrm>
          <a:prstGeom prst="rect">
            <a:avLst/>
          </a:prstGeom>
        </p:spPr>
      </p:pic>
      <p:sp>
        <p:nvSpPr>
          <p:cNvPr id="9" name="文本框 8"/>
          <p:cNvSpPr txBox="1"/>
          <p:nvPr/>
        </p:nvSpPr>
        <p:spPr>
          <a:xfrm>
            <a:off x="2202287" y="6322450"/>
            <a:ext cx="1957589" cy="461665"/>
          </a:xfrm>
          <a:prstGeom prst="rect">
            <a:avLst/>
          </a:prstGeom>
          <a:noFill/>
        </p:spPr>
        <p:txBody>
          <a:bodyPr wrap="square" rtlCol="0">
            <a:spAutoFit/>
          </a:bodyPr>
          <a:lstStyle/>
          <a:p>
            <a:r>
              <a:rPr lang="zh-CN" altLang="en-US" sz="2400" b="1" dirty="0" smtClean="0">
                <a:solidFill>
                  <a:srgbClr val="3B464C"/>
                </a:solidFill>
                <a:latin typeface="华康俪金黑W8" panose="020B0809000000000000" pitchFamily="49" charset="-122"/>
                <a:ea typeface="华康俪金黑W8" panose="020B0809000000000000" pitchFamily="49" charset="-122"/>
              </a:rPr>
              <a:t>最后微调前</a:t>
            </a:r>
            <a:endParaRPr lang="zh-CN" altLang="en-US" sz="2400" b="1" dirty="0">
              <a:solidFill>
                <a:srgbClr val="3B464C"/>
              </a:solidFill>
              <a:latin typeface="华康俪金黑W8" panose="020B0809000000000000" pitchFamily="49" charset="-122"/>
              <a:ea typeface="华康俪金黑W8" panose="020B0809000000000000" pitchFamily="49" charset="-122"/>
            </a:endParaRPr>
          </a:p>
        </p:txBody>
      </p:sp>
      <p:sp>
        <p:nvSpPr>
          <p:cNvPr id="10" name="文本框 9"/>
          <p:cNvSpPr txBox="1"/>
          <p:nvPr/>
        </p:nvSpPr>
        <p:spPr>
          <a:xfrm>
            <a:off x="8369121" y="6308494"/>
            <a:ext cx="1957589" cy="461665"/>
          </a:xfrm>
          <a:prstGeom prst="rect">
            <a:avLst/>
          </a:prstGeom>
          <a:noFill/>
        </p:spPr>
        <p:txBody>
          <a:bodyPr wrap="square" rtlCol="0">
            <a:spAutoFit/>
          </a:bodyPr>
          <a:lstStyle/>
          <a:p>
            <a:r>
              <a:rPr lang="zh-CN" altLang="en-US" sz="2400" b="1" dirty="0" smtClean="0">
                <a:solidFill>
                  <a:srgbClr val="3B464C"/>
                </a:solidFill>
                <a:latin typeface="华康俪金黑W8" panose="020B0809000000000000" pitchFamily="49" charset="-122"/>
                <a:ea typeface="华康俪金黑W8" panose="020B0809000000000000" pitchFamily="49" charset="-122"/>
              </a:rPr>
              <a:t>最后微调后</a:t>
            </a:r>
            <a:endParaRPr lang="zh-CN" altLang="en-US" sz="2400" b="1" dirty="0">
              <a:solidFill>
                <a:srgbClr val="3B464C"/>
              </a:solidFill>
              <a:latin typeface="华康俪金黑W8" panose="020B0809000000000000" pitchFamily="49" charset="-122"/>
              <a:ea typeface="华康俪金黑W8" panose="020B0809000000000000" pitchFamily="49" charset="-122"/>
            </a:endParaRPr>
          </a:p>
        </p:txBody>
      </p:sp>
    </p:spTree>
    <p:extLst>
      <p:ext uri="{BB962C8B-B14F-4D97-AF65-F5344CB8AC3E}">
        <p14:creationId xmlns:p14="http://schemas.microsoft.com/office/powerpoint/2010/main" val="4258438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84781" y="4012266"/>
            <a:ext cx="8252103" cy="1446609"/>
            <a:chOff x="0" y="3359571"/>
            <a:chExt cx="9169004" cy="1607344"/>
          </a:xfrm>
        </p:grpSpPr>
        <p:sp>
          <p:nvSpPr>
            <p:cNvPr id="5" name="矩形 4"/>
            <p:cNvSpPr/>
            <p:nvPr/>
          </p:nvSpPr>
          <p:spPr>
            <a:xfrm>
              <a:off x="1245140" y="3973770"/>
              <a:ext cx="4572000" cy="533479"/>
            </a:xfrm>
            <a:prstGeom prst="rect">
              <a:avLst/>
            </a:prstGeom>
          </p:spPr>
          <p:txBody>
            <a:bodyPr>
              <a:spAutoFit/>
            </a:bodyPr>
            <a:lstStyle/>
            <a:p>
              <a:pPr defTabSz="82790">
                <a:defRPr/>
              </a:pPr>
              <a:r>
                <a:rPr lang="en-US" altLang="zh-CN" sz="1260" kern="0" dirty="0">
                  <a:solidFill>
                    <a:prstClr val="black"/>
                  </a:solidFill>
                </a:rPr>
                <a:t/>
              </a:r>
              <a:br>
                <a:rPr lang="en-US" altLang="zh-CN" sz="1260" kern="0" dirty="0">
                  <a:solidFill>
                    <a:prstClr val="black"/>
                  </a:solidFill>
                </a:rPr>
              </a:br>
              <a:endParaRPr lang="en-US" altLang="zh-CN" sz="1260" kern="0" dirty="0">
                <a:solidFill>
                  <a:prstClr val="black"/>
                </a:solidFill>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617220" fontAlgn="base">
                <a:spcBef>
                  <a:spcPct val="0"/>
                </a:spcBef>
                <a:spcAft>
                  <a:spcPct val="0"/>
                </a:spcAft>
                <a:defRPr/>
              </a:pPr>
              <a:endParaRPr lang="zh-CN" altLang="en-US" sz="1216" kern="0">
                <a:solidFill>
                  <a:prstClr val="white"/>
                </a:solidFill>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white"/>
                </a:solidFill>
              </a:endParaRPr>
            </a:p>
          </p:txBody>
        </p:sp>
        <p:pic>
          <p:nvPicPr>
            <p:cNvPr id="8" name="图片 17"/>
            <p:cNvPicPr>
              <a:picLocks noChangeAspect="1"/>
            </p:cNvPicPr>
            <p:nvPr/>
          </p:nvPicPr>
          <p:blipFill>
            <a:blip r:embed="rId2">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1" y="3613174"/>
              <a:ext cx="594123" cy="56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220" fontAlgn="base">
                <a:lnSpc>
                  <a:spcPct val="100000"/>
                </a:lnSpc>
                <a:spcBef>
                  <a:spcPct val="0"/>
                </a:spcBef>
                <a:spcAft>
                  <a:spcPct val="0"/>
                </a:spcAft>
                <a:buNone/>
                <a:defRPr/>
              </a:pPr>
              <a:r>
                <a:rPr lang="zh-CN" altLang="en-US" sz="270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540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69" y="3441723"/>
              <a:ext cx="3519839" cy="916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220" fontAlgn="base">
                <a:lnSpc>
                  <a:spcPct val="100000"/>
                </a:lnSpc>
                <a:spcBef>
                  <a:spcPct val="0"/>
                </a:spcBef>
                <a:spcAft>
                  <a:spcPct val="0"/>
                </a:spcAft>
                <a:buNone/>
                <a:defRPr/>
              </a:pPr>
              <a:r>
                <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216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4050"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216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617220" fontAlgn="base">
                <a:lnSpc>
                  <a:spcPct val="100000"/>
                </a:lnSpc>
                <a:spcBef>
                  <a:spcPct val="0"/>
                </a:spcBef>
                <a:spcAft>
                  <a:spcPct val="0"/>
                </a:spcAft>
                <a:buNone/>
                <a:defRPr/>
              </a:pPr>
              <a:endParaRPr lang="zh-CN" altLang="en-US" sz="709"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white"/>
                  </a:solidFill>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white"/>
                  </a:solidFill>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white"/>
                  </a:solidFill>
                </a:endParaRPr>
              </a:p>
            </p:txBody>
          </p:sp>
        </p:grpSp>
        <p:sp>
          <p:nvSpPr>
            <p:cNvPr id="12" name="文本框 11"/>
            <p:cNvSpPr txBox="1">
              <a:spLocks noChangeArrowheads="1"/>
            </p:cNvSpPr>
            <p:nvPr/>
          </p:nvSpPr>
          <p:spPr bwMode="auto">
            <a:xfrm>
              <a:off x="5229225" y="4188246"/>
              <a:ext cx="1596629"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220" eaLnBrk="0" fontAlgn="base" hangingPunct="0">
                <a:lnSpc>
                  <a:spcPct val="100000"/>
                </a:lnSpc>
                <a:spcBef>
                  <a:spcPct val="0"/>
                </a:spcBef>
                <a:spcAft>
                  <a:spcPct val="0"/>
                </a:spcAft>
                <a:buNone/>
                <a:defRPr/>
              </a:pPr>
              <a:r>
                <a:rPr lang="zh-CN" altLang="en-US" sz="1890"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white"/>
                </a:solidFill>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black"/>
                  </a:solidFill>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white"/>
                  </a:solidFill>
                </a:endParaRPr>
              </a:p>
            </p:txBody>
          </p:sp>
        </p:grpSp>
        <p:sp>
          <p:nvSpPr>
            <p:cNvPr id="15" name="文本框 14"/>
            <p:cNvSpPr txBox="1">
              <a:spLocks noChangeArrowheads="1"/>
            </p:cNvSpPr>
            <p:nvPr/>
          </p:nvSpPr>
          <p:spPr bwMode="auto">
            <a:xfrm>
              <a:off x="7008019" y="4183483"/>
              <a:ext cx="757239"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220" eaLnBrk="0" fontAlgn="base" hangingPunct="0">
                <a:lnSpc>
                  <a:spcPct val="100000"/>
                </a:lnSpc>
                <a:spcBef>
                  <a:spcPct val="0"/>
                </a:spcBef>
                <a:spcAft>
                  <a:spcPct val="0"/>
                </a:spcAft>
                <a:buNone/>
                <a:defRPr/>
              </a:pPr>
              <a:r>
                <a:rPr lang="zh-CN" altLang="en-US" sz="1890"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1216" kern="0">
                <a:solidFill>
                  <a:prstClr val="white"/>
                </a:solidFill>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1216" kern="0">
                  <a:solidFill>
                    <a:prstClr val="black"/>
                  </a:solidFill>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090590" cy="3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220" fontAlgn="base">
                <a:lnSpc>
                  <a:spcPct val="100000"/>
                </a:lnSpc>
                <a:spcBef>
                  <a:spcPct val="0"/>
                </a:spcBef>
                <a:spcAft>
                  <a:spcPct val="0"/>
                </a:spcAft>
                <a:buNone/>
                <a:defRPr/>
              </a:pPr>
              <a:r>
                <a:rPr lang="zh-CN" altLang="en-US" sz="1350"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211971" y="1160749"/>
            <a:ext cx="5768063" cy="2613023"/>
          </a:xfrm>
          <a:prstGeom prst="rect">
            <a:avLst/>
          </a:prstGeom>
          <a:noFill/>
        </p:spPr>
        <p:txBody>
          <a:bodyPr wrap="square" rtlCol="0">
            <a:spAutoFit/>
          </a:bodyPr>
          <a:lstStyle/>
          <a:p>
            <a:pPr algn="ctr"/>
            <a:r>
              <a:rPr lang="en-US" altLang="zh-CN" sz="3240" b="1" dirty="0">
                <a:solidFill>
                  <a:srgbClr val="E50515"/>
                </a:solidFill>
                <a:latin typeface="微软雅黑" panose="020B0503020204020204" pitchFamily="34" charset="-122"/>
                <a:ea typeface="微软雅黑" panose="020B0503020204020204" pitchFamily="34" charset="-122"/>
              </a:rPr>
              <a:t>#</a:t>
            </a:r>
            <a:r>
              <a:rPr lang="zh-CN" altLang="en-US" sz="3240" b="1" dirty="0">
                <a:solidFill>
                  <a:srgbClr val="E50515"/>
                </a:solidFill>
                <a:latin typeface="微软雅黑" panose="020B0503020204020204" pitchFamily="34" charset="-122"/>
                <a:ea typeface="微软雅黑" panose="020B0503020204020204" pitchFamily="34" charset="-122"/>
              </a:rPr>
              <a:t>和秋叶一起学</a:t>
            </a:r>
            <a:r>
              <a:rPr lang="en-US" altLang="zh-CN" sz="3240" b="1" dirty="0">
                <a:solidFill>
                  <a:srgbClr val="E50515"/>
                </a:solidFill>
                <a:latin typeface="微软雅黑" panose="020B0503020204020204" pitchFamily="34" charset="-122"/>
                <a:ea typeface="微软雅黑" panose="020B0503020204020204" pitchFamily="34" charset="-122"/>
              </a:rPr>
              <a:t>PPT#</a:t>
            </a:r>
          </a:p>
          <a:p>
            <a:pPr algn="ctr">
              <a:spcBef>
                <a:spcPts val="2700"/>
              </a:spcBef>
            </a:pPr>
            <a:r>
              <a:rPr lang="zh-CN" altLang="en-US" sz="3960" b="1" dirty="0">
                <a:solidFill>
                  <a:prstClr val="black"/>
                </a:solidFill>
                <a:latin typeface="微软雅黑" panose="020B0503020204020204" pitchFamily="34" charset="-122"/>
                <a:ea typeface="微软雅黑" panose="020B0503020204020204" pitchFamily="34" charset="-122"/>
              </a:rPr>
              <a:t>学员寒假读书笔记</a:t>
            </a:r>
            <a:r>
              <a:rPr lang="en-US" altLang="zh-CN" sz="3960" b="1" dirty="0">
                <a:solidFill>
                  <a:prstClr val="black"/>
                </a:solidFill>
                <a:latin typeface="微软雅黑" panose="020B0503020204020204" pitchFamily="34" charset="-122"/>
                <a:ea typeface="微软雅黑" panose="020B0503020204020204" pitchFamily="34" charset="-122"/>
              </a:rPr>
              <a:t>005</a:t>
            </a:r>
            <a:r>
              <a:rPr lang="zh-CN" altLang="en-US" sz="3960" b="1" dirty="0">
                <a:solidFill>
                  <a:prstClr val="black"/>
                </a:solidFill>
                <a:latin typeface="微软雅黑" panose="020B0503020204020204" pitchFamily="34" charset="-122"/>
                <a:ea typeface="微软雅黑" panose="020B0503020204020204" pitchFamily="34" charset="-122"/>
              </a:rPr>
              <a:t>号</a:t>
            </a:r>
            <a:endParaRPr lang="en-US" altLang="zh-CN" sz="3960" b="1" dirty="0">
              <a:solidFill>
                <a:prstClr val="black"/>
              </a:solidFill>
              <a:latin typeface="微软雅黑" panose="020B0503020204020204" pitchFamily="34" charset="-122"/>
              <a:ea typeface="微软雅黑" panose="020B0503020204020204" pitchFamily="34" charset="-122"/>
            </a:endParaRPr>
          </a:p>
          <a:p>
            <a:pPr algn="ctr">
              <a:spcBef>
                <a:spcPts val="2700"/>
              </a:spcBef>
            </a:pPr>
            <a:r>
              <a:rPr lang="zh-CN" altLang="en-US" sz="2520" b="1" dirty="0">
                <a:solidFill>
                  <a:prstClr val="black"/>
                </a:solidFill>
                <a:latin typeface="微软雅黑" panose="020B0503020204020204" pitchFamily="34" charset="-122"/>
                <a:ea typeface="微软雅黑" panose="020B0503020204020204" pitchFamily="34" charset="-122"/>
              </a:rPr>
              <a:t>你也想做？请马上</a:t>
            </a:r>
            <a:r>
              <a:rPr lang="en-US" altLang="zh-CN" sz="2520" b="1" dirty="0">
                <a:solidFill>
                  <a:prstClr val="black"/>
                </a:solidFill>
                <a:latin typeface="微软雅黑" panose="020B0503020204020204" pitchFamily="34" charset="-122"/>
                <a:ea typeface="微软雅黑" panose="020B0503020204020204" pitchFamily="34" charset="-122"/>
              </a:rPr>
              <a:t>@</a:t>
            </a:r>
            <a:r>
              <a:rPr lang="zh-CN" altLang="en-US" sz="2520" b="1" dirty="0">
                <a:solidFill>
                  <a:prstClr val="black"/>
                </a:solidFill>
                <a:latin typeface="微软雅黑" panose="020B0503020204020204" pitchFamily="34" charset="-122"/>
                <a:ea typeface="微软雅黑" panose="020B0503020204020204" pitchFamily="34" charset="-122"/>
              </a:rPr>
              <a:t>时间卡片 约定</a:t>
            </a:r>
            <a:endParaRPr lang="en-US" altLang="zh-CN" sz="2520" b="1" dirty="0">
              <a:solidFill>
                <a:prstClr val="black"/>
              </a:solidFill>
              <a:latin typeface="微软雅黑" panose="020B0503020204020204" pitchFamily="34" charset="-122"/>
              <a:ea typeface="微软雅黑" panose="020B0503020204020204" pitchFamily="34" charset="-122"/>
            </a:endParaRPr>
          </a:p>
          <a:p>
            <a:pPr algn="ctr"/>
            <a:r>
              <a:rPr lang="zh-CN" altLang="en-US" sz="2160"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2160" b="1" dirty="0">
                <a:solidFill>
                  <a:prstClr val="black"/>
                </a:solidFill>
                <a:latin typeface="微软雅黑" panose="020B0503020204020204" pitchFamily="34" charset="-122"/>
                <a:ea typeface="微软雅黑" panose="020B0503020204020204" pitchFamily="34" charset="-122"/>
              </a:rPr>
              <a:t>PPT</a:t>
            </a:r>
            <a:r>
              <a:rPr lang="zh-CN" altLang="en-US" sz="2160"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4615199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81200" y="837705"/>
            <a:ext cx="8229600" cy="424732"/>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a:r>
              <a:rPr lang="zh-CN" altLang="en-US" sz="2160" dirty="0">
                <a:solidFill>
                  <a:prstClr val="black"/>
                </a:solidFill>
                <a:latin typeface="微软雅黑" pitchFamily="34" charset="-122"/>
                <a:ea typeface="微软雅黑" pitchFamily="34" charset="-122"/>
              </a:rPr>
              <a:t>你也想免费得到出版社赠书做</a:t>
            </a:r>
            <a:r>
              <a:rPr lang="en-US" altLang="zh-CN" sz="2160" dirty="0">
                <a:solidFill>
                  <a:prstClr val="black"/>
                </a:solidFill>
                <a:latin typeface="微软雅黑" pitchFamily="34" charset="-122"/>
                <a:ea typeface="微软雅黑" pitchFamily="34" charset="-122"/>
              </a:rPr>
              <a:t>PPT</a:t>
            </a:r>
            <a:r>
              <a:rPr lang="zh-CN" altLang="en-US" sz="2160" dirty="0">
                <a:solidFill>
                  <a:prstClr val="black"/>
                </a:solidFill>
                <a:latin typeface="微软雅黑" pitchFamily="34" charset="-122"/>
                <a:ea typeface="微软雅黑" pitchFamily="34" charset="-122"/>
              </a:rPr>
              <a:t>读书笔记？</a:t>
            </a:r>
          </a:p>
        </p:txBody>
      </p:sp>
      <p:sp>
        <p:nvSpPr>
          <p:cNvPr id="9" name="右箭头 8"/>
          <p:cNvSpPr/>
          <p:nvPr/>
        </p:nvSpPr>
        <p:spPr>
          <a:xfrm>
            <a:off x="4034361" y="2781790"/>
            <a:ext cx="129618" cy="24117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0" name="右箭头 9"/>
          <p:cNvSpPr/>
          <p:nvPr/>
        </p:nvSpPr>
        <p:spPr>
          <a:xfrm>
            <a:off x="6021651" y="2781790"/>
            <a:ext cx="129618" cy="24117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1" name="右箭头 10"/>
          <p:cNvSpPr/>
          <p:nvPr/>
        </p:nvSpPr>
        <p:spPr>
          <a:xfrm>
            <a:off x="8095539" y="2781790"/>
            <a:ext cx="129618" cy="24117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2" name="TextBox 11"/>
          <p:cNvSpPr txBox="1"/>
          <p:nvPr/>
        </p:nvSpPr>
        <p:spPr>
          <a:xfrm>
            <a:off x="2077842" y="4061337"/>
            <a:ext cx="8229600" cy="1967205"/>
          </a:xfrm>
          <a:prstGeom prst="rect">
            <a:avLst/>
          </a:prstGeom>
          <a:noFill/>
          <a:effectLst/>
        </p:spPr>
        <p:txBody>
          <a:bodyPr wrap="square" rtlCol="0" anchor="ctr">
            <a:spAutoFit/>
          </a:bodyPr>
          <a:lstStyle/>
          <a:p>
            <a:pPr>
              <a:spcBef>
                <a:spcPts val="1620"/>
              </a:spcBef>
            </a:pPr>
            <a:r>
              <a:rPr lang="zh-CN" altLang="en-US" sz="1620" dirty="0">
                <a:solidFill>
                  <a:prstClr val="black"/>
                </a:solidFill>
                <a:latin typeface="微软雅黑" pitchFamily="34" charset="-122"/>
                <a:ea typeface="微软雅黑" pitchFamily="34" charset="-122"/>
              </a:rPr>
              <a:t>  友情提示：马上就去新浪微博</a:t>
            </a:r>
            <a:endParaRPr lang="en-US" altLang="zh-CN" sz="1620" dirty="0">
              <a:solidFill>
                <a:prstClr val="black"/>
              </a:solidFill>
              <a:latin typeface="微软雅黑" pitchFamily="34" charset="-122"/>
              <a:ea typeface="微软雅黑" pitchFamily="34" charset="-122"/>
            </a:endParaRPr>
          </a:p>
          <a:p>
            <a:pPr>
              <a:spcBef>
                <a:spcPts val="1620"/>
              </a:spcBef>
            </a:pPr>
            <a:r>
              <a:rPr lang="en-US" altLang="zh-CN" sz="1620" dirty="0">
                <a:solidFill>
                  <a:prstClr val="black"/>
                </a:solidFill>
                <a:latin typeface="微软雅黑" pitchFamily="34" charset="-122"/>
                <a:ea typeface="微软雅黑" pitchFamily="34" charset="-122"/>
              </a:rPr>
              <a:t>  1</a:t>
            </a:r>
            <a:r>
              <a:rPr lang="zh-CN" altLang="en-US" sz="1620" dirty="0">
                <a:solidFill>
                  <a:prstClr val="black"/>
                </a:solidFill>
                <a:latin typeface="微软雅黑" pitchFamily="34" charset="-122"/>
                <a:ea typeface="微软雅黑" pitchFamily="34" charset="-122"/>
              </a:rPr>
              <a:t>、关注</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时间卡片  ，可以看到其它学员读书</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制作约定</a:t>
            </a:r>
            <a:endParaRPr lang="en-US" altLang="zh-CN" sz="1620" dirty="0">
              <a:solidFill>
                <a:prstClr val="black"/>
              </a:solidFill>
              <a:latin typeface="微软雅黑" pitchFamily="34" charset="-122"/>
              <a:ea typeface="微软雅黑" pitchFamily="34" charset="-122"/>
            </a:endParaRPr>
          </a:p>
          <a:p>
            <a:pPr>
              <a:spcBef>
                <a:spcPts val="1080"/>
              </a:spcBef>
            </a:pPr>
            <a:r>
              <a:rPr lang="en-US" altLang="zh-CN" sz="1620" dirty="0">
                <a:solidFill>
                  <a:prstClr val="black"/>
                </a:solidFill>
                <a:latin typeface="微软雅黑" pitchFamily="34" charset="-122"/>
                <a:ea typeface="微软雅黑" pitchFamily="34" charset="-122"/>
              </a:rPr>
              <a:t>  2</a:t>
            </a:r>
            <a:r>
              <a:rPr lang="zh-CN" altLang="en-US" sz="1620" dirty="0">
                <a:solidFill>
                  <a:prstClr val="black"/>
                </a:solidFill>
                <a:latin typeface="微软雅黑" pitchFamily="34" charset="-122"/>
                <a:ea typeface="微软雅黑" pitchFamily="34" charset="-122"/>
              </a:rPr>
              <a:t>、搜</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读书笔记</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标签，可以看到其它学员已经提交的读书</a:t>
            </a:r>
            <a:r>
              <a:rPr lang="en-US" altLang="zh-CN" sz="1620" dirty="0">
                <a:solidFill>
                  <a:prstClr val="black"/>
                </a:solidFill>
                <a:latin typeface="微软雅黑" pitchFamily="34" charset="-122"/>
                <a:ea typeface="微软雅黑" pitchFamily="34" charset="-122"/>
              </a:rPr>
              <a:t>PPT</a:t>
            </a:r>
          </a:p>
          <a:p>
            <a:pPr>
              <a:spcBef>
                <a:spcPts val="1080"/>
              </a:spcBef>
            </a:pPr>
            <a:r>
              <a:rPr lang="en-US" altLang="zh-CN" sz="1620" dirty="0">
                <a:solidFill>
                  <a:prstClr val="black"/>
                </a:solidFill>
                <a:latin typeface="微软雅黑" pitchFamily="34" charset="-122"/>
                <a:ea typeface="微软雅黑" pitchFamily="34" charset="-122"/>
              </a:rPr>
              <a:t>  3</a:t>
            </a:r>
            <a:r>
              <a:rPr lang="zh-CN" altLang="en-US" sz="1620" dirty="0">
                <a:solidFill>
                  <a:prstClr val="black"/>
                </a:solidFill>
                <a:latin typeface="微软雅黑" pitchFamily="34" charset="-122"/>
                <a:ea typeface="微软雅黑" pitchFamily="34" charset="-122"/>
              </a:rPr>
              <a:t>、搜</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和秋叶一起学</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标签，可以看到其它学员已经提交的作业</a:t>
            </a:r>
            <a:r>
              <a:rPr lang="en-US" altLang="zh-CN" sz="1620" dirty="0">
                <a:solidFill>
                  <a:prstClr val="black"/>
                </a:solidFill>
                <a:latin typeface="微软雅黑" pitchFamily="34" charset="-122"/>
                <a:ea typeface="微软雅黑" pitchFamily="34" charset="-122"/>
              </a:rPr>
              <a:t>PPT</a:t>
            </a:r>
          </a:p>
          <a:p>
            <a:pPr>
              <a:spcBef>
                <a:spcPts val="1080"/>
              </a:spcBef>
            </a:pPr>
            <a:r>
              <a:rPr lang="en-US" altLang="zh-CN" sz="1620" dirty="0">
                <a:solidFill>
                  <a:prstClr val="black"/>
                </a:solidFill>
                <a:latin typeface="微软雅黑" pitchFamily="34" charset="-122"/>
                <a:ea typeface="微软雅黑" pitchFamily="34" charset="-122"/>
              </a:rPr>
              <a:t>  4</a:t>
            </a:r>
            <a:r>
              <a:rPr lang="zh-CN" altLang="en-US" sz="1620" dirty="0">
                <a:solidFill>
                  <a:prstClr val="black"/>
                </a:solidFill>
                <a:latin typeface="微软雅黑" pitchFamily="34" charset="-122"/>
                <a:ea typeface="微软雅黑" pitchFamily="34" charset="-122"/>
              </a:rPr>
              <a:t>、国内主流出版社都已经和</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272270" y="4401136"/>
            <a:ext cx="764746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077842" y="2165225"/>
            <a:ext cx="1749844" cy="1207238"/>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17" name="矩形 16"/>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购买</a:t>
              </a:r>
              <a:r>
                <a:rPr lang="en-US" altLang="zh-CN" sz="1620" dirty="0">
                  <a:solidFill>
                    <a:prstClr val="white"/>
                  </a:solidFill>
                  <a:latin typeface="微软雅黑" pitchFamily="34" charset="-122"/>
                  <a:ea typeface="微软雅黑" pitchFamily="34" charset="-122"/>
                </a:rPr>
                <a:t>99</a:t>
              </a:r>
              <a:r>
                <a:rPr lang="zh-CN" altLang="en-US" sz="1620" dirty="0">
                  <a:solidFill>
                    <a:prstClr val="white"/>
                  </a:solidFill>
                  <a:latin typeface="微软雅黑" pitchFamily="34" charset="-122"/>
                  <a:ea typeface="微软雅黑" pitchFamily="34" charset="-122"/>
                </a:rPr>
                <a:t>元</a:t>
              </a:r>
              <a:endParaRPr lang="en-US" altLang="zh-CN" sz="1620" dirty="0">
                <a:solidFill>
                  <a:prstClr val="white"/>
                </a:solidFill>
                <a:latin typeface="微软雅黑" pitchFamily="34" charset="-122"/>
                <a:ea typeface="微软雅黑" pitchFamily="34" charset="-122"/>
              </a:endParaRPr>
            </a:p>
            <a:p>
              <a:pPr algn="ctr"/>
              <a:r>
                <a:rPr lang="zh-CN" altLang="en-US" sz="1620" dirty="0">
                  <a:solidFill>
                    <a:prstClr val="white"/>
                  </a:solidFill>
                  <a:latin typeface="微软雅黑" pitchFamily="34" charset="-122"/>
                  <a:ea typeface="微软雅黑" pitchFamily="34" charset="-122"/>
                </a:rPr>
                <a:t>网易云课堂</a:t>
              </a:r>
              <a:endParaRPr lang="en-US" altLang="zh-CN" sz="1620" dirty="0">
                <a:solidFill>
                  <a:prstClr val="white"/>
                </a:solidFill>
                <a:latin typeface="微软雅黑" pitchFamily="34" charset="-122"/>
                <a:ea typeface="微软雅黑" pitchFamily="34" charset="-122"/>
              </a:endParaRPr>
            </a:p>
            <a:p>
              <a:pPr algn="ctr"/>
              <a:r>
                <a:rPr lang="en-US" altLang="zh-CN" sz="1620" dirty="0">
                  <a:solidFill>
                    <a:prstClr val="white"/>
                  </a:solidFill>
                  <a:latin typeface="微软雅黑" pitchFamily="34" charset="-122"/>
                  <a:ea typeface="微软雅黑" pitchFamily="34" charset="-122"/>
                </a:rPr>
                <a:t>PPT</a:t>
              </a:r>
              <a:r>
                <a:rPr lang="zh-CN" altLang="en-US" sz="1620" dirty="0">
                  <a:solidFill>
                    <a:prstClr val="white"/>
                  </a:solidFill>
                  <a:latin typeface="微软雅黑" pitchFamily="34" charset="-122"/>
                  <a:ea typeface="微软雅黑" pitchFamily="34" charset="-122"/>
                </a:rPr>
                <a:t>在线课程</a:t>
              </a:r>
              <a:endParaRPr lang="en-US" altLang="zh-CN" sz="1620" dirty="0">
                <a:solidFill>
                  <a:prstClr val="white"/>
                </a:solidFill>
                <a:latin typeface="微软雅黑" pitchFamily="34" charset="-122"/>
                <a:ea typeface="微软雅黑" pitchFamily="34" charset="-122"/>
              </a:endParaRPr>
            </a:p>
          </p:txBody>
        </p:sp>
        <p:sp>
          <p:nvSpPr>
            <p:cNvPr id="18" name="矩形 17"/>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124231" y="2165228"/>
            <a:ext cx="1749844" cy="1207239"/>
            <a:chOff x="107380" y="2024805"/>
            <a:chExt cx="1944270" cy="13413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22" name="矩形 21"/>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购买后去微博私信</a:t>
              </a:r>
              <a:r>
                <a:rPr lang="en-US" altLang="zh-CN" sz="1620" dirty="0">
                  <a:solidFill>
                    <a:prstClr val="white"/>
                  </a:solidFill>
                  <a:latin typeface="微软雅黑" pitchFamily="34" charset="-122"/>
                  <a:ea typeface="微软雅黑" pitchFamily="34" charset="-122"/>
                </a:rPr>
                <a:t>@</a:t>
              </a:r>
              <a:r>
                <a:rPr lang="zh-CN" altLang="en-US" sz="1620" dirty="0">
                  <a:solidFill>
                    <a:prstClr val="white"/>
                  </a:solidFill>
                  <a:latin typeface="微软雅黑" pitchFamily="34" charset="-122"/>
                  <a:ea typeface="微软雅黑" pitchFamily="34" charset="-122"/>
                </a:rPr>
                <a:t>秋叶</a:t>
              </a:r>
              <a:endParaRPr lang="en-US" altLang="zh-CN" sz="1620" dirty="0">
                <a:solidFill>
                  <a:prstClr val="white"/>
                </a:solidFill>
                <a:latin typeface="微软雅黑" pitchFamily="34" charset="-122"/>
                <a:ea typeface="微软雅黑" pitchFamily="34" charset="-122"/>
              </a:endParaRPr>
            </a:p>
            <a:p>
              <a:pPr algn="ctr"/>
              <a:r>
                <a:rPr lang="zh-CN" altLang="en-US" sz="1620" dirty="0">
                  <a:solidFill>
                    <a:prstClr val="white"/>
                  </a:solidFill>
                  <a:latin typeface="微软雅黑" pitchFamily="34" charset="-122"/>
                  <a:ea typeface="微软雅黑" pitchFamily="34" charset="-122"/>
                </a:rPr>
                <a:t>要福利</a:t>
              </a:r>
              <a:r>
                <a:rPr lang="en-US" altLang="zh-CN" sz="1620" dirty="0">
                  <a:solidFill>
                    <a:prstClr val="white"/>
                  </a:solidFill>
                  <a:latin typeface="微软雅黑" pitchFamily="34" charset="-122"/>
                  <a:ea typeface="微软雅黑" pitchFamily="34" charset="-122"/>
                </a:rPr>
                <a:t>QQ</a:t>
              </a:r>
              <a:r>
                <a:rPr lang="zh-CN" altLang="en-US" sz="1620" dirty="0">
                  <a:solidFill>
                    <a:prstClr val="white"/>
                  </a:solidFill>
                  <a:latin typeface="微软雅黑" pitchFamily="34" charset="-122"/>
                  <a:ea typeface="微软雅黑" pitchFamily="34" charset="-122"/>
                </a:rPr>
                <a:t>群号</a:t>
              </a:r>
              <a:endParaRPr lang="en-US" altLang="zh-CN" sz="1620"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7105" y="2165225"/>
            <a:ext cx="1749844" cy="1207238"/>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26" name="矩形 25"/>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新浪微博晒作业被老师肯定奖励内部选书</a:t>
              </a:r>
              <a:endParaRPr lang="en-US" altLang="zh-CN" sz="1620" dirty="0">
                <a:solidFill>
                  <a:prstClr val="white"/>
                </a:solidFill>
                <a:latin typeface="微软雅黑" pitchFamily="34" charset="-122"/>
                <a:ea typeface="微软雅黑" pitchFamily="34" charset="-122"/>
              </a:endParaRPr>
            </a:p>
          </p:txBody>
        </p:sp>
        <p:sp>
          <p:nvSpPr>
            <p:cNvPr id="27" name="矩形 26"/>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8160347" y="2165225"/>
            <a:ext cx="1749844" cy="1207238"/>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30" name="矩形 29"/>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出版社寄书到后约</a:t>
              </a:r>
              <a:r>
                <a:rPr lang="en-US" altLang="zh-CN" sz="1620" dirty="0">
                  <a:solidFill>
                    <a:prstClr val="white"/>
                  </a:solidFill>
                  <a:latin typeface="微软雅黑" pitchFamily="34" charset="-122"/>
                  <a:ea typeface="微软雅黑" pitchFamily="34" charset="-122"/>
                </a:rPr>
                <a:t>@</a:t>
              </a:r>
              <a:r>
                <a:rPr lang="zh-CN" altLang="en-US" sz="1620" dirty="0">
                  <a:solidFill>
                    <a:prstClr val="white"/>
                  </a:solidFill>
                  <a:latin typeface="微软雅黑" pitchFamily="34" charset="-122"/>
                  <a:ea typeface="微软雅黑" pitchFamily="34" charset="-122"/>
                </a:rPr>
                <a:t>时间卡片 晒读书</a:t>
              </a:r>
              <a:r>
                <a:rPr lang="en-US" altLang="zh-CN" sz="1620" dirty="0">
                  <a:solidFill>
                    <a:prstClr val="white"/>
                  </a:solidFill>
                  <a:latin typeface="微软雅黑" pitchFamily="34" charset="-122"/>
                  <a:ea typeface="微软雅黑" pitchFamily="34" charset="-122"/>
                </a:rPr>
                <a:t>PPT</a:t>
              </a:r>
            </a:p>
          </p:txBody>
        </p:sp>
        <p:sp>
          <p:nvSpPr>
            <p:cNvPr id="31" name="矩形 30"/>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167558669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563</TotalTime>
  <Words>1219</Words>
  <Application>Microsoft Office PowerPoint</Application>
  <PresentationFormat>宽屏</PresentationFormat>
  <Paragraphs>143</Paragraphs>
  <Slides>26</Slides>
  <Notes>0</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26</vt:i4>
      </vt:variant>
    </vt:vector>
  </HeadingPairs>
  <TitlesOfParts>
    <vt:vector size="38" baseType="lpstr">
      <vt:lpstr>Calibri</vt:lpstr>
      <vt:lpstr>方正正黑简体</vt:lpstr>
      <vt:lpstr>微软雅黑</vt:lpstr>
      <vt:lpstr>华康俪金黑W8</vt:lpstr>
      <vt:lpstr>Wingdings</vt:lpstr>
      <vt:lpstr>Arial</vt:lpstr>
      <vt:lpstr>Calibri Light</vt:lpstr>
      <vt:lpstr>方正正中黑简体</vt:lpstr>
      <vt:lpstr>宋体</vt:lpstr>
      <vt:lpstr>Office 主题</vt:lpstr>
      <vt:lpstr>1_Office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绛木</dc:creator>
  <cp:lastModifiedBy>小巴</cp:lastModifiedBy>
  <cp:revision>53</cp:revision>
  <dcterms:created xsi:type="dcterms:W3CDTF">2014-01-21T05:25:57Z</dcterms:created>
  <dcterms:modified xsi:type="dcterms:W3CDTF">2014-01-26T15:49:30Z</dcterms:modified>
</cp:coreProperties>
</file>