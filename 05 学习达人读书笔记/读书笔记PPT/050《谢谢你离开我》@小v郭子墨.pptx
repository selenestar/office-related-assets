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70" r:id="rId5"/>
    <p:sldId id="271" r:id="rId6"/>
    <p:sldId id="272" r:id="rId7"/>
    <p:sldId id="273" r:id="rId8"/>
    <p:sldId id="275" r:id="rId9"/>
    <p:sldId id="276" r:id="rId10"/>
    <p:sldId id="277" r:id="rId11"/>
    <p:sldId id="27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E3E5"/>
    <a:srgbClr val="F2F2F2"/>
    <a:srgbClr val="319976"/>
    <a:srgbClr val="FF7076"/>
    <a:srgbClr val="BDE5E5"/>
    <a:srgbClr val="C0D6D9"/>
    <a:srgbClr val="3AB78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EDAC-4D73-433A-AEA0-FAE288F1C6B6}" type="datetimeFigureOut">
              <a:rPr lang="zh-CN" altLang="en-US" smtClean="0"/>
              <a:t>2014/3/10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9B15-A550-4F05-893D-62FA8367B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7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EDAC-4D73-433A-AEA0-FAE288F1C6B6}" type="datetimeFigureOut">
              <a:rPr lang="zh-CN" altLang="en-US" smtClean="0"/>
              <a:t>2014/3/10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9B15-A550-4F05-893D-62FA8367B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625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EDAC-4D73-433A-AEA0-FAE288F1C6B6}" type="datetimeFigureOut">
              <a:rPr lang="zh-CN" altLang="en-US" smtClean="0"/>
              <a:t>2014/3/10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9B15-A550-4F05-893D-62FA8367B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523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EDAC-4D73-433A-AEA0-FAE288F1C6B6}" type="datetimeFigureOut">
              <a:rPr lang="zh-CN" altLang="en-US" smtClean="0"/>
              <a:t>2014/3/10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9B15-A550-4F05-893D-62FA8367B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97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EDAC-4D73-433A-AEA0-FAE288F1C6B6}" type="datetimeFigureOut">
              <a:rPr lang="zh-CN" altLang="en-US" smtClean="0"/>
              <a:t>2014/3/10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9B15-A550-4F05-893D-62FA8367B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14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EDAC-4D73-433A-AEA0-FAE288F1C6B6}" type="datetimeFigureOut">
              <a:rPr lang="zh-CN" altLang="en-US" smtClean="0"/>
              <a:t>2014/3/10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9B15-A550-4F05-893D-62FA8367B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943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EDAC-4D73-433A-AEA0-FAE288F1C6B6}" type="datetimeFigureOut">
              <a:rPr lang="zh-CN" altLang="en-US" smtClean="0"/>
              <a:t>2014/3/10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9B15-A550-4F05-893D-62FA8367B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34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EDAC-4D73-433A-AEA0-FAE288F1C6B6}" type="datetimeFigureOut">
              <a:rPr lang="zh-CN" altLang="en-US" smtClean="0"/>
              <a:t>2014/3/10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9B15-A550-4F05-893D-62FA8367B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530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EDAC-4D73-433A-AEA0-FAE288F1C6B6}" type="datetimeFigureOut">
              <a:rPr lang="zh-CN" altLang="en-US" smtClean="0"/>
              <a:t>2014/3/10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9B15-A550-4F05-893D-62FA8367B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398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EDAC-4D73-433A-AEA0-FAE288F1C6B6}" type="datetimeFigureOut">
              <a:rPr lang="zh-CN" altLang="en-US" smtClean="0"/>
              <a:t>2014/3/10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9B15-A550-4F05-893D-62FA8367B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84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EDAC-4D73-433A-AEA0-FAE288F1C6B6}" type="datetimeFigureOut">
              <a:rPr lang="zh-CN" altLang="en-US" smtClean="0"/>
              <a:t>2014/3/10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9B15-A550-4F05-893D-62FA8367B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40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FEDAC-4D73-433A-AEA0-FAE288F1C6B6}" type="datetimeFigureOut">
              <a:rPr lang="zh-CN" altLang="en-US" smtClean="0"/>
              <a:t>2014/3/10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A9B15-A550-4F05-893D-62FA8367B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44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0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53218" y="301543"/>
            <a:ext cx="66540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b="1" dirty="0" smtClean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谢谢你离开我</a:t>
            </a:r>
            <a:endParaRPr lang="zh-CN" altLang="en-US" sz="8000" b="1" dirty="0">
              <a:solidFill>
                <a:schemeClr val="bg1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552335" y="418905"/>
            <a:ext cx="1292662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4000" dirty="0" smtClean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张</a:t>
            </a:r>
            <a:endParaRPr lang="en-US" altLang="zh-CN" sz="4000" dirty="0" smtClean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  <a:p>
            <a:pPr algn="ctr"/>
            <a:r>
              <a:rPr lang="zh-CN" altLang="en-US" sz="4000" dirty="0" smtClean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小</a:t>
            </a:r>
            <a:endParaRPr lang="en-US" altLang="zh-CN" sz="4000" dirty="0" smtClean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  <a:p>
            <a:pPr algn="ctr"/>
            <a:r>
              <a:rPr lang="zh-CN" altLang="en-US" sz="4000" dirty="0" smtClean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娴</a:t>
            </a:r>
            <a:endParaRPr lang="en-US" altLang="zh-CN" sz="4000" dirty="0" smtClean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  <a:p>
            <a:pPr algn="ctr"/>
            <a:endParaRPr lang="en-US" altLang="zh-CN" sz="4000" dirty="0" smtClean="0">
              <a:solidFill>
                <a:schemeClr val="bg1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  <a:p>
            <a:pPr algn="ctr"/>
            <a:r>
              <a:rPr lang="zh-CN" altLang="en-US" sz="2000" dirty="0" smtClean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著</a:t>
            </a:r>
            <a:endParaRPr lang="zh-CN" altLang="en-US" sz="20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10987649" y="2363373"/>
            <a:ext cx="422033" cy="32355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0" y="3281226"/>
            <a:ext cx="12192000" cy="3576773"/>
          </a:xfrm>
          <a:prstGeom prst="rect">
            <a:avLst/>
          </a:prstGeom>
          <a:solidFill>
            <a:srgbClr val="3AB7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b="1" dirty="0" smtClean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94" b="100000" l="0" r="100000">
                        <a14:backgroundMark x1="56818" y1="30483" x2="56818" y2="30483"/>
                        <a14:backgroundMark x1="74091" y1="56506" x2="74091" y2="565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476" y="1850066"/>
            <a:ext cx="4093679" cy="500793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53218" y="3361452"/>
            <a:ext cx="56688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 smtClean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总有一天，你会对着过去的伤痛微笑。</a:t>
            </a:r>
            <a:endParaRPr lang="en-US" altLang="zh-CN" b="1" dirty="0" smtClean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r"/>
            <a:r>
              <a:rPr lang="zh-CN" altLang="en-US" b="1" dirty="0" smtClean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你会感谢离开你的那个人，</a:t>
            </a:r>
            <a:endParaRPr lang="en-US" altLang="zh-CN" b="1" dirty="0" smtClean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r"/>
            <a:r>
              <a:rPr lang="zh-CN" altLang="en-US" b="1" dirty="0" smtClean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他配不上你的爱、你的好、你的痴心。</a:t>
            </a:r>
            <a:endParaRPr lang="en-US" altLang="zh-CN" b="1" dirty="0" smtClean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r"/>
            <a:r>
              <a:rPr lang="zh-CN" altLang="en-US" b="1" dirty="0" smtClean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他终究不是命定的那个人。幸好他不是。</a:t>
            </a:r>
            <a:endParaRPr lang="en-US" altLang="zh-CN" b="1" dirty="0" smtClean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r"/>
            <a:r>
              <a:rPr lang="en-US" altLang="zh-CN" b="1" dirty="0" smtClean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//////////////////////////////////////////////</a:t>
            </a:r>
          </a:p>
          <a:p>
            <a:pPr algn="r"/>
            <a:endParaRPr lang="en-US" altLang="zh-CN" b="1" dirty="0" smtClean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r"/>
            <a:endParaRPr lang="en-US" altLang="zh-CN" b="1" dirty="0" smtClean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r"/>
            <a:endParaRPr lang="en-US" altLang="zh-CN" b="1" dirty="0" smtClean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r"/>
            <a:r>
              <a:rPr lang="en-US" altLang="zh-CN" b="1" dirty="0" smtClean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//////////////////////////////////////////////</a:t>
            </a:r>
          </a:p>
          <a:p>
            <a:pPr algn="r"/>
            <a:r>
              <a:rPr lang="zh-CN" altLang="en-US" b="1" dirty="0" smtClean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张小娴</a:t>
            </a:r>
            <a:endParaRPr lang="en-US" altLang="zh-CN" b="1" dirty="0" smtClean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r"/>
            <a:r>
              <a:rPr lang="zh-CN" altLang="en-US" b="1" dirty="0" smtClean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时隔两年，再推散文新作</a:t>
            </a:r>
            <a:endParaRPr lang="en-US" altLang="zh-CN" b="1" dirty="0" smtClean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r"/>
            <a:r>
              <a:rPr lang="zh-CN" altLang="en-US" b="1" dirty="0" smtClean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首次插画印刷</a:t>
            </a:r>
            <a:endParaRPr lang="en-US" altLang="zh-CN" b="1" dirty="0" smtClean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841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988315" y="162703"/>
            <a:ext cx="461420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你爱我吗？</a:t>
            </a:r>
            <a:endParaRPr lang="en-US" altLang="zh-CN" sz="2800" b="1" dirty="0" smtClean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爱情如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烟花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我和你的地域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沉落在暗恋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湖底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爱的两条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路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8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爱情终究是经营不来的</a:t>
            </a:r>
            <a:endParaRPr lang="en-US" altLang="zh-CN" sz="2800" b="1" dirty="0" smtClean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  <a:p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爱情终究是经营不来的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男朋友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的学历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当爱情缺席的时候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那时候你还不懂得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8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我</a:t>
            </a:r>
            <a:r>
              <a:rPr lang="zh-CN" altLang="en-US" sz="2800" b="1" dirty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爱过，所以我活过</a:t>
            </a:r>
            <a:endParaRPr lang="en-US" altLang="zh-CN" sz="28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林中的小屋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因为懂得所以慈悲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8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心中</a:t>
            </a:r>
            <a:r>
              <a:rPr lang="zh-CN" altLang="en-US" sz="2800" b="1" dirty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的答案</a:t>
            </a:r>
            <a:endParaRPr lang="en-US" altLang="zh-CN" sz="28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当时只道是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寻常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世上的另一个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我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心事的房子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人有几张脸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653007" y="246309"/>
            <a:ext cx="15031" cy="5957543"/>
          </a:xfrm>
          <a:prstGeom prst="line">
            <a:avLst/>
          </a:prstGeom>
          <a:ln w="28575">
            <a:solidFill>
              <a:srgbClr val="3AB7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887471" y="768671"/>
            <a:ext cx="3907091" cy="4709729"/>
            <a:chOff x="1300093" y="442429"/>
            <a:chExt cx="2748300" cy="3312886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8463" y="795711"/>
              <a:ext cx="1838582" cy="2619741"/>
            </a:xfrm>
            <a:prstGeom prst="rect">
              <a:avLst/>
            </a:prstGeom>
          </p:spPr>
        </p:pic>
        <p:sp>
          <p:nvSpPr>
            <p:cNvPr id="21" name="半闭框 20"/>
            <p:cNvSpPr/>
            <p:nvPr/>
          </p:nvSpPr>
          <p:spPr>
            <a:xfrm>
              <a:off x="1300093" y="442429"/>
              <a:ext cx="351694" cy="573541"/>
            </a:xfrm>
            <a:prstGeom prst="halfFrame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半闭框 21"/>
            <p:cNvSpPr/>
            <p:nvPr/>
          </p:nvSpPr>
          <p:spPr>
            <a:xfrm flipH="1" flipV="1">
              <a:off x="3696699" y="3181774"/>
              <a:ext cx="351694" cy="573541"/>
            </a:xfrm>
            <a:prstGeom prst="halfFrame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652679" y="5105000"/>
            <a:ext cx="7546355" cy="1778941"/>
            <a:chOff x="4652679" y="5105000"/>
            <a:chExt cx="7546355" cy="1778941"/>
          </a:xfrm>
        </p:grpSpPr>
        <p:sp>
          <p:nvSpPr>
            <p:cNvPr id="9" name="直角三角形 8"/>
            <p:cNvSpPr/>
            <p:nvPr/>
          </p:nvSpPr>
          <p:spPr>
            <a:xfrm rot="16200000">
              <a:off x="8925576" y="3329047"/>
              <a:ext cx="1497505" cy="5049411"/>
            </a:xfrm>
            <a:prstGeom prst="rtTriangle">
              <a:avLst/>
            </a:prstGeom>
            <a:solidFill>
              <a:srgbClr val="FF70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直角三角形 6"/>
            <p:cNvSpPr/>
            <p:nvPr/>
          </p:nvSpPr>
          <p:spPr>
            <a:xfrm rot="16200000">
              <a:off x="7857883" y="2549823"/>
              <a:ext cx="1128914" cy="7539321"/>
            </a:xfrm>
            <a:prstGeom prst="rtTriangle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433837" y="590774"/>
            <a:ext cx="123420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>
                <a:solidFill>
                  <a:srgbClr val="3AB78D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01</a:t>
            </a:r>
          </a:p>
          <a:p>
            <a:endParaRPr lang="en-US" altLang="zh-CN" sz="4800" dirty="0">
              <a:solidFill>
                <a:srgbClr val="3AB78D"/>
              </a:solidFill>
              <a:latin typeface="华康黑体W12(P)" panose="020B0C00000000000000" pitchFamily="34" charset="-122"/>
              <a:ea typeface="华康黑体W12(P)" panose="020B0C00000000000000" pitchFamily="34" charset="-122"/>
            </a:endParaRPr>
          </a:p>
          <a:p>
            <a:r>
              <a:rPr lang="en-US" altLang="zh-CN" sz="4800" dirty="0" smtClean="0">
                <a:solidFill>
                  <a:srgbClr val="3AB78D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02</a:t>
            </a:r>
          </a:p>
          <a:p>
            <a:endParaRPr lang="en-US" altLang="zh-CN" sz="4800" dirty="0">
              <a:solidFill>
                <a:srgbClr val="3AB78D"/>
              </a:solidFill>
              <a:latin typeface="华康黑体W12(P)" panose="020B0C00000000000000" pitchFamily="34" charset="-122"/>
              <a:ea typeface="华康黑体W12(P)" panose="020B0C00000000000000" pitchFamily="34" charset="-122"/>
            </a:endParaRPr>
          </a:p>
          <a:p>
            <a:r>
              <a:rPr lang="en-US" altLang="zh-CN" sz="4800" dirty="0" smtClean="0">
                <a:solidFill>
                  <a:srgbClr val="3AB78D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03</a:t>
            </a:r>
          </a:p>
          <a:p>
            <a:endParaRPr lang="en-US" altLang="zh-CN" sz="4800" dirty="0">
              <a:solidFill>
                <a:srgbClr val="3AB78D"/>
              </a:solidFill>
              <a:latin typeface="华康黑体W12(P)" panose="020B0C00000000000000" pitchFamily="34" charset="-122"/>
              <a:ea typeface="华康黑体W12(P)" panose="020B0C00000000000000" pitchFamily="34" charset="-122"/>
            </a:endParaRPr>
          </a:p>
          <a:p>
            <a:r>
              <a:rPr lang="en-US" altLang="zh-CN" sz="4800" dirty="0" smtClean="0">
                <a:solidFill>
                  <a:srgbClr val="3AB78D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04</a:t>
            </a:r>
            <a:endParaRPr lang="zh-CN" altLang="en-US" sz="4800" dirty="0">
              <a:solidFill>
                <a:srgbClr val="3AB78D"/>
              </a:solidFill>
              <a:latin typeface="华康黑体W12(P)" panose="020B0C00000000000000" pitchFamily="34" charset="-122"/>
              <a:ea typeface="华康黑体W12(P)" panose="020B0C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569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17984" y="-146499"/>
            <a:ext cx="1548000" cy="1906026"/>
            <a:chOff x="246120" y="-118363"/>
            <a:chExt cx="1548000" cy="1906026"/>
          </a:xfrm>
        </p:grpSpPr>
        <p:sp>
          <p:nvSpPr>
            <p:cNvPr id="2" name="流程图: 联系 1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2777337" y="1223344"/>
            <a:ext cx="9170894" cy="2355994"/>
            <a:chOff x="2339788" y="1123461"/>
            <a:chExt cx="9170894" cy="2355994"/>
          </a:xfrm>
          <a:solidFill>
            <a:srgbClr val="F2F2F2"/>
          </a:solidFill>
        </p:grpSpPr>
        <p:grpSp>
          <p:nvGrpSpPr>
            <p:cNvPr id="11" name="组合 10"/>
            <p:cNvGrpSpPr/>
            <p:nvPr/>
          </p:nvGrpSpPr>
          <p:grpSpPr>
            <a:xfrm>
              <a:off x="2339788" y="1368268"/>
              <a:ext cx="9170894" cy="2111187"/>
              <a:chOff x="1922930" y="1671912"/>
              <a:chExt cx="9076764" cy="2012581"/>
            </a:xfrm>
            <a:grpFill/>
          </p:grpSpPr>
          <p:sp>
            <p:nvSpPr>
              <p:cNvPr id="8" name="圆角矩形标注 7"/>
              <p:cNvSpPr/>
              <p:nvPr/>
            </p:nvSpPr>
            <p:spPr>
              <a:xfrm flipV="1">
                <a:off x="1922930" y="1671912"/>
                <a:ext cx="9076764" cy="2012581"/>
              </a:xfrm>
              <a:prstGeom prst="wedgeRoundRectCallout">
                <a:avLst>
                  <a:gd name="adj1" fmla="val -24949"/>
                  <a:gd name="adj2" fmla="val 50506"/>
                  <a:gd name="adj3" fmla="val 1666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2070648" y="1784677"/>
                <a:ext cx="8841208" cy="170172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家庭是两个人或更多人的事，爱情却是一个人的事。不管你爱过几个人，不管你看过几回烟花，爱情终究是自我追寻、自我认识和自我完成的漫漫长路。</a:t>
                </a:r>
                <a:endPara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r>
                  <a:rPr lang="en-US" altLang="zh-CN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////</a:t>
                </a:r>
              </a:p>
              <a:p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然而，这一个人的事，是要由另一个人去成全，就像烟花需要一片夜空。</a:t>
                </a:r>
                <a:endParaRPr lang="zh-CN" altLang="en-US" sz="2200" b="1" dirty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13" name="等腰三角形 12"/>
            <p:cNvSpPr/>
            <p:nvPr/>
          </p:nvSpPr>
          <p:spPr>
            <a:xfrm>
              <a:off x="3502855" y="1123461"/>
              <a:ext cx="343252" cy="240348"/>
            </a:xfrm>
            <a:prstGeom prst="triangle">
              <a:avLst/>
            </a:prstGeom>
            <a:gradFill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795634" y="518253"/>
            <a:ext cx="2999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爱情如烟花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47634" y="3897186"/>
            <a:ext cx="9076764" cy="2252928"/>
            <a:chOff x="914122" y="3885602"/>
            <a:chExt cx="9076764" cy="2252928"/>
          </a:xfrm>
          <a:solidFill>
            <a:srgbClr val="F2F2F2"/>
          </a:solidFill>
        </p:grpSpPr>
        <p:sp>
          <p:nvSpPr>
            <p:cNvPr id="10" name="圆角矩形标注 9"/>
            <p:cNvSpPr/>
            <p:nvPr/>
          </p:nvSpPr>
          <p:spPr>
            <a:xfrm flipH="1">
              <a:off x="914122" y="3885602"/>
              <a:ext cx="9076764" cy="2012581"/>
            </a:xfrm>
            <a:prstGeom prst="wedgeRoundRectCallout">
              <a:avLst>
                <a:gd name="adj1" fmla="val -29477"/>
                <a:gd name="adj2" fmla="val 45724"/>
                <a:gd name="adj3" fmla="val 1666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149686" y="3999340"/>
              <a:ext cx="8605636" cy="178510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被爱的时候，我们期待对方所爱的不只是我的外表、我的成就，这一切只是我的一部分，并且会时日消逝。</a:t>
              </a:r>
              <a:endParaRPr lang="en-US" altLang="zh-CN" sz="2200" b="1" dirty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r>
                <a: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////</a:t>
              </a:r>
            </a:p>
            <a:p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我们期待他爱的是我那一片地域，那里有我的脆弱和自卑，有我的恐冥，有我的阴暗面，有我的习惯，也有我的梦想。</a:t>
              </a:r>
              <a:endParaRPr lang="zh-CN" altLang="en-US" sz="2200" b="1" dirty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6" name="等腰三角形 15"/>
            <p:cNvSpPr/>
            <p:nvPr/>
          </p:nvSpPr>
          <p:spPr>
            <a:xfrm rot="10800000">
              <a:off x="8241324" y="5898182"/>
              <a:ext cx="343252" cy="24034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7034743" y="6133458"/>
            <a:ext cx="34043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我和你的地域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 flipV="1">
            <a:off x="10566767" y="-1"/>
            <a:ext cx="1625234" cy="1429533"/>
            <a:chOff x="4652679" y="5105000"/>
            <a:chExt cx="7546355" cy="1778941"/>
          </a:xfrm>
        </p:grpSpPr>
        <p:sp>
          <p:nvSpPr>
            <p:cNvPr id="30" name="直角三角形 29"/>
            <p:cNvSpPr/>
            <p:nvPr/>
          </p:nvSpPr>
          <p:spPr>
            <a:xfrm rot="16200000">
              <a:off x="8925576" y="3329047"/>
              <a:ext cx="1497505" cy="5049411"/>
            </a:xfrm>
            <a:prstGeom prst="rtTriangle">
              <a:avLst/>
            </a:prstGeom>
            <a:solidFill>
              <a:srgbClr val="FF70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直角三角形 30"/>
            <p:cNvSpPr/>
            <p:nvPr/>
          </p:nvSpPr>
          <p:spPr>
            <a:xfrm rot="16200000">
              <a:off x="7857883" y="2549823"/>
              <a:ext cx="1128914" cy="7539321"/>
            </a:xfrm>
            <a:prstGeom prst="rtTriangle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11405250" y="-180162"/>
            <a:ext cx="1085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>
                <a:solidFill>
                  <a:schemeClr val="bg1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01</a:t>
            </a:r>
            <a:endParaRPr lang="zh-CN" altLang="en-US" sz="4800" dirty="0">
              <a:solidFill>
                <a:schemeClr val="bg1"/>
              </a:solidFill>
              <a:latin typeface="华康黑体W12(P)" panose="020B0C00000000000000" pitchFamily="34" charset="-122"/>
              <a:ea typeface="华康黑体W12(P)" panose="020B0C00000000000000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 flipH="1">
            <a:off x="10459172" y="4800811"/>
            <a:ext cx="1548000" cy="1906026"/>
            <a:chOff x="246120" y="-118363"/>
            <a:chExt cx="1548000" cy="1906026"/>
          </a:xfrm>
        </p:grpSpPr>
        <p:sp>
          <p:nvSpPr>
            <p:cNvPr id="25" name="流程图: 联系 24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830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2737066" y="1293072"/>
            <a:ext cx="9170894" cy="2364007"/>
            <a:chOff x="2339788" y="1123461"/>
            <a:chExt cx="9170894" cy="2364007"/>
          </a:xfrm>
          <a:gradFill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5400000" scaled="1"/>
          </a:gradFill>
        </p:grpSpPr>
        <p:grpSp>
          <p:nvGrpSpPr>
            <p:cNvPr id="14" name="组合 13"/>
            <p:cNvGrpSpPr/>
            <p:nvPr/>
          </p:nvGrpSpPr>
          <p:grpSpPr>
            <a:xfrm>
              <a:off x="2339788" y="1363809"/>
              <a:ext cx="9170894" cy="2123659"/>
              <a:chOff x="1922930" y="1667661"/>
              <a:chExt cx="9076764" cy="2024470"/>
            </a:xfrm>
            <a:grpFill/>
          </p:grpSpPr>
          <p:sp>
            <p:nvSpPr>
              <p:cNvPr id="16" name="圆角矩形标注 15"/>
              <p:cNvSpPr/>
              <p:nvPr/>
            </p:nvSpPr>
            <p:spPr>
              <a:xfrm flipV="1">
                <a:off x="1922930" y="1671912"/>
                <a:ext cx="9076764" cy="2012581"/>
              </a:xfrm>
              <a:prstGeom prst="wedgeRoundRectCallout">
                <a:avLst>
                  <a:gd name="adj1" fmla="val -24949"/>
                  <a:gd name="adj2" fmla="val 50506"/>
                  <a:gd name="adj3" fmla="val 16667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2017887" y="1667661"/>
                <a:ext cx="8981807" cy="2024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我们以为自己苦苦暗恋着某人，而其实，我们暗恋着的，只是一个我们在想象中没话了千百遍的人，愈是得不到愈是爱，愈是得不到愈是肝肠寸断。</a:t>
                </a:r>
                <a:endPara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r>
                  <a:rPr lang="en-US" altLang="zh-CN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////</a:t>
                </a:r>
              </a:p>
              <a:p>
                <a:r>
                  <a:rPr lang="zh-CN" altLang="en-US" sz="2200" b="1" dirty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到了</a:t>
                </a:r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后来，那浮不上面的单思，只好沉落在暗恋湖的湖底，化成一片荒芜的青苔。</a:t>
                </a:r>
                <a:endParaRPr lang="zh-CN" altLang="en-US" sz="2200" b="1" dirty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15" name="等腰三角形 14"/>
            <p:cNvSpPr/>
            <p:nvPr/>
          </p:nvSpPr>
          <p:spPr>
            <a:xfrm>
              <a:off x="3502855" y="1123461"/>
              <a:ext cx="343252" cy="240348"/>
            </a:xfrm>
            <a:prstGeom prst="triangle">
              <a:avLst/>
            </a:prstGeom>
            <a:gradFill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923276" y="584063"/>
            <a:ext cx="376220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沉落在暗恋湖底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47634" y="3898550"/>
            <a:ext cx="8854163" cy="1942856"/>
            <a:chOff x="914122" y="3885603"/>
            <a:chExt cx="8854163" cy="1942856"/>
          </a:xfrm>
          <a:gradFill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16200000" scaled="1"/>
          </a:gradFill>
        </p:grpSpPr>
        <p:sp>
          <p:nvSpPr>
            <p:cNvPr id="20" name="圆角矩形标注 19"/>
            <p:cNvSpPr/>
            <p:nvPr/>
          </p:nvSpPr>
          <p:spPr>
            <a:xfrm flipH="1">
              <a:off x="914122" y="3885603"/>
              <a:ext cx="8854163" cy="1714460"/>
            </a:xfrm>
            <a:prstGeom prst="wedgeRoundRectCallout">
              <a:avLst>
                <a:gd name="adj1" fmla="val -29477"/>
                <a:gd name="adj2" fmla="val 45724"/>
                <a:gd name="adj3" fmla="val 16667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041764" y="3968707"/>
              <a:ext cx="860563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找到自己的生活，也就找到自信。找到自信，也就不会害怕他不爱你，也不会想要成天盯着他。</a:t>
              </a:r>
              <a:endParaRPr lang="en-US" altLang="zh-CN" sz="2200" b="1" dirty="0" smtClean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r>
                <a: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////</a:t>
              </a:r>
            </a:p>
            <a:p>
              <a:r>
                <a:rPr lang="zh-CN" altLang="en-US" sz="2200" b="1" dirty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爱</a:t>
              </a:r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一个人，只有两条路：要么给他自由，要么成为很棒的女人。</a:t>
              </a:r>
              <a:endParaRPr lang="zh-CN" altLang="en-US" sz="2200" b="1" dirty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22" name="等腰三角形 21"/>
            <p:cNvSpPr/>
            <p:nvPr/>
          </p:nvSpPr>
          <p:spPr>
            <a:xfrm rot="10800000">
              <a:off x="8353865" y="5588111"/>
              <a:ext cx="343252" cy="240348"/>
            </a:xfrm>
            <a:prstGeom prst="triangle">
              <a:avLst/>
            </a:prstGeom>
            <a:gradFill flip="none" rotWithShape="1"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538872" y="5927580"/>
            <a:ext cx="275726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爱的两条路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 flipV="1">
            <a:off x="10566767" y="-1"/>
            <a:ext cx="1625234" cy="1429533"/>
            <a:chOff x="4652679" y="5105000"/>
            <a:chExt cx="7546355" cy="1778941"/>
          </a:xfrm>
        </p:grpSpPr>
        <p:sp>
          <p:nvSpPr>
            <p:cNvPr id="29" name="直角三角形 28"/>
            <p:cNvSpPr/>
            <p:nvPr/>
          </p:nvSpPr>
          <p:spPr>
            <a:xfrm rot="16200000">
              <a:off x="8925576" y="3329047"/>
              <a:ext cx="1497505" cy="5049411"/>
            </a:xfrm>
            <a:prstGeom prst="rtTriangle">
              <a:avLst/>
            </a:prstGeom>
            <a:solidFill>
              <a:srgbClr val="FF70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直角三角形 29"/>
            <p:cNvSpPr/>
            <p:nvPr/>
          </p:nvSpPr>
          <p:spPr>
            <a:xfrm rot="16200000">
              <a:off x="7857883" y="2549823"/>
              <a:ext cx="1128914" cy="7539321"/>
            </a:xfrm>
            <a:prstGeom prst="rtTriangle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1405250" y="-180162"/>
            <a:ext cx="1085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>
                <a:solidFill>
                  <a:schemeClr val="bg1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01</a:t>
            </a:r>
            <a:endParaRPr lang="zh-CN" altLang="en-US" sz="4800" dirty="0">
              <a:solidFill>
                <a:schemeClr val="bg1"/>
              </a:solidFill>
              <a:latin typeface="华康黑体W12(P)" panose="020B0C00000000000000" pitchFamily="34" charset="-122"/>
              <a:ea typeface="华康黑体W12(P)" panose="020B0C00000000000000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17984" y="-146499"/>
            <a:ext cx="1548000" cy="1906026"/>
            <a:chOff x="246120" y="-118363"/>
            <a:chExt cx="1548000" cy="1906026"/>
          </a:xfrm>
        </p:grpSpPr>
        <p:sp>
          <p:nvSpPr>
            <p:cNvPr id="25" name="流程图: 联系 24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  <p:grpSp>
        <p:nvGrpSpPr>
          <p:cNvPr id="27" name="组合 26"/>
          <p:cNvGrpSpPr/>
          <p:nvPr/>
        </p:nvGrpSpPr>
        <p:grpSpPr>
          <a:xfrm flipH="1">
            <a:off x="10459172" y="4800811"/>
            <a:ext cx="1548000" cy="1906026"/>
            <a:chOff x="246120" y="-118363"/>
            <a:chExt cx="1548000" cy="1906026"/>
          </a:xfrm>
        </p:grpSpPr>
        <p:sp>
          <p:nvSpPr>
            <p:cNvPr id="32" name="流程图: 联系 31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564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2777337" y="1223344"/>
            <a:ext cx="9170894" cy="2355994"/>
            <a:chOff x="2339788" y="1123461"/>
            <a:chExt cx="9170894" cy="2355994"/>
          </a:xfrm>
          <a:gradFill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5400000" scaled="0"/>
          </a:gradFill>
        </p:grpSpPr>
        <p:grpSp>
          <p:nvGrpSpPr>
            <p:cNvPr id="23" name="组合 22"/>
            <p:cNvGrpSpPr/>
            <p:nvPr/>
          </p:nvGrpSpPr>
          <p:grpSpPr>
            <a:xfrm>
              <a:off x="2339788" y="1368268"/>
              <a:ext cx="9170894" cy="2111187"/>
              <a:chOff x="1922930" y="1671912"/>
              <a:chExt cx="9076764" cy="2012581"/>
            </a:xfrm>
            <a:grpFill/>
          </p:grpSpPr>
          <p:sp>
            <p:nvSpPr>
              <p:cNvPr id="25" name="圆角矩形标注 24"/>
              <p:cNvSpPr/>
              <p:nvPr/>
            </p:nvSpPr>
            <p:spPr>
              <a:xfrm flipV="1">
                <a:off x="1922930" y="1671912"/>
                <a:ext cx="9076764" cy="2012581"/>
              </a:xfrm>
              <a:prstGeom prst="wedgeRoundRectCallout">
                <a:avLst>
                  <a:gd name="adj1" fmla="val -24949"/>
                  <a:gd name="adj2" fmla="val 50506"/>
                  <a:gd name="adj3" fmla="val 16667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017887" y="1797996"/>
                <a:ext cx="8981807" cy="17017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我们唯一可以经营的，只有自己，唯一可以管的，只有自己。学着去珍惜和欣赏眼前的人，便是最深的一种“经营”。</a:t>
                </a:r>
                <a:endPara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r>
                  <a:rPr lang="en-US" altLang="zh-CN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////</a:t>
                </a:r>
              </a:p>
              <a:p>
                <a:r>
                  <a:rPr lang="zh-CN" altLang="en-US" sz="2200" b="1" dirty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两</a:t>
                </a:r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个彼此相爱的人，不会苦苦思量一段感情到底是要经营还是顺其自然。千辛万苦的经营毫无意义，倒不如等待一个人，他爱你就像爱生命。</a:t>
                </a:r>
                <a:endParaRPr lang="zh-CN" altLang="en-US" sz="2200" b="1" dirty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24" name="等腰三角形 23"/>
            <p:cNvSpPr/>
            <p:nvPr/>
          </p:nvSpPr>
          <p:spPr>
            <a:xfrm>
              <a:off x="3502855" y="1123461"/>
              <a:ext cx="343252" cy="240348"/>
            </a:xfrm>
            <a:prstGeom prst="triangle">
              <a:avLst/>
            </a:prstGeom>
            <a:gradFill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47634" y="3897186"/>
            <a:ext cx="9076764" cy="2252928"/>
            <a:chOff x="914122" y="3885602"/>
            <a:chExt cx="9076764" cy="2252928"/>
          </a:xfrm>
          <a:gradFill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16200000" scaled="1"/>
          </a:gradFill>
        </p:grpSpPr>
        <p:sp>
          <p:nvSpPr>
            <p:cNvPr id="28" name="圆角矩形标注 27"/>
            <p:cNvSpPr/>
            <p:nvPr/>
          </p:nvSpPr>
          <p:spPr>
            <a:xfrm flipH="1">
              <a:off x="914122" y="3885602"/>
              <a:ext cx="9076764" cy="2012581"/>
            </a:xfrm>
            <a:prstGeom prst="wedgeRoundRectCallout">
              <a:avLst>
                <a:gd name="adj1" fmla="val -29477"/>
                <a:gd name="adj2" fmla="val 45724"/>
                <a:gd name="adj3" fmla="val 16667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149686" y="3999340"/>
              <a:ext cx="8841200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你爱一个人的话，根本不会介意他的条件。你的介意，不是说明你现实和势力，而是你爱他还不至于能够忘记他的学历。</a:t>
              </a:r>
              <a:endParaRPr lang="en-US" altLang="zh-CN" sz="2200" b="1" dirty="0" smtClean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r>
                <a: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////</a:t>
              </a:r>
            </a:p>
            <a:p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大学毕业证书是一份很好的嫁妆，却不是一份很好的聘礼，学历比不上学问重要。一旦有了嫌弃和介意，那只能证明你还没找到最好的。</a:t>
              </a:r>
              <a:endParaRPr lang="zh-CN" altLang="en-US" sz="2200" b="1" dirty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8241324" y="5898182"/>
              <a:ext cx="343252" cy="240348"/>
            </a:xfrm>
            <a:prstGeom prst="triangle">
              <a:avLst/>
            </a:prstGeom>
            <a:gradFill flip="none" rotWithShape="1"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675996" y="542404"/>
            <a:ext cx="531758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爱情终究是经营不来的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096254" y="6158429"/>
            <a:ext cx="326370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男朋友的学历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 flipV="1">
            <a:off x="10566767" y="-1"/>
            <a:ext cx="1625234" cy="1429533"/>
            <a:chOff x="4652679" y="5105000"/>
            <a:chExt cx="7546355" cy="1778941"/>
          </a:xfrm>
        </p:grpSpPr>
        <p:sp>
          <p:nvSpPr>
            <p:cNvPr id="34" name="直角三角形 33"/>
            <p:cNvSpPr/>
            <p:nvPr/>
          </p:nvSpPr>
          <p:spPr>
            <a:xfrm rot="16200000">
              <a:off x="8925576" y="3329047"/>
              <a:ext cx="1497505" cy="5049411"/>
            </a:xfrm>
            <a:prstGeom prst="rtTriangle">
              <a:avLst/>
            </a:prstGeom>
            <a:solidFill>
              <a:srgbClr val="FF70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直角三角形 34"/>
            <p:cNvSpPr/>
            <p:nvPr/>
          </p:nvSpPr>
          <p:spPr>
            <a:xfrm rot="16200000">
              <a:off x="7857883" y="2549823"/>
              <a:ext cx="1128914" cy="7539321"/>
            </a:xfrm>
            <a:prstGeom prst="rtTriangle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378627" y="-180391"/>
            <a:ext cx="907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>
                <a:solidFill>
                  <a:schemeClr val="bg1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02</a:t>
            </a:r>
            <a:endParaRPr lang="zh-CN" altLang="en-US" sz="4800" dirty="0">
              <a:solidFill>
                <a:schemeClr val="bg1"/>
              </a:solidFill>
              <a:latin typeface="华康黑体W12(P)" panose="020B0C00000000000000" pitchFamily="34" charset="-122"/>
              <a:ea typeface="华康黑体W12(P)" panose="020B0C00000000000000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 flipH="1">
            <a:off x="10459172" y="4800811"/>
            <a:ext cx="1548000" cy="1906026"/>
            <a:chOff x="246120" y="-118363"/>
            <a:chExt cx="1548000" cy="1906026"/>
          </a:xfrm>
        </p:grpSpPr>
        <p:sp>
          <p:nvSpPr>
            <p:cNvPr id="37" name="流程图: 联系 36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  <p:grpSp>
        <p:nvGrpSpPr>
          <p:cNvPr id="39" name="组合 38"/>
          <p:cNvGrpSpPr/>
          <p:nvPr/>
        </p:nvGrpSpPr>
        <p:grpSpPr>
          <a:xfrm>
            <a:off x="217984" y="-146499"/>
            <a:ext cx="1548000" cy="1906026"/>
            <a:chOff x="246120" y="-118363"/>
            <a:chExt cx="1548000" cy="1906026"/>
          </a:xfrm>
        </p:grpSpPr>
        <p:sp>
          <p:nvSpPr>
            <p:cNvPr id="40" name="流程图: 联系 39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485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2737066" y="1148568"/>
            <a:ext cx="9170894" cy="2438694"/>
            <a:chOff x="2339788" y="1134227"/>
            <a:chExt cx="9170894" cy="2057197"/>
          </a:xfrm>
          <a:gradFill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5400000" scaled="0"/>
          </a:gradFill>
        </p:grpSpPr>
        <p:grpSp>
          <p:nvGrpSpPr>
            <p:cNvPr id="22" name="组合 21"/>
            <p:cNvGrpSpPr/>
            <p:nvPr/>
          </p:nvGrpSpPr>
          <p:grpSpPr>
            <a:xfrm>
              <a:off x="2339788" y="1363809"/>
              <a:ext cx="9170894" cy="1827615"/>
              <a:chOff x="1922930" y="1667661"/>
              <a:chExt cx="9076764" cy="1742253"/>
            </a:xfrm>
            <a:grpFill/>
          </p:grpSpPr>
          <p:sp>
            <p:nvSpPr>
              <p:cNvPr id="24" name="圆角矩形标注 23"/>
              <p:cNvSpPr/>
              <p:nvPr/>
            </p:nvSpPr>
            <p:spPr>
              <a:xfrm flipV="1">
                <a:off x="1922930" y="1671912"/>
                <a:ext cx="9076764" cy="1738002"/>
              </a:xfrm>
              <a:prstGeom prst="wedgeRoundRectCallout">
                <a:avLst>
                  <a:gd name="adj1" fmla="val -24949"/>
                  <a:gd name="adj2" fmla="val 50506"/>
                  <a:gd name="adj3" fmla="val 16667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2017887" y="1667661"/>
                <a:ext cx="8981807" cy="1707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当爱情缺席的时候，学着接受自己，只有当你接受自己的一切，你才会快乐，才能过学着独处。学着过自己的生活。过自己的生活就是跟自己谈恋爱，好好宠自己。</a:t>
                </a:r>
                <a:endPara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r>
                  <a:rPr lang="en-US" altLang="zh-CN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////</a:t>
                </a:r>
              </a:p>
              <a:p>
                <a:r>
                  <a:rPr lang="zh-CN" altLang="en-US" sz="2200" b="1" dirty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当</a:t>
                </a:r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爱情缺席的时候，并不代表你不好，也许你上辈子是个大情圣，配额已经耗尽了，这辈子只好坐坐爱情的冷板凳。</a:t>
                </a:r>
                <a:endParaRPr lang="zh-CN" altLang="en-US" sz="2200" b="1" dirty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23" name="等腰三角形 22"/>
            <p:cNvSpPr/>
            <p:nvPr/>
          </p:nvSpPr>
          <p:spPr>
            <a:xfrm>
              <a:off x="3502855" y="1134227"/>
              <a:ext cx="343252" cy="240348"/>
            </a:xfrm>
            <a:prstGeom prst="triangle">
              <a:avLst/>
            </a:prstGeom>
            <a:gradFill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47634" y="4247403"/>
            <a:ext cx="8854163" cy="1902532"/>
            <a:chOff x="914122" y="3885603"/>
            <a:chExt cx="8854163" cy="1942856"/>
          </a:xfrm>
          <a:gradFill flip="none" rotWithShape="1"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16200000" scaled="1"/>
            <a:tileRect/>
          </a:gradFill>
        </p:grpSpPr>
        <p:sp>
          <p:nvSpPr>
            <p:cNvPr id="31" name="圆角矩形标注 30"/>
            <p:cNvSpPr/>
            <p:nvPr/>
          </p:nvSpPr>
          <p:spPr>
            <a:xfrm flipH="1">
              <a:off x="914122" y="3885603"/>
              <a:ext cx="8854163" cy="1714460"/>
            </a:xfrm>
            <a:prstGeom prst="wedgeRoundRectCallout">
              <a:avLst>
                <a:gd name="adj1" fmla="val -29477"/>
                <a:gd name="adj2" fmla="val 45724"/>
                <a:gd name="adj3" fmla="val 16667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041764" y="3968707"/>
              <a:ext cx="8605636" cy="1477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时间是个有趣的过程，你永远不知道它会怎样改变你。</a:t>
              </a:r>
              <a:endParaRPr lang="en-US" altLang="zh-CN" sz="2200" b="1" dirty="0" smtClean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r>
                <a: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////</a:t>
              </a:r>
            </a:p>
            <a:p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比方说，曾经不喜欢的食物、不喜欢的酒、不喜欢的书和不喜欢的人，后来有一天，却喜欢上了。</a:t>
              </a:r>
              <a:endParaRPr lang="en-US" altLang="zh-CN" sz="2200" b="1" dirty="0" smtClean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33" name="等腰三角形 32"/>
            <p:cNvSpPr/>
            <p:nvPr/>
          </p:nvSpPr>
          <p:spPr>
            <a:xfrm rot="10800000">
              <a:off x="8353865" y="5588111"/>
              <a:ext cx="343252" cy="240348"/>
            </a:xfrm>
            <a:prstGeom prst="triangle">
              <a:avLst/>
            </a:prstGeom>
            <a:gradFill flip="none" rotWithShape="1"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1876487" y="535030"/>
            <a:ext cx="430471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当爱情缺席的时候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181200" y="6127134"/>
            <a:ext cx="430471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那时候你还不懂得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 flipV="1">
            <a:off x="10566767" y="-1"/>
            <a:ext cx="1625234" cy="1429533"/>
            <a:chOff x="4652679" y="5105000"/>
            <a:chExt cx="7546355" cy="1778941"/>
          </a:xfrm>
        </p:grpSpPr>
        <p:sp>
          <p:nvSpPr>
            <p:cNvPr id="27" name="直角三角形 26"/>
            <p:cNvSpPr/>
            <p:nvPr/>
          </p:nvSpPr>
          <p:spPr>
            <a:xfrm rot="16200000">
              <a:off x="8925576" y="3329047"/>
              <a:ext cx="1497505" cy="5049411"/>
            </a:xfrm>
            <a:prstGeom prst="rtTriangle">
              <a:avLst/>
            </a:prstGeom>
            <a:solidFill>
              <a:srgbClr val="FF70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直角三角形 27"/>
            <p:cNvSpPr/>
            <p:nvPr/>
          </p:nvSpPr>
          <p:spPr>
            <a:xfrm rot="16200000">
              <a:off x="7857883" y="2549823"/>
              <a:ext cx="1128914" cy="7539321"/>
            </a:xfrm>
            <a:prstGeom prst="rtTriangle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1378627" y="-180391"/>
            <a:ext cx="907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>
                <a:solidFill>
                  <a:schemeClr val="bg1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02</a:t>
            </a:r>
            <a:endParaRPr lang="zh-CN" altLang="en-US" sz="4800" dirty="0">
              <a:solidFill>
                <a:schemeClr val="bg1"/>
              </a:solidFill>
              <a:latin typeface="华康黑体W12(P)" panose="020B0C00000000000000" pitchFamily="34" charset="-122"/>
              <a:ea typeface="华康黑体W12(P)" panose="020B0C00000000000000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217984" y="-146499"/>
            <a:ext cx="1548000" cy="1906026"/>
            <a:chOff x="246120" y="-118363"/>
            <a:chExt cx="1548000" cy="1906026"/>
          </a:xfrm>
        </p:grpSpPr>
        <p:sp>
          <p:nvSpPr>
            <p:cNvPr id="37" name="流程图: 联系 36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  <p:grpSp>
        <p:nvGrpSpPr>
          <p:cNvPr id="39" name="组合 38"/>
          <p:cNvGrpSpPr/>
          <p:nvPr/>
        </p:nvGrpSpPr>
        <p:grpSpPr>
          <a:xfrm flipH="1">
            <a:off x="10459172" y="4800811"/>
            <a:ext cx="1548000" cy="1906026"/>
            <a:chOff x="246120" y="-118363"/>
            <a:chExt cx="1548000" cy="1906026"/>
          </a:xfrm>
        </p:grpSpPr>
        <p:sp>
          <p:nvSpPr>
            <p:cNvPr id="40" name="流程图: 联系 39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581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2737066" y="1148568"/>
            <a:ext cx="9170894" cy="2438694"/>
            <a:chOff x="2339788" y="1134227"/>
            <a:chExt cx="9170894" cy="2057197"/>
          </a:xfrm>
          <a:gradFill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5400000" scaled="0"/>
          </a:gradFill>
        </p:grpSpPr>
        <p:grpSp>
          <p:nvGrpSpPr>
            <p:cNvPr id="11" name="组合 10"/>
            <p:cNvGrpSpPr/>
            <p:nvPr/>
          </p:nvGrpSpPr>
          <p:grpSpPr>
            <a:xfrm>
              <a:off x="2339788" y="1363809"/>
              <a:ext cx="9170894" cy="1827615"/>
              <a:chOff x="1922930" y="1667661"/>
              <a:chExt cx="9076764" cy="1742253"/>
            </a:xfrm>
            <a:grpFill/>
          </p:grpSpPr>
          <p:sp>
            <p:nvSpPr>
              <p:cNvPr id="13" name="圆角矩形标注 12"/>
              <p:cNvSpPr/>
              <p:nvPr/>
            </p:nvSpPr>
            <p:spPr>
              <a:xfrm flipV="1">
                <a:off x="1922930" y="1671912"/>
                <a:ext cx="9076764" cy="1738002"/>
              </a:xfrm>
              <a:prstGeom prst="wedgeRoundRectCallout">
                <a:avLst>
                  <a:gd name="adj1" fmla="val -24949"/>
                  <a:gd name="adj2" fmla="val 50506"/>
                  <a:gd name="adj3" fmla="val 16667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2017887" y="1667661"/>
                <a:ext cx="8981807" cy="1707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要</a:t>
                </a:r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离开那林中的小屋，毕竟满怀害怕；离不开，却又会窒息。爱情到了一个临界点，是自我的追寻。</a:t>
                </a:r>
                <a:endPara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r>
                  <a:rPr lang="en-US" altLang="zh-CN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////</a:t>
                </a:r>
              </a:p>
              <a:p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我们常常将爱情等同了希望、期待和承诺，还有那微小的幸福。年纪渐长，才惊觉可以浪掷的青春已经所余无几。林中的小屋，即是囚牢，却也是一片温柔的天地。</a:t>
                </a:r>
                <a:endParaRPr lang="zh-CN" altLang="en-US" sz="2200" b="1" dirty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12" name="等腰三角形 11"/>
            <p:cNvSpPr/>
            <p:nvPr/>
          </p:nvSpPr>
          <p:spPr>
            <a:xfrm>
              <a:off x="3502855" y="1134227"/>
              <a:ext cx="343252" cy="240348"/>
            </a:xfrm>
            <a:prstGeom prst="triangle">
              <a:avLst/>
            </a:prstGeom>
            <a:gradFill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40523" y="4022158"/>
            <a:ext cx="8854163" cy="2104386"/>
            <a:chOff x="914121" y="3885602"/>
            <a:chExt cx="8854163" cy="2148989"/>
          </a:xfrm>
          <a:gradFill flip="none" rotWithShape="1"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16200000" scaled="1"/>
            <a:tileRect/>
          </a:gradFill>
        </p:grpSpPr>
        <p:sp>
          <p:nvSpPr>
            <p:cNvPr id="16" name="圆角矩形标注 15"/>
            <p:cNvSpPr/>
            <p:nvPr/>
          </p:nvSpPr>
          <p:spPr>
            <a:xfrm flipH="1">
              <a:off x="914121" y="3885602"/>
              <a:ext cx="8854163" cy="1906043"/>
            </a:xfrm>
            <a:prstGeom prst="wedgeRoundRectCallout">
              <a:avLst>
                <a:gd name="adj1" fmla="val -29477"/>
                <a:gd name="adj2" fmla="val 45724"/>
                <a:gd name="adj3" fmla="val 16667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41764" y="3968707"/>
              <a:ext cx="8605636" cy="1822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人总是把自己说得比原本善良和伟大些。</a:t>
              </a:r>
              <a:endParaRPr lang="en-US" altLang="zh-CN" sz="2200" b="1" dirty="0" smtClean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r>
                <a: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////</a:t>
              </a:r>
            </a:p>
            <a:p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我太爱你了，只好成全你，成全你去找自己的生活，或者去爱另一个人。因为爱，所以懂得，然后说服自己对你慈悲，再用慈悲去成全爱，成全是这样的。</a:t>
              </a:r>
              <a:endParaRPr lang="en-US" altLang="zh-CN" sz="2200" b="1" dirty="0" smtClean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10800000">
              <a:off x="8297595" y="5794243"/>
              <a:ext cx="343252" cy="240348"/>
            </a:xfrm>
            <a:prstGeom prst="triangle">
              <a:avLst/>
            </a:prstGeom>
            <a:gradFill flip="none" rotWithShape="1"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 flipV="1">
            <a:off x="10566767" y="-1"/>
            <a:ext cx="1625234" cy="1429533"/>
            <a:chOff x="4652679" y="5105000"/>
            <a:chExt cx="7546355" cy="1778941"/>
          </a:xfrm>
        </p:grpSpPr>
        <p:sp>
          <p:nvSpPr>
            <p:cNvPr id="20" name="直角三角形 19"/>
            <p:cNvSpPr/>
            <p:nvPr/>
          </p:nvSpPr>
          <p:spPr>
            <a:xfrm rot="16200000">
              <a:off x="8925576" y="3329047"/>
              <a:ext cx="1497505" cy="5049411"/>
            </a:xfrm>
            <a:prstGeom prst="rtTriangle">
              <a:avLst/>
            </a:prstGeom>
            <a:solidFill>
              <a:srgbClr val="FF70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直角三角形 20"/>
            <p:cNvSpPr/>
            <p:nvPr/>
          </p:nvSpPr>
          <p:spPr>
            <a:xfrm rot="16200000">
              <a:off x="7857883" y="2549823"/>
              <a:ext cx="1128914" cy="7539321"/>
            </a:xfrm>
            <a:prstGeom prst="rtTriangle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1378627" y="-198342"/>
            <a:ext cx="950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>
                <a:solidFill>
                  <a:schemeClr val="bg1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03</a:t>
            </a:r>
            <a:endParaRPr lang="zh-CN" altLang="en-US" sz="4800" dirty="0">
              <a:solidFill>
                <a:schemeClr val="bg1"/>
              </a:solidFill>
              <a:latin typeface="华康黑体W12(P)" panose="020B0C00000000000000" pitchFamily="34" charset="-122"/>
              <a:ea typeface="华康黑体W12(P)" panose="020B0C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942093" y="494468"/>
            <a:ext cx="3348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林中的小屋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495031" y="6127993"/>
            <a:ext cx="4928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因为懂得，所以慈悲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17984" y="-146499"/>
            <a:ext cx="1548000" cy="1906026"/>
            <a:chOff x="246120" y="-118363"/>
            <a:chExt cx="1548000" cy="1906026"/>
          </a:xfrm>
        </p:grpSpPr>
        <p:sp>
          <p:nvSpPr>
            <p:cNvPr id="26" name="流程图: 联系 25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 flipH="1">
            <a:off x="10459172" y="4800811"/>
            <a:ext cx="1548000" cy="1906026"/>
            <a:chOff x="246120" y="-118363"/>
            <a:chExt cx="1548000" cy="1906026"/>
          </a:xfrm>
        </p:grpSpPr>
        <p:sp>
          <p:nvSpPr>
            <p:cNvPr id="29" name="流程图: 联系 28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978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2737066" y="1148568"/>
            <a:ext cx="9170894" cy="2138639"/>
            <a:chOff x="2339788" y="1134227"/>
            <a:chExt cx="9170894" cy="1804081"/>
          </a:xfrm>
          <a:gradFill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5400000" scaled="0"/>
          </a:gradFill>
        </p:grpSpPr>
        <p:grpSp>
          <p:nvGrpSpPr>
            <p:cNvPr id="11" name="组合 10"/>
            <p:cNvGrpSpPr/>
            <p:nvPr/>
          </p:nvGrpSpPr>
          <p:grpSpPr>
            <a:xfrm>
              <a:off x="2339788" y="1363809"/>
              <a:ext cx="9170894" cy="1574499"/>
              <a:chOff x="1922930" y="1667661"/>
              <a:chExt cx="9076764" cy="1500959"/>
            </a:xfrm>
            <a:grpFill/>
          </p:grpSpPr>
          <p:sp>
            <p:nvSpPr>
              <p:cNvPr id="13" name="圆角矩形标注 12"/>
              <p:cNvSpPr/>
              <p:nvPr/>
            </p:nvSpPr>
            <p:spPr>
              <a:xfrm flipV="1">
                <a:off x="1922930" y="1671911"/>
                <a:ext cx="9076764" cy="1496709"/>
              </a:xfrm>
              <a:prstGeom prst="wedgeRoundRectCallout">
                <a:avLst>
                  <a:gd name="adj1" fmla="val -24949"/>
                  <a:gd name="adj2" fmla="val 50506"/>
                  <a:gd name="adj3" fmla="val 16667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2017887" y="1667661"/>
                <a:ext cx="8981807" cy="14355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所有事情，是不是在行将失去或是已经失去的时候，我们才会发现它的好，才会觉得万般不舍？</a:t>
                </a:r>
                <a:endPara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r>
                  <a:rPr lang="en-US" altLang="zh-CN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////</a:t>
                </a:r>
              </a:p>
              <a:p>
                <a:r>
                  <a:rPr lang="zh-CN" altLang="en-US" sz="2200" b="1" dirty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当时只道是</a:t>
                </a:r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寻常，直到有一天，灯火已阑珊，我们才发现，那些寻常日子是多么美好的祝福。</a:t>
                </a:r>
                <a:endParaRPr lang="zh-CN" altLang="en-US" sz="2200" b="1" dirty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12" name="等腰三角形 11"/>
            <p:cNvSpPr/>
            <p:nvPr/>
          </p:nvSpPr>
          <p:spPr>
            <a:xfrm>
              <a:off x="3502855" y="1134227"/>
              <a:ext cx="343252" cy="240348"/>
            </a:xfrm>
            <a:prstGeom prst="triangle">
              <a:avLst/>
            </a:prstGeom>
            <a:gradFill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47634" y="3723332"/>
            <a:ext cx="8854163" cy="2543593"/>
            <a:chOff x="914120" y="3885602"/>
            <a:chExt cx="8854163" cy="2597505"/>
          </a:xfrm>
          <a:gradFill flip="none" rotWithShape="1"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16200000" scaled="1"/>
            <a:tileRect/>
          </a:gradFill>
        </p:grpSpPr>
        <p:sp>
          <p:nvSpPr>
            <p:cNvPr id="16" name="圆角矩形标注 15"/>
            <p:cNvSpPr/>
            <p:nvPr/>
          </p:nvSpPr>
          <p:spPr>
            <a:xfrm flipH="1">
              <a:off x="914120" y="3885602"/>
              <a:ext cx="8854163" cy="2238340"/>
            </a:xfrm>
            <a:prstGeom prst="wedgeRoundRectCallout">
              <a:avLst>
                <a:gd name="adj1" fmla="val -29477"/>
                <a:gd name="adj2" fmla="val 45724"/>
                <a:gd name="adj3" fmla="val 16667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41764" y="3968707"/>
              <a:ext cx="8605636" cy="2514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我们不一定那么幸运，在世上找到另一个自己。然而，恋人却往往如同一面镜子，只要不是短暂勾留的，都反映了我们自己的某些特质，那是世上的另一个我。</a:t>
              </a:r>
              <a:endParaRPr lang="en-US" altLang="zh-CN" sz="2200" b="1" dirty="0" smtClean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r>
                <a: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////</a:t>
              </a:r>
            </a:p>
            <a:p>
              <a:r>
                <a:rPr lang="zh-CN" altLang="en-US" sz="2200" b="1" dirty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爱</a:t>
              </a:r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一个人，往往让我们认识自己。你是什么人便会爱上什么人，他就是你最赤裸的品味，起码，在你爱他的那段日子是这样。</a:t>
              </a:r>
              <a:endParaRPr lang="en-US" altLang="zh-CN" sz="2200" b="1" dirty="0" smtClean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endParaRPr lang="en-US" altLang="zh-CN" sz="2200" b="1" dirty="0" smtClean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10800000">
              <a:off x="8227256" y="6100540"/>
              <a:ext cx="343252" cy="240349"/>
            </a:xfrm>
            <a:prstGeom prst="triangle">
              <a:avLst/>
            </a:prstGeom>
            <a:gradFill flip="none" rotWithShape="1"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 flipV="1">
            <a:off x="10566767" y="-1"/>
            <a:ext cx="1625234" cy="1429533"/>
            <a:chOff x="4652679" y="5105000"/>
            <a:chExt cx="7546355" cy="1778941"/>
          </a:xfrm>
        </p:grpSpPr>
        <p:sp>
          <p:nvSpPr>
            <p:cNvPr id="20" name="直角三角形 19"/>
            <p:cNvSpPr/>
            <p:nvPr/>
          </p:nvSpPr>
          <p:spPr>
            <a:xfrm rot="16200000">
              <a:off x="8925576" y="3329047"/>
              <a:ext cx="1497505" cy="5049411"/>
            </a:xfrm>
            <a:prstGeom prst="rtTriangle">
              <a:avLst/>
            </a:prstGeom>
            <a:solidFill>
              <a:srgbClr val="FF70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直角三角形 20"/>
            <p:cNvSpPr/>
            <p:nvPr/>
          </p:nvSpPr>
          <p:spPr>
            <a:xfrm rot="16200000">
              <a:off x="7857883" y="2549823"/>
              <a:ext cx="1128914" cy="7539321"/>
            </a:xfrm>
            <a:prstGeom prst="rtTriangle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1374562" y="-193271"/>
            <a:ext cx="8440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>
                <a:solidFill>
                  <a:schemeClr val="bg1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04</a:t>
            </a:r>
            <a:endParaRPr lang="zh-CN" altLang="en-US" sz="4800" dirty="0">
              <a:solidFill>
                <a:schemeClr val="bg1"/>
              </a:solidFill>
              <a:latin typeface="华康黑体W12(P)" panose="020B0C00000000000000" pitchFamily="34" charset="-122"/>
              <a:ea typeface="华康黑体W12(P)" panose="020B0C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32325" y="468818"/>
            <a:ext cx="39811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当时只道是寻常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614604" y="6100645"/>
            <a:ext cx="3952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世上的另一个我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17984" y="-146499"/>
            <a:ext cx="1548000" cy="1906026"/>
            <a:chOff x="246120" y="-118363"/>
            <a:chExt cx="1548000" cy="1906026"/>
          </a:xfrm>
        </p:grpSpPr>
        <p:sp>
          <p:nvSpPr>
            <p:cNvPr id="26" name="流程图: 联系 25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 flipH="1">
            <a:off x="10459172" y="4800811"/>
            <a:ext cx="1548000" cy="1906026"/>
            <a:chOff x="246120" y="-118363"/>
            <a:chExt cx="1548000" cy="1906026"/>
          </a:xfrm>
        </p:grpSpPr>
        <p:sp>
          <p:nvSpPr>
            <p:cNvPr id="29" name="流程图: 联系 28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150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737066" y="1148568"/>
            <a:ext cx="9170894" cy="2395815"/>
            <a:chOff x="2339788" y="1134227"/>
            <a:chExt cx="9170894" cy="2021026"/>
          </a:xfrm>
          <a:gradFill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5400000" scaled="0"/>
          </a:gradFill>
        </p:grpSpPr>
        <p:grpSp>
          <p:nvGrpSpPr>
            <p:cNvPr id="5" name="组合 4"/>
            <p:cNvGrpSpPr/>
            <p:nvPr/>
          </p:nvGrpSpPr>
          <p:grpSpPr>
            <a:xfrm>
              <a:off x="2339788" y="1363809"/>
              <a:ext cx="9170894" cy="1791444"/>
              <a:chOff x="1922930" y="1667661"/>
              <a:chExt cx="9076764" cy="1707771"/>
            </a:xfrm>
            <a:grpFill/>
          </p:grpSpPr>
          <p:sp>
            <p:nvSpPr>
              <p:cNvPr id="7" name="圆角矩形标注 6"/>
              <p:cNvSpPr/>
              <p:nvPr/>
            </p:nvSpPr>
            <p:spPr>
              <a:xfrm flipV="1">
                <a:off x="1922930" y="1671912"/>
                <a:ext cx="9076764" cy="1437205"/>
              </a:xfrm>
              <a:prstGeom prst="wedgeRoundRectCallout">
                <a:avLst>
                  <a:gd name="adj1" fmla="val -24949"/>
                  <a:gd name="adj2" fmla="val 50506"/>
                  <a:gd name="adj3" fmla="val 16667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2017887" y="1667661"/>
                <a:ext cx="8981807" cy="1707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可以说心事的对象会随着年月改变。十七岁的时候，是这几个。二十岁的时候，却换了另外两个人。二十四岁的时候，也许只剩下一个。</a:t>
                </a:r>
                <a:endPara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r>
                  <a:rPr lang="en-US" altLang="zh-CN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////</a:t>
                </a:r>
              </a:p>
              <a:p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心事原来也可以沉淀。如许心事，渐渐会化为傻气的泪水，化为酒后脸上的微红，甚至化作一种深度。</a:t>
                </a:r>
                <a:endPara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endParaRPr lang="zh-CN" altLang="en-US" sz="2200" b="1" dirty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6" name="等腰三角形 5"/>
            <p:cNvSpPr/>
            <p:nvPr/>
          </p:nvSpPr>
          <p:spPr>
            <a:xfrm>
              <a:off x="3502855" y="1134227"/>
              <a:ext cx="343252" cy="240348"/>
            </a:xfrm>
            <a:prstGeom prst="triangle">
              <a:avLst/>
            </a:prstGeom>
            <a:gradFill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47634" y="3631362"/>
            <a:ext cx="8854163" cy="2488623"/>
            <a:chOff x="914120" y="3885603"/>
            <a:chExt cx="8854163" cy="1772821"/>
          </a:xfrm>
          <a:gradFill flip="none" rotWithShape="1"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16200000" scaled="1"/>
            <a:tileRect/>
          </a:gradFill>
        </p:grpSpPr>
        <p:sp>
          <p:nvSpPr>
            <p:cNvPr id="16" name="圆角矩形标注 15"/>
            <p:cNvSpPr/>
            <p:nvPr/>
          </p:nvSpPr>
          <p:spPr>
            <a:xfrm flipH="1">
              <a:off x="914120" y="3885603"/>
              <a:ext cx="8854163" cy="1532473"/>
            </a:xfrm>
            <a:prstGeom prst="wedgeRoundRectCallout">
              <a:avLst>
                <a:gd name="adj1" fmla="val -29477"/>
                <a:gd name="adj2" fmla="val 45724"/>
                <a:gd name="adj3" fmla="val 16667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41764" y="3905245"/>
              <a:ext cx="8605636" cy="1512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我们常常会听到一句话：“他对甲是一张脸。对乙又是另一张脸！”</a:t>
              </a:r>
              <a:endParaRPr lang="en-US" altLang="zh-CN" sz="2200" b="1" dirty="0" smtClean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r>
                <a:rPr lang="zh-CN" altLang="en-US" sz="2200" b="1" dirty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这</a:t>
              </a:r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话多少有点贬义。但是，人有几张脸不是自然不过的事吗？</a:t>
              </a:r>
              <a:endParaRPr lang="en-US" altLang="zh-CN" sz="2200" b="1" dirty="0" smtClean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r>
                <a: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////</a:t>
              </a:r>
            </a:p>
            <a:p>
              <a:r>
                <a:rPr lang="zh-CN" altLang="en-US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一个人不止一张脸，但只要每一张都是真的，都可爱，不虚假，不造作，那就无所谓了。不虚假也许不是每个人都做得到，那么，只好尽人事了。但是，至少要有一张脸，是你自己也觉得可爱的吧？</a:t>
              </a:r>
              <a:endParaRPr lang="en-US" altLang="zh-CN" sz="2200" b="1" dirty="0" smtClean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10800000">
              <a:off x="8269459" y="5418076"/>
              <a:ext cx="343252" cy="240348"/>
            </a:xfrm>
            <a:prstGeom prst="triangle">
              <a:avLst/>
            </a:prstGeom>
            <a:gradFill flip="none" rotWithShape="1"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 flipV="1">
            <a:off x="10566767" y="-1"/>
            <a:ext cx="1625234" cy="1429533"/>
            <a:chOff x="4652679" y="5105000"/>
            <a:chExt cx="7546355" cy="1778941"/>
          </a:xfrm>
        </p:grpSpPr>
        <p:sp>
          <p:nvSpPr>
            <p:cNvPr id="20" name="直角三角形 19"/>
            <p:cNvSpPr/>
            <p:nvPr/>
          </p:nvSpPr>
          <p:spPr>
            <a:xfrm rot="16200000">
              <a:off x="8925576" y="3329047"/>
              <a:ext cx="1497505" cy="5049411"/>
            </a:xfrm>
            <a:prstGeom prst="rtTriangle">
              <a:avLst/>
            </a:prstGeom>
            <a:solidFill>
              <a:srgbClr val="FF70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直角三角形 20"/>
            <p:cNvSpPr/>
            <p:nvPr/>
          </p:nvSpPr>
          <p:spPr>
            <a:xfrm rot="16200000">
              <a:off x="7857883" y="2549823"/>
              <a:ext cx="1128914" cy="7539321"/>
            </a:xfrm>
            <a:prstGeom prst="rtTriangle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1374562" y="-193271"/>
            <a:ext cx="8440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>
                <a:solidFill>
                  <a:schemeClr val="bg1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04</a:t>
            </a:r>
            <a:endParaRPr lang="zh-CN" altLang="en-US" sz="4800" dirty="0">
              <a:solidFill>
                <a:schemeClr val="bg1"/>
              </a:solidFill>
              <a:latin typeface="华康黑体W12(P)" panose="020B0C00000000000000" pitchFamily="34" charset="-122"/>
              <a:ea typeface="华康黑体W12(P)" panose="020B0C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938028" y="483740"/>
            <a:ext cx="38967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心事的房子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16726" y="6115388"/>
            <a:ext cx="3770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人有几张脸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17984" y="-146499"/>
            <a:ext cx="1548000" cy="1906026"/>
            <a:chOff x="246120" y="-118363"/>
            <a:chExt cx="1548000" cy="1906026"/>
          </a:xfrm>
        </p:grpSpPr>
        <p:sp>
          <p:nvSpPr>
            <p:cNvPr id="26" name="流程图: 联系 25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 flipH="1">
            <a:off x="10459172" y="4800811"/>
            <a:ext cx="1548000" cy="1906026"/>
            <a:chOff x="246120" y="-118363"/>
            <a:chExt cx="1548000" cy="1906026"/>
          </a:xfrm>
        </p:grpSpPr>
        <p:sp>
          <p:nvSpPr>
            <p:cNvPr id="29" name="流程图: 联系 28"/>
            <p:cNvSpPr/>
            <p:nvPr/>
          </p:nvSpPr>
          <p:spPr>
            <a:xfrm>
              <a:off x="246120" y="239663"/>
              <a:ext cx="1548000" cy="1548000"/>
            </a:xfrm>
            <a:prstGeom prst="flowChartConnector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6624" y="-118363"/>
              <a:ext cx="1292716" cy="15946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647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20" y="146149"/>
            <a:ext cx="1548000" cy="154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文本框 5"/>
          <p:cNvSpPr txBox="1"/>
          <p:nvPr/>
        </p:nvSpPr>
        <p:spPr>
          <a:xfrm>
            <a:off x="2266930" y="550784"/>
            <a:ext cx="4065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小</a:t>
            </a:r>
            <a:r>
              <a:rPr lang="en-US" altLang="zh-CN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V</a:t>
            </a:r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碎碎念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16077" y="1269360"/>
            <a:ext cx="9035740" cy="1959945"/>
            <a:chOff x="2339788" y="1135040"/>
            <a:chExt cx="9173894" cy="2177084"/>
          </a:xfrm>
          <a:gradFill>
            <a:gsLst>
              <a:gs pos="0">
                <a:srgbClr val="3AB78D">
                  <a:alpha val="30000"/>
                </a:srgbClr>
              </a:gs>
              <a:gs pos="100000">
                <a:srgbClr val="3AB78D"/>
              </a:gs>
            </a:gsLst>
            <a:lin ang="5400000" scaled="0"/>
          </a:gradFill>
        </p:grpSpPr>
        <p:grpSp>
          <p:nvGrpSpPr>
            <p:cNvPr id="8" name="组合 7"/>
            <p:cNvGrpSpPr/>
            <p:nvPr/>
          </p:nvGrpSpPr>
          <p:grpSpPr>
            <a:xfrm>
              <a:off x="2339788" y="1368268"/>
              <a:ext cx="9173894" cy="1943856"/>
              <a:chOff x="1922930" y="1671911"/>
              <a:chExt cx="9079733" cy="1853065"/>
            </a:xfrm>
            <a:grpFill/>
          </p:grpSpPr>
          <p:sp>
            <p:nvSpPr>
              <p:cNvPr id="10" name="圆角矩形标注 9"/>
              <p:cNvSpPr/>
              <p:nvPr/>
            </p:nvSpPr>
            <p:spPr>
              <a:xfrm flipV="1">
                <a:off x="1922930" y="1671911"/>
                <a:ext cx="9076764" cy="1853065"/>
              </a:xfrm>
              <a:prstGeom prst="wedgeRoundRectCallout">
                <a:avLst>
                  <a:gd name="adj1" fmla="val -24949"/>
                  <a:gd name="adj2" fmla="val 50506"/>
                  <a:gd name="adj3" fmla="val 16667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020856" y="1694552"/>
                <a:ext cx="8981807" cy="1214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人生永远都处于一个不断修炼的过程，你的</a:t>
                </a:r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世界绝不会</a:t>
                </a:r>
                <a:r>
                  <a:rPr lang="zh-CN" altLang="en-US" sz="2200" b="1" dirty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因为一个人的离开而轰然倒塌</a:t>
                </a:r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。</a:t>
                </a:r>
                <a:endPara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r>
                  <a:rPr lang="en-US" altLang="zh-CN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////</a:t>
                </a:r>
              </a:p>
              <a:p>
                <a:r>
                  <a:rPr lang="zh-CN" altLang="en-US" sz="2200" b="1" dirty="0" smtClean="0">
                    <a:solidFill>
                      <a:srgbClr val="31997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当爱情缺席的时候，学着过自己的生活，把自己当成自己的情人那样好好宠自己。</a:t>
                </a:r>
                <a:endParaRPr lang="en-US" altLang="zh-CN" sz="2200" b="1" dirty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endPara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9" name="等腰三角形 8"/>
            <p:cNvSpPr/>
            <p:nvPr/>
          </p:nvSpPr>
          <p:spPr>
            <a:xfrm>
              <a:off x="3552977" y="1135040"/>
              <a:ext cx="293130" cy="239536"/>
            </a:xfrm>
            <a:prstGeom prst="triangle">
              <a:avLst/>
            </a:prstGeom>
            <a:gradFill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10566767" y="-1"/>
            <a:ext cx="1625234" cy="1429533"/>
            <a:chOff x="4652679" y="5105000"/>
            <a:chExt cx="7546355" cy="1778941"/>
          </a:xfrm>
        </p:grpSpPr>
        <p:sp>
          <p:nvSpPr>
            <p:cNvPr id="13" name="直角三角形 12"/>
            <p:cNvSpPr/>
            <p:nvPr/>
          </p:nvSpPr>
          <p:spPr>
            <a:xfrm rot="16200000">
              <a:off x="8925576" y="3329047"/>
              <a:ext cx="1497505" cy="5049411"/>
            </a:xfrm>
            <a:prstGeom prst="rtTriangle">
              <a:avLst/>
            </a:prstGeom>
            <a:solidFill>
              <a:srgbClr val="FF70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直角三角形 13"/>
            <p:cNvSpPr/>
            <p:nvPr/>
          </p:nvSpPr>
          <p:spPr>
            <a:xfrm rot="16200000">
              <a:off x="7857883" y="2549823"/>
              <a:ext cx="1128914" cy="7539321"/>
            </a:xfrm>
            <a:prstGeom prst="rtTriangle">
              <a:avLst/>
            </a:prstGeom>
            <a:solidFill>
              <a:srgbClr val="3A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1299338" y="-83624"/>
            <a:ext cx="1104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小</a:t>
            </a:r>
            <a:r>
              <a:rPr lang="en-US" altLang="zh-CN" sz="3600" dirty="0" smtClean="0">
                <a:solidFill>
                  <a:schemeClr val="bg1"/>
                </a:solidFill>
                <a:latin typeface="华康黑体W12(P)" panose="020B0C00000000000000" pitchFamily="34" charset="-122"/>
                <a:ea typeface="华康黑体W12(P)" panose="020B0C00000000000000" pitchFamily="34" charset="-122"/>
              </a:rPr>
              <a:t>V</a:t>
            </a:r>
            <a:endParaRPr lang="zh-CN" altLang="en-US" sz="3600" dirty="0">
              <a:solidFill>
                <a:schemeClr val="bg1"/>
              </a:solidFill>
              <a:latin typeface="华康黑体W12(P)" panose="020B0C00000000000000" pitchFamily="34" charset="-122"/>
              <a:ea typeface="华康黑体W12(P)" panose="020B0C00000000000000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21898" y="4090654"/>
            <a:ext cx="9019050" cy="1926299"/>
            <a:chOff x="510136" y="4558907"/>
            <a:chExt cx="8105581" cy="1926299"/>
          </a:xfrm>
        </p:grpSpPr>
        <p:grpSp>
          <p:nvGrpSpPr>
            <p:cNvPr id="16" name="组合 15"/>
            <p:cNvGrpSpPr/>
            <p:nvPr/>
          </p:nvGrpSpPr>
          <p:grpSpPr>
            <a:xfrm>
              <a:off x="510136" y="4558907"/>
              <a:ext cx="8105581" cy="1926299"/>
              <a:chOff x="914121" y="3885602"/>
              <a:chExt cx="8854163" cy="2148989"/>
            </a:xfrm>
            <a:gradFill flip="none" rotWithShape="1">
              <a:gsLst>
                <a:gs pos="0">
                  <a:srgbClr val="3AB78D">
                    <a:alpha val="30000"/>
                  </a:srgbClr>
                </a:gs>
                <a:gs pos="100000">
                  <a:srgbClr val="3AB78D"/>
                </a:gs>
              </a:gsLst>
              <a:lin ang="16200000" scaled="1"/>
              <a:tileRect/>
            </a:gradFill>
          </p:grpSpPr>
          <p:sp>
            <p:nvSpPr>
              <p:cNvPr id="17" name="圆角矩形标注 16"/>
              <p:cNvSpPr/>
              <p:nvPr/>
            </p:nvSpPr>
            <p:spPr>
              <a:xfrm flipH="1">
                <a:off x="914121" y="3885602"/>
                <a:ext cx="8854163" cy="1906043"/>
              </a:xfrm>
              <a:prstGeom prst="wedgeRoundRectCallout">
                <a:avLst>
                  <a:gd name="adj1" fmla="val -29477"/>
                  <a:gd name="adj2" fmla="val 45724"/>
                  <a:gd name="adj3" fmla="val 16667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041764" y="3968707"/>
                <a:ext cx="8605636" cy="440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sz="2200" b="1" dirty="0" smtClean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10800000">
                <a:off x="8297595" y="5794243"/>
                <a:ext cx="343252" cy="240348"/>
              </a:xfrm>
              <a:prstGeom prst="triangle">
                <a:avLst/>
              </a:prstGeom>
              <a:gradFill flip="none" rotWithShape="1">
                <a:gsLst>
                  <a:gs pos="0">
                    <a:srgbClr val="3AB78D">
                      <a:alpha val="30000"/>
                    </a:srgbClr>
                  </a:gs>
                  <a:gs pos="100000">
                    <a:srgbClr val="3AB78D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563508" y="4704945"/>
              <a:ext cx="7981070" cy="14465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rgbClr val="319976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所谓优雅就是不再解释，也不再要求。你终将知道给予是最简单的善意，对给予后的结果有预期的期待，那不是给予是化了妆的交易。懂你的自然会懂，珍惜你的自然会珍惜。省下解释和要求的力气才可能真的爱自己。</a:t>
              </a:r>
              <a:endParaRPr lang="en-US" altLang="zh-CN" sz="2200" b="1" dirty="0">
                <a:solidFill>
                  <a:srgbClr val="31997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 rot="10800000" flipV="1">
            <a:off x="7362748" y="6016953"/>
            <a:ext cx="3571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小</a:t>
            </a:r>
            <a:r>
              <a:rPr lang="en-US" altLang="zh-CN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V</a:t>
            </a:r>
            <a:r>
              <a:rPr lang="zh-CN" altLang="en-US" sz="4000" b="1" dirty="0" smtClean="0">
                <a:solidFill>
                  <a:srgbClr val="3AB78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碎碎念</a:t>
            </a:r>
            <a:endParaRPr lang="zh-CN" altLang="en-US" sz="4000" b="1" dirty="0">
              <a:solidFill>
                <a:srgbClr val="3AB78D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975" y="5150533"/>
            <a:ext cx="1548000" cy="154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7654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84" y="2346669"/>
            <a:ext cx="5119200" cy="28795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606" y="2346669"/>
            <a:ext cx="5120000" cy="28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矩形 9"/>
          <p:cNvSpPr/>
          <p:nvPr/>
        </p:nvSpPr>
        <p:spPr>
          <a:xfrm>
            <a:off x="0" y="-1"/>
            <a:ext cx="12192000" cy="1336431"/>
          </a:xfrm>
          <a:prstGeom prst="rect">
            <a:avLst/>
          </a:prstGeom>
          <a:solidFill>
            <a:srgbClr val="C1E3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61029" y="129605"/>
            <a:ext cx="7469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31997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感谢</a:t>
            </a:r>
            <a:r>
              <a:rPr lang="en-US" altLang="zh-CN" sz="3200" b="1" dirty="0" smtClean="0">
                <a:solidFill>
                  <a:srgbClr val="31997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@</a:t>
            </a:r>
            <a:r>
              <a:rPr lang="zh-CN" altLang="en-US" sz="3200" b="1" dirty="0">
                <a:solidFill>
                  <a:srgbClr val="31997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小巴</a:t>
            </a:r>
            <a:r>
              <a:rPr lang="en-US" altLang="zh-CN" sz="3200" b="1" dirty="0">
                <a:solidFill>
                  <a:srgbClr val="31997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_</a:t>
            </a:r>
            <a:r>
              <a:rPr lang="en-US" altLang="zh-CN" sz="3200" b="1" dirty="0" smtClean="0">
                <a:solidFill>
                  <a:srgbClr val="31997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1990</a:t>
            </a:r>
            <a:r>
              <a:rPr lang="zh-CN" altLang="en-US" sz="3200" b="1" dirty="0" smtClean="0">
                <a:solidFill>
                  <a:srgbClr val="31997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反复指导！</a:t>
            </a:r>
            <a:endParaRPr lang="en-US" altLang="zh-CN" sz="3200" b="1" dirty="0" smtClean="0">
              <a:solidFill>
                <a:srgbClr val="31997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  <a:p>
            <a:pPr algn="ctr"/>
            <a:r>
              <a:rPr lang="en-US" altLang="zh-CN" sz="3200" b="1" dirty="0" smtClean="0">
                <a:solidFill>
                  <a:srgbClr val="FF707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#</a:t>
            </a:r>
            <a:r>
              <a:rPr lang="zh-CN" altLang="en-US" sz="3200" b="1" dirty="0" smtClean="0">
                <a:solidFill>
                  <a:srgbClr val="FF707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和秋叶一起学</a:t>
            </a:r>
            <a:r>
              <a:rPr lang="en-US" altLang="zh-CN" sz="3200" b="1" dirty="0" smtClean="0">
                <a:solidFill>
                  <a:srgbClr val="FF707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PPT#</a:t>
            </a:r>
            <a:r>
              <a:rPr lang="zh-CN" altLang="en-US" sz="3200" b="1" dirty="0" smtClean="0">
                <a:solidFill>
                  <a:srgbClr val="FF707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我在网易云课堂等你</a:t>
            </a:r>
            <a:endParaRPr lang="en-US" altLang="zh-CN" sz="3200" b="1" dirty="0">
              <a:solidFill>
                <a:srgbClr val="FF707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094194" y="5688268"/>
            <a:ext cx="2337580" cy="548640"/>
          </a:xfrm>
          <a:prstGeom prst="roundRect">
            <a:avLst/>
          </a:prstGeom>
          <a:solidFill>
            <a:srgbClr val="BD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>
                <a:solidFill>
                  <a:srgbClr val="FF707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修改前</a:t>
            </a:r>
            <a:endParaRPr lang="zh-CN" altLang="en-US" sz="3200" b="1" dirty="0">
              <a:solidFill>
                <a:srgbClr val="FF707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774816" y="5688268"/>
            <a:ext cx="2337580" cy="548640"/>
          </a:xfrm>
          <a:prstGeom prst="roundRect">
            <a:avLst/>
          </a:prstGeom>
          <a:solidFill>
            <a:srgbClr val="BD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>
                <a:solidFill>
                  <a:srgbClr val="FF707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修改后</a:t>
            </a:r>
            <a:endParaRPr lang="zh-CN" altLang="en-US" sz="3200" b="1" dirty="0">
              <a:solidFill>
                <a:srgbClr val="FF707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943606" y="6457890"/>
            <a:ext cx="3287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319976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PPT Design By@</a:t>
            </a:r>
            <a:r>
              <a:rPr lang="zh-CN" altLang="en-US" sz="2000" dirty="0" smtClean="0">
                <a:solidFill>
                  <a:srgbClr val="319976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小</a:t>
            </a:r>
            <a:r>
              <a:rPr lang="en-US" altLang="zh-CN" sz="2000" dirty="0" smtClean="0">
                <a:solidFill>
                  <a:srgbClr val="319976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V</a:t>
            </a:r>
            <a:r>
              <a:rPr lang="zh-CN" altLang="en-US" sz="2000" dirty="0" smtClean="0">
                <a:solidFill>
                  <a:srgbClr val="319976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郭子墨</a:t>
            </a:r>
            <a:endParaRPr lang="zh-CN" altLang="en-US" sz="2000" dirty="0">
              <a:solidFill>
                <a:srgbClr val="319976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384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1416</Words>
  <Application>Microsoft Office PowerPoint</Application>
  <PresentationFormat>宽屏</PresentationFormat>
  <Paragraphs>119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方正清刻本悦宋简体</vt:lpstr>
      <vt:lpstr>方正苏新诗柳楷简体</vt:lpstr>
      <vt:lpstr>仿宋</vt:lpstr>
      <vt:lpstr>华康黑体W12(P)</vt:lpstr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admin</cp:lastModifiedBy>
  <cp:revision>58</cp:revision>
  <dcterms:created xsi:type="dcterms:W3CDTF">2014-03-06T07:57:41Z</dcterms:created>
  <dcterms:modified xsi:type="dcterms:W3CDTF">2014-03-10T14:45:21Z</dcterms:modified>
</cp:coreProperties>
</file>