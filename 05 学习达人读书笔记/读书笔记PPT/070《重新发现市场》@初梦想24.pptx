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58" r:id="rId4"/>
    <p:sldId id="259" r:id="rId5"/>
    <p:sldId id="262" r:id="rId6"/>
    <p:sldId id="261" r:id="rId7"/>
    <p:sldId id="263" r:id="rId8"/>
    <p:sldId id="264" r:id="rId9"/>
    <p:sldId id="265" r:id="rId10"/>
    <p:sldId id="267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60" r:id="rId22"/>
    <p:sldId id="277" r:id="rId23"/>
    <p:sldId id="279" r:id="rId24"/>
    <p:sldId id="282" r:id="rId25"/>
    <p:sldId id="281" r:id="rId26"/>
    <p:sldId id="280" r:id="rId27"/>
    <p:sldId id="284" r:id="rId28"/>
    <p:sldId id="285" r:id="rId29"/>
    <p:sldId id="286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首页及目录" id="{D5A07ED2-08E5-43DD-93CF-0155D81E829D}">
          <p14:sldIdLst>
            <p14:sldId id="257"/>
            <p14:sldId id="258"/>
          </p14:sldIdLst>
        </p14:section>
        <p14:section name="why" id="{BD7B3CB7-5FEE-47D0-BF23-BB85FEE5ECD0}">
          <p14:sldIdLst>
            <p14:sldId id="259"/>
            <p14:sldId id="262"/>
          </p14:sldIdLst>
        </p14:section>
        <p14:section name="how" id="{CC7CC4E9-827D-406B-BA99-71D99981F674}">
          <p14:sldIdLst>
            <p14:sldId id="261"/>
            <p14:sldId id="263"/>
            <p14:sldId id="264"/>
            <p14:sldId id="265"/>
            <p14:sldId id="267"/>
            <p14:sldId id="266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key" id="{DF5FE832-EF1E-403C-96B7-61C4371A9A4F}">
          <p14:sldIdLst>
            <p14:sldId id="260"/>
            <p14:sldId id="277"/>
            <p14:sldId id="279"/>
            <p14:sldId id="282"/>
          </p14:sldIdLst>
        </p14:section>
        <p14:section name="尾页" id="{040C9BAA-F6B1-42BE-9E27-9DE50184537C}">
          <p14:sldIdLst>
            <p14:sldId id="281"/>
            <p14:sldId id="280"/>
            <p14:sldId id="284"/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7D55"/>
    <a:srgbClr val="D0CFCE"/>
    <a:srgbClr val="B89674"/>
    <a:srgbClr val="AE8862"/>
    <a:srgbClr val="B5926F"/>
    <a:srgbClr val="BC9D7E"/>
    <a:srgbClr val="C2A588"/>
    <a:srgbClr val="CAC9C8"/>
    <a:srgbClr val="C5C4C3"/>
    <a:srgbClr val="BEBD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424" autoAdjust="0"/>
  </p:normalViewPr>
  <p:slideViewPr>
    <p:cSldViewPr snapToGrid="0">
      <p:cViewPr varScale="1">
        <p:scale>
          <a:sx n="70" d="100"/>
          <a:sy n="70" d="100"/>
        </p:scale>
        <p:origin x="738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425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0F0CF-E2CC-4268-BC3A-D27A197E4DE1}" type="datetimeFigureOut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20FA7-8B79-4E2C-887E-6DB2DF566F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240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0F0CF-E2CC-4268-BC3A-D27A197E4DE1}" type="datetimeFigureOut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20FA7-8B79-4E2C-887E-6DB2DF566F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482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0F0CF-E2CC-4268-BC3A-D27A197E4DE1}" type="datetimeFigureOut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20FA7-8B79-4E2C-887E-6DB2DF566F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1166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0F0CF-E2CC-4268-BC3A-D27A197E4DE1}" type="datetimeFigureOut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20FA7-8B79-4E2C-887E-6DB2DF566F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9177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0F0CF-E2CC-4268-BC3A-D27A197E4DE1}" type="datetimeFigureOut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20FA7-8B79-4E2C-887E-6DB2DF566F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572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0F0CF-E2CC-4268-BC3A-D27A197E4DE1}" type="datetimeFigureOut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20FA7-8B79-4E2C-887E-6DB2DF566F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3479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0F0CF-E2CC-4268-BC3A-D27A197E4DE1}" type="datetimeFigureOut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20FA7-8B79-4E2C-887E-6DB2DF566F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439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0F0CF-E2CC-4268-BC3A-D27A197E4DE1}" type="datetimeFigureOut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20FA7-8B79-4E2C-887E-6DB2DF566F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8578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0F0CF-E2CC-4268-BC3A-D27A197E4DE1}" type="datetimeFigureOut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20FA7-8B79-4E2C-887E-6DB2DF566F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350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0F0CF-E2CC-4268-BC3A-D27A197E4DE1}" type="datetimeFigureOut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20FA7-8B79-4E2C-887E-6DB2DF566F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0524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0F0CF-E2CC-4268-BC3A-D27A197E4DE1}" type="datetimeFigureOut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20FA7-8B79-4E2C-887E-6DB2DF566F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0477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75599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45762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57094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9670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6059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3131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15113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5155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18742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1664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911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0F0CF-E2CC-4268-BC3A-D27A197E4DE1}" type="datetimeFigureOut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20FA7-8B79-4E2C-887E-6DB2DF566F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2827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4238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C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4541740"/>
            <a:ext cx="12192000" cy="150567"/>
          </a:xfrm>
          <a:prstGeom prst="rect">
            <a:avLst/>
          </a:prstGeom>
          <a:solidFill>
            <a:srgbClr val="A57D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2394447"/>
            <a:ext cx="12192000" cy="2075544"/>
          </a:xfrm>
          <a:prstGeom prst="rect">
            <a:avLst/>
          </a:prstGeom>
          <a:solidFill>
            <a:srgbClr val="A57D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0965" y="1562015"/>
            <a:ext cx="2787676" cy="3771691"/>
          </a:xfrm>
          <a:prstGeom prst="rect">
            <a:avLst/>
          </a:prstGeom>
          <a:solidFill>
            <a:srgbClr val="BEBDBB"/>
          </a:solidFill>
        </p:spPr>
      </p:pic>
      <p:sp>
        <p:nvSpPr>
          <p:cNvPr id="5" name="文本框 4"/>
          <p:cNvSpPr txBox="1"/>
          <p:nvPr/>
        </p:nvSpPr>
        <p:spPr>
          <a:xfrm>
            <a:off x="777447" y="2684319"/>
            <a:ext cx="3877985" cy="14957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48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重新发现市场</a:t>
            </a:r>
          </a:p>
          <a:p>
            <a:pPr algn="ctr">
              <a:lnSpc>
                <a:spcPct val="120000"/>
              </a:lnSpc>
            </a:pPr>
            <a:r>
              <a:rPr lang="zh-CN" altLang="en-US" sz="28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一部市场的自然史</a:t>
            </a:r>
            <a:endParaRPr lang="zh-CN" altLang="en-US" sz="2800" dirty="0"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4949371" y="2684321"/>
            <a:ext cx="0" cy="1495794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202967" y="2847697"/>
            <a:ext cx="23022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约翰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麦克米兰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著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余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江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译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中信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出版社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出版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902591" y="6457890"/>
            <a:ext cx="22894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制作：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初梦想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3110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C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219204" y="1698129"/>
            <a:ext cx="1509763" cy="3766029"/>
            <a:chOff x="5123547" y="1171056"/>
            <a:chExt cx="1509763" cy="5203065"/>
          </a:xfrm>
        </p:grpSpPr>
        <p:sp>
          <p:nvSpPr>
            <p:cNvPr id="4" name="椭圆 3"/>
            <p:cNvSpPr/>
            <p:nvPr/>
          </p:nvSpPr>
          <p:spPr>
            <a:xfrm rot="5400000">
              <a:off x="4206625" y="3416696"/>
              <a:ext cx="4402592" cy="4507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 useBgFill="1">
          <p:nvSpPr>
            <p:cNvPr id="6" name="矩形 5"/>
            <p:cNvSpPr/>
            <p:nvPr/>
          </p:nvSpPr>
          <p:spPr>
            <a:xfrm rot="5400000">
              <a:off x="3293882" y="3237726"/>
              <a:ext cx="5203065" cy="106972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5123547" y="1893011"/>
              <a:ext cx="1292662" cy="3589419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7200" dirty="0" smtClean="0"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目录</a:t>
              </a:r>
              <a:endParaRPr lang="zh-CN" altLang="en-US" sz="7200" dirty="0"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667951" y="1308586"/>
            <a:ext cx="6508716" cy="4545116"/>
            <a:chOff x="3667951" y="1405741"/>
            <a:chExt cx="6508716" cy="4545116"/>
          </a:xfrm>
        </p:grpSpPr>
        <p:sp>
          <p:nvSpPr>
            <p:cNvPr id="9" name="文本框 8"/>
            <p:cNvSpPr txBox="1"/>
            <p:nvPr/>
          </p:nvSpPr>
          <p:spPr>
            <a:xfrm>
              <a:off x="3667951" y="1405741"/>
              <a:ext cx="182774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 smtClean="0">
                  <a:solidFill>
                    <a:srgbClr val="A57D55"/>
                  </a:solidFill>
                </a:rPr>
                <a:t>【WHY】</a:t>
              </a:r>
              <a:endParaRPr lang="zh-CN" altLang="en-US" sz="3200" dirty="0">
                <a:solidFill>
                  <a:srgbClr val="A57D55"/>
                </a:solidFill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6078776" y="1405741"/>
              <a:ext cx="189545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3200">
                  <a:solidFill>
                    <a:srgbClr val="A57D55"/>
                  </a:solidFill>
                </a:defRPr>
              </a:lvl1pPr>
            </a:lstStyle>
            <a:p>
              <a:r>
                <a:rPr lang="en-US" altLang="zh-CN" dirty="0"/>
                <a:t>【HOW】</a:t>
              </a:r>
              <a:endParaRPr lang="zh-CN" altLang="en-US" dirty="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8557313" y="1405741"/>
              <a:ext cx="161935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3200">
                  <a:solidFill>
                    <a:srgbClr val="A57D55"/>
                  </a:solidFill>
                </a:defRPr>
              </a:lvl1pPr>
            </a:lstStyle>
            <a:p>
              <a:r>
                <a:rPr lang="en-US" altLang="zh-CN" dirty="0"/>
                <a:t>【KEY】</a:t>
              </a:r>
              <a:endParaRPr lang="zh-CN" altLang="en-US" dirty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308900" y="2160002"/>
              <a:ext cx="553998" cy="379085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为什么要进行市场设计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6749504" y="2160002"/>
              <a:ext cx="553998" cy="379085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如何进行市场设计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9104505" y="2160002"/>
              <a:ext cx="553998" cy="379085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市场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设计中的关键点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7" name="直接连接符 16"/>
          <p:cNvCxnSpPr/>
          <p:nvPr/>
        </p:nvCxnSpPr>
        <p:spPr>
          <a:xfrm>
            <a:off x="5080000" y="2062847"/>
            <a:ext cx="0" cy="3790855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7620000" y="2062847"/>
            <a:ext cx="0" cy="3790855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826172" y="2062847"/>
            <a:ext cx="0" cy="3790855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/>
          <p:cNvGrpSpPr/>
          <p:nvPr/>
        </p:nvGrpSpPr>
        <p:grpSpPr>
          <a:xfrm>
            <a:off x="0" y="362857"/>
            <a:ext cx="12192000" cy="420914"/>
            <a:chOff x="0" y="362857"/>
            <a:chExt cx="12192000" cy="420914"/>
          </a:xfrm>
        </p:grpSpPr>
        <p:cxnSp>
          <p:nvCxnSpPr>
            <p:cNvPr id="21" name="直接连接符 20"/>
            <p:cNvCxnSpPr/>
            <p:nvPr/>
          </p:nvCxnSpPr>
          <p:spPr>
            <a:xfrm flipV="1">
              <a:off x="0" y="595086"/>
              <a:ext cx="8557313" cy="1451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矩形 21"/>
            <p:cNvSpPr/>
            <p:nvPr/>
          </p:nvSpPr>
          <p:spPr>
            <a:xfrm>
              <a:off x="8557313" y="362857"/>
              <a:ext cx="2342916" cy="420914"/>
            </a:xfrm>
            <a:prstGeom prst="rect">
              <a:avLst/>
            </a:prstGeom>
            <a:solidFill>
              <a:srgbClr val="D0CFCE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《</a:t>
              </a:r>
              <a:r>
                <a:rPr lang="zh-CN" altLang="en-US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重新发现市场</a:t>
              </a:r>
              <a:r>
                <a:rPr lang="en-US" altLang="zh-CN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》</a:t>
              </a:r>
              <a:endParaRPr lang="zh-CN" altLang="en-US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8" name="直接连接符 27"/>
            <p:cNvCxnSpPr>
              <a:stCxn id="22" idx="3"/>
            </p:cNvCxnSpPr>
            <p:nvPr/>
          </p:nvCxnSpPr>
          <p:spPr>
            <a:xfrm>
              <a:off x="10900229" y="573314"/>
              <a:ext cx="12917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01079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C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018971" y="1911249"/>
            <a:ext cx="6154057" cy="3035503"/>
            <a:chOff x="3018971" y="1899354"/>
            <a:chExt cx="6154057" cy="3035503"/>
          </a:xfrm>
        </p:grpSpPr>
        <p:sp>
          <p:nvSpPr>
            <p:cNvPr id="2" name="矩形 1"/>
            <p:cNvSpPr/>
            <p:nvPr/>
          </p:nvSpPr>
          <p:spPr>
            <a:xfrm>
              <a:off x="3018971" y="1899354"/>
              <a:ext cx="6154057" cy="3035503"/>
            </a:xfrm>
            <a:prstGeom prst="rect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3018971" y="1899354"/>
              <a:ext cx="6154057" cy="27699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3800" dirty="0" smtClean="0">
                  <a:solidFill>
                    <a:srgbClr val="A57D55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WHY</a:t>
              </a:r>
            </a:p>
            <a:p>
              <a:pPr algn="dist"/>
              <a:r>
                <a:rPr lang="zh-CN" altLang="en-US" sz="3600" dirty="0" smtClean="0">
                  <a:solidFill>
                    <a:srgbClr val="A57D55"/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为什么要进行市场设计</a:t>
              </a:r>
              <a:endParaRPr lang="en-US" altLang="zh-CN" sz="3600" dirty="0" smtClean="0">
                <a:solidFill>
                  <a:srgbClr val="A57D55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0" y="362857"/>
            <a:ext cx="12192000" cy="420914"/>
            <a:chOff x="0" y="362857"/>
            <a:chExt cx="12192000" cy="420914"/>
          </a:xfrm>
        </p:grpSpPr>
        <p:grpSp>
          <p:nvGrpSpPr>
            <p:cNvPr id="8" name="组合 7"/>
            <p:cNvGrpSpPr/>
            <p:nvPr/>
          </p:nvGrpSpPr>
          <p:grpSpPr>
            <a:xfrm>
              <a:off x="0" y="362857"/>
              <a:ext cx="12192000" cy="420914"/>
              <a:chOff x="0" y="362857"/>
              <a:chExt cx="12192000" cy="420914"/>
            </a:xfrm>
          </p:grpSpPr>
          <p:cxnSp>
            <p:nvCxnSpPr>
              <p:cNvPr id="9" name="直接连接符 8"/>
              <p:cNvCxnSpPr/>
              <p:nvPr/>
            </p:nvCxnSpPr>
            <p:spPr>
              <a:xfrm flipV="1">
                <a:off x="0" y="595086"/>
                <a:ext cx="8557313" cy="14514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矩形 9"/>
              <p:cNvSpPr/>
              <p:nvPr/>
            </p:nvSpPr>
            <p:spPr>
              <a:xfrm>
                <a:off x="8557313" y="362857"/>
                <a:ext cx="2342916" cy="420914"/>
              </a:xfrm>
              <a:prstGeom prst="rect">
                <a:avLst/>
              </a:prstGeom>
              <a:solidFill>
                <a:srgbClr val="D0CFCE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olidFill>
                    <a:srgbClr val="BC9D7E"/>
                  </a:solidFill>
                </a:endParaRPr>
              </a:p>
              <a:p>
                <a:pPr algn="ctr"/>
                <a:endParaRPr lang="zh-CN" altLang="en-US" dirty="0">
                  <a:solidFill>
                    <a:srgbClr val="BC9D7E"/>
                  </a:solidFill>
                </a:endParaRPr>
              </a:p>
            </p:txBody>
          </p:sp>
          <p:cxnSp>
            <p:nvCxnSpPr>
              <p:cNvPr id="11" name="直接连接符 10"/>
              <p:cNvCxnSpPr>
                <a:stCxn id="10" idx="3"/>
              </p:cNvCxnSpPr>
              <p:nvPr/>
            </p:nvCxnSpPr>
            <p:spPr>
              <a:xfrm>
                <a:off x="10900229" y="573314"/>
                <a:ext cx="1291771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文本框 11"/>
            <p:cNvSpPr txBox="1"/>
            <p:nvPr/>
          </p:nvSpPr>
          <p:spPr>
            <a:xfrm>
              <a:off x="8557313" y="388648"/>
              <a:ext cx="10366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Why        </a:t>
              </a:r>
              <a:endParaRPr lang="zh-CN" altLang="en-US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9593943" y="388648"/>
              <a:ext cx="0" cy="369332"/>
            </a:xfrm>
            <a:prstGeom prst="line">
              <a:avLst/>
            </a:prstGeom>
            <a:ln>
              <a:solidFill>
                <a:srgbClr val="A57D5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9586686" y="401544"/>
              <a:ext cx="13062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/>
                <a:t> </a:t>
              </a:r>
              <a:r>
                <a:rPr lang="zh-CN" altLang="en-US" dirty="0"/>
                <a:t>市场设计</a:t>
              </a:r>
              <a:r>
                <a:rPr lang="en-US" altLang="zh-CN" dirty="0"/>
                <a:t>        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85364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C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362857"/>
            <a:ext cx="12192000" cy="420914"/>
            <a:chOff x="0" y="362857"/>
            <a:chExt cx="12192000" cy="420914"/>
          </a:xfrm>
        </p:grpSpPr>
        <p:grpSp>
          <p:nvGrpSpPr>
            <p:cNvPr id="3" name="组合 2"/>
            <p:cNvGrpSpPr/>
            <p:nvPr/>
          </p:nvGrpSpPr>
          <p:grpSpPr>
            <a:xfrm>
              <a:off x="0" y="362857"/>
              <a:ext cx="12192000" cy="420914"/>
              <a:chOff x="0" y="362857"/>
              <a:chExt cx="12192000" cy="420914"/>
            </a:xfrm>
          </p:grpSpPr>
          <p:cxnSp>
            <p:nvCxnSpPr>
              <p:cNvPr id="7" name="直接连接符 6"/>
              <p:cNvCxnSpPr/>
              <p:nvPr/>
            </p:nvCxnSpPr>
            <p:spPr>
              <a:xfrm flipV="1">
                <a:off x="0" y="595086"/>
                <a:ext cx="8557313" cy="14514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矩形 7"/>
              <p:cNvSpPr/>
              <p:nvPr/>
            </p:nvSpPr>
            <p:spPr>
              <a:xfrm>
                <a:off x="8557313" y="362857"/>
                <a:ext cx="2342916" cy="420914"/>
              </a:xfrm>
              <a:prstGeom prst="rect">
                <a:avLst/>
              </a:prstGeom>
              <a:solidFill>
                <a:srgbClr val="D0CFCE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olidFill>
                    <a:srgbClr val="BC9D7E"/>
                  </a:solidFill>
                </a:endParaRPr>
              </a:p>
              <a:p>
                <a:pPr algn="ctr"/>
                <a:endParaRPr lang="zh-CN" altLang="en-US" dirty="0">
                  <a:solidFill>
                    <a:srgbClr val="BC9D7E"/>
                  </a:solidFill>
                </a:endParaRPr>
              </a:p>
            </p:txBody>
          </p:sp>
          <p:cxnSp>
            <p:nvCxnSpPr>
              <p:cNvPr id="9" name="直接连接符 8"/>
              <p:cNvCxnSpPr>
                <a:stCxn id="8" idx="3"/>
              </p:cNvCxnSpPr>
              <p:nvPr/>
            </p:nvCxnSpPr>
            <p:spPr>
              <a:xfrm>
                <a:off x="10900229" y="573314"/>
                <a:ext cx="1291771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文本框 3"/>
            <p:cNvSpPr txBox="1"/>
            <p:nvPr/>
          </p:nvSpPr>
          <p:spPr>
            <a:xfrm>
              <a:off x="8557313" y="388648"/>
              <a:ext cx="10366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/>
                <a:t> Why        </a:t>
              </a:r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93943" y="388648"/>
              <a:ext cx="0" cy="369332"/>
            </a:xfrm>
            <a:prstGeom prst="line">
              <a:avLst/>
            </a:prstGeom>
            <a:ln>
              <a:solidFill>
                <a:srgbClr val="A57D5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/>
            <p:cNvSpPr txBox="1"/>
            <p:nvPr/>
          </p:nvSpPr>
          <p:spPr>
            <a:xfrm>
              <a:off x="9586686" y="401544"/>
              <a:ext cx="13062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/>
                <a:t> </a:t>
              </a:r>
              <a:r>
                <a:rPr lang="zh-CN" altLang="en-US" dirty="0"/>
                <a:t>市场设计</a:t>
              </a:r>
              <a:r>
                <a:rPr lang="en-US" altLang="zh-CN" dirty="0"/>
                <a:t>        </a:t>
              </a:r>
              <a:endParaRPr lang="zh-CN" altLang="en-US" dirty="0"/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684859" y="1543064"/>
            <a:ext cx="73212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srgbClr val="A57D55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原因</a:t>
            </a:r>
            <a:r>
              <a:rPr lang="en-US" altLang="zh-CN" sz="4000" dirty="0" smtClean="0">
                <a:solidFill>
                  <a:srgbClr val="A57D55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1</a:t>
            </a:r>
            <a:r>
              <a:rPr lang="zh-CN" altLang="en-US" sz="4000" dirty="0" smtClean="0">
                <a:solidFill>
                  <a:srgbClr val="A57D55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：</a:t>
            </a:r>
            <a:r>
              <a:rPr lang="zh-CN" altLang="en-US" sz="32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自然</a:t>
            </a:r>
            <a:r>
              <a:rPr lang="zh-CN" altLang="en-US" sz="32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的经济存在很多的</a:t>
            </a:r>
            <a:r>
              <a:rPr lang="zh-CN" altLang="en-US" sz="32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局限性</a:t>
            </a:r>
            <a:endParaRPr lang="zh-CN" altLang="en-US" sz="3200" dirty="0"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84859" y="2487427"/>
            <a:ext cx="97834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srgbClr val="A57D55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原因</a:t>
            </a:r>
            <a:r>
              <a:rPr lang="en-US" altLang="zh-CN" sz="4000" dirty="0" smtClean="0">
                <a:solidFill>
                  <a:srgbClr val="A57D55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2</a:t>
            </a:r>
            <a:r>
              <a:rPr lang="zh-CN" altLang="en-US" sz="4000" dirty="0" smtClean="0">
                <a:solidFill>
                  <a:srgbClr val="A57D55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：</a:t>
            </a:r>
            <a:r>
              <a:rPr lang="zh-CN" altLang="en-US" sz="32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市场</a:t>
            </a:r>
            <a:r>
              <a:rPr lang="zh-CN" altLang="en-US" sz="32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是人类的工具，我们需要让它</a:t>
            </a:r>
            <a:r>
              <a:rPr lang="zh-CN" altLang="en-US" sz="32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物尽其用</a:t>
            </a:r>
            <a:endParaRPr lang="zh-CN" altLang="en-US" sz="3200" dirty="0"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84859" y="3431791"/>
            <a:ext cx="85523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srgbClr val="A57D55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原因</a:t>
            </a:r>
            <a:r>
              <a:rPr lang="en-US" altLang="zh-CN" sz="4000" dirty="0" smtClean="0">
                <a:solidFill>
                  <a:srgbClr val="A57D55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3</a:t>
            </a:r>
            <a:r>
              <a:rPr lang="zh-CN" altLang="en-US" sz="4000" dirty="0" smtClean="0">
                <a:solidFill>
                  <a:srgbClr val="A57D55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：</a:t>
            </a:r>
            <a:r>
              <a:rPr lang="zh-CN" altLang="en-US" sz="32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经济</a:t>
            </a:r>
            <a:r>
              <a:rPr lang="zh-CN" altLang="en-US" sz="32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的发展可以带动一个国家的</a:t>
            </a:r>
            <a:r>
              <a:rPr lang="zh-CN" altLang="en-US" sz="32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发展</a:t>
            </a:r>
            <a:endParaRPr lang="zh-CN" altLang="en-US" sz="3200" dirty="0"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0" y="5073141"/>
            <a:ext cx="12192000" cy="1784859"/>
            <a:chOff x="0" y="5073141"/>
            <a:chExt cx="12192000" cy="1784859"/>
          </a:xfrm>
        </p:grpSpPr>
        <p:sp>
          <p:nvSpPr>
            <p:cNvPr id="23" name="矩形 22"/>
            <p:cNvSpPr/>
            <p:nvPr/>
          </p:nvSpPr>
          <p:spPr>
            <a:xfrm>
              <a:off x="0" y="5390623"/>
              <a:ext cx="12192000" cy="1467377"/>
            </a:xfrm>
            <a:prstGeom prst="rect">
              <a:avLst/>
            </a:prstGeom>
            <a:solidFill>
              <a:srgbClr val="A57D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B5926F"/>
                </a:solidFill>
              </a:endParaRPr>
            </a:p>
          </p:txBody>
        </p:sp>
        <p:sp>
          <p:nvSpPr>
            <p:cNvPr id="24" name="等腰三角形 23"/>
            <p:cNvSpPr/>
            <p:nvPr/>
          </p:nvSpPr>
          <p:spPr>
            <a:xfrm>
              <a:off x="684859" y="5073141"/>
              <a:ext cx="813961" cy="598184"/>
            </a:xfrm>
            <a:prstGeom prst="triangle">
              <a:avLst/>
            </a:prstGeom>
            <a:solidFill>
              <a:srgbClr val="A57D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B5926F"/>
                </a:solidFill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352144" y="5342461"/>
            <a:ext cx="10972943" cy="2033644"/>
            <a:chOff x="-25228" y="5319054"/>
            <a:chExt cx="10972943" cy="2033644"/>
          </a:xfrm>
        </p:grpSpPr>
        <p:sp>
          <p:nvSpPr>
            <p:cNvPr id="25" name="文本框 24"/>
            <p:cNvSpPr txBox="1"/>
            <p:nvPr/>
          </p:nvSpPr>
          <p:spPr>
            <a:xfrm>
              <a:off x="1463530" y="5591605"/>
              <a:ext cx="8039380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>
                  <a:solidFill>
                    <a:schemeClr val="bg1"/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一</a:t>
              </a:r>
              <a:r>
                <a:rPr lang="zh-CN" altLang="en-US" sz="3200" dirty="0" smtClean="0">
                  <a:solidFill>
                    <a:schemeClr val="bg1"/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个经过精心设计的市场可以带来</a:t>
              </a:r>
              <a:endParaRPr lang="en-US" altLang="zh-CN" sz="3200" dirty="0" smtClean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  <a:p>
              <a:r>
                <a:rPr lang="zh-CN" altLang="en-US" sz="3200" dirty="0" smtClean="0">
                  <a:solidFill>
                    <a:schemeClr val="bg1"/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            经济的可持续发展与大众福利</a:t>
              </a:r>
              <a:endParaRPr lang="zh-CN" altLang="en-US" sz="3200" dirty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-25228" y="5319054"/>
              <a:ext cx="1415772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600" dirty="0" smtClean="0">
                  <a:solidFill>
                    <a:schemeClr val="bg1"/>
                  </a:solidFill>
                  <a:latin typeface="方正大黑简体" panose="02010601030101010101" pitchFamily="2" charset="-122"/>
                  <a:ea typeface="方正大黑简体" panose="02010601030101010101" pitchFamily="2" charset="-122"/>
                </a:rPr>
                <a:t>“</a:t>
              </a:r>
              <a:endParaRPr lang="zh-CN" altLang="en-US" sz="96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9531943" y="5783038"/>
              <a:ext cx="1415772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9600" dirty="0" smtClean="0">
                  <a:solidFill>
                    <a:schemeClr val="bg1"/>
                  </a:solidFill>
                  <a:latin typeface="方正大黑简体" panose="02010601030101010101" pitchFamily="2" charset="-122"/>
                  <a:ea typeface="方正大黑简体" panose="02010601030101010101" pitchFamily="2" charset="-122"/>
                </a:rPr>
                <a:t>”</a:t>
              </a:r>
              <a:endParaRPr lang="zh-CN" altLang="en-US" sz="96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1352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C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018971" y="1911249"/>
            <a:ext cx="6154057" cy="3035503"/>
            <a:chOff x="3018971" y="1899354"/>
            <a:chExt cx="6154057" cy="3035503"/>
          </a:xfrm>
        </p:grpSpPr>
        <p:sp>
          <p:nvSpPr>
            <p:cNvPr id="2" name="矩形 1"/>
            <p:cNvSpPr/>
            <p:nvPr/>
          </p:nvSpPr>
          <p:spPr>
            <a:xfrm>
              <a:off x="3018971" y="1899354"/>
              <a:ext cx="6154057" cy="3035503"/>
            </a:xfrm>
            <a:prstGeom prst="rect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3018971" y="1899354"/>
              <a:ext cx="6154057" cy="27699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3800" dirty="0" smtClean="0">
                  <a:solidFill>
                    <a:srgbClr val="A57D55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HOW</a:t>
              </a:r>
            </a:p>
            <a:p>
              <a:pPr algn="dist"/>
              <a:r>
                <a:rPr lang="zh-CN" altLang="en-US" sz="3600" dirty="0">
                  <a:solidFill>
                    <a:srgbClr val="A57D55"/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如何</a:t>
              </a:r>
              <a:r>
                <a:rPr lang="zh-CN" altLang="en-US" sz="3600" dirty="0" smtClean="0">
                  <a:solidFill>
                    <a:srgbClr val="A57D55"/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进行市场设计</a:t>
              </a:r>
              <a:endParaRPr lang="en-US" altLang="zh-CN" sz="3600" dirty="0" smtClean="0">
                <a:solidFill>
                  <a:srgbClr val="A57D55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0" y="362857"/>
            <a:ext cx="12192000" cy="420914"/>
            <a:chOff x="0" y="362857"/>
            <a:chExt cx="12192000" cy="420914"/>
          </a:xfrm>
        </p:grpSpPr>
        <p:grpSp>
          <p:nvGrpSpPr>
            <p:cNvPr id="8" name="组合 7"/>
            <p:cNvGrpSpPr/>
            <p:nvPr/>
          </p:nvGrpSpPr>
          <p:grpSpPr>
            <a:xfrm>
              <a:off x="0" y="362857"/>
              <a:ext cx="12192000" cy="420914"/>
              <a:chOff x="0" y="362857"/>
              <a:chExt cx="12192000" cy="420914"/>
            </a:xfrm>
          </p:grpSpPr>
          <p:cxnSp>
            <p:nvCxnSpPr>
              <p:cNvPr id="9" name="直接连接符 8"/>
              <p:cNvCxnSpPr/>
              <p:nvPr/>
            </p:nvCxnSpPr>
            <p:spPr>
              <a:xfrm flipV="1">
                <a:off x="0" y="595086"/>
                <a:ext cx="8557313" cy="14514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矩形 9"/>
              <p:cNvSpPr/>
              <p:nvPr/>
            </p:nvSpPr>
            <p:spPr>
              <a:xfrm>
                <a:off x="8557313" y="362857"/>
                <a:ext cx="2342916" cy="420914"/>
              </a:xfrm>
              <a:prstGeom prst="rect">
                <a:avLst/>
              </a:prstGeom>
              <a:solidFill>
                <a:srgbClr val="D0CFCE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olidFill>
                    <a:srgbClr val="BC9D7E"/>
                  </a:solidFill>
                </a:endParaRPr>
              </a:p>
              <a:p>
                <a:pPr algn="ctr"/>
                <a:endParaRPr lang="zh-CN" altLang="en-US" dirty="0">
                  <a:solidFill>
                    <a:srgbClr val="BC9D7E"/>
                  </a:solidFill>
                </a:endParaRPr>
              </a:p>
            </p:txBody>
          </p:sp>
          <p:cxnSp>
            <p:nvCxnSpPr>
              <p:cNvPr id="11" name="直接连接符 10"/>
              <p:cNvCxnSpPr>
                <a:stCxn id="10" idx="3"/>
              </p:cNvCxnSpPr>
              <p:nvPr/>
            </p:nvCxnSpPr>
            <p:spPr>
              <a:xfrm>
                <a:off x="10900229" y="573314"/>
                <a:ext cx="1291771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文本框 11"/>
            <p:cNvSpPr txBox="1"/>
            <p:nvPr/>
          </p:nvSpPr>
          <p:spPr>
            <a:xfrm>
              <a:off x="8557313" y="388648"/>
              <a:ext cx="10366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/>
                <a:t> How       </a:t>
              </a:r>
              <a:endParaRPr lang="zh-CN" altLang="en-US" dirty="0"/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9593943" y="388648"/>
              <a:ext cx="0" cy="369332"/>
            </a:xfrm>
            <a:prstGeom prst="line">
              <a:avLst/>
            </a:prstGeom>
            <a:ln>
              <a:solidFill>
                <a:srgbClr val="A57D5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9586686" y="401544"/>
              <a:ext cx="13062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/>
                <a:t> </a:t>
              </a:r>
              <a:r>
                <a:rPr lang="zh-CN" altLang="en-US" dirty="0"/>
                <a:t>市场设计</a:t>
              </a:r>
              <a:r>
                <a:rPr lang="en-US" altLang="zh-CN" dirty="0"/>
                <a:t>        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82115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C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362857"/>
            <a:ext cx="12192000" cy="420914"/>
            <a:chOff x="0" y="362857"/>
            <a:chExt cx="12192000" cy="420914"/>
          </a:xfrm>
        </p:grpSpPr>
        <p:grpSp>
          <p:nvGrpSpPr>
            <p:cNvPr id="3" name="组合 2"/>
            <p:cNvGrpSpPr/>
            <p:nvPr/>
          </p:nvGrpSpPr>
          <p:grpSpPr>
            <a:xfrm>
              <a:off x="0" y="362857"/>
              <a:ext cx="12192000" cy="420914"/>
              <a:chOff x="0" y="362857"/>
              <a:chExt cx="12192000" cy="420914"/>
            </a:xfrm>
          </p:grpSpPr>
          <p:cxnSp>
            <p:nvCxnSpPr>
              <p:cNvPr id="7" name="直接连接符 6"/>
              <p:cNvCxnSpPr/>
              <p:nvPr/>
            </p:nvCxnSpPr>
            <p:spPr>
              <a:xfrm flipV="1">
                <a:off x="0" y="595086"/>
                <a:ext cx="8557313" cy="14514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矩形 7"/>
              <p:cNvSpPr/>
              <p:nvPr/>
            </p:nvSpPr>
            <p:spPr>
              <a:xfrm>
                <a:off x="8557313" y="362857"/>
                <a:ext cx="2342916" cy="420914"/>
              </a:xfrm>
              <a:prstGeom prst="rect">
                <a:avLst/>
              </a:prstGeom>
              <a:solidFill>
                <a:srgbClr val="D0CFCE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olidFill>
                    <a:srgbClr val="BC9D7E"/>
                  </a:solidFill>
                </a:endParaRPr>
              </a:p>
              <a:p>
                <a:pPr algn="ctr"/>
                <a:endParaRPr lang="zh-CN" altLang="en-US" dirty="0">
                  <a:solidFill>
                    <a:srgbClr val="BC9D7E"/>
                  </a:solidFill>
                </a:endParaRPr>
              </a:p>
            </p:txBody>
          </p:sp>
          <p:cxnSp>
            <p:nvCxnSpPr>
              <p:cNvPr id="9" name="直接连接符 8"/>
              <p:cNvCxnSpPr>
                <a:stCxn id="8" idx="3"/>
              </p:cNvCxnSpPr>
              <p:nvPr/>
            </p:nvCxnSpPr>
            <p:spPr>
              <a:xfrm>
                <a:off x="10900229" y="573314"/>
                <a:ext cx="1291771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文本框 3"/>
            <p:cNvSpPr txBox="1"/>
            <p:nvPr/>
          </p:nvSpPr>
          <p:spPr>
            <a:xfrm>
              <a:off x="8557313" y="388648"/>
              <a:ext cx="10366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rgbClr val="B5926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How       </a:t>
              </a:r>
              <a:endParaRPr lang="zh-CN" altLang="en-US" dirty="0">
                <a:solidFill>
                  <a:srgbClr val="B5926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93943" y="388648"/>
              <a:ext cx="0" cy="369332"/>
            </a:xfrm>
            <a:prstGeom prst="line">
              <a:avLst/>
            </a:prstGeom>
            <a:ln>
              <a:solidFill>
                <a:srgbClr val="A57D5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/>
            <p:cNvSpPr txBox="1"/>
            <p:nvPr/>
          </p:nvSpPr>
          <p:spPr>
            <a:xfrm>
              <a:off x="9586686" y="401544"/>
              <a:ext cx="13062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rgbClr val="B5926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dirty="0" smtClean="0">
                  <a:solidFill>
                    <a:srgbClr val="B5926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市场设计</a:t>
              </a:r>
              <a:r>
                <a:rPr lang="en-US" altLang="zh-CN" dirty="0" smtClean="0">
                  <a:solidFill>
                    <a:srgbClr val="B5926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</a:t>
              </a:r>
              <a:endParaRPr lang="zh-CN" altLang="en-US" dirty="0">
                <a:solidFill>
                  <a:srgbClr val="B5926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流程图: 联系 9"/>
          <p:cNvSpPr/>
          <p:nvPr/>
        </p:nvSpPr>
        <p:spPr>
          <a:xfrm>
            <a:off x="3614058" y="1494972"/>
            <a:ext cx="4586514" cy="4586514"/>
          </a:xfrm>
          <a:prstGeom prst="flowChartConnector">
            <a:avLst/>
          </a:prstGeom>
          <a:noFill/>
          <a:ln w="12700">
            <a:solidFill>
              <a:srgbClr val="BC9D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流程图: 联系 11"/>
          <p:cNvSpPr/>
          <p:nvPr/>
        </p:nvSpPr>
        <p:spPr>
          <a:xfrm>
            <a:off x="2764972" y="2931886"/>
            <a:ext cx="1698172" cy="1698172"/>
          </a:xfrm>
          <a:prstGeom prst="flowChartConnector">
            <a:avLst/>
          </a:prstGeom>
          <a:solidFill>
            <a:srgbClr val="A57D5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流程图: 联系 13"/>
          <p:cNvSpPr/>
          <p:nvPr/>
        </p:nvSpPr>
        <p:spPr>
          <a:xfrm>
            <a:off x="7435514" y="2931886"/>
            <a:ext cx="1698172" cy="1698172"/>
          </a:xfrm>
          <a:prstGeom prst="flowChartConnector">
            <a:avLst/>
          </a:prstGeom>
          <a:solidFill>
            <a:srgbClr val="A57D5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/>
        </p:nvGrpSpPr>
        <p:grpSpPr>
          <a:xfrm>
            <a:off x="5167267" y="816038"/>
            <a:ext cx="1698172" cy="1698172"/>
            <a:chOff x="5167267" y="816038"/>
            <a:chExt cx="1698172" cy="1698172"/>
          </a:xfrm>
        </p:grpSpPr>
        <p:sp>
          <p:nvSpPr>
            <p:cNvPr id="11" name="流程图: 联系 10"/>
            <p:cNvSpPr/>
            <p:nvPr/>
          </p:nvSpPr>
          <p:spPr>
            <a:xfrm>
              <a:off x="5167267" y="816038"/>
              <a:ext cx="1698172" cy="1698172"/>
            </a:xfrm>
            <a:prstGeom prst="flowChartConnector">
              <a:avLst/>
            </a:prstGeom>
            <a:solidFill>
              <a:srgbClr val="A57D55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5370466" y="957238"/>
              <a:ext cx="1291771" cy="1227088"/>
              <a:chOff x="5370466" y="957238"/>
              <a:chExt cx="1291771" cy="1227088"/>
            </a:xfrm>
          </p:grpSpPr>
          <p:cxnSp>
            <p:nvCxnSpPr>
              <p:cNvPr id="16" name="直接连接符 15"/>
              <p:cNvCxnSpPr/>
              <p:nvPr/>
            </p:nvCxnSpPr>
            <p:spPr>
              <a:xfrm>
                <a:off x="5370466" y="1646591"/>
                <a:ext cx="1291771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文本框 16"/>
              <p:cNvSpPr txBox="1"/>
              <p:nvPr/>
            </p:nvSpPr>
            <p:spPr>
              <a:xfrm>
                <a:off x="5839060" y="957238"/>
                <a:ext cx="372218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4400" dirty="0" smtClean="0">
                    <a:solidFill>
                      <a:schemeClr val="bg1"/>
                    </a:solidFill>
                    <a:latin typeface="汉仪菱心体简" panose="02010609000101010101" pitchFamily="49" charset="-122"/>
                    <a:ea typeface="汉仪菱心体简" panose="02010609000101010101" pitchFamily="49" charset="-122"/>
                  </a:rPr>
                  <a:t>1</a:t>
                </a:r>
                <a:endParaRPr lang="zh-CN" altLang="en-US" sz="4400" dirty="0">
                  <a:solidFill>
                    <a:schemeClr val="bg1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endParaRP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5471171" y="1722661"/>
                <a:ext cx="11079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chemeClr val="bg1"/>
                    </a:solidFill>
                    <a:latin typeface="华康俪金黑W8" panose="020B0809000000000000" pitchFamily="49" charset="-122"/>
                    <a:ea typeface="华康俪金黑W8" panose="020B0809000000000000" pitchFamily="49" charset="-122"/>
                  </a:rPr>
                  <a:t>设计者</a:t>
                </a:r>
                <a:endParaRPr lang="zh-CN" altLang="en-US" sz="2400" dirty="0">
                  <a:solidFill>
                    <a:schemeClr val="bg1"/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endParaRPr>
              </a:p>
            </p:txBody>
          </p:sp>
        </p:grpSp>
      </p:grpSp>
      <p:grpSp>
        <p:nvGrpSpPr>
          <p:cNvPr id="15" name="组合 14"/>
          <p:cNvGrpSpPr/>
          <p:nvPr/>
        </p:nvGrpSpPr>
        <p:grpSpPr>
          <a:xfrm>
            <a:off x="5167267" y="5011449"/>
            <a:ext cx="1698172" cy="1698172"/>
            <a:chOff x="5167267" y="5011449"/>
            <a:chExt cx="1698172" cy="1698172"/>
          </a:xfrm>
        </p:grpSpPr>
        <p:sp>
          <p:nvSpPr>
            <p:cNvPr id="13" name="流程图: 联系 12"/>
            <p:cNvSpPr/>
            <p:nvPr/>
          </p:nvSpPr>
          <p:spPr>
            <a:xfrm>
              <a:off x="5167267" y="5011449"/>
              <a:ext cx="1698172" cy="1698172"/>
            </a:xfrm>
            <a:prstGeom prst="flowChartConnector">
              <a:avLst/>
            </a:prstGeom>
            <a:solidFill>
              <a:srgbClr val="A57D55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5359266" y="5126412"/>
              <a:ext cx="1291771" cy="1269141"/>
              <a:chOff x="5370466" y="915185"/>
              <a:chExt cx="1291771" cy="1269141"/>
            </a:xfrm>
          </p:grpSpPr>
          <p:cxnSp>
            <p:nvCxnSpPr>
              <p:cNvPr id="25" name="直接连接符 24"/>
              <p:cNvCxnSpPr/>
              <p:nvPr/>
            </p:nvCxnSpPr>
            <p:spPr>
              <a:xfrm>
                <a:off x="5370466" y="1646591"/>
                <a:ext cx="1291771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文本框 25"/>
              <p:cNvSpPr txBox="1"/>
              <p:nvPr/>
            </p:nvSpPr>
            <p:spPr>
              <a:xfrm>
                <a:off x="5800528" y="915185"/>
                <a:ext cx="466794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4400" dirty="0" smtClean="0">
                    <a:solidFill>
                      <a:schemeClr val="bg1"/>
                    </a:solidFill>
                    <a:latin typeface="汉仪菱心体简" panose="02010609000101010101" pitchFamily="49" charset="-122"/>
                    <a:ea typeface="汉仪菱心体简" panose="02010609000101010101" pitchFamily="49" charset="-122"/>
                  </a:rPr>
                  <a:t>3</a:t>
                </a:r>
                <a:endParaRPr lang="zh-CN" altLang="en-US" sz="4400" dirty="0">
                  <a:solidFill>
                    <a:schemeClr val="bg1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5616241" y="1722661"/>
                <a:ext cx="8002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>
                    <a:solidFill>
                      <a:schemeClr val="bg1"/>
                    </a:solidFill>
                    <a:latin typeface="华康俪金黑W8" panose="020B0809000000000000" pitchFamily="49" charset="-122"/>
                    <a:ea typeface="华康俪金黑W8" panose="020B0809000000000000" pitchFamily="49" charset="-122"/>
                  </a:rPr>
                  <a:t>实现</a:t>
                </a:r>
              </a:p>
            </p:txBody>
          </p:sp>
        </p:grpSp>
      </p:grpSp>
      <p:grpSp>
        <p:nvGrpSpPr>
          <p:cNvPr id="28" name="组合 27"/>
          <p:cNvGrpSpPr/>
          <p:nvPr/>
        </p:nvGrpSpPr>
        <p:grpSpPr>
          <a:xfrm>
            <a:off x="2903758" y="3057697"/>
            <a:ext cx="1415772" cy="1446550"/>
            <a:chOff x="5326039" y="915185"/>
            <a:chExt cx="1415772" cy="1446550"/>
          </a:xfrm>
        </p:grpSpPr>
        <p:cxnSp>
          <p:nvCxnSpPr>
            <p:cNvPr id="29" name="直接连接符 28"/>
            <p:cNvCxnSpPr/>
            <p:nvPr/>
          </p:nvCxnSpPr>
          <p:spPr>
            <a:xfrm>
              <a:off x="5370466" y="1646591"/>
              <a:ext cx="12917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/>
            <p:cNvSpPr txBox="1"/>
            <p:nvPr/>
          </p:nvSpPr>
          <p:spPr>
            <a:xfrm>
              <a:off x="5800528" y="915185"/>
              <a:ext cx="466794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dirty="0" smtClean="0">
                  <a:solidFill>
                    <a:schemeClr val="bg1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4</a:t>
              </a:r>
            </a:p>
            <a:p>
              <a:endParaRPr lang="zh-CN" altLang="en-US" sz="4400" dirty="0">
                <a:solidFill>
                  <a:schemeClr val="bg1"/>
                </a:solidFill>
                <a:latin typeface="汉仪菱心体简" panose="02010609000101010101" pitchFamily="49" charset="-122"/>
                <a:ea typeface="汉仪菱心体简" panose="02010609000101010101" pitchFamily="49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326039" y="1719302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国家经济</a:t>
              </a:r>
              <a:endParaRPr lang="zh-CN" altLang="en-US" sz="2400" dirty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576713" y="3064004"/>
            <a:ext cx="1415772" cy="1269141"/>
            <a:chOff x="5308465" y="915185"/>
            <a:chExt cx="1415772" cy="1269141"/>
          </a:xfrm>
        </p:grpSpPr>
        <p:cxnSp>
          <p:nvCxnSpPr>
            <p:cNvPr id="21" name="直接连接符 20"/>
            <p:cNvCxnSpPr/>
            <p:nvPr/>
          </p:nvCxnSpPr>
          <p:spPr>
            <a:xfrm>
              <a:off x="5370466" y="1646591"/>
              <a:ext cx="129177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/>
            <p:cNvSpPr txBox="1"/>
            <p:nvPr/>
          </p:nvSpPr>
          <p:spPr>
            <a:xfrm>
              <a:off x="5800528" y="915185"/>
              <a:ext cx="46679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dirty="0">
                  <a:solidFill>
                    <a:schemeClr val="bg1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2</a:t>
              </a:r>
              <a:endParaRPr lang="zh-CN" altLang="en-US" sz="4400" dirty="0">
                <a:solidFill>
                  <a:schemeClr val="bg1"/>
                </a:solidFill>
                <a:latin typeface="汉仪菱心体简" panose="02010609000101010101" pitchFamily="49" charset="-122"/>
                <a:ea typeface="汉仪菱心体简" panose="02010609000101010101" pitchFamily="49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5308465" y="1722661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基本</a:t>
              </a:r>
              <a:r>
                <a:rPr lang="zh-CN" altLang="en-US" sz="2400" dirty="0">
                  <a:solidFill>
                    <a:schemeClr val="bg1"/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要素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3554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C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5034474" y="-236681"/>
            <a:ext cx="4710892" cy="7662643"/>
            <a:chOff x="4220154" y="-261983"/>
            <a:chExt cx="4710892" cy="7662643"/>
          </a:xfrm>
        </p:grpSpPr>
        <p:sp>
          <p:nvSpPr>
            <p:cNvPr id="13" name="上箭头 12"/>
            <p:cNvSpPr/>
            <p:nvPr/>
          </p:nvSpPr>
          <p:spPr>
            <a:xfrm rot="1030848">
              <a:off x="6669449" y="-46776"/>
              <a:ext cx="2261597" cy="6988629"/>
            </a:xfrm>
            <a:prstGeom prst="upArrow">
              <a:avLst/>
            </a:prstGeom>
            <a:solidFill>
              <a:srgbClr val="A57D55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A57D55"/>
                </a:solidFill>
              </a:endParaRPr>
            </a:p>
          </p:txBody>
        </p:sp>
        <p:sp>
          <p:nvSpPr>
            <p:cNvPr id="12" name="上箭头 11"/>
            <p:cNvSpPr/>
            <p:nvPr/>
          </p:nvSpPr>
          <p:spPr>
            <a:xfrm rot="1030848">
              <a:off x="6097163" y="-123994"/>
              <a:ext cx="2261597" cy="7143063"/>
            </a:xfrm>
            <a:prstGeom prst="upArrow">
              <a:avLst/>
            </a:prstGeom>
            <a:solidFill>
              <a:srgbClr val="A57D55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A57D55"/>
                </a:solidFill>
              </a:endParaRPr>
            </a:p>
          </p:txBody>
        </p:sp>
        <p:sp>
          <p:nvSpPr>
            <p:cNvPr id="5" name="上箭头 4"/>
            <p:cNvSpPr/>
            <p:nvPr/>
          </p:nvSpPr>
          <p:spPr>
            <a:xfrm rot="1030848">
              <a:off x="5166007" y="-206065"/>
              <a:ext cx="2261597" cy="7606725"/>
            </a:xfrm>
            <a:prstGeom prst="upArrow">
              <a:avLst/>
            </a:prstGeom>
            <a:solidFill>
              <a:srgbClr val="A57D55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A57D55"/>
                </a:solidFill>
              </a:endParaRPr>
            </a:p>
          </p:txBody>
        </p:sp>
        <p:sp>
          <p:nvSpPr>
            <p:cNvPr id="14" name="上箭头 13"/>
            <p:cNvSpPr/>
            <p:nvPr/>
          </p:nvSpPr>
          <p:spPr>
            <a:xfrm rot="1030848">
              <a:off x="4220154" y="-261983"/>
              <a:ext cx="2261597" cy="7419043"/>
            </a:xfrm>
            <a:prstGeom prst="upArrow">
              <a:avLst/>
            </a:prstGeom>
            <a:solidFill>
              <a:srgbClr val="A57D55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A57D55"/>
                </a:solidFill>
              </a:endParaRPr>
            </a:p>
          </p:txBody>
        </p:sp>
      </p:grpSp>
      <p:sp>
        <p:nvSpPr>
          <p:cNvPr id="11" name="流程图: 联系 10"/>
          <p:cNvSpPr/>
          <p:nvPr/>
        </p:nvSpPr>
        <p:spPr>
          <a:xfrm>
            <a:off x="-391705" y="-813697"/>
            <a:ext cx="3763336" cy="3763336"/>
          </a:xfrm>
          <a:prstGeom prst="flowChartConnector">
            <a:avLst/>
          </a:prstGeom>
          <a:solidFill>
            <a:srgbClr val="A57D5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22" y="-467787"/>
            <a:ext cx="2681282" cy="307151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645123" y="1161725"/>
            <a:ext cx="78021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 dirty="0" smtClean="0">
                <a:solidFill>
                  <a:srgbClr val="A57D55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企业家：自下而上的设计</a:t>
            </a:r>
            <a:endParaRPr lang="zh-CN" altLang="en-US" sz="5400" b="1" dirty="0">
              <a:solidFill>
                <a:srgbClr val="A57D55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550014" y="3295549"/>
            <a:ext cx="8873543" cy="2746078"/>
            <a:chOff x="2550017" y="3335621"/>
            <a:chExt cx="8873543" cy="2746078"/>
          </a:xfrm>
        </p:grpSpPr>
        <p:grpSp>
          <p:nvGrpSpPr>
            <p:cNvPr id="6" name="组合 5"/>
            <p:cNvGrpSpPr/>
            <p:nvPr/>
          </p:nvGrpSpPr>
          <p:grpSpPr>
            <a:xfrm>
              <a:off x="2550017" y="3335621"/>
              <a:ext cx="8873543" cy="2746078"/>
              <a:chOff x="3039414" y="2534261"/>
              <a:chExt cx="8873543" cy="2746078"/>
            </a:xfrm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4" name="矩形 3"/>
              <p:cNvSpPr/>
              <p:nvPr/>
            </p:nvSpPr>
            <p:spPr>
              <a:xfrm>
                <a:off x="3039414" y="2833353"/>
                <a:ext cx="8873543" cy="244698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AE8862"/>
                  </a:solidFill>
                </a:endParaRPr>
              </a:p>
            </p:txBody>
          </p:sp>
          <p:sp>
            <p:nvSpPr>
              <p:cNvPr id="8" name="等腰三角形 7"/>
              <p:cNvSpPr/>
              <p:nvPr/>
            </p:nvSpPr>
            <p:spPr>
              <a:xfrm>
                <a:off x="3607277" y="2534261"/>
                <a:ext cx="813961" cy="598184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" name="文本框 2"/>
            <p:cNvSpPr txBox="1"/>
            <p:nvPr/>
          </p:nvSpPr>
          <p:spPr>
            <a:xfrm>
              <a:off x="2713823" y="3753700"/>
              <a:ext cx="8545929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457200" indent="-457200">
                <a:lnSpc>
                  <a:spcPct val="150000"/>
                </a:lnSpc>
                <a:buFont typeface="Webdings" panose="05030102010509060703" pitchFamily="18" charset="2"/>
                <a:buChar char=""/>
              </a:pPr>
              <a:r>
                <a:rPr lang="zh-CN" altLang="en-US" sz="2800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企业家们凝集他们的智慧来为自己获得</a:t>
              </a:r>
              <a:r>
                <a:rPr lang="zh-CN" altLang="en-US" sz="2800" b="1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更大的</a:t>
              </a:r>
              <a:r>
                <a:rPr lang="zh-CN" altLang="en-US" sz="2800" b="1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利益</a:t>
              </a:r>
              <a:endParaRPr lang="en-US" altLang="zh-CN" sz="2800" b="1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457200" indent="-457200">
                <a:lnSpc>
                  <a:spcPct val="150000"/>
                </a:lnSpc>
                <a:buFont typeface="Webdings" panose="05030102010509060703" pitchFamily="18" charset="2"/>
                <a:buChar char=""/>
              </a:pPr>
              <a:r>
                <a:rPr lang="zh-CN" altLang="en-US" sz="2800" b="1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交易</a:t>
              </a:r>
              <a:r>
                <a:rPr lang="zh-CN" altLang="en-US" sz="2800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就是一种</a:t>
              </a:r>
              <a:r>
                <a:rPr lang="zh-CN" altLang="en-US" sz="2800" b="1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伟大的</a:t>
              </a:r>
              <a:r>
                <a:rPr lang="zh-CN" altLang="en-US" sz="2800" b="1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创新</a:t>
              </a:r>
              <a:endParaRPr lang="en-US" altLang="zh-CN" sz="2800" b="1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457200" indent="-457200">
                <a:lnSpc>
                  <a:spcPct val="150000"/>
                </a:lnSpc>
                <a:buFont typeface="Webdings" panose="05030102010509060703" pitchFamily="18" charset="2"/>
                <a:buChar char=""/>
              </a:pPr>
              <a:r>
                <a:rPr lang="zh-CN" altLang="en-US" sz="2800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企业家们费尽心机地思索更为</a:t>
              </a:r>
              <a:r>
                <a:rPr lang="zh-CN" altLang="en-US" sz="2800" b="1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有效的交易</a:t>
              </a:r>
              <a:r>
                <a:rPr lang="zh-CN" altLang="en-US" sz="2800" b="1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方式</a:t>
              </a:r>
              <a:endParaRPr lang="zh-CN" altLang="en-US" sz="2800" b="1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7966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C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 rot="10582745">
            <a:off x="4646008" y="-484744"/>
            <a:ext cx="4642139" cy="7615145"/>
            <a:chOff x="3725224" y="-389188"/>
            <a:chExt cx="4642139" cy="7615145"/>
          </a:xfrm>
        </p:grpSpPr>
        <p:sp>
          <p:nvSpPr>
            <p:cNvPr id="17" name="上箭头 16"/>
            <p:cNvSpPr/>
            <p:nvPr/>
          </p:nvSpPr>
          <p:spPr>
            <a:xfrm rot="1030848">
              <a:off x="6105766" y="126515"/>
              <a:ext cx="2261597" cy="6988629"/>
            </a:xfrm>
            <a:prstGeom prst="upArrow">
              <a:avLst/>
            </a:prstGeom>
            <a:solidFill>
              <a:srgbClr val="A57D55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上箭头 17"/>
            <p:cNvSpPr/>
            <p:nvPr/>
          </p:nvSpPr>
          <p:spPr>
            <a:xfrm rot="1030848">
              <a:off x="5356823" y="-96206"/>
              <a:ext cx="2261597" cy="7143063"/>
            </a:xfrm>
            <a:prstGeom prst="upArrow">
              <a:avLst/>
            </a:prstGeom>
            <a:solidFill>
              <a:srgbClr val="A57D55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上箭头 18"/>
            <p:cNvSpPr/>
            <p:nvPr/>
          </p:nvSpPr>
          <p:spPr>
            <a:xfrm rot="1030848">
              <a:off x="4523541" y="-380768"/>
              <a:ext cx="2261597" cy="7606725"/>
            </a:xfrm>
            <a:prstGeom prst="upArrow">
              <a:avLst/>
            </a:prstGeom>
            <a:solidFill>
              <a:srgbClr val="A57D55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上箭头 19"/>
            <p:cNvSpPr/>
            <p:nvPr/>
          </p:nvSpPr>
          <p:spPr>
            <a:xfrm rot="1030848">
              <a:off x="3725224" y="-389188"/>
              <a:ext cx="2261597" cy="7419043"/>
            </a:xfrm>
            <a:prstGeom prst="upArrow">
              <a:avLst/>
            </a:prstGeom>
            <a:solidFill>
              <a:srgbClr val="A57D55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791038" y="1067970"/>
            <a:ext cx="71096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>
                <a:solidFill>
                  <a:srgbClr val="A57D55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defRPr>
            </a:lvl1pPr>
          </a:lstStyle>
          <a:p>
            <a:r>
              <a:rPr lang="zh-CN" altLang="en-US" dirty="0"/>
              <a:t>政府：自上而下的设计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2550014" y="3295549"/>
            <a:ext cx="8873543" cy="2746078"/>
            <a:chOff x="2550017" y="3335621"/>
            <a:chExt cx="8873543" cy="2746078"/>
          </a:xfrm>
        </p:grpSpPr>
        <p:grpSp>
          <p:nvGrpSpPr>
            <p:cNvPr id="6" name="组合 5"/>
            <p:cNvGrpSpPr/>
            <p:nvPr/>
          </p:nvGrpSpPr>
          <p:grpSpPr>
            <a:xfrm>
              <a:off x="2550017" y="3335621"/>
              <a:ext cx="8873543" cy="2746078"/>
              <a:chOff x="3039414" y="2534261"/>
              <a:chExt cx="8873543" cy="2746078"/>
            </a:xfrm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4" name="矩形 3"/>
              <p:cNvSpPr/>
              <p:nvPr/>
            </p:nvSpPr>
            <p:spPr>
              <a:xfrm>
                <a:off x="3039414" y="2833353"/>
                <a:ext cx="8873543" cy="244698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等腰三角形 7"/>
              <p:cNvSpPr/>
              <p:nvPr/>
            </p:nvSpPr>
            <p:spPr>
              <a:xfrm>
                <a:off x="3607277" y="2534261"/>
                <a:ext cx="813961" cy="598184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" name="文本框 2"/>
            <p:cNvSpPr txBox="1"/>
            <p:nvPr/>
          </p:nvSpPr>
          <p:spPr>
            <a:xfrm>
              <a:off x="2713823" y="3753700"/>
              <a:ext cx="8186857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457200" indent="-457200">
                <a:lnSpc>
                  <a:spcPct val="150000"/>
                </a:lnSpc>
                <a:buFont typeface="Webdings" panose="05030102010509060703" pitchFamily="18" charset="2"/>
                <a:buChar char=""/>
              </a:pPr>
              <a:r>
                <a:rPr lang="zh-CN" altLang="en-US" sz="2800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两种方式：</a:t>
              </a:r>
              <a:r>
                <a:rPr lang="zh-CN" altLang="en-US" sz="2800" b="1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提供资金、设计规则</a:t>
              </a:r>
              <a:endParaRPr lang="en-US" altLang="zh-CN" sz="2800" b="1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457200" indent="-457200">
                <a:lnSpc>
                  <a:spcPct val="150000"/>
                </a:lnSpc>
                <a:buFont typeface="Webdings" panose="05030102010509060703" pitchFamily="18" charset="2"/>
                <a:buChar char=""/>
              </a:pPr>
              <a:r>
                <a:rPr lang="zh-CN" altLang="en-US" sz="2800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市场设计的正确与否</a:t>
              </a:r>
              <a:r>
                <a:rPr lang="zh-CN" altLang="en-US" sz="2800" b="1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因时而异，因地而异</a:t>
              </a:r>
            </a:p>
            <a:p>
              <a:pPr marL="457200" indent="-457200">
                <a:lnSpc>
                  <a:spcPct val="150000"/>
                </a:lnSpc>
                <a:buFont typeface="Webdings" panose="05030102010509060703" pitchFamily="18" charset="2"/>
                <a:buChar char=""/>
              </a:pPr>
              <a:r>
                <a:rPr lang="zh-CN" altLang="en-US" sz="2800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任何市场都是不完美的，它需要不断地重新</a:t>
              </a:r>
              <a:r>
                <a:rPr lang="zh-CN" altLang="en-US" sz="2800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</a:t>
              </a:r>
              <a:endParaRPr lang="zh-CN" altLang="en-US" sz="2800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8935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C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 rot="1214604">
            <a:off x="2373567" y="-1744276"/>
            <a:ext cx="2645106" cy="9248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9500" dirty="0" smtClean="0">
                <a:solidFill>
                  <a:srgbClr val="A57D55">
                    <a:alpha val="70000"/>
                  </a:srgb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1</a:t>
            </a:r>
            <a:endParaRPr lang="zh-CN" altLang="en-US" sz="59500" dirty="0">
              <a:solidFill>
                <a:srgbClr val="A57D55">
                  <a:alpha val="70000"/>
                </a:srgb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11" name="流程图: 联系 10"/>
          <p:cNvSpPr/>
          <p:nvPr/>
        </p:nvSpPr>
        <p:spPr>
          <a:xfrm>
            <a:off x="9019009" y="-515638"/>
            <a:ext cx="3763336" cy="3763336"/>
          </a:xfrm>
          <a:prstGeom prst="flowChartConnector">
            <a:avLst/>
          </a:prstGeom>
          <a:solidFill>
            <a:srgbClr val="A57D5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28016" y="851745"/>
            <a:ext cx="50321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>
                <a:solidFill>
                  <a:srgbClr val="A57D55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defRPr>
            </a:lvl1pPr>
          </a:lstStyle>
          <a:p>
            <a:r>
              <a:rPr lang="zh-CN" altLang="en-US" b="1" dirty="0"/>
              <a:t>自由流动的信息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3913" y="-148007"/>
            <a:ext cx="3148715" cy="3028075"/>
          </a:xfrm>
          <a:prstGeom prst="rect">
            <a:avLst/>
          </a:prstGeom>
        </p:spPr>
      </p:pic>
      <p:sp>
        <p:nvSpPr>
          <p:cNvPr id="21" name="任意多边形 20"/>
          <p:cNvSpPr/>
          <p:nvPr/>
        </p:nvSpPr>
        <p:spPr>
          <a:xfrm>
            <a:off x="0" y="981309"/>
            <a:ext cx="383831" cy="793766"/>
          </a:xfrm>
          <a:custGeom>
            <a:avLst/>
            <a:gdLst>
              <a:gd name="connsiteX0" fmla="*/ 0 w 383831"/>
              <a:gd name="connsiteY0" fmla="*/ 0 h 793766"/>
              <a:gd name="connsiteX1" fmla="*/ 65765 w 383831"/>
              <a:gd name="connsiteY1" fmla="*/ 6630 h 793766"/>
              <a:gd name="connsiteX2" fmla="*/ 383831 w 383831"/>
              <a:gd name="connsiteY2" fmla="*/ 396883 h 793766"/>
              <a:gd name="connsiteX3" fmla="*/ 65765 w 383831"/>
              <a:gd name="connsiteY3" fmla="*/ 787136 h 793766"/>
              <a:gd name="connsiteX4" fmla="*/ 0 w 383831"/>
              <a:gd name="connsiteY4" fmla="*/ 793766 h 793766"/>
              <a:gd name="connsiteX5" fmla="*/ 0 w 383831"/>
              <a:gd name="connsiteY5" fmla="*/ 0 h 793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3831" h="793766">
                <a:moveTo>
                  <a:pt x="0" y="0"/>
                </a:moveTo>
                <a:lnTo>
                  <a:pt x="65765" y="6630"/>
                </a:lnTo>
                <a:cubicBezTo>
                  <a:pt x="247285" y="43774"/>
                  <a:pt x="383831" y="204383"/>
                  <a:pt x="383831" y="396883"/>
                </a:cubicBezTo>
                <a:cubicBezTo>
                  <a:pt x="383831" y="589383"/>
                  <a:pt x="247285" y="749992"/>
                  <a:pt x="65765" y="787136"/>
                </a:cubicBezTo>
                <a:lnTo>
                  <a:pt x="0" y="793766"/>
                </a:lnTo>
                <a:lnTo>
                  <a:pt x="0" y="0"/>
                </a:lnTo>
                <a:close/>
              </a:path>
            </a:pathLst>
          </a:custGeom>
          <a:solidFill>
            <a:srgbClr val="A57D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 rot="1214604">
            <a:off x="3366399" y="-1482085"/>
            <a:ext cx="2645106" cy="9248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9500" dirty="0" smtClean="0">
                <a:solidFill>
                  <a:srgbClr val="A57D55">
                    <a:alpha val="50000"/>
                  </a:srgb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1</a:t>
            </a:r>
            <a:endParaRPr lang="zh-CN" altLang="en-US" sz="59500" dirty="0">
              <a:solidFill>
                <a:srgbClr val="A57D55">
                  <a:alpha val="50000"/>
                </a:srgb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 rot="1214604">
            <a:off x="4298281" y="-1279817"/>
            <a:ext cx="2645106" cy="9248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9500" dirty="0" smtClean="0">
                <a:solidFill>
                  <a:srgbClr val="A57D55">
                    <a:alpha val="30000"/>
                  </a:srgb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1</a:t>
            </a:r>
            <a:endParaRPr lang="zh-CN" altLang="en-US" sz="59500" dirty="0">
              <a:solidFill>
                <a:srgbClr val="A57D55">
                  <a:alpha val="30000"/>
                </a:srgb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 rot="1214604">
            <a:off x="5107677" y="-1077551"/>
            <a:ext cx="2645106" cy="9248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9500" dirty="0" smtClean="0">
                <a:solidFill>
                  <a:srgbClr val="A57D55">
                    <a:alpha val="10000"/>
                  </a:srgb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1</a:t>
            </a:r>
            <a:endParaRPr lang="zh-CN" altLang="en-US" sz="59500" dirty="0">
              <a:solidFill>
                <a:srgbClr val="A57D55">
                  <a:alpha val="10000"/>
                </a:srgb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632" y="3936930"/>
            <a:ext cx="12192001" cy="3058956"/>
            <a:chOff x="-1" y="3822582"/>
            <a:chExt cx="12192001" cy="3035417"/>
          </a:xfrm>
        </p:grpSpPr>
        <p:sp>
          <p:nvSpPr>
            <p:cNvPr id="19" name="矩形 18"/>
            <p:cNvSpPr/>
            <p:nvPr/>
          </p:nvSpPr>
          <p:spPr>
            <a:xfrm>
              <a:off x="-1" y="4256880"/>
              <a:ext cx="12192001" cy="26011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>
              <a:off x="737586" y="3822582"/>
              <a:ext cx="796015" cy="59818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595523" y="4622511"/>
            <a:ext cx="926407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ebdings" panose="05030102010509060703" pitchFamily="18" charset="2"/>
              <a:buChar char=""/>
            </a:pPr>
            <a:r>
              <a:rPr lang="zh-CN" altLang="en-US" sz="2800" b="1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寻找信息</a:t>
            </a:r>
            <a:r>
              <a:rPr lang="zh-CN" altLang="en-US" sz="2800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是市场生活的</a:t>
            </a:r>
            <a:r>
              <a:rPr lang="zh-CN" altLang="en-US" sz="2800" b="1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</a:t>
            </a:r>
            <a:endParaRPr lang="en-US" altLang="zh-CN" sz="2800" b="1" dirty="0" smtClean="0">
              <a:solidFill>
                <a:srgbClr val="A57D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ebdings" panose="05030102010509060703" pitchFamily="18" charset="2"/>
              <a:buChar char=""/>
            </a:pPr>
            <a:r>
              <a:rPr lang="zh-CN" altLang="en-US" sz="2800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信息搜索的成本可以在不同程度上导致市场</a:t>
            </a:r>
            <a:r>
              <a:rPr lang="zh-CN" altLang="en-US" sz="2800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失灵</a:t>
            </a:r>
            <a:endParaRPr lang="en-US" altLang="zh-CN" sz="2800" dirty="0" smtClean="0">
              <a:solidFill>
                <a:srgbClr val="A57D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ebdings" panose="05030102010509060703" pitchFamily="18" charset="2"/>
              <a:buChar char=""/>
            </a:pPr>
            <a:r>
              <a:rPr lang="zh-CN" altLang="en-US" sz="2800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</a:t>
            </a:r>
            <a:r>
              <a:rPr lang="zh-CN" altLang="en-US" sz="2800" b="1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信息的搜寻成本</a:t>
            </a:r>
            <a:r>
              <a:rPr lang="zh-CN" altLang="en-US" sz="2800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2800" b="1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交易成本</a:t>
            </a:r>
            <a:r>
              <a:rPr lang="zh-CN" altLang="en-US" sz="2800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一直是我们努力的</a:t>
            </a:r>
            <a:r>
              <a:rPr lang="zh-CN" altLang="en-US" sz="2800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方向</a:t>
            </a:r>
            <a:endParaRPr lang="zh-CN" altLang="en-US" sz="2800" dirty="0">
              <a:solidFill>
                <a:srgbClr val="A57D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7296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C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 rot="1214604">
            <a:off x="1825545" y="-1931871"/>
            <a:ext cx="2645106" cy="9248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9500" dirty="0">
                <a:solidFill>
                  <a:srgbClr val="A57D55">
                    <a:alpha val="70000"/>
                  </a:srgb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2</a:t>
            </a:r>
            <a:endParaRPr lang="zh-CN" altLang="en-US" sz="59500" dirty="0">
              <a:solidFill>
                <a:srgbClr val="A57D55">
                  <a:alpha val="70000"/>
                </a:srgb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21" name="任意多边形 20"/>
          <p:cNvSpPr/>
          <p:nvPr/>
        </p:nvSpPr>
        <p:spPr>
          <a:xfrm>
            <a:off x="0" y="981309"/>
            <a:ext cx="383831" cy="793766"/>
          </a:xfrm>
          <a:custGeom>
            <a:avLst/>
            <a:gdLst>
              <a:gd name="connsiteX0" fmla="*/ 0 w 383831"/>
              <a:gd name="connsiteY0" fmla="*/ 0 h 793766"/>
              <a:gd name="connsiteX1" fmla="*/ 65765 w 383831"/>
              <a:gd name="connsiteY1" fmla="*/ 6630 h 793766"/>
              <a:gd name="connsiteX2" fmla="*/ 383831 w 383831"/>
              <a:gd name="connsiteY2" fmla="*/ 396883 h 793766"/>
              <a:gd name="connsiteX3" fmla="*/ 65765 w 383831"/>
              <a:gd name="connsiteY3" fmla="*/ 787136 h 793766"/>
              <a:gd name="connsiteX4" fmla="*/ 0 w 383831"/>
              <a:gd name="connsiteY4" fmla="*/ 793766 h 793766"/>
              <a:gd name="connsiteX5" fmla="*/ 0 w 383831"/>
              <a:gd name="connsiteY5" fmla="*/ 0 h 793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3831" h="793766">
                <a:moveTo>
                  <a:pt x="0" y="0"/>
                </a:moveTo>
                <a:lnTo>
                  <a:pt x="65765" y="6630"/>
                </a:lnTo>
                <a:cubicBezTo>
                  <a:pt x="247285" y="43774"/>
                  <a:pt x="383831" y="204383"/>
                  <a:pt x="383831" y="396883"/>
                </a:cubicBezTo>
                <a:cubicBezTo>
                  <a:pt x="383831" y="589383"/>
                  <a:pt x="247285" y="749992"/>
                  <a:pt x="65765" y="787136"/>
                </a:cubicBezTo>
                <a:lnTo>
                  <a:pt x="0" y="793766"/>
                </a:lnTo>
                <a:lnTo>
                  <a:pt x="0" y="0"/>
                </a:lnTo>
                <a:close/>
              </a:path>
            </a:pathLst>
          </a:custGeom>
          <a:solidFill>
            <a:srgbClr val="A57D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 rot="1214604">
            <a:off x="2783567" y="-1744275"/>
            <a:ext cx="2645106" cy="9248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9500" dirty="0">
                <a:solidFill>
                  <a:srgbClr val="A57D55">
                    <a:alpha val="50000"/>
                  </a:srgb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2</a:t>
            </a:r>
            <a:endParaRPr lang="zh-CN" altLang="en-US" sz="59500" dirty="0">
              <a:solidFill>
                <a:srgbClr val="A57D55">
                  <a:alpha val="50000"/>
                </a:srgb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 rot="1214604">
            <a:off x="3694223" y="-1556680"/>
            <a:ext cx="2645106" cy="9248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9500" dirty="0">
                <a:solidFill>
                  <a:srgbClr val="A57D55">
                    <a:alpha val="30000"/>
                  </a:srgb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2</a:t>
            </a:r>
            <a:endParaRPr lang="zh-CN" altLang="en-US" sz="59500" dirty="0">
              <a:solidFill>
                <a:srgbClr val="A57D55">
                  <a:alpha val="30000"/>
                </a:srgb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 rot="1214604">
            <a:off x="4696791" y="-1257589"/>
            <a:ext cx="2645106" cy="9248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9500" dirty="0">
                <a:solidFill>
                  <a:srgbClr val="A57D55">
                    <a:alpha val="10000"/>
                  </a:srgb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2</a:t>
            </a:r>
            <a:endParaRPr lang="zh-CN" altLang="en-US" sz="59500" dirty="0">
              <a:solidFill>
                <a:srgbClr val="A57D55">
                  <a:alpha val="10000"/>
                </a:srgb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8429" y="847839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>
                <a:solidFill>
                  <a:srgbClr val="A57D55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defRPr>
            </a:lvl1pPr>
          </a:lstStyle>
          <a:p>
            <a:r>
              <a:rPr lang="zh-CN" altLang="en-US" b="1" dirty="0"/>
              <a:t>诚信之道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4632" y="4180114"/>
            <a:ext cx="12192001" cy="2815772"/>
            <a:chOff x="-1" y="3822582"/>
            <a:chExt cx="12192001" cy="3035417"/>
          </a:xfrm>
        </p:grpSpPr>
        <p:sp>
          <p:nvSpPr>
            <p:cNvPr id="19" name="矩形 18"/>
            <p:cNvSpPr/>
            <p:nvPr/>
          </p:nvSpPr>
          <p:spPr>
            <a:xfrm>
              <a:off x="-1" y="4256880"/>
              <a:ext cx="12192001" cy="26011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>
              <a:off x="737586" y="3822582"/>
              <a:ext cx="796015" cy="59818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94902" y="4771198"/>
            <a:ext cx="616703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ebdings" panose="05030102010509060703" pitchFamily="18" charset="2"/>
              <a:buChar char=""/>
            </a:pPr>
            <a:r>
              <a:rPr lang="zh-CN" altLang="en-US" sz="2800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</a:t>
            </a:r>
            <a:r>
              <a:rPr lang="zh-CN" altLang="en-US" sz="2800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确保人们之间的</a:t>
            </a:r>
            <a:r>
              <a:rPr lang="zh-CN" altLang="en-US" sz="2800" b="1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相互信任</a:t>
            </a:r>
            <a:endParaRPr lang="en-US" altLang="zh-CN" sz="2800" b="1" dirty="0" smtClean="0">
              <a:solidFill>
                <a:srgbClr val="A57D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ebdings" panose="05030102010509060703" pitchFamily="18" charset="2"/>
              <a:buChar char=""/>
            </a:pPr>
            <a:r>
              <a:rPr lang="zh-CN" altLang="en-US" sz="2800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</a:t>
            </a:r>
            <a:r>
              <a:rPr lang="zh-CN" altLang="en-US" sz="2800" b="1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商业交易</a:t>
            </a:r>
            <a:r>
              <a:rPr lang="zh-CN" altLang="en-US" sz="2800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都包含有</a:t>
            </a:r>
            <a:r>
              <a:rPr lang="zh-CN" altLang="en-US" sz="2800" b="1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诚信</a:t>
            </a:r>
            <a:r>
              <a:rPr lang="zh-CN" altLang="en-US" sz="2800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800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要素</a:t>
            </a:r>
            <a:endParaRPr lang="zh-CN" altLang="en-US" sz="2800" dirty="0">
              <a:solidFill>
                <a:srgbClr val="A57D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241870" y="4749349"/>
            <a:ext cx="6167034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ebdings" panose="05030102010509060703" pitchFamily="18" charset="2"/>
              <a:buChar char=""/>
            </a:pPr>
            <a:r>
              <a:rPr lang="zh-CN" altLang="en-US" sz="2800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维护</a:t>
            </a:r>
            <a:r>
              <a:rPr lang="zh-CN" altLang="en-US" sz="2800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诚信的</a:t>
            </a:r>
            <a:r>
              <a:rPr lang="zh-CN" altLang="en-US" sz="2800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方法：</a:t>
            </a:r>
            <a:endParaRPr lang="en-US" altLang="zh-CN" sz="2800" dirty="0" smtClean="0">
              <a:solidFill>
                <a:srgbClr val="A57D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微软雅黑" panose="020B0503020204020204" pitchFamily="34" charset="-122"/>
              <a:buChar char="−"/>
            </a:pPr>
            <a:r>
              <a:rPr lang="zh-CN" altLang="en-US" sz="2000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正式：</a:t>
            </a:r>
            <a:r>
              <a:rPr lang="zh-CN" altLang="en-US" sz="2000" b="1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法律制度</a:t>
            </a:r>
            <a:endParaRPr lang="en-US" altLang="zh-CN" sz="2000" b="1" dirty="0" smtClean="0">
              <a:solidFill>
                <a:srgbClr val="A57D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微软雅黑" panose="020B0503020204020204" pitchFamily="34" charset="-122"/>
              <a:buChar char="−"/>
            </a:pPr>
            <a:r>
              <a:rPr lang="zh-CN" altLang="en-US" sz="2000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非正式：</a:t>
            </a:r>
            <a:r>
              <a:rPr lang="zh-CN" altLang="en-US" sz="2000" b="1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信誉机制</a:t>
            </a:r>
            <a:endParaRPr lang="en-US" altLang="zh-CN" sz="2000" b="1" dirty="0">
              <a:solidFill>
                <a:srgbClr val="A57D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1536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C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 rot="1214604">
            <a:off x="1445112" y="-1957892"/>
            <a:ext cx="2645106" cy="9248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9500" dirty="0" smtClean="0">
                <a:solidFill>
                  <a:srgbClr val="A57D55">
                    <a:alpha val="70000"/>
                  </a:srgb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3</a:t>
            </a:r>
            <a:endParaRPr lang="zh-CN" altLang="en-US" sz="59500" dirty="0">
              <a:solidFill>
                <a:srgbClr val="A57D55">
                  <a:alpha val="70000"/>
                </a:srgb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21" name="任意多边形 20"/>
          <p:cNvSpPr/>
          <p:nvPr/>
        </p:nvSpPr>
        <p:spPr>
          <a:xfrm>
            <a:off x="0" y="981309"/>
            <a:ext cx="383831" cy="793766"/>
          </a:xfrm>
          <a:custGeom>
            <a:avLst/>
            <a:gdLst>
              <a:gd name="connsiteX0" fmla="*/ 0 w 383831"/>
              <a:gd name="connsiteY0" fmla="*/ 0 h 793766"/>
              <a:gd name="connsiteX1" fmla="*/ 65765 w 383831"/>
              <a:gd name="connsiteY1" fmla="*/ 6630 h 793766"/>
              <a:gd name="connsiteX2" fmla="*/ 383831 w 383831"/>
              <a:gd name="connsiteY2" fmla="*/ 396883 h 793766"/>
              <a:gd name="connsiteX3" fmla="*/ 65765 w 383831"/>
              <a:gd name="connsiteY3" fmla="*/ 787136 h 793766"/>
              <a:gd name="connsiteX4" fmla="*/ 0 w 383831"/>
              <a:gd name="connsiteY4" fmla="*/ 793766 h 793766"/>
              <a:gd name="connsiteX5" fmla="*/ 0 w 383831"/>
              <a:gd name="connsiteY5" fmla="*/ 0 h 793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3831" h="793766">
                <a:moveTo>
                  <a:pt x="0" y="0"/>
                </a:moveTo>
                <a:lnTo>
                  <a:pt x="65765" y="6630"/>
                </a:lnTo>
                <a:cubicBezTo>
                  <a:pt x="247285" y="43774"/>
                  <a:pt x="383831" y="204383"/>
                  <a:pt x="383831" y="396883"/>
                </a:cubicBezTo>
                <a:cubicBezTo>
                  <a:pt x="383831" y="589383"/>
                  <a:pt x="247285" y="749992"/>
                  <a:pt x="65765" y="787136"/>
                </a:cubicBezTo>
                <a:lnTo>
                  <a:pt x="0" y="793766"/>
                </a:lnTo>
                <a:lnTo>
                  <a:pt x="0" y="0"/>
                </a:lnTo>
                <a:close/>
              </a:path>
            </a:pathLst>
          </a:custGeom>
          <a:solidFill>
            <a:srgbClr val="A57D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 rot="1214604">
            <a:off x="2755288" y="-1687480"/>
            <a:ext cx="2645106" cy="9248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9500" dirty="0" smtClean="0">
                <a:solidFill>
                  <a:srgbClr val="A57D55">
                    <a:alpha val="50000"/>
                  </a:srgb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3</a:t>
            </a:r>
            <a:endParaRPr lang="zh-CN" altLang="en-US" sz="59500" dirty="0">
              <a:solidFill>
                <a:srgbClr val="A57D55">
                  <a:alpha val="50000"/>
                </a:srgb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 rot="1214604">
            <a:off x="3793992" y="-1376646"/>
            <a:ext cx="2645106" cy="9248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9500" dirty="0">
                <a:solidFill>
                  <a:srgbClr val="A57D55">
                    <a:alpha val="30000"/>
                  </a:srgb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3</a:t>
            </a:r>
            <a:endParaRPr lang="zh-CN" altLang="en-US" sz="59500" dirty="0">
              <a:solidFill>
                <a:srgbClr val="A57D55">
                  <a:alpha val="30000"/>
                </a:srgb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 rot="1214604">
            <a:off x="4778080" y="-1065813"/>
            <a:ext cx="2645106" cy="9248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9500" dirty="0">
                <a:solidFill>
                  <a:srgbClr val="A57D55">
                    <a:alpha val="10000"/>
                  </a:srgb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3</a:t>
            </a:r>
            <a:endParaRPr lang="zh-CN" altLang="en-US" sz="59500" dirty="0">
              <a:solidFill>
                <a:srgbClr val="A57D55">
                  <a:alpha val="10000"/>
                </a:srgb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6391" y="851745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>
                <a:solidFill>
                  <a:srgbClr val="A57D55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defRPr>
            </a:lvl1pPr>
          </a:lstStyle>
          <a:p>
            <a:r>
              <a:rPr lang="zh-CN" altLang="en-US" b="1" dirty="0"/>
              <a:t>竞争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4632" y="3936930"/>
            <a:ext cx="12192001" cy="3058956"/>
            <a:chOff x="-1" y="3822582"/>
            <a:chExt cx="12192001" cy="3035417"/>
          </a:xfrm>
        </p:grpSpPr>
        <p:sp>
          <p:nvSpPr>
            <p:cNvPr id="4" name="矩形 3"/>
            <p:cNvSpPr/>
            <p:nvPr/>
          </p:nvSpPr>
          <p:spPr>
            <a:xfrm>
              <a:off x="-1" y="4256880"/>
              <a:ext cx="12192001" cy="26011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等腰三角形 18"/>
            <p:cNvSpPr/>
            <p:nvPr/>
          </p:nvSpPr>
          <p:spPr>
            <a:xfrm>
              <a:off x="737586" y="3822582"/>
              <a:ext cx="796015" cy="59818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411110" y="4439023"/>
            <a:ext cx="5262979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ebdings" panose="05030102010509060703" pitchFamily="18" charset="2"/>
              <a:buChar char=""/>
            </a:pPr>
            <a:r>
              <a:rPr lang="zh-CN" altLang="en-US" sz="2800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r>
              <a:rPr lang="zh-CN" altLang="en-US" sz="2800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良好的竞争</a:t>
            </a:r>
            <a:r>
              <a:rPr lang="zh-CN" altLang="en-US" sz="2800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机制</a:t>
            </a:r>
            <a:endParaRPr lang="en-US" altLang="zh-CN" sz="2800" dirty="0" smtClean="0">
              <a:solidFill>
                <a:srgbClr val="A57D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微软雅黑" panose="020B0503020204020204" pitchFamily="34" charset="-122"/>
              <a:buChar char="−"/>
            </a:pPr>
            <a:r>
              <a:rPr lang="zh-CN" altLang="en-US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讨价还价：传统的竞争机制</a:t>
            </a:r>
          </a:p>
          <a:p>
            <a:pPr marL="914400" lvl="1" indent="-457200">
              <a:lnSpc>
                <a:spcPct val="150000"/>
              </a:lnSpc>
              <a:buFont typeface="微软雅黑" panose="020B0503020204020204" pitchFamily="34" charset="-122"/>
              <a:buChar char="−"/>
            </a:pPr>
            <a:r>
              <a:rPr lang="zh-CN" altLang="en-US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最优报价</a:t>
            </a:r>
          </a:p>
          <a:p>
            <a:pPr marL="914400" lvl="1" indent="-457200">
              <a:lnSpc>
                <a:spcPct val="150000"/>
              </a:lnSpc>
              <a:buFont typeface="微软雅黑" panose="020B0503020204020204" pitchFamily="34" charset="-122"/>
              <a:buChar char="−"/>
            </a:pPr>
            <a:r>
              <a:rPr lang="zh-CN" altLang="en-US" b="1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竟价买卖（拍卖）</a:t>
            </a:r>
            <a:r>
              <a:rPr lang="zh-CN" altLang="en-US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：当下流行的竞争机制</a:t>
            </a:r>
          </a:p>
          <a:p>
            <a:pPr marL="914400" lvl="1" indent="-457200">
              <a:lnSpc>
                <a:spcPct val="150000"/>
              </a:lnSpc>
              <a:buFont typeface="微软雅黑" panose="020B0503020204020204" pitchFamily="34" charset="-122"/>
              <a:buChar char="−"/>
            </a:pPr>
            <a:r>
              <a:rPr lang="zh-CN" altLang="en-US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个性化的交易：</a:t>
            </a:r>
            <a:r>
              <a:rPr lang="zh-CN" altLang="en-US" b="1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电子商务</a:t>
            </a:r>
            <a:endParaRPr lang="zh-CN" altLang="en-US" b="1" dirty="0">
              <a:solidFill>
                <a:srgbClr val="A57D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80567" y="4439023"/>
            <a:ext cx="531427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ebdings" panose="05030102010509060703" pitchFamily="18" charset="2"/>
              <a:buChar char=""/>
            </a:pPr>
            <a:r>
              <a:rPr lang="zh-CN" altLang="en-US" sz="2800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en-US" sz="2800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积极的竞争创造良好的</a:t>
            </a:r>
            <a:r>
              <a:rPr lang="zh-CN" altLang="en-US" sz="2800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环境</a:t>
            </a:r>
            <a:endParaRPr lang="en-US" altLang="zh-CN" sz="2800" dirty="0" smtClean="0">
              <a:solidFill>
                <a:srgbClr val="A57D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微软雅黑" panose="020B0503020204020204" pitchFamily="34" charset="-122"/>
              <a:buChar char="−"/>
            </a:pPr>
            <a:r>
              <a:rPr lang="zh-CN" altLang="en-US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更多的竞争将会带来更低的价格</a:t>
            </a:r>
          </a:p>
          <a:p>
            <a:pPr marL="914400" lvl="1" indent="-457200">
              <a:lnSpc>
                <a:spcPct val="150000"/>
              </a:lnSpc>
              <a:buFont typeface="微软雅黑" panose="020B0503020204020204" pitchFamily="34" charset="-122"/>
              <a:buChar char="−"/>
            </a:pPr>
            <a:r>
              <a:rPr lang="zh-CN" altLang="en-US" b="1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竞争是可以被释放出来</a:t>
            </a:r>
            <a:r>
              <a:rPr lang="zh-CN" altLang="en-US" b="1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en-US" altLang="zh-CN" b="1" dirty="0" smtClean="0">
              <a:solidFill>
                <a:srgbClr val="A57D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2099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C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 20"/>
          <p:cNvSpPr/>
          <p:nvPr/>
        </p:nvSpPr>
        <p:spPr>
          <a:xfrm>
            <a:off x="0" y="981309"/>
            <a:ext cx="383831" cy="793766"/>
          </a:xfrm>
          <a:custGeom>
            <a:avLst/>
            <a:gdLst>
              <a:gd name="connsiteX0" fmla="*/ 0 w 383831"/>
              <a:gd name="connsiteY0" fmla="*/ 0 h 793766"/>
              <a:gd name="connsiteX1" fmla="*/ 65765 w 383831"/>
              <a:gd name="connsiteY1" fmla="*/ 6630 h 793766"/>
              <a:gd name="connsiteX2" fmla="*/ 383831 w 383831"/>
              <a:gd name="connsiteY2" fmla="*/ 396883 h 793766"/>
              <a:gd name="connsiteX3" fmla="*/ 65765 w 383831"/>
              <a:gd name="connsiteY3" fmla="*/ 787136 h 793766"/>
              <a:gd name="connsiteX4" fmla="*/ 0 w 383831"/>
              <a:gd name="connsiteY4" fmla="*/ 793766 h 793766"/>
              <a:gd name="connsiteX5" fmla="*/ 0 w 383831"/>
              <a:gd name="connsiteY5" fmla="*/ 0 h 793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3831" h="793766">
                <a:moveTo>
                  <a:pt x="0" y="0"/>
                </a:moveTo>
                <a:lnTo>
                  <a:pt x="65765" y="6630"/>
                </a:lnTo>
                <a:cubicBezTo>
                  <a:pt x="247285" y="43774"/>
                  <a:pt x="383831" y="204383"/>
                  <a:pt x="383831" y="396883"/>
                </a:cubicBezTo>
                <a:cubicBezTo>
                  <a:pt x="383831" y="589383"/>
                  <a:pt x="247285" y="749992"/>
                  <a:pt x="65765" y="787136"/>
                </a:cubicBezTo>
                <a:lnTo>
                  <a:pt x="0" y="793766"/>
                </a:lnTo>
                <a:lnTo>
                  <a:pt x="0" y="0"/>
                </a:lnTo>
                <a:close/>
              </a:path>
            </a:pathLst>
          </a:custGeom>
          <a:solidFill>
            <a:srgbClr val="A57D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701441" y="851745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>
                <a:solidFill>
                  <a:srgbClr val="A57D55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defRPr>
            </a:lvl1pPr>
          </a:lstStyle>
          <a:p>
            <a:r>
              <a:rPr lang="zh-CN" altLang="en-US" b="1" dirty="0"/>
              <a:t>产权保护</a:t>
            </a:r>
          </a:p>
        </p:txBody>
      </p:sp>
      <p:sp>
        <p:nvSpPr>
          <p:cNvPr id="18" name="文本框 17"/>
          <p:cNvSpPr txBox="1"/>
          <p:nvPr/>
        </p:nvSpPr>
        <p:spPr>
          <a:xfrm rot="1214604">
            <a:off x="2219812" y="-1821815"/>
            <a:ext cx="2645106" cy="9248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9500" dirty="0" smtClean="0">
                <a:solidFill>
                  <a:srgbClr val="A57D55">
                    <a:alpha val="50000"/>
                  </a:srgb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4</a:t>
            </a:r>
            <a:endParaRPr lang="zh-CN" altLang="en-US" sz="59500" dirty="0">
              <a:solidFill>
                <a:srgbClr val="A57D55">
                  <a:alpha val="50000"/>
                </a:srgb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 rot="1214604">
            <a:off x="883934" y="-2219110"/>
            <a:ext cx="2645106" cy="9248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9500" dirty="0" smtClean="0">
                <a:solidFill>
                  <a:srgbClr val="A57D55">
                    <a:alpha val="70000"/>
                  </a:srgb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4</a:t>
            </a:r>
            <a:endParaRPr lang="zh-CN" altLang="en-US" sz="59500" dirty="0">
              <a:solidFill>
                <a:srgbClr val="A57D55">
                  <a:alpha val="70000"/>
                </a:srgb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 rot="1214604">
            <a:off x="3615788" y="-1376646"/>
            <a:ext cx="2645106" cy="9248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9500" dirty="0" smtClean="0">
                <a:solidFill>
                  <a:srgbClr val="A57D55">
                    <a:alpha val="30000"/>
                  </a:srgb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4</a:t>
            </a:r>
            <a:endParaRPr lang="zh-CN" altLang="en-US" sz="59500" dirty="0">
              <a:solidFill>
                <a:srgbClr val="A57D55">
                  <a:alpha val="30000"/>
                </a:srgb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 rot="1214604">
            <a:off x="4735323" y="-931478"/>
            <a:ext cx="2645106" cy="9248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9500" dirty="0" smtClean="0">
                <a:solidFill>
                  <a:srgbClr val="A57D55">
                    <a:alpha val="10000"/>
                  </a:srgb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4</a:t>
            </a:r>
            <a:endParaRPr lang="zh-CN" altLang="en-US" sz="59500" dirty="0">
              <a:solidFill>
                <a:srgbClr val="A57D55">
                  <a:alpha val="10000"/>
                </a:srgb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632" y="3615329"/>
            <a:ext cx="12192001" cy="3380557"/>
            <a:chOff x="-1" y="3822582"/>
            <a:chExt cx="12192001" cy="3035417"/>
          </a:xfrm>
        </p:grpSpPr>
        <p:sp>
          <p:nvSpPr>
            <p:cNvPr id="12" name="矩形 11"/>
            <p:cNvSpPr/>
            <p:nvPr/>
          </p:nvSpPr>
          <p:spPr>
            <a:xfrm>
              <a:off x="-1" y="4256880"/>
              <a:ext cx="12192001" cy="26011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>
              <a:off x="737586" y="3822582"/>
              <a:ext cx="796015" cy="59818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350113" y="4164995"/>
            <a:ext cx="5032147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ebdings" panose="05030102010509060703" pitchFamily="18" charset="2"/>
              <a:buChar char=""/>
            </a:pPr>
            <a:r>
              <a:rPr lang="zh-CN" altLang="en-US" sz="2800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所有权是必要的</a:t>
            </a:r>
            <a:endParaRPr lang="en-US" altLang="zh-CN" sz="2800" dirty="0" smtClean="0">
              <a:solidFill>
                <a:srgbClr val="A57D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微软雅黑" panose="020B0503020204020204" pitchFamily="34" charset="-122"/>
              <a:buChar char="−"/>
            </a:pPr>
            <a:r>
              <a:rPr lang="zh-CN" altLang="en-US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所有权包括</a:t>
            </a:r>
            <a:r>
              <a:rPr lang="zh-CN" altLang="en-US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b="1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剩余索取权、剩余处置权</a:t>
            </a:r>
            <a:endParaRPr lang="en-US" altLang="zh-CN" b="1" dirty="0" smtClean="0">
              <a:solidFill>
                <a:srgbClr val="A57D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微软雅黑" panose="020B0503020204020204" pitchFamily="34" charset="-122"/>
              <a:buChar char="−"/>
            </a:pPr>
            <a:r>
              <a:rPr lang="zh-CN" altLang="en-US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所有权</a:t>
            </a:r>
            <a:r>
              <a:rPr lang="zh-CN" altLang="en-US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激励人们积极的</a:t>
            </a:r>
            <a:r>
              <a:rPr lang="zh-CN" altLang="en-US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</a:t>
            </a:r>
            <a:endParaRPr lang="zh-CN" altLang="en-US" dirty="0">
              <a:solidFill>
                <a:srgbClr val="A57D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微软雅黑" panose="020B0503020204020204" pitchFamily="34" charset="-122"/>
              <a:buChar char="−"/>
            </a:pPr>
            <a:r>
              <a:rPr lang="zh-CN" altLang="en-US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所有权是一种</a:t>
            </a:r>
            <a:r>
              <a:rPr lang="zh-CN" altLang="en-US" b="1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处理意外情况</a:t>
            </a:r>
            <a:r>
              <a:rPr lang="zh-CN" altLang="en-US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的社会</a:t>
            </a:r>
            <a:r>
              <a:rPr lang="zh-CN" altLang="en-US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endParaRPr lang="zh-CN" altLang="en-US" dirty="0">
              <a:solidFill>
                <a:srgbClr val="A57D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微软雅黑" panose="020B0503020204020204" pitchFamily="34" charset="-122"/>
              <a:buChar char="−"/>
            </a:pPr>
            <a:r>
              <a:rPr lang="zh-CN" altLang="en-US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所有权</a:t>
            </a:r>
            <a:r>
              <a:rPr lang="zh-CN" altLang="en-US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带来的</a:t>
            </a:r>
            <a:r>
              <a:rPr lang="zh-CN" altLang="en-US" b="1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激励</a:t>
            </a:r>
            <a:r>
              <a:rPr lang="zh-CN" altLang="en-US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b="1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无限</a:t>
            </a:r>
            <a:r>
              <a:rPr lang="zh-CN" altLang="en-US" b="1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zh-CN" altLang="en-US" b="1" dirty="0">
              <a:solidFill>
                <a:srgbClr val="A57D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595604" y="4164995"/>
            <a:ext cx="6493192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ebdings" panose="05030102010509060703" pitchFamily="18" charset="2"/>
              <a:buChar char=""/>
            </a:pPr>
            <a:r>
              <a:rPr lang="zh-CN" altLang="en-US" sz="2800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政府对产权的保护</a:t>
            </a:r>
            <a:endParaRPr lang="en-US" altLang="zh-CN" sz="2800" dirty="0" smtClean="0">
              <a:solidFill>
                <a:srgbClr val="A57D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微软雅黑" panose="020B0503020204020204" pitchFamily="34" charset="-122"/>
              <a:buChar char="−"/>
            </a:pPr>
            <a:r>
              <a:rPr lang="zh-CN" altLang="en-US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方式：</a:t>
            </a:r>
            <a:r>
              <a:rPr lang="zh-CN" altLang="en-US" b="1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专利、版权、商标</a:t>
            </a:r>
            <a:endParaRPr lang="en-US" altLang="zh-CN" b="1" dirty="0" smtClean="0">
              <a:solidFill>
                <a:srgbClr val="A57D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微软雅黑" panose="020B0503020204020204" pitchFamily="34" charset="-122"/>
              <a:buChar char="−"/>
            </a:pPr>
            <a:r>
              <a:rPr lang="zh-CN" altLang="en-US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界定财产权利，以及建立保护和执行产权的有关</a:t>
            </a:r>
            <a:r>
              <a:rPr lang="zh-CN" altLang="en-US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机制</a:t>
            </a:r>
            <a:endParaRPr lang="zh-CN" altLang="en-US" dirty="0">
              <a:solidFill>
                <a:srgbClr val="A57D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微软雅黑" panose="020B0503020204020204" pitchFamily="34" charset="-122"/>
              <a:buChar char="−"/>
            </a:pPr>
            <a:r>
              <a:rPr lang="zh-CN" altLang="en-US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保护</a:t>
            </a:r>
            <a:r>
              <a:rPr lang="zh-CN" altLang="en-US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知识产权要</a:t>
            </a:r>
            <a:r>
              <a:rPr lang="zh-CN" altLang="en-US" b="1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视情况而定</a:t>
            </a:r>
            <a:r>
              <a:rPr lang="zh-CN" altLang="en-US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既要奖励创新的</a:t>
            </a:r>
            <a:r>
              <a:rPr lang="zh-CN" altLang="en-US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发明者，</a:t>
            </a:r>
            <a:r>
              <a:rPr lang="zh-CN" altLang="en-US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又要允许创新思维的充分运用</a:t>
            </a:r>
          </a:p>
          <a:p>
            <a:pPr marL="914400" lvl="1" indent="-457200">
              <a:lnSpc>
                <a:spcPct val="150000"/>
              </a:lnSpc>
              <a:buFont typeface="微软雅黑" panose="020B0503020204020204" pitchFamily="34" charset="-122"/>
              <a:buChar char="−"/>
            </a:pPr>
            <a:endParaRPr lang="zh-CN" altLang="en-US" dirty="0">
              <a:solidFill>
                <a:srgbClr val="A57D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微软雅黑" panose="020B0503020204020204" pitchFamily="34" charset="-122"/>
              <a:buChar char="−"/>
            </a:pPr>
            <a:endParaRPr lang="zh-CN" altLang="en-US" dirty="0">
              <a:solidFill>
                <a:srgbClr val="A57D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微软雅黑" panose="020B0503020204020204" pitchFamily="34" charset="-122"/>
              <a:buChar char="−"/>
            </a:pPr>
            <a:endParaRPr lang="en-US" altLang="zh-CN" dirty="0" smtClean="0">
              <a:solidFill>
                <a:srgbClr val="A57D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42946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C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 rot="1214604">
            <a:off x="1479908" y="-1744276"/>
            <a:ext cx="2645106" cy="9248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9500" dirty="0">
                <a:solidFill>
                  <a:srgbClr val="A57D55">
                    <a:alpha val="70000"/>
                  </a:srgb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5</a:t>
            </a:r>
            <a:endParaRPr lang="zh-CN" altLang="en-US" sz="59500" dirty="0">
              <a:solidFill>
                <a:srgbClr val="A57D55">
                  <a:alpha val="70000"/>
                </a:srgb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21" name="任意多边形 20"/>
          <p:cNvSpPr/>
          <p:nvPr/>
        </p:nvSpPr>
        <p:spPr>
          <a:xfrm>
            <a:off x="0" y="981309"/>
            <a:ext cx="383831" cy="793766"/>
          </a:xfrm>
          <a:custGeom>
            <a:avLst/>
            <a:gdLst>
              <a:gd name="connsiteX0" fmla="*/ 0 w 383831"/>
              <a:gd name="connsiteY0" fmla="*/ 0 h 793766"/>
              <a:gd name="connsiteX1" fmla="*/ 65765 w 383831"/>
              <a:gd name="connsiteY1" fmla="*/ 6630 h 793766"/>
              <a:gd name="connsiteX2" fmla="*/ 383831 w 383831"/>
              <a:gd name="connsiteY2" fmla="*/ 396883 h 793766"/>
              <a:gd name="connsiteX3" fmla="*/ 65765 w 383831"/>
              <a:gd name="connsiteY3" fmla="*/ 787136 h 793766"/>
              <a:gd name="connsiteX4" fmla="*/ 0 w 383831"/>
              <a:gd name="connsiteY4" fmla="*/ 793766 h 793766"/>
              <a:gd name="connsiteX5" fmla="*/ 0 w 383831"/>
              <a:gd name="connsiteY5" fmla="*/ 0 h 793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3831" h="793766">
                <a:moveTo>
                  <a:pt x="0" y="0"/>
                </a:moveTo>
                <a:lnTo>
                  <a:pt x="65765" y="6630"/>
                </a:lnTo>
                <a:cubicBezTo>
                  <a:pt x="247285" y="43774"/>
                  <a:pt x="383831" y="204383"/>
                  <a:pt x="383831" y="396883"/>
                </a:cubicBezTo>
                <a:cubicBezTo>
                  <a:pt x="383831" y="589383"/>
                  <a:pt x="247285" y="749992"/>
                  <a:pt x="65765" y="787136"/>
                </a:cubicBezTo>
                <a:lnTo>
                  <a:pt x="0" y="793766"/>
                </a:lnTo>
                <a:lnTo>
                  <a:pt x="0" y="0"/>
                </a:lnTo>
                <a:close/>
              </a:path>
            </a:pathLst>
          </a:custGeom>
          <a:solidFill>
            <a:srgbClr val="A57D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11239" y="851745"/>
            <a:ext cx="50321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>
                <a:solidFill>
                  <a:srgbClr val="B5926F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defRPr>
            </a:lvl1pPr>
          </a:lstStyle>
          <a:p>
            <a:r>
              <a:rPr lang="zh-CN" altLang="en-US" b="1" dirty="0">
                <a:solidFill>
                  <a:srgbClr val="A57D55"/>
                </a:solidFill>
              </a:rPr>
              <a:t>考虑外部性因素</a:t>
            </a:r>
          </a:p>
        </p:txBody>
      </p:sp>
      <p:sp>
        <p:nvSpPr>
          <p:cNvPr id="13" name="文本框 12"/>
          <p:cNvSpPr txBox="1"/>
          <p:nvPr/>
        </p:nvSpPr>
        <p:spPr>
          <a:xfrm rot="1214604">
            <a:off x="2558003" y="-1376641"/>
            <a:ext cx="2645106" cy="9248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9500" dirty="0">
                <a:solidFill>
                  <a:srgbClr val="A57D55">
                    <a:alpha val="50000"/>
                  </a:srgb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5</a:t>
            </a:r>
            <a:endParaRPr lang="zh-CN" altLang="en-US" sz="59500" dirty="0">
              <a:solidFill>
                <a:srgbClr val="A57D55">
                  <a:alpha val="50000"/>
                </a:srgb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 rot="1214604">
            <a:off x="3636098" y="-1009009"/>
            <a:ext cx="2645106" cy="9248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9500" dirty="0">
                <a:solidFill>
                  <a:srgbClr val="A57D55">
                    <a:alpha val="30000"/>
                  </a:srgb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5</a:t>
            </a:r>
            <a:endParaRPr lang="zh-CN" altLang="en-US" sz="59500" dirty="0">
              <a:solidFill>
                <a:srgbClr val="A57D55">
                  <a:alpha val="30000"/>
                </a:srgb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 rot="1214604">
            <a:off x="4533167" y="-641377"/>
            <a:ext cx="2645106" cy="9248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9500" dirty="0">
                <a:solidFill>
                  <a:srgbClr val="A57D55">
                    <a:alpha val="10000"/>
                  </a:srgb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5</a:t>
            </a:r>
            <a:endParaRPr lang="zh-CN" altLang="en-US" sz="59500" dirty="0">
              <a:solidFill>
                <a:srgbClr val="A57D55">
                  <a:alpha val="10000"/>
                </a:srgb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632" y="4175440"/>
            <a:ext cx="12192001" cy="2820446"/>
            <a:chOff x="-1" y="3822582"/>
            <a:chExt cx="12192001" cy="3035417"/>
          </a:xfrm>
        </p:grpSpPr>
        <p:sp>
          <p:nvSpPr>
            <p:cNvPr id="17" name="矩形 16"/>
            <p:cNvSpPr/>
            <p:nvPr/>
          </p:nvSpPr>
          <p:spPr>
            <a:xfrm>
              <a:off x="-1" y="4256880"/>
              <a:ext cx="12192001" cy="26011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等腰三角形 17"/>
            <p:cNvSpPr/>
            <p:nvPr/>
          </p:nvSpPr>
          <p:spPr>
            <a:xfrm>
              <a:off x="737586" y="3822582"/>
              <a:ext cx="796015" cy="59818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611239" y="4684846"/>
            <a:ext cx="782778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ebdings" panose="05030102010509060703" pitchFamily="18" charset="2"/>
              <a:buChar char=""/>
            </a:pPr>
            <a:r>
              <a:rPr lang="zh-CN" altLang="en-US" sz="2800" b="1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</a:t>
            </a:r>
            <a:r>
              <a:rPr lang="zh-CN" altLang="en-US" sz="2800" b="1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</a:t>
            </a:r>
            <a:r>
              <a:rPr lang="zh-CN" altLang="en-US" sz="2800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：无意识的附带</a:t>
            </a:r>
            <a:r>
              <a:rPr lang="zh-CN" altLang="en-US" sz="2800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效应</a:t>
            </a:r>
            <a:endParaRPr lang="en-US" altLang="zh-CN" sz="2800" dirty="0" smtClean="0">
              <a:solidFill>
                <a:srgbClr val="A57D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ebdings" panose="05030102010509060703" pitchFamily="18" charset="2"/>
              <a:buChar char=""/>
            </a:pPr>
            <a:r>
              <a:rPr lang="zh-CN" altLang="en-US" sz="2800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有一些</a:t>
            </a:r>
            <a:r>
              <a:rPr lang="zh-CN" altLang="en-US" sz="2800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外部性可以通过</a:t>
            </a:r>
            <a:r>
              <a:rPr lang="zh-CN" altLang="en-US" sz="2800" b="1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界定和实现产权</a:t>
            </a:r>
            <a:r>
              <a:rPr lang="zh-CN" altLang="en-US" sz="2800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</a:t>
            </a:r>
            <a:r>
              <a:rPr lang="zh-CN" altLang="en-US" sz="2800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endParaRPr lang="en-US" altLang="zh-CN" sz="2800" dirty="0" smtClean="0">
              <a:solidFill>
                <a:srgbClr val="A57D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ebdings" panose="05030102010509060703" pitchFamily="18" charset="2"/>
              <a:buChar char=""/>
            </a:pPr>
            <a:r>
              <a:rPr lang="zh-CN" altLang="en-US" sz="2800" b="1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半</a:t>
            </a:r>
            <a:r>
              <a:rPr lang="zh-CN" altLang="en-US" sz="2800" b="1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自上而下、半自下而上</a:t>
            </a:r>
            <a:r>
              <a:rPr lang="zh-CN" altLang="en-US" sz="2800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的解决</a:t>
            </a:r>
            <a:r>
              <a:rPr lang="zh-CN" altLang="en-US" sz="2800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endParaRPr lang="zh-CN" altLang="en-US" sz="2800" dirty="0">
              <a:solidFill>
                <a:srgbClr val="A57D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1573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C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3487746" y="1400746"/>
            <a:ext cx="8291655" cy="2373621"/>
            <a:chOff x="3371631" y="1342689"/>
            <a:chExt cx="8291655" cy="2373621"/>
          </a:xfrm>
          <a:effectLst>
            <a:outerShdw blurRad="63500" algn="ctr" rotWithShape="0">
              <a:prstClr val="black">
                <a:alpha val="40000"/>
              </a:prstClr>
            </a:outerShdw>
          </a:effectLst>
        </p:grpSpPr>
        <p:sp>
          <p:nvSpPr>
            <p:cNvPr id="25" name="矩形 24"/>
            <p:cNvSpPr/>
            <p:nvPr/>
          </p:nvSpPr>
          <p:spPr>
            <a:xfrm>
              <a:off x="3371631" y="1342689"/>
              <a:ext cx="8291655" cy="20892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B5926F"/>
                </a:solidFill>
              </a:endParaRPr>
            </a:p>
          </p:txBody>
        </p:sp>
        <p:sp>
          <p:nvSpPr>
            <p:cNvPr id="26" name="等腰三角形 25"/>
            <p:cNvSpPr/>
            <p:nvPr/>
          </p:nvSpPr>
          <p:spPr>
            <a:xfrm rot="10800000">
              <a:off x="3905202" y="3118126"/>
              <a:ext cx="796015" cy="59818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流程图: 联系 17"/>
          <p:cNvSpPr/>
          <p:nvPr/>
        </p:nvSpPr>
        <p:spPr>
          <a:xfrm>
            <a:off x="-391705" y="-813697"/>
            <a:ext cx="3763336" cy="3763336"/>
          </a:xfrm>
          <a:prstGeom prst="flowChartConnector">
            <a:avLst/>
          </a:prstGeom>
          <a:solidFill>
            <a:srgbClr val="A57D5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77" y="-302394"/>
            <a:ext cx="2652252" cy="3125424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5443351" y="1807367"/>
            <a:ext cx="44454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 b="1">
                <a:solidFill>
                  <a:srgbClr val="A57D55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defRPr>
            </a:lvl1pPr>
          </a:lstStyle>
          <a:p>
            <a:r>
              <a:rPr lang="zh-CN" altLang="en-US" sz="6000" dirty="0" smtClean="0"/>
              <a:t>消 除 腐 败</a:t>
            </a:r>
            <a:endParaRPr lang="zh-CN" altLang="en-US" sz="6000" dirty="0"/>
          </a:p>
        </p:txBody>
      </p:sp>
      <p:grpSp>
        <p:nvGrpSpPr>
          <p:cNvPr id="20" name="组合 19"/>
          <p:cNvGrpSpPr/>
          <p:nvPr/>
        </p:nvGrpSpPr>
        <p:grpSpPr>
          <a:xfrm>
            <a:off x="3487745" y="3489970"/>
            <a:ext cx="8291655" cy="2388316"/>
            <a:chOff x="2550017" y="3335621"/>
            <a:chExt cx="8478586" cy="2388316"/>
          </a:xfrm>
        </p:grpSpPr>
        <p:grpSp>
          <p:nvGrpSpPr>
            <p:cNvPr id="21" name="组合 20"/>
            <p:cNvGrpSpPr/>
            <p:nvPr/>
          </p:nvGrpSpPr>
          <p:grpSpPr>
            <a:xfrm>
              <a:off x="2550017" y="3335621"/>
              <a:ext cx="8478586" cy="2388316"/>
              <a:chOff x="3039414" y="2534261"/>
              <a:chExt cx="8478586" cy="2388316"/>
            </a:xfrm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23" name="矩形 22"/>
              <p:cNvSpPr/>
              <p:nvPr/>
            </p:nvSpPr>
            <p:spPr>
              <a:xfrm>
                <a:off x="3039414" y="2833353"/>
                <a:ext cx="8478586" cy="208922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B5926F"/>
                  </a:solidFill>
                </a:endParaRPr>
              </a:p>
            </p:txBody>
          </p:sp>
          <p:sp>
            <p:nvSpPr>
              <p:cNvPr id="24" name="等腰三角形 23"/>
              <p:cNvSpPr/>
              <p:nvPr/>
            </p:nvSpPr>
            <p:spPr>
              <a:xfrm>
                <a:off x="9959440" y="2534261"/>
                <a:ext cx="813961" cy="598184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2" name="文本框 21"/>
            <p:cNvSpPr txBox="1"/>
            <p:nvPr/>
          </p:nvSpPr>
          <p:spPr>
            <a:xfrm>
              <a:off x="2715512" y="3802162"/>
              <a:ext cx="8214067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457200" indent="-457200">
                <a:lnSpc>
                  <a:spcPct val="150000"/>
                </a:lnSpc>
                <a:buFont typeface="Webdings" panose="05030102010509060703" pitchFamily="18" charset="2"/>
                <a:buChar char=""/>
              </a:pPr>
              <a:r>
                <a:rPr lang="zh-CN" altLang="en-US" sz="2400" b="1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腐败的危险之</a:t>
              </a:r>
              <a:r>
                <a:rPr lang="zh-CN" altLang="en-US" sz="2400" b="1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处：</a:t>
              </a:r>
              <a:r>
                <a:rPr lang="zh-CN" altLang="en-US" sz="2400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经济增长缓慢、市场失灵、民生凋敝</a:t>
              </a:r>
              <a:endParaRPr lang="en-US" altLang="zh-CN" sz="2400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457200" indent="-457200">
                <a:lnSpc>
                  <a:spcPct val="150000"/>
                </a:lnSpc>
                <a:buFont typeface="Webdings" panose="05030102010509060703" pitchFamily="18" charset="2"/>
                <a:buChar char=""/>
              </a:pPr>
              <a:r>
                <a:rPr lang="zh-CN" altLang="en-US" sz="2400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腐败</a:t>
              </a:r>
              <a:r>
                <a:rPr lang="zh-CN" altLang="en-US" sz="2400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程度越高，投资率和经济增长就越</a:t>
              </a:r>
              <a:r>
                <a:rPr lang="zh-CN" altLang="en-US" sz="2400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慢</a:t>
              </a:r>
              <a:endParaRPr lang="en-US" altLang="zh-CN" sz="2400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457200" indent="-457200">
                <a:lnSpc>
                  <a:spcPct val="150000"/>
                </a:lnSpc>
                <a:buFont typeface="Webdings" panose="05030102010509060703" pitchFamily="18" charset="2"/>
                <a:buChar char=""/>
              </a:pPr>
              <a:r>
                <a:rPr lang="zh-CN" altLang="en-US" sz="2400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适度</a:t>
              </a:r>
              <a:r>
                <a:rPr lang="zh-CN" altLang="en-US" sz="2400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有效的</a:t>
              </a:r>
              <a:r>
                <a:rPr lang="zh-CN" altLang="en-US" sz="2400" b="1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政府介入</a:t>
              </a:r>
              <a:r>
                <a:rPr lang="zh-CN" altLang="en-US" sz="2400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很有</a:t>
              </a:r>
              <a:r>
                <a:rPr lang="zh-CN" altLang="en-US" sz="2400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必要</a:t>
              </a:r>
              <a:endParaRPr lang="zh-CN" altLang="en-US" sz="2400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9273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C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3487746" y="1400746"/>
            <a:ext cx="8291655" cy="2373621"/>
            <a:chOff x="3371631" y="1342689"/>
            <a:chExt cx="8291655" cy="2373621"/>
          </a:xfrm>
          <a:effectLst>
            <a:outerShdw blurRad="63500" algn="ctr" rotWithShape="0">
              <a:prstClr val="black">
                <a:alpha val="40000"/>
              </a:prstClr>
            </a:outerShdw>
          </a:effectLst>
        </p:grpSpPr>
        <p:sp>
          <p:nvSpPr>
            <p:cNvPr id="25" name="矩形 24"/>
            <p:cNvSpPr/>
            <p:nvPr/>
          </p:nvSpPr>
          <p:spPr>
            <a:xfrm>
              <a:off x="3371631" y="1342689"/>
              <a:ext cx="8291655" cy="20892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B5926F"/>
                </a:solidFill>
              </a:endParaRPr>
            </a:p>
          </p:txBody>
        </p:sp>
        <p:sp>
          <p:nvSpPr>
            <p:cNvPr id="26" name="等腰三角形 25"/>
            <p:cNvSpPr/>
            <p:nvPr/>
          </p:nvSpPr>
          <p:spPr>
            <a:xfrm rot="10800000">
              <a:off x="3905202" y="3118126"/>
              <a:ext cx="796015" cy="59818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4828958" y="1816930"/>
            <a:ext cx="560922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 b="1">
                <a:solidFill>
                  <a:srgbClr val="A57D55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defRPr>
            </a:lvl1pPr>
          </a:lstStyle>
          <a:p>
            <a:r>
              <a:rPr lang="zh-CN" altLang="en-US" sz="6000" dirty="0" smtClean="0"/>
              <a:t>基 层 的 努 力</a:t>
            </a:r>
            <a:endParaRPr lang="zh-CN" altLang="en-US" sz="6000" dirty="0"/>
          </a:p>
        </p:txBody>
      </p:sp>
      <p:grpSp>
        <p:nvGrpSpPr>
          <p:cNvPr id="20" name="组合 19"/>
          <p:cNvGrpSpPr/>
          <p:nvPr/>
        </p:nvGrpSpPr>
        <p:grpSpPr>
          <a:xfrm>
            <a:off x="3487745" y="3489970"/>
            <a:ext cx="8291655" cy="2388316"/>
            <a:chOff x="2550017" y="3335621"/>
            <a:chExt cx="8478586" cy="2388316"/>
          </a:xfrm>
        </p:grpSpPr>
        <p:grpSp>
          <p:nvGrpSpPr>
            <p:cNvPr id="21" name="组合 20"/>
            <p:cNvGrpSpPr/>
            <p:nvPr/>
          </p:nvGrpSpPr>
          <p:grpSpPr>
            <a:xfrm>
              <a:off x="2550017" y="3335621"/>
              <a:ext cx="8478586" cy="2388316"/>
              <a:chOff x="3039414" y="2534261"/>
              <a:chExt cx="8478586" cy="2388316"/>
            </a:xfrm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23" name="矩形 22"/>
              <p:cNvSpPr/>
              <p:nvPr/>
            </p:nvSpPr>
            <p:spPr>
              <a:xfrm>
                <a:off x="3039414" y="2833353"/>
                <a:ext cx="8478586" cy="208922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B5926F"/>
                  </a:solidFill>
                </a:endParaRPr>
              </a:p>
            </p:txBody>
          </p:sp>
          <p:sp>
            <p:nvSpPr>
              <p:cNvPr id="24" name="等腰三角形 23"/>
              <p:cNvSpPr/>
              <p:nvPr/>
            </p:nvSpPr>
            <p:spPr>
              <a:xfrm>
                <a:off x="9959440" y="2534261"/>
                <a:ext cx="813961" cy="598184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2" name="文本框 21"/>
            <p:cNvSpPr txBox="1"/>
            <p:nvPr/>
          </p:nvSpPr>
          <p:spPr>
            <a:xfrm>
              <a:off x="2934457" y="3986827"/>
              <a:ext cx="6535586" cy="1384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457200" indent="-457200">
                <a:lnSpc>
                  <a:spcPct val="150000"/>
                </a:lnSpc>
                <a:buFont typeface="Webdings" panose="05030102010509060703" pitchFamily="18" charset="2"/>
                <a:buChar char=""/>
              </a:pPr>
              <a:r>
                <a:rPr lang="zh-CN" altLang="en-US" sz="2800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市场</a:t>
              </a:r>
              <a:r>
                <a:rPr lang="zh-CN" altLang="en-US" sz="2800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的智慧：市场的</a:t>
              </a:r>
              <a:r>
                <a:rPr lang="zh-CN" altLang="en-US" sz="2800" b="1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分权</a:t>
              </a:r>
              <a:r>
                <a:rPr lang="zh-CN" altLang="en-US" sz="2800" b="1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决策</a:t>
              </a:r>
              <a:endParaRPr lang="en-US" altLang="zh-CN" sz="2800" b="1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457200" indent="-457200">
                <a:lnSpc>
                  <a:spcPct val="150000"/>
                </a:lnSpc>
                <a:buFont typeface="Webdings" panose="05030102010509060703" pitchFamily="18" charset="2"/>
                <a:buChar char=""/>
              </a:pPr>
              <a:r>
                <a:rPr lang="zh-CN" altLang="en-US" sz="2800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平衡</a:t>
              </a:r>
              <a:r>
                <a:rPr lang="zh-CN" altLang="en-US" sz="2800" b="1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管理</a:t>
              </a:r>
              <a:r>
                <a:rPr lang="zh-CN" altLang="en-US" sz="2800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</a:t>
              </a:r>
              <a:r>
                <a:rPr lang="zh-CN" altLang="en-US" sz="2800" b="1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自治</a:t>
              </a:r>
              <a:r>
                <a:rPr lang="zh-CN" altLang="en-US" sz="2800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en-US" sz="2800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关系：</a:t>
              </a:r>
              <a:r>
                <a:rPr lang="zh-CN" altLang="en-US" sz="2800" b="1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政府</a:t>
              </a:r>
              <a:r>
                <a:rPr lang="zh-CN" altLang="en-US" sz="2800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</a:t>
              </a:r>
              <a:r>
                <a:rPr lang="zh-CN" altLang="en-US" sz="2800" b="1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市场</a:t>
              </a:r>
              <a:endParaRPr lang="zh-CN" altLang="en-US" sz="2800" b="1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210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C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3487746" y="1183031"/>
            <a:ext cx="8291655" cy="2373621"/>
            <a:chOff x="3371631" y="1342689"/>
            <a:chExt cx="8291655" cy="2373621"/>
          </a:xfrm>
          <a:effectLst>
            <a:outerShdw blurRad="63500" algn="ctr" rotWithShape="0">
              <a:prstClr val="black">
                <a:alpha val="40000"/>
              </a:prstClr>
            </a:outerShdw>
          </a:effectLst>
        </p:grpSpPr>
        <p:sp>
          <p:nvSpPr>
            <p:cNvPr id="25" name="矩形 24"/>
            <p:cNvSpPr/>
            <p:nvPr/>
          </p:nvSpPr>
          <p:spPr>
            <a:xfrm>
              <a:off x="3371631" y="1342689"/>
              <a:ext cx="8291655" cy="20892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B5926F"/>
                </a:solidFill>
              </a:endParaRPr>
            </a:p>
          </p:txBody>
        </p:sp>
        <p:sp>
          <p:nvSpPr>
            <p:cNvPr id="26" name="等腰三角形 25"/>
            <p:cNvSpPr/>
            <p:nvPr/>
          </p:nvSpPr>
          <p:spPr>
            <a:xfrm rot="10800000">
              <a:off x="3905202" y="3118126"/>
              <a:ext cx="796015" cy="59818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4828958" y="1719811"/>
            <a:ext cx="560922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 b="1">
                <a:solidFill>
                  <a:srgbClr val="A57D55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defRPr>
            </a:lvl1pPr>
          </a:lstStyle>
          <a:p>
            <a:r>
              <a:rPr lang="zh-CN" altLang="en-US" sz="6000" dirty="0" smtClean="0"/>
              <a:t>监 管 与 约 束</a:t>
            </a:r>
            <a:endParaRPr lang="zh-CN" altLang="en-US" sz="6000" dirty="0"/>
          </a:p>
        </p:txBody>
      </p:sp>
      <p:grpSp>
        <p:nvGrpSpPr>
          <p:cNvPr id="20" name="组合 19"/>
          <p:cNvGrpSpPr/>
          <p:nvPr/>
        </p:nvGrpSpPr>
        <p:grpSpPr>
          <a:xfrm>
            <a:off x="3487745" y="3272255"/>
            <a:ext cx="8291655" cy="2955692"/>
            <a:chOff x="2550017" y="3335621"/>
            <a:chExt cx="8478586" cy="2955692"/>
          </a:xfrm>
        </p:grpSpPr>
        <p:grpSp>
          <p:nvGrpSpPr>
            <p:cNvPr id="21" name="组合 20"/>
            <p:cNvGrpSpPr/>
            <p:nvPr/>
          </p:nvGrpSpPr>
          <p:grpSpPr>
            <a:xfrm>
              <a:off x="2550017" y="3335621"/>
              <a:ext cx="8478586" cy="2955692"/>
              <a:chOff x="3039414" y="2534261"/>
              <a:chExt cx="8478586" cy="2955692"/>
            </a:xfrm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23" name="矩形 22"/>
              <p:cNvSpPr/>
              <p:nvPr/>
            </p:nvSpPr>
            <p:spPr>
              <a:xfrm>
                <a:off x="3039414" y="2833353"/>
                <a:ext cx="8478586" cy="26566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B5926F"/>
                  </a:solidFill>
                </a:endParaRPr>
              </a:p>
            </p:txBody>
          </p:sp>
          <p:sp>
            <p:nvSpPr>
              <p:cNvPr id="24" name="等腰三角形 23"/>
              <p:cNvSpPr/>
              <p:nvPr/>
            </p:nvSpPr>
            <p:spPr>
              <a:xfrm>
                <a:off x="9959440" y="2534261"/>
                <a:ext cx="813961" cy="598184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2" name="文本框 21"/>
            <p:cNvSpPr txBox="1"/>
            <p:nvPr/>
          </p:nvSpPr>
          <p:spPr>
            <a:xfrm>
              <a:off x="2839633" y="3753451"/>
              <a:ext cx="7899352" cy="24191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457200" indent="-457200">
                <a:lnSpc>
                  <a:spcPct val="150000"/>
                </a:lnSpc>
                <a:buFont typeface="Webdings" panose="05030102010509060703" pitchFamily="18" charset="2"/>
                <a:buChar char=""/>
              </a:pPr>
              <a:r>
                <a:rPr lang="zh-CN" altLang="en-US" sz="2400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en-US" sz="2400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市场经济中，</a:t>
              </a:r>
              <a:r>
                <a:rPr lang="zh-CN" altLang="en-US" sz="2400" b="1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</a:t>
              </a:r>
              <a:r>
                <a:rPr lang="zh-CN" altLang="en-US" sz="2400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是最明显的</a:t>
              </a:r>
              <a:r>
                <a:rPr lang="zh-CN" altLang="en-US" sz="2400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标志</a:t>
              </a:r>
              <a:endParaRPr lang="en-US" altLang="zh-CN" sz="2400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914400" lvl="1" indent="-457200">
                <a:lnSpc>
                  <a:spcPct val="120000"/>
                </a:lnSpc>
                <a:buFontTx/>
                <a:buChar char="−"/>
              </a:pPr>
              <a:r>
                <a:rPr lang="zh-CN" altLang="en-US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小公司：</a:t>
              </a:r>
              <a:r>
                <a:rPr lang="zh-CN" altLang="en-US" b="1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私人所有权</a:t>
              </a:r>
            </a:p>
            <a:p>
              <a:pPr marL="914400" lvl="1" indent="-457200">
                <a:lnSpc>
                  <a:spcPct val="120000"/>
                </a:lnSpc>
                <a:buFontTx/>
                <a:buChar char="−"/>
              </a:pPr>
              <a:r>
                <a:rPr lang="zh-CN" altLang="en-US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大公司：</a:t>
              </a:r>
              <a:r>
                <a:rPr lang="zh-CN" altLang="en-US" b="1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所有权与管理权</a:t>
              </a:r>
              <a:r>
                <a:rPr lang="zh-CN" altLang="en-US" b="1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分离</a:t>
              </a:r>
              <a:endParaRPr lang="en-US" altLang="zh-CN" b="1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457200" indent="-457200">
                <a:lnSpc>
                  <a:spcPct val="150000"/>
                </a:lnSpc>
                <a:buFont typeface="Webdings" panose="05030102010509060703" pitchFamily="18" charset="2"/>
                <a:buChar char=""/>
              </a:pPr>
              <a:r>
                <a:rPr lang="zh-CN" altLang="en-US" sz="2400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大公司</a:t>
              </a:r>
              <a:r>
                <a:rPr lang="zh-CN" altLang="en-US" sz="2400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需要</a:t>
              </a:r>
              <a:r>
                <a:rPr lang="zh-CN" altLang="en-US" sz="2400" b="1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外部市场的约束</a:t>
              </a:r>
              <a:r>
                <a:rPr lang="zh-CN" altLang="en-US" sz="2400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</a:t>
              </a:r>
              <a:r>
                <a:rPr lang="zh-CN" altLang="en-US" sz="2400" b="1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政府的</a:t>
              </a:r>
              <a:r>
                <a:rPr lang="zh-CN" altLang="en-US" sz="2400" b="1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监管</a:t>
              </a:r>
              <a:endParaRPr lang="en-US" altLang="zh-CN" sz="2400" b="1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457200" indent="-457200">
                <a:lnSpc>
                  <a:spcPct val="150000"/>
                </a:lnSpc>
                <a:buFont typeface="Webdings" panose="05030102010509060703" pitchFamily="18" charset="2"/>
                <a:buChar char=""/>
              </a:pPr>
              <a:r>
                <a:rPr lang="zh-CN" altLang="en-US" sz="2400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政府还需监管整个市场，以保证市场稳定有效的</a:t>
              </a:r>
              <a:r>
                <a:rPr lang="zh-CN" altLang="en-US" sz="2400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运行</a:t>
              </a:r>
              <a:endParaRPr lang="zh-CN" altLang="en-US" sz="2400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9374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C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3487746" y="1183031"/>
            <a:ext cx="8291655" cy="2373621"/>
            <a:chOff x="3371631" y="1342689"/>
            <a:chExt cx="8291655" cy="2373621"/>
          </a:xfrm>
          <a:effectLst>
            <a:outerShdw blurRad="63500" algn="ctr" rotWithShape="0">
              <a:prstClr val="black">
                <a:alpha val="40000"/>
              </a:prstClr>
            </a:outerShdw>
          </a:effectLst>
        </p:grpSpPr>
        <p:sp>
          <p:nvSpPr>
            <p:cNvPr id="25" name="矩形 24"/>
            <p:cNvSpPr/>
            <p:nvPr/>
          </p:nvSpPr>
          <p:spPr>
            <a:xfrm>
              <a:off x="3371631" y="1342689"/>
              <a:ext cx="8291655" cy="20892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B5926F"/>
                </a:solidFill>
              </a:endParaRPr>
            </a:p>
          </p:txBody>
        </p:sp>
        <p:sp>
          <p:nvSpPr>
            <p:cNvPr id="26" name="等腰三角形 25"/>
            <p:cNvSpPr/>
            <p:nvPr/>
          </p:nvSpPr>
          <p:spPr>
            <a:xfrm rot="10800000">
              <a:off x="3905202" y="3118126"/>
              <a:ext cx="796015" cy="59818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4695469" y="1719811"/>
            <a:ext cx="58762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5400" b="1">
                <a:solidFill>
                  <a:srgbClr val="A57D55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defRPr>
            </a:lvl1pPr>
          </a:lstStyle>
          <a:p>
            <a:pPr algn="dist"/>
            <a:r>
              <a:rPr lang="zh-CN" altLang="en-US" sz="6000" dirty="0" smtClean="0"/>
              <a:t>竞争的新时代</a:t>
            </a:r>
            <a:endParaRPr lang="zh-CN" altLang="en-US" sz="6000" dirty="0"/>
          </a:p>
        </p:txBody>
      </p:sp>
      <p:grpSp>
        <p:nvGrpSpPr>
          <p:cNvPr id="20" name="组合 19"/>
          <p:cNvGrpSpPr/>
          <p:nvPr/>
        </p:nvGrpSpPr>
        <p:grpSpPr>
          <a:xfrm>
            <a:off x="3487745" y="3272255"/>
            <a:ext cx="8291655" cy="2955692"/>
            <a:chOff x="2550017" y="3335621"/>
            <a:chExt cx="8478586" cy="2955692"/>
          </a:xfrm>
        </p:grpSpPr>
        <p:grpSp>
          <p:nvGrpSpPr>
            <p:cNvPr id="21" name="组合 20"/>
            <p:cNvGrpSpPr/>
            <p:nvPr/>
          </p:nvGrpSpPr>
          <p:grpSpPr>
            <a:xfrm>
              <a:off x="2550017" y="3335621"/>
              <a:ext cx="8478586" cy="2955692"/>
              <a:chOff x="3039414" y="2534261"/>
              <a:chExt cx="8478586" cy="2955692"/>
            </a:xfrm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23" name="矩形 22"/>
              <p:cNvSpPr/>
              <p:nvPr/>
            </p:nvSpPr>
            <p:spPr>
              <a:xfrm>
                <a:off x="3039414" y="2833353"/>
                <a:ext cx="8478586" cy="26566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B5926F"/>
                  </a:solidFill>
                </a:endParaRPr>
              </a:p>
            </p:txBody>
          </p:sp>
          <p:sp>
            <p:nvSpPr>
              <p:cNvPr id="24" name="等腰三角形 23"/>
              <p:cNvSpPr/>
              <p:nvPr/>
            </p:nvSpPr>
            <p:spPr>
              <a:xfrm>
                <a:off x="9959440" y="2534261"/>
                <a:ext cx="813961" cy="598184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2" name="文本框 21"/>
            <p:cNvSpPr txBox="1"/>
            <p:nvPr/>
          </p:nvSpPr>
          <p:spPr>
            <a:xfrm>
              <a:off x="2899436" y="3841488"/>
              <a:ext cx="7779747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lnSpc>
                  <a:spcPct val="150000"/>
                </a:lnSpc>
                <a:buFont typeface="Webdings" panose="05030102010509060703" pitchFamily="18" charset="2"/>
                <a:buChar char=""/>
              </a:pPr>
              <a:r>
                <a:rPr lang="zh-CN" altLang="en-US" sz="2400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做</a:t>
              </a:r>
              <a:r>
                <a:rPr lang="zh-CN" altLang="en-US" sz="2400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决策的人拥有</a:t>
              </a:r>
              <a:r>
                <a:rPr lang="zh-CN" altLang="en-US" sz="2400" b="1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最充分的</a:t>
              </a:r>
              <a:r>
                <a:rPr lang="zh-CN" altLang="en-US" sz="2400" b="1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信息</a:t>
              </a:r>
              <a:endParaRPr lang="en-US" altLang="zh-CN" sz="2400" b="1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457200" indent="-457200">
                <a:lnSpc>
                  <a:spcPct val="150000"/>
                </a:lnSpc>
                <a:buFont typeface="Webdings" panose="05030102010509060703" pitchFamily="18" charset="2"/>
                <a:buChar char=""/>
              </a:pPr>
              <a:r>
                <a:rPr lang="zh-CN" altLang="en-US" sz="2400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竞争</a:t>
              </a:r>
              <a:r>
                <a:rPr lang="zh-CN" altLang="en-US" sz="2400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市场可以</a:t>
              </a:r>
              <a:r>
                <a:rPr lang="zh-CN" altLang="en-US" sz="2400" b="1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提高市场</a:t>
              </a:r>
              <a:r>
                <a:rPr lang="zh-CN" altLang="en-US" sz="2400" b="1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效率</a:t>
              </a:r>
              <a:endParaRPr lang="en-US" altLang="zh-CN" sz="2400" b="1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457200" indent="-457200">
                <a:lnSpc>
                  <a:spcPct val="150000"/>
                </a:lnSpc>
                <a:buFont typeface="Webdings" panose="05030102010509060703" pitchFamily="18" charset="2"/>
                <a:buChar char=""/>
              </a:pPr>
              <a:r>
                <a:rPr lang="zh-CN" altLang="en-US" sz="2400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  <a:r>
                <a:rPr lang="zh-CN" altLang="en-US" sz="2400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</a:t>
              </a:r>
              <a:r>
                <a:rPr lang="zh-CN" altLang="en-US" sz="2400" b="1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设计良好</a:t>
              </a:r>
              <a:r>
                <a:rPr lang="zh-CN" altLang="en-US" sz="2400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en-US" sz="2400" b="1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竞争市场</a:t>
              </a:r>
              <a:r>
                <a:rPr lang="zh-CN" altLang="en-US" sz="2400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可以把资源配置到那些能够最好的利用他的人的手</a:t>
              </a:r>
              <a:r>
                <a:rPr lang="zh-CN" altLang="en-US" sz="2400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里</a:t>
              </a:r>
              <a:endParaRPr lang="zh-CN" altLang="en-US" sz="2400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463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C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431121" y="733088"/>
            <a:ext cx="8291655" cy="2373621"/>
            <a:chOff x="3371631" y="1342689"/>
            <a:chExt cx="8291655" cy="2373621"/>
          </a:xfrm>
          <a:effectLst>
            <a:outerShdw blurRad="63500" algn="ctr" rotWithShape="0">
              <a:prstClr val="black">
                <a:alpha val="40000"/>
              </a:prstClr>
            </a:outerShdw>
          </a:effectLst>
        </p:grpSpPr>
        <p:sp>
          <p:nvSpPr>
            <p:cNvPr id="25" name="矩形 24"/>
            <p:cNvSpPr/>
            <p:nvPr/>
          </p:nvSpPr>
          <p:spPr>
            <a:xfrm>
              <a:off x="3371631" y="1342689"/>
              <a:ext cx="8291655" cy="20892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B5926F"/>
                </a:solidFill>
              </a:endParaRPr>
            </a:p>
          </p:txBody>
        </p:sp>
        <p:sp>
          <p:nvSpPr>
            <p:cNvPr id="26" name="等腰三角形 25"/>
            <p:cNvSpPr/>
            <p:nvPr/>
          </p:nvSpPr>
          <p:spPr>
            <a:xfrm rot="10800000">
              <a:off x="3905202" y="3118126"/>
              <a:ext cx="796015" cy="59818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1638843" y="1269869"/>
            <a:ext cx="58762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5400" b="1">
                <a:solidFill>
                  <a:srgbClr val="A57D55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defRPr>
            </a:lvl1pPr>
          </a:lstStyle>
          <a:p>
            <a:pPr algn="dist"/>
            <a:r>
              <a:rPr lang="zh-CN" altLang="en-US" sz="6000" dirty="0"/>
              <a:t>自由的</a:t>
            </a:r>
            <a:r>
              <a:rPr lang="zh-CN" altLang="en-US" sz="6000" dirty="0" smtClean="0"/>
              <a:t>市场经济</a:t>
            </a:r>
            <a:endParaRPr lang="zh-CN" altLang="en-US" sz="6000" dirty="0"/>
          </a:p>
        </p:txBody>
      </p:sp>
      <p:grpSp>
        <p:nvGrpSpPr>
          <p:cNvPr id="20" name="组合 19"/>
          <p:cNvGrpSpPr/>
          <p:nvPr/>
        </p:nvGrpSpPr>
        <p:grpSpPr>
          <a:xfrm>
            <a:off x="431120" y="2822312"/>
            <a:ext cx="8291655" cy="3099516"/>
            <a:chOff x="2550017" y="3335621"/>
            <a:chExt cx="8478586" cy="3099516"/>
          </a:xfrm>
        </p:grpSpPr>
        <p:grpSp>
          <p:nvGrpSpPr>
            <p:cNvPr id="21" name="组合 20"/>
            <p:cNvGrpSpPr/>
            <p:nvPr/>
          </p:nvGrpSpPr>
          <p:grpSpPr>
            <a:xfrm>
              <a:off x="2550017" y="3335621"/>
              <a:ext cx="8478586" cy="3099516"/>
              <a:chOff x="3039414" y="2534261"/>
              <a:chExt cx="8478586" cy="3099516"/>
            </a:xfrm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23" name="矩形 22"/>
              <p:cNvSpPr/>
              <p:nvPr/>
            </p:nvSpPr>
            <p:spPr>
              <a:xfrm>
                <a:off x="3039414" y="2833352"/>
                <a:ext cx="8478586" cy="28004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B5926F"/>
                  </a:solidFill>
                </a:endParaRPr>
              </a:p>
            </p:txBody>
          </p:sp>
          <p:sp>
            <p:nvSpPr>
              <p:cNvPr id="24" name="等腰三角形 23"/>
              <p:cNvSpPr/>
              <p:nvPr/>
            </p:nvSpPr>
            <p:spPr>
              <a:xfrm>
                <a:off x="9959440" y="2534261"/>
                <a:ext cx="813961" cy="598184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2" name="文本框 21"/>
            <p:cNvSpPr txBox="1"/>
            <p:nvPr/>
          </p:nvSpPr>
          <p:spPr>
            <a:xfrm>
              <a:off x="2899435" y="3733029"/>
              <a:ext cx="7779748" cy="26037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lnSpc>
                  <a:spcPct val="150000"/>
                </a:lnSpc>
                <a:buFont typeface="Webdings" panose="05030102010509060703" pitchFamily="18" charset="2"/>
                <a:buChar char=""/>
              </a:pPr>
              <a:r>
                <a:rPr lang="zh-CN" altLang="en-US" sz="2000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国家</a:t>
              </a:r>
              <a:r>
                <a:rPr lang="zh-CN" altLang="en-US" sz="2000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经济改革需要采用</a:t>
              </a:r>
              <a:r>
                <a:rPr lang="zh-CN" altLang="en-US" sz="2000" b="1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适宜之</a:t>
              </a:r>
              <a:r>
                <a:rPr lang="zh-CN" altLang="en-US" sz="2000" b="1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</a:t>
              </a:r>
              <a:endParaRPr lang="en-US" altLang="zh-CN" sz="2000" b="1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914400" lvl="1" indent="-457200">
                <a:lnSpc>
                  <a:spcPct val="120000"/>
                </a:lnSpc>
                <a:buFontTx/>
                <a:buChar char="−"/>
              </a:pPr>
              <a:r>
                <a:rPr lang="zh-CN" altLang="en-US" b="1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快速：</a:t>
              </a:r>
              <a:r>
                <a:rPr lang="zh-CN" altLang="en-US" b="1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休克疗法</a:t>
              </a:r>
              <a:r>
                <a:rPr lang="zh-CN" altLang="en-US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，比如：新加坡（成功）、俄罗斯（失败）</a:t>
              </a:r>
              <a:endParaRPr lang="zh-CN" altLang="en-US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914400" lvl="1" indent="-457200">
                <a:lnSpc>
                  <a:spcPct val="120000"/>
                </a:lnSpc>
                <a:buFontTx/>
                <a:buChar char="−"/>
              </a:pPr>
              <a:r>
                <a:rPr lang="zh-CN" altLang="en-US" b="1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渐进式</a:t>
              </a:r>
              <a:r>
                <a:rPr lang="zh-CN" altLang="en-US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，比如：中国（成功）</a:t>
              </a:r>
              <a:endParaRPr lang="en-US" altLang="zh-CN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457200" indent="-457200">
                <a:lnSpc>
                  <a:spcPct val="150000"/>
                </a:lnSpc>
                <a:buFont typeface="Webdings" panose="05030102010509060703" pitchFamily="18" charset="2"/>
                <a:buChar char=""/>
              </a:pPr>
              <a:r>
                <a:rPr lang="zh-CN" altLang="en-US" sz="2000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自上而下</a:t>
              </a:r>
              <a:r>
                <a:rPr lang="zh-CN" altLang="en-US" sz="2000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与自下而上相</a:t>
              </a:r>
              <a:r>
                <a:rPr lang="zh-CN" altLang="en-US" sz="2000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结合</a:t>
              </a:r>
              <a:endParaRPr lang="en-US" altLang="zh-CN" sz="2000" b="1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457200" indent="-457200">
                <a:lnSpc>
                  <a:spcPct val="150000"/>
                </a:lnSpc>
                <a:buFont typeface="Webdings" panose="05030102010509060703" pitchFamily="18" charset="2"/>
                <a:buChar char=""/>
              </a:pPr>
              <a:r>
                <a:rPr lang="zh-CN" altLang="en-US" sz="2000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en-US" sz="2000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试验中</a:t>
              </a:r>
              <a:r>
                <a:rPr lang="zh-CN" altLang="en-US" sz="2000" b="1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摸索着</a:t>
              </a:r>
              <a:r>
                <a:rPr lang="zh-CN" altLang="en-US" sz="2000" b="1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前进</a:t>
              </a:r>
              <a:endParaRPr lang="en-US" altLang="zh-CN" sz="2000" b="1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457200" indent="-457200">
                <a:lnSpc>
                  <a:spcPct val="150000"/>
                </a:lnSpc>
                <a:buFont typeface="Webdings" panose="05030102010509060703" pitchFamily="18" charset="2"/>
                <a:buChar char=""/>
              </a:pPr>
              <a:r>
                <a:rPr lang="zh-CN" altLang="en-US" sz="2000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运作良好的市场有赖于</a:t>
              </a:r>
              <a:r>
                <a:rPr lang="zh-CN" altLang="en-US" sz="2000" b="1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正式与非正式管制</a:t>
              </a:r>
              <a:r>
                <a:rPr lang="zh-CN" altLang="en-US" sz="2000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的完美</a:t>
              </a:r>
              <a:r>
                <a:rPr lang="zh-CN" altLang="en-US" sz="2000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结合</a:t>
              </a:r>
              <a:endParaRPr lang="zh-CN" altLang="en-US" sz="2000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流程图: 联系 12"/>
          <p:cNvSpPr/>
          <p:nvPr/>
        </p:nvSpPr>
        <p:spPr>
          <a:xfrm>
            <a:off x="9019009" y="-515638"/>
            <a:ext cx="3763336" cy="3763336"/>
          </a:xfrm>
          <a:prstGeom prst="flowChartConnector">
            <a:avLst/>
          </a:prstGeom>
          <a:solidFill>
            <a:srgbClr val="A57D5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028" y="-234887"/>
            <a:ext cx="3239064" cy="3201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082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C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652314" y="874077"/>
            <a:ext cx="7949936" cy="2373621"/>
            <a:chOff x="3371632" y="1342689"/>
            <a:chExt cx="7949936" cy="2373621"/>
          </a:xfrm>
          <a:effectLst>
            <a:outerShdw blurRad="63500" algn="ctr" rotWithShape="0">
              <a:prstClr val="black">
                <a:alpha val="40000"/>
              </a:prstClr>
            </a:outerShdw>
          </a:effectLst>
        </p:grpSpPr>
        <p:sp>
          <p:nvSpPr>
            <p:cNvPr id="25" name="矩形 24"/>
            <p:cNvSpPr/>
            <p:nvPr/>
          </p:nvSpPr>
          <p:spPr>
            <a:xfrm>
              <a:off x="3371632" y="1342689"/>
              <a:ext cx="7949936" cy="20892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B5926F"/>
                </a:solidFill>
              </a:endParaRPr>
            </a:p>
          </p:txBody>
        </p:sp>
        <p:sp>
          <p:nvSpPr>
            <p:cNvPr id="26" name="等腰三角形 25"/>
            <p:cNvSpPr/>
            <p:nvPr/>
          </p:nvSpPr>
          <p:spPr>
            <a:xfrm rot="10800000">
              <a:off x="3905202" y="3118126"/>
              <a:ext cx="796015" cy="59818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2413216" y="1410857"/>
            <a:ext cx="44281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5400" b="1">
                <a:solidFill>
                  <a:srgbClr val="A57D55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defRPr>
            </a:lvl1pPr>
          </a:lstStyle>
          <a:p>
            <a:pPr algn="dist"/>
            <a:r>
              <a:rPr lang="zh-CN" altLang="en-US" sz="6000" dirty="0"/>
              <a:t>对抗贫困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652312" y="2963301"/>
            <a:ext cx="7949937" cy="2939860"/>
            <a:chOff x="2550017" y="3335621"/>
            <a:chExt cx="8129164" cy="2939860"/>
          </a:xfrm>
        </p:grpSpPr>
        <p:grpSp>
          <p:nvGrpSpPr>
            <p:cNvPr id="21" name="组合 20"/>
            <p:cNvGrpSpPr/>
            <p:nvPr/>
          </p:nvGrpSpPr>
          <p:grpSpPr>
            <a:xfrm>
              <a:off x="2550017" y="3335621"/>
              <a:ext cx="8129164" cy="2939860"/>
              <a:chOff x="3039414" y="2534261"/>
              <a:chExt cx="8129164" cy="2939860"/>
            </a:xfrm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23" name="矩形 22"/>
              <p:cNvSpPr/>
              <p:nvPr/>
            </p:nvSpPr>
            <p:spPr>
              <a:xfrm>
                <a:off x="3039414" y="2833353"/>
                <a:ext cx="8129164" cy="26407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B5926F"/>
                  </a:solidFill>
                </a:endParaRPr>
              </a:p>
            </p:txBody>
          </p:sp>
          <p:sp>
            <p:nvSpPr>
              <p:cNvPr id="24" name="等腰三角形 23"/>
              <p:cNvSpPr/>
              <p:nvPr/>
            </p:nvSpPr>
            <p:spPr>
              <a:xfrm>
                <a:off x="9542683" y="2534261"/>
                <a:ext cx="813961" cy="598184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2" name="文本框 21"/>
            <p:cNvSpPr txBox="1"/>
            <p:nvPr/>
          </p:nvSpPr>
          <p:spPr>
            <a:xfrm>
              <a:off x="2899433" y="3708602"/>
              <a:ext cx="7779748" cy="2492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lnSpc>
                  <a:spcPct val="150000"/>
                </a:lnSpc>
                <a:buFont typeface="Webdings" panose="05030102010509060703" pitchFamily="18" charset="2"/>
                <a:buChar char=""/>
              </a:pPr>
              <a:r>
                <a:rPr lang="zh-CN" altLang="en-US" sz="2400" b="1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解决贫困</a:t>
              </a:r>
              <a:r>
                <a:rPr lang="zh-CN" altLang="en-US" sz="2400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的办法</a:t>
              </a:r>
              <a:endParaRPr lang="en-US" altLang="zh-CN" sz="2400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914400" lvl="1" indent="-457200">
                <a:lnSpc>
                  <a:spcPct val="120000"/>
                </a:lnSpc>
                <a:buFontTx/>
                <a:buChar char="−"/>
              </a:pPr>
              <a:r>
                <a:rPr lang="zh-CN" altLang="en-US" sz="2000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良好</a:t>
              </a:r>
              <a:r>
                <a:rPr lang="zh-CN" altLang="en-US" sz="2000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运行的</a:t>
              </a:r>
              <a:r>
                <a:rPr lang="zh-CN" altLang="en-US" sz="2000" b="1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市场</a:t>
              </a:r>
            </a:p>
            <a:p>
              <a:pPr marL="914400" lvl="1" indent="-457200">
                <a:lnSpc>
                  <a:spcPct val="120000"/>
                </a:lnSpc>
                <a:buFontTx/>
                <a:buChar char="−"/>
              </a:pPr>
              <a:r>
                <a:rPr lang="zh-CN" altLang="en-US" sz="2000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健全</a:t>
              </a:r>
              <a:r>
                <a:rPr lang="zh-CN" altLang="en-US" sz="2000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en-US" sz="2000" b="1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政府</a:t>
              </a:r>
              <a:r>
                <a:rPr lang="zh-CN" altLang="en-US" sz="2000" b="1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体制</a:t>
              </a:r>
              <a:endParaRPr lang="en-US" altLang="zh-CN" sz="2000" b="1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457200" indent="-457200">
                <a:lnSpc>
                  <a:spcPct val="150000"/>
                </a:lnSpc>
                <a:buFont typeface="Webdings" panose="05030102010509060703" pitchFamily="18" charset="2"/>
                <a:buChar char=""/>
              </a:pPr>
              <a:r>
                <a:rPr lang="zh-CN" altLang="en-US" sz="2400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贫困</a:t>
              </a:r>
              <a:r>
                <a:rPr lang="zh-CN" altLang="en-US" sz="2400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与不平衡阻碍经济的</a:t>
              </a:r>
              <a:r>
                <a:rPr lang="zh-CN" altLang="en-US" sz="2400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发展</a:t>
              </a:r>
              <a:endParaRPr lang="en-US" altLang="zh-CN" sz="2400" b="1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457200" indent="-457200">
                <a:lnSpc>
                  <a:spcPct val="150000"/>
                </a:lnSpc>
                <a:buFont typeface="Webdings" panose="05030102010509060703" pitchFamily="18" charset="2"/>
                <a:buChar char=""/>
              </a:pPr>
              <a:r>
                <a:rPr lang="zh-CN" altLang="en-US" sz="2400" b="1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经济</a:t>
              </a:r>
              <a:r>
                <a:rPr lang="zh-CN" altLang="en-US" sz="2400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</a:t>
              </a:r>
              <a:r>
                <a:rPr lang="zh-CN" altLang="en-US" sz="2400" b="1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政治环境</a:t>
              </a:r>
              <a:r>
                <a:rPr lang="zh-CN" altLang="en-US" sz="2400" dirty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决定了市场的</a:t>
              </a:r>
              <a:r>
                <a:rPr lang="zh-CN" altLang="en-US" sz="2400" dirty="0" smtClean="0"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效率</a:t>
              </a:r>
              <a:endParaRPr lang="zh-CN" altLang="en-US" sz="2400" dirty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985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C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018971" y="1911249"/>
            <a:ext cx="6154057" cy="3035503"/>
            <a:chOff x="3018971" y="1899354"/>
            <a:chExt cx="6154057" cy="3035503"/>
          </a:xfrm>
        </p:grpSpPr>
        <p:sp>
          <p:nvSpPr>
            <p:cNvPr id="2" name="矩形 1"/>
            <p:cNvSpPr/>
            <p:nvPr/>
          </p:nvSpPr>
          <p:spPr>
            <a:xfrm>
              <a:off x="3018971" y="1899354"/>
              <a:ext cx="6154057" cy="3035503"/>
            </a:xfrm>
            <a:prstGeom prst="rect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3018971" y="1899354"/>
              <a:ext cx="6154057" cy="27699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3800" dirty="0" smtClean="0">
                  <a:solidFill>
                    <a:srgbClr val="A57D55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KEY</a:t>
              </a:r>
            </a:p>
            <a:p>
              <a:pPr algn="dist"/>
              <a:r>
                <a:rPr lang="zh-CN" altLang="en-US" sz="3600" dirty="0" smtClean="0">
                  <a:solidFill>
                    <a:srgbClr val="A57D55"/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市场设计</a:t>
              </a:r>
              <a:r>
                <a:rPr lang="zh-CN" altLang="en-US" sz="3600" dirty="0">
                  <a:solidFill>
                    <a:srgbClr val="A57D55"/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中</a:t>
              </a:r>
              <a:r>
                <a:rPr lang="zh-CN" altLang="en-US" sz="3600" dirty="0" smtClean="0">
                  <a:solidFill>
                    <a:srgbClr val="A57D55"/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的关键点</a:t>
              </a:r>
              <a:endParaRPr lang="en-US" altLang="zh-CN" sz="3600" dirty="0" smtClean="0">
                <a:solidFill>
                  <a:srgbClr val="A57D55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0" y="362857"/>
            <a:ext cx="12192000" cy="420914"/>
            <a:chOff x="0" y="362857"/>
            <a:chExt cx="12192000" cy="420914"/>
          </a:xfrm>
        </p:grpSpPr>
        <p:cxnSp>
          <p:nvCxnSpPr>
            <p:cNvPr id="9" name="直接连接符 8"/>
            <p:cNvCxnSpPr/>
            <p:nvPr/>
          </p:nvCxnSpPr>
          <p:spPr>
            <a:xfrm flipV="1">
              <a:off x="0" y="595086"/>
              <a:ext cx="8557313" cy="1451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8557313" y="362857"/>
              <a:ext cx="2342916" cy="420914"/>
            </a:xfrm>
            <a:prstGeom prst="rect">
              <a:avLst/>
            </a:prstGeom>
            <a:solidFill>
              <a:srgbClr val="D0CFCE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dirty="0">
                <a:solidFill>
                  <a:srgbClr val="BC9D7E"/>
                </a:solidFill>
              </a:endParaRPr>
            </a:p>
            <a:p>
              <a:pPr algn="ctr"/>
              <a:endParaRPr lang="zh-CN" altLang="en-US" dirty="0">
                <a:solidFill>
                  <a:srgbClr val="BC9D7E"/>
                </a:solidFill>
              </a:endParaRPr>
            </a:p>
          </p:txBody>
        </p:sp>
        <p:cxnSp>
          <p:nvCxnSpPr>
            <p:cNvPr id="11" name="直接连接符 10"/>
            <p:cNvCxnSpPr>
              <a:stCxn id="10" idx="3"/>
            </p:cNvCxnSpPr>
            <p:nvPr/>
          </p:nvCxnSpPr>
          <p:spPr>
            <a:xfrm>
              <a:off x="10900229" y="573314"/>
              <a:ext cx="12917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文本框 11"/>
          <p:cNvSpPr txBox="1"/>
          <p:nvPr/>
        </p:nvSpPr>
        <p:spPr>
          <a:xfrm>
            <a:off x="8557313" y="388648"/>
            <a:ext cx="1036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 Key        </a:t>
            </a:r>
            <a:endParaRPr lang="zh-CN" altLang="en-US" dirty="0"/>
          </a:p>
        </p:txBody>
      </p:sp>
      <p:cxnSp>
        <p:nvCxnSpPr>
          <p:cNvPr id="14" name="直接连接符 13"/>
          <p:cNvCxnSpPr/>
          <p:nvPr/>
        </p:nvCxnSpPr>
        <p:spPr>
          <a:xfrm>
            <a:off x="9593943" y="388648"/>
            <a:ext cx="0" cy="369332"/>
          </a:xfrm>
          <a:prstGeom prst="line">
            <a:avLst/>
          </a:prstGeom>
          <a:ln>
            <a:solidFill>
              <a:srgbClr val="A57D55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9586686" y="401544"/>
            <a:ext cx="1306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 </a:t>
            </a:r>
            <a:r>
              <a:rPr lang="zh-CN" altLang="en-US" dirty="0"/>
              <a:t>市场设计</a:t>
            </a:r>
            <a:r>
              <a:rPr lang="en-US" altLang="zh-CN" dirty="0"/>
              <a:t>      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0321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C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734457" y="1785258"/>
            <a:ext cx="8723086" cy="2264228"/>
            <a:chOff x="1465942" y="2090058"/>
            <a:chExt cx="8723086" cy="2264228"/>
          </a:xfrm>
        </p:grpSpPr>
        <p:sp>
          <p:nvSpPr>
            <p:cNvPr id="5" name="矩形 4"/>
            <p:cNvSpPr/>
            <p:nvPr/>
          </p:nvSpPr>
          <p:spPr>
            <a:xfrm>
              <a:off x="1465942" y="2090058"/>
              <a:ext cx="8708572" cy="812800"/>
            </a:xfrm>
            <a:prstGeom prst="rect">
              <a:avLst/>
            </a:prstGeom>
            <a:solidFill>
              <a:srgbClr val="A57D55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4000" dirty="0" smtClean="0"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三</a:t>
              </a:r>
              <a:r>
                <a:rPr lang="zh-CN" altLang="en-US" sz="4000" dirty="0"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个</a:t>
              </a:r>
              <a:r>
                <a:rPr lang="zh-CN" altLang="en-US" sz="4000" dirty="0" smtClean="0"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关键点</a:t>
              </a:r>
              <a:endParaRPr lang="zh-CN" altLang="en-US" sz="4000" dirty="0"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465943" y="3178630"/>
              <a:ext cx="2714172" cy="1175656"/>
            </a:xfrm>
            <a:prstGeom prst="rect">
              <a:avLst/>
            </a:prstGeom>
            <a:solidFill>
              <a:srgbClr val="A57D55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dirty="0"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现实的态度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7460341" y="3178630"/>
              <a:ext cx="2728687" cy="1175656"/>
            </a:xfrm>
            <a:prstGeom prst="rect">
              <a:avLst/>
            </a:prstGeom>
            <a:solidFill>
              <a:srgbClr val="A57D55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dirty="0" smtClean="0"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慎重考虑细节</a:t>
              </a:r>
              <a:endParaRPr lang="zh-CN" altLang="en-US" sz="3200" dirty="0"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4535713" y="3178630"/>
              <a:ext cx="2569030" cy="1175656"/>
            </a:xfrm>
            <a:prstGeom prst="rect">
              <a:avLst/>
            </a:prstGeom>
            <a:solidFill>
              <a:srgbClr val="A57D55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dirty="0"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平衡关系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734457" y="4325258"/>
            <a:ext cx="8775135" cy="1446550"/>
            <a:chOff x="2546569" y="1644372"/>
            <a:chExt cx="8775135" cy="1446550"/>
          </a:xfrm>
        </p:grpSpPr>
        <p:sp>
          <p:nvSpPr>
            <p:cNvPr id="19" name="文本框 18"/>
            <p:cNvSpPr txBox="1"/>
            <p:nvPr/>
          </p:nvSpPr>
          <p:spPr>
            <a:xfrm>
              <a:off x="2546569" y="1644372"/>
              <a:ext cx="1313180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800" dirty="0" smtClean="0">
                  <a:solidFill>
                    <a:srgbClr val="A57D55"/>
                  </a:solidFill>
                  <a:latin typeface="方正大黑简体" panose="02010601030101010101" pitchFamily="2" charset="-122"/>
                  <a:ea typeface="方正大黑简体" panose="02010601030101010101" pitchFamily="2" charset="-122"/>
                </a:rPr>
                <a:t>“</a:t>
              </a:r>
              <a:endParaRPr lang="zh-CN" altLang="en-US" sz="8800" dirty="0">
                <a:solidFill>
                  <a:srgbClr val="A57D55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0008524" y="1644372"/>
              <a:ext cx="1313180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800" dirty="0" smtClean="0">
                  <a:solidFill>
                    <a:srgbClr val="A57D55"/>
                  </a:solidFill>
                  <a:latin typeface="方正大黑简体" panose="02010601030101010101" pitchFamily="2" charset="-122"/>
                  <a:ea typeface="方正大黑简体" panose="02010601030101010101" pitchFamily="2" charset="-122"/>
                </a:rPr>
                <a:t>”</a:t>
              </a:r>
              <a:endParaRPr lang="zh-CN" altLang="en-US" sz="8800" dirty="0">
                <a:solidFill>
                  <a:srgbClr val="A57D55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3859749" y="1837730"/>
              <a:ext cx="618630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600" dirty="0" smtClean="0"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市场能够良好运行就足够了！</a:t>
              </a:r>
              <a:endParaRPr lang="zh-CN" altLang="en-US" sz="3600" dirty="0"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0" y="362857"/>
            <a:ext cx="12192000" cy="420914"/>
            <a:chOff x="0" y="362857"/>
            <a:chExt cx="12192000" cy="420914"/>
          </a:xfrm>
        </p:grpSpPr>
        <p:cxnSp>
          <p:nvCxnSpPr>
            <p:cNvPr id="23" name="直接连接符 22"/>
            <p:cNvCxnSpPr/>
            <p:nvPr/>
          </p:nvCxnSpPr>
          <p:spPr>
            <a:xfrm flipV="1">
              <a:off x="0" y="595086"/>
              <a:ext cx="8557313" cy="14514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/>
            <p:cNvSpPr/>
            <p:nvPr/>
          </p:nvSpPr>
          <p:spPr>
            <a:xfrm>
              <a:off x="8557313" y="362857"/>
              <a:ext cx="2342916" cy="420914"/>
            </a:xfrm>
            <a:prstGeom prst="rect">
              <a:avLst/>
            </a:prstGeom>
            <a:solidFill>
              <a:srgbClr val="D0CFCE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dirty="0">
                <a:solidFill>
                  <a:srgbClr val="BC9D7E"/>
                </a:solidFill>
              </a:endParaRPr>
            </a:p>
            <a:p>
              <a:pPr algn="ctr"/>
              <a:endParaRPr lang="zh-CN" altLang="en-US" dirty="0">
                <a:solidFill>
                  <a:srgbClr val="BC9D7E"/>
                </a:solidFill>
              </a:endParaRPr>
            </a:p>
          </p:txBody>
        </p:sp>
        <p:cxnSp>
          <p:nvCxnSpPr>
            <p:cNvPr id="25" name="直接连接符 24"/>
            <p:cNvCxnSpPr>
              <a:stCxn id="24" idx="3"/>
            </p:cNvCxnSpPr>
            <p:nvPr/>
          </p:nvCxnSpPr>
          <p:spPr>
            <a:xfrm>
              <a:off x="10900229" y="573314"/>
              <a:ext cx="12917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文本框 25"/>
          <p:cNvSpPr txBox="1"/>
          <p:nvPr/>
        </p:nvSpPr>
        <p:spPr>
          <a:xfrm>
            <a:off x="8557313" y="388648"/>
            <a:ext cx="1036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 Key        </a:t>
            </a:r>
            <a:endParaRPr lang="zh-CN" altLang="en-US" dirty="0"/>
          </a:p>
        </p:txBody>
      </p:sp>
      <p:cxnSp>
        <p:nvCxnSpPr>
          <p:cNvPr id="27" name="直接连接符 26"/>
          <p:cNvCxnSpPr/>
          <p:nvPr/>
        </p:nvCxnSpPr>
        <p:spPr>
          <a:xfrm>
            <a:off x="9593943" y="388648"/>
            <a:ext cx="0" cy="369332"/>
          </a:xfrm>
          <a:prstGeom prst="line">
            <a:avLst/>
          </a:prstGeom>
          <a:ln>
            <a:solidFill>
              <a:srgbClr val="A57D55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9586686" y="401544"/>
            <a:ext cx="1306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 </a:t>
            </a:r>
            <a:r>
              <a:rPr lang="zh-CN" altLang="en-US" dirty="0"/>
              <a:t>市场设计</a:t>
            </a:r>
            <a:r>
              <a:rPr lang="en-US" altLang="zh-CN" dirty="0"/>
              <a:t>      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8951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C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362857"/>
            <a:ext cx="12192000" cy="420914"/>
            <a:chOff x="0" y="362857"/>
            <a:chExt cx="12192000" cy="420914"/>
          </a:xfrm>
        </p:grpSpPr>
        <p:grpSp>
          <p:nvGrpSpPr>
            <p:cNvPr id="3" name="组合 2"/>
            <p:cNvGrpSpPr/>
            <p:nvPr/>
          </p:nvGrpSpPr>
          <p:grpSpPr>
            <a:xfrm>
              <a:off x="0" y="362857"/>
              <a:ext cx="12192000" cy="420914"/>
              <a:chOff x="0" y="362857"/>
              <a:chExt cx="12192000" cy="420914"/>
            </a:xfrm>
          </p:grpSpPr>
          <p:cxnSp>
            <p:nvCxnSpPr>
              <p:cNvPr id="7" name="直接连接符 6"/>
              <p:cNvCxnSpPr/>
              <p:nvPr/>
            </p:nvCxnSpPr>
            <p:spPr>
              <a:xfrm flipV="1">
                <a:off x="0" y="595086"/>
                <a:ext cx="8557313" cy="14514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矩形 7"/>
              <p:cNvSpPr/>
              <p:nvPr/>
            </p:nvSpPr>
            <p:spPr>
              <a:xfrm>
                <a:off x="8557313" y="362857"/>
                <a:ext cx="2342916" cy="420914"/>
              </a:xfrm>
              <a:prstGeom prst="rect">
                <a:avLst/>
              </a:prstGeom>
              <a:solidFill>
                <a:srgbClr val="D0CFCE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olidFill>
                    <a:srgbClr val="BC9D7E"/>
                  </a:solidFill>
                </a:endParaRPr>
              </a:p>
              <a:p>
                <a:pPr algn="ctr"/>
                <a:endParaRPr lang="zh-CN" altLang="en-US" dirty="0">
                  <a:solidFill>
                    <a:srgbClr val="BC9D7E"/>
                  </a:solidFill>
                </a:endParaRPr>
              </a:p>
            </p:txBody>
          </p:sp>
          <p:cxnSp>
            <p:nvCxnSpPr>
              <p:cNvPr id="9" name="直接连接符 8"/>
              <p:cNvCxnSpPr>
                <a:stCxn id="8" idx="3"/>
              </p:cNvCxnSpPr>
              <p:nvPr/>
            </p:nvCxnSpPr>
            <p:spPr>
              <a:xfrm>
                <a:off x="10900229" y="573314"/>
                <a:ext cx="1291771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文本框 3"/>
            <p:cNvSpPr txBox="1"/>
            <p:nvPr/>
          </p:nvSpPr>
          <p:spPr>
            <a:xfrm>
              <a:off x="8557313" y="388648"/>
              <a:ext cx="10366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/>
                <a:t> </a:t>
              </a:r>
              <a:r>
                <a:rPr lang="en-US" altLang="zh-CN" dirty="0" smtClean="0"/>
                <a:t>Key        </a:t>
              </a:r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93943" y="388648"/>
              <a:ext cx="0" cy="369332"/>
            </a:xfrm>
            <a:prstGeom prst="line">
              <a:avLst/>
            </a:prstGeom>
            <a:ln>
              <a:solidFill>
                <a:srgbClr val="A57D5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/>
            <p:cNvSpPr txBox="1"/>
            <p:nvPr/>
          </p:nvSpPr>
          <p:spPr>
            <a:xfrm>
              <a:off x="9586686" y="401544"/>
              <a:ext cx="13062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/>
                <a:t> </a:t>
              </a:r>
              <a:r>
                <a:rPr lang="zh-CN" altLang="en-US" dirty="0" smtClean="0"/>
                <a:t>市场设计</a:t>
              </a:r>
              <a:r>
                <a:rPr lang="en-US" altLang="zh-CN" dirty="0" smtClean="0"/>
                <a:t>        </a:t>
              </a:r>
              <a:endParaRPr lang="zh-CN" altLang="en-US" dirty="0"/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413400" y="1286703"/>
            <a:ext cx="124806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rgbClr val="A57D55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现实的态度：</a:t>
            </a:r>
            <a:r>
              <a:rPr lang="zh-CN" altLang="en-US" sz="28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市场</a:t>
            </a:r>
            <a:r>
              <a:rPr lang="zh-CN" altLang="en-US" sz="28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体系本身并不是目的</a:t>
            </a:r>
            <a:r>
              <a:rPr lang="zh-CN" altLang="en-US" sz="28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，而是</a:t>
            </a:r>
            <a:r>
              <a:rPr lang="zh-CN" altLang="en-US" sz="28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人们</a:t>
            </a:r>
            <a:r>
              <a:rPr lang="zh-CN" altLang="en-US" sz="28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用来</a:t>
            </a:r>
            <a:endParaRPr lang="en-US" altLang="zh-CN" sz="2800" dirty="0" smtClean="0"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  <a:p>
            <a:r>
              <a:rPr lang="en-US" altLang="zh-CN" sz="28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 </a:t>
            </a:r>
            <a:r>
              <a:rPr lang="en-US" altLang="zh-CN" sz="28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              </a:t>
            </a:r>
            <a:r>
              <a:rPr lang="zh-CN" altLang="en-US" sz="28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提高自己</a:t>
            </a:r>
            <a:r>
              <a:rPr lang="zh-CN" altLang="en-US" sz="28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生活水平的一种</a:t>
            </a:r>
            <a:r>
              <a:rPr lang="zh-CN" altLang="en-US" sz="28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手段</a:t>
            </a:r>
            <a:endParaRPr lang="zh-CN" altLang="en-US" sz="2800" dirty="0"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13400" y="2783355"/>
            <a:ext cx="82381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rgbClr val="A57D55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平衡关系</a:t>
            </a:r>
            <a:r>
              <a:rPr lang="zh-CN" altLang="en-US" sz="3600" dirty="0" smtClean="0">
                <a:solidFill>
                  <a:srgbClr val="A57D55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：</a:t>
            </a:r>
            <a:r>
              <a:rPr lang="zh-CN" altLang="en-US" sz="28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市场设计就是平衡政府与市场的关系</a:t>
            </a:r>
            <a:endParaRPr lang="zh-CN" altLang="en-US" sz="2800" dirty="0"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13400" y="3787563"/>
            <a:ext cx="88537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A57D55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慎重考虑细节</a:t>
            </a:r>
            <a:r>
              <a:rPr lang="zh-CN" altLang="en-US" sz="4000" dirty="0" smtClean="0">
                <a:solidFill>
                  <a:srgbClr val="A57D55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：</a:t>
            </a:r>
            <a:r>
              <a:rPr lang="zh-CN" altLang="en-US" sz="28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设计</a:t>
            </a:r>
            <a:r>
              <a:rPr lang="zh-CN" altLang="en-US" sz="2800" dirty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的细节将决定体系运转的</a:t>
            </a:r>
            <a:r>
              <a:rPr lang="zh-CN" altLang="en-US" sz="28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好坏</a:t>
            </a:r>
            <a:endParaRPr lang="zh-CN" altLang="en-US" sz="2800" dirty="0"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0" y="5073141"/>
            <a:ext cx="12192000" cy="1784859"/>
            <a:chOff x="0" y="5073141"/>
            <a:chExt cx="12192000" cy="1784859"/>
          </a:xfrm>
        </p:grpSpPr>
        <p:sp>
          <p:nvSpPr>
            <p:cNvPr id="23" name="矩形 22"/>
            <p:cNvSpPr/>
            <p:nvPr/>
          </p:nvSpPr>
          <p:spPr>
            <a:xfrm>
              <a:off x="0" y="5390623"/>
              <a:ext cx="12192000" cy="1467377"/>
            </a:xfrm>
            <a:prstGeom prst="rect">
              <a:avLst/>
            </a:prstGeom>
            <a:solidFill>
              <a:srgbClr val="A57D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B5926F"/>
                </a:solidFill>
              </a:endParaRPr>
            </a:p>
          </p:txBody>
        </p:sp>
        <p:sp>
          <p:nvSpPr>
            <p:cNvPr id="24" name="等腰三角形 23"/>
            <p:cNvSpPr/>
            <p:nvPr/>
          </p:nvSpPr>
          <p:spPr>
            <a:xfrm>
              <a:off x="684859" y="5073141"/>
              <a:ext cx="813961" cy="598184"/>
            </a:xfrm>
            <a:prstGeom prst="triangle">
              <a:avLst/>
            </a:prstGeom>
            <a:solidFill>
              <a:srgbClr val="A57D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B5926F"/>
                </a:solidFill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190269" y="5442045"/>
            <a:ext cx="7597528" cy="1446550"/>
            <a:chOff x="499100" y="5320528"/>
            <a:chExt cx="7597528" cy="1446550"/>
          </a:xfrm>
        </p:grpSpPr>
        <p:sp>
          <p:nvSpPr>
            <p:cNvPr id="25" name="文本框 24"/>
            <p:cNvSpPr txBox="1"/>
            <p:nvPr/>
          </p:nvSpPr>
          <p:spPr>
            <a:xfrm>
              <a:off x="1897207" y="5549808"/>
              <a:ext cx="480131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 dirty="0" smtClean="0">
                  <a:solidFill>
                    <a:schemeClr val="bg1"/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竞争是市场的源动力</a:t>
              </a:r>
              <a:endParaRPr lang="zh-CN" altLang="en-US" sz="4000" dirty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99100" y="5320528"/>
              <a:ext cx="1313180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800" dirty="0" smtClean="0">
                  <a:solidFill>
                    <a:schemeClr val="bg1"/>
                  </a:solidFill>
                  <a:latin typeface="方正大黑简体" panose="02010601030101010101" pitchFamily="2" charset="-122"/>
                  <a:ea typeface="方正大黑简体" panose="02010601030101010101" pitchFamily="2" charset="-122"/>
                </a:rPr>
                <a:t>“</a:t>
              </a:r>
              <a:endParaRPr lang="zh-CN" altLang="en-US" sz="88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6783448" y="5320528"/>
              <a:ext cx="1313180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800" dirty="0" smtClean="0">
                  <a:solidFill>
                    <a:schemeClr val="bg1"/>
                  </a:solidFill>
                  <a:latin typeface="方正大黑简体" panose="02010601030101010101" pitchFamily="2" charset="-122"/>
                  <a:ea typeface="方正大黑简体" panose="02010601030101010101" pitchFamily="2" charset="-122"/>
                </a:rPr>
                <a:t>”</a:t>
              </a:r>
              <a:endParaRPr lang="zh-CN" altLang="en-US" sz="8800" dirty="0">
                <a:solidFill>
                  <a:schemeClr val="bg1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2080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C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等腰三角形 34"/>
          <p:cNvSpPr/>
          <p:nvPr/>
        </p:nvSpPr>
        <p:spPr>
          <a:xfrm rot="10800000">
            <a:off x="5736193" y="3890463"/>
            <a:ext cx="703367" cy="746974"/>
          </a:xfrm>
          <a:prstGeom prst="triangle">
            <a:avLst/>
          </a:prstGeom>
          <a:solidFill>
            <a:srgbClr val="A57D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0" y="362857"/>
            <a:ext cx="12192000" cy="420914"/>
            <a:chOff x="0" y="362857"/>
            <a:chExt cx="12192000" cy="420914"/>
          </a:xfrm>
        </p:grpSpPr>
        <p:grpSp>
          <p:nvGrpSpPr>
            <p:cNvPr id="3" name="组合 2"/>
            <p:cNvGrpSpPr/>
            <p:nvPr/>
          </p:nvGrpSpPr>
          <p:grpSpPr>
            <a:xfrm>
              <a:off x="0" y="362857"/>
              <a:ext cx="12192000" cy="420914"/>
              <a:chOff x="0" y="362857"/>
              <a:chExt cx="12192000" cy="420914"/>
            </a:xfrm>
          </p:grpSpPr>
          <p:cxnSp>
            <p:nvCxnSpPr>
              <p:cNvPr id="7" name="直接连接符 6"/>
              <p:cNvCxnSpPr/>
              <p:nvPr/>
            </p:nvCxnSpPr>
            <p:spPr>
              <a:xfrm flipV="1">
                <a:off x="0" y="595086"/>
                <a:ext cx="8557313" cy="14514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矩形 7"/>
              <p:cNvSpPr/>
              <p:nvPr/>
            </p:nvSpPr>
            <p:spPr>
              <a:xfrm>
                <a:off x="8557313" y="362857"/>
                <a:ext cx="2342916" cy="420914"/>
              </a:xfrm>
              <a:prstGeom prst="rect">
                <a:avLst/>
              </a:prstGeom>
              <a:solidFill>
                <a:srgbClr val="D0CFCE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solidFill>
                    <a:srgbClr val="BC9D7E"/>
                  </a:solidFill>
                </a:endParaRPr>
              </a:p>
              <a:p>
                <a:pPr algn="ctr"/>
                <a:endParaRPr lang="zh-CN" altLang="en-US" dirty="0">
                  <a:solidFill>
                    <a:srgbClr val="BC9D7E"/>
                  </a:solidFill>
                </a:endParaRPr>
              </a:p>
            </p:txBody>
          </p:sp>
          <p:cxnSp>
            <p:nvCxnSpPr>
              <p:cNvPr id="9" name="直接连接符 8"/>
              <p:cNvCxnSpPr>
                <a:stCxn id="8" idx="3"/>
              </p:cNvCxnSpPr>
              <p:nvPr/>
            </p:nvCxnSpPr>
            <p:spPr>
              <a:xfrm>
                <a:off x="10900229" y="573314"/>
                <a:ext cx="1291771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文本框 3"/>
            <p:cNvSpPr txBox="1"/>
            <p:nvPr/>
          </p:nvSpPr>
          <p:spPr>
            <a:xfrm>
              <a:off x="8557313" y="388648"/>
              <a:ext cx="10366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/>
                <a:t> </a:t>
              </a:r>
              <a:r>
                <a:rPr lang="en-US" altLang="zh-CN" dirty="0" smtClean="0"/>
                <a:t>Key        </a:t>
              </a:r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93943" y="388648"/>
              <a:ext cx="0" cy="369332"/>
            </a:xfrm>
            <a:prstGeom prst="line">
              <a:avLst/>
            </a:prstGeom>
            <a:ln>
              <a:solidFill>
                <a:srgbClr val="A57D5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/>
            <p:cNvSpPr txBox="1"/>
            <p:nvPr/>
          </p:nvSpPr>
          <p:spPr>
            <a:xfrm>
              <a:off x="9586686" y="401544"/>
              <a:ext cx="13062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rgbClr val="A57D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/>
                <a:t> </a:t>
              </a:r>
              <a:r>
                <a:rPr lang="zh-CN" altLang="en-US" dirty="0" smtClean="0"/>
                <a:t>市场设计</a:t>
              </a:r>
              <a:r>
                <a:rPr lang="en-US" altLang="zh-CN" dirty="0" smtClean="0"/>
                <a:t>        </a:t>
              </a:r>
              <a:endParaRPr lang="zh-CN" altLang="en-US" dirty="0"/>
            </a:p>
          </p:txBody>
        </p:sp>
      </p:grpSp>
      <p:sp>
        <p:nvSpPr>
          <p:cNvPr id="10" name="流程图: 联系 9"/>
          <p:cNvSpPr/>
          <p:nvPr/>
        </p:nvSpPr>
        <p:spPr>
          <a:xfrm>
            <a:off x="943027" y="3284113"/>
            <a:ext cx="3335628" cy="3335628"/>
          </a:xfrm>
          <a:prstGeom prst="flowChartConnector">
            <a:avLst/>
          </a:prstGeom>
          <a:solidFill>
            <a:srgbClr val="A57D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流程图: 联系 20"/>
          <p:cNvSpPr/>
          <p:nvPr/>
        </p:nvSpPr>
        <p:spPr>
          <a:xfrm>
            <a:off x="4428186" y="757980"/>
            <a:ext cx="3335628" cy="3335628"/>
          </a:xfrm>
          <a:prstGeom prst="flowChartConnector">
            <a:avLst/>
          </a:prstGeom>
          <a:solidFill>
            <a:srgbClr val="A57D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流程图: 联系 29"/>
          <p:cNvSpPr/>
          <p:nvPr/>
        </p:nvSpPr>
        <p:spPr>
          <a:xfrm>
            <a:off x="7926129" y="3284113"/>
            <a:ext cx="3335628" cy="3335628"/>
          </a:xfrm>
          <a:prstGeom prst="flowChartConnector">
            <a:avLst/>
          </a:prstGeom>
          <a:solidFill>
            <a:srgbClr val="A57D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/>
        </p:nvSpPr>
        <p:spPr>
          <a:xfrm rot="5045277">
            <a:off x="4090174" y="4449088"/>
            <a:ext cx="703367" cy="746974"/>
          </a:xfrm>
          <a:prstGeom prst="triangle">
            <a:avLst/>
          </a:prstGeom>
          <a:solidFill>
            <a:srgbClr val="A57D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等腰三角形 30"/>
          <p:cNvSpPr/>
          <p:nvPr/>
        </p:nvSpPr>
        <p:spPr>
          <a:xfrm rot="16519538">
            <a:off x="7408035" y="4445636"/>
            <a:ext cx="703367" cy="746974"/>
          </a:xfrm>
          <a:prstGeom prst="triangle">
            <a:avLst/>
          </a:prstGeom>
          <a:solidFill>
            <a:srgbClr val="A57D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流程图: 联系 31"/>
          <p:cNvSpPr/>
          <p:nvPr/>
        </p:nvSpPr>
        <p:spPr>
          <a:xfrm>
            <a:off x="1082562" y="3423647"/>
            <a:ext cx="3056557" cy="3056557"/>
          </a:xfrm>
          <a:prstGeom prst="flowChartConnector">
            <a:avLst/>
          </a:prstGeom>
          <a:solidFill>
            <a:srgbClr val="A57D55"/>
          </a:solidFill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流程图: 联系 32"/>
          <p:cNvSpPr/>
          <p:nvPr/>
        </p:nvSpPr>
        <p:spPr>
          <a:xfrm>
            <a:off x="4567721" y="897515"/>
            <a:ext cx="3056557" cy="3056557"/>
          </a:xfrm>
          <a:prstGeom prst="flowChartConnector">
            <a:avLst/>
          </a:prstGeom>
          <a:solidFill>
            <a:srgbClr val="A57D55"/>
          </a:solidFill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流程图: 联系 33"/>
          <p:cNvSpPr/>
          <p:nvPr/>
        </p:nvSpPr>
        <p:spPr>
          <a:xfrm>
            <a:off x="8065664" y="3423647"/>
            <a:ext cx="3056557" cy="3056557"/>
          </a:xfrm>
          <a:prstGeom prst="flowChartConnector">
            <a:avLst/>
          </a:prstGeom>
          <a:solidFill>
            <a:srgbClr val="A57D55"/>
          </a:solidFill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4938734" y="2138214"/>
            <a:ext cx="26855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体系本身并不是目的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，而是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人们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用来提高自己生活水平的一种手段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938734" y="1467391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现实的态度：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460275" y="4637438"/>
            <a:ext cx="24243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市场设计就是平衡政府与市场的关系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635308" y="3926695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defRPr>
            </a:lvl1pPr>
          </a:lstStyle>
          <a:p>
            <a:r>
              <a:rPr lang="zh-CN" altLang="en-US" dirty="0"/>
              <a:t>平衡关系：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8353914" y="4951925"/>
            <a:ext cx="27497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的细节将决定体系运转的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好坏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200147" y="4219082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defRPr>
            </a:lvl1pPr>
          </a:lstStyle>
          <a:p>
            <a:r>
              <a:rPr lang="zh-CN" altLang="en-US" dirty="0"/>
              <a:t>慎重考虑细节：</a:t>
            </a:r>
          </a:p>
        </p:txBody>
      </p:sp>
    </p:spTree>
    <p:extLst>
      <p:ext uri="{BB962C8B-B14F-4D97-AF65-F5344CB8AC3E}">
        <p14:creationId xmlns:p14="http://schemas.microsoft.com/office/powerpoint/2010/main" val="941111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C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6214" y="669702"/>
            <a:ext cx="51090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 smtClean="0">
                <a:solidFill>
                  <a:srgbClr val="A57D55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小初读后小感</a:t>
            </a:r>
            <a:r>
              <a:rPr lang="en-US" altLang="zh-CN" sz="4800" dirty="0" smtClean="0">
                <a:solidFill>
                  <a:srgbClr val="A57D55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——</a:t>
            </a:r>
            <a:endParaRPr lang="zh-CN" altLang="en-US" sz="4800" dirty="0">
              <a:solidFill>
                <a:srgbClr val="A57D55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3197381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</a:rPr>
              <a:t>这本</a:t>
            </a:r>
            <a:r>
              <a:rPr lang="zh-CN" altLang="en-US" dirty="0" smtClean="0">
                <a:solidFill>
                  <a:schemeClr val="tx1"/>
                </a:solidFill>
              </a:rPr>
              <a:t>书</a:t>
            </a:r>
            <a:r>
              <a:rPr lang="zh-CN" altLang="en-US" dirty="0" smtClean="0"/>
              <a:t>并没有我想象中的那么枯燥难懂，大量的超经典事例反而显得简单易懂。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0" y="1925391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这本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书</a:t>
            </a:r>
            <a:r>
              <a:rPr lang="zh-CN" altLang="en-US" sz="2000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在我以来看来就是那种高大上的书，我是绝对不会触碰的。</a:t>
            </a:r>
            <a:endParaRPr lang="zh-CN" altLang="en-US" sz="2000" dirty="0">
              <a:solidFill>
                <a:srgbClr val="A57D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0" y="2561386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非常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感谢</a:t>
            </a:r>
            <a:r>
              <a:rPr lang="zh-CN" altLang="en-US" sz="2000" dirty="0" smtClean="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这次机会，让我有勇气去触碰高大上的书，这是我第一次读经济类的书。</a:t>
            </a:r>
            <a:endParaRPr lang="zh-CN" altLang="en-US" sz="2000" dirty="0">
              <a:solidFill>
                <a:srgbClr val="A57D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-3" y="3833376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>
                <a:solidFill>
                  <a:schemeClr val="tx1"/>
                </a:solidFill>
              </a:rPr>
              <a:t>所以说</a:t>
            </a:r>
            <a:r>
              <a:rPr lang="zh-CN" altLang="en-US" dirty="0" smtClean="0"/>
              <a:t>，这</a:t>
            </a:r>
            <a:r>
              <a:rPr lang="zh-CN" altLang="en-US" dirty="0"/>
              <a:t>本</a:t>
            </a:r>
            <a:r>
              <a:rPr lang="zh-CN" altLang="en-US" dirty="0" smtClean="0"/>
              <a:t>书为初学者提供了绝佳的了解现代市场经济观的好机会。</a:t>
            </a:r>
            <a:endParaRPr lang="zh-CN" altLang="zh-CN" dirty="0"/>
          </a:p>
        </p:txBody>
      </p:sp>
      <p:sp>
        <p:nvSpPr>
          <p:cNvPr id="7" name="文本框 6"/>
          <p:cNvSpPr txBox="1"/>
          <p:nvPr/>
        </p:nvSpPr>
        <p:spPr>
          <a:xfrm>
            <a:off x="-2" y="4469371"/>
            <a:ext cx="12192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>
                <a:solidFill>
                  <a:schemeClr val="tx1"/>
                </a:solidFill>
              </a:rPr>
              <a:t>这本书</a:t>
            </a:r>
            <a:r>
              <a:rPr lang="zh-CN" altLang="en-US" dirty="0" smtClean="0"/>
              <a:t>让我初识了市场经济，了解了市场与市场设计的重要性。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0" y="5105366"/>
            <a:ext cx="121919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>
                <a:solidFill>
                  <a:schemeClr val="tx1"/>
                </a:solidFill>
              </a:rPr>
              <a:t>这本书</a:t>
            </a:r>
            <a:r>
              <a:rPr lang="zh-CN" altLang="en-US" dirty="0" smtClean="0"/>
              <a:t>让我了解了政府与市场之间的特殊关系。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-2" y="5741362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rgbClr val="A57D5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 smtClean="0">
                <a:solidFill>
                  <a:schemeClr val="tx1"/>
                </a:solidFill>
              </a:rPr>
              <a:t>SO,</a:t>
            </a:r>
            <a:r>
              <a:rPr lang="zh-CN" altLang="en-US" dirty="0" smtClean="0">
                <a:solidFill>
                  <a:schemeClr val="tx1"/>
                </a:solidFill>
              </a:rPr>
              <a:t>动手</a:t>
            </a:r>
            <a:r>
              <a:rPr lang="zh-CN" altLang="en-US" dirty="0">
                <a:solidFill>
                  <a:schemeClr val="tx1"/>
                </a:solidFill>
              </a:rPr>
              <a:t>去读</a:t>
            </a:r>
            <a:r>
              <a:rPr lang="zh-CN" altLang="en-US" dirty="0" smtClean="0">
                <a:solidFill>
                  <a:schemeClr val="tx1"/>
                </a:solidFill>
              </a:rPr>
              <a:t>吧！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9506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C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 flipV="1">
            <a:off x="4341894" y="971565"/>
            <a:ext cx="3334042" cy="2743201"/>
          </a:xfrm>
          <a:custGeom>
            <a:avLst/>
            <a:gdLst>
              <a:gd name="connsiteX0" fmla="*/ 356389 w 3629465"/>
              <a:gd name="connsiteY0" fmla="*/ 2897945 h 2897945"/>
              <a:gd name="connsiteX1" fmla="*/ 3273076 w 3629465"/>
              <a:gd name="connsiteY1" fmla="*/ 2897945 h 2897945"/>
              <a:gd name="connsiteX2" fmla="*/ 3629465 w 3629465"/>
              <a:gd name="connsiteY2" fmla="*/ 2541556 h 2897945"/>
              <a:gd name="connsiteX3" fmla="*/ 3629465 w 3629465"/>
              <a:gd name="connsiteY3" fmla="*/ 1116045 h 2897945"/>
              <a:gd name="connsiteX4" fmla="*/ 3273076 w 3629465"/>
              <a:gd name="connsiteY4" fmla="*/ 759656 h 2897945"/>
              <a:gd name="connsiteX5" fmla="*/ 1071704 w 3629465"/>
              <a:gd name="connsiteY5" fmla="*/ 759656 h 2897945"/>
              <a:gd name="connsiteX6" fmla="*/ 450167 w 3629465"/>
              <a:gd name="connsiteY6" fmla="*/ 0 h 2897945"/>
              <a:gd name="connsiteX7" fmla="*/ 450167 w 3629465"/>
              <a:gd name="connsiteY7" fmla="*/ 759656 h 2897945"/>
              <a:gd name="connsiteX8" fmla="*/ 356389 w 3629465"/>
              <a:gd name="connsiteY8" fmla="*/ 759656 h 2897945"/>
              <a:gd name="connsiteX9" fmla="*/ 0 w 3629465"/>
              <a:gd name="connsiteY9" fmla="*/ 1116045 h 2897945"/>
              <a:gd name="connsiteX10" fmla="*/ 0 w 3629465"/>
              <a:gd name="connsiteY10" fmla="*/ 2541556 h 2897945"/>
              <a:gd name="connsiteX11" fmla="*/ 356389 w 3629465"/>
              <a:gd name="connsiteY11" fmla="*/ 2897945 h 2897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629465" h="2897945">
                <a:moveTo>
                  <a:pt x="356389" y="2897945"/>
                </a:moveTo>
                <a:lnTo>
                  <a:pt x="3273076" y="2897945"/>
                </a:lnTo>
                <a:cubicBezTo>
                  <a:pt x="3469904" y="2897945"/>
                  <a:pt x="3629465" y="2738384"/>
                  <a:pt x="3629465" y="2541556"/>
                </a:cubicBezTo>
                <a:lnTo>
                  <a:pt x="3629465" y="1116045"/>
                </a:lnTo>
                <a:cubicBezTo>
                  <a:pt x="3629465" y="919217"/>
                  <a:pt x="3469904" y="759656"/>
                  <a:pt x="3273076" y="759656"/>
                </a:cubicBezTo>
                <a:lnTo>
                  <a:pt x="1071704" y="759656"/>
                </a:lnTo>
                <a:lnTo>
                  <a:pt x="450167" y="0"/>
                </a:lnTo>
                <a:lnTo>
                  <a:pt x="450167" y="759656"/>
                </a:lnTo>
                <a:lnTo>
                  <a:pt x="356389" y="759656"/>
                </a:lnTo>
                <a:cubicBezTo>
                  <a:pt x="159561" y="759656"/>
                  <a:pt x="0" y="919217"/>
                  <a:pt x="0" y="1116045"/>
                </a:cubicBezTo>
                <a:lnTo>
                  <a:pt x="0" y="2541556"/>
                </a:lnTo>
                <a:cubicBezTo>
                  <a:pt x="0" y="2738384"/>
                  <a:pt x="159561" y="2897945"/>
                  <a:pt x="356389" y="2897945"/>
                </a:cubicBezTo>
                <a:close/>
              </a:path>
            </a:pathLst>
          </a:custGeom>
          <a:solidFill>
            <a:srgbClr val="A57D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0" y="1444502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bg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结语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0" y="4378817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4800" dirty="0" smtClean="0">
                <a:solidFill>
                  <a:srgbClr val="A57D55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了解市场运作规律</a:t>
            </a:r>
            <a:r>
              <a:rPr lang="zh-CN" altLang="en-US" sz="4800" dirty="0" smtClean="0">
                <a:solidFill>
                  <a:srgbClr val="A57D55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的</a:t>
            </a:r>
            <a:r>
              <a:rPr lang="zh-CN" altLang="zh-CN" sz="5400" dirty="0" smtClean="0">
                <a:latin typeface="华康俪金黑W8" panose="020B0809000000000000" pitchFamily="49" charset="-122"/>
                <a:ea typeface="华康俪金黑W8" panose="020B0809000000000000" pitchFamily="49" charset="-122"/>
              </a:rPr>
              <a:t>必读书</a:t>
            </a:r>
            <a:r>
              <a:rPr lang="zh-CN" altLang="en-US" sz="5400" dirty="0" smtClean="0">
                <a:solidFill>
                  <a:srgbClr val="A57D55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！</a:t>
            </a:r>
            <a:endParaRPr lang="zh-CN" altLang="en-US" sz="5400" dirty="0">
              <a:solidFill>
                <a:srgbClr val="A57D55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021756" y="6325036"/>
            <a:ext cx="3039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 Design By @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初梦想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198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0CFC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0" y="0"/>
            <a:ext cx="12192000" cy="1231900"/>
          </a:xfrm>
          <a:prstGeom prst="rect">
            <a:avLst/>
          </a:prstGeom>
          <a:solidFill>
            <a:srgbClr val="A57D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748533" y="31571"/>
            <a:ext cx="66949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FFFFFF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</a:rPr>
              <a:t>感谢</a:t>
            </a:r>
            <a:r>
              <a:rPr lang="en-US" altLang="zh-CN" sz="2400" b="1" dirty="0" smtClean="0">
                <a:solidFill>
                  <a:srgbClr val="FFFFFF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</a:rPr>
              <a:t>@</a:t>
            </a:r>
            <a:r>
              <a:rPr lang="zh-CN" altLang="en-US" sz="2400" b="1" dirty="0" smtClean="0">
                <a:solidFill>
                  <a:srgbClr val="FFFFFF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</a:rPr>
              <a:t>秋叶 ，</a:t>
            </a:r>
            <a:r>
              <a:rPr lang="en-US" altLang="zh-CN" sz="2400" b="1" dirty="0" smtClean="0">
                <a:solidFill>
                  <a:srgbClr val="FFFFFF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</a:rPr>
              <a:t>@</a:t>
            </a:r>
            <a:r>
              <a:rPr lang="zh-CN" altLang="en-US" sz="2400" b="1" dirty="0" smtClean="0">
                <a:solidFill>
                  <a:srgbClr val="FFFFFF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</a:rPr>
              <a:t>小巴</a:t>
            </a:r>
            <a:r>
              <a:rPr lang="en-US" altLang="zh-CN" sz="2400" b="1" dirty="0" smtClean="0">
                <a:solidFill>
                  <a:srgbClr val="FFFFFF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</a:rPr>
              <a:t>_1990</a:t>
            </a:r>
            <a:r>
              <a:rPr lang="zh-CN" altLang="en-US" sz="2400" b="1" dirty="0" smtClean="0">
                <a:solidFill>
                  <a:srgbClr val="FFFFFF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</a:rPr>
              <a:t> 指导点评</a:t>
            </a:r>
            <a:endParaRPr lang="en-US" altLang="zh-CN" sz="2400" b="1" dirty="0" smtClean="0">
              <a:solidFill>
                <a:srgbClr val="FFFFFF"/>
              </a:solidFill>
              <a:latin typeface="方正准圆简体" panose="03000509000000000000" pitchFamily="65" charset="-122"/>
              <a:ea typeface="方正准圆简体" panose="03000509000000000000" pitchFamily="65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FFFFFF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</a:rPr>
              <a:t>#</a:t>
            </a:r>
            <a:r>
              <a:rPr lang="zh-CN" altLang="en-US" sz="2400" b="1" dirty="0" smtClean="0">
                <a:solidFill>
                  <a:srgbClr val="FFFFFF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</a:rPr>
              <a:t>和秋叶一起学</a:t>
            </a:r>
            <a:r>
              <a:rPr lang="en-US" altLang="zh-CN" sz="2400" b="1" dirty="0" smtClean="0">
                <a:solidFill>
                  <a:srgbClr val="FFFFFF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</a:rPr>
              <a:t>PPT#</a:t>
            </a:r>
            <a:r>
              <a:rPr lang="zh-CN" altLang="en-US" sz="2400" b="1" dirty="0" smtClean="0">
                <a:solidFill>
                  <a:srgbClr val="FFFFFF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</a:rPr>
              <a:t>我在网易云课堂等你</a:t>
            </a:r>
            <a:endParaRPr lang="zh-CN" altLang="en-US" sz="2400" b="1" dirty="0">
              <a:solidFill>
                <a:srgbClr val="FFFFFF"/>
              </a:solidFill>
              <a:latin typeface="方正准圆简体" panose="03000509000000000000" pitchFamily="65" charset="-122"/>
              <a:ea typeface="方正准圆简体" panose="03000509000000000000" pitchFamily="65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053364" y="5475412"/>
            <a:ext cx="2395684" cy="748608"/>
            <a:chOff x="2930525" y="5448992"/>
            <a:chExt cx="2395684" cy="748608"/>
          </a:xfrm>
        </p:grpSpPr>
        <p:sp>
          <p:nvSpPr>
            <p:cNvPr id="19" name="矩形 18"/>
            <p:cNvSpPr/>
            <p:nvPr/>
          </p:nvSpPr>
          <p:spPr>
            <a:xfrm>
              <a:off x="2930525" y="5448992"/>
              <a:ext cx="2395684" cy="748608"/>
            </a:xfrm>
            <a:prstGeom prst="rect">
              <a:avLst/>
            </a:prstGeom>
            <a:solidFill>
              <a:srgbClr val="A57D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3065821" y="5448992"/>
              <a:ext cx="21250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FFFFFF"/>
                  </a:solidFill>
                  <a:latin typeface="方正准圆简体" panose="03000509000000000000" pitchFamily="65" charset="-122"/>
                  <a:ea typeface="方正准圆简体" panose="03000509000000000000" pitchFamily="65" charset="-122"/>
                </a:rPr>
                <a:t>修改前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692164" y="5475412"/>
            <a:ext cx="2395684" cy="748608"/>
            <a:chOff x="2930525" y="5448992"/>
            <a:chExt cx="2395684" cy="748608"/>
          </a:xfrm>
          <a:solidFill>
            <a:srgbClr val="DDC047"/>
          </a:solidFill>
        </p:grpSpPr>
        <p:sp>
          <p:nvSpPr>
            <p:cNvPr id="23" name="矩形 22"/>
            <p:cNvSpPr/>
            <p:nvPr/>
          </p:nvSpPr>
          <p:spPr>
            <a:xfrm>
              <a:off x="2930525" y="5448992"/>
              <a:ext cx="2395684" cy="748608"/>
            </a:xfrm>
            <a:prstGeom prst="rect">
              <a:avLst/>
            </a:prstGeom>
            <a:solidFill>
              <a:srgbClr val="A57D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3065821" y="5448992"/>
              <a:ext cx="2125092" cy="588303"/>
            </a:xfrm>
            <a:prstGeom prst="rect">
              <a:avLst/>
            </a:prstGeom>
            <a:solidFill>
              <a:srgbClr val="A57D55"/>
            </a:solidFill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400" b="1" dirty="0" smtClean="0">
                  <a:solidFill>
                    <a:srgbClr val="FFFFFF"/>
                  </a:solidFill>
                  <a:latin typeface="方正准圆简体" panose="03000509000000000000" pitchFamily="65" charset="-122"/>
                  <a:ea typeface="方正准圆简体" panose="03000509000000000000" pitchFamily="65" charset="-122"/>
                </a:rPr>
                <a:t>修改后</a:t>
              </a:r>
              <a:endParaRPr lang="zh-CN" altLang="en-US" sz="2400" b="1" dirty="0">
                <a:solidFill>
                  <a:srgbClr val="FFFFFF"/>
                </a:solidFill>
                <a:latin typeface="方正准圆简体" panose="03000509000000000000" pitchFamily="65" charset="-122"/>
                <a:ea typeface="方正准圆简体" panose="03000509000000000000" pitchFamily="65" charset="-122"/>
              </a:endParaRPr>
            </a:p>
          </p:txBody>
        </p:sp>
      </p:grpSp>
      <p:sp>
        <p:nvSpPr>
          <p:cNvPr id="21" name="矩形 20"/>
          <p:cNvSpPr/>
          <p:nvPr/>
        </p:nvSpPr>
        <p:spPr>
          <a:xfrm>
            <a:off x="10693400" y="0"/>
            <a:ext cx="1498600" cy="1231900"/>
          </a:xfrm>
          <a:custGeom>
            <a:avLst/>
            <a:gdLst>
              <a:gd name="connsiteX0" fmla="*/ 0 w 1625600"/>
              <a:gd name="connsiteY0" fmla="*/ 0 h 1231900"/>
              <a:gd name="connsiteX1" fmla="*/ 1625600 w 1625600"/>
              <a:gd name="connsiteY1" fmla="*/ 0 h 1231900"/>
              <a:gd name="connsiteX2" fmla="*/ 1625600 w 1625600"/>
              <a:gd name="connsiteY2" fmla="*/ 1231900 h 1231900"/>
              <a:gd name="connsiteX3" fmla="*/ 0 w 1625600"/>
              <a:gd name="connsiteY3" fmla="*/ 1231900 h 1231900"/>
              <a:gd name="connsiteX4" fmla="*/ 0 w 1625600"/>
              <a:gd name="connsiteY4" fmla="*/ 0 h 1231900"/>
              <a:gd name="connsiteX0" fmla="*/ 0 w 1625600"/>
              <a:gd name="connsiteY0" fmla="*/ 1231900 h 1231900"/>
              <a:gd name="connsiteX1" fmla="*/ 1625600 w 1625600"/>
              <a:gd name="connsiteY1" fmla="*/ 0 h 1231900"/>
              <a:gd name="connsiteX2" fmla="*/ 1625600 w 1625600"/>
              <a:gd name="connsiteY2" fmla="*/ 1231900 h 1231900"/>
              <a:gd name="connsiteX3" fmla="*/ 0 w 1625600"/>
              <a:gd name="connsiteY3" fmla="*/ 1231900 h 123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5600" h="1231900">
                <a:moveTo>
                  <a:pt x="0" y="1231900"/>
                </a:moveTo>
                <a:lnTo>
                  <a:pt x="1625600" y="0"/>
                </a:lnTo>
                <a:lnTo>
                  <a:pt x="1625600" y="1231900"/>
                </a:lnTo>
                <a:lnTo>
                  <a:pt x="0" y="12319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7" name="矩形 20"/>
          <p:cNvSpPr/>
          <p:nvPr/>
        </p:nvSpPr>
        <p:spPr>
          <a:xfrm>
            <a:off x="3800928" y="5475412"/>
            <a:ext cx="648120" cy="748608"/>
          </a:xfrm>
          <a:custGeom>
            <a:avLst/>
            <a:gdLst>
              <a:gd name="connsiteX0" fmla="*/ 0 w 1625600"/>
              <a:gd name="connsiteY0" fmla="*/ 0 h 1231900"/>
              <a:gd name="connsiteX1" fmla="*/ 1625600 w 1625600"/>
              <a:gd name="connsiteY1" fmla="*/ 0 h 1231900"/>
              <a:gd name="connsiteX2" fmla="*/ 1625600 w 1625600"/>
              <a:gd name="connsiteY2" fmla="*/ 1231900 h 1231900"/>
              <a:gd name="connsiteX3" fmla="*/ 0 w 1625600"/>
              <a:gd name="connsiteY3" fmla="*/ 1231900 h 1231900"/>
              <a:gd name="connsiteX4" fmla="*/ 0 w 1625600"/>
              <a:gd name="connsiteY4" fmla="*/ 0 h 1231900"/>
              <a:gd name="connsiteX0" fmla="*/ 0 w 1625600"/>
              <a:gd name="connsiteY0" fmla="*/ 1231900 h 1231900"/>
              <a:gd name="connsiteX1" fmla="*/ 1625600 w 1625600"/>
              <a:gd name="connsiteY1" fmla="*/ 0 h 1231900"/>
              <a:gd name="connsiteX2" fmla="*/ 1625600 w 1625600"/>
              <a:gd name="connsiteY2" fmla="*/ 1231900 h 1231900"/>
              <a:gd name="connsiteX3" fmla="*/ 0 w 1625600"/>
              <a:gd name="connsiteY3" fmla="*/ 1231900 h 123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5600" h="1231900">
                <a:moveTo>
                  <a:pt x="0" y="1231900"/>
                </a:moveTo>
                <a:lnTo>
                  <a:pt x="1625600" y="0"/>
                </a:lnTo>
                <a:lnTo>
                  <a:pt x="1625600" y="1231900"/>
                </a:lnTo>
                <a:lnTo>
                  <a:pt x="0" y="12319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8" name="矩形 20"/>
          <p:cNvSpPr/>
          <p:nvPr/>
        </p:nvSpPr>
        <p:spPr>
          <a:xfrm>
            <a:off x="9372080" y="5475412"/>
            <a:ext cx="715768" cy="748608"/>
          </a:xfrm>
          <a:custGeom>
            <a:avLst/>
            <a:gdLst>
              <a:gd name="connsiteX0" fmla="*/ 0 w 1625600"/>
              <a:gd name="connsiteY0" fmla="*/ 0 h 1231900"/>
              <a:gd name="connsiteX1" fmla="*/ 1625600 w 1625600"/>
              <a:gd name="connsiteY1" fmla="*/ 0 h 1231900"/>
              <a:gd name="connsiteX2" fmla="*/ 1625600 w 1625600"/>
              <a:gd name="connsiteY2" fmla="*/ 1231900 h 1231900"/>
              <a:gd name="connsiteX3" fmla="*/ 0 w 1625600"/>
              <a:gd name="connsiteY3" fmla="*/ 1231900 h 1231900"/>
              <a:gd name="connsiteX4" fmla="*/ 0 w 1625600"/>
              <a:gd name="connsiteY4" fmla="*/ 0 h 1231900"/>
              <a:gd name="connsiteX0" fmla="*/ 0 w 1625600"/>
              <a:gd name="connsiteY0" fmla="*/ 1231900 h 1231900"/>
              <a:gd name="connsiteX1" fmla="*/ 1625600 w 1625600"/>
              <a:gd name="connsiteY1" fmla="*/ 0 h 1231900"/>
              <a:gd name="connsiteX2" fmla="*/ 1625600 w 1625600"/>
              <a:gd name="connsiteY2" fmla="*/ 1231900 h 1231900"/>
              <a:gd name="connsiteX3" fmla="*/ 0 w 1625600"/>
              <a:gd name="connsiteY3" fmla="*/ 1231900 h 123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5600" h="1231900">
                <a:moveTo>
                  <a:pt x="0" y="1231900"/>
                </a:moveTo>
                <a:lnTo>
                  <a:pt x="1625600" y="0"/>
                </a:lnTo>
                <a:lnTo>
                  <a:pt x="1625600" y="1231900"/>
                </a:lnTo>
                <a:lnTo>
                  <a:pt x="0" y="12319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6096000" y="1231900"/>
            <a:ext cx="0" cy="5626100"/>
          </a:xfrm>
          <a:prstGeom prst="line">
            <a:avLst/>
          </a:prstGeom>
          <a:ln w="22225">
            <a:solidFill>
              <a:srgbClr val="A57D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11" y="2152195"/>
            <a:ext cx="5118789" cy="2879319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401" y="2152194"/>
            <a:ext cx="5118789" cy="287931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678022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81736" y="838043"/>
            <a:ext cx="8228528" cy="424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034631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1662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8095280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78365" y="4061256"/>
            <a:ext cx="8228528" cy="1966949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620"/>
              </a:spcBef>
            </a:pP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62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62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62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272768" y="4401009"/>
            <a:ext cx="76464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078365" y="2165390"/>
            <a:ext cx="1749616" cy="1207081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124488" y="2165393"/>
            <a:ext cx="1749616" cy="1207082"/>
            <a:chOff x="107380" y="2024805"/>
            <a:chExt cx="1944270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7100" y="2165390"/>
            <a:ext cx="1749616" cy="1207081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8160078" y="2165390"/>
            <a:ext cx="1749616" cy="1207081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06591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985318" y="4012191"/>
            <a:ext cx="8251029" cy="1446421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0" cy="53347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82782">
                <a:defRPr/>
              </a:pPr>
              <a:r>
                <a:rPr lang="en-US" altLang="zh-CN" sz="1260" kern="0" dirty="0">
                  <a:solidFill>
                    <a:prstClr val="black"/>
                  </a:solidFill>
                </a:rPr>
                <a:t/>
              </a:r>
              <a:br>
                <a:rPr lang="en-US" altLang="zh-CN" sz="1260" kern="0" dirty="0">
                  <a:solidFill>
                    <a:prstClr val="black"/>
                  </a:solidFill>
                </a:rPr>
              </a:br>
              <a:endParaRPr lang="en-US" altLang="zh-CN" sz="1260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617158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16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46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1" y="3613174"/>
              <a:ext cx="594123" cy="564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70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539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69" y="3441723"/>
              <a:ext cx="3519839" cy="916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216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405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216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2160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70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6"/>
              <a:ext cx="1596629" cy="425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890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46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9" cy="425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890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16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216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090590" cy="333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350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212347" y="1161046"/>
            <a:ext cx="5767312" cy="261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2700"/>
              </a:spcBef>
            </a:pPr>
            <a:r>
              <a:rPr lang="zh-CN" altLang="en-US" sz="39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3960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070</a:t>
            </a:r>
            <a:r>
              <a:rPr lang="zh-CN" altLang="en-US" sz="3960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96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2700"/>
              </a:spcBef>
            </a:pPr>
            <a:r>
              <a:rPr lang="zh-CN" altLang="en-US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52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4082471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875</TotalTime>
  <Words>1269</Words>
  <Application>Microsoft Office PowerPoint</Application>
  <PresentationFormat>宽屏</PresentationFormat>
  <Paragraphs>205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42" baseType="lpstr">
      <vt:lpstr>方正大黑简体</vt:lpstr>
      <vt:lpstr>方正正黑简体</vt:lpstr>
      <vt:lpstr>方正正中黑简体</vt:lpstr>
      <vt:lpstr>方正准圆简体</vt:lpstr>
      <vt:lpstr>汉仪菱心体简</vt:lpstr>
      <vt:lpstr>华康俪金黑W8</vt:lpstr>
      <vt:lpstr>宋体</vt:lpstr>
      <vt:lpstr>微软雅黑</vt:lpstr>
      <vt:lpstr>Arial</vt:lpstr>
      <vt:lpstr>Calibri</vt:lpstr>
      <vt:lpstr>Calibri Light</vt:lpstr>
      <vt:lpstr>Webdings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dellpc</dc:creator>
  <cp:lastModifiedBy>小巴</cp:lastModifiedBy>
  <cp:revision>59</cp:revision>
  <dcterms:created xsi:type="dcterms:W3CDTF">2014-03-01T15:30:21Z</dcterms:created>
  <dcterms:modified xsi:type="dcterms:W3CDTF">2014-04-02T14:30:47Z</dcterms:modified>
</cp:coreProperties>
</file>