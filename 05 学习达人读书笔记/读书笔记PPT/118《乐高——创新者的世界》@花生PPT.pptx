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75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7EB00"/>
    <a:srgbClr val="000000"/>
    <a:srgbClr val="3F74B9"/>
    <a:srgbClr val="3A71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14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50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06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481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93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99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61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5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07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06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9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37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595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214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443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764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84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201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508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009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8430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248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550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225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460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916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9573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1390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708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17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9610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404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6295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95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55DD8-AE70-4127-B84B-5C59AEC69AFD}" type="datetimeFigureOut">
              <a:rPr lang="zh-CN" altLang="en-US" smtClean="0"/>
              <a:t>2014/6/12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18413-9A64-4D03-9581-82D640B718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041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2014/6/12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22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33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88" y="4924582"/>
            <a:ext cx="2282730" cy="155000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3362178" y="3573193"/>
            <a:ext cx="1172016" cy="264924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endCxn id="13" idx="2"/>
          </p:cNvCxnSpPr>
          <p:nvPr/>
        </p:nvCxnSpPr>
        <p:spPr>
          <a:xfrm flipV="1">
            <a:off x="3615396" y="2100604"/>
            <a:ext cx="1467438" cy="88174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7" idx="6"/>
            <a:endCxn id="9" idx="3"/>
          </p:cNvCxnSpPr>
          <p:nvPr/>
        </p:nvCxnSpPr>
        <p:spPr>
          <a:xfrm flipV="1">
            <a:off x="5352586" y="3577045"/>
            <a:ext cx="4878054" cy="23282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/>
          <p:cNvSpPr/>
          <p:nvPr/>
        </p:nvSpPr>
        <p:spPr>
          <a:xfrm>
            <a:off x="6418991" y="3315231"/>
            <a:ext cx="3161108" cy="316110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7EB00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0" y="323558"/>
            <a:ext cx="12192000" cy="942535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0" y="0"/>
            <a:ext cx="12192000" cy="11676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647330" y="3601329"/>
            <a:ext cx="2189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乐 </a:t>
            </a:r>
            <a:r>
              <a:rPr lang="zh-CN" altLang="en-US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endParaRPr lang="zh-CN" altLang="en-US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96930" y="449740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r>
              <a:rPr lang="zh-CN" altLang="en-US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者的世界</a:t>
            </a:r>
            <a:endParaRPr lang="zh-CN" altLang="en-US" sz="3200" b="1" dirty="0">
              <a:solidFill>
                <a:srgbClr val="F7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98830" y="4139641"/>
            <a:ext cx="189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Brick by brick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63508" y="5074988"/>
            <a:ext cx="5767753" cy="695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HOW LEGO REWROTE THE RULES OF INNOVATION </a:t>
            </a:r>
          </a:p>
          <a:p>
            <a:pPr>
              <a:lnSpc>
                <a:spcPct val="140000"/>
              </a:lnSpc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CONQUERED THE GLOBAL TOY INDUSTRY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088127" y="2746417"/>
            <a:ext cx="973141" cy="973141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10208545" y="2868937"/>
            <a:ext cx="728102" cy="72810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179699" y="3104229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DESIGN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082834" y="1839106"/>
            <a:ext cx="522996" cy="522996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086371" y="1791396"/>
            <a:ext cx="551754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</a:rPr>
              <a:t>@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42332" y="5450210"/>
            <a:ext cx="910254" cy="910254"/>
            <a:chOff x="5173224" y="4794278"/>
            <a:chExt cx="910254" cy="910254"/>
          </a:xfrm>
        </p:grpSpPr>
        <p:sp>
          <p:nvSpPr>
            <p:cNvPr id="17" name="椭圆 16"/>
            <p:cNvSpPr/>
            <p:nvPr/>
          </p:nvSpPr>
          <p:spPr>
            <a:xfrm>
              <a:off x="5173224" y="4794278"/>
              <a:ext cx="910254" cy="910254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EB00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182750" y="4926542"/>
              <a:ext cx="740986" cy="7409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7EB00"/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210418" y="5094695"/>
              <a:ext cx="623119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花生</a:t>
              </a:r>
              <a:endParaRPr lang="en-US" altLang="zh-CN" sz="1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PPTer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793" y="1919307"/>
            <a:ext cx="2007528" cy="2830114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9206969" y="603998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中信出版社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776" y="3294570"/>
            <a:ext cx="964943" cy="96036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8740" y="109391"/>
            <a:ext cx="1350500" cy="824758"/>
          </a:xfrm>
          <a:prstGeom prst="rect">
            <a:avLst/>
          </a:prstGeom>
        </p:spPr>
      </p:pic>
      <p:cxnSp>
        <p:nvCxnSpPr>
          <p:cNvPr id="28" name="直接连接符 27"/>
          <p:cNvCxnSpPr>
            <a:stCxn id="16" idx="3"/>
            <a:endCxn id="9" idx="2"/>
          </p:cNvCxnSpPr>
          <p:nvPr/>
        </p:nvCxnSpPr>
        <p:spPr>
          <a:xfrm>
            <a:off x="5638125" y="2083784"/>
            <a:ext cx="4450002" cy="114920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200709" y="347433"/>
            <a:ext cx="5440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</a:t>
            </a:r>
            <a:r>
              <a:rPr lang="en-US" altLang="zh-CN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创新者的</a:t>
            </a:r>
            <a:r>
              <a:rPr lang="zh-CN" altLang="en-US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</a:t>
            </a:r>
            <a:r>
              <a:rPr lang="en-US" altLang="zh-CN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3200" b="1" dirty="0">
              <a:solidFill>
                <a:srgbClr val="F7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350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237958" y="1716258"/>
            <a:ext cx="10170941" cy="3910819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同侧圆角矩形 4"/>
          <p:cNvSpPr/>
          <p:nvPr/>
        </p:nvSpPr>
        <p:spPr>
          <a:xfrm>
            <a:off x="1237957" y="1505243"/>
            <a:ext cx="10170941" cy="3910819"/>
          </a:xfrm>
          <a:prstGeom prst="round2SameRect">
            <a:avLst>
              <a:gd name="adj1" fmla="val 6198"/>
              <a:gd name="adj2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15153" y="2548805"/>
            <a:ext cx="9073662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"</a:t>
            </a:r>
            <a:r>
              <a:rPr lang="zh-CN" altLang="zh-CN" sz="2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要想了解创新，你就需要读读乐高。不断激发出创意，并利用小创新创造出大利润的乐高，值得每一个人体会学习</a:t>
            </a:r>
            <a:r>
              <a:rPr lang="zh-CN" altLang="zh-CN" sz="24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b="1" kern="1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304800" algn="just">
              <a:lnSpc>
                <a:spcPct val="150000"/>
              </a:lnSpc>
              <a:spcAft>
                <a:spcPts val="0"/>
              </a:spcAft>
            </a:pPr>
            <a:endParaRPr lang="zh-CN" altLang="zh-CN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133600" algn="r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——王石 万科企业股份有限公司董事会主席</a:t>
            </a:r>
            <a:endParaRPr lang="zh-CN" altLang="zh-CN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9398" y="-651058"/>
            <a:ext cx="9620322" cy="9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4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8750105" y="1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285871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8060788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286798" y="1763911"/>
            <a:ext cx="3067050" cy="3067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58409" y="2161441"/>
            <a:ext cx="272382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b="1" dirty="0" smtClean="0">
                <a:solidFill>
                  <a:srgbClr val="0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创</a:t>
            </a:r>
            <a:r>
              <a:rPr lang="zh-CN" altLang="en-US" sz="6000" b="1" dirty="0" smtClean="0">
                <a:solidFill>
                  <a:srgbClr val="0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新</a:t>
            </a:r>
            <a:endParaRPr lang="zh-CN" altLang="en-US" sz="6000" b="1" dirty="0">
              <a:solidFill>
                <a:srgbClr val="00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105822" y="1582937"/>
            <a:ext cx="3429000" cy="3428998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023824" y="5005060"/>
            <a:ext cx="76631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7200" b="1" dirty="0" smtClean="0">
                <a:solidFill>
                  <a:schemeClr val="bg1">
                    <a:alpha val="36000"/>
                  </a:schemeClr>
                </a:solidFill>
              </a:rPr>
              <a:t>INNOVATION</a:t>
            </a:r>
            <a:endParaRPr lang="zh-CN" altLang="en-US" sz="7200" b="1" dirty="0">
              <a:solidFill>
                <a:schemeClr val="bg1">
                  <a:alpha val="36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92505" y="1848408"/>
            <a:ext cx="3518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集团的兴衰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815422" y="1582937"/>
            <a:ext cx="1451429" cy="1451429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61076" y="4049247"/>
            <a:ext cx="1451429" cy="1451429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62281" y="4250452"/>
            <a:ext cx="1049018" cy="104901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4026176" y="1763911"/>
            <a:ext cx="1049018" cy="104901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112103" y="1826755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7EB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成</a:t>
            </a:r>
            <a:endParaRPr lang="zh-CN" altLang="en-US" sz="5400" dirty="0">
              <a:solidFill>
                <a:srgbClr val="F7EB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3713" y="433297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7EB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败</a:t>
            </a:r>
            <a:endParaRPr lang="zh-CN" altLang="en-US" sz="5400" dirty="0">
              <a:solidFill>
                <a:srgbClr val="F7EB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010752" y="2512431"/>
            <a:ext cx="4517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</a:rPr>
              <a:t>THE RISE AND FALL OF THE LEGO GROUP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53299" y="1433525"/>
            <a:ext cx="1258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930" y="3598178"/>
            <a:ext cx="2562062" cy="156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6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5420557"/>
            <a:ext cx="12192000" cy="1282700"/>
          </a:xfrm>
          <a:prstGeom prst="rect">
            <a:avLst/>
          </a:prstGeom>
          <a:solidFill>
            <a:srgbClr val="F7EB00"/>
          </a:solidFill>
          <a:ln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-70337" y="5575300"/>
            <a:ext cx="12318609" cy="1282700"/>
          </a:xfrm>
          <a:prstGeom prst="rect">
            <a:avLst/>
          </a:prstGeom>
          <a:solidFill>
            <a:srgbClr val="FF0000"/>
          </a:solidFill>
          <a:ln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25686" y="1599660"/>
            <a:ext cx="3659976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b="1" dirty="0" smtClean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六</a:t>
            </a:r>
            <a:r>
              <a:rPr lang="zh-CN" altLang="en-US" sz="6600" b="1" dirty="0" smtClean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原则</a:t>
            </a:r>
            <a:endParaRPr lang="zh-CN" altLang="en-US" sz="1400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1660" y="3553157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为乐高集团的持久成功奠定了基础！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13546" y="10595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7610585" y="10595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507624" y="10595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732345" y="30026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629384" y="30026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9526423" y="3002693"/>
            <a:ext cx="1688374" cy="1688374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907118" y="171911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价值观无价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69942" y="158061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不断试验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才能突破创新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560380" y="1416714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乐高积木不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是单件产品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而是一个系统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22534" y="352371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专注产生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更多创意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919573" y="3523714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仿真度高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制作逼真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932028" y="3523714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先商店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后小孩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等腰三角形 24"/>
          <p:cNvSpPr/>
          <p:nvPr/>
        </p:nvSpPr>
        <p:spPr>
          <a:xfrm>
            <a:off x="1002327" y="4906240"/>
            <a:ext cx="608875" cy="524892"/>
          </a:xfrm>
          <a:prstGeom prst="triangle">
            <a:avLst/>
          </a:prstGeom>
          <a:solidFill>
            <a:srgbClr val="F7EB00"/>
          </a:solidFill>
          <a:ln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66876" y="581248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endParaRPr lang="en-US" altLang="zh-CN" sz="2400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感悟</a:t>
            </a:r>
          </a:p>
        </p:txBody>
      </p:sp>
      <p:grpSp>
        <p:nvGrpSpPr>
          <p:cNvPr id="30" name="组合 29"/>
          <p:cNvGrpSpPr/>
          <p:nvPr/>
        </p:nvGrpSpPr>
        <p:grpSpPr>
          <a:xfrm>
            <a:off x="1611202" y="6039141"/>
            <a:ext cx="640787" cy="707886"/>
            <a:chOff x="1369902" y="5937541"/>
            <a:chExt cx="640787" cy="707886"/>
          </a:xfrm>
        </p:grpSpPr>
        <p:sp>
          <p:nvSpPr>
            <p:cNvPr id="27" name="文本框 26"/>
            <p:cNvSpPr txBox="1"/>
            <p:nvPr/>
          </p:nvSpPr>
          <p:spPr>
            <a:xfrm>
              <a:off x="1468120" y="5937541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</a:rPr>
                <a:t>1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369902" y="5971090"/>
              <a:ext cx="640787" cy="6407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/>
        </p:nvSpPr>
        <p:spPr>
          <a:xfrm>
            <a:off x="508542" y="5718907"/>
            <a:ext cx="320234" cy="3202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2883213" y="5830454"/>
            <a:ext cx="8725466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企业的长远发展，不仅从诞生之日起要给自己定好方向，还要定好遵循的原则！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个人的长远发展，要有方向、有目标、有实践，也要给自己做事做人的原则和方法！</a:t>
            </a:r>
            <a:endParaRPr lang="zh-CN" altLang="en-US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112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0" y="4259792"/>
            <a:ext cx="12192000" cy="259820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0" y="4034710"/>
            <a:ext cx="12192000" cy="227802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9340949" y="541662"/>
            <a:ext cx="1880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快速成长</a:t>
            </a:r>
            <a:endParaRPr lang="zh-CN" altLang="en-US" sz="3200" b="1" dirty="0"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026906" y="54860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endParaRPr lang="zh-CN" altLang="en-US" sz="3200" b="1" dirty="0">
              <a:solidFill>
                <a:srgbClr val="F7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37956" y="1029456"/>
            <a:ext cx="1361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</a:t>
            </a:r>
            <a:endParaRPr lang="zh-CN" altLang="en-US" sz="3600" b="1" dirty="0">
              <a:solidFill>
                <a:srgbClr val="F7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21042" y="48260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2842709" y="1833060"/>
            <a:ext cx="1720000" cy="1720000"/>
            <a:chOff x="3095320" y="2345124"/>
            <a:chExt cx="1720000" cy="1720000"/>
          </a:xfrm>
          <a:solidFill>
            <a:schemeClr val="bg1">
              <a:lumMod val="85000"/>
            </a:schemeClr>
          </a:solidFill>
        </p:grpSpPr>
        <p:sp>
          <p:nvSpPr>
            <p:cNvPr id="11" name="椭圆 10"/>
            <p:cNvSpPr/>
            <p:nvPr/>
          </p:nvSpPr>
          <p:spPr>
            <a:xfrm>
              <a:off x="3095320" y="2345124"/>
              <a:ext cx="1720000" cy="1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441445" y="2912736"/>
              <a:ext cx="1005403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探索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880450" y="1833060"/>
            <a:ext cx="1720000" cy="1720000"/>
            <a:chOff x="5077398" y="2381700"/>
            <a:chExt cx="1720000" cy="1720000"/>
          </a:xfrm>
          <a:solidFill>
            <a:schemeClr val="bg1">
              <a:lumMod val="85000"/>
            </a:schemeClr>
          </a:solidFill>
        </p:grpSpPr>
        <p:sp>
          <p:nvSpPr>
            <p:cNvPr id="14" name="椭圆 13"/>
            <p:cNvSpPr/>
            <p:nvPr/>
          </p:nvSpPr>
          <p:spPr>
            <a:xfrm>
              <a:off x="5077398" y="2381700"/>
              <a:ext cx="1720000" cy="1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434696" y="2949312"/>
              <a:ext cx="1005403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引入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6918191" y="1833060"/>
            <a:ext cx="1720000" cy="1720000"/>
            <a:chOff x="7120583" y="2597887"/>
            <a:chExt cx="1720000" cy="1720000"/>
          </a:xfrm>
          <a:solidFill>
            <a:schemeClr val="bg1">
              <a:lumMod val="85000"/>
            </a:schemeClr>
          </a:solidFill>
        </p:grpSpPr>
        <p:sp>
          <p:nvSpPr>
            <p:cNvPr id="15" name="椭圆 14"/>
            <p:cNvSpPr/>
            <p:nvPr/>
          </p:nvSpPr>
          <p:spPr>
            <a:xfrm>
              <a:off x="7120583" y="2597887"/>
              <a:ext cx="1720000" cy="1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477881" y="3165499"/>
              <a:ext cx="1005403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博弈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8995489" y="1833060"/>
            <a:ext cx="1720000" cy="1720000"/>
            <a:chOff x="9197881" y="2854062"/>
            <a:chExt cx="1720000" cy="1720000"/>
          </a:xfrm>
          <a:solidFill>
            <a:schemeClr val="bg1">
              <a:lumMod val="85000"/>
            </a:schemeClr>
          </a:solidFill>
        </p:grpSpPr>
        <p:sp>
          <p:nvSpPr>
            <p:cNvPr id="16" name="椭圆 15"/>
            <p:cNvSpPr/>
            <p:nvPr/>
          </p:nvSpPr>
          <p:spPr>
            <a:xfrm>
              <a:off x="9197881" y="2854062"/>
              <a:ext cx="1720000" cy="1720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555105" y="3421674"/>
              <a:ext cx="1005403" cy="58477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奇迹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等腰三角形 21"/>
          <p:cNvSpPr/>
          <p:nvPr/>
        </p:nvSpPr>
        <p:spPr>
          <a:xfrm>
            <a:off x="1022295" y="3630746"/>
            <a:ext cx="608875" cy="524892"/>
          </a:xfrm>
          <a:prstGeom prst="triangl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21268" y="996857"/>
            <a:ext cx="1826141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星球大战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6010" y="4993517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endParaRPr lang="en-US" altLang="zh-CN" sz="2400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感悟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1560336" y="5220172"/>
            <a:ext cx="640787" cy="707886"/>
            <a:chOff x="1369902" y="5937541"/>
            <a:chExt cx="640787" cy="707886"/>
          </a:xfrm>
        </p:grpSpPr>
        <p:sp>
          <p:nvSpPr>
            <p:cNvPr id="26" name="文本框 25"/>
            <p:cNvSpPr txBox="1"/>
            <p:nvPr/>
          </p:nvSpPr>
          <p:spPr>
            <a:xfrm>
              <a:off x="1468120" y="5937541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</a:rPr>
                <a:t>2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369902" y="5971090"/>
              <a:ext cx="640787" cy="6407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/>
        </p:nvSpPr>
        <p:spPr>
          <a:xfrm>
            <a:off x="457676" y="4899938"/>
            <a:ext cx="320234" cy="3202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602996" y="4396957"/>
            <a:ext cx="9187130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乐高集团能够突破自己传统的束缚，去探索并引入一个全新的，充满未知数的领域，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在传统与新兴力量之间的博弈，最终还是</a:t>
            </a:r>
            <a:r>
              <a:rPr lang="en-US" altLang="zh-CN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星球大战</a:t>
            </a:r>
            <a:r>
              <a:rPr lang="en-US" altLang="zh-CN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的引入，为乐高创造了一个奇迹！</a:t>
            </a:r>
            <a:endParaRPr lang="zh-CN" altLang="en-US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606547" y="5438604"/>
            <a:ext cx="6647974" cy="11726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从个人的发展角度出发，要想扩展自己的视野</a:t>
            </a:r>
            <a:r>
              <a:rPr lang="en-US" altLang="zh-CN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事业，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有时候就应该勇敢的去探索你所坚信的领域，学会博弈与平衡，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也许下一个奇迹就是你！</a:t>
            </a:r>
            <a:endParaRPr lang="zh-CN" altLang="en-US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693599" y="5307936"/>
            <a:ext cx="9001085" cy="322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3006852" y="1833060"/>
            <a:ext cx="1365427" cy="13654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/>
          <p:cNvSpPr/>
          <p:nvPr/>
        </p:nvSpPr>
        <p:spPr>
          <a:xfrm>
            <a:off x="5057737" y="1833060"/>
            <a:ext cx="1365427" cy="13654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/>
          <p:cNvSpPr/>
          <p:nvPr/>
        </p:nvSpPr>
        <p:spPr>
          <a:xfrm>
            <a:off x="7098222" y="1833060"/>
            <a:ext cx="1365427" cy="13654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9195262" y="1833060"/>
            <a:ext cx="1365427" cy="1365427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83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4998526"/>
            <a:ext cx="12192000" cy="1282700"/>
          </a:xfrm>
          <a:prstGeom prst="rect">
            <a:avLst/>
          </a:prstGeom>
          <a:solidFill>
            <a:srgbClr val="F7EB00"/>
          </a:solidFill>
          <a:ln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-70337" y="5190978"/>
            <a:ext cx="12318609" cy="166702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等腰三角形 46"/>
          <p:cNvSpPr/>
          <p:nvPr/>
        </p:nvSpPr>
        <p:spPr>
          <a:xfrm>
            <a:off x="1002327" y="4484209"/>
            <a:ext cx="608875" cy="524892"/>
          </a:xfrm>
          <a:prstGeom prst="triangle">
            <a:avLst/>
          </a:prstGeom>
          <a:solidFill>
            <a:srgbClr val="F7EB00"/>
          </a:solidFill>
          <a:ln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十角星 37"/>
          <p:cNvSpPr/>
          <p:nvPr/>
        </p:nvSpPr>
        <p:spPr>
          <a:xfrm>
            <a:off x="8807165" y="2194673"/>
            <a:ext cx="1485295" cy="1485295"/>
          </a:xfrm>
          <a:prstGeom prst="star10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/>
        </p:nvSpPr>
        <p:spPr>
          <a:xfrm>
            <a:off x="-14514" y="754211"/>
            <a:ext cx="12192000" cy="2989943"/>
          </a:xfrm>
          <a:custGeom>
            <a:avLst/>
            <a:gdLst>
              <a:gd name="connsiteX0" fmla="*/ 0 w 12192000"/>
              <a:gd name="connsiteY0" fmla="*/ 1480457 h 2989943"/>
              <a:gd name="connsiteX1" fmla="*/ 914400 w 12192000"/>
              <a:gd name="connsiteY1" fmla="*/ 1465943 h 2989943"/>
              <a:gd name="connsiteX2" fmla="*/ 1132114 w 12192000"/>
              <a:gd name="connsiteY2" fmla="*/ 754743 h 2989943"/>
              <a:gd name="connsiteX3" fmla="*/ 1407885 w 12192000"/>
              <a:gd name="connsiteY3" fmla="*/ 2365829 h 2989943"/>
              <a:gd name="connsiteX4" fmla="*/ 1799771 w 12192000"/>
              <a:gd name="connsiteY4" fmla="*/ 0 h 2989943"/>
              <a:gd name="connsiteX5" fmla="*/ 2177143 w 12192000"/>
              <a:gd name="connsiteY5" fmla="*/ 2989943 h 2989943"/>
              <a:gd name="connsiteX6" fmla="*/ 2394857 w 12192000"/>
              <a:gd name="connsiteY6" fmla="*/ 2162629 h 2989943"/>
              <a:gd name="connsiteX7" fmla="*/ 12192000 w 12192000"/>
              <a:gd name="connsiteY7" fmla="*/ 2220686 h 2989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89943">
                <a:moveTo>
                  <a:pt x="0" y="1480457"/>
                </a:moveTo>
                <a:lnTo>
                  <a:pt x="914400" y="1465943"/>
                </a:lnTo>
                <a:lnTo>
                  <a:pt x="1132114" y="754743"/>
                </a:lnTo>
                <a:lnTo>
                  <a:pt x="1407885" y="2365829"/>
                </a:lnTo>
                <a:lnTo>
                  <a:pt x="1799771" y="0"/>
                </a:lnTo>
                <a:lnTo>
                  <a:pt x="2177143" y="2989943"/>
                </a:lnTo>
                <a:lnTo>
                  <a:pt x="2394857" y="2162629"/>
                </a:lnTo>
                <a:lnTo>
                  <a:pt x="12192000" y="2220686"/>
                </a:lnTo>
              </a:path>
            </a:pathLst>
          </a:custGeom>
          <a:noFill/>
          <a:ln w="38100">
            <a:solidFill>
              <a:srgbClr val="F7EB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757712" y="1944381"/>
            <a:ext cx="1973942" cy="1973941"/>
            <a:chOff x="725713" y="1930399"/>
            <a:chExt cx="2902858" cy="2902856"/>
          </a:xfrm>
        </p:grpSpPr>
        <p:sp>
          <p:nvSpPr>
            <p:cNvPr id="2" name="椭圆 1"/>
            <p:cNvSpPr/>
            <p:nvPr/>
          </p:nvSpPr>
          <p:spPr>
            <a:xfrm>
              <a:off x="899886" y="2104571"/>
              <a:ext cx="2554514" cy="255451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909825" y="2679905"/>
              <a:ext cx="2534633" cy="14936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0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衰落</a:t>
              </a:r>
              <a:endParaRPr lang="zh-CN" altLang="en-US" sz="6000" dirty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725713" y="1930399"/>
              <a:ext cx="2902858" cy="290285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73626" y="396797"/>
            <a:ext cx="1088570" cy="1088570"/>
            <a:chOff x="725713" y="1930399"/>
            <a:chExt cx="2902858" cy="2902856"/>
          </a:xfrm>
        </p:grpSpPr>
        <p:sp>
          <p:nvSpPr>
            <p:cNvPr id="9" name="椭圆 8"/>
            <p:cNvSpPr/>
            <p:nvPr/>
          </p:nvSpPr>
          <p:spPr>
            <a:xfrm>
              <a:off x="899886" y="2104571"/>
              <a:ext cx="2554514" cy="255451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100327" y="2311599"/>
              <a:ext cx="2122459" cy="22040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脱销</a:t>
              </a:r>
              <a:endParaRPr lang="en-US" altLang="zh-CN" sz="2400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  <a:p>
              <a:r>
                <a:rPr lang="zh-CN" altLang="en-US" sz="2400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垄断</a:t>
              </a:r>
              <a:endParaRPr lang="en-US" altLang="zh-CN" sz="2400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725713" y="1930399"/>
              <a:ext cx="2902858" cy="290285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sp>
        <p:nvSpPr>
          <p:cNvPr id="13" name="椭圆 12"/>
          <p:cNvSpPr/>
          <p:nvPr/>
        </p:nvSpPr>
        <p:spPr>
          <a:xfrm>
            <a:off x="5089472" y="2471734"/>
            <a:ext cx="957941" cy="95794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4" name="文本框 13"/>
          <p:cNvSpPr txBox="1"/>
          <p:nvPr/>
        </p:nvSpPr>
        <p:spPr>
          <a:xfrm>
            <a:off x="5099323" y="2648970"/>
            <a:ext cx="948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竞争者崛起</a:t>
            </a:r>
            <a:endParaRPr lang="en-US" altLang="zh-CN" dirty="0" smtClean="0">
              <a:solidFill>
                <a:schemeClr val="bg1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024157" y="2406420"/>
            <a:ext cx="1088570" cy="108857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" name="椭圆 16"/>
          <p:cNvSpPr/>
          <p:nvPr/>
        </p:nvSpPr>
        <p:spPr>
          <a:xfrm>
            <a:off x="6371441" y="2471734"/>
            <a:ext cx="957941" cy="95794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8" name="文本框 17"/>
          <p:cNvSpPr txBox="1"/>
          <p:nvPr/>
        </p:nvSpPr>
        <p:spPr>
          <a:xfrm>
            <a:off x="6381292" y="2648970"/>
            <a:ext cx="948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战略</a:t>
            </a:r>
            <a:endParaRPr lang="en-US" altLang="zh-CN" dirty="0" smtClean="0">
              <a:solidFill>
                <a:schemeClr val="bg1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失策</a:t>
            </a:r>
            <a:endParaRPr lang="en-US" altLang="zh-CN" dirty="0" smtClean="0">
              <a:solidFill>
                <a:schemeClr val="bg1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306126" y="2406420"/>
            <a:ext cx="1088570" cy="1088570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20" name="组合 19"/>
          <p:cNvGrpSpPr/>
          <p:nvPr/>
        </p:nvGrpSpPr>
        <p:grpSpPr>
          <a:xfrm>
            <a:off x="7602663" y="2406420"/>
            <a:ext cx="1088570" cy="1088570"/>
            <a:chOff x="725713" y="1930399"/>
            <a:chExt cx="2902858" cy="2902856"/>
          </a:xfrm>
        </p:grpSpPr>
        <p:sp>
          <p:nvSpPr>
            <p:cNvPr id="21" name="椭圆 20"/>
            <p:cNvSpPr/>
            <p:nvPr/>
          </p:nvSpPr>
          <p:spPr>
            <a:xfrm>
              <a:off x="899886" y="2104571"/>
              <a:ext cx="2554514" cy="255451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926156" y="2577200"/>
              <a:ext cx="2528244" cy="1723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脱离时代步伐</a:t>
              </a:r>
              <a:endParaRPr lang="en-US" altLang="zh-CN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25713" y="1930399"/>
              <a:ext cx="2902858" cy="290285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981088" y="2406420"/>
            <a:ext cx="1088570" cy="1088570"/>
            <a:chOff x="725713" y="1930399"/>
            <a:chExt cx="2902858" cy="2902856"/>
          </a:xfrm>
        </p:grpSpPr>
        <p:sp>
          <p:nvSpPr>
            <p:cNvPr id="29" name="椭圆 28"/>
            <p:cNvSpPr/>
            <p:nvPr/>
          </p:nvSpPr>
          <p:spPr>
            <a:xfrm>
              <a:off x="899886" y="2104571"/>
              <a:ext cx="2554514" cy="255451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926156" y="2577200"/>
              <a:ext cx="2528244" cy="172355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七条创新真理</a:t>
              </a:r>
              <a:endParaRPr lang="en-US" altLang="zh-CN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725713" y="1930399"/>
              <a:ext cx="2902858" cy="29028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0350848" y="2406420"/>
            <a:ext cx="1088570" cy="1088570"/>
            <a:chOff x="725713" y="1930399"/>
            <a:chExt cx="2902858" cy="2902856"/>
          </a:xfrm>
        </p:grpSpPr>
        <p:sp>
          <p:nvSpPr>
            <p:cNvPr id="33" name="椭圆 32"/>
            <p:cNvSpPr/>
            <p:nvPr/>
          </p:nvSpPr>
          <p:spPr>
            <a:xfrm>
              <a:off x="899886" y="2104571"/>
              <a:ext cx="2554514" cy="255451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26156" y="2549840"/>
              <a:ext cx="2528244" cy="1723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一跌</a:t>
              </a:r>
              <a:endParaRPr lang="en-US" altLang="zh-CN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  <a:p>
              <a:pPr algn="ctr"/>
              <a:r>
                <a:rPr lang="zh-CN" altLang="en-US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rPr>
                <a:t>再跌</a:t>
              </a:r>
              <a:endParaRPr lang="en-US" altLang="zh-CN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725713" y="1930399"/>
              <a:ext cx="2902858" cy="2902856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16010" y="5605545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endParaRPr lang="en-US" altLang="zh-CN" sz="2400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i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感悟</a:t>
            </a:r>
          </a:p>
        </p:txBody>
      </p:sp>
      <p:grpSp>
        <p:nvGrpSpPr>
          <p:cNvPr id="40" name="组合 39"/>
          <p:cNvGrpSpPr/>
          <p:nvPr/>
        </p:nvGrpSpPr>
        <p:grpSpPr>
          <a:xfrm>
            <a:off x="1560336" y="5832200"/>
            <a:ext cx="640787" cy="707886"/>
            <a:chOff x="1369902" y="5937541"/>
            <a:chExt cx="640787" cy="707886"/>
          </a:xfrm>
        </p:grpSpPr>
        <p:sp>
          <p:nvSpPr>
            <p:cNvPr id="41" name="文本框 40"/>
            <p:cNvSpPr txBox="1"/>
            <p:nvPr/>
          </p:nvSpPr>
          <p:spPr>
            <a:xfrm>
              <a:off x="1482407" y="5937541"/>
              <a:ext cx="4443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b="1" dirty="0" smtClean="0">
                  <a:solidFill>
                    <a:schemeClr val="bg1"/>
                  </a:solidFill>
                </a:rPr>
                <a:t>3</a:t>
              </a:r>
              <a:endParaRPr lang="zh-CN" altLang="en-US" sz="40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1369902" y="5971090"/>
              <a:ext cx="640787" cy="640787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椭圆 42"/>
          <p:cNvSpPr/>
          <p:nvPr/>
        </p:nvSpPr>
        <p:spPr>
          <a:xfrm>
            <a:off x="457676" y="5511966"/>
            <a:ext cx="320234" cy="32023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2504984" y="5367457"/>
            <a:ext cx="9648795" cy="11726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乐高集团的发展并非都是一帆风顺的，在到达一个顶峰的同时，就意味着要面临下滑的侵袭，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当然，乐高集团也试着去创造一个新的高峰，但种种的迹象表明：它并没有抓住！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“七条创新真理”的出台，虽刚开始有点小起色，但最终它却是把乐高推向了破产的边缘！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181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203780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2025748"/>
            <a:ext cx="12192000" cy="194938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5366" y="29862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 smtClean="0">
                <a:solidFill>
                  <a:schemeClr val="bg1"/>
                </a:solidFill>
              </a:rPr>
              <a:t>WHY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5366" y="92371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主要原因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88682" y="46204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关键词</a:t>
            </a:r>
            <a:endParaRPr lang="zh-CN" altLang="en-US" sz="2400" dirty="0">
              <a:solidFill>
                <a:schemeClr val="bg1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78560" y="464521"/>
            <a:ext cx="8244565" cy="525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缺乏引导</a:t>
            </a:r>
            <a:r>
              <a:rPr lang="en-US" altLang="zh-CN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市场偏差</a:t>
            </a:r>
            <a:r>
              <a:rPr lang="en-US" altLang="zh-CN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定位偏差</a:t>
            </a:r>
            <a:r>
              <a:rPr lang="en-US" altLang="zh-CN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不公对待</a:t>
            </a:r>
            <a:r>
              <a:rPr lang="en-US" altLang="zh-CN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缺乏总结</a:t>
            </a:r>
            <a:r>
              <a:rPr lang="en-US" altLang="zh-CN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自我满足</a:t>
            </a:r>
            <a:endParaRPr lang="en-US" altLang="zh-CN" sz="2400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0800000">
            <a:off x="1595754" y="2216376"/>
            <a:ext cx="636712" cy="548890"/>
          </a:xfrm>
          <a:prstGeom prst="triangl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3578560" y="1110343"/>
            <a:ext cx="813121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578560" y="1212502"/>
            <a:ext cx="6647974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从个人来说：要紧跟时代步伐，不断自我总结，给自己充电，</a:t>
            </a:r>
            <a:endParaRPr lang="en-US" altLang="zh-CN" b="1" i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i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做好充分准备再出击，在攀登一座高峰总需要积累更多的能量！</a:t>
            </a:r>
            <a:endParaRPr lang="zh-CN" altLang="en-US" b="1" i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79797" y="311537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bg1">
                    <a:lumMod val="85000"/>
                  </a:schemeClr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附</a:t>
            </a:r>
            <a:endParaRPr lang="zh-CN" altLang="en-US" sz="4800" dirty="0">
              <a:solidFill>
                <a:schemeClr val="bg1">
                  <a:lumMod val="85000"/>
                </a:schemeClr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24400" y="2868087"/>
            <a:ext cx="5089855" cy="3453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吸纳具有不同文化背景的创新人才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驶向蓝海市场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以客户为中心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实践破坏行创新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培养开放性创新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探索全方位创新</a:t>
            </a:r>
            <a:endParaRPr lang="en-US" altLang="zh-CN" sz="2400" b="1" dirty="0" smtClean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创建创新型的企业文化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80952" y="3931693"/>
            <a:ext cx="1485295" cy="1485295"/>
            <a:chOff x="8807165" y="2194673"/>
            <a:chExt cx="1485295" cy="1485295"/>
          </a:xfrm>
        </p:grpSpPr>
        <p:sp>
          <p:nvSpPr>
            <p:cNvPr id="20" name="十角星 19"/>
            <p:cNvSpPr/>
            <p:nvPr/>
          </p:nvSpPr>
          <p:spPr>
            <a:xfrm>
              <a:off x="8807165" y="2194673"/>
              <a:ext cx="1485295" cy="1485295"/>
            </a:xfrm>
            <a:prstGeom prst="star10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8981088" y="2406420"/>
              <a:ext cx="1088570" cy="1088570"/>
              <a:chOff x="725713" y="1930399"/>
              <a:chExt cx="2902858" cy="2902856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899886" y="2104571"/>
                <a:ext cx="2554514" cy="255451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926156" y="2577200"/>
                <a:ext cx="2528244" cy="1723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chemeClr val="bg1"/>
                    </a:solidFill>
                    <a:latin typeface="方正大标宋简体" panose="02010601030101010101" pitchFamily="2" charset="-122"/>
                    <a:ea typeface="方正大标宋简体" panose="02010601030101010101" pitchFamily="2" charset="-122"/>
                  </a:rPr>
                  <a:t>七条创新真理</a:t>
                </a:r>
                <a:endParaRPr lang="en-US" altLang="zh-CN" dirty="0" smtClean="0">
                  <a:solidFill>
                    <a:schemeClr val="bg1"/>
                  </a:solidFill>
                  <a:latin typeface="方正大标宋简体" panose="02010601030101010101" pitchFamily="2" charset="-122"/>
                  <a:ea typeface="方正大标宋简体" panose="02010601030101010101" pitchFamily="2" charset="-122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25713" y="1930399"/>
                <a:ext cx="2902858" cy="29028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690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19084609">
            <a:off x="2842018" y="432229"/>
            <a:ext cx="1886857" cy="451740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156709" y="2948030"/>
            <a:ext cx="1313180" cy="1446550"/>
          </a:xfrm>
          <a:prstGeom prst="rect">
            <a:avLst/>
          </a:prstGeom>
          <a:noFill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800" dirty="0" smtClean="0">
                <a:solidFill>
                  <a:srgbClr val="F7EB00"/>
                </a:solidFill>
                <a:effectLst>
                  <a:reflection blurRad="6350" stA="55000" endA="50" endPos="85000" dir="5400000" sy="-100000" algn="bl" rotWithShape="0"/>
                </a:effectLst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路</a:t>
            </a:r>
            <a:endParaRPr lang="zh-CN" altLang="en-US" sz="8800" dirty="0">
              <a:solidFill>
                <a:srgbClr val="F7EB00"/>
              </a:solidFill>
              <a:effectLst>
                <a:reflection blurRad="6350" stA="55000" endA="50" endPos="85000" dir="5400000" sy="-100000" algn="bl" rotWithShape="0"/>
              </a:effectLst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55121" y="339939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在何方？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70893" y="341345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听下回分解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55121" y="3875122"/>
            <a:ext cx="3499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Listen the next time decomposition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18930807">
            <a:off x="2060679" y="568277"/>
            <a:ext cx="469154" cy="965202"/>
            <a:chOff x="410690" y="1678647"/>
            <a:chExt cx="1024149" cy="963357"/>
          </a:xfrm>
        </p:grpSpPr>
        <p:sp>
          <p:nvSpPr>
            <p:cNvPr id="9" name="矩形 8"/>
            <p:cNvSpPr/>
            <p:nvPr/>
          </p:nvSpPr>
          <p:spPr>
            <a:xfrm rot="5400000">
              <a:off x="781020" y="1988185"/>
              <a:ext cx="283489" cy="1024149"/>
            </a:xfrm>
            <a:custGeom>
              <a:avLst/>
              <a:gdLst>
                <a:gd name="connsiteX0" fmla="*/ 0 w 284032"/>
                <a:gd name="connsiteY0" fmla="*/ 0 h 633251"/>
                <a:gd name="connsiteX1" fmla="*/ 284032 w 284032"/>
                <a:gd name="connsiteY1" fmla="*/ 0 h 633251"/>
                <a:gd name="connsiteX2" fmla="*/ 284032 w 284032"/>
                <a:gd name="connsiteY2" fmla="*/ 633251 h 633251"/>
                <a:gd name="connsiteX3" fmla="*/ 0 w 284032"/>
                <a:gd name="connsiteY3" fmla="*/ 633251 h 633251"/>
                <a:gd name="connsiteX4" fmla="*/ 0 w 284032"/>
                <a:gd name="connsiteY4" fmla="*/ 0 h 633251"/>
                <a:gd name="connsiteX0" fmla="*/ 0 w 284032"/>
                <a:gd name="connsiteY0" fmla="*/ 0 h 633251"/>
                <a:gd name="connsiteX1" fmla="*/ 284032 w 284032"/>
                <a:gd name="connsiteY1" fmla="*/ 0 h 633251"/>
                <a:gd name="connsiteX2" fmla="*/ 284032 w 284032"/>
                <a:gd name="connsiteY2" fmla="*/ 633251 h 633251"/>
                <a:gd name="connsiteX3" fmla="*/ 0 w 284032"/>
                <a:gd name="connsiteY3" fmla="*/ 633251 h 633251"/>
                <a:gd name="connsiteX4" fmla="*/ 0 w 284032"/>
                <a:gd name="connsiteY4" fmla="*/ 0 h 633251"/>
                <a:gd name="connsiteX0" fmla="*/ 0 w 284032"/>
                <a:gd name="connsiteY0" fmla="*/ 0 h 633251"/>
                <a:gd name="connsiteX1" fmla="*/ 284032 w 284032"/>
                <a:gd name="connsiteY1" fmla="*/ 0 h 633251"/>
                <a:gd name="connsiteX2" fmla="*/ 284032 w 284032"/>
                <a:gd name="connsiteY2" fmla="*/ 633251 h 633251"/>
                <a:gd name="connsiteX3" fmla="*/ 0 w 284032"/>
                <a:gd name="connsiteY3" fmla="*/ 633251 h 633251"/>
                <a:gd name="connsiteX4" fmla="*/ 0 w 284032"/>
                <a:gd name="connsiteY4" fmla="*/ 0 h 633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4032" h="633251">
                  <a:moveTo>
                    <a:pt x="0" y="0"/>
                  </a:moveTo>
                  <a:lnTo>
                    <a:pt x="284032" y="0"/>
                  </a:lnTo>
                  <a:cubicBezTo>
                    <a:pt x="263799" y="207898"/>
                    <a:pt x="258731" y="417342"/>
                    <a:pt x="284032" y="633251"/>
                  </a:cubicBezTo>
                  <a:lnTo>
                    <a:pt x="0" y="633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梯形 9"/>
            <p:cNvSpPr/>
            <p:nvPr/>
          </p:nvSpPr>
          <p:spPr>
            <a:xfrm>
              <a:off x="650977" y="1678647"/>
              <a:ext cx="543574" cy="773723"/>
            </a:xfrm>
            <a:prstGeom prst="trapezoi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7507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079776" y="3459402"/>
            <a:ext cx="6816757" cy="480053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079776" y="2389786"/>
            <a:ext cx="6816757" cy="480053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79776" y="4535586"/>
            <a:ext cx="6816757" cy="240027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79776" y="3360928"/>
            <a:ext cx="6816757" cy="4800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079776" y="2291312"/>
            <a:ext cx="6816757" cy="48005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1026" name="Picture 2" descr="http://pic11.nipic.com/20101123/6249340_194140034135_2.jpg"/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1" b="8525"/>
          <a:stretch/>
        </p:blipFill>
        <p:spPr bwMode="auto">
          <a:xfrm>
            <a:off x="719403" y="1202984"/>
            <a:ext cx="2941240" cy="395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/>
          <p:cNvSpPr/>
          <p:nvPr/>
        </p:nvSpPr>
        <p:spPr>
          <a:xfrm>
            <a:off x="4079776" y="4437112"/>
            <a:ext cx="6816757" cy="24002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8" name="TextBox 3"/>
          <p:cNvSpPr txBox="1"/>
          <p:nvPr/>
        </p:nvSpPr>
        <p:spPr>
          <a:xfrm>
            <a:off x="4093842" y="2195291"/>
            <a:ext cx="67331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上期我们说到：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    创新七法则几乎把乐高集团推向了破产的边缘！</a:t>
            </a:r>
            <a:endParaRPr lang="en-US" altLang="zh-CN" sz="2400" b="1" dirty="0">
              <a:solidFill>
                <a:prstClr val="black">
                  <a:lumMod val="75000"/>
                  <a:lumOff val="2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本期关注重点：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itchFamily="34" charset="-122"/>
                <a:ea typeface="微软雅黑" pitchFamily="34" charset="-122"/>
              </a:rPr>
              <a:t>    起死回生的创新七法则！如何扭转乾坤！</a:t>
            </a:r>
          </a:p>
        </p:txBody>
      </p:sp>
    </p:spTree>
    <p:extLst>
      <p:ext uri="{BB962C8B-B14F-4D97-AF65-F5344CB8AC3E}">
        <p14:creationId xmlns:p14="http://schemas.microsoft.com/office/powerpoint/2010/main" val="118257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434905" y="1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70671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45588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55789" y="4194293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创新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七法则扭转乾坤</a:t>
            </a:r>
          </a:p>
        </p:txBody>
      </p:sp>
      <p:sp>
        <p:nvSpPr>
          <p:cNvPr id="4" name="矩形 3"/>
          <p:cNvSpPr/>
          <p:nvPr/>
        </p:nvSpPr>
        <p:spPr>
          <a:xfrm>
            <a:off x="927192" y="4718716"/>
            <a:ext cx="3687012" cy="318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latinLnBrk="1"/>
            <a:r>
              <a:rPr lang="en-US" altLang="zh-CN" sz="1467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INNOVATION SEVEN RULE CHANGE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9604735" y="5458618"/>
            <a:ext cx="899980" cy="899980"/>
            <a:chOff x="3472272" y="2626936"/>
            <a:chExt cx="360040" cy="360040"/>
          </a:xfrm>
        </p:grpSpPr>
        <p:sp>
          <p:nvSpPr>
            <p:cNvPr id="12" name="椭圆 11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038494" y="3212467"/>
            <a:ext cx="297315" cy="297315"/>
            <a:chOff x="3472272" y="2626936"/>
            <a:chExt cx="360040" cy="360040"/>
          </a:xfrm>
        </p:grpSpPr>
        <p:sp>
          <p:nvSpPr>
            <p:cNvPr id="17" name="椭圆 16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898284" y="3712491"/>
            <a:ext cx="1258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539" y="953450"/>
            <a:ext cx="2562062" cy="1564666"/>
          </a:xfrm>
          <a:prstGeom prst="rect">
            <a:avLst/>
          </a:prstGeom>
        </p:spPr>
      </p:pic>
      <p:sp>
        <p:nvSpPr>
          <p:cNvPr id="23" name="椭圆 22"/>
          <p:cNvSpPr/>
          <p:nvPr/>
        </p:nvSpPr>
        <p:spPr>
          <a:xfrm>
            <a:off x="6716928" y="2678312"/>
            <a:ext cx="3067050" cy="30670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888539" y="3075842"/>
            <a:ext cx="2723823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b="1" dirty="0" smtClean="0">
                <a:solidFill>
                  <a:srgbClr val="0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创</a:t>
            </a:r>
            <a:r>
              <a:rPr lang="zh-CN" altLang="en-US" sz="6000" b="1" dirty="0" smtClean="0">
                <a:solidFill>
                  <a:srgbClr val="000000"/>
                </a:solidFill>
                <a:latin typeface="方正大标宋简体" panose="02010601030101010101" pitchFamily="2" charset="-122"/>
                <a:ea typeface="方正大标宋简体" panose="02010601030101010101" pitchFamily="2" charset="-122"/>
              </a:rPr>
              <a:t>新</a:t>
            </a:r>
            <a:endParaRPr lang="zh-CN" altLang="en-US" sz="6000" b="1" dirty="0">
              <a:solidFill>
                <a:srgbClr val="000000"/>
              </a:solidFill>
              <a:latin typeface="方正大标宋简体" panose="02010601030101010101" pitchFamily="2" charset="-122"/>
              <a:ea typeface="方正大标宋简体" panose="02010601030101010101" pitchFamily="2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535952" y="2497338"/>
            <a:ext cx="3429000" cy="3428998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8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0" y="182880"/>
            <a:ext cx="12192000" cy="2016224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12192000" cy="20162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83499" y="915081"/>
            <a:ext cx="7392821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创建创新型的企业文化：回归企业核心价值观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48288" y="633030"/>
            <a:ext cx="1097581" cy="1097581"/>
            <a:chOff x="3472272" y="2626936"/>
            <a:chExt cx="360040" cy="360040"/>
          </a:xfrm>
        </p:grpSpPr>
        <p:sp>
          <p:nvSpPr>
            <p:cNvPr id="5" name="椭圆 4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91575" y="726634"/>
            <a:ext cx="606256" cy="913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333" b="1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5333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40907" y="1412776"/>
            <a:ext cx="448392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i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学习感悟：抓住根本原因，寻找突破生机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399417" y="2468893"/>
            <a:ext cx="2213595" cy="172819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45505" y="3061217"/>
            <a:ext cx="2233304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先服务零售商</a:t>
            </a:r>
            <a:endParaRPr lang="en-US" altLang="zh-CN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再服务儿童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4754218" y="2468893"/>
            <a:ext cx="3309829" cy="172819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28610" y="3061217"/>
            <a:ext cx="2916183" cy="9131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乐高不是一个产品</a:t>
            </a:r>
            <a:endParaRPr lang="en-US" altLang="zh-CN" sz="2667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而是一个体系</a:t>
            </a:r>
          </a:p>
        </p:txBody>
      </p:sp>
      <p:sp>
        <p:nvSpPr>
          <p:cNvPr id="14" name="圆角矩形 13"/>
          <p:cNvSpPr/>
          <p:nvPr/>
        </p:nvSpPr>
        <p:spPr>
          <a:xfrm>
            <a:off x="8263584" y="2468893"/>
            <a:ext cx="2213595" cy="172819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88812" y="3252741"/>
            <a:ext cx="155042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求真务实</a:t>
            </a:r>
          </a:p>
        </p:txBody>
      </p:sp>
      <p:sp>
        <p:nvSpPr>
          <p:cNvPr id="21" name="矩形 20"/>
          <p:cNvSpPr/>
          <p:nvPr/>
        </p:nvSpPr>
        <p:spPr>
          <a:xfrm>
            <a:off x="2207396" y="2948947"/>
            <a:ext cx="8448939" cy="112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91327" y="2948947"/>
            <a:ext cx="1304101" cy="1122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63584" y="2948947"/>
            <a:ext cx="1536171" cy="1122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4404" y="2456505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93339" y="2456505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87026" y="245650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Ｃ</a:t>
            </a:r>
          </a:p>
        </p:txBody>
      </p:sp>
      <p:sp>
        <p:nvSpPr>
          <p:cNvPr id="27" name="矩形 26"/>
          <p:cNvSpPr/>
          <p:nvPr/>
        </p:nvSpPr>
        <p:spPr>
          <a:xfrm rot="16200000">
            <a:off x="29494" y="4139375"/>
            <a:ext cx="2435937" cy="1122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413125" y="4485118"/>
            <a:ext cx="8064055" cy="1632181"/>
          </a:xfrm>
          <a:prstGeom prst="roundRect">
            <a:avLst>
              <a:gd name="adj" fmla="val 1459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191327" y="5301208"/>
            <a:ext cx="1221797" cy="1122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1007435" y="2772688"/>
            <a:ext cx="480053" cy="4800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1077301" y="2842555"/>
            <a:ext cx="340320" cy="3403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007435" y="5117318"/>
            <a:ext cx="480053" cy="48005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077301" y="5187184"/>
            <a:ext cx="340320" cy="3403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670890" y="4618714"/>
            <a:ext cx="5671745" cy="13853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A:</a:t>
            </a:r>
            <a:r>
              <a:rPr lang="zh-CN" altLang="en-US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受众群体的转变，储蓄能量！</a:t>
            </a:r>
            <a:endParaRPr lang="en-US" altLang="zh-CN" sz="1867" b="1" i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B:</a:t>
            </a:r>
            <a:r>
              <a:rPr lang="zh-CN" altLang="en-US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体系内的创新，更有方向、目标！同时降低成本！</a:t>
            </a:r>
            <a:endParaRPr lang="en-US" altLang="zh-CN" sz="1867" b="1" i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C:</a:t>
            </a:r>
            <a:r>
              <a:rPr lang="zh-CN" altLang="en-US" sz="18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一切从实际出发！</a:t>
            </a:r>
          </a:p>
        </p:txBody>
      </p:sp>
      <p:sp>
        <p:nvSpPr>
          <p:cNvPr id="36" name="矩形 35"/>
          <p:cNvSpPr/>
          <p:nvPr/>
        </p:nvSpPr>
        <p:spPr>
          <a:xfrm>
            <a:off x="2543605" y="4965171"/>
            <a:ext cx="1550424" cy="625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学习感悟</a:t>
            </a:r>
            <a:endParaRPr lang="en-US" altLang="zh-CN" sz="2667" b="1" i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/>
        </p:nvSpPr>
        <p:spPr>
          <a:xfrm rot="16200000">
            <a:off x="3582686" y="5236165"/>
            <a:ext cx="1649991" cy="112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0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154745" y="0"/>
            <a:ext cx="4175787" cy="6858000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50" name="等腰三角形 49"/>
          <p:cNvSpPr/>
          <p:nvPr/>
        </p:nvSpPr>
        <p:spPr>
          <a:xfrm rot="5400000">
            <a:off x="4299810" y="847241"/>
            <a:ext cx="445489" cy="384043"/>
          </a:xfrm>
          <a:prstGeom prst="triangl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5589481" y="830584"/>
            <a:ext cx="6333283" cy="504832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 rot="16200000">
            <a:off x="2725840" y="3599054"/>
            <a:ext cx="5144377" cy="112272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4175787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44693" y="1796819"/>
            <a:ext cx="4659449" cy="1159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以客户为中心</a:t>
            </a:r>
            <a:endParaRPr lang="en-US" altLang="zh-CN" sz="48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1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牢牢抓住儿童与成年粉丝的心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539103" y="633030"/>
            <a:ext cx="1097581" cy="1097582"/>
            <a:chOff x="336216" y="474772"/>
            <a:chExt cx="823186" cy="823186"/>
          </a:xfrm>
        </p:grpSpPr>
        <p:grpSp>
          <p:nvGrpSpPr>
            <p:cNvPr id="4" name="组合 3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3510828" y="2674721"/>
                <a:ext cx="255240" cy="25524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97580" y="555526"/>
              <a:ext cx="454692" cy="684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5333" b="1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3071" y="3429000"/>
            <a:ext cx="3516800" cy="2333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867" b="1" i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学习感悟：</a:t>
            </a:r>
            <a:endParaRPr lang="en-US" altLang="zh-CN" sz="1867" b="1" i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开发人员与客户共同携手定位乐高品牌的未来，需要利用合作！</a:t>
            </a:r>
            <a:endParaRPr lang="en-US" altLang="zh-CN" sz="1867" b="1" i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3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在创建个人品牌的过程中，要学会借力！</a:t>
            </a:r>
          </a:p>
        </p:txBody>
      </p:sp>
      <p:sp>
        <p:nvSpPr>
          <p:cNvPr id="11" name="矩形 10"/>
          <p:cNvSpPr/>
          <p:nvPr/>
        </p:nvSpPr>
        <p:spPr>
          <a:xfrm>
            <a:off x="393071" y="3007483"/>
            <a:ext cx="3516800" cy="229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89337" y="842975"/>
            <a:ext cx="3599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如何做？</a:t>
            </a:r>
            <a:r>
              <a:rPr lang="en-US" altLang="zh-CN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HOW TO DO ?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029866" y="913313"/>
            <a:ext cx="480053" cy="48005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5127867" y="912840"/>
            <a:ext cx="340320" cy="340320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73664" y="142684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与客户面对面交流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3663" y="171752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他们会告诉你这个品牌应该怎么发展！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3663" y="210156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保持对话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3664" y="2421095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要学会敞开心扉，广纳谏言！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3664" y="278806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用客户数据支持客户对话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3663" y="307638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用数据说话，环环相扣，找到危机点！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3664" y="3541728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用客户数据支持客户对话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3663" y="3844471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用数据说话，环环相扣，找到危机点！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3664" y="4228826"/>
            <a:ext cx="5570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将乐高积木的目标市场想最重要的客户群体瞄准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3663" y="4531569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重点突破才会枯木逢春！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3664" y="4900900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来自管理层得指示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3663" y="5203643"/>
            <a:ext cx="34419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有原则</a:t>
            </a:r>
            <a:r>
              <a:rPr lang="en-US" altLang="zh-CN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·</a:t>
            </a:r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有方向</a:t>
            </a:r>
            <a:r>
              <a:rPr lang="en-US" altLang="zh-CN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·</a:t>
            </a:r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有分工才会有进步！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3664" y="5572975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与孩子们共同创造新产品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3663" y="5875718"/>
            <a:ext cx="55194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600" i="1" dirty="0">
                <a:solidFill>
                  <a:prstClr val="black">
                    <a:lumMod val="50000"/>
                    <a:lumOff val="50000"/>
                  </a:prstClr>
                </a:solidFill>
              </a:rPr>
              <a:t>天马行空的创意设计要根据现实需要，才更有市场竞争力！</a:t>
            </a:r>
          </a:p>
        </p:txBody>
      </p:sp>
      <p:sp>
        <p:nvSpPr>
          <p:cNvPr id="39" name="椭圆 38"/>
          <p:cNvSpPr/>
          <p:nvPr/>
        </p:nvSpPr>
        <p:spPr>
          <a:xfrm>
            <a:off x="5058002" y="6174340"/>
            <a:ext cx="480053" cy="48005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127867" y="6230138"/>
            <a:ext cx="340320" cy="340320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162141" y="1496141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162141" y="2170866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5162141" y="2865069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162141" y="3611026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162141" y="4298123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5162141" y="4970198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5162141" y="5670905"/>
            <a:ext cx="271773" cy="271773"/>
          </a:xfrm>
          <a:prstGeom prst="ellips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1346700" y="937923"/>
            <a:ext cx="271773" cy="271773"/>
          </a:xfrm>
          <a:prstGeom prst="ellipse">
            <a:avLst/>
          </a:prstGeom>
          <a:solidFill>
            <a:schemeClr val="bg1"/>
          </a:solidFill>
          <a:ln>
            <a:solidFill>
              <a:srgbClr val="B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406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7489" y="452670"/>
            <a:ext cx="8756575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733" b="1" dirty="0">
                <a:latin typeface="微软雅黑" pitchFamily="34" charset="-122"/>
                <a:ea typeface="微软雅黑" pitchFamily="34" charset="-122"/>
              </a:rPr>
              <a:t>探索全方位创新：生化战士系列的奇迹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1371" y="356659"/>
            <a:ext cx="1097581" cy="1097582"/>
            <a:chOff x="336216" y="474772"/>
            <a:chExt cx="823186" cy="823186"/>
          </a:xfrm>
          <a:solidFill>
            <a:srgbClr val="FF0000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  <a:grpFill/>
          </p:grpSpPr>
          <p:sp>
            <p:nvSpPr>
              <p:cNvPr id="7" name="椭圆 6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3524672" y="2679336"/>
                <a:ext cx="255240" cy="25524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97580" y="555526"/>
              <a:ext cx="454692" cy="68475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endParaRPr lang="zh-CN" altLang="en-US" sz="53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5519937" y="1048277"/>
            <a:ext cx="4283545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67" b="1" i="1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生化战士拯救了乐高</a:t>
            </a:r>
            <a:r>
              <a:rPr lang="en-US" altLang="zh-CN" sz="1867" b="1" i="1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867" b="1" i="1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克努德斯托普</a:t>
            </a:r>
            <a:endParaRPr lang="zh-CN" altLang="en-US" sz="1867" i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54229" y="344405"/>
            <a:ext cx="1851927" cy="11475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" y="344405"/>
            <a:ext cx="143339" cy="114753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" name="等腰三角形 12"/>
          <p:cNvSpPr/>
          <p:nvPr/>
        </p:nvSpPr>
        <p:spPr>
          <a:xfrm rot="10800000">
            <a:off x="11057448" y="1491936"/>
            <a:ext cx="445489" cy="384043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46523" y="2084851"/>
            <a:ext cx="11022045" cy="1413509"/>
            <a:chOff x="-1104649" y="1491630"/>
            <a:chExt cx="11094582" cy="1422812"/>
          </a:xfrm>
          <a:solidFill>
            <a:schemeClr val="bg1">
              <a:lumMod val="85000"/>
            </a:schemeClr>
          </a:solidFill>
        </p:grpSpPr>
        <p:sp>
          <p:nvSpPr>
            <p:cNvPr id="14" name="圆角矩形 13"/>
            <p:cNvSpPr/>
            <p:nvPr/>
          </p:nvSpPr>
          <p:spPr>
            <a:xfrm>
              <a:off x="507313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2119275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3731237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343199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6955161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8567121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-1104649" y="1491630"/>
              <a:ext cx="1422812" cy="1422812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68501" y="2360718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建设创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新平台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5573" y="236071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通往市场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的新渠道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1347" y="2360718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史诗般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的故事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3925" y="236071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联系客户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的新渠道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4193" y="2360718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新的开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发程序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5616" y="2360718"/>
            <a:ext cx="11079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新的合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作方式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4459" y="2360718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指导创新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的新路径</a:t>
            </a:r>
            <a:endParaRPr lang="en-US" altLang="zh-CN" sz="2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46523" y="3717032"/>
            <a:ext cx="11022045" cy="2683768"/>
          </a:xfrm>
          <a:prstGeom prst="roundRect">
            <a:avLst>
              <a:gd name="adj" fmla="val 1078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57391" y="3813044"/>
            <a:ext cx="6598281" cy="250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学会根据不同的产品特性，去创建不同的盈利模式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分析原因，重新设计成长路径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学会给冰冷的产品赋予生命，故事化情节化是不二的选择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收集外部反馈信息，能帮助更好的定位与指导开发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三角关系，降低开发时间，高效率</a:t>
            </a:r>
            <a:r>
              <a:rPr lang="en-US" altLang="zh-CN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高质量</a:t>
            </a:r>
            <a:r>
              <a:rPr lang="en-US" altLang="zh-CN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更具市场竞争力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走出自己的内圈，与外围力量合作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marL="228594" indent="-228594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sz="1867" b="1" i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成功模式的复制</a:t>
            </a:r>
            <a:endParaRPr lang="en-US" altLang="zh-CN" sz="1867" b="1" i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93367" y="4639862"/>
            <a:ext cx="1550424" cy="6258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667" b="1" i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学习感悟</a:t>
            </a:r>
            <a:endParaRPr lang="en-US" altLang="zh-CN" sz="2667" b="1" i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 rot="16200000">
            <a:off x="1832406" y="4861005"/>
            <a:ext cx="2435937" cy="112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1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8706585" y="410377"/>
            <a:ext cx="1388091" cy="767019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1182074"/>
            <a:ext cx="5769150" cy="224696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1588" y="372033"/>
            <a:ext cx="87565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267" b="1" dirty="0">
                <a:latin typeface="微软雅黑" pitchFamily="34" charset="-122"/>
                <a:ea typeface="微软雅黑" pitchFamily="34" charset="-122"/>
              </a:rPr>
              <a:t>培养</a:t>
            </a:r>
            <a:r>
              <a:rPr lang="zh-CN" altLang="en-US" sz="3200" b="1" dirty="0">
                <a:latin typeface="微软雅黑" pitchFamily="34" charset="-122"/>
                <a:ea typeface="微软雅黑" pitchFamily="34" charset="-122"/>
              </a:rPr>
              <a:t>开放式创新：头脑风暴与小团队的智慧</a:t>
            </a:r>
          </a:p>
        </p:txBody>
      </p:sp>
      <p:sp>
        <p:nvSpPr>
          <p:cNvPr id="14" name="矩形 13"/>
          <p:cNvSpPr/>
          <p:nvPr/>
        </p:nvSpPr>
        <p:spPr>
          <a:xfrm>
            <a:off x="5838466" y="1016752"/>
            <a:ext cx="2811988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867" b="1" i="1" dirty="0">
                <a:solidFill>
                  <a:prstClr val="white">
                    <a:lumMod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是封闭到开放的里程碑！</a:t>
            </a:r>
            <a:endParaRPr lang="zh-CN" altLang="en-US" sz="1867" i="1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" y="1083600"/>
            <a:ext cx="5769150" cy="22469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706585" y="565121"/>
            <a:ext cx="1388091" cy="7670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846537" y="660066"/>
            <a:ext cx="1097581" cy="1097581"/>
            <a:chOff x="336216" y="474772"/>
            <a:chExt cx="823186" cy="823186"/>
          </a:xfrm>
        </p:grpSpPr>
        <p:grpSp>
          <p:nvGrpSpPr>
            <p:cNvPr id="19" name="组合 18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3524672" y="2679336"/>
                <a:ext cx="255240" cy="25524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487260" y="532422"/>
              <a:ext cx="454692" cy="684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endParaRPr lang="zh-CN" altLang="en-US" sz="5333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746664" y="2793756"/>
            <a:ext cx="8597225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B80000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2133" dirty="0">
                <a:solidFill>
                  <a:srgbClr val="FF0000"/>
                </a:solidFill>
              </a:rPr>
              <a:t>群体智慧的巧妙利用  </a:t>
            </a:r>
            <a:r>
              <a:rPr lang="en-US" altLang="zh-CN" sz="2133" dirty="0">
                <a:solidFill>
                  <a:srgbClr val="FF0000"/>
                </a:solidFill>
              </a:rPr>
              <a:t>——  </a:t>
            </a:r>
            <a:r>
              <a:rPr lang="zh-CN" altLang="en-US" sz="2133" dirty="0">
                <a:solidFill>
                  <a:srgbClr val="FF0000"/>
                </a:solidFill>
              </a:rPr>
              <a:t>内外思想的激荡  </a:t>
            </a:r>
            <a:r>
              <a:rPr lang="en-US" altLang="zh-CN" sz="2133" dirty="0">
                <a:solidFill>
                  <a:srgbClr val="FF0000"/>
                </a:solidFill>
              </a:rPr>
              <a:t>——  </a:t>
            </a:r>
            <a:r>
              <a:rPr lang="zh-CN" altLang="en-US" sz="2133" dirty="0">
                <a:solidFill>
                  <a:srgbClr val="FF0000"/>
                </a:solidFill>
              </a:rPr>
              <a:t>一条新的市场渠道</a:t>
            </a:r>
            <a:endParaRPr lang="zh-CN" altLang="en-US" sz="4267" dirty="0">
              <a:solidFill>
                <a:srgbClr val="FF0000"/>
              </a:solidFill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811348" y="3608632"/>
            <a:ext cx="1056117" cy="1056117"/>
            <a:chOff x="1187624" y="2523793"/>
            <a:chExt cx="792088" cy="792088"/>
          </a:xfrm>
          <a:solidFill>
            <a:schemeClr val="bg1">
              <a:lumMod val="85000"/>
            </a:schemeClr>
          </a:solidFill>
        </p:grpSpPr>
        <p:sp>
          <p:nvSpPr>
            <p:cNvPr id="24" name="椭圆 23"/>
            <p:cNvSpPr/>
            <p:nvPr/>
          </p:nvSpPr>
          <p:spPr>
            <a:xfrm>
              <a:off x="1187624" y="2523793"/>
              <a:ext cx="792088" cy="7920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260502" y="2735171"/>
              <a:ext cx="600164" cy="34624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寻找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379522" y="3608632"/>
            <a:ext cx="1056117" cy="1056117"/>
            <a:chOff x="2147731" y="2523793"/>
            <a:chExt cx="792088" cy="792088"/>
          </a:xfrm>
          <a:solidFill>
            <a:schemeClr val="bg1">
              <a:lumMod val="85000"/>
            </a:schemeClr>
          </a:solidFill>
        </p:grpSpPr>
        <p:sp>
          <p:nvSpPr>
            <p:cNvPr id="25" name="椭圆 24"/>
            <p:cNvSpPr/>
            <p:nvPr/>
          </p:nvSpPr>
          <p:spPr>
            <a:xfrm>
              <a:off x="2147731" y="2523793"/>
              <a:ext cx="792088" cy="7920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20609" y="2735171"/>
              <a:ext cx="600164" cy="34624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测试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947697" y="3608632"/>
            <a:ext cx="1056117" cy="1056117"/>
            <a:chOff x="3107838" y="2523793"/>
            <a:chExt cx="792088" cy="792088"/>
          </a:xfrm>
          <a:solidFill>
            <a:schemeClr val="bg1">
              <a:lumMod val="85000"/>
            </a:schemeClr>
          </a:solidFill>
        </p:grpSpPr>
        <p:sp>
          <p:nvSpPr>
            <p:cNvPr id="26" name="椭圆 25"/>
            <p:cNvSpPr/>
            <p:nvPr/>
          </p:nvSpPr>
          <p:spPr>
            <a:xfrm>
              <a:off x="3107838" y="2523793"/>
              <a:ext cx="792088" cy="7920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180716" y="2735171"/>
              <a:ext cx="600164" cy="34624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开动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6611881" y="3608632"/>
            <a:ext cx="1056117" cy="1056117"/>
            <a:chOff x="4067944" y="2523793"/>
            <a:chExt cx="792088" cy="792088"/>
          </a:xfrm>
          <a:solidFill>
            <a:schemeClr val="bg1">
              <a:lumMod val="85000"/>
            </a:schemeClr>
          </a:solidFill>
        </p:grpSpPr>
        <p:sp>
          <p:nvSpPr>
            <p:cNvPr id="27" name="椭圆 26"/>
            <p:cNvSpPr/>
            <p:nvPr/>
          </p:nvSpPr>
          <p:spPr>
            <a:xfrm>
              <a:off x="4067944" y="2523793"/>
              <a:ext cx="792088" cy="7920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140822" y="2735171"/>
              <a:ext cx="600164" cy="346249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总结</a:t>
              </a:r>
            </a:p>
          </p:txBody>
        </p:sp>
      </p:grpSp>
      <p:sp>
        <p:nvSpPr>
          <p:cNvPr id="37" name="等腰三角形 36"/>
          <p:cNvSpPr/>
          <p:nvPr/>
        </p:nvSpPr>
        <p:spPr>
          <a:xfrm rot="5400000">
            <a:off x="2968752" y="3999593"/>
            <a:ext cx="334117" cy="28803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8" name="等腰三角形 37"/>
          <p:cNvSpPr/>
          <p:nvPr/>
        </p:nvSpPr>
        <p:spPr>
          <a:xfrm rot="5400000">
            <a:off x="4572614" y="3999593"/>
            <a:ext cx="334117" cy="28803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9" name="等腰三角形 38"/>
          <p:cNvSpPr/>
          <p:nvPr/>
        </p:nvSpPr>
        <p:spPr>
          <a:xfrm rot="5400000">
            <a:off x="6105048" y="3999593"/>
            <a:ext cx="334117" cy="28803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0" name="等腰三角形 39"/>
          <p:cNvSpPr/>
          <p:nvPr/>
        </p:nvSpPr>
        <p:spPr>
          <a:xfrm rot="5400000">
            <a:off x="7856131" y="3999593"/>
            <a:ext cx="334117" cy="28803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303525" y="3705803"/>
            <a:ext cx="1824823" cy="830997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创收</a:t>
            </a:r>
          </a:p>
        </p:txBody>
      </p:sp>
      <p:sp>
        <p:nvSpPr>
          <p:cNvPr id="42" name="等腰三角形 41"/>
          <p:cNvSpPr/>
          <p:nvPr/>
        </p:nvSpPr>
        <p:spPr>
          <a:xfrm rot="10800000">
            <a:off x="9071610" y="3320600"/>
            <a:ext cx="334117" cy="288032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42719" y="4856772"/>
            <a:ext cx="3716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乐高机器人</a:t>
            </a:r>
            <a:r>
              <a:rPr lang="en-US" altLang="zh-CN" sz="24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4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乐高建筑系列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131202" y="4462317"/>
            <a:ext cx="1783254" cy="217060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631605" y="5430128"/>
            <a:ext cx="791675" cy="96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6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6318966" y="2117"/>
            <a:ext cx="5873033" cy="685588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093884" y="2117"/>
            <a:ext cx="222510" cy="6855883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808542" y="1749208"/>
            <a:ext cx="4874277" cy="19855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999498" y="1910237"/>
            <a:ext cx="4512501" cy="1686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0815" y="1910237"/>
            <a:ext cx="4555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4800" dirty="0">
                <a:solidFill>
                  <a:srgbClr val="FF0000"/>
                </a:solidFill>
              </a:rPr>
              <a:t>实践破坏性创新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8543" y="2772012"/>
            <a:ext cx="4747367" cy="625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sz="3467" dirty="0">
                <a:solidFill>
                  <a:srgbClr val="FF0000"/>
                </a:solidFill>
              </a:rPr>
              <a:t>《</a:t>
            </a:r>
            <a:r>
              <a:rPr lang="zh-CN" altLang="en-US" sz="3467" dirty="0">
                <a:solidFill>
                  <a:srgbClr val="FF0000"/>
                </a:solidFill>
              </a:rPr>
              <a:t>乐高宇宙</a:t>
            </a:r>
            <a:r>
              <a:rPr lang="en-US" altLang="zh-CN" sz="3467" dirty="0">
                <a:solidFill>
                  <a:srgbClr val="FF0000"/>
                </a:solidFill>
              </a:rPr>
              <a:t>》</a:t>
            </a:r>
            <a:r>
              <a:rPr lang="zh-CN" altLang="en-US" sz="3467" dirty="0">
                <a:solidFill>
                  <a:srgbClr val="FF0000"/>
                </a:solidFill>
              </a:rPr>
              <a:t>网游世界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31371" y="356659"/>
            <a:ext cx="1097581" cy="1097582"/>
            <a:chOff x="336216" y="474772"/>
            <a:chExt cx="823186" cy="823186"/>
          </a:xfrm>
          <a:solidFill>
            <a:srgbClr val="FF0000"/>
          </a:solidFill>
        </p:grpSpPr>
        <p:grpSp>
          <p:nvGrpSpPr>
            <p:cNvPr id="16" name="组合 15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  <a:grpFill/>
          </p:grpSpPr>
          <p:sp>
            <p:nvSpPr>
              <p:cNvPr id="18" name="椭圆 17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3524672" y="2679336"/>
                <a:ext cx="255240" cy="25524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497580" y="555526"/>
              <a:ext cx="454692" cy="68475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5</a:t>
              </a:r>
              <a:endParaRPr lang="zh-CN" altLang="en-US" sz="53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8065826" y="431467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失败与收获</a:t>
            </a:r>
          </a:p>
        </p:txBody>
      </p:sp>
      <p:sp>
        <p:nvSpPr>
          <p:cNvPr id="21" name="等腰三角形 20"/>
          <p:cNvSpPr/>
          <p:nvPr/>
        </p:nvSpPr>
        <p:spPr>
          <a:xfrm rot="16200000">
            <a:off x="5679121" y="5475947"/>
            <a:ext cx="445489" cy="384043"/>
          </a:xfrm>
          <a:prstGeom prst="triangle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065826" y="4822840"/>
            <a:ext cx="34801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/>
            <a:r>
              <a:rPr lang="en-US" altLang="zh-CN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THE LOSS AND THE 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907" y="1496091"/>
            <a:ext cx="5345776" cy="4031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33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踏入新行业之前一定要做足功课；</a:t>
            </a:r>
            <a:endParaRPr lang="en-US" altLang="zh-CN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33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不要苛求一个不成熟的技术能够提供近乎完美的体验；</a:t>
            </a:r>
            <a:endParaRPr lang="en-US" altLang="zh-CN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33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保护项目不受其他业务团队的干扰</a:t>
            </a:r>
            <a:endParaRPr lang="en-US" altLang="zh-CN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33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为客户而非管理者生产产品；</a:t>
            </a:r>
            <a:endParaRPr lang="en-US" altLang="zh-CN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33" b="1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产品定价要符合市场的承受能力，不能一味寻求收回投资。</a:t>
            </a:r>
            <a:endParaRPr lang="en-US" altLang="zh-CN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133" b="1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5826" y="5127991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抓住要领！</a:t>
            </a:r>
          </a:p>
        </p:txBody>
      </p:sp>
      <p:sp>
        <p:nvSpPr>
          <p:cNvPr id="25" name="矩形 24"/>
          <p:cNvSpPr/>
          <p:nvPr/>
        </p:nvSpPr>
        <p:spPr>
          <a:xfrm>
            <a:off x="565932" y="5025556"/>
            <a:ext cx="4903907" cy="7325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学习感悟</a:t>
            </a:r>
            <a:r>
              <a:rPr lang="en-US" altLang="zh-CN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要不断总结，失败并不可怕！</a:t>
            </a:r>
            <a:endParaRPr lang="en-US" altLang="zh-CN" sz="1600" b="1" i="1" dirty="0">
              <a:solidFill>
                <a:prstClr val="black">
                  <a:lumMod val="50000"/>
                  <a:lumOff val="50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重要的是去抓住动作要领，再打一场漂亮的翻身仗！</a:t>
            </a:r>
            <a:endParaRPr lang="en-US" altLang="zh-CN" sz="1600" b="1" i="1" dirty="0">
              <a:solidFill>
                <a:prstClr val="black">
                  <a:lumMod val="50000"/>
                  <a:lumOff val="50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206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121" y="2426896"/>
            <a:ext cx="3571875" cy="2257425"/>
          </a:xfrm>
          <a:prstGeom prst="rect">
            <a:avLst/>
          </a:prstGeom>
        </p:spPr>
      </p:pic>
      <p:sp>
        <p:nvSpPr>
          <p:cNvPr id="33" name="矩形 2"/>
          <p:cNvSpPr/>
          <p:nvPr/>
        </p:nvSpPr>
        <p:spPr>
          <a:xfrm>
            <a:off x="1" y="5655212"/>
            <a:ext cx="1842867" cy="1202788"/>
          </a:xfrm>
          <a:custGeom>
            <a:avLst/>
            <a:gdLst>
              <a:gd name="connsiteX0" fmla="*/ 0 w 4572000"/>
              <a:gd name="connsiteY0" fmla="*/ 0 h 5141912"/>
              <a:gd name="connsiteX1" fmla="*/ 4572000 w 4572000"/>
              <a:gd name="connsiteY1" fmla="*/ 0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1850315 w 4572000"/>
              <a:gd name="connsiteY1" fmla="*/ 21516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3270324 w 4572000"/>
              <a:gd name="connsiteY1" fmla="*/ 2065469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3968436"/>
              <a:gd name="connsiteX1" fmla="*/ 3270324 w 4572000"/>
              <a:gd name="connsiteY1" fmla="*/ 891993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  <a:gd name="connsiteX0" fmla="*/ 0 w 4572000"/>
              <a:gd name="connsiteY0" fmla="*/ 0 h 3968436"/>
              <a:gd name="connsiteX1" fmla="*/ 3552603 w 4572000"/>
              <a:gd name="connsiteY1" fmla="*/ 1798094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3968436">
                <a:moveTo>
                  <a:pt x="0" y="0"/>
                </a:moveTo>
                <a:lnTo>
                  <a:pt x="3552603" y="1798094"/>
                </a:lnTo>
                <a:lnTo>
                  <a:pt x="4572000" y="3968436"/>
                </a:lnTo>
                <a:lnTo>
                  <a:pt x="0" y="3968436"/>
                </a:lnTo>
                <a:lnTo>
                  <a:pt x="0" y="0"/>
                </a:lnTo>
                <a:close/>
              </a:path>
            </a:pathLst>
          </a:cu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2" name="矩形 2"/>
          <p:cNvSpPr/>
          <p:nvPr/>
        </p:nvSpPr>
        <p:spPr>
          <a:xfrm rot="10800000">
            <a:off x="6257423" y="-2"/>
            <a:ext cx="5934577" cy="3985148"/>
          </a:xfrm>
          <a:custGeom>
            <a:avLst/>
            <a:gdLst>
              <a:gd name="connsiteX0" fmla="*/ 0 w 4572000"/>
              <a:gd name="connsiteY0" fmla="*/ 0 h 5141912"/>
              <a:gd name="connsiteX1" fmla="*/ 4572000 w 4572000"/>
              <a:gd name="connsiteY1" fmla="*/ 0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1850315 w 4572000"/>
              <a:gd name="connsiteY1" fmla="*/ 21516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3270324 w 4572000"/>
              <a:gd name="connsiteY1" fmla="*/ 2065469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3968436"/>
              <a:gd name="connsiteX1" fmla="*/ 3270324 w 4572000"/>
              <a:gd name="connsiteY1" fmla="*/ 891993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  <a:gd name="connsiteX0" fmla="*/ 0 w 4572000"/>
              <a:gd name="connsiteY0" fmla="*/ 0 h 3968436"/>
              <a:gd name="connsiteX1" fmla="*/ 3552603 w 4572000"/>
              <a:gd name="connsiteY1" fmla="*/ 1798094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3968436">
                <a:moveTo>
                  <a:pt x="0" y="0"/>
                </a:moveTo>
                <a:lnTo>
                  <a:pt x="3552603" y="1798094"/>
                </a:lnTo>
                <a:lnTo>
                  <a:pt x="4572000" y="3968436"/>
                </a:lnTo>
                <a:lnTo>
                  <a:pt x="0" y="3968436"/>
                </a:lnTo>
                <a:lnTo>
                  <a:pt x="0" y="0"/>
                </a:lnTo>
                <a:close/>
              </a:path>
            </a:pathLst>
          </a:cu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965201" y="3031067"/>
            <a:ext cx="2521527" cy="1950412"/>
          </a:xfrm>
          <a:custGeom>
            <a:avLst/>
            <a:gdLst>
              <a:gd name="connsiteX0" fmla="*/ 0 w 800100"/>
              <a:gd name="connsiteY0" fmla="*/ 0 h 901700"/>
              <a:gd name="connsiteX1" fmla="*/ 800100 w 800100"/>
              <a:gd name="connsiteY1" fmla="*/ 901700 h 901700"/>
              <a:gd name="connsiteX0" fmla="*/ 0 w 1891145"/>
              <a:gd name="connsiteY0" fmla="*/ 0 h 1462809"/>
              <a:gd name="connsiteX1" fmla="*/ 1891145 w 1891145"/>
              <a:gd name="connsiteY1" fmla="*/ 1462809 h 1462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91145" h="1462809">
                <a:moveTo>
                  <a:pt x="0" y="0"/>
                </a:moveTo>
                <a:lnTo>
                  <a:pt x="1891145" y="1462809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1032933" y="1320800"/>
            <a:ext cx="1219200" cy="1727200"/>
          </a:xfrm>
          <a:custGeom>
            <a:avLst/>
            <a:gdLst>
              <a:gd name="connsiteX0" fmla="*/ 914400 w 914400"/>
              <a:gd name="connsiteY0" fmla="*/ 0 h 1295400"/>
              <a:gd name="connsiteX1" fmla="*/ 0 w 914400"/>
              <a:gd name="connsiteY1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1295400">
                <a:moveTo>
                  <a:pt x="914400" y="0"/>
                </a:moveTo>
                <a:lnTo>
                  <a:pt x="0" y="1295400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2233660" y="1330036"/>
            <a:ext cx="5455613" cy="734291"/>
          </a:xfrm>
          <a:custGeom>
            <a:avLst/>
            <a:gdLst>
              <a:gd name="connsiteX0" fmla="*/ 0 w 4333010"/>
              <a:gd name="connsiteY0" fmla="*/ 1278082 h 1278082"/>
              <a:gd name="connsiteX1" fmla="*/ 4333010 w 4333010"/>
              <a:gd name="connsiteY1" fmla="*/ 0 h 1278082"/>
              <a:gd name="connsiteX0" fmla="*/ 0 w 4091710"/>
              <a:gd name="connsiteY0" fmla="*/ 0 h 550718"/>
              <a:gd name="connsiteX1" fmla="*/ 4091710 w 4091710"/>
              <a:gd name="connsiteY1" fmla="*/ 550718 h 550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91710" h="550718">
                <a:moveTo>
                  <a:pt x="0" y="0"/>
                </a:moveTo>
                <a:lnTo>
                  <a:pt x="4091710" y="550718"/>
                </a:lnTo>
              </a:path>
            </a:pathLst>
          </a:custGeom>
          <a:noFill/>
          <a:ln>
            <a:solidFill>
              <a:srgbClr val="B8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 rot="10800000">
            <a:off x="6381916" y="-12285"/>
            <a:ext cx="5807968" cy="3832031"/>
          </a:xfrm>
          <a:custGeom>
            <a:avLst/>
            <a:gdLst>
              <a:gd name="connsiteX0" fmla="*/ 0 w 4572000"/>
              <a:gd name="connsiteY0" fmla="*/ 0 h 5141912"/>
              <a:gd name="connsiteX1" fmla="*/ 4572000 w 4572000"/>
              <a:gd name="connsiteY1" fmla="*/ 0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1850315 w 4572000"/>
              <a:gd name="connsiteY1" fmla="*/ 21516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3270324 w 4572000"/>
              <a:gd name="connsiteY1" fmla="*/ 2065469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3968436"/>
              <a:gd name="connsiteX1" fmla="*/ 3270324 w 4572000"/>
              <a:gd name="connsiteY1" fmla="*/ 891993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  <a:gd name="connsiteX0" fmla="*/ 0 w 4572000"/>
              <a:gd name="connsiteY0" fmla="*/ 0 h 3968436"/>
              <a:gd name="connsiteX1" fmla="*/ 3552603 w 4572000"/>
              <a:gd name="connsiteY1" fmla="*/ 1798094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3968436">
                <a:moveTo>
                  <a:pt x="0" y="0"/>
                </a:moveTo>
                <a:lnTo>
                  <a:pt x="3552603" y="1798094"/>
                </a:lnTo>
                <a:lnTo>
                  <a:pt x="4572000" y="3968436"/>
                </a:lnTo>
                <a:lnTo>
                  <a:pt x="0" y="396843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077739" y="342591"/>
            <a:ext cx="38779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驶向蓝海市场</a:t>
            </a:r>
            <a:endParaRPr lang="en-US" altLang="zh-CN" sz="4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4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发明乐高游戏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152118" y="1508787"/>
            <a:ext cx="1097581" cy="1097582"/>
            <a:chOff x="336216" y="474772"/>
            <a:chExt cx="823186" cy="823186"/>
          </a:xfrm>
          <a:solidFill>
            <a:srgbClr val="FF0000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  <a:grpFill/>
          </p:grpSpPr>
          <p:sp>
            <p:nvSpPr>
              <p:cNvPr id="7" name="椭圆 6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3524672" y="2679336"/>
                <a:ext cx="255240" cy="25524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97580" y="555526"/>
              <a:ext cx="454692" cy="68475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6</a:t>
              </a:r>
              <a:endParaRPr lang="zh-CN" altLang="en-US" sz="53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 rot="487481">
            <a:off x="2534530" y="1656638"/>
            <a:ext cx="4695516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867" b="1" dirty="0">
                <a:latin typeface="微软雅黑" pitchFamily="34" charset="-122"/>
                <a:ea typeface="微软雅黑" pitchFamily="34" charset="-122"/>
              </a:rPr>
              <a:t>乐高棋盘游戏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920956" y="926008"/>
            <a:ext cx="768085" cy="768085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13" name="椭圆 12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35179" y="2736808"/>
            <a:ext cx="544512" cy="544512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17" name="椭圆 16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 rot="18371530">
            <a:off x="640733" y="1482904"/>
            <a:ext cx="1277914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267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成功</a:t>
            </a:r>
          </a:p>
        </p:txBody>
      </p:sp>
      <p:sp>
        <p:nvSpPr>
          <p:cNvPr id="24" name="TextBox 23"/>
          <p:cNvSpPr txBox="1"/>
          <p:nvPr/>
        </p:nvSpPr>
        <p:spPr>
          <a:xfrm rot="21407306">
            <a:off x="4081214" y="5113170"/>
            <a:ext cx="7103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bg1">
                    <a:lumMod val="8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一个突破性的产品发展得越快，就会越快实现原来的商业期待，并失去其独创性，这类独特的商品就会逐渐失去其创新型，完全变成一个商品！最终留在蓝海市场！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119670" y="4635486"/>
            <a:ext cx="768085" cy="768085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26" name="椭圆 25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 rot="467291">
            <a:off x="2770682" y="1181103"/>
            <a:ext cx="366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总结</a:t>
            </a:r>
            <a:r>
              <a:rPr lang="en-US" altLang="zh-CN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乐高宇宙</a:t>
            </a:r>
            <a:r>
              <a:rPr lang="en-US" altLang="zh-CN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的失败经验！</a:t>
            </a:r>
          </a:p>
        </p:txBody>
      </p:sp>
      <p:sp>
        <p:nvSpPr>
          <p:cNvPr id="30" name="TextBox 29"/>
          <p:cNvSpPr txBox="1"/>
          <p:nvPr/>
        </p:nvSpPr>
        <p:spPr>
          <a:xfrm rot="21429609">
            <a:off x="3962961" y="4483435"/>
            <a:ext cx="7374135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733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立足乐高核心，从红海驶向蓝海！</a:t>
            </a:r>
          </a:p>
        </p:txBody>
      </p:sp>
      <p:sp>
        <p:nvSpPr>
          <p:cNvPr id="31" name="矩形 2"/>
          <p:cNvSpPr/>
          <p:nvPr/>
        </p:nvSpPr>
        <p:spPr>
          <a:xfrm>
            <a:off x="2065" y="5762172"/>
            <a:ext cx="1640468" cy="1082363"/>
          </a:xfrm>
          <a:custGeom>
            <a:avLst/>
            <a:gdLst>
              <a:gd name="connsiteX0" fmla="*/ 0 w 4572000"/>
              <a:gd name="connsiteY0" fmla="*/ 0 h 5141912"/>
              <a:gd name="connsiteX1" fmla="*/ 4572000 w 4572000"/>
              <a:gd name="connsiteY1" fmla="*/ 0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1850315 w 4572000"/>
              <a:gd name="connsiteY1" fmla="*/ 21516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5141912"/>
              <a:gd name="connsiteX1" fmla="*/ 3270324 w 4572000"/>
              <a:gd name="connsiteY1" fmla="*/ 2065469 h 5141912"/>
              <a:gd name="connsiteX2" fmla="*/ 4572000 w 4572000"/>
              <a:gd name="connsiteY2" fmla="*/ 5141912 h 5141912"/>
              <a:gd name="connsiteX3" fmla="*/ 0 w 4572000"/>
              <a:gd name="connsiteY3" fmla="*/ 5141912 h 5141912"/>
              <a:gd name="connsiteX4" fmla="*/ 0 w 4572000"/>
              <a:gd name="connsiteY4" fmla="*/ 0 h 5141912"/>
              <a:gd name="connsiteX0" fmla="*/ 0 w 4572000"/>
              <a:gd name="connsiteY0" fmla="*/ 0 h 3968436"/>
              <a:gd name="connsiteX1" fmla="*/ 3270324 w 4572000"/>
              <a:gd name="connsiteY1" fmla="*/ 891993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  <a:gd name="connsiteX0" fmla="*/ 0 w 4572000"/>
              <a:gd name="connsiteY0" fmla="*/ 0 h 3968436"/>
              <a:gd name="connsiteX1" fmla="*/ 3552603 w 4572000"/>
              <a:gd name="connsiteY1" fmla="*/ 1798094 h 3968436"/>
              <a:gd name="connsiteX2" fmla="*/ 4572000 w 4572000"/>
              <a:gd name="connsiteY2" fmla="*/ 3968436 h 3968436"/>
              <a:gd name="connsiteX3" fmla="*/ 0 w 4572000"/>
              <a:gd name="connsiteY3" fmla="*/ 3968436 h 3968436"/>
              <a:gd name="connsiteX4" fmla="*/ 0 w 4572000"/>
              <a:gd name="connsiteY4" fmla="*/ 0 h 396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3968436">
                <a:moveTo>
                  <a:pt x="0" y="0"/>
                </a:moveTo>
                <a:lnTo>
                  <a:pt x="3552603" y="1798094"/>
                </a:lnTo>
                <a:lnTo>
                  <a:pt x="4572000" y="3968436"/>
                </a:lnTo>
                <a:lnTo>
                  <a:pt x="0" y="3968436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74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7488" y="548681"/>
            <a:ext cx="10704512" cy="50276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吸纳具有不同文化背景的创新人才</a:t>
            </a:r>
            <a:r>
              <a:rPr lang="en-US" altLang="zh-CN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6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忍者系列大爆炸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10608502" y="260649"/>
            <a:ext cx="1097581" cy="1097582"/>
            <a:chOff x="336216" y="474772"/>
            <a:chExt cx="823186" cy="823186"/>
          </a:xfrm>
          <a:solidFill>
            <a:srgbClr val="FF0000"/>
          </a:solidFill>
        </p:grpSpPr>
        <p:grpSp>
          <p:nvGrpSpPr>
            <p:cNvPr id="5" name="组合 4"/>
            <p:cNvGrpSpPr/>
            <p:nvPr/>
          </p:nvGrpSpPr>
          <p:grpSpPr>
            <a:xfrm>
              <a:off x="336216" y="474772"/>
              <a:ext cx="823186" cy="823186"/>
              <a:chOff x="3472272" y="2626936"/>
              <a:chExt cx="360040" cy="360040"/>
            </a:xfrm>
            <a:grpFill/>
          </p:grpSpPr>
          <p:sp>
            <p:nvSpPr>
              <p:cNvPr id="7" name="椭圆 6"/>
              <p:cNvSpPr/>
              <p:nvPr/>
            </p:nvSpPr>
            <p:spPr>
              <a:xfrm>
                <a:off x="3472272" y="2626936"/>
                <a:ext cx="360040" cy="3600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3524672" y="2679336"/>
                <a:ext cx="255240" cy="25524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497580" y="555526"/>
              <a:ext cx="454692" cy="684755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sz="5333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7</a:t>
              </a:r>
              <a:endParaRPr lang="zh-CN" altLang="en-US" sz="5333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556220" y="1074571"/>
            <a:ext cx="85972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来自不同文化氛围的人相互激励、相互挑战，这比同样思维方式的人合作更能产生丰富的果实</a:t>
            </a:r>
            <a:endParaRPr lang="en-US" altLang="zh-CN" sz="1600" b="1" i="1" dirty="0">
              <a:solidFill>
                <a:prstClr val="black">
                  <a:lumMod val="50000"/>
                  <a:lumOff val="50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altLang="zh-CN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乐高高级创新总裁埃里克</a:t>
            </a:r>
            <a:r>
              <a:rPr lang="en-US" altLang="zh-CN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6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来加恩斯</a:t>
            </a:r>
          </a:p>
        </p:txBody>
      </p:sp>
      <p:sp>
        <p:nvSpPr>
          <p:cNvPr id="10" name="矩形 9"/>
          <p:cNvSpPr/>
          <p:nvPr/>
        </p:nvSpPr>
        <p:spPr>
          <a:xfrm>
            <a:off x="1494666" y="1892830"/>
            <a:ext cx="10697335" cy="6095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7488" y="1953788"/>
            <a:ext cx="10249922" cy="666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733" b="1" dirty="0">
                <a:solidFill>
                  <a:srgbClr val="F7EB00"/>
                </a:solidFill>
                <a:latin typeface="微软雅黑" pitchFamily="34" charset="-122"/>
                <a:ea typeface="微软雅黑" pitchFamily="34" charset="-122"/>
              </a:rPr>
              <a:t>成功证明乐高已经进入自上而下的创新管理阶段</a:t>
            </a:r>
          </a:p>
        </p:txBody>
      </p:sp>
      <p:sp>
        <p:nvSpPr>
          <p:cNvPr id="12" name="矩形 11"/>
          <p:cNvSpPr/>
          <p:nvPr/>
        </p:nvSpPr>
        <p:spPr>
          <a:xfrm>
            <a:off x="1494665" y="2651415"/>
            <a:ext cx="10695219" cy="42044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969820" y="757767"/>
            <a:ext cx="554181" cy="1930016"/>
          </a:xfrm>
          <a:custGeom>
            <a:avLst/>
            <a:gdLst>
              <a:gd name="connsiteX0" fmla="*/ 353291 w 353291"/>
              <a:gd name="connsiteY0" fmla="*/ 0 h 1153391"/>
              <a:gd name="connsiteX1" fmla="*/ 0 w 353291"/>
              <a:gd name="connsiteY1" fmla="*/ 0 h 1153391"/>
              <a:gd name="connsiteX2" fmla="*/ 10391 w 353291"/>
              <a:gd name="connsiteY2" fmla="*/ 1153391 h 1153391"/>
              <a:gd name="connsiteX3" fmla="*/ 342900 w 353291"/>
              <a:gd name="connsiteY3" fmla="*/ 1153391 h 1153391"/>
              <a:gd name="connsiteX0" fmla="*/ 353291 w 415636"/>
              <a:gd name="connsiteY0" fmla="*/ 0 h 1444337"/>
              <a:gd name="connsiteX1" fmla="*/ 0 w 415636"/>
              <a:gd name="connsiteY1" fmla="*/ 0 h 1444337"/>
              <a:gd name="connsiteX2" fmla="*/ 10391 w 415636"/>
              <a:gd name="connsiteY2" fmla="*/ 1153391 h 1444337"/>
              <a:gd name="connsiteX3" fmla="*/ 415636 w 415636"/>
              <a:gd name="connsiteY3" fmla="*/ 1444337 h 1444337"/>
              <a:gd name="connsiteX0" fmla="*/ 375516 w 415636"/>
              <a:gd name="connsiteY0" fmla="*/ 0 h 1447512"/>
              <a:gd name="connsiteX1" fmla="*/ 0 w 415636"/>
              <a:gd name="connsiteY1" fmla="*/ 3175 h 1447512"/>
              <a:gd name="connsiteX2" fmla="*/ 10391 w 415636"/>
              <a:gd name="connsiteY2" fmla="*/ 1156566 h 1447512"/>
              <a:gd name="connsiteX3" fmla="*/ 415636 w 415636"/>
              <a:gd name="connsiteY3" fmla="*/ 1447512 h 1447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636" h="1447512">
                <a:moveTo>
                  <a:pt x="375516" y="0"/>
                </a:moveTo>
                <a:lnTo>
                  <a:pt x="0" y="3175"/>
                </a:lnTo>
                <a:cubicBezTo>
                  <a:pt x="3464" y="387639"/>
                  <a:pt x="6927" y="772102"/>
                  <a:pt x="10391" y="1156566"/>
                </a:cubicBezTo>
                <a:lnTo>
                  <a:pt x="415636" y="144751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85818" y="591132"/>
            <a:ext cx="368001" cy="368001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15" name="椭圆 14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85818" y="2118601"/>
            <a:ext cx="368001" cy="368001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18" name="椭圆 17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310665" y="1739308"/>
            <a:ext cx="368001" cy="368001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21" name="椭圆 20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1679510" y="2780923"/>
            <a:ext cx="631454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乐高</a:t>
            </a:r>
            <a:r>
              <a:rPr lang="en-US" altLang="zh-CN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T</a:t>
            </a: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型人才的崛起</a:t>
            </a:r>
            <a:endParaRPr lang="en-US" altLang="zh-CN" sz="32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重塑公司，给人更加清晰的方向感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装有设定方向工具的魔盒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产生灵感和探索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与孩子共同创造</a:t>
            </a:r>
            <a:endParaRPr lang="en-US" altLang="zh-CN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marL="380990" indent="-38099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让团队而非管理层推动审查过程</a:t>
            </a:r>
          </a:p>
        </p:txBody>
      </p:sp>
    </p:spTree>
    <p:extLst>
      <p:ext uri="{BB962C8B-B14F-4D97-AF65-F5344CB8AC3E}">
        <p14:creationId xmlns:p14="http://schemas.microsoft.com/office/powerpoint/2010/main" val="399060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916042" y="3543201"/>
            <a:ext cx="6158137" cy="902177"/>
            <a:chOff x="971600" y="2283718"/>
            <a:chExt cx="7194352" cy="864096"/>
          </a:xfrm>
          <a:solidFill>
            <a:srgbClr val="F7EB00"/>
          </a:solidFill>
        </p:grpSpPr>
        <p:sp>
          <p:nvSpPr>
            <p:cNvPr id="29" name="流程图: 数据 28"/>
            <p:cNvSpPr/>
            <p:nvPr/>
          </p:nvSpPr>
          <p:spPr>
            <a:xfrm>
              <a:off x="971600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0" name="流程图: 数据 29"/>
            <p:cNvSpPr/>
            <p:nvPr/>
          </p:nvSpPr>
          <p:spPr>
            <a:xfrm>
              <a:off x="2447764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1" name="流程图: 数据 30"/>
            <p:cNvSpPr/>
            <p:nvPr/>
          </p:nvSpPr>
          <p:spPr>
            <a:xfrm>
              <a:off x="3923928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2" name="流程图: 数据 31"/>
            <p:cNvSpPr/>
            <p:nvPr/>
          </p:nvSpPr>
          <p:spPr>
            <a:xfrm>
              <a:off x="5400092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33" name="流程图: 数据 32"/>
            <p:cNvSpPr/>
            <p:nvPr/>
          </p:nvSpPr>
          <p:spPr>
            <a:xfrm>
              <a:off x="6876256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2831638" y="4667343"/>
            <a:ext cx="6158137" cy="314359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831638" y="4554802"/>
            <a:ext cx="6158137" cy="31435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31638" y="2213150"/>
            <a:ext cx="6295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tx1"/>
                </a:solidFill>
              </a:rPr>
              <a:t>乐高的重生   创新转型与不断超越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2735627" y="2893740"/>
            <a:ext cx="666345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5157755" y="2117140"/>
            <a:ext cx="0" cy="776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9159059" y="2745083"/>
            <a:ext cx="297315" cy="297315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9" name="椭圆 8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2959034" y="2898024"/>
            <a:ext cx="604857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zh-CN" sz="1600" b="1" dirty="0">
                <a:solidFill>
                  <a:prstClr val="black">
                    <a:lumMod val="50000"/>
                    <a:lumOff val="50000"/>
                  </a:prstClr>
                </a:solidFill>
                <a:latin typeface="微软雅黑" pitchFamily="34" charset="-122"/>
                <a:ea typeface="微软雅黑" pitchFamily="34" charset="-122"/>
              </a:rPr>
              <a:t>INNOVATION AND TRANSCENDENCE OF DEVELOPMENT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921531" y="1733096"/>
            <a:ext cx="480053" cy="480053"/>
            <a:chOff x="3472272" y="2626936"/>
            <a:chExt cx="360040" cy="360040"/>
          </a:xfrm>
          <a:solidFill>
            <a:srgbClr val="FF0000"/>
          </a:solidFill>
        </p:grpSpPr>
        <p:sp>
          <p:nvSpPr>
            <p:cNvPr id="6" name="椭圆 5"/>
            <p:cNvSpPr/>
            <p:nvPr/>
          </p:nvSpPr>
          <p:spPr>
            <a:xfrm>
              <a:off x="3472272" y="2626936"/>
              <a:ext cx="360040" cy="36004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524672" y="2679336"/>
              <a:ext cx="255240" cy="25524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831638" y="3486930"/>
            <a:ext cx="6158137" cy="902177"/>
            <a:chOff x="971600" y="2283718"/>
            <a:chExt cx="7194352" cy="864096"/>
          </a:xfrm>
          <a:solidFill>
            <a:srgbClr val="FF0000"/>
          </a:solidFill>
        </p:grpSpPr>
        <p:sp>
          <p:nvSpPr>
            <p:cNvPr id="15" name="流程图: 数据 14"/>
            <p:cNvSpPr/>
            <p:nvPr/>
          </p:nvSpPr>
          <p:spPr>
            <a:xfrm>
              <a:off x="971600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6" name="流程图: 数据 15"/>
            <p:cNvSpPr/>
            <p:nvPr/>
          </p:nvSpPr>
          <p:spPr>
            <a:xfrm>
              <a:off x="2447764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7" name="流程图: 数据 16"/>
            <p:cNvSpPr/>
            <p:nvPr/>
          </p:nvSpPr>
          <p:spPr>
            <a:xfrm>
              <a:off x="3923928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8" name="流程图: 数据 17"/>
            <p:cNvSpPr/>
            <p:nvPr/>
          </p:nvSpPr>
          <p:spPr>
            <a:xfrm>
              <a:off x="5400092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9" name="流程图: 数据 18"/>
            <p:cNvSpPr/>
            <p:nvPr/>
          </p:nvSpPr>
          <p:spPr>
            <a:xfrm>
              <a:off x="6876256" y="2283718"/>
              <a:ext cx="1289696" cy="864096"/>
            </a:xfrm>
            <a:prstGeom prst="flowChartInputOutpu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150437" y="4506795"/>
            <a:ext cx="185659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i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扭转乾坤五阶段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99047" y="3732832"/>
            <a:ext cx="9012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生存战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4973" y="3732832"/>
            <a:ext cx="9012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核心战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8522" y="3732832"/>
            <a:ext cx="9012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方向战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2073" y="3732832"/>
            <a:ext cx="9012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风险战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622" y="3732832"/>
            <a:ext cx="901209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67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持久战</a:t>
            </a:r>
          </a:p>
        </p:txBody>
      </p:sp>
    </p:spTree>
    <p:extLst>
      <p:ext uri="{BB962C8B-B14F-4D97-AF65-F5344CB8AC3E}">
        <p14:creationId xmlns:p14="http://schemas.microsoft.com/office/powerpoint/2010/main" val="4254546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" y="1"/>
            <a:ext cx="12189884" cy="68558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8715" y="-524449"/>
            <a:ext cx="9620322" cy="9876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73051" y="2483598"/>
            <a:ext cx="4698723" cy="222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任何真理都不能独立存在</a:t>
            </a:r>
            <a:endParaRPr lang="en-US" altLang="zh-CN" sz="32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顺序和节奏的重要性</a:t>
            </a:r>
            <a:endParaRPr lang="en-US" altLang="zh-CN" sz="32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32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每一个创新都重要</a:t>
            </a:r>
            <a:endParaRPr lang="en-US" altLang="zh-CN" sz="32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50105" y="1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85871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060788" y="0"/>
            <a:ext cx="3305907" cy="6858000"/>
          </a:xfrm>
          <a:prstGeom prst="rect">
            <a:avLst/>
          </a:prstGeom>
          <a:solidFill>
            <a:srgbClr val="F7EB00">
              <a:alpha val="5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81" y="4878337"/>
            <a:ext cx="1329035" cy="81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42" y="800190"/>
            <a:ext cx="2933219" cy="4135108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9"/>
          <p:cNvSpPr txBox="1"/>
          <p:nvPr/>
        </p:nvSpPr>
        <p:spPr>
          <a:xfrm>
            <a:off x="5205675" y="2101460"/>
            <a:ext cx="59971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更多精彩内容</a:t>
            </a:r>
            <a:endParaRPr lang="en-US" altLang="zh-CN" sz="32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尽在</a:t>
            </a:r>
            <a:r>
              <a:rPr lang="en-US" altLang="zh-CN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乐高</a:t>
            </a:r>
            <a:r>
              <a:rPr lang="en-US" altLang="zh-CN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创新者的世界</a:t>
            </a:r>
            <a:r>
              <a:rPr lang="en-US" altLang="zh-CN" sz="32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》</a:t>
            </a:r>
            <a:endParaRPr lang="en-US" altLang="zh-CN" sz="32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5560623"/>
            <a:ext cx="12192000" cy="942535"/>
          </a:xfrm>
          <a:prstGeom prst="rect">
            <a:avLst/>
          </a:prstGeom>
          <a:solidFill>
            <a:srgbClr val="F7E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5710854"/>
            <a:ext cx="12192000" cy="11676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244" y="5783184"/>
            <a:ext cx="1350500" cy="8247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13151" y="5980283"/>
            <a:ext cx="5440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乐高</a:t>
            </a:r>
            <a:r>
              <a:rPr lang="en-US" altLang="zh-CN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200" b="1" dirty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创新者的</a:t>
            </a:r>
            <a:r>
              <a:rPr lang="zh-CN" altLang="en-US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</a:t>
            </a:r>
            <a:r>
              <a:rPr lang="en-US" altLang="zh-CN" sz="3200" b="1" dirty="0" smtClean="0">
                <a:solidFill>
                  <a:srgbClr val="F7EB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endParaRPr lang="zh-CN" altLang="en-US" sz="3200" b="1" dirty="0">
              <a:solidFill>
                <a:srgbClr val="F7EB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5987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579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118</a:t>
            </a:r>
            <a:r>
              <a:rPr lang="zh-CN" altLang="en-US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355069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1537</Words>
  <Application>Microsoft Office PowerPoint</Application>
  <PresentationFormat>宽屏</PresentationFormat>
  <Paragraphs>244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方正大标宋简体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1_Office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小巴</cp:lastModifiedBy>
  <cp:revision>33</cp:revision>
  <dcterms:created xsi:type="dcterms:W3CDTF">2014-03-12T14:08:27Z</dcterms:created>
  <dcterms:modified xsi:type="dcterms:W3CDTF">2014-06-12T03:10:23Z</dcterms:modified>
</cp:coreProperties>
</file>