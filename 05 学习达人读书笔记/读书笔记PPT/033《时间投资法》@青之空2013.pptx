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sldIdLst>
    <p:sldId id="300" r:id="rId4"/>
    <p:sldId id="257" r:id="rId5"/>
    <p:sldId id="259" r:id="rId6"/>
    <p:sldId id="258" r:id="rId7"/>
    <p:sldId id="288" r:id="rId8"/>
    <p:sldId id="291" r:id="rId9"/>
    <p:sldId id="292" r:id="rId10"/>
    <p:sldId id="293" r:id="rId11"/>
    <p:sldId id="296" r:id="rId12"/>
    <p:sldId id="267" r:id="rId13"/>
    <p:sldId id="269" r:id="rId14"/>
    <p:sldId id="272" r:id="rId15"/>
    <p:sldId id="294" r:id="rId16"/>
    <p:sldId id="277" r:id="rId17"/>
    <p:sldId id="289" r:id="rId18"/>
    <p:sldId id="299" r:id="rId19"/>
    <p:sldId id="301" r:id="rId20"/>
    <p:sldId id="302" r:id="rId21"/>
    <p:sldId id="303" r:id="rId22"/>
  </p:sldIdLst>
  <p:sldSz cx="9144000" cy="6858000" type="screen4x3"/>
  <p:notesSz cx="6858000" cy="9144000"/>
  <p:embeddedFontLst>
    <p:embeddedFont>
      <p:font typeface="方正兰亭黑简体" panose="02010600030101010101" charset="-122"/>
      <p:regular r:id="rId24"/>
    </p:embeddedFont>
    <p:embeddedFont>
      <p:font typeface="Broadway" panose="04040905080B02020502" pitchFamily="82" charset="0"/>
      <p:regular r:id="rId25"/>
    </p:embeddedFont>
    <p:embeddedFont>
      <p:font typeface="方正兰亭粗黑简体" panose="02010600030101010101" charset="-122"/>
      <p:regular r:id="rId26"/>
    </p:embeddedFont>
    <p:embeddedFont>
      <p:font typeface="华康俪金黑W8(P)" panose="020B0800000000000000" pitchFamily="34" charset="-122"/>
      <p:regular r:id="rId27"/>
    </p:embeddedFont>
    <p:embeddedFont>
      <p:font typeface="微软雅黑" panose="020B0503020204020204" pitchFamily="34" charset="-122"/>
      <p:regular r:id="rId28"/>
      <p:bold r:id="rId29"/>
    </p:embeddedFont>
    <p:embeddedFont>
      <p:font typeface="方正正黑简体" panose="02000000000000000000" pitchFamily="2" charset="-122"/>
      <p:regular r:id="rId30"/>
    </p:embeddedFont>
    <p:embeddedFont>
      <p:font typeface="方正正中黑简体" panose="02000000000000000000" pitchFamily="2" charset="-122"/>
      <p:regular r:id="rId31"/>
    </p:embeddedFont>
    <p:embeddedFont>
      <p:font typeface="华文楷体" panose="02010600040101010101" pitchFamily="2" charset="-122"/>
      <p:regular r:id="rId32"/>
    </p:embeddedFont>
    <p:embeddedFont>
      <p:font typeface="华文细黑" panose="02010600040101010101" pitchFamily="2" charset="-122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E06"/>
    <a:srgbClr val="FDFB47"/>
    <a:srgbClr val="FEFD4B"/>
    <a:srgbClr val="FFFF00"/>
    <a:srgbClr val="B5B134"/>
    <a:srgbClr val="7DBC05"/>
    <a:srgbClr val="9CCF0C"/>
    <a:srgbClr val="CCFFCC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B-PPT&#23398;&#20064;\&#26102;&#38388;&#25237;&#36164;&#27861;\&#39292;&#2227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一般人的时间分配</c:v>
                </c:pt>
              </c:strCache>
            </c:strRef>
          </c:tx>
          <c:spPr>
            <a:gradFill flip="none" rotWithShape="1">
              <a:gsLst>
                <a:gs pos="0">
                  <a:srgbClr val="FEFD4B">
                    <a:tint val="66000"/>
                    <a:satMod val="160000"/>
                  </a:srgbClr>
                </a:gs>
                <a:gs pos="50000">
                  <a:srgbClr val="FEFD4B">
                    <a:tint val="44500"/>
                    <a:satMod val="160000"/>
                  </a:srgbClr>
                </a:gs>
                <a:gs pos="100000">
                  <a:srgbClr val="FEFD4B">
                    <a:tint val="23500"/>
                    <a:satMod val="160000"/>
                  </a:srgbClr>
                </a:gs>
              </a:gsLst>
              <a:lin ang="0" scaled="1"/>
              <a:tileRect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方正兰亭黑简体" pitchFamily="2" charset="-122"/>
                    <a:ea typeface="方正兰亭黑简体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I消费时间</c:v>
                </c:pt>
                <c:pt idx="1">
                  <c:v>II浪费时间</c:v>
                </c:pt>
                <c:pt idx="2">
                  <c:v>III投资时间</c:v>
                </c:pt>
                <c:pt idx="3">
                  <c:v>IV闲耗时间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</c:v>
                </c:pt>
                <c:pt idx="1">
                  <c:v>0.2</c:v>
                </c:pt>
                <c:pt idx="2">
                  <c:v>0.05</c:v>
                </c:pt>
                <c:pt idx="3">
                  <c:v>0.15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理想的时间分配</c:v>
                </c:pt>
              </c:strCache>
            </c:strRef>
          </c:tx>
          <c:spPr>
            <a:gradFill flip="none" rotWithShape="1">
              <a:gsLst>
                <a:gs pos="0">
                  <a:srgbClr val="FE9E06">
                    <a:tint val="66000"/>
                    <a:satMod val="160000"/>
                  </a:srgbClr>
                </a:gs>
                <a:gs pos="50000">
                  <a:srgbClr val="FE9E06">
                    <a:tint val="44500"/>
                    <a:satMod val="160000"/>
                  </a:srgbClr>
                </a:gs>
                <a:gs pos="100000">
                  <a:srgbClr val="FE9E06">
                    <a:tint val="23500"/>
                    <a:satMod val="160000"/>
                  </a:srgbClr>
                </a:gs>
              </a:gsLst>
              <a:lin ang="0" scaled="1"/>
              <a:tileRect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latin typeface="方正兰亭黑简体" pitchFamily="2" charset="-122"/>
                    <a:ea typeface="方正兰亭黑简体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I消费时间</c:v>
                </c:pt>
                <c:pt idx="1">
                  <c:v>II浪费时间</c:v>
                </c:pt>
                <c:pt idx="2">
                  <c:v>III投资时间</c:v>
                </c:pt>
                <c:pt idx="3">
                  <c:v>IV闲耗时间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0.5</c:v>
                </c:pt>
                <c:pt idx="1">
                  <c:v>0.1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72538560"/>
        <c:axId val="172539120"/>
      </c:barChart>
      <c:catAx>
        <c:axId val="1725385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600">
                <a:latin typeface="方正兰亭黑简体" pitchFamily="2" charset="-122"/>
                <a:ea typeface="方正兰亭黑简体" pitchFamily="2" charset="-122"/>
              </a:defRPr>
            </a:pPr>
            <a:endParaRPr lang="zh-CN"/>
          </a:p>
        </c:txPr>
        <c:crossAx val="172539120"/>
        <c:crosses val="autoZero"/>
        <c:auto val="1"/>
        <c:lblAlgn val="ctr"/>
        <c:lblOffset val="100"/>
        <c:noMultiLvlLbl val="0"/>
      </c:catAx>
      <c:valAx>
        <c:axId val="17253912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crossAx val="17253856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方正兰亭黑简体" pitchFamily="2" charset="-122"/>
              <a:ea typeface="方正兰亭黑简体" pitchFamily="2" charset="-122"/>
            </a:defRPr>
          </a:pPr>
          <a:endParaRPr lang="zh-CN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08757-CA8B-4B90-A9EB-48EC33A069F9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75ECD-0C34-43D3-9EA4-41947E4C7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74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75ECD-0C34-43D3-9EA4-41947E4C70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251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43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15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50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58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78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01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74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72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9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4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319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78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785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341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35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185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875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113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039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7083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877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533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087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310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120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775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77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932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7041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56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324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152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382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24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A99FC-7C68-44BB-8E04-482056EF5BC2}" type="datetimeFigureOut">
              <a:rPr lang="zh-CN" altLang="en-US" smtClean="0"/>
              <a:t>2014/2/26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4D72F-888C-46B4-B70A-0BA7FE99E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332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88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76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0" y="2276872"/>
            <a:ext cx="9144000" cy="2160240"/>
          </a:xfrm>
          <a:prstGeom prst="rect">
            <a:avLst/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5B134"/>
              </a:solidFill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45" y="1268760"/>
            <a:ext cx="3152775" cy="4504184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4609764" y="2438602"/>
            <a:ext cx="4354723" cy="1603340"/>
            <a:chOff x="4357736" y="1772816"/>
            <a:chExt cx="4354723" cy="1603340"/>
          </a:xfrm>
        </p:grpSpPr>
        <p:sp>
          <p:nvSpPr>
            <p:cNvPr id="13" name="TextBox 12"/>
            <p:cNvSpPr txBox="1"/>
            <p:nvPr/>
          </p:nvSpPr>
          <p:spPr>
            <a:xfrm>
              <a:off x="4357736" y="1772816"/>
              <a:ext cx="43547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smtClean="0">
                  <a:latin typeface="微软雅黑" pitchFamily="34" charset="-122"/>
                  <a:ea typeface="微软雅黑" pitchFamily="34" charset="-122"/>
                </a:rPr>
                <a:t>时 间 </a:t>
              </a:r>
              <a:r>
                <a:rPr lang="zh-CN" altLang="en-US" sz="4800" b="1" dirty="0" smtClean="0">
                  <a:latin typeface="微软雅黑" pitchFamily="34" charset="-122"/>
                  <a:ea typeface="微软雅黑" pitchFamily="34" charset="-122"/>
                </a:rPr>
                <a:t>投 资 法</a:t>
              </a:r>
              <a:endParaRPr lang="zh-CN" altLang="en-US" sz="48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4429744" y="2691207"/>
              <a:ext cx="3778660" cy="0"/>
            </a:xfrm>
            <a:prstGeom prst="line">
              <a:avLst/>
            </a:prstGeom>
            <a:ln w="3492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429744" y="2852936"/>
              <a:ext cx="39946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smtClean="0">
                  <a:latin typeface="微软雅黑" pitchFamily="34" charset="-122"/>
                  <a:ea typeface="微软雅黑" pitchFamily="34" charset="-122"/>
                </a:rPr>
                <a:t>让你的年收入增加</a:t>
              </a:r>
              <a:r>
                <a:rPr lang="en-US" altLang="zh-CN" sz="2800" smtClean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lang="zh-CN" altLang="en-US" sz="2800" smtClean="0">
                  <a:latin typeface="微软雅黑" pitchFamily="34" charset="-122"/>
                  <a:ea typeface="微软雅黑" pitchFamily="34" charset="-122"/>
                </a:rPr>
                <a:t>倍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262891" y="5003884"/>
            <a:ext cx="288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青之空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2013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46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9910" y="770094"/>
            <a:ext cx="3518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 dirty="0" smtClean="0">
                <a:solidFill>
                  <a:srgbClr val="FE9E06"/>
                </a:solidFill>
                <a:latin typeface="华康俪金黑W8(P)" pitchFamily="34" charset="-122"/>
                <a:ea typeface="华康俪金黑W8(P)" pitchFamily="34" charset="-122"/>
              </a:rPr>
              <a:t>作者简介</a:t>
            </a:r>
            <a:r>
              <a:rPr lang="en-US" altLang="zh-CN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19872" y="1052735"/>
            <a:ext cx="5724128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874" y="1628799"/>
            <a:ext cx="2496870" cy="2736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15" name="TextBox 14"/>
          <p:cNvSpPr txBox="1"/>
          <p:nvPr/>
        </p:nvSpPr>
        <p:spPr>
          <a:xfrm>
            <a:off x="555575" y="1641730"/>
            <a:ext cx="44644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雅芳女性大奖最年轻获得者</a:t>
            </a:r>
            <a:endParaRPr lang="en-US" altLang="zh-CN" sz="2000" i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2005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华尔街日报</a:t>
            </a:r>
            <a:r>
              <a:rPr lang="en-US" altLang="zh-CN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全球</a:t>
            </a:r>
            <a:r>
              <a:rPr lang="zh-CN" alt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最值得瞩目的</a:t>
            </a:r>
            <a:r>
              <a:rPr lang="en-US" altLang="zh-CN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女性之一</a:t>
            </a:r>
            <a:endParaRPr lang="en-US" altLang="zh-CN" sz="2000" i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十几部畅销书作家</a:t>
            </a:r>
            <a:endParaRPr lang="en-US" altLang="zh-CN" sz="2000" i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日本史上最年轻注册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会计师</a:t>
            </a:r>
            <a:endParaRPr lang="en-US" altLang="zh-CN" sz="2000" i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天通过证券从业资格考试</a:t>
            </a:r>
            <a:endParaRPr lang="en-US" altLang="zh-CN" sz="2000" i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TOEIC</a:t>
            </a: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考试近满分</a:t>
            </a:r>
            <a:endParaRPr lang="en-US" altLang="zh-CN" sz="2000" i="1" dirty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独自抚育三个孩子的单亲妈妈</a:t>
            </a:r>
            <a:endParaRPr lang="zh-CN" altLang="en-US" sz="2000" i="1" dirty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51520" y="4869160"/>
            <a:ext cx="874176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2233" y="5085184"/>
            <a:ext cx="834623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胜间和代写这本书试图告诉我们：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i="1" dirty="0" smtClean="0">
                <a:latin typeface="华文细黑" pitchFamily="2" charset="-122"/>
                <a:ea typeface="华文细黑" pitchFamily="2" charset="-122"/>
              </a:rPr>
              <a:t>                                                                 </a:t>
            </a:r>
            <a:endParaRPr lang="en-US" altLang="zh-CN" i="1" dirty="0" smtClean="0">
              <a:latin typeface="华文细黑" pitchFamily="2" charset="-122"/>
              <a:ea typeface="华文细黑" pitchFamily="2" charset="-122"/>
            </a:endParaRPr>
          </a:p>
          <a:p>
            <a:r>
              <a:rPr lang="en-US" altLang="zh-CN" sz="2400" b="1" i="1" dirty="0">
                <a:solidFill>
                  <a:srgbClr val="FE9E06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en-US" altLang="zh-CN" sz="2400" b="1" i="1" dirty="0" smtClean="0">
                <a:solidFill>
                  <a:srgbClr val="FE9E06"/>
                </a:solidFill>
                <a:latin typeface="华文细黑" pitchFamily="2" charset="-122"/>
                <a:ea typeface="华文细黑" pitchFamily="2" charset="-122"/>
              </a:rPr>
              <a:t>                                        </a:t>
            </a:r>
            <a:r>
              <a:rPr lang="zh-CN" altLang="en-US" sz="2400" b="1" i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如何更有效的投资时间，</a:t>
            </a:r>
            <a:endParaRPr lang="en-US" altLang="zh-CN" sz="2400" b="1" i="1" dirty="0" smtClean="0">
              <a:solidFill>
                <a:srgbClr val="FE9E06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en-US" altLang="zh-CN" sz="2400" b="1" i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 </a:t>
            </a:r>
            <a:r>
              <a:rPr lang="en-US" altLang="zh-CN" sz="2400" b="1" i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                                                       </a:t>
            </a:r>
            <a:r>
              <a:rPr lang="zh-CN" altLang="en-US" sz="2400" b="1" i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让生活变得更加幸福？</a:t>
            </a:r>
            <a:endParaRPr lang="zh-CN" altLang="en-US" sz="2400" b="1" i="1" dirty="0">
              <a:solidFill>
                <a:srgbClr val="FE9E06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5517232"/>
            <a:ext cx="47625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518398" y="6307404"/>
            <a:ext cx="47625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860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55502" y="725352"/>
            <a:ext cx="4382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什么是时间投资法</a:t>
            </a:r>
            <a:r>
              <a:rPr lang="en-US" altLang="zh-CN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575387" y="2276872"/>
            <a:ext cx="1988501" cy="2484276"/>
            <a:chOff x="705060" y="1916832"/>
            <a:chExt cx="1988501" cy="2484276"/>
          </a:xfrm>
        </p:grpSpPr>
        <p:sp>
          <p:nvSpPr>
            <p:cNvPr id="4" name="矩形 3"/>
            <p:cNvSpPr/>
            <p:nvPr/>
          </p:nvSpPr>
          <p:spPr>
            <a:xfrm>
              <a:off x="881397" y="3501008"/>
              <a:ext cx="637754" cy="900100"/>
            </a:xfrm>
            <a:prstGeom prst="rect">
              <a:avLst/>
            </a:prstGeom>
            <a:gradFill flip="none" rotWithShape="1">
              <a:gsLst>
                <a:gs pos="0">
                  <a:srgbClr val="FEFD4B">
                    <a:tint val="66000"/>
                    <a:satMod val="160000"/>
                  </a:srgbClr>
                </a:gs>
                <a:gs pos="50000">
                  <a:srgbClr val="FEFD4B">
                    <a:tint val="44500"/>
                    <a:satMod val="160000"/>
                  </a:srgbClr>
                </a:gs>
                <a:gs pos="100000">
                  <a:srgbClr val="FEFD4B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088984" y="1916832"/>
              <a:ext cx="604577" cy="2484276"/>
            </a:xfrm>
            <a:prstGeom prst="rect">
              <a:avLst/>
            </a:prstGeom>
            <a:gradFill flip="none" rotWithShape="1">
              <a:gsLst>
                <a:gs pos="0">
                  <a:srgbClr val="FEFD4B">
                    <a:tint val="66000"/>
                    <a:satMod val="160000"/>
                  </a:srgbClr>
                </a:gs>
                <a:gs pos="50000">
                  <a:srgbClr val="FEFD4B">
                    <a:tint val="44500"/>
                    <a:satMod val="160000"/>
                  </a:srgbClr>
                </a:gs>
                <a:gs pos="100000">
                  <a:srgbClr val="FEFD4B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451230" y="2924944"/>
              <a:ext cx="637754" cy="1476164"/>
            </a:xfrm>
            <a:prstGeom prst="rect">
              <a:avLst/>
            </a:prstGeom>
            <a:gradFill flip="none" rotWithShape="1">
              <a:gsLst>
                <a:gs pos="0">
                  <a:srgbClr val="FEFD4B">
                    <a:tint val="66000"/>
                    <a:satMod val="160000"/>
                  </a:srgbClr>
                </a:gs>
                <a:gs pos="50000">
                  <a:srgbClr val="FEFD4B">
                    <a:tint val="44500"/>
                    <a:satMod val="160000"/>
                  </a:srgbClr>
                </a:gs>
                <a:gs pos="100000">
                  <a:srgbClr val="FEFD4B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右箭头 14"/>
            <p:cNvSpPr/>
            <p:nvPr/>
          </p:nvSpPr>
          <p:spPr>
            <a:xfrm rot="19028328">
              <a:off x="705060" y="2076168"/>
              <a:ext cx="1314499" cy="720080"/>
            </a:xfrm>
            <a:prstGeom prst="rightArrow">
              <a:avLst/>
            </a:prstGeom>
            <a:gradFill flip="none" rotWithShape="1">
              <a:gsLst>
                <a:gs pos="0">
                  <a:srgbClr val="FE9E06">
                    <a:tint val="66000"/>
                    <a:satMod val="160000"/>
                  </a:srgbClr>
                </a:gs>
                <a:gs pos="50000">
                  <a:srgbClr val="FE9E06">
                    <a:tint val="44500"/>
                    <a:satMod val="160000"/>
                  </a:srgbClr>
                </a:gs>
                <a:gs pos="100000">
                  <a:srgbClr val="FE9E06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918616" y="2276872"/>
            <a:ext cx="2376264" cy="2391035"/>
            <a:chOff x="5453844" y="1894218"/>
            <a:chExt cx="2808312" cy="2664296"/>
          </a:xfrm>
        </p:grpSpPr>
        <p:sp>
          <p:nvSpPr>
            <p:cNvPr id="16" name="椭圆 15"/>
            <p:cNvSpPr/>
            <p:nvPr/>
          </p:nvSpPr>
          <p:spPr>
            <a:xfrm>
              <a:off x="5453844" y="1894218"/>
              <a:ext cx="2808312" cy="266429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759116" y="2893408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7258050" y="2311957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554702" y="2559859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7681664" y="2991228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774394" y="3047070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7653586" y="3466110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7099510" y="3949421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6413213" y="3946412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787193" y="2444187"/>
              <a:ext cx="197768" cy="231344"/>
            </a:xfrm>
            <a:prstGeom prst="ellipse">
              <a:avLst/>
            </a:prstGeom>
            <a:solidFill>
              <a:srgbClr val="FE9E06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6512097" y="2098464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6434373" y="2698792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7548811" y="3826971"/>
              <a:ext cx="197768" cy="23134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1236690" y="5215075"/>
            <a:ext cx="2759246" cy="1018465"/>
          </a:xfrm>
          <a:prstGeom prst="rect">
            <a:avLst/>
          </a:prstGeom>
          <a:solidFill>
            <a:schemeClr val="bg1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smtClean="0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ctr"/>
            <a:endParaRPr lang="en-US" altLang="zh-CN" b="1" smtClean="0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ctr"/>
            <a:r>
              <a:rPr lang="zh-CN" altLang="en-US" sz="2000" b="1" smtClean="0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rPr>
              <a:t>时间利用效率最大化</a:t>
            </a:r>
            <a:endParaRPr lang="zh-CN" altLang="en-US" sz="2000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350438" y="5304374"/>
            <a:ext cx="2531750" cy="428882"/>
          </a:xfrm>
          <a:prstGeom prst="rect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smtClean="0">
                <a:solidFill>
                  <a:schemeClr val="tx1"/>
                </a:solidFill>
                <a:latin typeface="方正兰亭粗黑简体" pitchFamily="2" charset="-122"/>
                <a:ea typeface="方正兰亭粗黑简体" pitchFamily="2" charset="-122"/>
              </a:rPr>
              <a:t>短期</a:t>
            </a:r>
            <a:endParaRPr lang="zh-CN" altLang="en-US" sz="2000">
              <a:solidFill>
                <a:schemeClr val="tx1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566280" y="5218847"/>
            <a:ext cx="2894152" cy="1018465"/>
          </a:xfrm>
          <a:prstGeom prst="rect">
            <a:avLst/>
          </a:prstGeom>
          <a:solidFill>
            <a:schemeClr val="bg1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ctr"/>
            <a:endParaRPr lang="en-US" altLang="zh-CN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rPr>
              <a:t>找到需要长期投入的事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7178" y="1457223"/>
            <a:ext cx="7923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黑简体" pitchFamily="2" charset="-122"/>
                <a:ea typeface="方正兰亭黑简体" pitchFamily="2" charset="-122"/>
              </a:rPr>
              <a:t>时间投资法就是</a:t>
            </a:r>
            <a:r>
              <a:rPr lang="zh-CN" altLang="en-US" sz="28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高效利用时间的</a:t>
            </a:r>
            <a:r>
              <a:rPr lang="zh-CN" altLang="en-US" sz="28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方法</a:t>
            </a:r>
          </a:p>
        </p:txBody>
      </p:sp>
      <p:sp>
        <p:nvSpPr>
          <p:cNvPr id="50" name="矩形 49"/>
          <p:cNvSpPr/>
          <p:nvPr/>
        </p:nvSpPr>
        <p:spPr>
          <a:xfrm>
            <a:off x="5723206" y="5328504"/>
            <a:ext cx="2580299" cy="428882"/>
          </a:xfrm>
          <a:prstGeom prst="rect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方正兰亭粗黑简体" pitchFamily="2" charset="-122"/>
                <a:ea typeface="方正兰亭粗黑简体" pitchFamily="2" charset="-122"/>
              </a:rPr>
              <a:t>长期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5076056" y="1017739"/>
            <a:ext cx="4044235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1017739"/>
            <a:ext cx="1043608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6557558" y="3583736"/>
            <a:ext cx="167342" cy="207616"/>
          </a:xfrm>
          <a:prstGeom prst="ellipse">
            <a:avLst/>
          </a:prstGeom>
          <a:solidFill>
            <a:srgbClr val="FE9E06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7455944" y="3420839"/>
            <a:ext cx="167342" cy="207616"/>
          </a:xfrm>
          <a:prstGeom prst="ellipse">
            <a:avLst/>
          </a:prstGeom>
          <a:solidFill>
            <a:srgbClr val="FE9E06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7097101" y="3757240"/>
            <a:ext cx="167342" cy="207616"/>
          </a:xfrm>
          <a:prstGeom prst="ellipse">
            <a:avLst/>
          </a:prstGeom>
          <a:solidFill>
            <a:srgbClr val="FE9E06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394774" y="3026642"/>
            <a:ext cx="167342" cy="207616"/>
          </a:xfrm>
          <a:prstGeom prst="ellipse">
            <a:avLst/>
          </a:prstGeom>
          <a:solidFill>
            <a:schemeClr val="bg1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473887" y="2922834"/>
            <a:ext cx="167342" cy="207616"/>
          </a:xfrm>
          <a:prstGeom prst="ellipse">
            <a:avLst/>
          </a:prstGeom>
          <a:solidFill>
            <a:srgbClr val="FE9E06"/>
          </a:solidFill>
          <a:ln w="2540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0162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9910" y="770094"/>
            <a:ext cx="4886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五步法做好时间投资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508104" y="1052738"/>
            <a:ext cx="3635896" cy="9744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任意多边形 2"/>
          <p:cNvSpPr/>
          <p:nvPr/>
        </p:nvSpPr>
        <p:spPr>
          <a:xfrm>
            <a:off x="611560" y="2564904"/>
            <a:ext cx="2880000" cy="508145"/>
          </a:xfrm>
          <a:custGeom>
            <a:avLst/>
            <a:gdLst>
              <a:gd name="connsiteX0" fmla="*/ 0 w 1678911"/>
              <a:gd name="connsiteY0" fmla="*/ 0 h 508145"/>
              <a:gd name="connsiteX1" fmla="*/ 1424839 w 1678911"/>
              <a:gd name="connsiteY1" fmla="*/ 0 h 508145"/>
              <a:gd name="connsiteX2" fmla="*/ 1678911 w 1678911"/>
              <a:gd name="connsiteY2" fmla="*/ 254073 h 508145"/>
              <a:gd name="connsiteX3" fmla="*/ 1424839 w 1678911"/>
              <a:gd name="connsiteY3" fmla="*/ 508145 h 508145"/>
              <a:gd name="connsiteX4" fmla="*/ 0 w 1678911"/>
              <a:gd name="connsiteY4" fmla="*/ 508145 h 508145"/>
              <a:gd name="connsiteX5" fmla="*/ 254073 w 1678911"/>
              <a:gd name="connsiteY5" fmla="*/ 254073 h 508145"/>
              <a:gd name="connsiteX6" fmla="*/ 0 w 1678911"/>
              <a:gd name="connsiteY6" fmla="*/ 0 h 50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8911" h="508145">
                <a:moveTo>
                  <a:pt x="0" y="0"/>
                </a:moveTo>
                <a:lnTo>
                  <a:pt x="1424839" y="0"/>
                </a:lnTo>
                <a:lnTo>
                  <a:pt x="1678911" y="254073"/>
                </a:lnTo>
                <a:lnTo>
                  <a:pt x="1424839" y="508145"/>
                </a:lnTo>
                <a:lnTo>
                  <a:pt x="0" y="508145"/>
                </a:lnTo>
                <a:lnTo>
                  <a:pt x="254073" y="254073"/>
                </a:lnTo>
                <a:lnTo>
                  <a:pt x="0" y="0"/>
                </a:lnTo>
                <a:close/>
              </a:path>
            </a:pathLst>
          </a:custGeom>
          <a:solidFill>
            <a:srgbClr val="FEFD4B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350085" tIns="32004" rIns="286076" bIns="3200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确定目标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1691143" y="3173283"/>
            <a:ext cx="2880000" cy="508145"/>
          </a:xfrm>
          <a:custGeom>
            <a:avLst/>
            <a:gdLst>
              <a:gd name="connsiteX0" fmla="*/ 0 w 1643036"/>
              <a:gd name="connsiteY0" fmla="*/ 0 h 508145"/>
              <a:gd name="connsiteX1" fmla="*/ 1388964 w 1643036"/>
              <a:gd name="connsiteY1" fmla="*/ 0 h 508145"/>
              <a:gd name="connsiteX2" fmla="*/ 1643036 w 1643036"/>
              <a:gd name="connsiteY2" fmla="*/ 254073 h 508145"/>
              <a:gd name="connsiteX3" fmla="*/ 1388964 w 1643036"/>
              <a:gd name="connsiteY3" fmla="*/ 508145 h 508145"/>
              <a:gd name="connsiteX4" fmla="*/ 0 w 1643036"/>
              <a:gd name="connsiteY4" fmla="*/ 508145 h 508145"/>
              <a:gd name="connsiteX5" fmla="*/ 254073 w 1643036"/>
              <a:gd name="connsiteY5" fmla="*/ 254073 h 508145"/>
              <a:gd name="connsiteX6" fmla="*/ 0 w 1643036"/>
              <a:gd name="connsiteY6" fmla="*/ 0 h 50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3036" h="508145">
                <a:moveTo>
                  <a:pt x="0" y="0"/>
                </a:moveTo>
                <a:lnTo>
                  <a:pt x="1388964" y="0"/>
                </a:lnTo>
                <a:lnTo>
                  <a:pt x="1643036" y="254073"/>
                </a:lnTo>
                <a:lnTo>
                  <a:pt x="1388964" y="508145"/>
                </a:lnTo>
                <a:lnTo>
                  <a:pt x="0" y="508145"/>
                </a:lnTo>
                <a:lnTo>
                  <a:pt x="254073" y="254073"/>
                </a:lnTo>
                <a:lnTo>
                  <a:pt x="0" y="0"/>
                </a:lnTo>
                <a:close/>
              </a:path>
            </a:pathLst>
          </a:custGeom>
          <a:solidFill>
            <a:srgbClr val="FEFD4B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350085" tIns="32004" rIns="286076" bIns="3200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目标分解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2747171" y="3781662"/>
            <a:ext cx="2880000" cy="508145"/>
          </a:xfrm>
          <a:custGeom>
            <a:avLst/>
            <a:gdLst>
              <a:gd name="connsiteX0" fmla="*/ 0 w 1619204"/>
              <a:gd name="connsiteY0" fmla="*/ 0 h 508145"/>
              <a:gd name="connsiteX1" fmla="*/ 1365132 w 1619204"/>
              <a:gd name="connsiteY1" fmla="*/ 0 h 508145"/>
              <a:gd name="connsiteX2" fmla="*/ 1619204 w 1619204"/>
              <a:gd name="connsiteY2" fmla="*/ 254073 h 508145"/>
              <a:gd name="connsiteX3" fmla="*/ 1365132 w 1619204"/>
              <a:gd name="connsiteY3" fmla="*/ 508145 h 508145"/>
              <a:gd name="connsiteX4" fmla="*/ 0 w 1619204"/>
              <a:gd name="connsiteY4" fmla="*/ 508145 h 508145"/>
              <a:gd name="connsiteX5" fmla="*/ 254073 w 1619204"/>
              <a:gd name="connsiteY5" fmla="*/ 254073 h 508145"/>
              <a:gd name="connsiteX6" fmla="*/ 0 w 1619204"/>
              <a:gd name="connsiteY6" fmla="*/ 0 h 50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9204" h="508145">
                <a:moveTo>
                  <a:pt x="0" y="0"/>
                </a:moveTo>
                <a:lnTo>
                  <a:pt x="1365132" y="0"/>
                </a:lnTo>
                <a:lnTo>
                  <a:pt x="1619204" y="254073"/>
                </a:lnTo>
                <a:lnTo>
                  <a:pt x="1365132" y="508145"/>
                </a:lnTo>
                <a:lnTo>
                  <a:pt x="0" y="508145"/>
                </a:lnTo>
                <a:lnTo>
                  <a:pt x="254073" y="254073"/>
                </a:lnTo>
                <a:lnTo>
                  <a:pt x="0" y="0"/>
                </a:lnTo>
                <a:close/>
              </a:path>
            </a:pathLst>
          </a:custGeom>
          <a:solidFill>
            <a:srgbClr val="FEFD4B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350085" tIns="32004" rIns="286076" bIns="3200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记录时间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005147" y="4390041"/>
            <a:ext cx="2880000" cy="508145"/>
          </a:xfrm>
          <a:custGeom>
            <a:avLst/>
            <a:gdLst>
              <a:gd name="connsiteX0" fmla="*/ 0 w 1790767"/>
              <a:gd name="connsiteY0" fmla="*/ 0 h 508145"/>
              <a:gd name="connsiteX1" fmla="*/ 1536695 w 1790767"/>
              <a:gd name="connsiteY1" fmla="*/ 0 h 508145"/>
              <a:gd name="connsiteX2" fmla="*/ 1790767 w 1790767"/>
              <a:gd name="connsiteY2" fmla="*/ 254073 h 508145"/>
              <a:gd name="connsiteX3" fmla="*/ 1536695 w 1790767"/>
              <a:gd name="connsiteY3" fmla="*/ 508145 h 508145"/>
              <a:gd name="connsiteX4" fmla="*/ 0 w 1790767"/>
              <a:gd name="connsiteY4" fmla="*/ 508145 h 508145"/>
              <a:gd name="connsiteX5" fmla="*/ 254073 w 1790767"/>
              <a:gd name="connsiteY5" fmla="*/ 254073 h 508145"/>
              <a:gd name="connsiteX6" fmla="*/ 0 w 1790767"/>
              <a:gd name="connsiteY6" fmla="*/ 0 h 50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0767" h="508145">
                <a:moveTo>
                  <a:pt x="0" y="0"/>
                </a:moveTo>
                <a:lnTo>
                  <a:pt x="1536695" y="0"/>
                </a:lnTo>
                <a:lnTo>
                  <a:pt x="1790767" y="254073"/>
                </a:lnTo>
                <a:lnTo>
                  <a:pt x="1536695" y="508145"/>
                </a:lnTo>
                <a:lnTo>
                  <a:pt x="0" y="508145"/>
                </a:lnTo>
                <a:lnTo>
                  <a:pt x="254073" y="254073"/>
                </a:lnTo>
                <a:lnTo>
                  <a:pt x="0" y="0"/>
                </a:lnTo>
                <a:close/>
              </a:path>
            </a:pathLst>
          </a:custGeom>
          <a:solidFill>
            <a:srgbClr val="FEFD4B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350085" tIns="32004" rIns="286076" bIns="3200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分类累计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5474081" y="4998420"/>
            <a:ext cx="2880000" cy="508145"/>
          </a:xfrm>
          <a:custGeom>
            <a:avLst/>
            <a:gdLst>
              <a:gd name="connsiteX0" fmla="*/ 0 w 2669401"/>
              <a:gd name="connsiteY0" fmla="*/ 0 h 508145"/>
              <a:gd name="connsiteX1" fmla="*/ 2415329 w 2669401"/>
              <a:gd name="connsiteY1" fmla="*/ 0 h 508145"/>
              <a:gd name="connsiteX2" fmla="*/ 2669401 w 2669401"/>
              <a:gd name="connsiteY2" fmla="*/ 254073 h 508145"/>
              <a:gd name="connsiteX3" fmla="*/ 2415329 w 2669401"/>
              <a:gd name="connsiteY3" fmla="*/ 508145 h 508145"/>
              <a:gd name="connsiteX4" fmla="*/ 0 w 2669401"/>
              <a:gd name="connsiteY4" fmla="*/ 508145 h 508145"/>
              <a:gd name="connsiteX5" fmla="*/ 254073 w 2669401"/>
              <a:gd name="connsiteY5" fmla="*/ 254073 h 508145"/>
              <a:gd name="connsiteX6" fmla="*/ 0 w 2669401"/>
              <a:gd name="connsiteY6" fmla="*/ 0 h 50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9401" h="508145">
                <a:moveTo>
                  <a:pt x="0" y="0"/>
                </a:moveTo>
                <a:lnTo>
                  <a:pt x="2415329" y="0"/>
                </a:lnTo>
                <a:lnTo>
                  <a:pt x="2669401" y="254073"/>
                </a:lnTo>
                <a:lnTo>
                  <a:pt x="2415329" y="508145"/>
                </a:lnTo>
                <a:lnTo>
                  <a:pt x="0" y="508145"/>
                </a:lnTo>
                <a:lnTo>
                  <a:pt x="254073" y="254073"/>
                </a:lnTo>
                <a:lnTo>
                  <a:pt x="0" y="0"/>
                </a:lnTo>
                <a:close/>
              </a:path>
            </a:pathLst>
          </a:custGeom>
          <a:solidFill>
            <a:srgbClr val="FEFD4B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350085" tIns="32004" rIns="286076" bIns="3200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评估改进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6144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148064" y="1052734"/>
            <a:ext cx="3995936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8094" y="760347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【STEP1:</a:t>
            </a:r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确定目标</a:t>
            </a:r>
            <a:r>
              <a:rPr lang="en-US" altLang="zh-CN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63888" y="2331597"/>
            <a:ext cx="57423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确定自己时间管理法</a:t>
            </a:r>
            <a:endParaRPr lang="en-US" altLang="zh-CN" sz="28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71800" y="2218645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dirty="0" smtClean="0">
                <a:ln w="11430"/>
                <a:solidFill>
                  <a:srgbClr val="FE9E06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1</a:t>
            </a:r>
            <a:endParaRPr lang="zh-CN" altLang="en-US" sz="5400" b="1" spc="150" dirty="0">
              <a:ln w="11430"/>
              <a:solidFill>
                <a:srgbClr val="FE9E06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594250" y="3114567"/>
            <a:ext cx="57423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每周学习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PPT3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小时</a:t>
            </a:r>
            <a:endParaRPr lang="en-US" altLang="zh-CN" sz="28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94250" y="3981345"/>
            <a:ext cx="57423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每天学习英语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30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分钟</a:t>
            </a:r>
            <a:endParaRPr lang="en-US" altLang="zh-CN" sz="2400" dirty="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82259" y="2996952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smtClean="0">
                <a:ln w="11430"/>
                <a:solidFill>
                  <a:srgbClr val="FE9E06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2</a:t>
            </a:r>
            <a:endParaRPr lang="zh-CN" altLang="en-US" sz="5400" b="1" spc="150">
              <a:ln w="11430"/>
              <a:solidFill>
                <a:srgbClr val="FE9E06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82259" y="3861048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smtClean="0">
                <a:ln w="11430"/>
                <a:solidFill>
                  <a:srgbClr val="FE9E06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3</a:t>
            </a:r>
            <a:endParaRPr lang="zh-CN" altLang="en-US" sz="5400" b="1" spc="150">
              <a:ln w="11430"/>
              <a:solidFill>
                <a:srgbClr val="FE9E06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5616" y="4974267"/>
            <a:ext cx="8762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E9E06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en-US" altLang="zh-CN" sz="2400" b="1" dirty="0" smtClean="0">
                <a:solidFill>
                  <a:srgbClr val="FE9E06"/>
                </a:solidFill>
                <a:latin typeface="微软雅黑" pitchFamily="34" charset="-122"/>
                <a:ea typeface="微软雅黑" pitchFamily="34" charset="-122"/>
              </a:rPr>
              <a:t>SMART</a:t>
            </a:r>
            <a:r>
              <a:rPr lang="zh-CN" altLang="en-US" sz="2400" b="1" dirty="0" smtClean="0">
                <a:solidFill>
                  <a:srgbClr val="FE9E06"/>
                </a:solidFill>
                <a:latin typeface="微软雅黑" pitchFamily="34" charset="-122"/>
                <a:ea typeface="微软雅黑" pitchFamily="34" charset="-122"/>
              </a:rPr>
              <a:t>法则：</a:t>
            </a:r>
            <a:endParaRPr lang="en-US" altLang="zh-CN" sz="2400" b="1" dirty="0" smtClean="0">
              <a:solidFill>
                <a:srgbClr val="FE9E0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 smtClean="0">
                <a:solidFill>
                  <a:srgbClr val="FE9E06"/>
                </a:solidFill>
                <a:latin typeface="微软雅黑" pitchFamily="34" charset="-122"/>
                <a:ea typeface="微软雅黑" pitchFamily="34" charset="-122"/>
              </a:rPr>
              <a:t>具体、可量化、可实现、注重结果、有时限</a:t>
            </a:r>
            <a:endParaRPr lang="zh-CN" altLang="en-US" sz="2400" b="1" dirty="0">
              <a:solidFill>
                <a:srgbClr val="FE9E0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 rot="16200000">
            <a:off x="2191000" y="560623"/>
            <a:ext cx="677108" cy="26394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2014</a:t>
            </a:r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年目标</a:t>
            </a:r>
          </a:p>
        </p:txBody>
      </p:sp>
      <p:pic>
        <p:nvPicPr>
          <p:cNvPr id="1075" name="Picture 51" descr="C:\Documents and Settings\Administrator\Local Settings\Temporary Internet Files\Content.IE5\3R2T48EZ\MC900157321[1].wmf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057498"/>
            <a:ext cx="1821485" cy="182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直接连接符 1056"/>
          <p:cNvCxnSpPr/>
          <p:nvPr/>
        </p:nvCxnSpPr>
        <p:spPr>
          <a:xfrm>
            <a:off x="1209810" y="4784378"/>
            <a:ext cx="5810462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342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148064" y="1052734"/>
            <a:ext cx="3995936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3661" y="760346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defRPr>
            </a:lvl1pPr>
          </a:lstStyle>
          <a:p>
            <a:r>
              <a:rPr lang="en-US" altLang="zh-CN"/>
              <a:t>【STEP2:</a:t>
            </a:r>
            <a:r>
              <a:rPr lang="zh-CN" altLang="en-US"/>
              <a:t>目标分解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766287" y="1589660"/>
            <a:ext cx="2016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2014</a:t>
            </a:r>
            <a:r>
              <a:rPr lang="zh-CN" altLang="en-US" sz="24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年目标</a:t>
            </a:r>
            <a:endParaRPr lang="en-US" altLang="zh-CN" sz="2400" smtClean="0">
              <a:solidFill>
                <a:schemeClr val="bg1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2605" y="1849103"/>
            <a:ext cx="792088" cy="3948385"/>
          </a:xfrm>
          <a:prstGeom prst="rect">
            <a:avLst/>
          </a:prstGeom>
          <a:gradFill flip="none" rotWithShape="1">
            <a:gsLst>
              <a:gs pos="0">
                <a:srgbClr val="FEFD4B">
                  <a:tint val="66000"/>
                  <a:satMod val="160000"/>
                </a:srgbClr>
              </a:gs>
              <a:gs pos="50000">
                <a:srgbClr val="FEFD4B">
                  <a:tint val="44500"/>
                  <a:satMod val="160000"/>
                </a:srgbClr>
              </a:gs>
              <a:gs pos="100000">
                <a:srgbClr val="FEFD4B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32605" y="1965901"/>
            <a:ext cx="677108" cy="37147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把年计划分解到周</a:t>
            </a:r>
            <a:endParaRPr lang="zh-CN" altLang="en-US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5736" y="2173149"/>
            <a:ext cx="561662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第二周</a:t>
            </a:r>
            <a:r>
              <a:rPr lang="zh-CN" altLang="en-US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：</a:t>
            </a:r>
            <a:r>
              <a:rPr lang="en-US" altLang="zh-CN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20140106~0112</a:t>
            </a:r>
            <a:endParaRPr lang="en-US" altLang="zh-CN" sz="3200" dirty="0" smtClean="0">
              <a:solidFill>
                <a:srgbClr val="FE9E06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marL="514350" indent="-51435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阅读完并摘要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《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时间投资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》</a:t>
            </a:r>
          </a:p>
          <a:p>
            <a:pPr marL="514350" indent="-51435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学习一课网易云课堂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PPT</a:t>
            </a:r>
          </a:p>
          <a:p>
            <a:pPr marL="514350" indent="-51435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每天背诵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30</a:t>
            </a:r>
            <a:r>
              <a:rPr lang="zh-CN" altLang="en-US" sz="2800" dirty="0">
                <a:latin typeface="方正兰亭黑简体" pitchFamily="2" charset="-122"/>
                <a:ea typeface="方正兰亭黑简体" pitchFamily="2" charset="-122"/>
              </a:rPr>
              <a:t>分钟新概念英语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marL="514350" indent="-51435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阅读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《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中国近代史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》</a:t>
            </a:r>
            <a:r>
              <a:rPr lang="zh-CN" altLang="en-US" sz="2800" dirty="0">
                <a:latin typeface="方正兰亭黑简体" pitchFamily="2" charset="-122"/>
                <a:ea typeface="方正兰亭黑简体" pitchFamily="2" charset="-122"/>
              </a:rPr>
              <a:t> 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235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076056" y="1052735"/>
            <a:ext cx="4067944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6" idx="0"/>
            <a:endCxn id="32" idx="4"/>
          </p:cNvCxnSpPr>
          <p:nvPr/>
        </p:nvCxnSpPr>
        <p:spPr>
          <a:xfrm>
            <a:off x="1126578" y="1729694"/>
            <a:ext cx="0" cy="4536504"/>
          </a:xfrm>
          <a:prstGeom prst="line">
            <a:avLst/>
          </a:prstGeom>
          <a:ln>
            <a:solidFill>
              <a:srgbClr val="FEFD4B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1023725" y="172969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023725" y="244977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023725" y="316985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023725" y="388993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023725" y="4682022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34043" y="533009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1023725" y="6050174"/>
            <a:ext cx="205706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EFD4B"/>
            </a:solidFill>
          </a:ln>
          <a:effectLst>
            <a:glow rad="139700">
              <a:srgbClr val="FEFD4B">
                <a:alpha val="40000"/>
              </a:srgb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55773" y="1653040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7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00-7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早饭</a:t>
            </a:r>
            <a:endParaRPr lang="zh-CN" altLang="en-US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55773" y="2377766"/>
            <a:ext cx="5286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7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30-8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>
                <a:latin typeface="方正兰亭黑简体" pitchFamily="2" charset="-122"/>
                <a:ea typeface="方正兰亭黑简体" pitchFamily="2" charset="-122"/>
              </a:rPr>
              <a:t>坐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地铁上班，学习英语</a:t>
            </a:r>
            <a:endParaRPr lang="zh-CN" altLang="en-US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55773" y="3093200"/>
            <a:ext cx="571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8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30-11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讨论</a:t>
            </a:r>
            <a:r>
              <a:rPr lang="zh-CN" altLang="en-US">
                <a:latin typeface="方正兰亭黑简体" pitchFamily="2" charset="-122"/>
                <a:ea typeface="方正兰亭黑简体" pitchFamily="2" charset="-122"/>
              </a:rPr>
              <a:t>一年工作计划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5773" y="3813280"/>
            <a:ext cx="474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11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30-12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同事</a:t>
            </a:r>
            <a:r>
              <a:rPr lang="zh-CN" altLang="en-US">
                <a:latin typeface="方正兰亭黑简体" pitchFamily="2" charset="-122"/>
                <a:ea typeface="方正兰亭黑简体" pitchFamily="2" charset="-122"/>
              </a:rPr>
              <a:t>聚餐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55773" y="5253440"/>
            <a:ext cx="474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15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30-16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处理领导交办的紧急任务</a:t>
            </a:r>
            <a:endParaRPr lang="zh-CN" altLang="en-US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55773" y="4605368"/>
            <a:ext cx="474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12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30-15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准备每月固定报表</a:t>
            </a:r>
            <a:endParaRPr lang="zh-CN" altLang="en-US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55773" y="5901512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16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30-17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：</a:t>
            </a:r>
            <a:r>
              <a:rPr lang="en-US" altLang="zh-CN" smtClean="0">
                <a:latin typeface="方正兰亭黑简体" pitchFamily="2" charset="-122"/>
                <a:ea typeface="方正兰亭黑简体" pitchFamily="2" charset="-122"/>
              </a:rPr>
              <a:t>00 </a:t>
            </a:r>
            <a:r>
              <a:rPr lang="zh-CN" altLang="en-US" smtClean="0">
                <a:latin typeface="方正兰亭黑简体" pitchFamily="2" charset="-122"/>
                <a:ea typeface="方正兰亭黑简体" pitchFamily="2" charset="-122"/>
              </a:rPr>
              <a:t>一日工作小结，简单办公室运动</a:t>
            </a:r>
            <a:endParaRPr lang="zh-CN" altLang="en-US"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863661" y="760346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defRPr>
            </a:lvl1pPr>
          </a:lstStyle>
          <a:p>
            <a:r>
              <a:rPr lang="en-US" altLang="zh-CN" smtClean="0"/>
              <a:t>【STEP3:</a:t>
            </a:r>
            <a:r>
              <a:rPr lang="zh-CN" altLang="en-US" smtClean="0"/>
              <a:t>记录时间</a:t>
            </a:r>
            <a:r>
              <a:rPr lang="en-US" altLang="zh-CN" smtClean="0"/>
              <a:t>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39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995713" y="1052735"/>
            <a:ext cx="4148286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5724" y="3738518"/>
            <a:ext cx="1168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华文楷体" pitchFamily="2" charset="-122"/>
                <a:ea typeface="华文楷体" pitchFamily="2" charset="-122"/>
              </a:rPr>
              <a:t>紧急度   高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115616" y="3933056"/>
            <a:ext cx="6768751" cy="0"/>
          </a:xfrm>
          <a:prstGeom prst="straightConnector1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474037" y="1678509"/>
            <a:ext cx="0" cy="4551257"/>
          </a:xfrm>
          <a:prstGeom prst="straightConnector1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382" y="3738518"/>
            <a:ext cx="1147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itchFamily="2" charset="-122"/>
                <a:ea typeface="华文楷体" pitchFamily="2" charset="-122"/>
              </a:rPr>
              <a:t>紧急度  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375" y="1402374"/>
            <a:ext cx="161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华文楷体" pitchFamily="2" charset="-122"/>
                <a:ea typeface="华文楷体" pitchFamily="2" charset="-122"/>
              </a:rPr>
              <a:t>重要度    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6979" y="6531910"/>
            <a:ext cx="161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itchFamily="2" charset="-122"/>
                <a:ea typeface="华文楷体" pitchFamily="2" charset="-122"/>
              </a:rPr>
              <a:t>重要度     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3968" y="1844824"/>
            <a:ext cx="3578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消费时间</a:t>
            </a:r>
            <a:endParaRPr lang="en-US" altLang="zh-CN" sz="2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r"/>
            <a:r>
              <a:rPr lang="zh-CN" altLang="en-US" sz="2000" b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必须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在</a:t>
            </a:r>
            <a:r>
              <a:rPr lang="zh-CN" altLang="en-US" sz="2000" b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当天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完成的</a:t>
            </a:r>
            <a:r>
              <a:rPr lang="zh-CN" altLang="en-US" sz="2000" b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重要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事情</a:t>
            </a:r>
            <a:endParaRPr lang="zh-CN" altLang="en-US" sz="20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35936" y="1860192"/>
            <a:ext cx="3039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投资时间</a:t>
            </a:r>
            <a:endParaRPr lang="en-US" altLang="zh-CN" sz="2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zh-CN" altLang="en-US" sz="2000" b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不</a:t>
            </a:r>
            <a:r>
              <a:rPr lang="zh-CN" altLang="en-US" sz="2000" b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需要马上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做的</a:t>
            </a:r>
            <a:r>
              <a:rPr lang="zh-CN" altLang="en-US" sz="2000" b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重要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事情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2933" y="4275651"/>
            <a:ext cx="3539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浪费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时间</a:t>
            </a:r>
            <a:endParaRPr lang="en-US" altLang="zh-CN" sz="2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r"/>
            <a:r>
              <a:rPr lang="zh-CN" altLang="en-US" sz="2000" b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马上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要完成的事情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5936" y="4282466"/>
            <a:ext cx="3933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闲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耗时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间</a:t>
            </a:r>
            <a:endParaRPr lang="en-US" altLang="zh-CN" sz="2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zh-CN" altLang="en-US" sz="2000" b="1" dirty="0" smtClean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可</a:t>
            </a:r>
            <a:r>
              <a:rPr lang="zh-CN" altLang="en-US" sz="2000" b="1" dirty="0">
                <a:solidFill>
                  <a:srgbClr val="FE9E06"/>
                </a:solidFill>
                <a:latin typeface="方正兰亭黑简体" pitchFamily="2" charset="-122"/>
                <a:ea typeface="方正兰亭黑简体" pitchFamily="2" charset="-122"/>
              </a:rPr>
              <a:t>做可不做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的事情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0683" y="2832170"/>
            <a:ext cx="3021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领导交办的紧急任务</a:t>
            </a:r>
            <a:endParaRPr lang="en-US" altLang="zh-CN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r"/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共：</a:t>
            </a:r>
            <a:r>
              <a:rPr lang="en-US" altLang="zh-CN" dirty="0" smtClean="0">
                <a:latin typeface="方正兰亭黑简体" pitchFamily="2" charset="-122"/>
                <a:ea typeface="方正兰亭黑简体" pitchFamily="2" charset="-122"/>
              </a:rPr>
              <a:t>2.5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小时，占</a:t>
            </a:r>
            <a:r>
              <a:rPr lang="en-US" altLang="zh-CN" dirty="0" smtClean="0">
                <a:latin typeface="方正兰亭黑简体" pitchFamily="2" charset="-122"/>
                <a:ea typeface="方正兰亭黑简体" pitchFamily="2" charset="-122"/>
              </a:rPr>
              <a:t>25%</a:t>
            </a: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35936" y="2830402"/>
            <a:ext cx="275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工作计划、小结、运动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共：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5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小时，占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40%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9953" y="5239778"/>
            <a:ext cx="275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固定报表</a:t>
            </a:r>
            <a:endParaRPr lang="en-US" altLang="zh-CN" dirty="0">
              <a:latin typeface="方正兰亭黑简体" pitchFamily="2" charset="-122"/>
              <a:ea typeface="方正兰亭黑简体" pitchFamily="2" charset="-122"/>
            </a:endParaRPr>
          </a:p>
          <a:p>
            <a:pPr algn="r"/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共：</a:t>
            </a:r>
            <a:r>
              <a:rPr lang="en-US" altLang="zh-CN" dirty="0" smtClean="0">
                <a:latin typeface="方正兰亭黑简体" pitchFamily="2" charset="-122"/>
                <a:ea typeface="方正兰亭黑简体" pitchFamily="2" charset="-122"/>
              </a:rPr>
              <a:t>3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小时，占</a:t>
            </a:r>
            <a:r>
              <a:rPr lang="en-US" altLang="zh-CN" dirty="0" smtClean="0">
                <a:latin typeface="方正兰亭黑简体" pitchFamily="2" charset="-122"/>
                <a:ea typeface="方正兰亭黑简体" pitchFamily="2" charset="-122"/>
              </a:rPr>
              <a:t>30%</a:t>
            </a: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35936" y="5239779"/>
            <a:ext cx="275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闲聊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共：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0.5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小时，占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5%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863661" y="760346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defRPr>
            </a:lvl1pPr>
          </a:lstStyle>
          <a:p>
            <a:r>
              <a:rPr lang="en-US" altLang="zh-CN" smtClean="0"/>
              <a:t>【STEP4:</a:t>
            </a:r>
            <a:r>
              <a:rPr lang="zh-CN" altLang="en-US" smtClean="0"/>
              <a:t>时间分类</a:t>
            </a:r>
            <a:r>
              <a:rPr lang="en-US" altLang="zh-CN" smtClean="0"/>
              <a:t>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62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2904" y="3429000"/>
            <a:ext cx="7128792" cy="3241829"/>
          </a:xfrm>
          <a:prstGeom prst="rect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148064" y="1052734"/>
            <a:ext cx="3995936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07704" y="3993173"/>
            <a:ext cx="56166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1.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阅读完并摘要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《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时间投资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》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√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2.PPT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学习一课</a:t>
            </a:r>
            <a:r>
              <a:rPr lang="zh-CN" altLang="en-US" sz="2800" dirty="0">
                <a:latin typeface="方正兰亭黑简体" pitchFamily="2" charset="-122"/>
                <a:ea typeface="方正兰亭黑简体" pitchFamily="2" charset="-122"/>
              </a:rPr>
              <a:t>√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3.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新概念英语背诵，每天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30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分钟∝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4.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阅读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《</a:t>
            </a:r>
            <a:r>
              <a:rPr lang="zh-CN" altLang="en-US" sz="2800" dirty="0" smtClean="0">
                <a:latin typeface="方正兰亭黑简体" pitchFamily="2" charset="-122"/>
                <a:ea typeface="方正兰亭黑简体" pitchFamily="2" charset="-122"/>
              </a:rPr>
              <a:t>中国近代史</a:t>
            </a:r>
            <a:r>
              <a:rPr lang="en-US" altLang="zh-CN" sz="2800" dirty="0" smtClean="0">
                <a:latin typeface="方正兰亭黑简体" pitchFamily="2" charset="-122"/>
                <a:ea typeface="方正兰亭黑简体" pitchFamily="2" charset="-122"/>
              </a:rPr>
              <a:t>》</a:t>
            </a:r>
            <a:r>
              <a:rPr lang="zh-CN" altLang="en-US" sz="2800" dirty="0">
                <a:latin typeface="方正兰亭黑简体" pitchFamily="2" charset="-122"/>
                <a:ea typeface="方正兰亭黑简体" pitchFamily="2" charset="-122"/>
              </a:rPr>
              <a:t> √</a:t>
            </a:r>
            <a:endParaRPr lang="en-US" altLang="zh-CN" sz="2800" dirty="0" smtClean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37989" y="3564305"/>
            <a:ext cx="363176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本</a:t>
            </a:r>
            <a:r>
              <a:rPr lang="zh-CN" altLang="en-US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周目标完成情况</a:t>
            </a:r>
            <a:endParaRPr lang="zh-CN" altLang="en-US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222904" y="1923920"/>
            <a:ext cx="7128792" cy="1222709"/>
            <a:chOff x="799590" y="2348880"/>
            <a:chExt cx="5996676" cy="2376264"/>
          </a:xfrm>
        </p:grpSpPr>
        <p:sp>
          <p:nvSpPr>
            <p:cNvPr id="27" name="燕尾形 26"/>
            <p:cNvSpPr/>
            <p:nvPr/>
          </p:nvSpPr>
          <p:spPr>
            <a:xfrm>
              <a:off x="799590" y="2348880"/>
              <a:ext cx="2936305" cy="2376264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8" name="燕尾形 27"/>
            <p:cNvSpPr/>
            <p:nvPr/>
          </p:nvSpPr>
          <p:spPr>
            <a:xfrm>
              <a:off x="2555776" y="2348880"/>
              <a:ext cx="3089612" cy="2376264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燕尾形 28"/>
            <p:cNvSpPr/>
            <p:nvPr/>
          </p:nvSpPr>
          <p:spPr>
            <a:xfrm>
              <a:off x="4283968" y="2348880"/>
              <a:ext cx="2512298" cy="2376264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FEF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942984" y="2178949"/>
            <a:ext cx="1612682" cy="36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latin typeface="方正兰亭黑简体" pitchFamily="2" charset="-122"/>
                <a:ea typeface="方正兰亭黑简体" pitchFamily="2" charset="-122"/>
              </a:rPr>
              <a:t>以周为单位进行评估</a:t>
            </a:r>
            <a:endParaRPr lang="zh-CN" altLang="en-US" sz="200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43839" y="2229835"/>
            <a:ext cx="1612682" cy="36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latin typeface="方正兰亭黑简体" pitchFamily="2" charset="-122"/>
                <a:ea typeface="方正兰亭黑简体" pitchFamily="2" charset="-122"/>
              </a:rPr>
              <a:t>完成</a:t>
            </a:r>
            <a:r>
              <a:rPr lang="en-US" altLang="zh-CN" sz="2000" smtClean="0">
                <a:latin typeface="方正兰亭黑简体" pitchFamily="2" charset="-122"/>
                <a:ea typeface="方正兰亭黑简体" pitchFamily="2" charset="-122"/>
              </a:rPr>
              <a:t>80%</a:t>
            </a:r>
            <a:r>
              <a:rPr lang="zh-CN" altLang="en-US" sz="2000">
                <a:latin typeface="方正兰亭黑简体" pitchFamily="2" charset="-122"/>
                <a:ea typeface="方正兰亭黑简体" pitchFamily="2" charset="-122"/>
              </a:rPr>
              <a:t>目标</a:t>
            </a:r>
            <a:r>
              <a:rPr lang="zh-CN" altLang="en-US" sz="2000" smtClean="0">
                <a:latin typeface="方正兰亭黑简体" pitchFamily="2" charset="-122"/>
                <a:ea typeface="方正兰亭黑简体" pitchFamily="2" charset="-122"/>
              </a:rPr>
              <a:t>即可</a:t>
            </a:r>
            <a:endParaRPr lang="zh-CN" altLang="en-US" sz="200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0657" y="2236406"/>
            <a:ext cx="1612682" cy="36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latin typeface="方正兰亭黑简体" pitchFamily="2" charset="-122"/>
                <a:ea typeface="方正兰亭黑简体" pitchFamily="2" charset="-122"/>
              </a:rPr>
              <a:t>不断微调改进</a:t>
            </a:r>
            <a:endParaRPr lang="zh-CN" altLang="en-US" sz="200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215120" y="1600746"/>
            <a:ext cx="517414" cy="517414"/>
          </a:xfrm>
          <a:prstGeom prst="ellipse">
            <a:avLst/>
          </a:prstGeom>
          <a:solidFill>
            <a:srgbClr val="FEFD4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6569752" y="1650247"/>
            <a:ext cx="517414" cy="517414"/>
          </a:xfrm>
          <a:prstGeom prst="ellipse">
            <a:avLst/>
          </a:prstGeom>
          <a:solidFill>
            <a:srgbClr val="FEFD4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2033464" y="1597582"/>
            <a:ext cx="810344" cy="584775"/>
            <a:chOff x="7902840" y="3169022"/>
            <a:chExt cx="810344" cy="584775"/>
          </a:xfrm>
        </p:grpSpPr>
        <p:sp>
          <p:nvSpPr>
            <p:cNvPr id="34" name="椭圆 33"/>
            <p:cNvSpPr/>
            <p:nvPr/>
          </p:nvSpPr>
          <p:spPr>
            <a:xfrm>
              <a:off x="7956376" y="3212976"/>
              <a:ext cx="517414" cy="517414"/>
            </a:xfrm>
            <a:prstGeom prst="ellipse">
              <a:avLst/>
            </a:prstGeom>
            <a:solidFill>
              <a:srgbClr val="FEFD4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902840" y="3169022"/>
              <a:ext cx="8103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">
                  <a:rot lat="0" lon="0" rev="10800000"/>
                </a:lightRig>
              </a:scene3d>
              <a:sp3d>
                <a:bevelT w="27940" h="12700"/>
                <a:contourClr>
                  <a:srgbClr val="DDDDDD"/>
                </a:contourClr>
              </a:sp3d>
            </a:bodyPr>
            <a:lstStyle/>
            <a:p>
              <a:r>
                <a:rPr lang="en-US" altLang="zh-CN" sz="2800" b="1" spc="150" smtClean="0">
                  <a:ln w="11430"/>
                  <a:solidFill>
                    <a:srgbClr val="F8F8F8"/>
                  </a:solidFill>
                  <a:effectLst>
                    <a:outerShdw blurRad="25400" algn="tl" rotWithShape="0">
                      <a:srgbClr val="000000">
                        <a:alpha val="43000"/>
                      </a:srgbClr>
                    </a:outerShdw>
                  </a:effectLst>
                  <a:latin typeface="Broadway" pitchFamily="82" charset="0"/>
                  <a:ea typeface="方正兰亭粗黑简体" pitchFamily="2" charset="-122"/>
                </a:rPr>
                <a:t> </a:t>
              </a:r>
              <a:r>
                <a:rPr lang="en-US" altLang="zh-CN" sz="3200" b="1" spc="150" smtClean="0">
                  <a:ln w="11430"/>
                  <a:solidFill>
                    <a:srgbClr val="F8F8F8"/>
                  </a:solidFill>
                  <a:effectLst>
                    <a:outerShdw blurRad="25400" algn="tl" rotWithShape="0">
                      <a:srgbClr val="000000">
                        <a:alpha val="43000"/>
                      </a:srgbClr>
                    </a:outerShdw>
                  </a:effectLst>
                  <a:latin typeface="Broadway" pitchFamily="82" charset="0"/>
                  <a:ea typeface="方正兰亭粗黑简体" pitchFamily="2" charset="-122"/>
                </a:rPr>
                <a:t>1</a:t>
              </a:r>
              <a:endParaRPr lang="zh-CN" altLang="en-US" sz="2800" b="1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endParaRPr>
            </a:p>
          </p:txBody>
        </p:sp>
      </p:grpSp>
      <p:sp>
        <p:nvSpPr>
          <p:cNvPr id="36" name="椭圆 35"/>
          <p:cNvSpPr/>
          <p:nvPr/>
        </p:nvSpPr>
        <p:spPr>
          <a:xfrm>
            <a:off x="8649554" y="558425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8901582" y="558425"/>
            <a:ext cx="0" cy="252028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4129138" y="1563596"/>
            <a:ext cx="810344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28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 </a:t>
            </a:r>
            <a:r>
              <a:rPr lang="en-US" altLang="zh-CN" sz="32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2</a:t>
            </a:r>
            <a:endParaRPr lang="zh-CN" altLang="en-US" sz="28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7960" y="1582886"/>
            <a:ext cx="810344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28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 </a:t>
            </a:r>
            <a:r>
              <a:rPr lang="en-US" altLang="zh-CN" sz="32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3</a:t>
            </a:r>
            <a:endParaRPr lang="zh-CN" altLang="en-US" sz="28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3661" y="760346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defRPr>
            </a:lvl1pPr>
          </a:lstStyle>
          <a:p>
            <a:r>
              <a:rPr lang="en-US" altLang="zh-CN" smtClean="0"/>
              <a:t>【STEP5:</a:t>
            </a:r>
            <a:r>
              <a:rPr lang="zh-CN" altLang="en-US" smtClean="0"/>
              <a:t>评估改进</a:t>
            </a:r>
            <a:r>
              <a:rPr lang="en-US" altLang="zh-CN" smtClean="0"/>
              <a:t>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98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5652120" y="1052735"/>
            <a:ext cx="3491880" cy="9746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5416672" y="3284984"/>
            <a:ext cx="0" cy="576064"/>
          </a:xfrm>
          <a:prstGeom prst="straightConnector1">
            <a:avLst/>
          </a:prstGeom>
          <a:ln w="34925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8271" y="1484784"/>
            <a:ext cx="77425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使用理想的时间分配方式，一天可在学习、身体健康等长期事项上，比一般方式多出</a:t>
            </a:r>
            <a:r>
              <a:rPr lang="en-US" altLang="zh-CN" sz="2400" b="1" dirty="0" smtClean="0">
                <a:solidFill>
                  <a:srgbClr val="FFC000"/>
                </a:solidFill>
                <a:latin typeface="方正兰亭黑简体" pitchFamily="2" charset="-122"/>
                <a:ea typeface="方正兰亭黑简体" pitchFamily="2" charset="-122"/>
              </a:rPr>
              <a:t>6</a:t>
            </a:r>
            <a:r>
              <a:rPr lang="zh-CN" altLang="en-US" sz="2400" b="1" dirty="0" smtClean="0">
                <a:solidFill>
                  <a:srgbClr val="FFC000"/>
                </a:solidFill>
                <a:latin typeface="方正兰亭黑简体" pitchFamily="2" charset="-122"/>
                <a:ea typeface="方正兰亭黑简体" pitchFamily="2" charset="-122"/>
              </a:rPr>
              <a:t>小时</a:t>
            </a:r>
            <a:r>
              <a:rPr lang="zh-CN" altLang="en-US" sz="2000" dirty="0" smtClean="0">
                <a:latin typeface="方正兰亭黑简体" pitchFamily="2" charset="-122"/>
                <a:ea typeface="方正兰亭黑简体" pitchFamily="2" charset="-122"/>
              </a:rPr>
              <a:t>。一年下来就等于整整多出</a:t>
            </a:r>
            <a:r>
              <a:rPr lang="zh-CN" altLang="en-US" sz="2400" b="1" dirty="0" smtClean="0">
                <a:solidFill>
                  <a:srgbClr val="FFC000"/>
                </a:solidFill>
                <a:latin typeface="方正兰亭黑简体" pitchFamily="2" charset="-122"/>
                <a:ea typeface="方正兰亭黑简体" pitchFamily="2" charset="-122"/>
              </a:rPr>
              <a:t>三个月</a:t>
            </a:r>
            <a:r>
              <a:rPr lang="zh-CN" altLang="en-US" sz="2000" dirty="0">
                <a:latin typeface="方正兰亭黑简体" pitchFamily="2" charset="-122"/>
                <a:ea typeface="方正兰亭黑简体" pitchFamily="2" charset="-122"/>
              </a:rPr>
              <a:t>！</a:t>
            </a:r>
          </a:p>
        </p:txBody>
      </p:sp>
      <p:graphicFrame>
        <p:nvGraphicFramePr>
          <p:cNvPr id="18" name="图表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090634"/>
              </p:ext>
            </p:extLst>
          </p:nvPr>
        </p:nvGraphicFramePr>
        <p:xfrm>
          <a:off x="1187624" y="2780928"/>
          <a:ext cx="7131025" cy="3456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椭圆 7"/>
          <p:cNvSpPr/>
          <p:nvPr/>
        </p:nvSpPr>
        <p:spPr>
          <a:xfrm>
            <a:off x="8649554" y="558425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stCxn id="8" idx="0"/>
          </p:cNvCxnSpPr>
          <p:nvPr/>
        </p:nvCxnSpPr>
        <p:spPr>
          <a:xfrm>
            <a:off x="8901582" y="558425"/>
            <a:ext cx="0" cy="252028"/>
          </a:xfrm>
          <a:prstGeom prst="line">
            <a:avLst/>
          </a:prstGeom>
          <a:ln w="22225">
            <a:solidFill>
              <a:srgbClr val="7DBC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8" idx="0"/>
          </p:cNvCxnSpPr>
          <p:nvPr/>
        </p:nvCxnSpPr>
        <p:spPr>
          <a:xfrm flipV="1">
            <a:off x="8901582" y="558425"/>
            <a:ext cx="0" cy="252028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endCxn id="8" idx="6"/>
          </p:cNvCxnSpPr>
          <p:nvPr/>
        </p:nvCxnSpPr>
        <p:spPr>
          <a:xfrm>
            <a:off x="8901582" y="810453"/>
            <a:ext cx="252028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1039728" y="815494"/>
            <a:ext cx="6358332" cy="584775"/>
          </a:xfrm>
          <a:prstGeom prst="rect">
            <a:avLst/>
          </a:prstGeom>
          <a:ln w="31750">
            <a:noFill/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defRPr>
            </a:lvl1pPr>
          </a:lstStyle>
          <a:p>
            <a:r>
              <a:rPr lang="en-US" altLang="zh-CN" smtClean="0"/>
              <a:t>【</a:t>
            </a:r>
            <a:r>
              <a:rPr lang="zh-CN" altLang="en-US" smtClean="0"/>
              <a:t>比标理想，认识差距</a:t>
            </a:r>
            <a:r>
              <a:rPr lang="en-US" altLang="zh-CN" smtClean="0"/>
              <a:t>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5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9972" y="760347"/>
            <a:ext cx="7006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转化为理想型的二种方法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300192" y="1052735"/>
            <a:ext cx="2843808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187624" y="2276872"/>
            <a:ext cx="5558830" cy="936104"/>
          </a:xfrm>
          <a:prstGeom prst="rect">
            <a:avLst/>
          </a:prstGeom>
          <a:solidFill>
            <a:schemeClr val="bg1"/>
          </a:solidFill>
          <a:ln w="3175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rPr>
              <a:t> 提升单位时间效率</a:t>
            </a:r>
          </a:p>
        </p:txBody>
      </p:sp>
      <p:sp>
        <p:nvSpPr>
          <p:cNvPr id="28" name="矩形 27"/>
          <p:cNvSpPr/>
          <p:nvPr/>
        </p:nvSpPr>
        <p:spPr>
          <a:xfrm>
            <a:off x="1301372" y="2348881"/>
            <a:ext cx="836570" cy="792088"/>
          </a:xfrm>
          <a:prstGeom prst="rect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smtClean="0">
                <a:latin typeface="方正兰亭粗黑简体" pitchFamily="2" charset="-122"/>
                <a:ea typeface="方正兰亭粗黑简体" pitchFamily="2" charset="-122"/>
              </a:rPr>
              <a:t>1</a:t>
            </a:r>
            <a:endParaRPr lang="zh-CN" altLang="en-US" sz="200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87624" y="4149080"/>
            <a:ext cx="5558830" cy="936104"/>
          </a:xfrm>
          <a:prstGeom prst="rect">
            <a:avLst/>
          </a:prstGeom>
          <a:solidFill>
            <a:schemeClr val="bg1"/>
          </a:solidFill>
          <a:ln w="31750">
            <a:solidFill>
              <a:srgbClr val="FEFD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chemeClr val="tx1"/>
                </a:solidFill>
                <a:latin typeface="方正兰亭黑简体" pitchFamily="2" charset="-122"/>
                <a:ea typeface="方正兰亭黑简体" pitchFamily="2" charset="-122"/>
              </a:rPr>
              <a:t>增加有效时间长度</a:t>
            </a:r>
            <a:endParaRPr lang="zh-CN" altLang="en-US" sz="2800" b="1" dirty="0">
              <a:solidFill>
                <a:schemeClr val="tx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01372" y="4221088"/>
            <a:ext cx="836570" cy="792088"/>
          </a:xfrm>
          <a:prstGeom prst="rect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smtClean="0">
                <a:latin typeface="方正兰亭粗黑简体" pitchFamily="2" charset="-122"/>
                <a:ea typeface="方正兰亭粗黑简体" pitchFamily="2" charset="-122"/>
              </a:rPr>
              <a:t>2</a:t>
            </a:r>
            <a:endParaRPr lang="zh-CN" altLang="en-US" sz="200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649554" y="558425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20" idx="0"/>
          </p:cNvCxnSpPr>
          <p:nvPr/>
        </p:nvCxnSpPr>
        <p:spPr>
          <a:xfrm>
            <a:off x="8901582" y="558425"/>
            <a:ext cx="0" cy="252028"/>
          </a:xfrm>
          <a:prstGeom prst="line">
            <a:avLst/>
          </a:prstGeom>
          <a:ln w="22225">
            <a:solidFill>
              <a:srgbClr val="7DBC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endCxn id="20" idx="0"/>
          </p:cNvCxnSpPr>
          <p:nvPr/>
        </p:nvCxnSpPr>
        <p:spPr>
          <a:xfrm flipV="1">
            <a:off x="8901582" y="558425"/>
            <a:ext cx="0" cy="252028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0" idx="4"/>
          </p:cNvCxnSpPr>
          <p:nvPr/>
        </p:nvCxnSpPr>
        <p:spPr>
          <a:xfrm>
            <a:off x="8901582" y="810453"/>
            <a:ext cx="0" cy="252028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324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9832" y="1052734"/>
            <a:ext cx="6084168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9972" y="760347"/>
            <a:ext cx="5494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方法一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 rot="20459512" flipV="1">
            <a:off x="246777" y="2315812"/>
            <a:ext cx="3497544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 rot="20673860">
            <a:off x="291640" y="3052040"/>
            <a:ext cx="4291949" cy="666529"/>
          </a:xfrm>
          <a:custGeom>
            <a:avLst/>
            <a:gdLst>
              <a:gd name="connsiteX0" fmla="*/ 0 w 1591294"/>
              <a:gd name="connsiteY0" fmla="*/ 71252 h 273132"/>
              <a:gd name="connsiteX1" fmla="*/ 0 w 1591294"/>
              <a:gd name="connsiteY1" fmla="*/ 273132 h 273132"/>
              <a:gd name="connsiteX2" fmla="*/ 1508167 w 1591294"/>
              <a:gd name="connsiteY2" fmla="*/ 249382 h 273132"/>
              <a:gd name="connsiteX3" fmla="*/ 1591294 w 1591294"/>
              <a:gd name="connsiteY3" fmla="*/ 0 h 273132"/>
              <a:gd name="connsiteX4" fmla="*/ 0 w 1591294"/>
              <a:gd name="connsiteY4" fmla="*/ 71252 h 27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294" h="273132">
                <a:moveTo>
                  <a:pt x="0" y="71252"/>
                </a:moveTo>
                <a:lnTo>
                  <a:pt x="0" y="273132"/>
                </a:lnTo>
                <a:lnTo>
                  <a:pt x="1508167" y="249382"/>
                </a:lnTo>
                <a:lnTo>
                  <a:pt x="1591294" y="0"/>
                </a:lnTo>
                <a:lnTo>
                  <a:pt x="0" y="71252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/>
        </p:nvSpPr>
        <p:spPr>
          <a:xfrm>
            <a:off x="0" y="1196751"/>
            <a:ext cx="1014484" cy="5661249"/>
          </a:xfrm>
          <a:prstGeom prst="rtTriangl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0819373" flipV="1">
            <a:off x="601070" y="4256442"/>
            <a:ext cx="3627320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816409" y="4055228"/>
            <a:ext cx="2262819" cy="2327176"/>
            <a:chOff x="6384251" y="2598395"/>
            <a:chExt cx="2262819" cy="2327176"/>
          </a:xfrm>
          <a:gradFill flip="none" rotWithShape="1">
            <a:gsLst>
              <a:gs pos="0">
                <a:srgbClr val="FEFD4B">
                  <a:tint val="66000"/>
                  <a:satMod val="160000"/>
                </a:srgbClr>
              </a:gs>
              <a:gs pos="50000">
                <a:srgbClr val="FEFD4B">
                  <a:tint val="44500"/>
                  <a:satMod val="160000"/>
                </a:srgbClr>
              </a:gs>
              <a:gs pos="100000">
                <a:srgbClr val="FEFD4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grpSpPr>
        <p:sp>
          <p:nvSpPr>
            <p:cNvPr id="22" name="椭圆 21"/>
            <p:cNvSpPr/>
            <p:nvPr/>
          </p:nvSpPr>
          <p:spPr>
            <a:xfrm rot="15093252">
              <a:off x="6352073" y="2630573"/>
              <a:ext cx="2327176" cy="22628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6395870" y="2625066"/>
              <a:ext cx="2185665" cy="21856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 rot="16200000">
            <a:off x="6479636" y="2101871"/>
            <a:ext cx="2913129" cy="1062898"/>
          </a:xfrm>
          <a:custGeom>
            <a:avLst/>
            <a:gdLst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78774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51314 w 4393870"/>
              <a:gd name="connsiteY10" fmla="*/ 866898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51314 w 4393870"/>
              <a:gd name="connsiteY10" fmla="*/ 866898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39438 w 4393870"/>
              <a:gd name="connsiteY10" fmla="*/ 890649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39438 w 4393870"/>
              <a:gd name="connsiteY10" fmla="*/ 890649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69476 w 4393870"/>
              <a:gd name="connsiteY17" fmla="*/ 902525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393870" h="1603168">
                <a:moveTo>
                  <a:pt x="0" y="878774"/>
                </a:moveTo>
                <a:lnTo>
                  <a:pt x="973776" y="878774"/>
                </a:lnTo>
                <a:lnTo>
                  <a:pt x="1128156" y="356259"/>
                </a:lnTo>
                <a:lnTo>
                  <a:pt x="1389413" y="1508166"/>
                </a:lnTo>
                <a:lnTo>
                  <a:pt x="1543792" y="890650"/>
                </a:lnTo>
                <a:lnTo>
                  <a:pt x="1935678" y="890649"/>
                </a:lnTo>
                <a:lnTo>
                  <a:pt x="1995054" y="593766"/>
                </a:lnTo>
                <a:lnTo>
                  <a:pt x="2078182" y="1270659"/>
                </a:lnTo>
                <a:lnTo>
                  <a:pt x="2185060" y="344384"/>
                </a:lnTo>
                <a:lnTo>
                  <a:pt x="2256312" y="1128155"/>
                </a:lnTo>
                <a:lnTo>
                  <a:pt x="2339438" y="890649"/>
                </a:lnTo>
                <a:lnTo>
                  <a:pt x="2861953" y="890649"/>
                </a:lnTo>
                <a:lnTo>
                  <a:pt x="2945080" y="463137"/>
                </a:lnTo>
                <a:lnTo>
                  <a:pt x="3040083" y="1341911"/>
                </a:lnTo>
                <a:lnTo>
                  <a:pt x="3135086" y="676893"/>
                </a:lnTo>
                <a:lnTo>
                  <a:pt x="3182587" y="1056903"/>
                </a:lnTo>
                <a:lnTo>
                  <a:pt x="3230088" y="890649"/>
                </a:lnTo>
                <a:lnTo>
                  <a:pt x="3669476" y="902525"/>
                </a:lnTo>
                <a:lnTo>
                  <a:pt x="3705101" y="0"/>
                </a:lnTo>
                <a:lnTo>
                  <a:pt x="3764478" y="1603168"/>
                </a:lnTo>
                <a:lnTo>
                  <a:pt x="3835730" y="890649"/>
                </a:lnTo>
                <a:lnTo>
                  <a:pt x="4215740" y="890649"/>
                </a:lnTo>
                <a:lnTo>
                  <a:pt x="4263241" y="700644"/>
                </a:lnTo>
                <a:lnTo>
                  <a:pt x="4322618" y="1116280"/>
                </a:lnTo>
                <a:lnTo>
                  <a:pt x="4393870" y="878774"/>
                </a:lnTo>
              </a:path>
            </a:pathLst>
          </a:custGeom>
          <a:ln w="15875">
            <a:solidFill>
              <a:srgbClr val="FEFD4B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CF0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87046" y="4728412"/>
            <a:ext cx="1633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>
                <a:latin typeface="方正兰亭黑简体" pitchFamily="2" charset="-122"/>
                <a:ea typeface="方正兰亭黑简体" pitchFamily="2" charset="-122"/>
              </a:rPr>
              <a:t>提升单位时间效率</a:t>
            </a:r>
          </a:p>
        </p:txBody>
      </p:sp>
      <p:sp>
        <p:nvSpPr>
          <p:cNvPr id="28" name="矩形 27"/>
          <p:cNvSpPr/>
          <p:nvPr/>
        </p:nvSpPr>
        <p:spPr>
          <a:xfrm rot="20777277">
            <a:off x="2895954" y="1441200"/>
            <a:ext cx="4105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1</a:t>
            </a:r>
            <a:r>
              <a:rPr lang="zh-CN" altLang="en-US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做事前，梳理思路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 rot="20828879">
            <a:off x="3721514" y="2250920"/>
            <a:ext cx="4105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2</a:t>
            </a:r>
            <a:r>
              <a:rPr lang="zh-CN" altLang="en-US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做事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时</a:t>
            </a:r>
            <a:r>
              <a:rPr lang="zh-CN" altLang="en-US" sz="320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，集中精力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 rot="20828879">
            <a:off x="3292550" y="3583349"/>
            <a:ext cx="4105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3</a:t>
            </a:r>
            <a:r>
              <a:rPr lang="zh-CN" altLang="en-US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做事后，总结反省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20819373" flipV="1">
            <a:off x="630347" y="5332539"/>
            <a:ext cx="3129324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 rot="20828879">
            <a:off x="2934004" y="4739840"/>
            <a:ext cx="37401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4</a:t>
            </a:r>
            <a:r>
              <a:rPr lang="zh-CN" altLang="en-US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不断学习新方法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649554" y="558425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>
            <a:endCxn id="33" idx="3"/>
          </p:cNvCxnSpPr>
          <p:nvPr/>
        </p:nvCxnSpPr>
        <p:spPr>
          <a:xfrm flipH="1">
            <a:off x="8723371" y="810453"/>
            <a:ext cx="178212" cy="17821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296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9832" y="1052734"/>
            <a:ext cx="6084168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9972" y="760347"/>
            <a:ext cx="5494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方法二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 rot="20459512" flipV="1">
            <a:off x="246777" y="2315812"/>
            <a:ext cx="3497544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 rot="20673860">
            <a:off x="291640" y="3052040"/>
            <a:ext cx="4291949" cy="666529"/>
          </a:xfrm>
          <a:custGeom>
            <a:avLst/>
            <a:gdLst>
              <a:gd name="connsiteX0" fmla="*/ 0 w 1591294"/>
              <a:gd name="connsiteY0" fmla="*/ 71252 h 273132"/>
              <a:gd name="connsiteX1" fmla="*/ 0 w 1591294"/>
              <a:gd name="connsiteY1" fmla="*/ 273132 h 273132"/>
              <a:gd name="connsiteX2" fmla="*/ 1508167 w 1591294"/>
              <a:gd name="connsiteY2" fmla="*/ 249382 h 273132"/>
              <a:gd name="connsiteX3" fmla="*/ 1591294 w 1591294"/>
              <a:gd name="connsiteY3" fmla="*/ 0 h 273132"/>
              <a:gd name="connsiteX4" fmla="*/ 0 w 1591294"/>
              <a:gd name="connsiteY4" fmla="*/ 71252 h 27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294" h="273132">
                <a:moveTo>
                  <a:pt x="0" y="71252"/>
                </a:moveTo>
                <a:lnTo>
                  <a:pt x="0" y="273132"/>
                </a:lnTo>
                <a:lnTo>
                  <a:pt x="1508167" y="249382"/>
                </a:lnTo>
                <a:lnTo>
                  <a:pt x="1591294" y="0"/>
                </a:lnTo>
                <a:lnTo>
                  <a:pt x="0" y="71252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/>
        </p:nvSpPr>
        <p:spPr>
          <a:xfrm>
            <a:off x="0" y="1196751"/>
            <a:ext cx="1014484" cy="5661249"/>
          </a:xfrm>
          <a:prstGeom prst="rtTriangl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0819373" flipV="1">
            <a:off x="601070" y="4256442"/>
            <a:ext cx="3627320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816409" y="4055228"/>
            <a:ext cx="2262819" cy="2327176"/>
            <a:chOff x="6384251" y="2598395"/>
            <a:chExt cx="2262819" cy="2327176"/>
          </a:xfrm>
          <a:gradFill flip="none" rotWithShape="1">
            <a:gsLst>
              <a:gs pos="0">
                <a:srgbClr val="FEFD4B">
                  <a:tint val="66000"/>
                  <a:satMod val="160000"/>
                </a:srgbClr>
              </a:gs>
              <a:gs pos="50000">
                <a:srgbClr val="FEFD4B">
                  <a:tint val="44500"/>
                  <a:satMod val="160000"/>
                </a:srgbClr>
              </a:gs>
              <a:gs pos="100000">
                <a:srgbClr val="FEFD4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grpSpPr>
        <p:sp>
          <p:nvSpPr>
            <p:cNvPr id="22" name="椭圆 21"/>
            <p:cNvSpPr/>
            <p:nvPr/>
          </p:nvSpPr>
          <p:spPr>
            <a:xfrm rot="15093252">
              <a:off x="6352073" y="2630573"/>
              <a:ext cx="2327176" cy="22628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6395870" y="2625066"/>
              <a:ext cx="2185665" cy="21856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 rot="16200000">
            <a:off x="6479636" y="2101871"/>
            <a:ext cx="2913129" cy="1062898"/>
          </a:xfrm>
          <a:custGeom>
            <a:avLst/>
            <a:gdLst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78774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51314 w 4393870"/>
              <a:gd name="connsiteY10" fmla="*/ 866898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51314 w 4393870"/>
              <a:gd name="connsiteY10" fmla="*/ 866898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39438 w 4393870"/>
              <a:gd name="connsiteY10" fmla="*/ 890649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57600 w 4393870"/>
              <a:gd name="connsiteY17" fmla="*/ 878774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  <a:gd name="connsiteX0" fmla="*/ 0 w 4393870"/>
              <a:gd name="connsiteY0" fmla="*/ 878774 h 1603168"/>
              <a:gd name="connsiteX1" fmla="*/ 973776 w 4393870"/>
              <a:gd name="connsiteY1" fmla="*/ 878774 h 1603168"/>
              <a:gd name="connsiteX2" fmla="*/ 1128156 w 4393870"/>
              <a:gd name="connsiteY2" fmla="*/ 356259 h 1603168"/>
              <a:gd name="connsiteX3" fmla="*/ 1389413 w 4393870"/>
              <a:gd name="connsiteY3" fmla="*/ 1508166 h 1603168"/>
              <a:gd name="connsiteX4" fmla="*/ 1543792 w 4393870"/>
              <a:gd name="connsiteY4" fmla="*/ 890650 h 1603168"/>
              <a:gd name="connsiteX5" fmla="*/ 1935678 w 4393870"/>
              <a:gd name="connsiteY5" fmla="*/ 890649 h 1603168"/>
              <a:gd name="connsiteX6" fmla="*/ 1995054 w 4393870"/>
              <a:gd name="connsiteY6" fmla="*/ 593766 h 1603168"/>
              <a:gd name="connsiteX7" fmla="*/ 2078182 w 4393870"/>
              <a:gd name="connsiteY7" fmla="*/ 1270659 h 1603168"/>
              <a:gd name="connsiteX8" fmla="*/ 2185060 w 4393870"/>
              <a:gd name="connsiteY8" fmla="*/ 344384 h 1603168"/>
              <a:gd name="connsiteX9" fmla="*/ 2256312 w 4393870"/>
              <a:gd name="connsiteY9" fmla="*/ 1128155 h 1603168"/>
              <a:gd name="connsiteX10" fmla="*/ 2339438 w 4393870"/>
              <a:gd name="connsiteY10" fmla="*/ 890649 h 1603168"/>
              <a:gd name="connsiteX11" fmla="*/ 2861953 w 4393870"/>
              <a:gd name="connsiteY11" fmla="*/ 890649 h 1603168"/>
              <a:gd name="connsiteX12" fmla="*/ 2945080 w 4393870"/>
              <a:gd name="connsiteY12" fmla="*/ 463137 h 1603168"/>
              <a:gd name="connsiteX13" fmla="*/ 3040083 w 4393870"/>
              <a:gd name="connsiteY13" fmla="*/ 1341911 h 1603168"/>
              <a:gd name="connsiteX14" fmla="*/ 3135086 w 4393870"/>
              <a:gd name="connsiteY14" fmla="*/ 676893 h 1603168"/>
              <a:gd name="connsiteX15" fmla="*/ 3182587 w 4393870"/>
              <a:gd name="connsiteY15" fmla="*/ 1056903 h 1603168"/>
              <a:gd name="connsiteX16" fmla="*/ 3230088 w 4393870"/>
              <a:gd name="connsiteY16" fmla="*/ 890649 h 1603168"/>
              <a:gd name="connsiteX17" fmla="*/ 3669476 w 4393870"/>
              <a:gd name="connsiteY17" fmla="*/ 902525 h 1603168"/>
              <a:gd name="connsiteX18" fmla="*/ 3705101 w 4393870"/>
              <a:gd name="connsiteY18" fmla="*/ 0 h 1603168"/>
              <a:gd name="connsiteX19" fmla="*/ 3764478 w 4393870"/>
              <a:gd name="connsiteY19" fmla="*/ 1603168 h 1603168"/>
              <a:gd name="connsiteX20" fmla="*/ 3835730 w 4393870"/>
              <a:gd name="connsiteY20" fmla="*/ 890649 h 1603168"/>
              <a:gd name="connsiteX21" fmla="*/ 4215740 w 4393870"/>
              <a:gd name="connsiteY21" fmla="*/ 890649 h 1603168"/>
              <a:gd name="connsiteX22" fmla="*/ 4263241 w 4393870"/>
              <a:gd name="connsiteY22" fmla="*/ 700644 h 1603168"/>
              <a:gd name="connsiteX23" fmla="*/ 4322618 w 4393870"/>
              <a:gd name="connsiteY23" fmla="*/ 1116280 h 1603168"/>
              <a:gd name="connsiteX24" fmla="*/ 4393870 w 4393870"/>
              <a:gd name="connsiteY24" fmla="*/ 878774 h 160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393870" h="1603168">
                <a:moveTo>
                  <a:pt x="0" y="878774"/>
                </a:moveTo>
                <a:lnTo>
                  <a:pt x="973776" y="878774"/>
                </a:lnTo>
                <a:lnTo>
                  <a:pt x="1128156" y="356259"/>
                </a:lnTo>
                <a:lnTo>
                  <a:pt x="1389413" y="1508166"/>
                </a:lnTo>
                <a:lnTo>
                  <a:pt x="1543792" y="890650"/>
                </a:lnTo>
                <a:lnTo>
                  <a:pt x="1935678" y="890649"/>
                </a:lnTo>
                <a:lnTo>
                  <a:pt x="1995054" y="593766"/>
                </a:lnTo>
                <a:lnTo>
                  <a:pt x="2078182" y="1270659"/>
                </a:lnTo>
                <a:lnTo>
                  <a:pt x="2185060" y="344384"/>
                </a:lnTo>
                <a:lnTo>
                  <a:pt x="2256312" y="1128155"/>
                </a:lnTo>
                <a:lnTo>
                  <a:pt x="2339438" y="890649"/>
                </a:lnTo>
                <a:lnTo>
                  <a:pt x="2861953" y="890649"/>
                </a:lnTo>
                <a:lnTo>
                  <a:pt x="2945080" y="463137"/>
                </a:lnTo>
                <a:lnTo>
                  <a:pt x="3040083" y="1341911"/>
                </a:lnTo>
                <a:lnTo>
                  <a:pt x="3135086" y="676893"/>
                </a:lnTo>
                <a:lnTo>
                  <a:pt x="3182587" y="1056903"/>
                </a:lnTo>
                <a:lnTo>
                  <a:pt x="3230088" y="890649"/>
                </a:lnTo>
                <a:lnTo>
                  <a:pt x="3669476" y="902525"/>
                </a:lnTo>
                <a:lnTo>
                  <a:pt x="3705101" y="0"/>
                </a:lnTo>
                <a:lnTo>
                  <a:pt x="3764478" y="1603168"/>
                </a:lnTo>
                <a:lnTo>
                  <a:pt x="3835730" y="890649"/>
                </a:lnTo>
                <a:lnTo>
                  <a:pt x="4215740" y="890649"/>
                </a:lnTo>
                <a:lnTo>
                  <a:pt x="4263241" y="700644"/>
                </a:lnTo>
                <a:lnTo>
                  <a:pt x="4322618" y="1116280"/>
                </a:lnTo>
                <a:lnTo>
                  <a:pt x="4393870" y="878774"/>
                </a:lnTo>
              </a:path>
            </a:pathLst>
          </a:custGeom>
          <a:ln w="15875">
            <a:solidFill>
              <a:srgbClr val="FEFD4B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CF0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87046" y="4728412"/>
            <a:ext cx="1633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mtClean="0">
                <a:latin typeface="方正兰亭黑简体" pitchFamily="2" charset="-122"/>
                <a:ea typeface="方正兰亭黑简体" pitchFamily="2" charset="-122"/>
              </a:rPr>
              <a:t>增加有效时间长度</a:t>
            </a:r>
            <a:endParaRPr lang="zh-CN" altLang="en-US" sz="280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 rot="20777277">
            <a:off x="2865986" y="1596475"/>
            <a:ext cx="33073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1</a:t>
            </a:r>
            <a:r>
              <a:rPr lang="zh-CN" altLang="en-US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 dirty="0" smtClean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戒除时间杀手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 rot="20828879">
            <a:off x="3676023" y="2114001"/>
            <a:ext cx="53367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2</a:t>
            </a:r>
            <a:r>
              <a:rPr lang="zh-CN" altLang="en-US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规律生活，减少选择时间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 rot="20828879">
            <a:off x="3299245" y="3633887"/>
            <a:ext cx="33249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3</a:t>
            </a:r>
            <a:r>
              <a:rPr lang="zh-CN" altLang="en-US" sz="3200" dirty="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 dirty="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利用碎片时间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 rot="20819373" flipV="1">
            <a:off x="512523" y="5436749"/>
            <a:ext cx="3221532" cy="582894"/>
          </a:xfrm>
          <a:custGeom>
            <a:avLst/>
            <a:gdLst>
              <a:gd name="connsiteX0" fmla="*/ 0 w 1365663"/>
              <a:gd name="connsiteY0" fmla="*/ 296883 h 296883"/>
              <a:gd name="connsiteX1" fmla="*/ 1365663 w 1365663"/>
              <a:gd name="connsiteY1" fmla="*/ 285007 h 296883"/>
              <a:gd name="connsiteX2" fmla="*/ 1258785 w 1365663"/>
              <a:gd name="connsiteY2" fmla="*/ 0 h 296883"/>
              <a:gd name="connsiteX3" fmla="*/ 0 w 1365663"/>
              <a:gd name="connsiteY3" fmla="*/ 106878 h 296883"/>
              <a:gd name="connsiteX4" fmla="*/ 0 w 1365663"/>
              <a:gd name="connsiteY4" fmla="*/ 296883 h 296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63" h="296883">
                <a:moveTo>
                  <a:pt x="0" y="296883"/>
                </a:moveTo>
                <a:lnTo>
                  <a:pt x="1365663" y="285007"/>
                </a:lnTo>
                <a:lnTo>
                  <a:pt x="1258785" y="0"/>
                </a:lnTo>
                <a:lnTo>
                  <a:pt x="0" y="106878"/>
                </a:lnTo>
                <a:lnTo>
                  <a:pt x="0" y="296883"/>
                </a:lnTo>
                <a:close/>
              </a:path>
            </a:pathLst>
          </a:cu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 rot="20828879">
            <a:off x="2872716" y="4882343"/>
            <a:ext cx="37401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4</a:t>
            </a:r>
            <a:r>
              <a:rPr lang="zh-CN" altLang="en-US" sz="3200" smtClean="0">
                <a:solidFill>
                  <a:schemeClr val="bg1"/>
                </a:solidFill>
                <a:latin typeface="方正兰亭粗黑简体" pitchFamily="2" charset="-122"/>
                <a:ea typeface="方正兰亭粗黑简体" pitchFamily="2" charset="-122"/>
              </a:rPr>
              <a:t>、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从细节开始改变</a:t>
            </a:r>
            <a:endParaRPr lang="en-US" altLang="zh-CN" sz="3200" dirty="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659225" y="554703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endCxn id="31" idx="2"/>
          </p:cNvCxnSpPr>
          <p:nvPr/>
        </p:nvCxnSpPr>
        <p:spPr>
          <a:xfrm flipH="1">
            <a:off x="8659225" y="806731"/>
            <a:ext cx="25203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66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9832" y="1052734"/>
            <a:ext cx="6084168" cy="1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9972" y="760347"/>
            <a:ext cx="5494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注意点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67744" y="1695291"/>
            <a:ext cx="5742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400">
                <a:latin typeface="方正兰亭粗黑简体" pitchFamily="2" charset="-122"/>
                <a:ea typeface="方正兰亭粗黑简体" pitchFamily="2" charset="-122"/>
              </a:rPr>
              <a:t>时间</a:t>
            </a:r>
            <a:r>
              <a:rPr lang="zh-CN" altLang="en-US" sz="2400" smtClean="0">
                <a:latin typeface="方正兰亭粗黑简体" pitchFamily="2" charset="-122"/>
                <a:ea typeface="方正兰亭粗黑简体" pitchFamily="2" charset="-122"/>
              </a:rPr>
              <a:t>管理没有最佳法则，只有最适合法则</a:t>
            </a:r>
            <a:endParaRPr lang="en-US" altLang="zh-CN" sz="240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98833" y="1685801"/>
            <a:ext cx="794321" cy="794321"/>
          </a:xfrm>
          <a:prstGeom prst="ellips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335953" y="1556792"/>
            <a:ext cx="810344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1</a:t>
            </a:r>
            <a:endParaRPr lang="zh-CN" altLang="en-US" sz="54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59632" y="2852936"/>
            <a:ext cx="794321" cy="794321"/>
          </a:xfrm>
          <a:prstGeom prst="ellips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259632" y="4149080"/>
            <a:ext cx="794321" cy="794321"/>
          </a:xfrm>
          <a:prstGeom prst="ellips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259632" y="5373216"/>
            <a:ext cx="794321" cy="794321"/>
          </a:xfrm>
          <a:prstGeom prst="ellipse">
            <a:avLst/>
          </a:prstGeom>
          <a:solidFill>
            <a:srgbClr val="FEFD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335953" y="2767787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2</a:t>
            </a:r>
            <a:endParaRPr lang="zh-CN" altLang="en-US" sz="54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96600" y="4084575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3</a:t>
            </a:r>
            <a:endParaRPr lang="zh-CN" altLang="en-US" sz="54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267744" y="2935205"/>
            <a:ext cx="5742384" cy="588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400" dirty="0">
                <a:latin typeface="方正兰亭粗黑简体" pitchFamily="2" charset="-122"/>
                <a:ea typeface="方正兰亭粗黑简体" pitchFamily="2" charset="-122"/>
              </a:rPr>
              <a:t>选择容易坚持的手段</a:t>
            </a:r>
            <a:endParaRPr lang="en-US" altLang="zh-CN" sz="2400" dirty="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67744" y="4251993"/>
            <a:ext cx="5742384" cy="588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400">
                <a:latin typeface="方正兰亭粗黑简体" pitchFamily="2" charset="-122"/>
                <a:ea typeface="方正兰亭粗黑简体" pitchFamily="2" charset="-122"/>
              </a:rPr>
              <a:t>关注行为而非目标</a:t>
            </a:r>
            <a:endParaRPr lang="en-US" altLang="zh-CN" sz="240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67744" y="5488605"/>
            <a:ext cx="5742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2400">
                <a:latin typeface="方正兰亭粗黑简体" pitchFamily="2" charset="-122"/>
                <a:ea typeface="方正兰亭粗黑简体" pitchFamily="2" charset="-122"/>
              </a:rPr>
              <a:t>用数字化测评结果</a:t>
            </a:r>
            <a:endParaRPr lang="en-US" altLang="zh-CN" sz="240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659225" y="554703"/>
            <a:ext cx="504056" cy="504056"/>
          </a:xfrm>
          <a:prstGeom prst="ellips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>
            <a:endCxn id="20" idx="0"/>
          </p:cNvCxnSpPr>
          <p:nvPr/>
        </p:nvCxnSpPr>
        <p:spPr>
          <a:xfrm flipH="1" flipV="1">
            <a:off x="8911253" y="554703"/>
            <a:ext cx="2" cy="252028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1286623" y="5264024"/>
            <a:ext cx="72008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altLang="zh-CN" sz="5400" b="1" spc="15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roadway" pitchFamily="82" charset="0"/>
                <a:ea typeface="方正兰亭粗黑简体" pitchFamily="2" charset="-122"/>
              </a:rPr>
              <a:t>4</a:t>
            </a:r>
            <a:endParaRPr lang="zh-CN" altLang="en-US" sz="5400" b="1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roadway" pitchFamily="82" charset="0"/>
              <a:ea typeface="方正兰亭粗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566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69775" y="1052735"/>
            <a:ext cx="971600" cy="0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9910" y="770094"/>
            <a:ext cx="4382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【</a:t>
            </a:r>
            <a:r>
              <a:rPr lang="zh-CN" altLang="en-US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五步法回顾</a:t>
            </a:r>
            <a:r>
              <a:rPr lang="en-US" altLang="zh-CN" sz="3200">
                <a:solidFill>
                  <a:srgbClr val="FE9E06"/>
                </a:solidFill>
                <a:latin typeface="方正兰亭粗黑简体" pitchFamily="2" charset="-122"/>
                <a:ea typeface="方正兰亭粗黑简体" pitchFamily="2" charset="-122"/>
              </a:rPr>
              <a:t>】</a:t>
            </a:r>
            <a:endParaRPr lang="zh-CN" altLang="en-US" sz="3200">
              <a:solidFill>
                <a:srgbClr val="FE9E06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923928" y="1052735"/>
            <a:ext cx="5220072" cy="9746"/>
          </a:xfrm>
          <a:prstGeom prst="line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37462" y="1465620"/>
            <a:ext cx="3150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方正兰亭粗黑简体" pitchFamily="2" charset="-122"/>
                <a:ea typeface="方正兰亭粗黑简体" pitchFamily="2" charset="-122"/>
              </a:rPr>
              <a:t>STEP1:</a:t>
            </a:r>
            <a:r>
              <a:rPr lang="zh-CN" altLang="en-US" sz="2800" b="1" dirty="0" smtClean="0">
                <a:solidFill>
                  <a:srgbClr val="FFC000"/>
                </a:solidFill>
                <a:latin typeface="方正兰亭粗黑简体" pitchFamily="2" charset="-122"/>
                <a:ea typeface="方正兰亭粗黑简体" pitchFamily="2" charset="-122"/>
              </a:rPr>
              <a:t>确定</a:t>
            </a:r>
            <a:r>
              <a:rPr lang="zh-CN" altLang="en-US" sz="2400" b="1" dirty="0" smtClean="0">
                <a:latin typeface="方正兰亭粗黑简体" pitchFamily="2" charset="-122"/>
                <a:ea typeface="方正兰亭粗黑简体" pitchFamily="2" charset="-122"/>
              </a:rPr>
              <a:t>目标</a:t>
            </a:r>
            <a:endParaRPr lang="zh-CN" altLang="en-US" sz="2400" b="1" dirty="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47664" y="2545740"/>
            <a:ext cx="3510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方正兰亭粗黑简体" pitchFamily="2" charset="-122"/>
                <a:ea typeface="方正兰亭粗黑简体" pitchFamily="2" charset="-122"/>
              </a:rPr>
              <a:t> STEP2</a:t>
            </a:r>
            <a:r>
              <a:rPr lang="en-US" altLang="zh-CN" sz="2400" b="1" dirty="0">
                <a:latin typeface="方正兰亭粗黑简体" pitchFamily="2" charset="-122"/>
                <a:ea typeface="方正兰亭粗黑简体" pitchFamily="2" charset="-122"/>
              </a:rPr>
              <a:t>:</a:t>
            </a:r>
            <a:r>
              <a:rPr lang="zh-CN" altLang="en-US" sz="2800" b="1" dirty="0" smtClean="0">
                <a:solidFill>
                  <a:srgbClr val="FFC000"/>
                </a:solidFill>
                <a:latin typeface="方正兰亭粗黑简体" pitchFamily="2" charset="-122"/>
                <a:ea typeface="方正兰亭粗黑简体" pitchFamily="2" charset="-122"/>
              </a:rPr>
              <a:t>分解</a:t>
            </a:r>
            <a:r>
              <a:rPr lang="zh-CN" altLang="en-US" sz="2400" b="1" dirty="0">
                <a:latin typeface="方正兰亭粗黑简体" pitchFamily="2" charset="-122"/>
                <a:ea typeface="方正兰亭粗黑简体" pitchFamily="2" charset="-122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7463" y="3615407"/>
            <a:ext cx="3420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latin typeface="方正兰亭粗黑简体" pitchFamily="2" charset="-122"/>
                <a:ea typeface="方正兰亭粗黑简体" pitchFamily="2" charset="-122"/>
              </a:rPr>
              <a:t>STEP3:</a:t>
            </a:r>
            <a:r>
              <a:rPr lang="zh-CN" altLang="en-US" sz="2800" b="1" smtClean="0">
                <a:solidFill>
                  <a:srgbClr val="FFC000"/>
                </a:solidFill>
                <a:latin typeface="方正兰亭粗黑简体" pitchFamily="2" charset="-122"/>
                <a:ea typeface="方正兰亭粗黑简体" pitchFamily="2" charset="-122"/>
              </a:rPr>
              <a:t>记录</a:t>
            </a:r>
            <a:r>
              <a:rPr lang="zh-CN" altLang="en-US" sz="2400" b="1" smtClean="0">
                <a:latin typeface="方正兰亭粗黑简体" pitchFamily="2" charset="-122"/>
                <a:ea typeface="方正兰亭粗黑简体" pitchFamily="2" charset="-122"/>
              </a:rPr>
              <a:t>时间</a:t>
            </a:r>
            <a:endParaRPr lang="zh-CN" altLang="en-US" sz="2400" b="1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7463" y="1907540"/>
            <a:ext cx="406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用</a:t>
            </a:r>
            <a:r>
              <a:rPr lang="en-US" altLang="zh-CN" dirty="0" smtClean="0">
                <a:latin typeface="方正兰亭黑简体" pitchFamily="2" charset="-122"/>
                <a:ea typeface="方正兰亭黑简体" pitchFamily="2" charset="-122"/>
              </a:rPr>
              <a:t>SMART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法，确定全年目标</a:t>
            </a: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37463" y="2987660"/>
            <a:ext cx="406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将目标分解到月、周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7463" y="4005064"/>
            <a:ext cx="406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记录一天每件事所花时间。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37463" y="4633972"/>
            <a:ext cx="3222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mtClean="0">
                <a:latin typeface="方正兰亭粗黑简体" pitchFamily="2" charset="-122"/>
                <a:ea typeface="方正兰亭粗黑简体" pitchFamily="2" charset="-122"/>
              </a:rPr>
              <a:t>STEP4:</a:t>
            </a:r>
            <a:r>
              <a:rPr lang="zh-CN" altLang="en-US" sz="2800" b="1">
                <a:solidFill>
                  <a:srgbClr val="FFC000"/>
                </a:solidFill>
                <a:latin typeface="方正兰亭粗黑简体" pitchFamily="2" charset="-122"/>
                <a:ea typeface="方正兰亭粗黑简体" pitchFamily="2" charset="-122"/>
              </a:rPr>
              <a:t>分类</a:t>
            </a:r>
            <a:r>
              <a:rPr lang="zh-CN" altLang="en-US" sz="2400" b="1" smtClean="0">
                <a:latin typeface="方正兰亭粗黑简体" pitchFamily="2" charset="-122"/>
                <a:ea typeface="方正兰亭粗黑简体" pitchFamily="2" charset="-122"/>
              </a:rPr>
              <a:t>时间</a:t>
            </a:r>
            <a:endParaRPr lang="zh-CN" altLang="en-US" sz="2400" b="1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37463" y="5075892"/>
            <a:ext cx="775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按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“重要性”</a:t>
            </a:r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和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“紧急性”分类，累计</a:t>
            </a:r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四</a:t>
            </a:r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类事件所花时间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637463" y="5714092"/>
            <a:ext cx="315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方正兰亭粗黑简体" pitchFamily="2" charset="-122"/>
                <a:ea typeface="方正兰亭粗黑简体" pitchFamily="2" charset="-122"/>
              </a:rPr>
              <a:t>STEP5:</a:t>
            </a:r>
            <a:r>
              <a:rPr lang="zh-CN" altLang="en-US" sz="2800" b="1" dirty="0" smtClean="0">
                <a:solidFill>
                  <a:srgbClr val="FFC000"/>
                </a:solidFill>
                <a:latin typeface="方正兰亭粗黑简体" pitchFamily="2" charset="-122"/>
                <a:ea typeface="方正兰亭粗黑简体" pitchFamily="2" charset="-122"/>
              </a:rPr>
              <a:t>评估改进</a:t>
            </a:r>
            <a:endParaRPr lang="zh-CN" altLang="en-US" sz="2400" b="1" dirty="0"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37463" y="6156012"/>
            <a:ext cx="59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方正兰亭黑简体" pitchFamily="2" charset="-122"/>
                <a:ea typeface="方正兰亭黑简体" pitchFamily="2" charset="-122"/>
              </a:rPr>
              <a:t>和理想时间对比，不断调整，找到最适合自己的方法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403648" y="1484784"/>
            <a:ext cx="127993" cy="756000"/>
          </a:xfrm>
          <a:prstGeom prst="rect">
            <a:avLst/>
          </a:prstGeom>
          <a:solidFill>
            <a:srgbClr val="FEFD4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403648" y="2540573"/>
            <a:ext cx="127993" cy="756000"/>
          </a:xfrm>
          <a:prstGeom prst="rect">
            <a:avLst/>
          </a:prstGeom>
          <a:solidFill>
            <a:srgbClr val="FEFD4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403648" y="3596362"/>
            <a:ext cx="127993" cy="756000"/>
          </a:xfrm>
          <a:prstGeom prst="rect">
            <a:avLst/>
          </a:prstGeom>
          <a:solidFill>
            <a:srgbClr val="FEFD4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403648" y="4652151"/>
            <a:ext cx="127993" cy="756000"/>
          </a:xfrm>
          <a:prstGeom prst="rect">
            <a:avLst/>
          </a:prstGeom>
          <a:solidFill>
            <a:srgbClr val="FEFD4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403648" y="5707939"/>
            <a:ext cx="127993" cy="756000"/>
          </a:xfrm>
          <a:prstGeom prst="rect">
            <a:avLst/>
          </a:prstGeom>
          <a:solidFill>
            <a:srgbClr val="FEFD4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947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497"/>
          <a:stretch/>
        </p:blipFill>
        <p:spPr>
          <a:xfrm>
            <a:off x="0" y="-1"/>
            <a:ext cx="9144000" cy="408068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59632" y="4797152"/>
            <a:ext cx="5742384" cy="793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50000"/>
            </a:pPr>
            <a:r>
              <a:rPr lang="zh-CN" altLang="en-US" sz="3600" smtClean="0">
                <a:latin typeface="华康俪金黑W8(P)" pitchFamily="34" charset="-122"/>
                <a:ea typeface="华康俪金黑W8(P)" pitchFamily="34" charset="-122"/>
              </a:rPr>
              <a:t>把握时间，就是掌握生命！</a:t>
            </a:r>
            <a:endParaRPr lang="en-US" altLang="zh-CN" sz="3600">
              <a:latin typeface="华康俪金黑W8(P)" pitchFamily="34" charset="-122"/>
              <a:ea typeface="华康俪金黑W8(P)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642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96514"/>
            <a:ext cx="1800200" cy="182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95536" y="620688"/>
            <a:ext cx="8136904" cy="1800200"/>
          </a:xfrm>
          <a:prstGeom prst="rect">
            <a:avLst/>
          </a:prstGeom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795873"/>
            <a:ext cx="5976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mtClean="0">
                <a:latin typeface="方正兰亭黑简体" pitchFamily="2" charset="-122"/>
                <a:ea typeface="方正兰亭黑简体" pitchFamily="2" charset="-122"/>
              </a:rPr>
              <a:t>感谢</a:t>
            </a:r>
            <a:r>
              <a:rPr lang="en-US" altLang="zh-CN" sz="2400" smtClean="0">
                <a:latin typeface="方正兰亭黑简体" pitchFamily="2" charset="-122"/>
                <a:ea typeface="方正兰亭黑简体" pitchFamily="2" charset="-122"/>
              </a:rPr>
              <a:t>@</a:t>
            </a:r>
            <a:r>
              <a:rPr lang="zh-CN" altLang="en-US" sz="2400" smtClean="0">
                <a:latin typeface="方正兰亭黑简体" pitchFamily="2" charset="-122"/>
                <a:ea typeface="方正兰亭黑简体" pitchFamily="2" charset="-122"/>
              </a:rPr>
              <a:t>秋叶大叔，</a:t>
            </a:r>
            <a:r>
              <a:rPr lang="en-US" altLang="zh-CN" sz="2400" smtClean="0">
                <a:latin typeface="方正兰亭黑简体" pitchFamily="2" charset="-122"/>
                <a:ea typeface="方正兰亭黑简体" pitchFamily="2" charset="-122"/>
              </a:rPr>
              <a:t>@</a:t>
            </a:r>
            <a:r>
              <a:rPr lang="zh-CN" altLang="en-US" sz="2400" smtClean="0">
                <a:latin typeface="方正兰亭黑简体" pitchFamily="2" charset="-122"/>
                <a:ea typeface="方正兰亭黑简体" pitchFamily="2" charset="-122"/>
              </a:rPr>
              <a:t>小巴</a:t>
            </a:r>
            <a:r>
              <a:rPr lang="en-US" altLang="zh-CN" sz="2400" smtClean="0">
                <a:latin typeface="方正兰亭黑简体" pitchFamily="2" charset="-122"/>
                <a:ea typeface="方正兰亭黑简体" pitchFamily="2" charset="-122"/>
              </a:rPr>
              <a:t>_1990</a:t>
            </a:r>
            <a:r>
              <a:rPr lang="zh-CN" altLang="en-US" sz="2400" smtClean="0">
                <a:latin typeface="方正兰亭黑简体" pitchFamily="2" charset="-122"/>
                <a:ea typeface="方正兰亭黑简体" pitchFamily="2" charset="-122"/>
              </a:rPr>
              <a:t>反复指导</a:t>
            </a:r>
            <a:endParaRPr lang="en-US" altLang="zh-CN" sz="2400" smtClean="0">
              <a:latin typeface="方正兰亭黑简体" pitchFamily="2" charset="-122"/>
              <a:ea typeface="方正兰亭黑简体" pitchFamily="2" charset="-122"/>
            </a:endParaRPr>
          </a:p>
          <a:p>
            <a:endParaRPr lang="en-US" altLang="zh-CN" sz="2400" b="1" smtClean="0">
              <a:solidFill>
                <a:srgbClr val="FF0000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r>
              <a:rPr lang="en-US" altLang="zh-CN" sz="2400" b="1" smtClean="0">
                <a:solidFill>
                  <a:srgbClr val="FF0000"/>
                </a:solidFill>
                <a:latin typeface="方正兰亭黑简体" pitchFamily="2" charset="-122"/>
                <a:ea typeface="方正兰亭黑简体" pitchFamily="2" charset="-122"/>
              </a:rPr>
              <a:t>#</a:t>
            </a:r>
            <a:r>
              <a:rPr lang="zh-CN" altLang="en-US" sz="2400" b="1">
                <a:solidFill>
                  <a:srgbClr val="FF0000"/>
                </a:solidFill>
                <a:latin typeface="方正兰亭黑简体" pitchFamily="2" charset="-122"/>
                <a:ea typeface="方正兰亭黑简体" pitchFamily="2" charset="-122"/>
              </a:rPr>
              <a:t>和秋叶一起学</a:t>
            </a:r>
            <a:r>
              <a:rPr lang="en-US" altLang="zh-CN" sz="2400" b="1">
                <a:solidFill>
                  <a:srgbClr val="FF0000"/>
                </a:solidFill>
                <a:latin typeface="方正兰亭黑简体" pitchFamily="2" charset="-122"/>
                <a:ea typeface="方正兰亭黑简体" pitchFamily="2" charset="-122"/>
              </a:rPr>
              <a:t>PPT#</a:t>
            </a:r>
            <a:r>
              <a:rPr lang="zh-CN" altLang="en-US" sz="2400" b="1">
                <a:solidFill>
                  <a:srgbClr val="FF0000"/>
                </a:solidFill>
                <a:latin typeface="方正兰亭黑简体" pitchFamily="2" charset="-122"/>
                <a:ea typeface="方正兰亭黑简体" pitchFamily="2" charset="-122"/>
              </a:rPr>
              <a:t>我在网易云课堂等你</a:t>
            </a:r>
          </a:p>
          <a:p>
            <a:endParaRPr lang="en-US" altLang="zh-CN" smtClean="0"/>
          </a:p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19" y="2735323"/>
            <a:ext cx="4104871" cy="327876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5076056" y="6237312"/>
            <a:ext cx="3096344" cy="504056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44108" y="6265464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latin typeface="方正兰亭黑简体" pitchFamily="2" charset="-122"/>
                <a:ea typeface="方正兰亭黑简体" pitchFamily="2" charset="-122"/>
              </a:rPr>
              <a:t>修改后</a:t>
            </a:r>
            <a:endParaRPr lang="zh-CN" altLang="en-US" sz="2400" b="1">
              <a:latin typeface="方正兰亭黑简体" pitchFamily="2" charset="-122"/>
              <a:ea typeface="方正兰亭黑简体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2735323"/>
            <a:ext cx="4248472" cy="327876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矩形 28"/>
          <p:cNvSpPr/>
          <p:nvPr/>
        </p:nvSpPr>
        <p:spPr>
          <a:xfrm>
            <a:off x="899592" y="6223073"/>
            <a:ext cx="3096344" cy="504056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03648" y="625437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mtClean="0">
                <a:latin typeface="方正兰亭黑简体" pitchFamily="2" charset="-122"/>
                <a:ea typeface="方正兰亭黑简体" pitchFamily="2" charset="-122"/>
              </a:rPr>
              <a:t>修改前</a:t>
            </a:r>
            <a:endParaRPr lang="zh-CN" altLang="en-US" sz="2400" b="1">
              <a:latin typeface="方正兰亭黑简体" pitchFamily="2" charset="-122"/>
              <a:ea typeface="方正兰亭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709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690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</a:rPr>
              </a:br>
              <a:endParaRPr lang="en-US" altLang="zh-CN" sz="140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033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03366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7DBC0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FFFF00"/>
          </a:solidFill>
        </a:ln>
        <a:effectLst>
          <a:outerShdw blurRad="50800" dist="38100" dir="2700000" algn="tl" rotWithShape="0">
            <a:schemeClr val="tx1">
              <a:lumMod val="75000"/>
              <a:lumOff val="25000"/>
              <a:alpha val="40000"/>
            </a:scheme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918</Words>
  <Application>Microsoft Office PowerPoint</Application>
  <PresentationFormat>全屏显示(4:3)</PresentationFormat>
  <Paragraphs>164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方正兰亭黑简体</vt:lpstr>
      <vt:lpstr>宋体</vt:lpstr>
      <vt:lpstr>Broadway</vt:lpstr>
      <vt:lpstr>方正兰亭粗黑简体</vt:lpstr>
      <vt:lpstr>华康俪金黑W8(P)</vt:lpstr>
      <vt:lpstr>微软雅黑</vt:lpstr>
      <vt:lpstr>方正正黑简体</vt:lpstr>
      <vt:lpstr>方正正中黑简体</vt:lpstr>
      <vt:lpstr>Arial</vt:lpstr>
      <vt:lpstr>华文楷体</vt:lpstr>
      <vt:lpstr>华文细黑</vt:lpstr>
      <vt:lpstr>Calibri</vt:lpstr>
      <vt:lpstr>Office 主题​​</vt:lpstr>
      <vt:lpstr>2_Office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时间投资法</dc:title>
  <dc:creator>李敏</dc:creator>
  <cp:lastModifiedBy>小巴</cp:lastModifiedBy>
  <cp:revision>54</cp:revision>
  <dcterms:created xsi:type="dcterms:W3CDTF">2014-01-15T07:37:38Z</dcterms:created>
  <dcterms:modified xsi:type="dcterms:W3CDTF">2014-02-26T01:35:51Z</dcterms:modified>
</cp:coreProperties>
</file>