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  <p:sldMasterId id="2147483660" r:id="rId2"/>
  </p:sldMasterIdLst>
  <p:sldIdLst>
    <p:sldId id="292" r:id="rId3"/>
    <p:sldId id="297" r:id="rId4"/>
    <p:sldId id="260" r:id="rId5"/>
    <p:sldId id="301" r:id="rId6"/>
    <p:sldId id="261" r:id="rId7"/>
    <p:sldId id="270" r:id="rId8"/>
    <p:sldId id="271" r:id="rId9"/>
    <p:sldId id="272" r:id="rId10"/>
    <p:sldId id="273" r:id="rId11"/>
    <p:sldId id="263" r:id="rId12"/>
    <p:sldId id="274" r:id="rId13"/>
    <p:sldId id="275" r:id="rId14"/>
    <p:sldId id="262" r:id="rId15"/>
    <p:sldId id="276" r:id="rId16"/>
    <p:sldId id="277" r:id="rId17"/>
    <p:sldId id="264" r:id="rId18"/>
    <p:sldId id="278" r:id="rId19"/>
    <p:sldId id="279" r:id="rId20"/>
    <p:sldId id="265" r:id="rId21"/>
    <p:sldId id="280" r:id="rId22"/>
    <p:sldId id="281" r:id="rId23"/>
    <p:sldId id="266" r:id="rId24"/>
    <p:sldId id="282" r:id="rId25"/>
    <p:sldId id="283" r:id="rId26"/>
    <p:sldId id="269" r:id="rId27"/>
    <p:sldId id="284" r:id="rId28"/>
    <p:sldId id="268" r:id="rId29"/>
    <p:sldId id="285" r:id="rId30"/>
    <p:sldId id="286" r:id="rId31"/>
    <p:sldId id="267" r:id="rId32"/>
    <p:sldId id="287" r:id="rId33"/>
    <p:sldId id="289" r:id="rId34"/>
    <p:sldId id="288" r:id="rId35"/>
    <p:sldId id="304" r:id="rId36"/>
    <p:sldId id="303" r:id="rId37"/>
  </p:sldIdLst>
  <p:sldSz cx="12192000" cy="6858000"/>
  <p:notesSz cx="6858000" cy="9144000"/>
  <p:embeddedFontLst>
    <p:embeddedFont>
      <p:font typeface="华康俪金黑W8" panose="020B0809000000000000" pitchFamily="49" charset="-122"/>
      <p:regular r:id="rId38"/>
    </p:embeddedFont>
    <p:embeddedFont>
      <p:font typeface="微软雅黑" panose="020B0503020204020204" pitchFamily="34" charset="-122"/>
      <p:regular r:id="rId39"/>
      <p:bold r:id="rId40"/>
    </p:embeddedFont>
    <p:embeddedFont>
      <p:font typeface="Calibri Light" panose="020F0302020204030204" pitchFamily="34" charset="0"/>
      <p:regular r:id="rId41"/>
      <p:italic r:id="rId42"/>
    </p:embeddedFont>
    <p:embeddedFont>
      <p:font typeface="Elephant" panose="02020904090505020303" pitchFamily="18" charset="0"/>
      <p:regular r:id="rId43"/>
      <p:italic r:id="rId44"/>
    </p:embeddedFont>
    <p:embeddedFont>
      <p:font typeface="Meiryo UI" panose="020B0604030504040204" pitchFamily="34" charset="-128"/>
      <p:regular r:id="rId45"/>
      <p:bold r:id="rId46"/>
      <p:italic r:id="rId47"/>
      <p:boldItalic r:id="rId48"/>
    </p:embeddedFont>
    <p:embeddedFont>
      <p:font typeface="方正静蕾简体" panose="02000000000000000000" pitchFamily="2" charset="-122"/>
      <p:regular r:id="rId49"/>
    </p:embeddedFont>
    <p:embeddedFont>
      <p:font typeface="Calibri" panose="020F0502020204030204" pitchFamily="34" charset="0"/>
      <p:regular r:id="rId50"/>
      <p:bold r:id="rId51"/>
      <p:italic r:id="rId52"/>
      <p:boldItalic r:id="rId5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DC047"/>
    <a:srgbClr val="E7141A"/>
    <a:srgbClr val="E2CA64"/>
    <a:srgbClr val="C2A424"/>
    <a:srgbClr val="DFC453"/>
    <a:srgbClr val="CCAC26"/>
    <a:srgbClr val="D9B933"/>
    <a:srgbClr val="DDE12F"/>
    <a:srgbClr val="E7EA70"/>
    <a:srgbClr val="FF535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 autoAdjust="0"/>
  </p:normalViewPr>
  <p:slideViewPr>
    <p:cSldViewPr snapToGrid="0">
      <p:cViewPr varScale="1">
        <p:scale>
          <a:sx n="74" d="100"/>
          <a:sy n="74" d="100"/>
        </p:scale>
        <p:origin x="576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font" Target="fonts/font2.fntdata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font" Target="fonts/font5.fntdata"/><Relationship Id="rId47" Type="http://schemas.openxmlformats.org/officeDocument/2006/relationships/font" Target="fonts/font10.fntdata"/><Relationship Id="rId50" Type="http://schemas.openxmlformats.org/officeDocument/2006/relationships/font" Target="fonts/font13.fntdata"/><Relationship Id="rId55" Type="http://schemas.openxmlformats.org/officeDocument/2006/relationships/viewProps" Target="view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font" Target="fonts/font3.fntdata"/><Relationship Id="rId45" Type="http://schemas.openxmlformats.org/officeDocument/2006/relationships/font" Target="fonts/font8.fntdata"/><Relationship Id="rId53" Type="http://schemas.openxmlformats.org/officeDocument/2006/relationships/font" Target="fonts/font16.fntdata"/><Relationship Id="rId5" Type="http://schemas.openxmlformats.org/officeDocument/2006/relationships/slide" Target="slides/slide3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font" Target="fonts/font6.fntdata"/><Relationship Id="rId48" Type="http://schemas.openxmlformats.org/officeDocument/2006/relationships/font" Target="fonts/font11.fntdata"/><Relationship Id="rId56" Type="http://schemas.openxmlformats.org/officeDocument/2006/relationships/theme" Target="theme/theme1.xml"/><Relationship Id="rId8" Type="http://schemas.openxmlformats.org/officeDocument/2006/relationships/slide" Target="slides/slide6.xml"/><Relationship Id="rId51" Type="http://schemas.openxmlformats.org/officeDocument/2006/relationships/font" Target="fonts/font14.fntdata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font" Target="fonts/font1.fntdata"/><Relationship Id="rId46" Type="http://schemas.openxmlformats.org/officeDocument/2006/relationships/font" Target="fonts/font9.fntdata"/><Relationship Id="rId20" Type="http://schemas.openxmlformats.org/officeDocument/2006/relationships/slide" Target="slides/slide18.xml"/><Relationship Id="rId41" Type="http://schemas.openxmlformats.org/officeDocument/2006/relationships/font" Target="fonts/font4.fntdata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font" Target="fonts/font12.fntdata"/><Relationship Id="rId57" Type="http://schemas.openxmlformats.org/officeDocument/2006/relationships/tableStyles" Target="tableStyles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font" Target="fonts/font7.fntdata"/><Relationship Id="rId52" Type="http://schemas.openxmlformats.org/officeDocument/2006/relationships/font" Target="fonts/font15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CEDFF-A765-4A22-B7F3-2FAE6C8CD73B}" type="datetimeFigureOut">
              <a:rPr lang="zh-CN" altLang="en-US" smtClean="0"/>
              <a:t>2014/3/8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31900-6AB6-4510-8EF3-2473C7AE6A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57783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CEDFF-A765-4A22-B7F3-2FAE6C8CD73B}" type="datetimeFigureOut">
              <a:rPr lang="zh-CN" altLang="en-US" smtClean="0"/>
              <a:t>2014/3/8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31900-6AB6-4510-8EF3-2473C7AE6A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78494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CEDFF-A765-4A22-B7F3-2FAE6C8CD73B}" type="datetimeFigureOut">
              <a:rPr lang="zh-CN" altLang="en-US" smtClean="0"/>
              <a:t>2014/3/8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31900-6AB6-4510-8EF3-2473C7AE6A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33652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CEDFF-A765-4A22-B7F3-2FAE6C8CD73B}" type="datetimeFigureOut">
              <a:rPr lang="zh-CN" altLang="en-US" smtClean="0"/>
              <a:t>2014/3/8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31900-6AB6-4510-8EF3-2473C7AE6A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5723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CEDFF-A765-4A22-B7F3-2FAE6C8CD73B}" type="datetimeFigureOut">
              <a:rPr lang="zh-CN" altLang="en-US" smtClean="0"/>
              <a:t>2014/3/8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31900-6AB6-4510-8EF3-2473C7AE6A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42768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CEDFF-A765-4A22-B7F3-2FAE6C8CD73B}" type="datetimeFigureOut">
              <a:rPr lang="zh-CN" altLang="en-US" smtClean="0"/>
              <a:t>2014/3/8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31900-6AB6-4510-8EF3-2473C7AE6A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85854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CEDFF-A765-4A22-B7F3-2FAE6C8CD73B}" type="datetimeFigureOut">
              <a:rPr lang="zh-CN" altLang="en-US" smtClean="0"/>
              <a:t>2014/3/8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31900-6AB6-4510-8EF3-2473C7AE6A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302350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CEDFF-A765-4A22-B7F3-2FAE6C8CD73B}" type="datetimeFigureOut">
              <a:rPr lang="zh-CN" altLang="en-US" smtClean="0"/>
              <a:t>2014/3/8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31900-6AB6-4510-8EF3-2473C7AE6A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194095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CEDFF-A765-4A22-B7F3-2FAE6C8CD73B}" type="datetimeFigureOut">
              <a:rPr lang="zh-CN" altLang="en-US" smtClean="0"/>
              <a:t>2014/3/8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31900-6AB6-4510-8EF3-2473C7AE6A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81937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CEDFF-A765-4A22-B7F3-2FAE6C8CD73B}" type="datetimeFigureOut">
              <a:rPr lang="zh-CN" altLang="en-US" smtClean="0"/>
              <a:t>2014/3/8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31900-6AB6-4510-8EF3-2473C7AE6A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61085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CEDFF-A765-4A22-B7F3-2FAE6C8CD73B}" type="datetimeFigureOut">
              <a:rPr lang="zh-CN" altLang="en-US" smtClean="0"/>
              <a:t>2014/3/8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31900-6AB6-4510-8EF3-2473C7AE6A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662164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86470F7-ECDF-44E1-BDF9-FC28296FA874}" type="datetimeFigureOut">
              <a:rPr lang="zh-CN" altLang="en-US" smtClean="0">
                <a:solidFill>
                  <a:srgbClr val="000000"/>
                </a:solidFill>
              </a:rPr>
              <a:pPr/>
              <a:t>2014/3/8</a:t>
            </a:fld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531F65C-87ED-4D7B-B158-0D00AF9060A9}" type="slidenum">
              <a:rPr lang="zh-CN" altLang="en-US" smtClean="0">
                <a:solidFill>
                  <a:srgbClr val="000000"/>
                </a:solidFill>
              </a:rPr>
              <a:pPr/>
              <a:t>‹#›</a:t>
            </a:fld>
            <a:endParaRPr lang="zh-CN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453556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86470F7-ECDF-44E1-BDF9-FC28296FA874}" type="datetimeFigureOut">
              <a:rPr lang="zh-CN" altLang="en-US" smtClean="0">
                <a:solidFill>
                  <a:srgbClr val="000000"/>
                </a:solidFill>
              </a:rPr>
              <a:pPr/>
              <a:t>2014/3/8</a:t>
            </a:fld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531F65C-87ED-4D7B-B158-0D00AF9060A9}" type="slidenum">
              <a:rPr lang="zh-CN" altLang="en-US" smtClean="0">
                <a:solidFill>
                  <a:srgbClr val="000000"/>
                </a:solidFill>
              </a:rPr>
              <a:pPr/>
              <a:t>‹#›</a:t>
            </a:fld>
            <a:endParaRPr lang="zh-CN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9654591"/>
      </p:ext>
    </p:extLst>
  </p:cSld>
  <p:clrMapOvr>
    <a:masterClrMapping/>
  </p:clrMapOvr>
  <p:transition spd="slow">
    <p:push dir="u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86470F7-ECDF-44E1-BDF9-FC28296FA874}" type="datetimeFigureOut">
              <a:rPr lang="zh-CN" altLang="en-US" smtClean="0">
                <a:solidFill>
                  <a:srgbClr val="000000"/>
                </a:solidFill>
              </a:rPr>
              <a:pPr/>
              <a:t>2014/3/8</a:t>
            </a:fld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531F65C-87ED-4D7B-B158-0D00AF9060A9}" type="slidenum">
              <a:rPr lang="zh-CN" altLang="en-US" smtClean="0">
                <a:solidFill>
                  <a:srgbClr val="000000"/>
                </a:solidFill>
              </a:rPr>
              <a:pPr/>
              <a:t>‹#›</a:t>
            </a:fld>
            <a:endParaRPr lang="zh-CN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4696962"/>
      </p:ext>
    </p:extLst>
  </p:cSld>
  <p:clrMapOvr>
    <a:masterClrMapping/>
  </p:clrMapOvr>
  <p:transition spd="slow">
    <p:push dir="u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86470F7-ECDF-44E1-BDF9-FC28296FA874}" type="datetimeFigureOut">
              <a:rPr lang="zh-CN" altLang="en-US" smtClean="0">
                <a:solidFill>
                  <a:srgbClr val="000000"/>
                </a:solidFill>
              </a:rPr>
              <a:pPr/>
              <a:t>2014/3/8</a:t>
            </a:fld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531F65C-87ED-4D7B-B158-0D00AF9060A9}" type="slidenum">
              <a:rPr lang="zh-CN" altLang="en-US" smtClean="0">
                <a:solidFill>
                  <a:srgbClr val="000000"/>
                </a:solidFill>
              </a:rPr>
              <a:pPr/>
              <a:t>‹#›</a:t>
            </a:fld>
            <a:endParaRPr lang="zh-CN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4846623"/>
      </p:ext>
    </p:extLst>
  </p:cSld>
  <p:clrMapOvr>
    <a:masterClrMapping/>
  </p:clrMapOvr>
  <p:transition spd="slow">
    <p:push dir="u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86470F7-ECDF-44E1-BDF9-FC28296FA874}" type="datetimeFigureOut">
              <a:rPr lang="zh-CN" altLang="en-US" smtClean="0">
                <a:solidFill>
                  <a:srgbClr val="000000"/>
                </a:solidFill>
              </a:rPr>
              <a:pPr/>
              <a:t>2014/3/8</a:t>
            </a:fld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531F65C-87ED-4D7B-B158-0D00AF9060A9}" type="slidenum">
              <a:rPr lang="zh-CN" altLang="en-US" smtClean="0">
                <a:solidFill>
                  <a:srgbClr val="000000"/>
                </a:solidFill>
              </a:rPr>
              <a:pPr/>
              <a:t>‹#›</a:t>
            </a:fld>
            <a:endParaRPr lang="zh-CN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531702"/>
      </p:ext>
    </p:extLst>
  </p:cSld>
  <p:clrMapOvr>
    <a:masterClrMapping/>
  </p:clrMapOvr>
  <p:transition spd="slow">
    <p:push dir="u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86470F7-ECDF-44E1-BDF9-FC28296FA874}" type="datetimeFigureOut">
              <a:rPr lang="zh-CN" altLang="en-US" smtClean="0">
                <a:solidFill>
                  <a:srgbClr val="000000"/>
                </a:solidFill>
              </a:rPr>
              <a:pPr/>
              <a:t>2014/3/8</a:t>
            </a:fld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531F65C-87ED-4D7B-B158-0D00AF9060A9}" type="slidenum">
              <a:rPr lang="zh-CN" altLang="en-US" smtClean="0">
                <a:solidFill>
                  <a:srgbClr val="000000"/>
                </a:solidFill>
              </a:rPr>
              <a:pPr/>
              <a:t>‹#›</a:t>
            </a:fld>
            <a:endParaRPr lang="zh-CN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3325881"/>
      </p:ext>
    </p:extLst>
  </p:cSld>
  <p:clrMapOvr>
    <a:masterClrMapping/>
  </p:clrMapOvr>
  <p:transition spd="slow">
    <p:push dir="u"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86470F7-ECDF-44E1-BDF9-FC28296FA874}" type="datetimeFigureOut">
              <a:rPr lang="zh-CN" altLang="en-US" smtClean="0">
                <a:solidFill>
                  <a:srgbClr val="000000"/>
                </a:solidFill>
              </a:rPr>
              <a:pPr/>
              <a:t>2014/3/8</a:t>
            </a:fld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531F65C-87ED-4D7B-B158-0D00AF9060A9}" type="slidenum">
              <a:rPr lang="zh-CN" altLang="en-US" smtClean="0">
                <a:solidFill>
                  <a:srgbClr val="000000"/>
                </a:solidFill>
              </a:rPr>
              <a:pPr/>
              <a:t>‹#›</a:t>
            </a:fld>
            <a:endParaRPr lang="zh-CN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0659038"/>
      </p:ext>
    </p:extLst>
  </p:cSld>
  <p:clrMapOvr>
    <a:masterClrMapping/>
  </p:clrMapOvr>
  <p:transition spd="slow">
    <p:push dir="u"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86470F7-ECDF-44E1-BDF9-FC28296FA874}" type="datetimeFigureOut">
              <a:rPr lang="zh-CN" altLang="en-US" smtClean="0">
                <a:solidFill>
                  <a:srgbClr val="000000"/>
                </a:solidFill>
              </a:rPr>
              <a:pPr/>
              <a:t>2014/3/8</a:t>
            </a:fld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531F65C-87ED-4D7B-B158-0D00AF9060A9}" type="slidenum">
              <a:rPr lang="zh-CN" altLang="en-US" smtClean="0">
                <a:solidFill>
                  <a:srgbClr val="000000"/>
                </a:solidFill>
              </a:rPr>
              <a:pPr/>
              <a:t>‹#›</a:t>
            </a:fld>
            <a:endParaRPr lang="zh-CN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7878913"/>
      </p:ext>
    </p:extLst>
  </p:cSld>
  <p:clrMapOvr>
    <a:masterClrMapping/>
  </p:clrMapOvr>
  <p:transition spd="slow">
    <p:push dir="u"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86470F7-ECDF-44E1-BDF9-FC28296FA874}" type="datetimeFigureOut">
              <a:rPr lang="zh-CN" altLang="en-US" smtClean="0">
                <a:solidFill>
                  <a:srgbClr val="000000"/>
                </a:solidFill>
              </a:rPr>
              <a:pPr/>
              <a:t>2014/3/8</a:t>
            </a:fld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531F65C-87ED-4D7B-B158-0D00AF9060A9}" type="slidenum">
              <a:rPr lang="zh-CN" altLang="en-US" smtClean="0">
                <a:solidFill>
                  <a:srgbClr val="000000"/>
                </a:solidFill>
              </a:rPr>
              <a:pPr/>
              <a:t>‹#›</a:t>
            </a:fld>
            <a:endParaRPr lang="zh-CN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4278947"/>
      </p:ext>
    </p:extLst>
  </p:cSld>
  <p:clrMapOvr>
    <a:masterClrMapping/>
  </p:clrMapOvr>
  <p:transition spd="slow">
    <p:push dir="u"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86470F7-ECDF-44E1-BDF9-FC28296FA874}" type="datetimeFigureOut">
              <a:rPr lang="zh-CN" altLang="en-US" smtClean="0">
                <a:solidFill>
                  <a:srgbClr val="000000"/>
                </a:solidFill>
              </a:rPr>
              <a:pPr/>
              <a:t>2014/3/8</a:t>
            </a:fld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531F65C-87ED-4D7B-B158-0D00AF9060A9}" type="slidenum">
              <a:rPr lang="zh-CN" altLang="en-US" smtClean="0">
                <a:solidFill>
                  <a:srgbClr val="000000"/>
                </a:solidFill>
              </a:rPr>
              <a:pPr/>
              <a:t>‹#›</a:t>
            </a:fld>
            <a:endParaRPr lang="zh-CN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9418328"/>
      </p:ext>
    </p:extLst>
  </p:cSld>
  <p:clrMapOvr>
    <a:masterClrMapping/>
  </p:clrMapOvr>
  <p:transition spd="slow">
    <p:push dir="u"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86470F7-ECDF-44E1-BDF9-FC28296FA874}" type="datetimeFigureOut">
              <a:rPr lang="zh-CN" altLang="en-US" smtClean="0">
                <a:solidFill>
                  <a:srgbClr val="000000"/>
                </a:solidFill>
              </a:rPr>
              <a:pPr/>
              <a:t>2014/3/8</a:t>
            </a:fld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531F65C-87ED-4D7B-B158-0D00AF9060A9}" type="slidenum">
              <a:rPr lang="zh-CN" altLang="en-US" smtClean="0">
                <a:solidFill>
                  <a:srgbClr val="000000"/>
                </a:solidFill>
              </a:rPr>
              <a:pPr/>
              <a:t>‹#›</a:t>
            </a:fld>
            <a:endParaRPr lang="zh-CN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6493723"/>
      </p:ext>
    </p:extLst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9CEDFF-A765-4A22-B7F3-2FAE6C8CD73B}" type="datetimeFigureOut">
              <a:rPr lang="zh-CN" altLang="en-US" smtClean="0"/>
              <a:t>2014/3/8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A31900-6AB6-4510-8EF3-2473C7AE6A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01638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03624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 spd="slow">
    <p:push dir="u"/>
  </p:transition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4307" y="378405"/>
            <a:ext cx="5942801" cy="5959829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416931" y="911190"/>
            <a:ext cx="4288353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8000" dirty="0" smtClean="0">
                <a:solidFill>
                  <a:srgbClr val="DDC047"/>
                </a:solidFill>
                <a:latin typeface="方正静蕾简体" panose="02000000000000000000" pitchFamily="2" charset="-122"/>
                <a:ea typeface="方正静蕾简体" panose="02000000000000000000" pitchFamily="2" charset="-122"/>
              </a:rPr>
              <a:t>不要等到</a:t>
            </a:r>
            <a:endParaRPr lang="zh-CN" altLang="en-US" sz="8000" dirty="0">
              <a:solidFill>
                <a:srgbClr val="DDC047"/>
              </a:solidFill>
              <a:latin typeface="方正静蕾简体" panose="02000000000000000000" pitchFamily="2" charset="-122"/>
              <a:ea typeface="方正静蕾简体" panose="02000000000000000000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595152" y="2034881"/>
            <a:ext cx="4288353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8000" dirty="0" smtClean="0">
                <a:solidFill>
                  <a:srgbClr val="DDC047"/>
                </a:solidFill>
                <a:latin typeface="方正静蕾简体" panose="02000000000000000000" pitchFamily="2" charset="-122"/>
                <a:ea typeface="方正静蕾简体" panose="02000000000000000000" pitchFamily="2" charset="-122"/>
              </a:rPr>
              <a:t>毕业以后</a:t>
            </a:r>
            <a:endParaRPr lang="zh-CN" altLang="en-US" sz="8000" dirty="0">
              <a:solidFill>
                <a:srgbClr val="DDC047"/>
              </a:solidFill>
              <a:latin typeface="方正静蕾简体" panose="02000000000000000000" pitchFamily="2" charset="-122"/>
              <a:ea typeface="方正静蕾简体" panose="02000000000000000000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452406" y="3498998"/>
            <a:ext cx="6432529" cy="0"/>
          </a:xfrm>
          <a:prstGeom prst="line">
            <a:avLst/>
          </a:prstGeom>
          <a:ln w="63500">
            <a:solidFill>
              <a:srgbClr val="DDC04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242091" y="3774125"/>
            <a:ext cx="685315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>
                <a:solidFill>
                  <a:srgbClr val="DDC047"/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rPr>
              <a:t>一</a:t>
            </a:r>
            <a:r>
              <a:rPr lang="zh-CN" altLang="en-US" sz="4000" dirty="0" smtClean="0">
                <a:solidFill>
                  <a:srgbClr val="DDC047"/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rPr>
              <a:t>本真正帮助大学生成长的书</a:t>
            </a:r>
            <a:endParaRPr lang="zh-CN" altLang="en-US" sz="4000" dirty="0">
              <a:solidFill>
                <a:srgbClr val="DDC047"/>
              </a:solidFill>
              <a:latin typeface="华康俪金黑W8" panose="020B0809000000000000" pitchFamily="49" charset="-122"/>
              <a:ea typeface="华康俪金黑W8" panose="020B0809000000000000" pitchFamily="49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054970" y="4757137"/>
            <a:ext cx="28216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张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志（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@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秋叶）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· 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著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2904665" y="5284326"/>
            <a:ext cx="23900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 smtClean="0"/>
              <a:t>PPT  Design By </a:t>
            </a:r>
            <a:endParaRPr lang="zh-CN" altLang="en-US" sz="2800" dirty="0"/>
          </a:p>
        </p:txBody>
      </p:sp>
      <p:sp>
        <p:nvSpPr>
          <p:cNvPr id="9" name="文本框 8"/>
          <p:cNvSpPr txBox="1"/>
          <p:nvPr/>
        </p:nvSpPr>
        <p:spPr>
          <a:xfrm>
            <a:off x="5095836" y="5334933"/>
            <a:ext cx="17876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@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初梦想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24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083414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352280" y="3313289"/>
            <a:ext cx="2253803" cy="2318196"/>
          </a:xfrm>
          <a:prstGeom prst="rect">
            <a:avLst/>
          </a:prstGeom>
          <a:solidFill>
            <a:srgbClr val="DDC047"/>
          </a:solidFill>
          <a:ln>
            <a:solidFill>
              <a:srgbClr val="DDC0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3760630" y="3313289"/>
            <a:ext cx="2253803" cy="2318196"/>
          </a:xfrm>
          <a:prstGeom prst="rect">
            <a:avLst/>
          </a:prstGeom>
          <a:solidFill>
            <a:srgbClr val="DDC047"/>
          </a:solidFill>
          <a:ln>
            <a:solidFill>
              <a:srgbClr val="DDC0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6168980" y="3313289"/>
            <a:ext cx="2253803" cy="2318196"/>
          </a:xfrm>
          <a:prstGeom prst="rect">
            <a:avLst/>
          </a:prstGeom>
          <a:solidFill>
            <a:srgbClr val="DDC047"/>
          </a:solidFill>
          <a:ln>
            <a:solidFill>
              <a:srgbClr val="DDC0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8577330" y="3313289"/>
            <a:ext cx="2253803" cy="2318196"/>
          </a:xfrm>
          <a:prstGeom prst="rect">
            <a:avLst/>
          </a:prstGeom>
          <a:solidFill>
            <a:srgbClr val="DDC047"/>
          </a:solidFill>
          <a:ln>
            <a:solidFill>
              <a:srgbClr val="DDC0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0" y="1502427"/>
            <a:ext cx="12192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6000" dirty="0" smtClean="0">
                <a:solidFill>
                  <a:srgbClr val="E2CA64"/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rPr>
              <a:t>本书的亮点</a:t>
            </a:r>
            <a:endParaRPr lang="zh-CN" altLang="en-US" sz="6000" dirty="0">
              <a:solidFill>
                <a:srgbClr val="E2CA64"/>
              </a:solidFill>
              <a:latin typeface="华康俪金黑W8" panose="020B0809000000000000" pitchFamily="49" charset="-122"/>
              <a:ea typeface="华康俪金黑W8" panose="020B0809000000000000" pitchFamily="49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1352279" y="3473575"/>
            <a:ext cx="22538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亮点</a:t>
            </a:r>
            <a:r>
              <a:rPr lang="zh-CN" altLang="en-US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一：</a:t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1352279" y="4034203"/>
            <a:ext cx="22538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不再一味的刺激</a:t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1352279" y="4416113"/>
            <a:ext cx="22538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不再一味的思考</a:t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1352278" y="4798023"/>
            <a:ext cx="22538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而是注重行动</a:t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3760628" y="3473575"/>
            <a:ext cx="22538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亮点二：</a:t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3760627" y="4034203"/>
            <a:ext cx="22538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紧跟时代的潮流</a:t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3760624" y="4416113"/>
            <a:ext cx="22538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与微信紧密相连</a:t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3760624" y="4798023"/>
            <a:ext cx="22538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与微</a:t>
            </a:r>
            <a:r>
              <a:rPr lang="zh-CN" altLang="en-US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博紧密相连</a:t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6168975" y="3473575"/>
            <a:ext cx="22538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亮点三：</a:t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6168974" y="4034203"/>
            <a:ext cx="22538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涵盖</a:t>
            </a:r>
            <a:r>
              <a:rPr lang="zh-CN" altLang="en-US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十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大话题</a:t>
            </a:r>
          </a:p>
        </p:txBody>
      </p:sp>
      <p:sp>
        <p:nvSpPr>
          <p:cNvPr id="35" name="文本框 34"/>
          <p:cNvSpPr txBox="1"/>
          <p:nvPr/>
        </p:nvSpPr>
        <p:spPr>
          <a:xfrm>
            <a:off x="6168974" y="4416113"/>
            <a:ext cx="22538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提供思考方案</a:t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6168974" y="4798023"/>
            <a:ext cx="22538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给予实操训练</a:t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8577331" y="3473575"/>
            <a:ext cx="22538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亮点四：</a:t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8577318" y="4004882"/>
            <a:ext cx="22538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改变</a:t>
            </a:r>
            <a:r>
              <a:rPr lang="zh-CN" altLang="en-US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你的人生规划</a:t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8577306" y="4416113"/>
            <a:ext cx="22538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解决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你</a:t>
            </a:r>
            <a:r>
              <a:rPr lang="zh-CN" altLang="en-US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的社会实践</a:t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8577306" y="4798023"/>
            <a:ext cx="22538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帮助你</a:t>
            </a:r>
            <a:r>
              <a:rPr lang="zh-CN" altLang="en-US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的毕业就业</a:t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3" name="直接连接符 42"/>
          <p:cNvCxnSpPr/>
          <p:nvPr/>
        </p:nvCxnSpPr>
        <p:spPr>
          <a:xfrm>
            <a:off x="0" y="505522"/>
            <a:ext cx="12192000" cy="28135"/>
          </a:xfrm>
          <a:prstGeom prst="line">
            <a:avLst/>
          </a:prstGeom>
          <a:ln w="127000">
            <a:solidFill>
              <a:srgbClr val="DDC047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连接符 46"/>
          <p:cNvCxnSpPr/>
          <p:nvPr/>
        </p:nvCxnSpPr>
        <p:spPr>
          <a:xfrm>
            <a:off x="0" y="631509"/>
            <a:ext cx="12192000" cy="28135"/>
          </a:xfrm>
          <a:prstGeom prst="line">
            <a:avLst/>
          </a:prstGeom>
          <a:ln w="12700">
            <a:solidFill>
              <a:srgbClr val="DDC047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连接符 47"/>
          <p:cNvCxnSpPr/>
          <p:nvPr/>
        </p:nvCxnSpPr>
        <p:spPr>
          <a:xfrm>
            <a:off x="0" y="379535"/>
            <a:ext cx="12192000" cy="28135"/>
          </a:xfrm>
          <a:prstGeom prst="line">
            <a:avLst/>
          </a:prstGeom>
          <a:ln w="12700">
            <a:solidFill>
              <a:srgbClr val="DDC047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5048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任意多边形 5"/>
          <p:cNvSpPr/>
          <p:nvPr/>
        </p:nvSpPr>
        <p:spPr>
          <a:xfrm flipV="1">
            <a:off x="4428979" y="942536"/>
            <a:ext cx="3334042" cy="2743201"/>
          </a:xfrm>
          <a:custGeom>
            <a:avLst/>
            <a:gdLst>
              <a:gd name="connsiteX0" fmla="*/ 356389 w 3629465"/>
              <a:gd name="connsiteY0" fmla="*/ 2897945 h 2897945"/>
              <a:gd name="connsiteX1" fmla="*/ 3273076 w 3629465"/>
              <a:gd name="connsiteY1" fmla="*/ 2897945 h 2897945"/>
              <a:gd name="connsiteX2" fmla="*/ 3629465 w 3629465"/>
              <a:gd name="connsiteY2" fmla="*/ 2541556 h 2897945"/>
              <a:gd name="connsiteX3" fmla="*/ 3629465 w 3629465"/>
              <a:gd name="connsiteY3" fmla="*/ 1116045 h 2897945"/>
              <a:gd name="connsiteX4" fmla="*/ 3273076 w 3629465"/>
              <a:gd name="connsiteY4" fmla="*/ 759656 h 2897945"/>
              <a:gd name="connsiteX5" fmla="*/ 1071704 w 3629465"/>
              <a:gd name="connsiteY5" fmla="*/ 759656 h 2897945"/>
              <a:gd name="connsiteX6" fmla="*/ 450167 w 3629465"/>
              <a:gd name="connsiteY6" fmla="*/ 0 h 2897945"/>
              <a:gd name="connsiteX7" fmla="*/ 450167 w 3629465"/>
              <a:gd name="connsiteY7" fmla="*/ 759656 h 2897945"/>
              <a:gd name="connsiteX8" fmla="*/ 356389 w 3629465"/>
              <a:gd name="connsiteY8" fmla="*/ 759656 h 2897945"/>
              <a:gd name="connsiteX9" fmla="*/ 0 w 3629465"/>
              <a:gd name="connsiteY9" fmla="*/ 1116045 h 2897945"/>
              <a:gd name="connsiteX10" fmla="*/ 0 w 3629465"/>
              <a:gd name="connsiteY10" fmla="*/ 2541556 h 2897945"/>
              <a:gd name="connsiteX11" fmla="*/ 356389 w 3629465"/>
              <a:gd name="connsiteY11" fmla="*/ 2897945 h 28979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629465" h="2897945">
                <a:moveTo>
                  <a:pt x="356389" y="2897945"/>
                </a:moveTo>
                <a:lnTo>
                  <a:pt x="3273076" y="2897945"/>
                </a:lnTo>
                <a:cubicBezTo>
                  <a:pt x="3469904" y="2897945"/>
                  <a:pt x="3629465" y="2738384"/>
                  <a:pt x="3629465" y="2541556"/>
                </a:cubicBezTo>
                <a:lnTo>
                  <a:pt x="3629465" y="1116045"/>
                </a:lnTo>
                <a:cubicBezTo>
                  <a:pt x="3629465" y="919217"/>
                  <a:pt x="3469904" y="759656"/>
                  <a:pt x="3273076" y="759656"/>
                </a:cubicBezTo>
                <a:lnTo>
                  <a:pt x="1071704" y="759656"/>
                </a:lnTo>
                <a:lnTo>
                  <a:pt x="450167" y="0"/>
                </a:lnTo>
                <a:lnTo>
                  <a:pt x="450167" y="759656"/>
                </a:lnTo>
                <a:lnTo>
                  <a:pt x="356389" y="759656"/>
                </a:lnTo>
                <a:cubicBezTo>
                  <a:pt x="159561" y="759656"/>
                  <a:pt x="0" y="919217"/>
                  <a:pt x="0" y="1116045"/>
                </a:cubicBezTo>
                <a:lnTo>
                  <a:pt x="0" y="2541556"/>
                </a:lnTo>
                <a:cubicBezTo>
                  <a:pt x="0" y="2738384"/>
                  <a:pt x="159561" y="2897945"/>
                  <a:pt x="356389" y="2897945"/>
                </a:cubicBezTo>
                <a:close/>
              </a:path>
            </a:pathLst>
          </a:custGeom>
          <a:solidFill>
            <a:srgbClr val="DDC047"/>
          </a:solidFill>
          <a:ln>
            <a:solidFill>
              <a:srgbClr val="DDC0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DDC047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0" y="1336431"/>
            <a:ext cx="121920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000" dirty="0" smtClean="0">
                <a:solidFill>
                  <a:schemeClr val="bg1"/>
                </a:solidFill>
                <a:latin typeface="Elephant" panose="02020904090505020303" pitchFamily="18" charset="0"/>
                <a:ea typeface="微软雅黑" panose="020B0503020204020204" pitchFamily="34" charset="-122"/>
              </a:rPr>
              <a:t>01</a:t>
            </a:r>
            <a:endParaRPr lang="zh-CN" altLang="en-US" sz="8000" dirty="0">
              <a:solidFill>
                <a:schemeClr val="bg1"/>
              </a:solidFill>
              <a:latin typeface="Elephant" panose="02020904090505020303" pitchFamily="18" charset="0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0" y="3854548"/>
            <a:ext cx="12192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7200" dirty="0" smtClean="0">
                <a:latin typeface="华康俪金黑W8" panose="020B0809000000000000" pitchFamily="49" charset="-122"/>
                <a:ea typeface="华康俪金黑W8" panose="020B0809000000000000" pitchFamily="49" charset="-122"/>
              </a:rPr>
              <a:t>专业 </a:t>
            </a:r>
            <a:r>
              <a:rPr lang="zh-CN" altLang="en-US" sz="7200" dirty="0" smtClean="0">
                <a:solidFill>
                  <a:srgbClr val="DDC047"/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rPr>
              <a:t>与 </a:t>
            </a:r>
            <a:r>
              <a:rPr lang="zh-CN" altLang="en-US" sz="7200" dirty="0" smtClean="0">
                <a:latin typeface="华康俪金黑W8" panose="020B0809000000000000" pitchFamily="49" charset="-122"/>
                <a:ea typeface="华康俪金黑W8" panose="020B0809000000000000" pitchFamily="49" charset="-122"/>
              </a:rPr>
              <a:t>职业</a:t>
            </a:r>
            <a:endParaRPr lang="zh-CN" altLang="en-US" sz="7200" dirty="0">
              <a:latin typeface="华康俪金黑W8" panose="020B0809000000000000" pitchFamily="49" charset="-122"/>
              <a:ea typeface="华康俪金黑W8" panose="020B0809000000000000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730855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文本框 23"/>
          <p:cNvSpPr txBox="1"/>
          <p:nvPr/>
        </p:nvSpPr>
        <p:spPr>
          <a:xfrm>
            <a:off x="3502317" y="5932253"/>
            <a:ext cx="86896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专业、选择和兴趣只是通向梦想的桥梁</a:t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1126176" y="5686031"/>
            <a:ext cx="283402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dirty="0" smtClean="0">
                <a:solidFill>
                  <a:srgbClr val="DDC047"/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rPr>
              <a:t>秋叶曰：</a:t>
            </a:r>
            <a:endParaRPr lang="zh-CN" altLang="en-US" sz="4800" dirty="0">
              <a:solidFill>
                <a:srgbClr val="DDC047"/>
              </a:solidFill>
              <a:latin typeface="华康俪金黑W8" panose="020B0809000000000000" pitchFamily="49" charset="-122"/>
              <a:ea typeface="华康俪金黑W8" panose="020B0809000000000000" pitchFamily="49" charset="-122"/>
            </a:endParaRPr>
          </a:p>
        </p:txBody>
      </p:sp>
      <p:pic>
        <p:nvPicPr>
          <p:cNvPr id="57" name="图片 5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040" y="2918415"/>
            <a:ext cx="2418237" cy="264450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8377" y="468304"/>
            <a:ext cx="4591375" cy="5094616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74852" y="94817"/>
            <a:ext cx="2869549" cy="2620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33491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任意多边形 5"/>
          <p:cNvSpPr/>
          <p:nvPr/>
        </p:nvSpPr>
        <p:spPr>
          <a:xfrm flipV="1">
            <a:off x="4428979" y="942536"/>
            <a:ext cx="3334042" cy="2743201"/>
          </a:xfrm>
          <a:custGeom>
            <a:avLst/>
            <a:gdLst>
              <a:gd name="connsiteX0" fmla="*/ 356389 w 3629465"/>
              <a:gd name="connsiteY0" fmla="*/ 2897945 h 2897945"/>
              <a:gd name="connsiteX1" fmla="*/ 3273076 w 3629465"/>
              <a:gd name="connsiteY1" fmla="*/ 2897945 h 2897945"/>
              <a:gd name="connsiteX2" fmla="*/ 3629465 w 3629465"/>
              <a:gd name="connsiteY2" fmla="*/ 2541556 h 2897945"/>
              <a:gd name="connsiteX3" fmla="*/ 3629465 w 3629465"/>
              <a:gd name="connsiteY3" fmla="*/ 1116045 h 2897945"/>
              <a:gd name="connsiteX4" fmla="*/ 3273076 w 3629465"/>
              <a:gd name="connsiteY4" fmla="*/ 759656 h 2897945"/>
              <a:gd name="connsiteX5" fmla="*/ 1071704 w 3629465"/>
              <a:gd name="connsiteY5" fmla="*/ 759656 h 2897945"/>
              <a:gd name="connsiteX6" fmla="*/ 450167 w 3629465"/>
              <a:gd name="connsiteY6" fmla="*/ 0 h 2897945"/>
              <a:gd name="connsiteX7" fmla="*/ 450167 w 3629465"/>
              <a:gd name="connsiteY7" fmla="*/ 759656 h 2897945"/>
              <a:gd name="connsiteX8" fmla="*/ 356389 w 3629465"/>
              <a:gd name="connsiteY8" fmla="*/ 759656 h 2897945"/>
              <a:gd name="connsiteX9" fmla="*/ 0 w 3629465"/>
              <a:gd name="connsiteY9" fmla="*/ 1116045 h 2897945"/>
              <a:gd name="connsiteX10" fmla="*/ 0 w 3629465"/>
              <a:gd name="connsiteY10" fmla="*/ 2541556 h 2897945"/>
              <a:gd name="connsiteX11" fmla="*/ 356389 w 3629465"/>
              <a:gd name="connsiteY11" fmla="*/ 2897945 h 28979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629465" h="2897945">
                <a:moveTo>
                  <a:pt x="356389" y="2897945"/>
                </a:moveTo>
                <a:lnTo>
                  <a:pt x="3273076" y="2897945"/>
                </a:lnTo>
                <a:cubicBezTo>
                  <a:pt x="3469904" y="2897945"/>
                  <a:pt x="3629465" y="2738384"/>
                  <a:pt x="3629465" y="2541556"/>
                </a:cubicBezTo>
                <a:lnTo>
                  <a:pt x="3629465" y="1116045"/>
                </a:lnTo>
                <a:cubicBezTo>
                  <a:pt x="3629465" y="919217"/>
                  <a:pt x="3469904" y="759656"/>
                  <a:pt x="3273076" y="759656"/>
                </a:cubicBezTo>
                <a:lnTo>
                  <a:pt x="1071704" y="759656"/>
                </a:lnTo>
                <a:lnTo>
                  <a:pt x="450167" y="0"/>
                </a:lnTo>
                <a:lnTo>
                  <a:pt x="450167" y="759656"/>
                </a:lnTo>
                <a:lnTo>
                  <a:pt x="356389" y="759656"/>
                </a:lnTo>
                <a:cubicBezTo>
                  <a:pt x="159561" y="759656"/>
                  <a:pt x="0" y="919217"/>
                  <a:pt x="0" y="1116045"/>
                </a:cubicBezTo>
                <a:lnTo>
                  <a:pt x="0" y="2541556"/>
                </a:lnTo>
                <a:cubicBezTo>
                  <a:pt x="0" y="2738384"/>
                  <a:pt x="159561" y="2897945"/>
                  <a:pt x="356389" y="2897945"/>
                </a:cubicBezTo>
                <a:close/>
              </a:path>
            </a:pathLst>
          </a:custGeom>
          <a:solidFill>
            <a:srgbClr val="DDC047"/>
          </a:solidFill>
          <a:ln>
            <a:solidFill>
              <a:srgbClr val="DDC0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0" y="1336431"/>
            <a:ext cx="121920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000" dirty="0" smtClean="0">
                <a:solidFill>
                  <a:schemeClr val="bg1"/>
                </a:solidFill>
                <a:latin typeface="Elephant" panose="02020904090505020303" pitchFamily="18" charset="0"/>
                <a:ea typeface="微软雅黑" panose="020B0503020204020204" pitchFamily="34" charset="-122"/>
              </a:rPr>
              <a:t>02</a:t>
            </a:r>
            <a:endParaRPr lang="zh-CN" altLang="en-US" sz="8000" dirty="0">
              <a:solidFill>
                <a:schemeClr val="bg1"/>
              </a:solidFill>
              <a:latin typeface="Elephant" panose="02020904090505020303" pitchFamily="18" charset="0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0" y="3854548"/>
            <a:ext cx="12192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7200" dirty="0">
                <a:latin typeface="华康俪金黑W8" panose="020B0809000000000000" pitchFamily="49" charset="-122"/>
                <a:ea typeface="华康俪金黑W8" panose="020B0809000000000000" pitchFamily="49" charset="-122"/>
              </a:rPr>
              <a:t>读书</a:t>
            </a:r>
            <a:r>
              <a:rPr lang="zh-CN" altLang="en-US" sz="7200" dirty="0" smtClean="0">
                <a:latin typeface="华康俪金黑W8" panose="020B0809000000000000" pitchFamily="49" charset="-122"/>
                <a:ea typeface="华康俪金黑W8" panose="020B0809000000000000" pitchFamily="49" charset="-122"/>
              </a:rPr>
              <a:t> </a:t>
            </a:r>
            <a:r>
              <a:rPr lang="zh-CN" altLang="en-US" sz="7200" dirty="0" smtClean="0">
                <a:solidFill>
                  <a:srgbClr val="DDC047"/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rPr>
              <a:t>与 </a:t>
            </a:r>
            <a:r>
              <a:rPr lang="zh-CN" altLang="en-US" sz="7200" dirty="0">
                <a:latin typeface="华康俪金黑W8" panose="020B0809000000000000" pitchFamily="49" charset="-122"/>
                <a:ea typeface="华康俪金黑W8" panose="020B0809000000000000" pitchFamily="49" charset="-122"/>
              </a:rPr>
              <a:t>学习</a:t>
            </a:r>
          </a:p>
        </p:txBody>
      </p:sp>
    </p:spTree>
    <p:extLst>
      <p:ext uri="{BB962C8B-B14F-4D97-AF65-F5344CB8AC3E}">
        <p14:creationId xmlns:p14="http://schemas.microsoft.com/office/powerpoint/2010/main" val="41644972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589650" y="4417257"/>
            <a:ext cx="98474" cy="478301"/>
          </a:xfrm>
          <a:prstGeom prst="rect">
            <a:avLst/>
          </a:prstGeom>
          <a:solidFill>
            <a:srgbClr val="E7141A"/>
          </a:solidFill>
          <a:ln>
            <a:solidFill>
              <a:srgbClr val="E7141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1362711" y="1505245"/>
            <a:ext cx="2461847" cy="3151163"/>
          </a:xfrm>
          <a:prstGeom prst="rect">
            <a:avLst/>
          </a:prstGeom>
          <a:solidFill>
            <a:srgbClr val="DDC047"/>
          </a:solidFill>
          <a:ln>
            <a:solidFill>
              <a:srgbClr val="DDC0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1589650" y="2039817"/>
            <a:ext cx="204414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dirty="0" smtClean="0">
                <a:solidFill>
                  <a:schemeClr val="bg1"/>
                </a:solidFill>
                <a:latin typeface="Elephant" panose="02020904090505020303" pitchFamily="18" charset="0"/>
                <a:ea typeface="微软雅黑" panose="020B0503020204020204" pitchFamily="34" charset="-122"/>
              </a:rPr>
              <a:t>BOOK</a:t>
            </a:r>
            <a:endParaRPr lang="zh-CN" altLang="en-US" sz="4000" dirty="0">
              <a:solidFill>
                <a:schemeClr val="bg1"/>
              </a:solidFill>
              <a:latin typeface="Elephant" panose="02020904090505020303" pitchFamily="18" charset="0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373857" y="766954"/>
            <a:ext cx="172354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6000" dirty="0" smtClean="0">
                <a:solidFill>
                  <a:srgbClr val="DDC047"/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rPr>
              <a:t>请：</a:t>
            </a:r>
            <a:endParaRPr lang="zh-CN" altLang="en-US" sz="6000" dirty="0">
              <a:solidFill>
                <a:srgbClr val="DDC047"/>
              </a:solidFill>
              <a:latin typeface="华康俪金黑W8" panose="020B0809000000000000" pitchFamily="49" charset="-122"/>
              <a:ea typeface="华康俪金黑W8" panose="020B0809000000000000" pitchFamily="49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682154" y="1004093"/>
            <a:ext cx="377539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 smtClean="0">
                <a:solidFill>
                  <a:srgbClr val="DDC047"/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rPr>
              <a:t>保持读书的习惯</a:t>
            </a:r>
            <a:endParaRPr lang="zh-CN" altLang="en-US" sz="4000" dirty="0">
              <a:solidFill>
                <a:srgbClr val="DDC047"/>
              </a:solidFill>
              <a:latin typeface="华康俪金黑W8" panose="020B0809000000000000" pitchFamily="49" charset="-122"/>
              <a:ea typeface="华康俪金黑W8" panose="020B0809000000000000" pitchFamily="49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584873" y="2249829"/>
            <a:ext cx="227498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800" dirty="0" smtClean="0">
                <a:solidFill>
                  <a:srgbClr val="DDC04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WHY</a:t>
            </a:r>
            <a:r>
              <a:rPr lang="zh-CN" altLang="en-US" sz="4800" dirty="0" smtClean="0">
                <a:solidFill>
                  <a:srgbClr val="DDC04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？</a:t>
            </a:r>
            <a:endParaRPr lang="zh-CN" altLang="en-US" sz="4800" dirty="0">
              <a:solidFill>
                <a:srgbClr val="DDC04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5373857" y="1914212"/>
            <a:ext cx="5247250" cy="0"/>
          </a:xfrm>
          <a:prstGeom prst="line">
            <a:avLst/>
          </a:prstGeom>
          <a:ln>
            <a:solidFill>
              <a:srgbClr val="DDC04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4649748" y="4431326"/>
            <a:ext cx="223651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明白世界</a:t>
            </a:r>
            <a:endParaRPr lang="zh-CN" altLang="en-US" sz="4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7076300" y="4431326"/>
            <a:ext cx="223651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看清自己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9417848" y="4447647"/>
            <a:ext cx="223651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坚持前行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7859855" y="3080826"/>
            <a:ext cx="264687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800" dirty="0" smtClean="0">
                <a:solidFill>
                  <a:srgbClr val="DDC047"/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rPr>
              <a:t>答案有三</a:t>
            </a:r>
            <a:endParaRPr lang="zh-CN" altLang="en-US" sz="4800" dirty="0">
              <a:solidFill>
                <a:srgbClr val="DDC047"/>
              </a:solidFill>
              <a:latin typeface="华康俪金黑W8" panose="020B0809000000000000" pitchFamily="49" charset="-122"/>
              <a:ea typeface="华康俪金黑W8" panose="020B0809000000000000" pitchFamily="49" charset="-122"/>
            </a:endParaRPr>
          </a:p>
        </p:txBody>
      </p:sp>
      <p:cxnSp>
        <p:nvCxnSpPr>
          <p:cNvPr id="18" name="直接连接符 17"/>
          <p:cNvCxnSpPr/>
          <p:nvPr/>
        </p:nvCxnSpPr>
        <p:spPr>
          <a:xfrm>
            <a:off x="6981512" y="4447647"/>
            <a:ext cx="0" cy="707886"/>
          </a:xfrm>
          <a:prstGeom prst="line">
            <a:avLst/>
          </a:prstGeom>
          <a:ln>
            <a:solidFill>
              <a:srgbClr val="DDC04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>
            <a:off x="9322593" y="4417257"/>
            <a:ext cx="0" cy="707886"/>
          </a:xfrm>
          <a:prstGeom prst="line">
            <a:avLst/>
          </a:prstGeom>
          <a:ln>
            <a:solidFill>
              <a:srgbClr val="DDC04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81769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0" y="745587"/>
            <a:ext cx="12192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800" dirty="0" smtClean="0">
                <a:solidFill>
                  <a:srgbClr val="DDC047"/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rPr>
              <a:t>大学中的</a:t>
            </a:r>
            <a:r>
              <a:rPr lang="zh-CN" altLang="en-US" sz="5400" dirty="0" smtClean="0">
                <a:latin typeface="华康俪金黑W8" panose="020B0809000000000000" pitchFamily="49" charset="-122"/>
                <a:ea typeface="华康俪金黑W8" panose="020B0809000000000000" pitchFamily="49" charset="-122"/>
              </a:rPr>
              <a:t>知识</a:t>
            </a:r>
            <a:r>
              <a:rPr lang="zh-CN" altLang="en-US" sz="4800" dirty="0" smtClean="0">
                <a:solidFill>
                  <a:srgbClr val="DDC047"/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rPr>
              <a:t>和</a:t>
            </a:r>
            <a:r>
              <a:rPr lang="zh-CN" altLang="en-US" sz="5400" dirty="0" smtClean="0">
                <a:latin typeface="华康俪金黑W8" panose="020B0809000000000000" pitchFamily="49" charset="-122"/>
                <a:ea typeface="华康俪金黑W8" panose="020B0809000000000000" pitchFamily="49" charset="-122"/>
              </a:rPr>
              <a:t>技能</a:t>
            </a:r>
            <a:r>
              <a:rPr lang="zh-CN" altLang="en-US" sz="4800" dirty="0" smtClean="0">
                <a:solidFill>
                  <a:srgbClr val="DDC047"/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rPr>
              <a:t>分为三种：</a:t>
            </a:r>
            <a:endParaRPr lang="zh-CN" altLang="en-US" sz="4800" dirty="0">
              <a:solidFill>
                <a:srgbClr val="DDC047"/>
              </a:solidFill>
              <a:latin typeface="华康俪金黑W8" panose="020B0809000000000000" pitchFamily="49" charset="-122"/>
              <a:ea typeface="华康俪金黑W8" panose="020B0809000000000000" pitchFamily="49" charset="-122"/>
            </a:endParaRPr>
          </a:p>
        </p:txBody>
      </p:sp>
      <p:sp>
        <p:nvSpPr>
          <p:cNvPr id="8" name="任意多边形 7"/>
          <p:cNvSpPr/>
          <p:nvPr/>
        </p:nvSpPr>
        <p:spPr>
          <a:xfrm rot="19717136">
            <a:off x="2499889" y="2331098"/>
            <a:ext cx="759656" cy="3619538"/>
          </a:xfrm>
          <a:custGeom>
            <a:avLst/>
            <a:gdLst>
              <a:gd name="connsiteX0" fmla="*/ 492369 w 956603"/>
              <a:gd name="connsiteY0" fmla="*/ 0 h 4557933"/>
              <a:gd name="connsiteX1" fmla="*/ 703384 w 956603"/>
              <a:gd name="connsiteY1" fmla="*/ 942536 h 4557933"/>
              <a:gd name="connsiteX2" fmla="*/ 703385 w 956603"/>
              <a:gd name="connsiteY2" fmla="*/ 942536 h 4557933"/>
              <a:gd name="connsiteX3" fmla="*/ 703385 w 956603"/>
              <a:gd name="connsiteY3" fmla="*/ 3502856 h 4557933"/>
              <a:gd name="connsiteX4" fmla="*/ 562709 w 956603"/>
              <a:gd name="connsiteY4" fmla="*/ 3502856 h 4557933"/>
              <a:gd name="connsiteX5" fmla="*/ 562709 w 956603"/>
              <a:gd name="connsiteY5" fmla="*/ 3685736 h 4557933"/>
              <a:gd name="connsiteX6" fmla="*/ 956603 w 956603"/>
              <a:gd name="connsiteY6" fmla="*/ 3685736 h 4557933"/>
              <a:gd name="connsiteX7" fmla="*/ 956603 w 956603"/>
              <a:gd name="connsiteY7" fmla="*/ 3873754 h 4557933"/>
              <a:gd name="connsiteX8" fmla="*/ 562709 w 956603"/>
              <a:gd name="connsiteY8" fmla="*/ 3873754 h 4557933"/>
              <a:gd name="connsiteX9" fmla="*/ 562709 w 956603"/>
              <a:gd name="connsiteY9" fmla="*/ 4557933 h 4557933"/>
              <a:gd name="connsiteX10" fmla="*/ 393896 w 956603"/>
              <a:gd name="connsiteY10" fmla="*/ 4557933 h 4557933"/>
              <a:gd name="connsiteX11" fmla="*/ 393896 w 956603"/>
              <a:gd name="connsiteY11" fmla="*/ 3873754 h 4557933"/>
              <a:gd name="connsiteX12" fmla="*/ 0 w 956603"/>
              <a:gd name="connsiteY12" fmla="*/ 3873754 h 4557933"/>
              <a:gd name="connsiteX13" fmla="*/ 0 w 956603"/>
              <a:gd name="connsiteY13" fmla="*/ 3685736 h 4557933"/>
              <a:gd name="connsiteX14" fmla="*/ 393896 w 956603"/>
              <a:gd name="connsiteY14" fmla="*/ 3685736 h 4557933"/>
              <a:gd name="connsiteX15" fmla="*/ 393896 w 956603"/>
              <a:gd name="connsiteY15" fmla="*/ 3502856 h 4557933"/>
              <a:gd name="connsiteX16" fmla="*/ 281354 w 956603"/>
              <a:gd name="connsiteY16" fmla="*/ 3502856 h 4557933"/>
              <a:gd name="connsiteX17" fmla="*/ 281354 w 956603"/>
              <a:gd name="connsiteY17" fmla="*/ 942536 h 4557933"/>
              <a:gd name="connsiteX18" fmla="*/ 281353 w 956603"/>
              <a:gd name="connsiteY18" fmla="*/ 942536 h 4557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956603" h="4557933">
                <a:moveTo>
                  <a:pt x="492369" y="0"/>
                </a:moveTo>
                <a:lnTo>
                  <a:pt x="703384" y="942536"/>
                </a:lnTo>
                <a:lnTo>
                  <a:pt x="703385" y="942536"/>
                </a:lnTo>
                <a:lnTo>
                  <a:pt x="703385" y="3502856"/>
                </a:lnTo>
                <a:lnTo>
                  <a:pt x="562709" y="3502856"/>
                </a:lnTo>
                <a:lnTo>
                  <a:pt x="562709" y="3685736"/>
                </a:lnTo>
                <a:lnTo>
                  <a:pt x="956603" y="3685736"/>
                </a:lnTo>
                <a:lnTo>
                  <a:pt x="956603" y="3873754"/>
                </a:lnTo>
                <a:lnTo>
                  <a:pt x="562709" y="3873754"/>
                </a:lnTo>
                <a:lnTo>
                  <a:pt x="562709" y="4557933"/>
                </a:lnTo>
                <a:lnTo>
                  <a:pt x="393896" y="4557933"/>
                </a:lnTo>
                <a:lnTo>
                  <a:pt x="393896" y="3873754"/>
                </a:lnTo>
                <a:lnTo>
                  <a:pt x="0" y="3873754"/>
                </a:lnTo>
                <a:lnTo>
                  <a:pt x="0" y="3685736"/>
                </a:lnTo>
                <a:lnTo>
                  <a:pt x="393896" y="3685736"/>
                </a:lnTo>
                <a:lnTo>
                  <a:pt x="393896" y="3502856"/>
                </a:lnTo>
                <a:lnTo>
                  <a:pt x="281354" y="3502856"/>
                </a:lnTo>
                <a:lnTo>
                  <a:pt x="281354" y="942536"/>
                </a:lnTo>
                <a:lnTo>
                  <a:pt x="281353" y="942536"/>
                </a:lnTo>
                <a:close/>
              </a:path>
            </a:pathLst>
          </a:custGeom>
          <a:solidFill>
            <a:srgbClr val="DDC047"/>
          </a:solidFill>
          <a:ln>
            <a:solidFill>
              <a:srgbClr val="DDC0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" name="直接连接符 9"/>
          <p:cNvCxnSpPr/>
          <p:nvPr/>
        </p:nvCxnSpPr>
        <p:spPr>
          <a:xfrm rot="19717136" flipH="1">
            <a:off x="2879716" y="2946033"/>
            <a:ext cx="11171" cy="2301218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任意多边形 24"/>
          <p:cNvSpPr/>
          <p:nvPr/>
        </p:nvSpPr>
        <p:spPr>
          <a:xfrm rot="1877590">
            <a:off x="2832303" y="2332042"/>
            <a:ext cx="759656" cy="3619538"/>
          </a:xfrm>
          <a:custGeom>
            <a:avLst/>
            <a:gdLst>
              <a:gd name="connsiteX0" fmla="*/ 492369 w 956603"/>
              <a:gd name="connsiteY0" fmla="*/ 0 h 4557933"/>
              <a:gd name="connsiteX1" fmla="*/ 703384 w 956603"/>
              <a:gd name="connsiteY1" fmla="*/ 942536 h 4557933"/>
              <a:gd name="connsiteX2" fmla="*/ 703385 w 956603"/>
              <a:gd name="connsiteY2" fmla="*/ 942536 h 4557933"/>
              <a:gd name="connsiteX3" fmla="*/ 703385 w 956603"/>
              <a:gd name="connsiteY3" fmla="*/ 3502856 h 4557933"/>
              <a:gd name="connsiteX4" fmla="*/ 562709 w 956603"/>
              <a:gd name="connsiteY4" fmla="*/ 3502856 h 4557933"/>
              <a:gd name="connsiteX5" fmla="*/ 562709 w 956603"/>
              <a:gd name="connsiteY5" fmla="*/ 3685736 h 4557933"/>
              <a:gd name="connsiteX6" fmla="*/ 956603 w 956603"/>
              <a:gd name="connsiteY6" fmla="*/ 3685736 h 4557933"/>
              <a:gd name="connsiteX7" fmla="*/ 956603 w 956603"/>
              <a:gd name="connsiteY7" fmla="*/ 3873754 h 4557933"/>
              <a:gd name="connsiteX8" fmla="*/ 562709 w 956603"/>
              <a:gd name="connsiteY8" fmla="*/ 3873754 h 4557933"/>
              <a:gd name="connsiteX9" fmla="*/ 562709 w 956603"/>
              <a:gd name="connsiteY9" fmla="*/ 4557933 h 4557933"/>
              <a:gd name="connsiteX10" fmla="*/ 393896 w 956603"/>
              <a:gd name="connsiteY10" fmla="*/ 4557933 h 4557933"/>
              <a:gd name="connsiteX11" fmla="*/ 393896 w 956603"/>
              <a:gd name="connsiteY11" fmla="*/ 3873754 h 4557933"/>
              <a:gd name="connsiteX12" fmla="*/ 0 w 956603"/>
              <a:gd name="connsiteY12" fmla="*/ 3873754 h 4557933"/>
              <a:gd name="connsiteX13" fmla="*/ 0 w 956603"/>
              <a:gd name="connsiteY13" fmla="*/ 3685736 h 4557933"/>
              <a:gd name="connsiteX14" fmla="*/ 393896 w 956603"/>
              <a:gd name="connsiteY14" fmla="*/ 3685736 h 4557933"/>
              <a:gd name="connsiteX15" fmla="*/ 393896 w 956603"/>
              <a:gd name="connsiteY15" fmla="*/ 3502856 h 4557933"/>
              <a:gd name="connsiteX16" fmla="*/ 281354 w 956603"/>
              <a:gd name="connsiteY16" fmla="*/ 3502856 h 4557933"/>
              <a:gd name="connsiteX17" fmla="*/ 281354 w 956603"/>
              <a:gd name="connsiteY17" fmla="*/ 942536 h 4557933"/>
              <a:gd name="connsiteX18" fmla="*/ 281353 w 956603"/>
              <a:gd name="connsiteY18" fmla="*/ 942536 h 4557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956603" h="4557933">
                <a:moveTo>
                  <a:pt x="492369" y="0"/>
                </a:moveTo>
                <a:lnTo>
                  <a:pt x="703384" y="942536"/>
                </a:lnTo>
                <a:lnTo>
                  <a:pt x="703385" y="942536"/>
                </a:lnTo>
                <a:lnTo>
                  <a:pt x="703385" y="3502856"/>
                </a:lnTo>
                <a:lnTo>
                  <a:pt x="562709" y="3502856"/>
                </a:lnTo>
                <a:lnTo>
                  <a:pt x="562709" y="3685736"/>
                </a:lnTo>
                <a:lnTo>
                  <a:pt x="956603" y="3685736"/>
                </a:lnTo>
                <a:lnTo>
                  <a:pt x="956603" y="3873754"/>
                </a:lnTo>
                <a:lnTo>
                  <a:pt x="562709" y="3873754"/>
                </a:lnTo>
                <a:lnTo>
                  <a:pt x="562709" y="4557933"/>
                </a:lnTo>
                <a:lnTo>
                  <a:pt x="393896" y="4557933"/>
                </a:lnTo>
                <a:lnTo>
                  <a:pt x="393896" y="3873754"/>
                </a:lnTo>
                <a:lnTo>
                  <a:pt x="0" y="3873754"/>
                </a:lnTo>
                <a:lnTo>
                  <a:pt x="0" y="3685736"/>
                </a:lnTo>
                <a:lnTo>
                  <a:pt x="393896" y="3685736"/>
                </a:lnTo>
                <a:lnTo>
                  <a:pt x="393896" y="3502856"/>
                </a:lnTo>
                <a:lnTo>
                  <a:pt x="281354" y="3502856"/>
                </a:lnTo>
                <a:lnTo>
                  <a:pt x="281354" y="942536"/>
                </a:lnTo>
                <a:lnTo>
                  <a:pt x="281353" y="942536"/>
                </a:lnTo>
                <a:close/>
              </a:path>
            </a:pathLst>
          </a:custGeom>
          <a:solidFill>
            <a:srgbClr val="DDC047"/>
          </a:solidFill>
          <a:ln>
            <a:solidFill>
              <a:srgbClr val="DDC0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6" name="直接连接符 25"/>
          <p:cNvCxnSpPr/>
          <p:nvPr/>
        </p:nvCxnSpPr>
        <p:spPr>
          <a:xfrm rot="1877590" flipH="1">
            <a:off x="3270760" y="2945053"/>
            <a:ext cx="11171" cy="2301218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本框 30"/>
          <p:cNvSpPr txBox="1"/>
          <p:nvPr/>
        </p:nvSpPr>
        <p:spPr>
          <a:xfrm>
            <a:off x="6700911" y="2700997"/>
            <a:ext cx="274947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共性的知识</a:t>
            </a:r>
          </a:p>
        </p:txBody>
      </p:sp>
      <p:sp>
        <p:nvSpPr>
          <p:cNvPr id="32" name="文本框 31"/>
          <p:cNvSpPr txBox="1"/>
          <p:nvPr/>
        </p:nvSpPr>
        <p:spPr>
          <a:xfrm>
            <a:off x="6691533" y="3817483"/>
            <a:ext cx="274947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思考的方法</a:t>
            </a:r>
          </a:p>
        </p:txBody>
      </p:sp>
      <p:sp>
        <p:nvSpPr>
          <p:cNvPr id="33" name="文本框 32"/>
          <p:cNvSpPr txBox="1"/>
          <p:nvPr/>
        </p:nvSpPr>
        <p:spPr>
          <a:xfrm>
            <a:off x="6700911" y="4933969"/>
            <a:ext cx="274947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通用</a:t>
            </a:r>
            <a:r>
              <a:rPr lang="zh-CN" altLang="en-US" sz="4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能力</a:t>
            </a:r>
          </a:p>
        </p:txBody>
      </p:sp>
      <p:cxnSp>
        <p:nvCxnSpPr>
          <p:cNvPr id="35" name="直接连接符 34"/>
          <p:cNvCxnSpPr/>
          <p:nvPr/>
        </p:nvCxnSpPr>
        <p:spPr>
          <a:xfrm>
            <a:off x="6569613" y="3643532"/>
            <a:ext cx="2993311" cy="0"/>
          </a:xfrm>
          <a:prstGeom prst="line">
            <a:avLst/>
          </a:prstGeom>
          <a:ln>
            <a:solidFill>
              <a:srgbClr val="DDC04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/>
          <p:cNvCxnSpPr/>
          <p:nvPr/>
        </p:nvCxnSpPr>
        <p:spPr>
          <a:xfrm>
            <a:off x="6578990" y="4740812"/>
            <a:ext cx="2993311" cy="0"/>
          </a:xfrm>
          <a:prstGeom prst="line">
            <a:avLst/>
          </a:prstGeom>
          <a:ln>
            <a:solidFill>
              <a:srgbClr val="DDC04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16113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流程图: 联系 1"/>
          <p:cNvSpPr/>
          <p:nvPr/>
        </p:nvSpPr>
        <p:spPr>
          <a:xfrm>
            <a:off x="1507001" y="2281118"/>
            <a:ext cx="763174" cy="787790"/>
          </a:xfrm>
          <a:prstGeom prst="flowChartConnector">
            <a:avLst/>
          </a:prstGeom>
          <a:solidFill>
            <a:srgbClr val="DDC047"/>
          </a:solidFill>
          <a:ln>
            <a:solidFill>
              <a:srgbClr val="DDC0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任意多边形 4"/>
          <p:cNvSpPr/>
          <p:nvPr/>
        </p:nvSpPr>
        <p:spPr>
          <a:xfrm>
            <a:off x="1097280" y="3350262"/>
            <a:ext cx="1582616" cy="1631851"/>
          </a:xfrm>
          <a:custGeom>
            <a:avLst/>
            <a:gdLst>
              <a:gd name="connsiteX0" fmla="*/ 647114 w 1294228"/>
              <a:gd name="connsiteY0" fmla="*/ 0 h 1181686"/>
              <a:gd name="connsiteX1" fmla="*/ 1294228 w 1294228"/>
              <a:gd name="connsiteY1" fmla="*/ 1125416 h 1181686"/>
              <a:gd name="connsiteX2" fmla="*/ 1290966 w 1294228"/>
              <a:gd name="connsiteY2" fmla="*/ 1181686 h 1181686"/>
              <a:gd name="connsiteX3" fmla="*/ 3262 w 1294228"/>
              <a:gd name="connsiteY3" fmla="*/ 1181686 h 1181686"/>
              <a:gd name="connsiteX4" fmla="*/ 0 w 1294228"/>
              <a:gd name="connsiteY4" fmla="*/ 1125416 h 1181686"/>
              <a:gd name="connsiteX5" fmla="*/ 647114 w 1294228"/>
              <a:gd name="connsiteY5" fmla="*/ 0 h 1181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94228" h="1181686">
                <a:moveTo>
                  <a:pt x="647114" y="0"/>
                </a:moveTo>
                <a:cubicBezTo>
                  <a:pt x="1004505" y="0"/>
                  <a:pt x="1294228" y="503866"/>
                  <a:pt x="1294228" y="1125416"/>
                </a:cubicBezTo>
                <a:lnTo>
                  <a:pt x="1290966" y="1181686"/>
                </a:lnTo>
                <a:lnTo>
                  <a:pt x="3262" y="1181686"/>
                </a:lnTo>
                <a:lnTo>
                  <a:pt x="0" y="1125416"/>
                </a:lnTo>
                <a:cubicBezTo>
                  <a:pt x="0" y="503866"/>
                  <a:pt x="289723" y="0"/>
                  <a:pt x="647114" y="0"/>
                </a:cubicBezTo>
                <a:close/>
              </a:path>
            </a:pathLst>
          </a:custGeom>
          <a:solidFill>
            <a:srgbClr val="DDC047"/>
          </a:solidFill>
          <a:ln>
            <a:solidFill>
              <a:srgbClr val="DDC0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 rot="20212759">
            <a:off x="2742841" y="957678"/>
            <a:ext cx="1170513" cy="26468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600" dirty="0" smtClean="0">
                <a:solidFill>
                  <a:srgbClr val="DDC047"/>
                </a:solidFill>
                <a:latin typeface="Kozuka Gothic Pro B" panose="020B0800000000000000" pitchFamily="34" charset="-128"/>
                <a:ea typeface="Kozuka Gothic Pro B" panose="020B0800000000000000" pitchFamily="34" charset="-128"/>
              </a:rPr>
              <a:t>?</a:t>
            </a:r>
            <a:endParaRPr lang="zh-CN" altLang="en-US" sz="16600" dirty="0">
              <a:solidFill>
                <a:srgbClr val="DDC047"/>
              </a:solidFill>
              <a:latin typeface="Kozuka Gothic Pro B" panose="020B0800000000000000" pitchFamily="34" charset="-128"/>
              <a:ea typeface="Kozuka Gothic Pro B" panose="020B0800000000000000" pitchFamily="34" charset="-128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098274" y="1318186"/>
            <a:ext cx="772519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800" dirty="0">
                <a:solidFill>
                  <a:srgbClr val="DDC047"/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rPr>
              <a:t>可能</a:t>
            </a:r>
            <a:r>
              <a:rPr lang="zh-CN" altLang="en-US" sz="4800" dirty="0" smtClean="0">
                <a:solidFill>
                  <a:srgbClr val="DDC047"/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rPr>
              <a:t>决定你</a:t>
            </a:r>
            <a:r>
              <a:rPr lang="zh-CN" altLang="en-US" sz="5400" dirty="0" smtClean="0">
                <a:latin typeface="华康俪金黑W8" panose="020B0809000000000000" pitchFamily="49" charset="-122"/>
                <a:ea typeface="华康俪金黑W8" panose="020B0809000000000000" pitchFamily="49" charset="-122"/>
              </a:rPr>
              <a:t>一生</a:t>
            </a:r>
            <a:r>
              <a:rPr lang="zh-CN" altLang="en-US" sz="4800" dirty="0" smtClean="0">
                <a:solidFill>
                  <a:srgbClr val="DDC047"/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rPr>
              <a:t>的一个能力</a:t>
            </a:r>
            <a:endParaRPr lang="zh-CN" altLang="en-US" sz="4800" dirty="0">
              <a:solidFill>
                <a:srgbClr val="DDC047"/>
              </a:solidFill>
              <a:latin typeface="华康俪金黑W8" panose="020B0809000000000000" pitchFamily="49" charset="-122"/>
              <a:ea typeface="华康俪金黑W8" panose="020B0809000000000000" pitchFamily="49" charset="-122"/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123637" y="2407726"/>
            <a:ext cx="7674467" cy="0"/>
          </a:xfrm>
          <a:prstGeom prst="line">
            <a:avLst/>
          </a:prstGeom>
          <a:ln>
            <a:solidFill>
              <a:srgbClr val="DDC04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/>
        </p:nvSpPr>
        <p:spPr>
          <a:xfrm>
            <a:off x="6121157" y="3187088"/>
            <a:ext cx="326243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6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独立思考</a:t>
            </a:r>
            <a:endParaRPr lang="zh-CN" altLang="en-US" sz="6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4505330" y="5299811"/>
            <a:ext cx="649408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800" dirty="0" smtClean="0">
                <a:solidFill>
                  <a:srgbClr val="DDC04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它需要从</a:t>
            </a:r>
            <a:r>
              <a:rPr lang="zh-CN" altLang="en-US" sz="5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自学</a:t>
            </a:r>
            <a:r>
              <a:rPr lang="zh-CN" altLang="en-US" sz="4800" dirty="0" smtClean="0">
                <a:solidFill>
                  <a:srgbClr val="DDC04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开始做起</a:t>
            </a:r>
            <a:endParaRPr lang="zh-CN" altLang="en-US" sz="4800" dirty="0">
              <a:solidFill>
                <a:srgbClr val="DDC04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4226801" y="4982113"/>
            <a:ext cx="7674467" cy="0"/>
          </a:xfrm>
          <a:prstGeom prst="line">
            <a:avLst/>
          </a:prstGeom>
          <a:ln>
            <a:solidFill>
              <a:srgbClr val="DDC04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19361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 rot="2831524">
            <a:off x="3804413" y="3846869"/>
            <a:ext cx="351692" cy="196948"/>
          </a:xfrm>
          <a:prstGeom prst="rect">
            <a:avLst/>
          </a:prstGeom>
          <a:solidFill>
            <a:srgbClr val="E7141A"/>
          </a:solidFill>
          <a:ln>
            <a:solidFill>
              <a:srgbClr val="E7141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1041012" y="1561514"/>
            <a:ext cx="2250830" cy="3249637"/>
          </a:xfrm>
          <a:prstGeom prst="rect">
            <a:avLst/>
          </a:prstGeom>
          <a:solidFill>
            <a:srgbClr val="DDC047"/>
          </a:solidFill>
          <a:ln>
            <a:solidFill>
              <a:srgbClr val="DDC0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" name="直接连接符 4"/>
          <p:cNvCxnSpPr/>
          <p:nvPr/>
        </p:nvCxnSpPr>
        <p:spPr>
          <a:xfrm>
            <a:off x="1167619" y="2011680"/>
            <a:ext cx="2011680" cy="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/>
        </p:nvCxnSpPr>
        <p:spPr>
          <a:xfrm>
            <a:off x="1308296" y="2588456"/>
            <a:ext cx="1688123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1322365" y="2883878"/>
            <a:ext cx="1688123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1308295" y="3186332"/>
            <a:ext cx="1688123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1308295" y="3509889"/>
            <a:ext cx="1688123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1308295" y="3819378"/>
            <a:ext cx="1688123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1308294" y="4100732"/>
            <a:ext cx="1688123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任意多边形 21"/>
          <p:cNvSpPr/>
          <p:nvPr/>
        </p:nvSpPr>
        <p:spPr>
          <a:xfrm rot="2831524" flipV="1">
            <a:off x="2820570" y="3696798"/>
            <a:ext cx="351692" cy="2356336"/>
          </a:xfrm>
          <a:custGeom>
            <a:avLst/>
            <a:gdLst>
              <a:gd name="connsiteX0" fmla="*/ 0 w 351692"/>
              <a:gd name="connsiteY0" fmla="*/ 2356336 h 2356336"/>
              <a:gd name="connsiteX1" fmla="*/ 351692 w 351692"/>
              <a:gd name="connsiteY1" fmla="*/ 2356336 h 2356336"/>
              <a:gd name="connsiteX2" fmla="*/ 351692 w 351692"/>
              <a:gd name="connsiteY2" fmla="*/ 309488 h 2356336"/>
              <a:gd name="connsiteX3" fmla="*/ 351692 w 351692"/>
              <a:gd name="connsiteY3" fmla="*/ 309487 h 2356336"/>
              <a:gd name="connsiteX4" fmla="*/ 351692 w 351692"/>
              <a:gd name="connsiteY4" fmla="*/ 309487 h 2356336"/>
              <a:gd name="connsiteX5" fmla="*/ 175847 w 351692"/>
              <a:gd name="connsiteY5" fmla="*/ 0 h 2356336"/>
              <a:gd name="connsiteX6" fmla="*/ 2 w 351692"/>
              <a:gd name="connsiteY6" fmla="*/ 309487 h 2356336"/>
              <a:gd name="connsiteX7" fmla="*/ 0 w 351692"/>
              <a:gd name="connsiteY7" fmla="*/ 309487 h 23563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51692" h="2356336">
                <a:moveTo>
                  <a:pt x="0" y="2356336"/>
                </a:moveTo>
                <a:lnTo>
                  <a:pt x="351692" y="2356336"/>
                </a:lnTo>
                <a:lnTo>
                  <a:pt x="351692" y="309488"/>
                </a:lnTo>
                <a:lnTo>
                  <a:pt x="351692" y="309487"/>
                </a:lnTo>
                <a:lnTo>
                  <a:pt x="351692" y="309487"/>
                </a:lnTo>
                <a:lnTo>
                  <a:pt x="175847" y="0"/>
                </a:lnTo>
                <a:lnTo>
                  <a:pt x="2" y="309487"/>
                </a:lnTo>
                <a:lnTo>
                  <a:pt x="0" y="309487"/>
                </a:lnTo>
                <a:close/>
              </a:path>
            </a:pathLst>
          </a:custGeom>
          <a:solidFill>
            <a:srgbClr val="DDC047"/>
          </a:solidFill>
          <a:ln>
            <a:solidFill>
              <a:srgbClr val="DDC0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/>
          <p:cNvSpPr txBox="1"/>
          <p:nvPr/>
        </p:nvSpPr>
        <p:spPr>
          <a:xfrm>
            <a:off x="4171998" y="828991"/>
            <a:ext cx="757130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800" dirty="0" smtClean="0">
                <a:solidFill>
                  <a:srgbClr val="DDC047"/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rPr>
              <a:t>在大学里需要学习四种能力</a:t>
            </a:r>
            <a:endParaRPr lang="zh-CN" altLang="en-US" sz="4800" dirty="0">
              <a:solidFill>
                <a:srgbClr val="DDC047"/>
              </a:solidFill>
              <a:latin typeface="华康俪金黑W8" panose="020B0809000000000000" pitchFamily="49" charset="-122"/>
              <a:ea typeface="华康俪金黑W8" panose="020B0809000000000000" pitchFamily="49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4881489" y="2752766"/>
            <a:ext cx="223651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快速学习</a:t>
            </a:r>
            <a:endParaRPr lang="zh-CN" altLang="en-US" sz="4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8215532" y="2752766"/>
            <a:ext cx="223651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连续思考</a:t>
            </a:r>
          </a:p>
        </p:txBody>
      </p:sp>
      <p:sp>
        <p:nvSpPr>
          <p:cNvPr id="26" name="文本框 25"/>
          <p:cNvSpPr txBox="1"/>
          <p:nvPr/>
        </p:nvSpPr>
        <p:spPr>
          <a:xfrm>
            <a:off x="4881489" y="4553430"/>
            <a:ext cx="223651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学会提问</a:t>
            </a:r>
          </a:p>
        </p:txBody>
      </p:sp>
      <p:sp>
        <p:nvSpPr>
          <p:cNvPr id="27" name="文本框 26"/>
          <p:cNvSpPr txBox="1"/>
          <p:nvPr/>
        </p:nvSpPr>
        <p:spPr>
          <a:xfrm>
            <a:off x="8215532" y="4553430"/>
            <a:ext cx="223651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多维角度</a:t>
            </a:r>
          </a:p>
        </p:txBody>
      </p:sp>
      <p:cxnSp>
        <p:nvCxnSpPr>
          <p:cNvPr id="29" name="直接连接符 28"/>
          <p:cNvCxnSpPr/>
          <p:nvPr/>
        </p:nvCxnSpPr>
        <p:spPr>
          <a:xfrm>
            <a:off x="4881489" y="3945343"/>
            <a:ext cx="5781821" cy="0"/>
          </a:xfrm>
          <a:prstGeom prst="line">
            <a:avLst/>
          </a:prstGeom>
          <a:ln>
            <a:solidFill>
              <a:srgbClr val="DDC04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/>
          <p:cNvCxnSpPr/>
          <p:nvPr/>
        </p:nvCxnSpPr>
        <p:spPr>
          <a:xfrm>
            <a:off x="7659858" y="2489982"/>
            <a:ext cx="0" cy="3038621"/>
          </a:xfrm>
          <a:prstGeom prst="line">
            <a:avLst/>
          </a:prstGeom>
          <a:ln>
            <a:solidFill>
              <a:srgbClr val="DDC04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69341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任意多边形 5"/>
          <p:cNvSpPr/>
          <p:nvPr/>
        </p:nvSpPr>
        <p:spPr>
          <a:xfrm flipV="1">
            <a:off x="4428979" y="942536"/>
            <a:ext cx="3334042" cy="2743201"/>
          </a:xfrm>
          <a:custGeom>
            <a:avLst/>
            <a:gdLst>
              <a:gd name="connsiteX0" fmla="*/ 356389 w 3629465"/>
              <a:gd name="connsiteY0" fmla="*/ 2897945 h 2897945"/>
              <a:gd name="connsiteX1" fmla="*/ 3273076 w 3629465"/>
              <a:gd name="connsiteY1" fmla="*/ 2897945 h 2897945"/>
              <a:gd name="connsiteX2" fmla="*/ 3629465 w 3629465"/>
              <a:gd name="connsiteY2" fmla="*/ 2541556 h 2897945"/>
              <a:gd name="connsiteX3" fmla="*/ 3629465 w 3629465"/>
              <a:gd name="connsiteY3" fmla="*/ 1116045 h 2897945"/>
              <a:gd name="connsiteX4" fmla="*/ 3273076 w 3629465"/>
              <a:gd name="connsiteY4" fmla="*/ 759656 h 2897945"/>
              <a:gd name="connsiteX5" fmla="*/ 1071704 w 3629465"/>
              <a:gd name="connsiteY5" fmla="*/ 759656 h 2897945"/>
              <a:gd name="connsiteX6" fmla="*/ 450167 w 3629465"/>
              <a:gd name="connsiteY6" fmla="*/ 0 h 2897945"/>
              <a:gd name="connsiteX7" fmla="*/ 450167 w 3629465"/>
              <a:gd name="connsiteY7" fmla="*/ 759656 h 2897945"/>
              <a:gd name="connsiteX8" fmla="*/ 356389 w 3629465"/>
              <a:gd name="connsiteY8" fmla="*/ 759656 h 2897945"/>
              <a:gd name="connsiteX9" fmla="*/ 0 w 3629465"/>
              <a:gd name="connsiteY9" fmla="*/ 1116045 h 2897945"/>
              <a:gd name="connsiteX10" fmla="*/ 0 w 3629465"/>
              <a:gd name="connsiteY10" fmla="*/ 2541556 h 2897945"/>
              <a:gd name="connsiteX11" fmla="*/ 356389 w 3629465"/>
              <a:gd name="connsiteY11" fmla="*/ 2897945 h 28979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629465" h="2897945">
                <a:moveTo>
                  <a:pt x="356389" y="2897945"/>
                </a:moveTo>
                <a:lnTo>
                  <a:pt x="3273076" y="2897945"/>
                </a:lnTo>
                <a:cubicBezTo>
                  <a:pt x="3469904" y="2897945"/>
                  <a:pt x="3629465" y="2738384"/>
                  <a:pt x="3629465" y="2541556"/>
                </a:cubicBezTo>
                <a:lnTo>
                  <a:pt x="3629465" y="1116045"/>
                </a:lnTo>
                <a:cubicBezTo>
                  <a:pt x="3629465" y="919217"/>
                  <a:pt x="3469904" y="759656"/>
                  <a:pt x="3273076" y="759656"/>
                </a:cubicBezTo>
                <a:lnTo>
                  <a:pt x="1071704" y="759656"/>
                </a:lnTo>
                <a:lnTo>
                  <a:pt x="450167" y="0"/>
                </a:lnTo>
                <a:lnTo>
                  <a:pt x="450167" y="759656"/>
                </a:lnTo>
                <a:lnTo>
                  <a:pt x="356389" y="759656"/>
                </a:lnTo>
                <a:cubicBezTo>
                  <a:pt x="159561" y="759656"/>
                  <a:pt x="0" y="919217"/>
                  <a:pt x="0" y="1116045"/>
                </a:cubicBezTo>
                <a:lnTo>
                  <a:pt x="0" y="2541556"/>
                </a:lnTo>
                <a:cubicBezTo>
                  <a:pt x="0" y="2738384"/>
                  <a:pt x="159561" y="2897945"/>
                  <a:pt x="356389" y="2897945"/>
                </a:cubicBezTo>
                <a:close/>
              </a:path>
            </a:pathLst>
          </a:custGeom>
          <a:solidFill>
            <a:srgbClr val="DDC047"/>
          </a:solidFill>
          <a:ln>
            <a:solidFill>
              <a:srgbClr val="DDC0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0" y="1336431"/>
            <a:ext cx="121920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000" dirty="0" smtClean="0">
                <a:solidFill>
                  <a:schemeClr val="bg1"/>
                </a:solidFill>
                <a:latin typeface="Elephant" panose="02020904090505020303" pitchFamily="18" charset="0"/>
                <a:ea typeface="微软雅黑" panose="020B0503020204020204" pitchFamily="34" charset="-122"/>
              </a:rPr>
              <a:t>03</a:t>
            </a:r>
            <a:endParaRPr lang="zh-CN" altLang="en-US" sz="8000" dirty="0">
              <a:solidFill>
                <a:schemeClr val="bg1"/>
              </a:solidFill>
              <a:latin typeface="Elephant" panose="02020904090505020303" pitchFamily="18" charset="0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0" y="3854548"/>
            <a:ext cx="12192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7200" dirty="0">
                <a:latin typeface="华康俪金黑W8" panose="020B0809000000000000" pitchFamily="49" charset="-122"/>
                <a:ea typeface="华康俪金黑W8" panose="020B0809000000000000" pitchFamily="49" charset="-122"/>
              </a:rPr>
              <a:t>社团</a:t>
            </a:r>
            <a:r>
              <a:rPr lang="zh-CN" altLang="en-US" sz="7200" dirty="0" smtClean="0">
                <a:latin typeface="华康俪金黑W8" panose="020B0809000000000000" pitchFamily="49" charset="-122"/>
                <a:ea typeface="华康俪金黑W8" panose="020B0809000000000000" pitchFamily="49" charset="-122"/>
              </a:rPr>
              <a:t> </a:t>
            </a:r>
            <a:r>
              <a:rPr lang="zh-CN" altLang="en-US" sz="7200" dirty="0" smtClean="0">
                <a:solidFill>
                  <a:srgbClr val="DDC047"/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rPr>
              <a:t>与 </a:t>
            </a:r>
            <a:r>
              <a:rPr lang="zh-CN" altLang="en-US" sz="7200" dirty="0">
                <a:latin typeface="华康俪金黑W8" panose="020B0809000000000000" pitchFamily="49" charset="-122"/>
                <a:ea typeface="华康俪金黑W8" panose="020B0809000000000000" pitchFamily="49" charset="-122"/>
              </a:rPr>
              <a:t>实践</a:t>
            </a:r>
          </a:p>
        </p:txBody>
      </p:sp>
    </p:spTree>
    <p:extLst>
      <p:ext uri="{BB962C8B-B14F-4D97-AF65-F5344CB8AC3E}">
        <p14:creationId xmlns:p14="http://schemas.microsoft.com/office/powerpoint/2010/main" val="39725418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流程图: 联系 1"/>
          <p:cNvSpPr/>
          <p:nvPr/>
        </p:nvSpPr>
        <p:spPr>
          <a:xfrm>
            <a:off x="1928476" y="1519798"/>
            <a:ext cx="528034" cy="540913"/>
          </a:xfrm>
          <a:prstGeom prst="flowChartConnector">
            <a:avLst/>
          </a:prstGeom>
          <a:solidFill>
            <a:srgbClr val="DDC047"/>
          </a:solidFill>
          <a:ln>
            <a:solidFill>
              <a:srgbClr val="DDC0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圆角矩形 9"/>
          <p:cNvSpPr/>
          <p:nvPr/>
        </p:nvSpPr>
        <p:spPr>
          <a:xfrm>
            <a:off x="1831885" y="2253805"/>
            <a:ext cx="721216" cy="1416675"/>
          </a:xfrm>
          <a:prstGeom prst="roundRect">
            <a:avLst/>
          </a:prstGeom>
          <a:solidFill>
            <a:srgbClr val="DDC047"/>
          </a:solidFill>
          <a:ln>
            <a:solidFill>
              <a:srgbClr val="DDC0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圆角矩形 10"/>
          <p:cNvSpPr/>
          <p:nvPr/>
        </p:nvSpPr>
        <p:spPr>
          <a:xfrm rot="20559566" flipH="1">
            <a:off x="2609422" y="2346111"/>
            <a:ext cx="125650" cy="1232058"/>
          </a:xfrm>
          <a:prstGeom prst="roundRect">
            <a:avLst/>
          </a:prstGeom>
          <a:solidFill>
            <a:srgbClr val="DDC047"/>
          </a:solidFill>
          <a:ln>
            <a:solidFill>
              <a:srgbClr val="DDC0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2718068" y="3716696"/>
            <a:ext cx="270456" cy="1068945"/>
          </a:xfrm>
          <a:prstGeom prst="rect">
            <a:avLst/>
          </a:prstGeom>
          <a:solidFill>
            <a:srgbClr val="DDC047"/>
          </a:solidFill>
          <a:ln>
            <a:solidFill>
              <a:srgbClr val="DDC0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 flipH="1">
            <a:off x="2830436" y="3419032"/>
            <a:ext cx="45719" cy="360699"/>
          </a:xfrm>
          <a:prstGeom prst="rect">
            <a:avLst/>
          </a:prstGeom>
          <a:solidFill>
            <a:srgbClr val="DDC047"/>
          </a:solidFill>
          <a:ln>
            <a:solidFill>
              <a:srgbClr val="DDC0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圆角矩形 17"/>
          <p:cNvSpPr/>
          <p:nvPr/>
        </p:nvSpPr>
        <p:spPr>
          <a:xfrm>
            <a:off x="1930717" y="3568898"/>
            <a:ext cx="135228" cy="1468101"/>
          </a:xfrm>
          <a:prstGeom prst="roundRect">
            <a:avLst/>
          </a:prstGeom>
          <a:solidFill>
            <a:srgbClr val="DDC047"/>
          </a:solidFill>
          <a:ln>
            <a:solidFill>
              <a:srgbClr val="DDC0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圆角矩形 18"/>
          <p:cNvSpPr/>
          <p:nvPr/>
        </p:nvSpPr>
        <p:spPr>
          <a:xfrm>
            <a:off x="2338142" y="3568898"/>
            <a:ext cx="135228" cy="1468101"/>
          </a:xfrm>
          <a:prstGeom prst="roundRect">
            <a:avLst/>
          </a:prstGeom>
          <a:solidFill>
            <a:srgbClr val="DDC047"/>
          </a:solidFill>
          <a:ln>
            <a:solidFill>
              <a:srgbClr val="DDC0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4071697" y="1939887"/>
            <a:ext cx="264687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800" dirty="0" smtClean="0">
                <a:solidFill>
                  <a:srgbClr val="DDC047"/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rPr>
              <a:t>工作经历</a:t>
            </a:r>
            <a:endParaRPr lang="zh-CN" altLang="en-US" sz="4800" dirty="0">
              <a:solidFill>
                <a:srgbClr val="DDC047"/>
              </a:solidFill>
              <a:latin typeface="华康俪金黑W8" panose="020B0809000000000000" pitchFamily="49" charset="-122"/>
              <a:ea typeface="华康俪金黑W8" panose="020B0809000000000000" pitchFamily="49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8937938" y="1941813"/>
            <a:ext cx="264687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800" dirty="0" smtClean="0">
                <a:solidFill>
                  <a:srgbClr val="DDC047"/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rPr>
              <a:t>工作经验</a:t>
            </a:r>
            <a:endParaRPr lang="zh-CN" altLang="en-US" sz="4800" dirty="0">
              <a:solidFill>
                <a:srgbClr val="DDC047"/>
              </a:solidFill>
              <a:latin typeface="华康俪金黑W8" panose="020B0809000000000000" pitchFamily="49" charset="-122"/>
              <a:ea typeface="华康俪金黑W8" panose="020B0809000000000000" pitchFamily="49" charset="-122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7139236" y="2176623"/>
            <a:ext cx="1378040" cy="102940"/>
          </a:xfrm>
          <a:prstGeom prst="rect">
            <a:avLst/>
          </a:prstGeom>
          <a:solidFill>
            <a:srgbClr val="DDC047"/>
          </a:solidFill>
          <a:ln>
            <a:solidFill>
              <a:srgbClr val="DDC0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DDC047"/>
              </a:solidFill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7139236" y="2524353"/>
            <a:ext cx="1378040" cy="102940"/>
          </a:xfrm>
          <a:prstGeom prst="rect">
            <a:avLst/>
          </a:prstGeom>
          <a:solidFill>
            <a:srgbClr val="DDC047"/>
          </a:solidFill>
          <a:ln>
            <a:solidFill>
              <a:srgbClr val="DDC0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DDC047"/>
              </a:solidFill>
            </a:endParaRPr>
          </a:p>
        </p:txBody>
      </p:sp>
      <p:sp>
        <p:nvSpPr>
          <p:cNvPr id="24" name="矩形 23"/>
          <p:cNvSpPr/>
          <p:nvPr/>
        </p:nvSpPr>
        <p:spPr>
          <a:xfrm rot="18416786">
            <a:off x="7140918" y="2354831"/>
            <a:ext cx="1378040" cy="102940"/>
          </a:xfrm>
          <a:prstGeom prst="rect">
            <a:avLst/>
          </a:prstGeom>
          <a:solidFill>
            <a:srgbClr val="DDC047"/>
          </a:solidFill>
          <a:ln>
            <a:solidFill>
              <a:srgbClr val="DDC0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DDC047"/>
              </a:solidFill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5081405" y="3773733"/>
            <a:ext cx="55194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只有认真总结自己的工作经历</a:t>
            </a:r>
            <a:endParaRPr lang="en-US" altLang="zh-CN" sz="32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5491774" y="4452224"/>
            <a:ext cx="46987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才能获得真正的工作经验</a:t>
            </a:r>
          </a:p>
        </p:txBody>
      </p:sp>
      <p:sp>
        <p:nvSpPr>
          <p:cNvPr id="27" name="圆角矩形 26"/>
          <p:cNvSpPr/>
          <p:nvPr/>
        </p:nvSpPr>
        <p:spPr>
          <a:xfrm rot="11820000" flipH="1">
            <a:off x="1649579" y="2346835"/>
            <a:ext cx="125650" cy="1232058"/>
          </a:xfrm>
          <a:prstGeom prst="roundRect">
            <a:avLst/>
          </a:prstGeom>
          <a:solidFill>
            <a:srgbClr val="DDC047"/>
          </a:solidFill>
          <a:ln>
            <a:solidFill>
              <a:srgbClr val="DDC0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16665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任意多边形 8"/>
          <p:cNvSpPr/>
          <p:nvPr/>
        </p:nvSpPr>
        <p:spPr>
          <a:xfrm>
            <a:off x="2678804" y="1899944"/>
            <a:ext cx="1030313" cy="1068949"/>
          </a:xfrm>
          <a:custGeom>
            <a:avLst/>
            <a:gdLst>
              <a:gd name="connsiteX0" fmla="*/ 1030281 w 1030313"/>
              <a:gd name="connsiteY0" fmla="*/ 1049952 h 1068949"/>
              <a:gd name="connsiteX1" fmla="*/ 1028519 w 1030313"/>
              <a:gd name="connsiteY1" fmla="*/ 1068949 h 1068949"/>
              <a:gd name="connsiteX2" fmla="*/ 1028402 w 1030313"/>
              <a:gd name="connsiteY2" fmla="*/ 1068949 h 1068949"/>
              <a:gd name="connsiteX3" fmla="*/ 0 w 1030313"/>
              <a:gd name="connsiteY3" fmla="*/ 0 h 1068949"/>
              <a:gd name="connsiteX4" fmla="*/ 2 w 1030313"/>
              <a:gd name="connsiteY4" fmla="*/ 0 h 1068949"/>
              <a:gd name="connsiteX5" fmla="*/ 1030313 w 1030313"/>
              <a:gd name="connsiteY5" fmla="*/ 1049629 h 1068949"/>
              <a:gd name="connsiteX6" fmla="*/ 1030281 w 1030313"/>
              <a:gd name="connsiteY6" fmla="*/ 1049952 h 1068949"/>
              <a:gd name="connsiteX7" fmla="*/ 1030311 w 1030313"/>
              <a:gd name="connsiteY7" fmla="*/ 1049629 h 1068949"/>
              <a:gd name="connsiteX8" fmla="*/ 1 w 1030313"/>
              <a:gd name="connsiteY8" fmla="*/ 1049629 h 10689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30313" h="1068949">
                <a:moveTo>
                  <a:pt x="1030281" y="1049952"/>
                </a:moveTo>
                <a:lnTo>
                  <a:pt x="1028519" y="1068949"/>
                </a:lnTo>
                <a:lnTo>
                  <a:pt x="1028402" y="1068949"/>
                </a:lnTo>
                <a:close/>
                <a:moveTo>
                  <a:pt x="0" y="0"/>
                </a:moveTo>
                <a:lnTo>
                  <a:pt x="2" y="0"/>
                </a:lnTo>
                <a:cubicBezTo>
                  <a:pt x="569027" y="0"/>
                  <a:pt x="1030313" y="469935"/>
                  <a:pt x="1030313" y="1049629"/>
                </a:cubicBezTo>
                <a:lnTo>
                  <a:pt x="1030281" y="1049952"/>
                </a:lnTo>
                <a:lnTo>
                  <a:pt x="1030311" y="1049629"/>
                </a:lnTo>
                <a:lnTo>
                  <a:pt x="1" y="1049629"/>
                </a:lnTo>
                <a:close/>
              </a:path>
            </a:pathLst>
          </a:custGeom>
          <a:solidFill>
            <a:srgbClr val="DDC047"/>
          </a:solidFill>
          <a:ln>
            <a:solidFill>
              <a:srgbClr val="DDC0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饼形 9"/>
          <p:cNvSpPr/>
          <p:nvPr/>
        </p:nvSpPr>
        <p:spPr>
          <a:xfrm>
            <a:off x="1152655" y="2312068"/>
            <a:ext cx="2157216" cy="2240927"/>
          </a:xfrm>
          <a:prstGeom prst="pie">
            <a:avLst/>
          </a:prstGeom>
          <a:solidFill>
            <a:srgbClr val="DDC047"/>
          </a:solidFill>
          <a:ln>
            <a:solidFill>
              <a:srgbClr val="DDC0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078828" y="1068947"/>
            <a:ext cx="326243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800" dirty="0" smtClean="0">
                <a:solidFill>
                  <a:srgbClr val="DDC047"/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rPr>
              <a:t>碎片化时间</a:t>
            </a:r>
            <a:endParaRPr lang="zh-CN" altLang="en-US" sz="4800" dirty="0">
              <a:solidFill>
                <a:srgbClr val="DDC047"/>
              </a:solidFill>
              <a:latin typeface="华康俪金黑W8" panose="020B0809000000000000" pitchFamily="49" charset="-122"/>
              <a:ea typeface="华康俪金黑W8" panose="020B0809000000000000" pitchFamily="49" charset="-122"/>
            </a:endParaRPr>
          </a:p>
        </p:txBody>
      </p:sp>
      <p:cxnSp>
        <p:nvCxnSpPr>
          <p:cNvPr id="13" name="直接连接符 12"/>
          <p:cNvCxnSpPr/>
          <p:nvPr/>
        </p:nvCxnSpPr>
        <p:spPr>
          <a:xfrm>
            <a:off x="4584879" y="2312068"/>
            <a:ext cx="6611957" cy="0"/>
          </a:xfrm>
          <a:prstGeom prst="line">
            <a:avLst/>
          </a:prstGeom>
          <a:ln>
            <a:solidFill>
              <a:srgbClr val="DDC04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/>
          <p:cNvSpPr txBox="1"/>
          <p:nvPr/>
        </p:nvSpPr>
        <p:spPr>
          <a:xfrm>
            <a:off x="4856639" y="3001403"/>
            <a:ext cx="592982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利用碎片化时间完成大块的工作</a:t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4446270" y="3855237"/>
            <a:ext cx="675056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学会</a:t>
            </a:r>
            <a:r>
              <a:rPr lang="zh-CN" altLang="en-US" sz="3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给单位碎片时间寻求多元化用途</a:t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259139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任意多边形 5"/>
          <p:cNvSpPr/>
          <p:nvPr/>
        </p:nvSpPr>
        <p:spPr>
          <a:xfrm flipV="1">
            <a:off x="4428979" y="942536"/>
            <a:ext cx="3334042" cy="2743201"/>
          </a:xfrm>
          <a:custGeom>
            <a:avLst/>
            <a:gdLst>
              <a:gd name="connsiteX0" fmla="*/ 356389 w 3629465"/>
              <a:gd name="connsiteY0" fmla="*/ 2897945 h 2897945"/>
              <a:gd name="connsiteX1" fmla="*/ 3273076 w 3629465"/>
              <a:gd name="connsiteY1" fmla="*/ 2897945 h 2897945"/>
              <a:gd name="connsiteX2" fmla="*/ 3629465 w 3629465"/>
              <a:gd name="connsiteY2" fmla="*/ 2541556 h 2897945"/>
              <a:gd name="connsiteX3" fmla="*/ 3629465 w 3629465"/>
              <a:gd name="connsiteY3" fmla="*/ 1116045 h 2897945"/>
              <a:gd name="connsiteX4" fmla="*/ 3273076 w 3629465"/>
              <a:gd name="connsiteY4" fmla="*/ 759656 h 2897945"/>
              <a:gd name="connsiteX5" fmla="*/ 1071704 w 3629465"/>
              <a:gd name="connsiteY5" fmla="*/ 759656 h 2897945"/>
              <a:gd name="connsiteX6" fmla="*/ 450167 w 3629465"/>
              <a:gd name="connsiteY6" fmla="*/ 0 h 2897945"/>
              <a:gd name="connsiteX7" fmla="*/ 450167 w 3629465"/>
              <a:gd name="connsiteY7" fmla="*/ 759656 h 2897945"/>
              <a:gd name="connsiteX8" fmla="*/ 356389 w 3629465"/>
              <a:gd name="connsiteY8" fmla="*/ 759656 h 2897945"/>
              <a:gd name="connsiteX9" fmla="*/ 0 w 3629465"/>
              <a:gd name="connsiteY9" fmla="*/ 1116045 h 2897945"/>
              <a:gd name="connsiteX10" fmla="*/ 0 w 3629465"/>
              <a:gd name="connsiteY10" fmla="*/ 2541556 h 2897945"/>
              <a:gd name="connsiteX11" fmla="*/ 356389 w 3629465"/>
              <a:gd name="connsiteY11" fmla="*/ 2897945 h 28979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629465" h="2897945">
                <a:moveTo>
                  <a:pt x="356389" y="2897945"/>
                </a:moveTo>
                <a:lnTo>
                  <a:pt x="3273076" y="2897945"/>
                </a:lnTo>
                <a:cubicBezTo>
                  <a:pt x="3469904" y="2897945"/>
                  <a:pt x="3629465" y="2738384"/>
                  <a:pt x="3629465" y="2541556"/>
                </a:cubicBezTo>
                <a:lnTo>
                  <a:pt x="3629465" y="1116045"/>
                </a:lnTo>
                <a:cubicBezTo>
                  <a:pt x="3629465" y="919217"/>
                  <a:pt x="3469904" y="759656"/>
                  <a:pt x="3273076" y="759656"/>
                </a:cubicBezTo>
                <a:lnTo>
                  <a:pt x="1071704" y="759656"/>
                </a:lnTo>
                <a:lnTo>
                  <a:pt x="450167" y="0"/>
                </a:lnTo>
                <a:lnTo>
                  <a:pt x="450167" y="759656"/>
                </a:lnTo>
                <a:lnTo>
                  <a:pt x="356389" y="759656"/>
                </a:lnTo>
                <a:cubicBezTo>
                  <a:pt x="159561" y="759656"/>
                  <a:pt x="0" y="919217"/>
                  <a:pt x="0" y="1116045"/>
                </a:cubicBezTo>
                <a:lnTo>
                  <a:pt x="0" y="2541556"/>
                </a:lnTo>
                <a:cubicBezTo>
                  <a:pt x="0" y="2738384"/>
                  <a:pt x="159561" y="2897945"/>
                  <a:pt x="356389" y="2897945"/>
                </a:cubicBezTo>
                <a:close/>
              </a:path>
            </a:pathLst>
          </a:custGeom>
          <a:solidFill>
            <a:srgbClr val="DDC047"/>
          </a:solidFill>
          <a:ln>
            <a:solidFill>
              <a:srgbClr val="DDC0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0" y="1336431"/>
            <a:ext cx="121920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000" dirty="0" smtClean="0">
                <a:solidFill>
                  <a:schemeClr val="bg1"/>
                </a:solidFill>
                <a:latin typeface="Elephant" panose="02020904090505020303" pitchFamily="18" charset="0"/>
                <a:ea typeface="微软雅黑" panose="020B0503020204020204" pitchFamily="34" charset="-122"/>
              </a:rPr>
              <a:t>04</a:t>
            </a:r>
            <a:endParaRPr lang="zh-CN" altLang="en-US" sz="8000" dirty="0">
              <a:solidFill>
                <a:schemeClr val="bg1"/>
              </a:solidFill>
              <a:latin typeface="Elephant" panose="02020904090505020303" pitchFamily="18" charset="0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0" y="3854548"/>
            <a:ext cx="12192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7200" dirty="0">
                <a:latin typeface="华康俪金黑W8" panose="020B0809000000000000" pitchFamily="49" charset="-122"/>
                <a:ea typeface="华康俪金黑W8" panose="020B0809000000000000" pitchFamily="49" charset="-122"/>
              </a:rPr>
              <a:t>友情</a:t>
            </a:r>
            <a:r>
              <a:rPr lang="zh-CN" altLang="en-US" sz="7200" dirty="0" smtClean="0">
                <a:latin typeface="华康俪金黑W8" panose="020B0809000000000000" pitchFamily="49" charset="-122"/>
                <a:ea typeface="华康俪金黑W8" panose="020B0809000000000000" pitchFamily="49" charset="-122"/>
              </a:rPr>
              <a:t> </a:t>
            </a:r>
            <a:r>
              <a:rPr lang="zh-CN" altLang="en-US" sz="7200" dirty="0" smtClean="0">
                <a:solidFill>
                  <a:srgbClr val="DDC047"/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rPr>
              <a:t>与 </a:t>
            </a:r>
            <a:r>
              <a:rPr lang="zh-CN" altLang="en-US" sz="7200" dirty="0">
                <a:latin typeface="华康俪金黑W8" panose="020B0809000000000000" pitchFamily="49" charset="-122"/>
                <a:ea typeface="华康俪金黑W8" panose="020B0809000000000000" pitchFamily="49" charset="-122"/>
              </a:rPr>
              <a:t>爱情</a:t>
            </a:r>
          </a:p>
        </p:txBody>
      </p:sp>
    </p:spTree>
    <p:extLst>
      <p:ext uri="{BB962C8B-B14F-4D97-AF65-F5344CB8AC3E}">
        <p14:creationId xmlns:p14="http://schemas.microsoft.com/office/powerpoint/2010/main" val="32087410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心形 1"/>
          <p:cNvSpPr/>
          <p:nvPr/>
        </p:nvSpPr>
        <p:spPr>
          <a:xfrm>
            <a:off x="933718" y="3013655"/>
            <a:ext cx="2434107" cy="2326403"/>
          </a:xfrm>
          <a:prstGeom prst="heart">
            <a:avLst/>
          </a:prstGeom>
          <a:solidFill>
            <a:srgbClr val="DDC047"/>
          </a:solidFill>
          <a:ln>
            <a:solidFill>
              <a:srgbClr val="DDC0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心形 2"/>
          <p:cNvSpPr/>
          <p:nvPr/>
        </p:nvSpPr>
        <p:spPr>
          <a:xfrm>
            <a:off x="3367825" y="1819681"/>
            <a:ext cx="1249251" cy="1193974"/>
          </a:xfrm>
          <a:prstGeom prst="heart">
            <a:avLst/>
          </a:prstGeom>
          <a:solidFill>
            <a:srgbClr val="DDC047"/>
          </a:solidFill>
          <a:ln>
            <a:solidFill>
              <a:srgbClr val="DDC0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心形 3"/>
          <p:cNvSpPr/>
          <p:nvPr/>
        </p:nvSpPr>
        <p:spPr>
          <a:xfrm>
            <a:off x="4617076" y="1216538"/>
            <a:ext cx="631066" cy="603143"/>
          </a:xfrm>
          <a:prstGeom prst="heart">
            <a:avLst/>
          </a:prstGeom>
          <a:solidFill>
            <a:srgbClr val="DDC047"/>
          </a:solidFill>
          <a:ln>
            <a:solidFill>
              <a:srgbClr val="DDC0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5995116" y="1358016"/>
            <a:ext cx="403187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800" dirty="0">
                <a:solidFill>
                  <a:srgbClr val="DDC047"/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rPr>
              <a:t>大学里</a:t>
            </a:r>
            <a:r>
              <a:rPr lang="zh-CN" altLang="en-US" sz="4800" dirty="0" smtClean="0">
                <a:solidFill>
                  <a:srgbClr val="DDC047"/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rPr>
              <a:t>的</a:t>
            </a:r>
            <a:r>
              <a:rPr lang="zh-CN" altLang="en-US" sz="5400" dirty="0" smtClean="0">
                <a:latin typeface="华康俪金黑W8" panose="020B0809000000000000" pitchFamily="49" charset="-122"/>
                <a:ea typeface="华康俪金黑W8" panose="020B0809000000000000" pitchFamily="49" charset="-122"/>
              </a:rPr>
              <a:t>爱情</a:t>
            </a:r>
            <a:endParaRPr lang="zh-CN" altLang="en-US" sz="5400" dirty="0">
              <a:latin typeface="华康俪金黑W8" panose="020B0809000000000000" pitchFamily="49" charset="-122"/>
              <a:ea typeface="华康俪金黑W8" panose="020B0809000000000000" pitchFamily="49" charset="-122"/>
            </a:endParaRPr>
          </a:p>
        </p:txBody>
      </p:sp>
      <p:cxnSp>
        <p:nvCxnSpPr>
          <p:cNvPr id="7" name="直接连接符 6"/>
          <p:cNvCxnSpPr/>
          <p:nvPr/>
        </p:nvCxnSpPr>
        <p:spPr>
          <a:xfrm flipV="1">
            <a:off x="5467473" y="2535824"/>
            <a:ext cx="5350780" cy="14194"/>
          </a:xfrm>
          <a:prstGeom prst="line">
            <a:avLst/>
          </a:prstGeom>
          <a:ln>
            <a:solidFill>
              <a:srgbClr val="DDC04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6139016" y="3101778"/>
            <a:ext cx="357020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不可</a:t>
            </a:r>
            <a:r>
              <a:rPr lang="zh-CN" altLang="en-US" sz="4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en-US" sz="4800" b="1" dirty="0" smtClean="0">
                <a:solidFill>
                  <a:srgbClr val="E714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强</a:t>
            </a:r>
            <a:r>
              <a:rPr lang="zh-CN" altLang="en-US" sz="4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sz="4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求</a:t>
            </a:r>
            <a:endParaRPr lang="zh-CN" altLang="en-US" sz="4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139016" y="4249995"/>
            <a:ext cx="357020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一切随</a:t>
            </a:r>
            <a:r>
              <a:rPr lang="zh-CN" altLang="en-US" sz="4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en-US" sz="4800" b="1" dirty="0" smtClean="0">
                <a:solidFill>
                  <a:srgbClr val="E714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缘</a:t>
            </a:r>
            <a:r>
              <a:rPr lang="zh-CN" altLang="en-US" sz="4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endParaRPr lang="zh-CN" altLang="en-US" sz="4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5821251" y="3013655"/>
            <a:ext cx="0" cy="2215168"/>
          </a:xfrm>
          <a:prstGeom prst="line">
            <a:avLst/>
          </a:prstGeom>
          <a:ln>
            <a:solidFill>
              <a:srgbClr val="DDC04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>
            <a:off x="10026989" y="3013655"/>
            <a:ext cx="0" cy="2215168"/>
          </a:xfrm>
          <a:prstGeom prst="line">
            <a:avLst/>
          </a:prstGeom>
          <a:ln>
            <a:solidFill>
              <a:srgbClr val="DDC04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/>
        </p:nvCxnSpPr>
        <p:spPr>
          <a:xfrm flipV="1">
            <a:off x="5467473" y="5780583"/>
            <a:ext cx="5350780" cy="14194"/>
          </a:xfrm>
          <a:prstGeom prst="line">
            <a:avLst/>
          </a:prstGeom>
          <a:ln>
            <a:solidFill>
              <a:srgbClr val="DDC04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92226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文本框 15"/>
          <p:cNvSpPr txBox="1"/>
          <p:nvPr/>
        </p:nvSpPr>
        <p:spPr>
          <a:xfrm>
            <a:off x="5072378" y="421585"/>
            <a:ext cx="603242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800" dirty="0" smtClean="0">
                <a:solidFill>
                  <a:srgbClr val="DDC047"/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rPr>
              <a:t>关于</a:t>
            </a:r>
            <a:r>
              <a:rPr lang="zh-CN" altLang="en-US" sz="5400" dirty="0" smtClean="0">
                <a:latin typeface="华康俪金黑W8" panose="020B0809000000000000" pitchFamily="49" charset="-122"/>
                <a:ea typeface="华康俪金黑W8" panose="020B0809000000000000" pitchFamily="49" charset="-122"/>
              </a:rPr>
              <a:t>人脉</a:t>
            </a:r>
            <a:r>
              <a:rPr lang="zh-CN" altLang="en-US" sz="4800" dirty="0" smtClean="0">
                <a:solidFill>
                  <a:srgbClr val="DDC047"/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rPr>
              <a:t>，关于</a:t>
            </a:r>
            <a:r>
              <a:rPr lang="zh-CN" altLang="en-US" sz="5400" dirty="0" smtClean="0">
                <a:latin typeface="华康俪金黑W8" panose="020B0809000000000000" pitchFamily="49" charset="-122"/>
                <a:ea typeface="华康俪金黑W8" panose="020B0809000000000000" pitchFamily="49" charset="-122"/>
              </a:rPr>
              <a:t>待人</a:t>
            </a:r>
            <a:endParaRPr lang="zh-CN" altLang="en-US" sz="5400" dirty="0">
              <a:latin typeface="华康俪金黑W8" panose="020B0809000000000000" pitchFamily="49" charset="-122"/>
              <a:ea typeface="华康俪金黑W8" panose="020B0809000000000000" pitchFamily="49" charset="-122"/>
            </a:endParaRPr>
          </a:p>
        </p:txBody>
      </p:sp>
      <p:cxnSp>
        <p:nvCxnSpPr>
          <p:cNvPr id="19" name="直接连接符 18"/>
          <p:cNvCxnSpPr/>
          <p:nvPr/>
        </p:nvCxnSpPr>
        <p:spPr>
          <a:xfrm>
            <a:off x="4948698" y="1596979"/>
            <a:ext cx="6156101" cy="0"/>
          </a:xfrm>
          <a:prstGeom prst="line">
            <a:avLst/>
          </a:prstGeom>
          <a:ln>
            <a:solidFill>
              <a:srgbClr val="DDC04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/>
          <p:cNvSpPr txBox="1"/>
          <p:nvPr/>
        </p:nvSpPr>
        <p:spPr>
          <a:xfrm>
            <a:off x="5499278" y="2240923"/>
            <a:ext cx="38779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学会经营自己的人脉</a:t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5499278" y="2949370"/>
            <a:ext cx="46987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找到适合自己的待人之道</a:t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5499278" y="3657817"/>
            <a:ext cx="51090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真诚也许是最好的待人之道</a:t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5499278" y="4366264"/>
            <a:ext cx="51090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记住，近朱者赤，近墨者黑</a:t>
            </a:r>
            <a:endParaRPr lang="en-US" altLang="zh-CN" sz="32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483" y="1146439"/>
            <a:ext cx="3985788" cy="4430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26426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任意多边形 5"/>
          <p:cNvSpPr/>
          <p:nvPr/>
        </p:nvSpPr>
        <p:spPr>
          <a:xfrm flipV="1">
            <a:off x="4428979" y="942536"/>
            <a:ext cx="3334042" cy="2743201"/>
          </a:xfrm>
          <a:custGeom>
            <a:avLst/>
            <a:gdLst>
              <a:gd name="connsiteX0" fmla="*/ 356389 w 3629465"/>
              <a:gd name="connsiteY0" fmla="*/ 2897945 h 2897945"/>
              <a:gd name="connsiteX1" fmla="*/ 3273076 w 3629465"/>
              <a:gd name="connsiteY1" fmla="*/ 2897945 h 2897945"/>
              <a:gd name="connsiteX2" fmla="*/ 3629465 w 3629465"/>
              <a:gd name="connsiteY2" fmla="*/ 2541556 h 2897945"/>
              <a:gd name="connsiteX3" fmla="*/ 3629465 w 3629465"/>
              <a:gd name="connsiteY3" fmla="*/ 1116045 h 2897945"/>
              <a:gd name="connsiteX4" fmla="*/ 3273076 w 3629465"/>
              <a:gd name="connsiteY4" fmla="*/ 759656 h 2897945"/>
              <a:gd name="connsiteX5" fmla="*/ 1071704 w 3629465"/>
              <a:gd name="connsiteY5" fmla="*/ 759656 h 2897945"/>
              <a:gd name="connsiteX6" fmla="*/ 450167 w 3629465"/>
              <a:gd name="connsiteY6" fmla="*/ 0 h 2897945"/>
              <a:gd name="connsiteX7" fmla="*/ 450167 w 3629465"/>
              <a:gd name="connsiteY7" fmla="*/ 759656 h 2897945"/>
              <a:gd name="connsiteX8" fmla="*/ 356389 w 3629465"/>
              <a:gd name="connsiteY8" fmla="*/ 759656 h 2897945"/>
              <a:gd name="connsiteX9" fmla="*/ 0 w 3629465"/>
              <a:gd name="connsiteY9" fmla="*/ 1116045 h 2897945"/>
              <a:gd name="connsiteX10" fmla="*/ 0 w 3629465"/>
              <a:gd name="connsiteY10" fmla="*/ 2541556 h 2897945"/>
              <a:gd name="connsiteX11" fmla="*/ 356389 w 3629465"/>
              <a:gd name="connsiteY11" fmla="*/ 2897945 h 28979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629465" h="2897945">
                <a:moveTo>
                  <a:pt x="356389" y="2897945"/>
                </a:moveTo>
                <a:lnTo>
                  <a:pt x="3273076" y="2897945"/>
                </a:lnTo>
                <a:cubicBezTo>
                  <a:pt x="3469904" y="2897945"/>
                  <a:pt x="3629465" y="2738384"/>
                  <a:pt x="3629465" y="2541556"/>
                </a:cubicBezTo>
                <a:lnTo>
                  <a:pt x="3629465" y="1116045"/>
                </a:lnTo>
                <a:cubicBezTo>
                  <a:pt x="3629465" y="919217"/>
                  <a:pt x="3469904" y="759656"/>
                  <a:pt x="3273076" y="759656"/>
                </a:cubicBezTo>
                <a:lnTo>
                  <a:pt x="1071704" y="759656"/>
                </a:lnTo>
                <a:lnTo>
                  <a:pt x="450167" y="0"/>
                </a:lnTo>
                <a:lnTo>
                  <a:pt x="450167" y="759656"/>
                </a:lnTo>
                <a:lnTo>
                  <a:pt x="356389" y="759656"/>
                </a:lnTo>
                <a:cubicBezTo>
                  <a:pt x="159561" y="759656"/>
                  <a:pt x="0" y="919217"/>
                  <a:pt x="0" y="1116045"/>
                </a:cubicBezTo>
                <a:lnTo>
                  <a:pt x="0" y="2541556"/>
                </a:lnTo>
                <a:cubicBezTo>
                  <a:pt x="0" y="2738384"/>
                  <a:pt x="159561" y="2897945"/>
                  <a:pt x="356389" y="2897945"/>
                </a:cubicBezTo>
                <a:close/>
              </a:path>
            </a:pathLst>
          </a:custGeom>
          <a:solidFill>
            <a:srgbClr val="DDC047"/>
          </a:solidFill>
          <a:ln>
            <a:solidFill>
              <a:srgbClr val="DDC0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0" y="1336431"/>
            <a:ext cx="121920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000" dirty="0" smtClean="0">
                <a:solidFill>
                  <a:schemeClr val="bg1"/>
                </a:solidFill>
                <a:latin typeface="Elephant" panose="02020904090505020303" pitchFamily="18" charset="0"/>
                <a:ea typeface="微软雅黑" panose="020B0503020204020204" pitchFamily="34" charset="-122"/>
              </a:rPr>
              <a:t>05</a:t>
            </a:r>
            <a:endParaRPr lang="zh-CN" altLang="en-US" sz="8000" dirty="0">
              <a:solidFill>
                <a:schemeClr val="bg1"/>
              </a:solidFill>
              <a:latin typeface="Elephant" panose="02020904090505020303" pitchFamily="18" charset="0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0" y="3854548"/>
            <a:ext cx="12192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7200" dirty="0">
                <a:latin typeface="华康俪金黑W8" panose="020B0809000000000000" pitchFamily="49" charset="-122"/>
                <a:ea typeface="华康俪金黑W8" panose="020B0809000000000000" pitchFamily="49" charset="-122"/>
              </a:rPr>
              <a:t>考研</a:t>
            </a:r>
            <a:r>
              <a:rPr lang="zh-CN" altLang="en-US" sz="7200" dirty="0" smtClean="0">
                <a:latin typeface="华康俪金黑W8" panose="020B0809000000000000" pitchFamily="49" charset="-122"/>
                <a:ea typeface="华康俪金黑W8" panose="020B0809000000000000" pitchFamily="49" charset="-122"/>
              </a:rPr>
              <a:t> </a:t>
            </a:r>
            <a:r>
              <a:rPr lang="zh-CN" altLang="en-US" sz="7200" dirty="0" smtClean="0">
                <a:solidFill>
                  <a:srgbClr val="DDC047"/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rPr>
              <a:t>与 </a:t>
            </a:r>
            <a:r>
              <a:rPr lang="zh-CN" altLang="en-US" sz="7200" dirty="0">
                <a:latin typeface="华康俪金黑W8" panose="020B0809000000000000" pitchFamily="49" charset="-122"/>
                <a:ea typeface="华康俪金黑W8" panose="020B0809000000000000" pitchFamily="49" charset="-122"/>
              </a:rPr>
              <a:t>就业</a:t>
            </a:r>
          </a:p>
        </p:txBody>
      </p:sp>
    </p:spTree>
    <p:extLst>
      <p:ext uri="{BB962C8B-B14F-4D97-AF65-F5344CB8AC3E}">
        <p14:creationId xmlns:p14="http://schemas.microsoft.com/office/powerpoint/2010/main" val="5588836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上箭头 2"/>
          <p:cNvSpPr/>
          <p:nvPr/>
        </p:nvSpPr>
        <p:spPr>
          <a:xfrm>
            <a:off x="1749478" y="2667109"/>
            <a:ext cx="647137" cy="2419447"/>
          </a:xfrm>
          <a:prstGeom prst="upArrow">
            <a:avLst/>
          </a:prstGeom>
          <a:solidFill>
            <a:srgbClr val="DDC047"/>
          </a:solidFill>
          <a:ln>
            <a:solidFill>
              <a:srgbClr val="DDC0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1796047" y="3555352"/>
            <a:ext cx="553998" cy="707886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zh-CN" altLang="en-US" sz="2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就业</a:t>
            </a:r>
            <a:endParaRPr lang="zh-CN" altLang="en-US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5434885" y="948882"/>
            <a:ext cx="464742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800" dirty="0" smtClean="0">
                <a:solidFill>
                  <a:srgbClr val="DDC047"/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rPr>
              <a:t>这只是一个</a:t>
            </a:r>
            <a:r>
              <a:rPr lang="zh-CN" altLang="en-US" sz="5400" dirty="0" smtClean="0">
                <a:latin typeface="华康俪金黑W8" panose="020B0809000000000000" pitchFamily="49" charset="-122"/>
                <a:ea typeface="华康俪金黑W8" panose="020B0809000000000000" pitchFamily="49" charset="-122"/>
              </a:rPr>
              <a:t>选择</a:t>
            </a:r>
            <a:endParaRPr lang="zh-CN" altLang="en-US" sz="5400" dirty="0">
              <a:latin typeface="华康俪金黑W8" panose="020B0809000000000000" pitchFamily="49" charset="-122"/>
              <a:ea typeface="华康俪金黑W8" panose="020B0809000000000000" pitchFamily="49" charset="-122"/>
            </a:endParaRPr>
          </a:p>
        </p:txBody>
      </p:sp>
      <p:cxnSp>
        <p:nvCxnSpPr>
          <p:cNvPr id="19" name="直接连接符 18"/>
          <p:cNvCxnSpPr/>
          <p:nvPr/>
        </p:nvCxnSpPr>
        <p:spPr>
          <a:xfrm>
            <a:off x="4687910" y="2021983"/>
            <a:ext cx="6490952" cy="0"/>
          </a:xfrm>
          <a:prstGeom prst="line">
            <a:avLst/>
          </a:prstGeom>
          <a:ln>
            <a:solidFill>
              <a:srgbClr val="DDC04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/>
          <p:cNvSpPr txBox="1"/>
          <p:nvPr/>
        </p:nvSpPr>
        <p:spPr>
          <a:xfrm>
            <a:off x="5308006" y="2762319"/>
            <a:ext cx="51090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人生不是由一个选择决定的</a:t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4687910" y="3650562"/>
            <a:ext cx="716093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就业和考验只是通向目标的</a:t>
            </a:r>
            <a:r>
              <a:rPr lang="zh-CN" altLang="en-US" sz="3200" b="1" dirty="0" smtClean="0">
                <a:solidFill>
                  <a:srgbClr val="E714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两条路</a:t>
            </a:r>
            <a:r>
              <a:rPr lang="zh-CN" altLang="en-US" sz="3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而已</a:t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4922" y="5420011"/>
            <a:ext cx="1085182" cy="829128"/>
          </a:xfrm>
          <a:prstGeom prst="rect">
            <a:avLst/>
          </a:prstGeom>
        </p:spPr>
      </p:pic>
      <p:pic>
        <p:nvPicPr>
          <p:cNvPr id="27" name="图片 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5821" y="5420011"/>
            <a:ext cx="1085182" cy="829128"/>
          </a:xfrm>
          <a:prstGeom prst="rect">
            <a:avLst/>
          </a:prstGeom>
        </p:spPr>
      </p:pic>
      <p:pic>
        <p:nvPicPr>
          <p:cNvPr id="29" name="图片 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6720" y="5420011"/>
            <a:ext cx="1085182" cy="829128"/>
          </a:xfrm>
          <a:prstGeom prst="rect">
            <a:avLst/>
          </a:prstGeom>
        </p:spPr>
      </p:pic>
      <p:pic>
        <p:nvPicPr>
          <p:cNvPr id="30" name="图片 2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7619" y="5420011"/>
            <a:ext cx="1085182" cy="829128"/>
          </a:xfrm>
          <a:prstGeom prst="rect">
            <a:avLst/>
          </a:prstGeom>
        </p:spPr>
      </p:pic>
      <p:sp>
        <p:nvSpPr>
          <p:cNvPr id="9" name="椭圆 8"/>
          <p:cNvSpPr/>
          <p:nvPr/>
        </p:nvSpPr>
        <p:spPr>
          <a:xfrm>
            <a:off x="915161" y="1976963"/>
            <a:ext cx="887017" cy="731519"/>
          </a:xfrm>
          <a:prstGeom prst="ellipse">
            <a:avLst/>
          </a:prstGeom>
          <a:solidFill>
            <a:srgbClr val="DDC047"/>
          </a:solidFill>
          <a:ln>
            <a:solidFill>
              <a:srgbClr val="DDC0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上箭头 30"/>
          <p:cNvSpPr/>
          <p:nvPr/>
        </p:nvSpPr>
        <p:spPr>
          <a:xfrm>
            <a:off x="3112968" y="2613272"/>
            <a:ext cx="647137" cy="2473284"/>
          </a:xfrm>
          <a:prstGeom prst="upArrow">
            <a:avLst/>
          </a:prstGeom>
          <a:solidFill>
            <a:srgbClr val="DDC047"/>
          </a:solidFill>
          <a:ln>
            <a:solidFill>
              <a:srgbClr val="DDC0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文本框 31"/>
          <p:cNvSpPr txBox="1"/>
          <p:nvPr/>
        </p:nvSpPr>
        <p:spPr>
          <a:xfrm>
            <a:off x="3159537" y="3555352"/>
            <a:ext cx="553998" cy="707886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考研</a:t>
            </a:r>
          </a:p>
        </p:txBody>
      </p:sp>
      <p:sp>
        <p:nvSpPr>
          <p:cNvPr id="33" name="椭圆 32"/>
          <p:cNvSpPr/>
          <p:nvPr/>
        </p:nvSpPr>
        <p:spPr>
          <a:xfrm>
            <a:off x="1820034" y="1206979"/>
            <a:ext cx="1271420" cy="1048534"/>
          </a:xfrm>
          <a:prstGeom prst="ellipse">
            <a:avLst/>
          </a:prstGeom>
          <a:solidFill>
            <a:srgbClr val="DDC047"/>
          </a:solidFill>
          <a:ln>
            <a:solidFill>
              <a:srgbClr val="DDC0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椭圆 33"/>
          <p:cNvSpPr/>
          <p:nvPr/>
        </p:nvSpPr>
        <p:spPr>
          <a:xfrm>
            <a:off x="3109310" y="236356"/>
            <a:ext cx="1727973" cy="1425051"/>
          </a:xfrm>
          <a:prstGeom prst="ellipse">
            <a:avLst/>
          </a:prstGeom>
          <a:solidFill>
            <a:srgbClr val="DDC047"/>
          </a:solidFill>
          <a:ln>
            <a:solidFill>
              <a:srgbClr val="DDC0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1035503" y="2158056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白领</a:t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2036039" y="1469636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创业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3387619" y="257035"/>
            <a:ext cx="124585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6000" dirty="0" smtClean="0">
                <a:solidFill>
                  <a:schemeClr val="bg1"/>
                </a:solidFill>
              </a:rPr>
              <a:t>……</a:t>
            </a:r>
            <a:endParaRPr lang="zh-CN" altLang="en-US" sz="6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80175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688217" y="1159508"/>
            <a:ext cx="280076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5400" dirty="0" smtClean="0">
                <a:latin typeface="华康俪金黑W8" panose="020B0809000000000000" pitchFamily="49" charset="-122"/>
                <a:ea typeface="华康俪金黑W8" panose="020B0809000000000000" pitchFamily="49" charset="-122"/>
              </a:rPr>
              <a:t>考研</a:t>
            </a:r>
            <a:r>
              <a:rPr lang="zh-CN" altLang="en-US" sz="4800" dirty="0" smtClean="0">
                <a:solidFill>
                  <a:srgbClr val="DDC047"/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rPr>
              <a:t>误区</a:t>
            </a:r>
            <a:endParaRPr lang="zh-CN" altLang="en-US" sz="4800" dirty="0">
              <a:solidFill>
                <a:srgbClr val="DDC047"/>
              </a:solidFill>
              <a:latin typeface="华康俪金黑W8" panose="020B0809000000000000" pitchFamily="49" charset="-122"/>
              <a:ea typeface="华康俪金黑W8" panose="020B0809000000000000" pitchFamily="49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474496" y="2241333"/>
            <a:ext cx="2736647" cy="31547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9900" dirty="0" smtClean="0">
                <a:solidFill>
                  <a:srgbClr val="DDC047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？</a:t>
            </a:r>
            <a:endParaRPr lang="zh-CN" altLang="en-US" sz="19900" dirty="0">
              <a:solidFill>
                <a:srgbClr val="DDC047"/>
              </a:solidFill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134933" y="1159508"/>
            <a:ext cx="1415772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9600" dirty="0" smtClean="0">
                <a:solidFill>
                  <a:srgbClr val="DDC047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？</a:t>
            </a:r>
            <a:endParaRPr lang="zh-CN" altLang="en-US" sz="9600" dirty="0">
              <a:solidFill>
                <a:srgbClr val="DDC047"/>
              </a:solidFill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5" name="文本框 4"/>
          <p:cNvSpPr txBox="1"/>
          <p:nvPr/>
        </p:nvSpPr>
        <p:spPr>
          <a:xfrm rot="19859545">
            <a:off x="628106" y="1655155"/>
            <a:ext cx="1415772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9600" dirty="0" smtClean="0">
                <a:solidFill>
                  <a:srgbClr val="DDC047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？</a:t>
            </a:r>
            <a:endParaRPr lang="zh-CN" altLang="en-US" sz="9600" dirty="0">
              <a:solidFill>
                <a:srgbClr val="DDC047"/>
              </a:solidFill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6" name="文本框 5"/>
          <p:cNvSpPr txBox="1"/>
          <p:nvPr/>
        </p:nvSpPr>
        <p:spPr>
          <a:xfrm rot="1799568">
            <a:off x="3636008" y="1630635"/>
            <a:ext cx="1415772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9600" dirty="0" smtClean="0">
                <a:solidFill>
                  <a:srgbClr val="DDC047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？</a:t>
            </a:r>
            <a:endParaRPr lang="zh-CN" altLang="en-US" sz="9600" dirty="0">
              <a:solidFill>
                <a:srgbClr val="DDC047"/>
              </a:solidFill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5302864" y="2318196"/>
            <a:ext cx="6022730" cy="0"/>
          </a:xfrm>
          <a:prstGeom prst="line">
            <a:avLst/>
          </a:prstGeom>
          <a:ln>
            <a:solidFill>
              <a:srgbClr val="DDC04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5349315" y="2806031"/>
            <a:ext cx="592982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很多人想考研并不是想研究学问</a:t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795493" y="3468043"/>
            <a:ext cx="51090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而是担心无法立即适应社会</a:t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149607" y="4130055"/>
            <a:ext cx="42883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或者没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有</a:t>
            </a:r>
            <a:r>
              <a:rPr lang="zh-CN" altLang="en-US" sz="3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能力找到工作</a:t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458549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任意多边形 5"/>
          <p:cNvSpPr/>
          <p:nvPr/>
        </p:nvSpPr>
        <p:spPr>
          <a:xfrm flipV="1">
            <a:off x="4428979" y="942536"/>
            <a:ext cx="3334042" cy="2743201"/>
          </a:xfrm>
          <a:custGeom>
            <a:avLst/>
            <a:gdLst>
              <a:gd name="connsiteX0" fmla="*/ 356389 w 3629465"/>
              <a:gd name="connsiteY0" fmla="*/ 2897945 h 2897945"/>
              <a:gd name="connsiteX1" fmla="*/ 3273076 w 3629465"/>
              <a:gd name="connsiteY1" fmla="*/ 2897945 h 2897945"/>
              <a:gd name="connsiteX2" fmla="*/ 3629465 w 3629465"/>
              <a:gd name="connsiteY2" fmla="*/ 2541556 h 2897945"/>
              <a:gd name="connsiteX3" fmla="*/ 3629465 w 3629465"/>
              <a:gd name="connsiteY3" fmla="*/ 1116045 h 2897945"/>
              <a:gd name="connsiteX4" fmla="*/ 3273076 w 3629465"/>
              <a:gd name="connsiteY4" fmla="*/ 759656 h 2897945"/>
              <a:gd name="connsiteX5" fmla="*/ 1071704 w 3629465"/>
              <a:gd name="connsiteY5" fmla="*/ 759656 h 2897945"/>
              <a:gd name="connsiteX6" fmla="*/ 450167 w 3629465"/>
              <a:gd name="connsiteY6" fmla="*/ 0 h 2897945"/>
              <a:gd name="connsiteX7" fmla="*/ 450167 w 3629465"/>
              <a:gd name="connsiteY7" fmla="*/ 759656 h 2897945"/>
              <a:gd name="connsiteX8" fmla="*/ 356389 w 3629465"/>
              <a:gd name="connsiteY8" fmla="*/ 759656 h 2897945"/>
              <a:gd name="connsiteX9" fmla="*/ 0 w 3629465"/>
              <a:gd name="connsiteY9" fmla="*/ 1116045 h 2897945"/>
              <a:gd name="connsiteX10" fmla="*/ 0 w 3629465"/>
              <a:gd name="connsiteY10" fmla="*/ 2541556 h 2897945"/>
              <a:gd name="connsiteX11" fmla="*/ 356389 w 3629465"/>
              <a:gd name="connsiteY11" fmla="*/ 2897945 h 28979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629465" h="2897945">
                <a:moveTo>
                  <a:pt x="356389" y="2897945"/>
                </a:moveTo>
                <a:lnTo>
                  <a:pt x="3273076" y="2897945"/>
                </a:lnTo>
                <a:cubicBezTo>
                  <a:pt x="3469904" y="2897945"/>
                  <a:pt x="3629465" y="2738384"/>
                  <a:pt x="3629465" y="2541556"/>
                </a:cubicBezTo>
                <a:lnTo>
                  <a:pt x="3629465" y="1116045"/>
                </a:lnTo>
                <a:cubicBezTo>
                  <a:pt x="3629465" y="919217"/>
                  <a:pt x="3469904" y="759656"/>
                  <a:pt x="3273076" y="759656"/>
                </a:cubicBezTo>
                <a:lnTo>
                  <a:pt x="1071704" y="759656"/>
                </a:lnTo>
                <a:lnTo>
                  <a:pt x="450167" y="0"/>
                </a:lnTo>
                <a:lnTo>
                  <a:pt x="450167" y="759656"/>
                </a:lnTo>
                <a:lnTo>
                  <a:pt x="356389" y="759656"/>
                </a:lnTo>
                <a:cubicBezTo>
                  <a:pt x="159561" y="759656"/>
                  <a:pt x="0" y="919217"/>
                  <a:pt x="0" y="1116045"/>
                </a:cubicBezTo>
                <a:lnTo>
                  <a:pt x="0" y="2541556"/>
                </a:lnTo>
                <a:cubicBezTo>
                  <a:pt x="0" y="2738384"/>
                  <a:pt x="159561" y="2897945"/>
                  <a:pt x="356389" y="2897945"/>
                </a:cubicBezTo>
                <a:close/>
              </a:path>
            </a:pathLst>
          </a:custGeom>
          <a:solidFill>
            <a:srgbClr val="DDC047"/>
          </a:solidFill>
          <a:ln>
            <a:solidFill>
              <a:srgbClr val="DDC0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0" y="1336431"/>
            <a:ext cx="121920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000" dirty="0" smtClean="0">
                <a:solidFill>
                  <a:schemeClr val="bg1"/>
                </a:solidFill>
                <a:latin typeface="Elephant" panose="02020904090505020303" pitchFamily="18" charset="0"/>
                <a:ea typeface="微软雅黑" panose="020B0503020204020204" pitchFamily="34" charset="-122"/>
              </a:rPr>
              <a:t>06</a:t>
            </a:r>
            <a:endParaRPr lang="zh-CN" altLang="en-US" sz="8000" dirty="0">
              <a:solidFill>
                <a:schemeClr val="bg1"/>
              </a:solidFill>
              <a:latin typeface="Elephant" panose="02020904090505020303" pitchFamily="18" charset="0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0" y="3854548"/>
            <a:ext cx="12192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7200" dirty="0">
                <a:latin typeface="华康俪金黑W8" panose="020B0809000000000000" pitchFamily="49" charset="-122"/>
                <a:ea typeface="华康俪金黑W8" panose="020B0809000000000000" pitchFamily="49" charset="-122"/>
              </a:rPr>
              <a:t>求职</a:t>
            </a:r>
            <a:r>
              <a:rPr lang="zh-CN" altLang="en-US" sz="7200" dirty="0" smtClean="0">
                <a:latin typeface="华康俪金黑W8" panose="020B0809000000000000" pitchFamily="49" charset="-122"/>
                <a:ea typeface="华康俪金黑W8" panose="020B0809000000000000" pitchFamily="49" charset="-122"/>
              </a:rPr>
              <a:t> </a:t>
            </a:r>
            <a:r>
              <a:rPr lang="zh-CN" altLang="en-US" sz="7200" dirty="0" smtClean="0">
                <a:solidFill>
                  <a:srgbClr val="DDC047"/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rPr>
              <a:t>与 </a:t>
            </a:r>
            <a:r>
              <a:rPr lang="zh-CN" altLang="en-US" sz="7200" dirty="0">
                <a:latin typeface="华康俪金黑W8" panose="020B0809000000000000" pitchFamily="49" charset="-122"/>
                <a:ea typeface="华康俪金黑W8" panose="020B0809000000000000" pitchFamily="49" charset="-122"/>
              </a:rPr>
              <a:t>创业</a:t>
            </a:r>
          </a:p>
        </p:txBody>
      </p:sp>
    </p:spTree>
    <p:extLst>
      <p:ext uri="{BB962C8B-B14F-4D97-AF65-F5344CB8AC3E}">
        <p14:creationId xmlns:p14="http://schemas.microsoft.com/office/powerpoint/2010/main" val="37525286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/>
        </p:nvSpPr>
        <p:spPr>
          <a:xfrm>
            <a:off x="1725769" y="2884865"/>
            <a:ext cx="2240925" cy="2009104"/>
          </a:xfrm>
          <a:prstGeom prst="roundRect">
            <a:avLst/>
          </a:prstGeom>
          <a:solidFill>
            <a:srgbClr val="DDC047"/>
          </a:solidFill>
          <a:ln>
            <a:solidFill>
              <a:srgbClr val="DDC0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圆角矩形 2"/>
          <p:cNvSpPr/>
          <p:nvPr/>
        </p:nvSpPr>
        <p:spPr>
          <a:xfrm>
            <a:off x="1725769" y="1184856"/>
            <a:ext cx="476518" cy="2034862"/>
          </a:xfrm>
          <a:prstGeom prst="roundRect">
            <a:avLst/>
          </a:prstGeom>
          <a:solidFill>
            <a:srgbClr val="DDC047"/>
          </a:solidFill>
          <a:ln>
            <a:solidFill>
              <a:srgbClr val="DDC0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圆角矩形 3"/>
          <p:cNvSpPr/>
          <p:nvPr/>
        </p:nvSpPr>
        <p:spPr>
          <a:xfrm>
            <a:off x="2266681" y="2524256"/>
            <a:ext cx="373488" cy="1030311"/>
          </a:xfrm>
          <a:prstGeom prst="roundRect">
            <a:avLst/>
          </a:prstGeom>
          <a:solidFill>
            <a:srgbClr val="DDC047"/>
          </a:solidFill>
          <a:ln>
            <a:solidFill>
              <a:srgbClr val="DDC0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圆角矩形 4"/>
          <p:cNvSpPr/>
          <p:nvPr/>
        </p:nvSpPr>
        <p:spPr>
          <a:xfrm>
            <a:off x="2717442" y="2524257"/>
            <a:ext cx="373488" cy="1030311"/>
          </a:xfrm>
          <a:prstGeom prst="roundRect">
            <a:avLst/>
          </a:prstGeom>
          <a:solidFill>
            <a:srgbClr val="DDC047"/>
          </a:solidFill>
          <a:ln>
            <a:solidFill>
              <a:srgbClr val="DDC0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圆角矩形 5"/>
          <p:cNvSpPr/>
          <p:nvPr/>
        </p:nvSpPr>
        <p:spPr>
          <a:xfrm>
            <a:off x="3155324" y="2524257"/>
            <a:ext cx="373488" cy="1030311"/>
          </a:xfrm>
          <a:prstGeom prst="roundRect">
            <a:avLst/>
          </a:prstGeom>
          <a:solidFill>
            <a:srgbClr val="DDC047"/>
          </a:solidFill>
          <a:ln>
            <a:solidFill>
              <a:srgbClr val="DDC0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圆角矩形 6"/>
          <p:cNvSpPr/>
          <p:nvPr/>
        </p:nvSpPr>
        <p:spPr>
          <a:xfrm>
            <a:off x="3593206" y="2524257"/>
            <a:ext cx="373488" cy="1030311"/>
          </a:xfrm>
          <a:prstGeom prst="roundRect">
            <a:avLst/>
          </a:prstGeom>
          <a:solidFill>
            <a:srgbClr val="DDC047"/>
          </a:solidFill>
          <a:ln>
            <a:solidFill>
              <a:srgbClr val="DDC0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5447762" y="1184856"/>
            <a:ext cx="464742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800" dirty="0" smtClean="0">
                <a:solidFill>
                  <a:srgbClr val="DDC047"/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rPr>
              <a:t>在大学里先</a:t>
            </a:r>
            <a:r>
              <a:rPr lang="zh-CN" altLang="en-US" sz="5400" dirty="0" smtClean="0">
                <a:latin typeface="华康俪金黑W8" panose="020B0809000000000000" pitchFamily="49" charset="-122"/>
                <a:ea typeface="华康俪金黑W8" panose="020B0809000000000000" pitchFamily="49" charset="-122"/>
              </a:rPr>
              <a:t>下手</a:t>
            </a:r>
            <a:endParaRPr lang="zh-CN" altLang="en-US" sz="5400" dirty="0">
              <a:latin typeface="华康俪金黑W8" panose="020B0809000000000000" pitchFamily="49" charset="-122"/>
              <a:ea typeface="华康俪金黑W8" panose="020B0809000000000000" pitchFamily="49" charset="-122"/>
            </a:endParaRPr>
          </a:p>
        </p:txBody>
      </p:sp>
      <p:cxnSp>
        <p:nvCxnSpPr>
          <p:cNvPr id="10" name="直接连接符 9"/>
          <p:cNvCxnSpPr/>
          <p:nvPr/>
        </p:nvCxnSpPr>
        <p:spPr>
          <a:xfrm flipV="1">
            <a:off x="4778062" y="2328358"/>
            <a:ext cx="6750566" cy="29792"/>
          </a:xfrm>
          <a:prstGeom prst="line">
            <a:avLst/>
          </a:prstGeom>
          <a:ln>
            <a:solidFill>
              <a:srgbClr val="DDC04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/>
        </p:nvSpPr>
        <p:spPr>
          <a:xfrm>
            <a:off x="4778062" y="2969792"/>
            <a:ext cx="675056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大学里多攒经历，求职时就少费力气</a:t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4778062" y="3836501"/>
            <a:ext cx="675056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从大一就</a:t>
            </a:r>
            <a:r>
              <a:rPr lang="zh-CN" altLang="en-US" sz="3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开始准备自己的一页纸简历</a:t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142320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375042" y="965915"/>
            <a:ext cx="280076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800" dirty="0" smtClean="0">
                <a:solidFill>
                  <a:srgbClr val="DDC047"/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rPr>
              <a:t>关于</a:t>
            </a:r>
            <a:r>
              <a:rPr lang="zh-CN" altLang="en-US" sz="5400" dirty="0" smtClean="0">
                <a:latin typeface="华康俪金黑W8" panose="020B0809000000000000" pitchFamily="49" charset="-122"/>
                <a:ea typeface="华康俪金黑W8" panose="020B0809000000000000" pitchFamily="49" charset="-122"/>
              </a:rPr>
              <a:t>创业</a:t>
            </a:r>
            <a:endParaRPr lang="zh-CN" altLang="en-US" sz="5400" dirty="0">
              <a:latin typeface="华康俪金黑W8" panose="020B0809000000000000" pitchFamily="49" charset="-122"/>
              <a:ea typeface="华康俪金黑W8" panose="020B0809000000000000" pitchFamily="49" charset="-122"/>
            </a:endParaRPr>
          </a:p>
        </p:txBody>
      </p:sp>
      <p:cxnSp>
        <p:nvCxnSpPr>
          <p:cNvPr id="22" name="直接连接符 21"/>
          <p:cNvCxnSpPr/>
          <p:nvPr/>
        </p:nvCxnSpPr>
        <p:spPr>
          <a:xfrm>
            <a:off x="4765183" y="2034862"/>
            <a:ext cx="6272011" cy="0"/>
          </a:xfrm>
          <a:prstGeom prst="line">
            <a:avLst/>
          </a:prstGeom>
          <a:ln>
            <a:solidFill>
              <a:srgbClr val="DDC04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本框 25"/>
          <p:cNvSpPr txBox="1"/>
          <p:nvPr/>
        </p:nvSpPr>
        <p:spPr>
          <a:xfrm>
            <a:off x="5896596" y="2789489"/>
            <a:ext cx="38779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你越成功，钱越找你</a:t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5896596" y="3544115"/>
            <a:ext cx="38779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牛人</a:t>
            </a:r>
            <a:r>
              <a:rPr lang="zh-CN" altLang="en-US" sz="3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的成功难以复制</a:t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4">
                <a:shade val="45000"/>
                <a:satMod val="135000"/>
              </a:schemeClr>
              <a:prstClr val="white"/>
            </a:duotone>
          </a:blip>
          <a:srcRect b="3495"/>
          <a:stretch/>
        </p:blipFill>
        <p:spPr>
          <a:xfrm>
            <a:off x="1466704" y="1419241"/>
            <a:ext cx="2331572" cy="323107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294968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任意多边形 5"/>
          <p:cNvSpPr/>
          <p:nvPr/>
        </p:nvSpPr>
        <p:spPr>
          <a:xfrm flipV="1">
            <a:off x="4428979" y="942536"/>
            <a:ext cx="3334042" cy="2743201"/>
          </a:xfrm>
          <a:custGeom>
            <a:avLst/>
            <a:gdLst>
              <a:gd name="connsiteX0" fmla="*/ 356389 w 3629465"/>
              <a:gd name="connsiteY0" fmla="*/ 2897945 h 2897945"/>
              <a:gd name="connsiteX1" fmla="*/ 3273076 w 3629465"/>
              <a:gd name="connsiteY1" fmla="*/ 2897945 h 2897945"/>
              <a:gd name="connsiteX2" fmla="*/ 3629465 w 3629465"/>
              <a:gd name="connsiteY2" fmla="*/ 2541556 h 2897945"/>
              <a:gd name="connsiteX3" fmla="*/ 3629465 w 3629465"/>
              <a:gd name="connsiteY3" fmla="*/ 1116045 h 2897945"/>
              <a:gd name="connsiteX4" fmla="*/ 3273076 w 3629465"/>
              <a:gd name="connsiteY4" fmla="*/ 759656 h 2897945"/>
              <a:gd name="connsiteX5" fmla="*/ 1071704 w 3629465"/>
              <a:gd name="connsiteY5" fmla="*/ 759656 h 2897945"/>
              <a:gd name="connsiteX6" fmla="*/ 450167 w 3629465"/>
              <a:gd name="connsiteY6" fmla="*/ 0 h 2897945"/>
              <a:gd name="connsiteX7" fmla="*/ 450167 w 3629465"/>
              <a:gd name="connsiteY7" fmla="*/ 759656 h 2897945"/>
              <a:gd name="connsiteX8" fmla="*/ 356389 w 3629465"/>
              <a:gd name="connsiteY8" fmla="*/ 759656 h 2897945"/>
              <a:gd name="connsiteX9" fmla="*/ 0 w 3629465"/>
              <a:gd name="connsiteY9" fmla="*/ 1116045 h 2897945"/>
              <a:gd name="connsiteX10" fmla="*/ 0 w 3629465"/>
              <a:gd name="connsiteY10" fmla="*/ 2541556 h 2897945"/>
              <a:gd name="connsiteX11" fmla="*/ 356389 w 3629465"/>
              <a:gd name="connsiteY11" fmla="*/ 2897945 h 28979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629465" h="2897945">
                <a:moveTo>
                  <a:pt x="356389" y="2897945"/>
                </a:moveTo>
                <a:lnTo>
                  <a:pt x="3273076" y="2897945"/>
                </a:lnTo>
                <a:cubicBezTo>
                  <a:pt x="3469904" y="2897945"/>
                  <a:pt x="3629465" y="2738384"/>
                  <a:pt x="3629465" y="2541556"/>
                </a:cubicBezTo>
                <a:lnTo>
                  <a:pt x="3629465" y="1116045"/>
                </a:lnTo>
                <a:cubicBezTo>
                  <a:pt x="3629465" y="919217"/>
                  <a:pt x="3469904" y="759656"/>
                  <a:pt x="3273076" y="759656"/>
                </a:cubicBezTo>
                <a:lnTo>
                  <a:pt x="1071704" y="759656"/>
                </a:lnTo>
                <a:lnTo>
                  <a:pt x="450167" y="0"/>
                </a:lnTo>
                <a:lnTo>
                  <a:pt x="450167" y="759656"/>
                </a:lnTo>
                <a:lnTo>
                  <a:pt x="356389" y="759656"/>
                </a:lnTo>
                <a:cubicBezTo>
                  <a:pt x="159561" y="759656"/>
                  <a:pt x="0" y="919217"/>
                  <a:pt x="0" y="1116045"/>
                </a:cubicBezTo>
                <a:lnTo>
                  <a:pt x="0" y="2541556"/>
                </a:lnTo>
                <a:cubicBezTo>
                  <a:pt x="0" y="2738384"/>
                  <a:pt x="159561" y="2897945"/>
                  <a:pt x="356389" y="2897945"/>
                </a:cubicBezTo>
                <a:close/>
              </a:path>
            </a:pathLst>
          </a:custGeom>
          <a:solidFill>
            <a:srgbClr val="DDC047"/>
          </a:solidFill>
          <a:ln>
            <a:solidFill>
              <a:srgbClr val="DDC0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0" y="1336431"/>
            <a:ext cx="121920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000" dirty="0" smtClean="0">
                <a:solidFill>
                  <a:schemeClr val="bg1"/>
                </a:solidFill>
                <a:latin typeface="Elephant" panose="02020904090505020303" pitchFamily="18" charset="0"/>
                <a:ea typeface="微软雅黑" panose="020B0503020204020204" pitchFamily="34" charset="-122"/>
              </a:rPr>
              <a:t>07</a:t>
            </a:r>
            <a:endParaRPr lang="zh-CN" altLang="en-US" sz="8000" dirty="0">
              <a:solidFill>
                <a:schemeClr val="bg1"/>
              </a:solidFill>
              <a:latin typeface="Elephant" panose="02020904090505020303" pitchFamily="18" charset="0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0" y="3854548"/>
            <a:ext cx="12192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7200" dirty="0">
                <a:latin typeface="华康俪金黑W8" panose="020B0809000000000000" pitchFamily="49" charset="-122"/>
                <a:ea typeface="华康俪金黑W8" panose="020B0809000000000000" pitchFamily="49" charset="-122"/>
              </a:rPr>
              <a:t>生活</a:t>
            </a:r>
            <a:r>
              <a:rPr lang="zh-CN" altLang="en-US" sz="7200" dirty="0" smtClean="0">
                <a:latin typeface="华康俪金黑W8" panose="020B0809000000000000" pitchFamily="49" charset="-122"/>
                <a:ea typeface="华康俪金黑W8" panose="020B0809000000000000" pitchFamily="49" charset="-122"/>
              </a:rPr>
              <a:t> </a:t>
            </a:r>
            <a:r>
              <a:rPr lang="zh-CN" altLang="en-US" sz="7200" dirty="0" smtClean="0">
                <a:solidFill>
                  <a:srgbClr val="DDC047"/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rPr>
              <a:t>与 </a:t>
            </a:r>
            <a:r>
              <a:rPr lang="zh-CN" altLang="en-US" sz="7200" dirty="0">
                <a:latin typeface="华康俪金黑W8" panose="020B0809000000000000" pitchFamily="49" charset="-122"/>
                <a:ea typeface="华康俪金黑W8" panose="020B0809000000000000" pitchFamily="49" charset="-122"/>
              </a:rPr>
              <a:t>习惯</a:t>
            </a:r>
          </a:p>
        </p:txBody>
      </p:sp>
    </p:spTree>
    <p:extLst>
      <p:ext uri="{BB962C8B-B14F-4D97-AF65-F5344CB8AC3E}">
        <p14:creationId xmlns:p14="http://schemas.microsoft.com/office/powerpoint/2010/main" val="19010282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644722" y="746975"/>
            <a:ext cx="800636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400" dirty="0" smtClean="0">
                <a:latin typeface="华康俪金黑W8" panose="020B0809000000000000" pitchFamily="49" charset="-122"/>
                <a:ea typeface="华康俪金黑W8" panose="020B0809000000000000" pitchFamily="49" charset="-122"/>
              </a:rPr>
              <a:t>生活</a:t>
            </a:r>
            <a:r>
              <a:rPr lang="zh-CN" altLang="en-US" sz="4800" dirty="0" smtClean="0">
                <a:solidFill>
                  <a:srgbClr val="DDC047"/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rPr>
              <a:t>中需要养成的四大</a:t>
            </a:r>
            <a:r>
              <a:rPr lang="zh-CN" altLang="en-US" sz="5400" dirty="0" smtClean="0">
                <a:latin typeface="华康俪金黑W8" panose="020B0809000000000000" pitchFamily="49" charset="-122"/>
                <a:ea typeface="华康俪金黑W8" panose="020B0809000000000000" pitchFamily="49" charset="-122"/>
              </a:rPr>
              <a:t>能力</a:t>
            </a:r>
            <a:endParaRPr lang="zh-CN" altLang="en-US" sz="5400" dirty="0">
              <a:latin typeface="华康俪金黑W8" panose="020B0809000000000000" pitchFamily="49" charset="-122"/>
              <a:ea typeface="华康俪金黑W8" panose="020B0809000000000000" pitchFamily="49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751527" y="2627290"/>
            <a:ext cx="1429555" cy="2240923"/>
          </a:xfrm>
          <a:prstGeom prst="rect">
            <a:avLst/>
          </a:prstGeom>
          <a:solidFill>
            <a:srgbClr val="DDC047"/>
          </a:solidFill>
          <a:ln>
            <a:solidFill>
              <a:srgbClr val="DDC0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579549" y="2627290"/>
            <a:ext cx="3940935" cy="682813"/>
          </a:xfrm>
          <a:prstGeom prst="rect">
            <a:avLst/>
          </a:prstGeom>
          <a:solidFill>
            <a:srgbClr val="DDC047"/>
          </a:solidFill>
          <a:ln>
            <a:solidFill>
              <a:srgbClr val="DDC0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等腰三角形 5"/>
          <p:cNvSpPr/>
          <p:nvPr/>
        </p:nvSpPr>
        <p:spPr>
          <a:xfrm flipV="1">
            <a:off x="2150771" y="2627290"/>
            <a:ext cx="631065" cy="412124"/>
          </a:xfrm>
          <a:prstGeom prst="triangle">
            <a:avLst/>
          </a:prstGeom>
          <a:solidFill>
            <a:schemeClr val="bg1"/>
          </a:solidFill>
          <a:ln>
            <a:solidFill>
              <a:srgbClr val="DDC0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5616092" y="2785018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专注力</a:t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8454529" y="2785018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理财力</a:t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616092" y="4242826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好奇心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8454529" y="4242825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观察力</a:t>
            </a:r>
          </a:p>
        </p:txBody>
      </p:sp>
      <p:cxnSp>
        <p:nvCxnSpPr>
          <p:cNvPr id="13" name="直接连接符 12"/>
          <p:cNvCxnSpPr/>
          <p:nvPr/>
        </p:nvCxnSpPr>
        <p:spPr>
          <a:xfrm>
            <a:off x="5228823" y="3734871"/>
            <a:ext cx="5177307" cy="0"/>
          </a:xfrm>
          <a:prstGeom prst="line">
            <a:avLst/>
          </a:prstGeom>
          <a:ln>
            <a:solidFill>
              <a:srgbClr val="DDC04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>
            <a:off x="7791718" y="2569450"/>
            <a:ext cx="0" cy="2588654"/>
          </a:xfrm>
          <a:prstGeom prst="line">
            <a:avLst/>
          </a:prstGeom>
          <a:ln>
            <a:solidFill>
              <a:srgbClr val="DDC04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72435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807594" y="927279"/>
            <a:ext cx="849463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800" dirty="0" smtClean="0">
                <a:solidFill>
                  <a:srgbClr val="DDC047"/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rPr>
              <a:t>从</a:t>
            </a:r>
            <a:r>
              <a:rPr lang="zh-CN" altLang="en-US" sz="5400" dirty="0" smtClean="0">
                <a:latin typeface="华康俪金黑W8" panose="020B0809000000000000" pitchFamily="49" charset="-122"/>
                <a:ea typeface="华康俪金黑W8" panose="020B0809000000000000" pitchFamily="49" charset="-122"/>
              </a:rPr>
              <a:t>大学</a:t>
            </a:r>
            <a:r>
              <a:rPr lang="zh-CN" altLang="en-US" sz="4800" dirty="0" smtClean="0">
                <a:solidFill>
                  <a:srgbClr val="DDC047"/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rPr>
              <a:t>开始培养一些好的</a:t>
            </a:r>
            <a:r>
              <a:rPr lang="zh-CN" altLang="en-US" sz="5400" dirty="0" smtClean="0">
                <a:latin typeface="华康俪金黑W8" panose="020B0809000000000000" pitchFamily="49" charset="-122"/>
                <a:ea typeface="华康俪金黑W8" panose="020B0809000000000000" pitchFamily="49" charset="-122"/>
              </a:rPr>
              <a:t>习惯</a:t>
            </a:r>
            <a:endParaRPr lang="zh-CN" altLang="en-US" sz="5400" dirty="0">
              <a:latin typeface="华康俪金黑W8" panose="020B0809000000000000" pitchFamily="49" charset="-122"/>
              <a:ea typeface="华康俪金黑W8" panose="020B0809000000000000" pitchFamily="49" charset="-122"/>
            </a:endParaRPr>
          </a:p>
        </p:txBody>
      </p:sp>
      <p:sp>
        <p:nvSpPr>
          <p:cNvPr id="3" name="矩形 2"/>
          <p:cNvSpPr/>
          <p:nvPr/>
        </p:nvSpPr>
        <p:spPr>
          <a:xfrm rot="20071570">
            <a:off x="1197734" y="2846232"/>
            <a:ext cx="1854557" cy="2266682"/>
          </a:xfrm>
          <a:prstGeom prst="rect">
            <a:avLst/>
          </a:prstGeom>
          <a:solidFill>
            <a:srgbClr val="DDC047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同心圆 3"/>
          <p:cNvSpPr/>
          <p:nvPr/>
        </p:nvSpPr>
        <p:spPr>
          <a:xfrm>
            <a:off x="1322080" y="2516351"/>
            <a:ext cx="287779" cy="279315"/>
          </a:xfrm>
          <a:prstGeom prst="donut">
            <a:avLst/>
          </a:prstGeom>
          <a:solidFill>
            <a:srgbClr val="DDC047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" name="梯形 4"/>
          <p:cNvSpPr/>
          <p:nvPr/>
        </p:nvSpPr>
        <p:spPr>
          <a:xfrm rot="20095298">
            <a:off x="1043659" y="2748023"/>
            <a:ext cx="1200787" cy="483925"/>
          </a:xfrm>
          <a:prstGeom prst="trapezoid">
            <a:avLst/>
          </a:prstGeom>
          <a:solidFill>
            <a:srgbClr val="DDC047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4559122" y="4131574"/>
            <a:ext cx="592982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控制好自己的时间，击败拖延症</a:t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559122" y="3463620"/>
            <a:ext cx="42883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制定并完成自己的计划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4559122" y="2795666"/>
            <a:ext cx="38779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培养良好</a:t>
            </a:r>
            <a:r>
              <a:rPr lang="zh-CN" altLang="en-US" sz="3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的健康习惯</a:t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0" name="直接连接符 9"/>
          <p:cNvCxnSpPr/>
          <p:nvPr/>
        </p:nvCxnSpPr>
        <p:spPr>
          <a:xfrm>
            <a:off x="2717442" y="2137893"/>
            <a:ext cx="8899302" cy="0"/>
          </a:xfrm>
          <a:prstGeom prst="line">
            <a:avLst/>
          </a:prstGeom>
          <a:ln>
            <a:solidFill>
              <a:srgbClr val="DDC04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/>
        </p:nvSpPr>
        <p:spPr>
          <a:xfrm rot="20105719">
            <a:off x="1481770" y="3555792"/>
            <a:ext cx="131318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400" dirty="0" smtClean="0">
                <a:solidFill>
                  <a:schemeClr val="bg1"/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rPr>
              <a:t>拖延</a:t>
            </a:r>
            <a:endParaRPr lang="zh-CN" altLang="en-US" sz="4400" dirty="0">
              <a:solidFill>
                <a:schemeClr val="bg1"/>
              </a:solidFill>
              <a:latin typeface="华康俪金黑W8" panose="020B0809000000000000" pitchFamily="49" charset="-122"/>
              <a:ea typeface="华康俪金黑W8" panose="020B0809000000000000" pitchFamily="49" charset="-122"/>
            </a:endParaRPr>
          </a:p>
        </p:txBody>
      </p:sp>
      <p:cxnSp>
        <p:nvCxnSpPr>
          <p:cNvPr id="13" name="直接连接符 12"/>
          <p:cNvCxnSpPr/>
          <p:nvPr/>
        </p:nvCxnSpPr>
        <p:spPr>
          <a:xfrm flipH="1">
            <a:off x="1970468" y="3380441"/>
            <a:ext cx="319936" cy="1230196"/>
          </a:xfrm>
          <a:prstGeom prst="line">
            <a:avLst/>
          </a:prstGeom>
          <a:ln w="63500">
            <a:solidFill>
              <a:srgbClr val="E7141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 flipH="1" flipV="1">
            <a:off x="1499791" y="3773607"/>
            <a:ext cx="1277139" cy="465614"/>
          </a:xfrm>
          <a:prstGeom prst="line">
            <a:avLst/>
          </a:prstGeom>
          <a:ln w="63500">
            <a:solidFill>
              <a:srgbClr val="E7141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08522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任意多边形 5"/>
          <p:cNvSpPr/>
          <p:nvPr/>
        </p:nvSpPr>
        <p:spPr>
          <a:xfrm flipV="1">
            <a:off x="4428979" y="942536"/>
            <a:ext cx="3334042" cy="2743201"/>
          </a:xfrm>
          <a:custGeom>
            <a:avLst/>
            <a:gdLst>
              <a:gd name="connsiteX0" fmla="*/ 356389 w 3629465"/>
              <a:gd name="connsiteY0" fmla="*/ 2897945 h 2897945"/>
              <a:gd name="connsiteX1" fmla="*/ 3273076 w 3629465"/>
              <a:gd name="connsiteY1" fmla="*/ 2897945 h 2897945"/>
              <a:gd name="connsiteX2" fmla="*/ 3629465 w 3629465"/>
              <a:gd name="connsiteY2" fmla="*/ 2541556 h 2897945"/>
              <a:gd name="connsiteX3" fmla="*/ 3629465 w 3629465"/>
              <a:gd name="connsiteY3" fmla="*/ 1116045 h 2897945"/>
              <a:gd name="connsiteX4" fmla="*/ 3273076 w 3629465"/>
              <a:gd name="connsiteY4" fmla="*/ 759656 h 2897945"/>
              <a:gd name="connsiteX5" fmla="*/ 1071704 w 3629465"/>
              <a:gd name="connsiteY5" fmla="*/ 759656 h 2897945"/>
              <a:gd name="connsiteX6" fmla="*/ 450167 w 3629465"/>
              <a:gd name="connsiteY6" fmla="*/ 0 h 2897945"/>
              <a:gd name="connsiteX7" fmla="*/ 450167 w 3629465"/>
              <a:gd name="connsiteY7" fmla="*/ 759656 h 2897945"/>
              <a:gd name="connsiteX8" fmla="*/ 356389 w 3629465"/>
              <a:gd name="connsiteY8" fmla="*/ 759656 h 2897945"/>
              <a:gd name="connsiteX9" fmla="*/ 0 w 3629465"/>
              <a:gd name="connsiteY9" fmla="*/ 1116045 h 2897945"/>
              <a:gd name="connsiteX10" fmla="*/ 0 w 3629465"/>
              <a:gd name="connsiteY10" fmla="*/ 2541556 h 2897945"/>
              <a:gd name="connsiteX11" fmla="*/ 356389 w 3629465"/>
              <a:gd name="connsiteY11" fmla="*/ 2897945 h 28979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629465" h="2897945">
                <a:moveTo>
                  <a:pt x="356389" y="2897945"/>
                </a:moveTo>
                <a:lnTo>
                  <a:pt x="3273076" y="2897945"/>
                </a:lnTo>
                <a:cubicBezTo>
                  <a:pt x="3469904" y="2897945"/>
                  <a:pt x="3629465" y="2738384"/>
                  <a:pt x="3629465" y="2541556"/>
                </a:cubicBezTo>
                <a:lnTo>
                  <a:pt x="3629465" y="1116045"/>
                </a:lnTo>
                <a:cubicBezTo>
                  <a:pt x="3629465" y="919217"/>
                  <a:pt x="3469904" y="759656"/>
                  <a:pt x="3273076" y="759656"/>
                </a:cubicBezTo>
                <a:lnTo>
                  <a:pt x="1071704" y="759656"/>
                </a:lnTo>
                <a:lnTo>
                  <a:pt x="450167" y="0"/>
                </a:lnTo>
                <a:lnTo>
                  <a:pt x="450167" y="759656"/>
                </a:lnTo>
                <a:lnTo>
                  <a:pt x="356389" y="759656"/>
                </a:lnTo>
                <a:cubicBezTo>
                  <a:pt x="159561" y="759656"/>
                  <a:pt x="0" y="919217"/>
                  <a:pt x="0" y="1116045"/>
                </a:cubicBezTo>
                <a:lnTo>
                  <a:pt x="0" y="2541556"/>
                </a:lnTo>
                <a:cubicBezTo>
                  <a:pt x="0" y="2738384"/>
                  <a:pt x="159561" y="2897945"/>
                  <a:pt x="356389" y="2897945"/>
                </a:cubicBezTo>
                <a:close/>
              </a:path>
            </a:pathLst>
          </a:custGeom>
          <a:solidFill>
            <a:srgbClr val="DDC047"/>
          </a:solidFill>
          <a:ln>
            <a:solidFill>
              <a:srgbClr val="DDC0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0" y="1336431"/>
            <a:ext cx="121920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000" dirty="0" smtClean="0">
                <a:solidFill>
                  <a:schemeClr val="bg1"/>
                </a:solidFill>
                <a:latin typeface="Elephant" panose="02020904090505020303" pitchFamily="18" charset="0"/>
                <a:ea typeface="微软雅黑" panose="020B0503020204020204" pitchFamily="34" charset="-122"/>
              </a:rPr>
              <a:t>08</a:t>
            </a:r>
            <a:endParaRPr lang="zh-CN" altLang="en-US" sz="8000" dirty="0">
              <a:solidFill>
                <a:schemeClr val="bg1"/>
              </a:solidFill>
              <a:latin typeface="Elephant" panose="02020904090505020303" pitchFamily="18" charset="0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0" y="3854548"/>
            <a:ext cx="12192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7200" dirty="0">
                <a:latin typeface="华康俪金黑W8" panose="020B0809000000000000" pitchFamily="49" charset="-122"/>
                <a:ea typeface="华康俪金黑W8" panose="020B0809000000000000" pitchFamily="49" charset="-122"/>
              </a:rPr>
              <a:t>个人</a:t>
            </a:r>
            <a:r>
              <a:rPr lang="zh-CN" altLang="en-US" sz="7200" dirty="0" smtClean="0">
                <a:latin typeface="华康俪金黑W8" panose="020B0809000000000000" pitchFamily="49" charset="-122"/>
                <a:ea typeface="华康俪金黑W8" panose="020B0809000000000000" pitchFamily="49" charset="-122"/>
              </a:rPr>
              <a:t> </a:t>
            </a:r>
            <a:r>
              <a:rPr lang="zh-CN" altLang="en-US" sz="7200" dirty="0" smtClean="0">
                <a:solidFill>
                  <a:srgbClr val="DDC047"/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rPr>
              <a:t>与 </a:t>
            </a:r>
            <a:r>
              <a:rPr lang="zh-CN" altLang="en-US" sz="7200" dirty="0">
                <a:latin typeface="华康俪金黑W8" panose="020B0809000000000000" pitchFamily="49" charset="-122"/>
                <a:ea typeface="华康俪金黑W8" panose="020B0809000000000000" pitchFamily="49" charset="-122"/>
              </a:rPr>
              <a:t>社会</a:t>
            </a:r>
          </a:p>
        </p:txBody>
      </p:sp>
    </p:spTree>
    <p:extLst>
      <p:ext uri="{BB962C8B-B14F-4D97-AF65-F5344CB8AC3E}">
        <p14:creationId xmlns:p14="http://schemas.microsoft.com/office/powerpoint/2010/main" val="27821510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任意多边形 17"/>
          <p:cNvSpPr/>
          <p:nvPr/>
        </p:nvSpPr>
        <p:spPr>
          <a:xfrm>
            <a:off x="1081826" y="1635616"/>
            <a:ext cx="2459864" cy="3290711"/>
          </a:xfrm>
          <a:custGeom>
            <a:avLst/>
            <a:gdLst>
              <a:gd name="connsiteX0" fmla="*/ 1435337 w 2513416"/>
              <a:gd name="connsiteY0" fmla="*/ 270898 h 3272084"/>
              <a:gd name="connsiteX1" fmla="*/ 1425268 w 2513416"/>
              <a:gd name="connsiteY1" fmla="*/ 324806 h 3272084"/>
              <a:gd name="connsiteX2" fmla="*/ 1445300 w 2513416"/>
              <a:gd name="connsiteY2" fmla="*/ 329808 h 3272084"/>
              <a:gd name="connsiteX3" fmla="*/ 2228046 w 2513416"/>
              <a:gd name="connsiteY3" fmla="*/ 1362996 h 3272084"/>
              <a:gd name="connsiteX4" fmla="*/ 1114023 w 2513416"/>
              <a:gd name="connsiteY4" fmla="*/ 2444821 h 3272084"/>
              <a:gd name="connsiteX5" fmla="*/ 1065575 w 2513416"/>
              <a:gd name="connsiteY5" fmla="*/ 2442445 h 3272084"/>
              <a:gd name="connsiteX6" fmla="*/ 1051337 w 2513416"/>
              <a:gd name="connsiteY6" fmla="*/ 2518674 h 3272084"/>
              <a:gd name="connsiteX7" fmla="*/ 1147058 w 2513416"/>
              <a:gd name="connsiteY7" fmla="*/ 2520504 h 3272084"/>
              <a:gd name="connsiteX8" fmla="*/ 2259859 w 2513416"/>
              <a:gd name="connsiteY8" fmla="*/ 1562799 h 3272084"/>
              <a:gd name="connsiteX9" fmla="*/ 1617251 w 2513416"/>
              <a:gd name="connsiteY9" fmla="*/ 338723 h 3272084"/>
              <a:gd name="connsiteX10" fmla="*/ 1361385 w 2513416"/>
              <a:gd name="connsiteY10" fmla="*/ 0 h 3272084"/>
              <a:gd name="connsiteX11" fmla="*/ 1426739 w 2513416"/>
              <a:gd name="connsiteY11" fmla="*/ 19926 h 3272084"/>
              <a:gd name="connsiteX12" fmla="*/ 2508650 w 2513416"/>
              <a:gd name="connsiteY12" fmla="*/ 1656457 h 3272084"/>
              <a:gd name="connsiteX13" fmla="*/ 1197882 w 2513416"/>
              <a:gd name="connsiteY13" fmla="*/ 2677639 h 3272084"/>
              <a:gd name="connsiteX14" fmla="*/ 1143021 w 2513416"/>
              <a:gd name="connsiteY14" fmla="*/ 2688654 h 3272084"/>
              <a:gd name="connsiteX15" fmla="*/ 1460766 w 2513416"/>
              <a:gd name="connsiteY15" fmla="*/ 2688654 h 3272084"/>
              <a:gd name="connsiteX16" fmla="*/ 1606623 w 2513416"/>
              <a:gd name="connsiteY16" fmla="*/ 3272084 h 3272084"/>
              <a:gd name="connsiteX17" fmla="*/ 492601 w 2513416"/>
              <a:gd name="connsiteY17" fmla="*/ 3272084 h 3272084"/>
              <a:gd name="connsiteX18" fmla="*/ 638459 w 2513416"/>
              <a:gd name="connsiteY18" fmla="*/ 2688654 h 3272084"/>
              <a:gd name="connsiteX19" fmla="*/ 913617 w 2513416"/>
              <a:gd name="connsiteY19" fmla="*/ 2688654 h 3272084"/>
              <a:gd name="connsiteX20" fmla="*/ 943771 w 2513416"/>
              <a:gd name="connsiteY20" fmla="*/ 2507592 h 3272084"/>
              <a:gd name="connsiteX21" fmla="*/ 988403 w 2513416"/>
              <a:gd name="connsiteY21" fmla="*/ 2512766 h 3272084"/>
              <a:gd name="connsiteX22" fmla="*/ 1002119 w 2513416"/>
              <a:gd name="connsiteY22" fmla="*/ 2439333 h 3272084"/>
              <a:gd name="connsiteX23" fmla="*/ 1000121 w 2513416"/>
              <a:gd name="connsiteY23" fmla="*/ 2439235 h 3272084"/>
              <a:gd name="connsiteX24" fmla="*/ 0 w 2513416"/>
              <a:gd name="connsiteY24" fmla="*/ 1362996 h 3272084"/>
              <a:gd name="connsiteX25" fmla="*/ 1114023 w 2513416"/>
              <a:gd name="connsiteY25" fmla="*/ 281171 h 3272084"/>
              <a:gd name="connsiteX26" fmla="*/ 1338538 w 2513416"/>
              <a:gd name="connsiteY26" fmla="*/ 303150 h 3272084"/>
              <a:gd name="connsiteX27" fmla="*/ 1364084 w 2513416"/>
              <a:gd name="connsiteY27" fmla="*/ 309529 h 3272084"/>
              <a:gd name="connsiteX28" fmla="*/ 1374434 w 2513416"/>
              <a:gd name="connsiteY28" fmla="*/ 254116 h 3272084"/>
              <a:gd name="connsiteX29" fmla="*/ 1321004 w 2513416"/>
              <a:gd name="connsiteY29" fmla="*/ 242468 h 32720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2513416" h="3272084">
                <a:moveTo>
                  <a:pt x="1435337" y="270898"/>
                </a:moveTo>
                <a:lnTo>
                  <a:pt x="1425268" y="324806"/>
                </a:lnTo>
                <a:lnTo>
                  <a:pt x="1445300" y="329808"/>
                </a:lnTo>
                <a:cubicBezTo>
                  <a:pt x="1898783" y="466779"/>
                  <a:pt x="2228046" y="877547"/>
                  <a:pt x="2228046" y="1362996"/>
                </a:cubicBezTo>
                <a:cubicBezTo>
                  <a:pt x="2228046" y="1960471"/>
                  <a:pt x="1729281" y="2444821"/>
                  <a:pt x="1114023" y="2444821"/>
                </a:cubicBezTo>
                <a:lnTo>
                  <a:pt x="1065575" y="2442445"/>
                </a:lnTo>
                <a:lnTo>
                  <a:pt x="1051337" y="2518674"/>
                </a:lnTo>
                <a:lnTo>
                  <a:pt x="1147058" y="2520504"/>
                </a:lnTo>
                <a:cubicBezTo>
                  <a:pt x="1693074" y="2505539"/>
                  <a:pt x="2168201" y="2113164"/>
                  <a:pt x="2259859" y="1562799"/>
                </a:cubicBezTo>
                <a:cubicBezTo>
                  <a:pt x="2345406" y="1049124"/>
                  <a:pt x="2070335" y="557388"/>
                  <a:pt x="1617251" y="338723"/>
                </a:cubicBezTo>
                <a:close/>
                <a:moveTo>
                  <a:pt x="1361385" y="0"/>
                </a:moveTo>
                <a:lnTo>
                  <a:pt x="1426739" y="19926"/>
                </a:lnTo>
                <a:cubicBezTo>
                  <a:pt x="1893636" y="214491"/>
                  <a:pt x="2577079" y="1233325"/>
                  <a:pt x="2508650" y="1656457"/>
                </a:cubicBezTo>
                <a:cubicBezTo>
                  <a:pt x="2448776" y="2026698"/>
                  <a:pt x="1715017" y="2548283"/>
                  <a:pt x="1197882" y="2677639"/>
                </a:cubicBezTo>
                <a:lnTo>
                  <a:pt x="1143021" y="2688654"/>
                </a:lnTo>
                <a:lnTo>
                  <a:pt x="1460766" y="2688654"/>
                </a:lnTo>
                <a:lnTo>
                  <a:pt x="1606623" y="3272084"/>
                </a:lnTo>
                <a:lnTo>
                  <a:pt x="492601" y="3272084"/>
                </a:lnTo>
                <a:lnTo>
                  <a:pt x="638459" y="2688654"/>
                </a:lnTo>
                <a:lnTo>
                  <a:pt x="913617" y="2688654"/>
                </a:lnTo>
                <a:lnTo>
                  <a:pt x="943771" y="2507592"/>
                </a:lnTo>
                <a:lnTo>
                  <a:pt x="988403" y="2512766"/>
                </a:lnTo>
                <a:lnTo>
                  <a:pt x="1002119" y="2439333"/>
                </a:lnTo>
                <a:lnTo>
                  <a:pt x="1000121" y="2439235"/>
                </a:lnTo>
                <a:cubicBezTo>
                  <a:pt x="438368" y="2383835"/>
                  <a:pt x="0" y="1923129"/>
                  <a:pt x="0" y="1362996"/>
                </a:cubicBezTo>
                <a:cubicBezTo>
                  <a:pt x="0" y="765521"/>
                  <a:pt x="498765" y="281171"/>
                  <a:pt x="1114023" y="281171"/>
                </a:cubicBezTo>
                <a:cubicBezTo>
                  <a:pt x="1190930" y="281171"/>
                  <a:pt x="1266017" y="288739"/>
                  <a:pt x="1338538" y="303150"/>
                </a:cubicBezTo>
                <a:lnTo>
                  <a:pt x="1364084" y="309529"/>
                </a:lnTo>
                <a:lnTo>
                  <a:pt x="1374434" y="254116"/>
                </a:lnTo>
                <a:lnTo>
                  <a:pt x="1321004" y="242468"/>
                </a:lnTo>
                <a:close/>
              </a:path>
            </a:pathLst>
          </a:custGeom>
          <a:solidFill>
            <a:srgbClr val="DDC047"/>
          </a:solidFill>
          <a:ln>
            <a:solidFill>
              <a:srgbClr val="DDC0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4559120" y="929459"/>
            <a:ext cx="603242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800" dirty="0" smtClean="0">
                <a:solidFill>
                  <a:srgbClr val="DDC047"/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rPr>
              <a:t>这个</a:t>
            </a:r>
            <a:r>
              <a:rPr lang="zh-CN" altLang="en-US" sz="5400" dirty="0" smtClean="0">
                <a:latin typeface="华康俪金黑W8" panose="020B0809000000000000" pitchFamily="49" charset="-122"/>
                <a:ea typeface="华康俪金黑W8" panose="020B0809000000000000" pitchFamily="49" charset="-122"/>
              </a:rPr>
              <a:t>社会</a:t>
            </a:r>
            <a:r>
              <a:rPr lang="zh-CN" altLang="en-US" sz="4800" dirty="0" smtClean="0">
                <a:solidFill>
                  <a:srgbClr val="DDC047"/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rPr>
              <a:t>，这个</a:t>
            </a:r>
            <a:r>
              <a:rPr lang="zh-CN" altLang="en-US" sz="5400" dirty="0" smtClean="0">
                <a:latin typeface="华康俪金黑W8" panose="020B0809000000000000" pitchFamily="49" charset="-122"/>
                <a:ea typeface="华康俪金黑W8" panose="020B0809000000000000" pitchFamily="49" charset="-122"/>
              </a:rPr>
              <a:t>世界</a:t>
            </a:r>
            <a:endParaRPr lang="zh-CN" altLang="en-US" sz="5400" dirty="0">
              <a:latin typeface="华康俪金黑W8" panose="020B0809000000000000" pitchFamily="49" charset="-122"/>
              <a:ea typeface="华康俪金黑W8" panose="020B0809000000000000" pitchFamily="49" charset="-122"/>
            </a:endParaRPr>
          </a:p>
        </p:txBody>
      </p:sp>
      <p:cxnSp>
        <p:nvCxnSpPr>
          <p:cNvPr id="21" name="直接连接符 20"/>
          <p:cNvCxnSpPr/>
          <p:nvPr/>
        </p:nvCxnSpPr>
        <p:spPr>
          <a:xfrm flipV="1">
            <a:off x="4265459" y="1957589"/>
            <a:ext cx="6619741" cy="12879"/>
          </a:xfrm>
          <a:prstGeom prst="line">
            <a:avLst/>
          </a:prstGeom>
          <a:ln>
            <a:solidFill>
              <a:srgbClr val="DDC04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本框 21"/>
          <p:cNvSpPr txBox="1"/>
          <p:nvPr/>
        </p:nvSpPr>
        <p:spPr>
          <a:xfrm>
            <a:off x="4559121" y="2498501"/>
            <a:ext cx="34676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学会拥抱这个社会</a:t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4559121" y="3072591"/>
            <a:ext cx="34676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正确理解这个社会</a:t>
            </a:r>
          </a:p>
        </p:txBody>
      </p:sp>
      <p:sp>
        <p:nvSpPr>
          <p:cNvPr id="24" name="文本框 23"/>
          <p:cNvSpPr txBox="1"/>
          <p:nvPr/>
        </p:nvSpPr>
        <p:spPr>
          <a:xfrm>
            <a:off x="4559120" y="3646681"/>
            <a:ext cx="42883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要</a:t>
            </a:r>
            <a:r>
              <a:rPr lang="zh-CN" altLang="en-US" sz="3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深信这世界的不完美</a:t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4559120" y="4220772"/>
            <a:ext cx="55194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但依然值得我们为之付出努力</a:t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849214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任意多边形 5"/>
          <p:cNvSpPr/>
          <p:nvPr/>
        </p:nvSpPr>
        <p:spPr>
          <a:xfrm flipV="1">
            <a:off x="4428979" y="942536"/>
            <a:ext cx="3334042" cy="2743201"/>
          </a:xfrm>
          <a:custGeom>
            <a:avLst/>
            <a:gdLst>
              <a:gd name="connsiteX0" fmla="*/ 356389 w 3629465"/>
              <a:gd name="connsiteY0" fmla="*/ 2897945 h 2897945"/>
              <a:gd name="connsiteX1" fmla="*/ 3273076 w 3629465"/>
              <a:gd name="connsiteY1" fmla="*/ 2897945 h 2897945"/>
              <a:gd name="connsiteX2" fmla="*/ 3629465 w 3629465"/>
              <a:gd name="connsiteY2" fmla="*/ 2541556 h 2897945"/>
              <a:gd name="connsiteX3" fmla="*/ 3629465 w 3629465"/>
              <a:gd name="connsiteY3" fmla="*/ 1116045 h 2897945"/>
              <a:gd name="connsiteX4" fmla="*/ 3273076 w 3629465"/>
              <a:gd name="connsiteY4" fmla="*/ 759656 h 2897945"/>
              <a:gd name="connsiteX5" fmla="*/ 1071704 w 3629465"/>
              <a:gd name="connsiteY5" fmla="*/ 759656 h 2897945"/>
              <a:gd name="connsiteX6" fmla="*/ 450167 w 3629465"/>
              <a:gd name="connsiteY6" fmla="*/ 0 h 2897945"/>
              <a:gd name="connsiteX7" fmla="*/ 450167 w 3629465"/>
              <a:gd name="connsiteY7" fmla="*/ 759656 h 2897945"/>
              <a:gd name="connsiteX8" fmla="*/ 356389 w 3629465"/>
              <a:gd name="connsiteY8" fmla="*/ 759656 h 2897945"/>
              <a:gd name="connsiteX9" fmla="*/ 0 w 3629465"/>
              <a:gd name="connsiteY9" fmla="*/ 1116045 h 2897945"/>
              <a:gd name="connsiteX10" fmla="*/ 0 w 3629465"/>
              <a:gd name="connsiteY10" fmla="*/ 2541556 h 2897945"/>
              <a:gd name="connsiteX11" fmla="*/ 356389 w 3629465"/>
              <a:gd name="connsiteY11" fmla="*/ 2897945 h 28979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629465" h="2897945">
                <a:moveTo>
                  <a:pt x="356389" y="2897945"/>
                </a:moveTo>
                <a:lnTo>
                  <a:pt x="3273076" y="2897945"/>
                </a:lnTo>
                <a:cubicBezTo>
                  <a:pt x="3469904" y="2897945"/>
                  <a:pt x="3629465" y="2738384"/>
                  <a:pt x="3629465" y="2541556"/>
                </a:cubicBezTo>
                <a:lnTo>
                  <a:pt x="3629465" y="1116045"/>
                </a:lnTo>
                <a:cubicBezTo>
                  <a:pt x="3629465" y="919217"/>
                  <a:pt x="3469904" y="759656"/>
                  <a:pt x="3273076" y="759656"/>
                </a:cubicBezTo>
                <a:lnTo>
                  <a:pt x="1071704" y="759656"/>
                </a:lnTo>
                <a:lnTo>
                  <a:pt x="450167" y="0"/>
                </a:lnTo>
                <a:lnTo>
                  <a:pt x="450167" y="759656"/>
                </a:lnTo>
                <a:lnTo>
                  <a:pt x="356389" y="759656"/>
                </a:lnTo>
                <a:cubicBezTo>
                  <a:pt x="159561" y="759656"/>
                  <a:pt x="0" y="919217"/>
                  <a:pt x="0" y="1116045"/>
                </a:cubicBezTo>
                <a:lnTo>
                  <a:pt x="0" y="2541556"/>
                </a:lnTo>
                <a:cubicBezTo>
                  <a:pt x="0" y="2738384"/>
                  <a:pt x="159561" y="2897945"/>
                  <a:pt x="356389" y="2897945"/>
                </a:cubicBezTo>
                <a:close/>
              </a:path>
            </a:pathLst>
          </a:custGeom>
          <a:solidFill>
            <a:srgbClr val="DDC047"/>
          </a:solidFill>
          <a:ln>
            <a:solidFill>
              <a:srgbClr val="DDC0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0" y="1336431"/>
            <a:ext cx="121920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000" dirty="0" smtClean="0">
                <a:solidFill>
                  <a:schemeClr val="bg1"/>
                </a:solidFill>
                <a:latin typeface="Elephant" panose="02020904090505020303" pitchFamily="18" charset="0"/>
                <a:ea typeface="微软雅黑" panose="020B0503020204020204" pitchFamily="34" charset="-122"/>
              </a:rPr>
              <a:t>09</a:t>
            </a:r>
            <a:endParaRPr lang="zh-CN" altLang="en-US" sz="8000" dirty="0">
              <a:solidFill>
                <a:schemeClr val="bg1"/>
              </a:solidFill>
              <a:latin typeface="Elephant" panose="02020904090505020303" pitchFamily="18" charset="0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0" y="3854548"/>
            <a:ext cx="12192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7200" dirty="0">
                <a:latin typeface="华康俪金黑W8" panose="020B0809000000000000" pitchFamily="49" charset="-122"/>
                <a:ea typeface="华康俪金黑W8" panose="020B0809000000000000" pitchFamily="49" charset="-122"/>
              </a:rPr>
              <a:t>天性</a:t>
            </a:r>
            <a:r>
              <a:rPr lang="zh-CN" altLang="en-US" sz="7200" dirty="0" smtClean="0">
                <a:latin typeface="华康俪金黑W8" panose="020B0809000000000000" pitchFamily="49" charset="-122"/>
                <a:ea typeface="华康俪金黑W8" panose="020B0809000000000000" pitchFamily="49" charset="-122"/>
              </a:rPr>
              <a:t> </a:t>
            </a:r>
            <a:r>
              <a:rPr lang="zh-CN" altLang="en-US" sz="7200" dirty="0" smtClean="0">
                <a:solidFill>
                  <a:srgbClr val="DDC047"/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rPr>
              <a:t>与 </a:t>
            </a:r>
            <a:r>
              <a:rPr lang="zh-CN" altLang="en-US" sz="7200" dirty="0">
                <a:latin typeface="华康俪金黑W8" panose="020B0809000000000000" pitchFamily="49" charset="-122"/>
                <a:ea typeface="华康俪金黑W8" panose="020B0809000000000000" pitchFamily="49" charset="-122"/>
              </a:rPr>
              <a:t>信仰</a:t>
            </a:r>
          </a:p>
        </p:txBody>
      </p:sp>
    </p:spTree>
    <p:extLst>
      <p:ext uri="{BB962C8B-B14F-4D97-AF65-F5344CB8AC3E}">
        <p14:creationId xmlns:p14="http://schemas.microsoft.com/office/powerpoint/2010/main" val="12750782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59852" y="1944707"/>
            <a:ext cx="3734874" cy="2743200"/>
          </a:xfrm>
          <a:prstGeom prst="rect">
            <a:avLst/>
          </a:prstGeom>
          <a:solidFill>
            <a:schemeClr val="bg1"/>
          </a:solidFill>
          <a:ln>
            <a:solidFill>
              <a:srgbClr val="DDC0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/>
          <p:cNvSpPr/>
          <p:nvPr/>
        </p:nvSpPr>
        <p:spPr>
          <a:xfrm rot="20990731">
            <a:off x="2853701" y="2096636"/>
            <a:ext cx="1959942" cy="2742586"/>
          </a:xfrm>
          <a:prstGeom prst="parallelogram">
            <a:avLst/>
          </a:prstGeom>
          <a:solidFill>
            <a:srgbClr val="DDC047"/>
          </a:solidFill>
          <a:ln>
            <a:solidFill>
              <a:srgbClr val="DDC0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/>
          <p:cNvSpPr/>
          <p:nvPr/>
        </p:nvSpPr>
        <p:spPr>
          <a:xfrm rot="604685" flipH="1">
            <a:off x="427949" y="2096317"/>
            <a:ext cx="1974612" cy="2742586"/>
          </a:xfrm>
          <a:prstGeom prst="parallelogram">
            <a:avLst/>
          </a:prstGeom>
          <a:solidFill>
            <a:srgbClr val="DDC047"/>
          </a:solidFill>
          <a:ln>
            <a:solidFill>
              <a:srgbClr val="DDC0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5051358" y="2136805"/>
            <a:ext cx="46987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当上帝给你关上一扇门时</a:t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051358" y="1049316"/>
            <a:ext cx="264687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800" dirty="0" smtClean="0">
                <a:solidFill>
                  <a:srgbClr val="DDC047"/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rPr>
              <a:t>秋叶曰：</a:t>
            </a:r>
            <a:endParaRPr lang="zh-CN" altLang="en-US" sz="4800" dirty="0">
              <a:solidFill>
                <a:srgbClr val="DDC047"/>
              </a:solidFill>
              <a:latin typeface="华康俪金黑W8" panose="020B0809000000000000" pitchFamily="49" charset="-122"/>
              <a:ea typeface="华康俪金黑W8" panose="020B0809000000000000" pitchFamily="49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051358" y="2813711"/>
            <a:ext cx="51090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就</a:t>
            </a:r>
            <a:r>
              <a:rPr lang="zh-CN" altLang="en-US" sz="3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一定为你打开了另一扇门</a:t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051358" y="3490617"/>
            <a:ext cx="675056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E714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但是</a:t>
            </a:r>
            <a:r>
              <a:rPr lang="zh-CN" altLang="en-US" sz="3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你要先接受关上了一扇门的现状</a:t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5051904" y="4167524"/>
            <a:ext cx="592982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才能</a:t>
            </a:r>
            <a:r>
              <a:rPr lang="zh-CN" altLang="en-US" sz="3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抬头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看见</a:t>
            </a:r>
            <a:r>
              <a:rPr lang="zh-CN" altLang="en-US" sz="3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新的门背后的希望</a:t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804390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168980" y="829119"/>
            <a:ext cx="280076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800" dirty="0" smtClean="0">
                <a:solidFill>
                  <a:srgbClr val="DDC047"/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rPr>
              <a:t>提升</a:t>
            </a:r>
            <a:r>
              <a:rPr lang="zh-CN" altLang="en-US" sz="5400" dirty="0" smtClean="0">
                <a:latin typeface="华康俪金黑W8" panose="020B0809000000000000" pitchFamily="49" charset="-122"/>
                <a:ea typeface="华康俪金黑W8" panose="020B0809000000000000" pitchFamily="49" charset="-122"/>
              </a:rPr>
              <a:t>自我</a:t>
            </a:r>
            <a:endParaRPr lang="zh-CN" altLang="en-US" sz="5400" dirty="0">
              <a:latin typeface="华康俪金黑W8" panose="020B0809000000000000" pitchFamily="49" charset="-122"/>
              <a:ea typeface="华康俪金黑W8" panose="020B0809000000000000" pitchFamily="49" charset="-122"/>
            </a:endParaRPr>
          </a:p>
        </p:txBody>
      </p:sp>
      <p:cxnSp>
        <p:nvCxnSpPr>
          <p:cNvPr id="19" name="直接连接符 18"/>
          <p:cNvCxnSpPr/>
          <p:nvPr/>
        </p:nvCxnSpPr>
        <p:spPr>
          <a:xfrm>
            <a:off x="4868214" y="2007217"/>
            <a:ext cx="5602310" cy="0"/>
          </a:xfrm>
          <a:prstGeom prst="line">
            <a:avLst/>
          </a:prstGeom>
          <a:ln>
            <a:solidFill>
              <a:srgbClr val="DDC04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/>
          <p:cNvSpPr txBox="1"/>
          <p:nvPr/>
        </p:nvSpPr>
        <p:spPr>
          <a:xfrm>
            <a:off x="5230733" y="3822994"/>
            <a:ext cx="51090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旅行是丰富自己的一种方式</a:t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5230733" y="3176843"/>
            <a:ext cx="42883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善于自省才能发现自我</a:t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5230733" y="2530692"/>
            <a:ext cx="34676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做一个有底线的人</a:t>
            </a:r>
          </a:p>
        </p:txBody>
      </p:sp>
      <p:pic>
        <p:nvPicPr>
          <p:cNvPr id="59" name="图片 5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4216" y="991673"/>
            <a:ext cx="1855714" cy="4057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92712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任意多边形 5"/>
          <p:cNvSpPr/>
          <p:nvPr/>
        </p:nvSpPr>
        <p:spPr>
          <a:xfrm flipV="1">
            <a:off x="4428979" y="942536"/>
            <a:ext cx="3334042" cy="2743201"/>
          </a:xfrm>
          <a:custGeom>
            <a:avLst/>
            <a:gdLst>
              <a:gd name="connsiteX0" fmla="*/ 356389 w 3629465"/>
              <a:gd name="connsiteY0" fmla="*/ 2897945 h 2897945"/>
              <a:gd name="connsiteX1" fmla="*/ 3273076 w 3629465"/>
              <a:gd name="connsiteY1" fmla="*/ 2897945 h 2897945"/>
              <a:gd name="connsiteX2" fmla="*/ 3629465 w 3629465"/>
              <a:gd name="connsiteY2" fmla="*/ 2541556 h 2897945"/>
              <a:gd name="connsiteX3" fmla="*/ 3629465 w 3629465"/>
              <a:gd name="connsiteY3" fmla="*/ 1116045 h 2897945"/>
              <a:gd name="connsiteX4" fmla="*/ 3273076 w 3629465"/>
              <a:gd name="connsiteY4" fmla="*/ 759656 h 2897945"/>
              <a:gd name="connsiteX5" fmla="*/ 1071704 w 3629465"/>
              <a:gd name="connsiteY5" fmla="*/ 759656 h 2897945"/>
              <a:gd name="connsiteX6" fmla="*/ 450167 w 3629465"/>
              <a:gd name="connsiteY6" fmla="*/ 0 h 2897945"/>
              <a:gd name="connsiteX7" fmla="*/ 450167 w 3629465"/>
              <a:gd name="connsiteY7" fmla="*/ 759656 h 2897945"/>
              <a:gd name="connsiteX8" fmla="*/ 356389 w 3629465"/>
              <a:gd name="connsiteY8" fmla="*/ 759656 h 2897945"/>
              <a:gd name="connsiteX9" fmla="*/ 0 w 3629465"/>
              <a:gd name="connsiteY9" fmla="*/ 1116045 h 2897945"/>
              <a:gd name="connsiteX10" fmla="*/ 0 w 3629465"/>
              <a:gd name="connsiteY10" fmla="*/ 2541556 h 2897945"/>
              <a:gd name="connsiteX11" fmla="*/ 356389 w 3629465"/>
              <a:gd name="connsiteY11" fmla="*/ 2897945 h 28979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629465" h="2897945">
                <a:moveTo>
                  <a:pt x="356389" y="2897945"/>
                </a:moveTo>
                <a:lnTo>
                  <a:pt x="3273076" y="2897945"/>
                </a:lnTo>
                <a:cubicBezTo>
                  <a:pt x="3469904" y="2897945"/>
                  <a:pt x="3629465" y="2738384"/>
                  <a:pt x="3629465" y="2541556"/>
                </a:cubicBezTo>
                <a:lnTo>
                  <a:pt x="3629465" y="1116045"/>
                </a:lnTo>
                <a:cubicBezTo>
                  <a:pt x="3629465" y="919217"/>
                  <a:pt x="3469904" y="759656"/>
                  <a:pt x="3273076" y="759656"/>
                </a:cubicBezTo>
                <a:lnTo>
                  <a:pt x="1071704" y="759656"/>
                </a:lnTo>
                <a:lnTo>
                  <a:pt x="450167" y="0"/>
                </a:lnTo>
                <a:lnTo>
                  <a:pt x="450167" y="759656"/>
                </a:lnTo>
                <a:lnTo>
                  <a:pt x="356389" y="759656"/>
                </a:lnTo>
                <a:cubicBezTo>
                  <a:pt x="159561" y="759656"/>
                  <a:pt x="0" y="919217"/>
                  <a:pt x="0" y="1116045"/>
                </a:cubicBezTo>
                <a:lnTo>
                  <a:pt x="0" y="2541556"/>
                </a:lnTo>
                <a:cubicBezTo>
                  <a:pt x="0" y="2738384"/>
                  <a:pt x="159561" y="2897945"/>
                  <a:pt x="356389" y="2897945"/>
                </a:cubicBezTo>
                <a:close/>
              </a:path>
            </a:pathLst>
          </a:custGeom>
          <a:solidFill>
            <a:srgbClr val="DDC047"/>
          </a:solidFill>
          <a:ln>
            <a:solidFill>
              <a:srgbClr val="DDC0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0" y="1336431"/>
            <a:ext cx="121920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000" dirty="0" smtClean="0">
                <a:solidFill>
                  <a:schemeClr val="bg1"/>
                </a:solidFill>
                <a:latin typeface="Elephant" panose="02020904090505020303" pitchFamily="18" charset="0"/>
                <a:ea typeface="微软雅黑" panose="020B0503020204020204" pitchFamily="34" charset="-122"/>
              </a:rPr>
              <a:t>10</a:t>
            </a:r>
            <a:endParaRPr lang="zh-CN" altLang="en-US" sz="8000" dirty="0">
              <a:solidFill>
                <a:schemeClr val="bg1"/>
              </a:solidFill>
              <a:latin typeface="Elephant" panose="02020904090505020303" pitchFamily="18" charset="0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0" y="3854548"/>
            <a:ext cx="12192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7200" dirty="0">
                <a:latin typeface="华康俪金黑W8" panose="020B0809000000000000" pitchFamily="49" charset="-122"/>
                <a:ea typeface="华康俪金黑W8" panose="020B0809000000000000" pitchFamily="49" charset="-122"/>
              </a:rPr>
              <a:t>成长</a:t>
            </a:r>
            <a:r>
              <a:rPr lang="zh-CN" altLang="en-US" sz="7200" dirty="0" smtClean="0">
                <a:latin typeface="华康俪金黑W8" panose="020B0809000000000000" pitchFamily="49" charset="-122"/>
                <a:ea typeface="华康俪金黑W8" panose="020B0809000000000000" pitchFamily="49" charset="-122"/>
              </a:rPr>
              <a:t> </a:t>
            </a:r>
            <a:r>
              <a:rPr lang="zh-CN" altLang="en-US" sz="7200" dirty="0" smtClean="0">
                <a:solidFill>
                  <a:srgbClr val="DDC047"/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rPr>
              <a:t>与 </a:t>
            </a:r>
            <a:r>
              <a:rPr lang="zh-CN" altLang="en-US" sz="7200" dirty="0">
                <a:latin typeface="华康俪金黑W8" panose="020B0809000000000000" pitchFamily="49" charset="-122"/>
                <a:ea typeface="华康俪金黑W8" panose="020B0809000000000000" pitchFamily="49" charset="-122"/>
              </a:rPr>
              <a:t>反复</a:t>
            </a:r>
          </a:p>
        </p:txBody>
      </p:sp>
    </p:spTree>
    <p:extLst>
      <p:ext uri="{BB962C8B-B14F-4D97-AF65-F5344CB8AC3E}">
        <p14:creationId xmlns:p14="http://schemas.microsoft.com/office/powerpoint/2010/main" val="3830972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任意多边形 8"/>
          <p:cNvSpPr/>
          <p:nvPr/>
        </p:nvSpPr>
        <p:spPr>
          <a:xfrm>
            <a:off x="747016" y="1634374"/>
            <a:ext cx="4249987" cy="3317572"/>
          </a:xfrm>
          <a:custGeom>
            <a:avLst/>
            <a:gdLst>
              <a:gd name="connsiteX0" fmla="*/ 440297 w 4644360"/>
              <a:gd name="connsiteY0" fmla="*/ 3019400 h 3625423"/>
              <a:gd name="connsiteX1" fmla="*/ 880593 w 4644360"/>
              <a:gd name="connsiteY1" fmla="*/ 3625423 h 3625423"/>
              <a:gd name="connsiteX2" fmla="*/ 0 w 4644360"/>
              <a:gd name="connsiteY2" fmla="*/ 3625423 h 3625423"/>
              <a:gd name="connsiteX3" fmla="*/ 440297 w 4644360"/>
              <a:gd name="connsiteY3" fmla="*/ 3019400 h 3625423"/>
              <a:gd name="connsiteX4" fmla="*/ 440296 w 4644360"/>
              <a:gd name="connsiteY4" fmla="*/ 2595514 h 3625423"/>
              <a:gd name="connsiteX5" fmla="*/ 607308 w 4644360"/>
              <a:gd name="connsiteY5" fmla="*/ 2759509 h 3625423"/>
              <a:gd name="connsiteX6" fmla="*/ 440296 w 4644360"/>
              <a:gd name="connsiteY6" fmla="*/ 2923504 h 3625423"/>
              <a:gd name="connsiteX7" fmla="*/ 273284 w 4644360"/>
              <a:gd name="connsiteY7" fmla="*/ 2759509 h 3625423"/>
              <a:gd name="connsiteX8" fmla="*/ 440296 w 4644360"/>
              <a:gd name="connsiteY8" fmla="*/ 2595514 h 3625423"/>
              <a:gd name="connsiteX9" fmla="*/ 2012282 w 4644360"/>
              <a:gd name="connsiteY9" fmla="*/ 2028734 h 3625423"/>
              <a:gd name="connsiteX10" fmla="*/ 2653006 w 4644360"/>
              <a:gd name="connsiteY10" fmla="*/ 2910625 h 3625423"/>
              <a:gd name="connsiteX11" fmla="*/ 1371558 w 4644360"/>
              <a:gd name="connsiteY11" fmla="*/ 2910625 h 3625423"/>
              <a:gd name="connsiteX12" fmla="*/ 2012282 w 4644360"/>
              <a:gd name="connsiteY12" fmla="*/ 2028734 h 3625423"/>
              <a:gd name="connsiteX13" fmla="*/ 2012282 w 4644360"/>
              <a:gd name="connsiteY13" fmla="*/ 1326814 h 3625423"/>
              <a:gd name="connsiteX14" fmla="*/ 2252151 w 4644360"/>
              <a:gd name="connsiteY14" fmla="*/ 1562349 h 3625423"/>
              <a:gd name="connsiteX15" fmla="*/ 2012282 w 4644360"/>
              <a:gd name="connsiteY15" fmla="*/ 1797884 h 3625423"/>
              <a:gd name="connsiteX16" fmla="*/ 1772413 w 4644360"/>
              <a:gd name="connsiteY16" fmla="*/ 1562349 h 3625423"/>
              <a:gd name="connsiteX17" fmla="*/ 2012282 w 4644360"/>
              <a:gd name="connsiteY17" fmla="*/ 1326814 h 3625423"/>
              <a:gd name="connsiteX18" fmla="*/ 3894166 w 4644360"/>
              <a:gd name="connsiteY18" fmla="*/ 988609 h 3625423"/>
              <a:gd name="connsiteX19" fmla="*/ 4644360 w 4644360"/>
              <a:gd name="connsiteY19" fmla="*/ 2469679 h 3625423"/>
              <a:gd name="connsiteX20" fmla="*/ 3143971 w 4644360"/>
              <a:gd name="connsiteY20" fmla="*/ 2469679 h 3625423"/>
              <a:gd name="connsiteX21" fmla="*/ 3894166 w 4644360"/>
              <a:gd name="connsiteY21" fmla="*/ 988609 h 3625423"/>
              <a:gd name="connsiteX22" fmla="*/ 3894167 w 4644360"/>
              <a:gd name="connsiteY22" fmla="*/ 0 h 3625423"/>
              <a:gd name="connsiteX23" fmla="*/ 4212880 w 4644360"/>
              <a:gd name="connsiteY23" fmla="*/ 312954 h 3625423"/>
              <a:gd name="connsiteX24" fmla="*/ 3894167 w 4644360"/>
              <a:gd name="connsiteY24" fmla="*/ 625908 h 3625423"/>
              <a:gd name="connsiteX25" fmla="*/ 3575454 w 4644360"/>
              <a:gd name="connsiteY25" fmla="*/ 312954 h 3625423"/>
              <a:gd name="connsiteX26" fmla="*/ 3894167 w 4644360"/>
              <a:gd name="connsiteY26" fmla="*/ 0 h 36254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4644360" h="3625423">
                <a:moveTo>
                  <a:pt x="440297" y="3019400"/>
                </a:moveTo>
                <a:cubicBezTo>
                  <a:pt x="683466" y="3019400"/>
                  <a:pt x="880593" y="3290726"/>
                  <a:pt x="880593" y="3625423"/>
                </a:cubicBezTo>
                <a:lnTo>
                  <a:pt x="0" y="3625423"/>
                </a:lnTo>
                <a:cubicBezTo>
                  <a:pt x="0" y="3290726"/>
                  <a:pt x="197128" y="3019400"/>
                  <a:pt x="440297" y="3019400"/>
                </a:cubicBezTo>
                <a:close/>
                <a:moveTo>
                  <a:pt x="440296" y="2595514"/>
                </a:moveTo>
                <a:cubicBezTo>
                  <a:pt x="532534" y="2595514"/>
                  <a:pt x="607308" y="2668937"/>
                  <a:pt x="607308" y="2759509"/>
                </a:cubicBezTo>
                <a:cubicBezTo>
                  <a:pt x="607308" y="2850081"/>
                  <a:pt x="532534" y="2923504"/>
                  <a:pt x="440296" y="2923504"/>
                </a:cubicBezTo>
                <a:cubicBezTo>
                  <a:pt x="348058" y="2923504"/>
                  <a:pt x="273284" y="2850081"/>
                  <a:pt x="273284" y="2759509"/>
                </a:cubicBezTo>
                <a:cubicBezTo>
                  <a:pt x="273284" y="2668937"/>
                  <a:pt x="348058" y="2595514"/>
                  <a:pt x="440296" y="2595514"/>
                </a:cubicBezTo>
                <a:close/>
                <a:moveTo>
                  <a:pt x="2012282" y="2028734"/>
                </a:moveTo>
                <a:cubicBezTo>
                  <a:pt x="2366144" y="2028734"/>
                  <a:pt x="2653006" y="2423570"/>
                  <a:pt x="2653006" y="2910625"/>
                </a:cubicBezTo>
                <a:lnTo>
                  <a:pt x="1371558" y="2910625"/>
                </a:lnTo>
                <a:cubicBezTo>
                  <a:pt x="1371558" y="2423570"/>
                  <a:pt x="1658420" y="2028734"/>
                  <a:pt x="2012282" y="2028734"/>
                </a:cubicBezTo>
                <a:close/>
                <a:moveTo>
                  <a:pt x="2012282" y="1326814"/>
                </a:moveTo>
                <a:cubicBezTo>
                  <a:pt x="2144758" y="1326814"/>
                  <a:pt x="2252151" y="1432267"/>
                  <a:pt x="2252151" y="1562349"/>
                </a:cubicBezTo>
                <a:cubicBezTo>
                  <a:pt x="2252151" y="1692431"/>
                  <a:pt x="2144758" y="1797884"/>
                  <a:pt x="2012282" y="1797884"/>
                </a:cubicBezTo>
                <a:cubicBezTo>
                  <a:pt x="1879806" y="1797884"/>
                  <a:pt x="1772413" y="1692431"/>
                  <a:pt x="1772413" y="1562349"/>
                </a:cubicBezTo>
                <a:cubicBezTo>
                  <a:pt x="1772413" y="1432267"/>
                  <a:pt x="1879806" y="1326814"/>
                  <a:pt x="2012282" y="1326814"/>
                </a:cubicBezTo>
                <a:close/>
                <a:moveTo>
                  <a:pt x="3894166" y="988609"/>
                </a:moveTo>
                <a:cubicBezTo>
                  <a:pt x="4308487" y="988609"/>
                  <a:pt x="4644360" y="1651707"/>
                  <a:pt x="4644360" y="2469679"/>
                </a:cubicBezTo>
                <a:lnTo>
                  <a:pt x="3143971" y="2469679"/>
                </a:lnTo>
                <a:cubicBezTo>
                  <a:pt x="3143971" y="1651707"/>
                  <a:pt x="3479845" y="988609"/>
                  <a:pt x="3894166" y="988609"/>
                </a:cubicBezTo>
                <a:close/>
                <a:moveTo>
                  <a:pt x="3894167" y="0"/>
                </a:moveTo>
                <a:cubicBezTo>
                  <a:pt x="4070187" y="0"/>
                  <a:pt x="4212880" y="140114"/>
                  <a:pt x="4212880" y="312954"/>
                </a:cubicBezTo>
                <a:cubicBezTo>
                  <a:pt x="4212880" y="485794"/>
                  <a:pt x="4070187" y="625908"/>
                  <a:pt x="3894167" y="625908"/>
                </a:cubicBezTo>
                <a:cubicBezTo>
                  <a:pt x="3718147" y="625908"/>
                  <a:pt x="3575454" y="485794"/>
                  <a:pt x="3575454" y="312954"/>
                </a:cubicBezTo>
                <a:cubicBezTo>
                  <a:pt x="3575454" y="140114"/>
                  <a:pt x="3718147" y="0"/>
                  <a:pt x="3894167" y="0"/>
                </a:cubicBezTo>
                <a:close/>
              </a:path>
            </a:pathLst>
          </a:custGeom>
          <a:solidFill>
            <a:srgbClr val="DDC047"/>
          </a:solidFill>
          <a:ln>
            <a:solidFill>
              <a:srgbClr val="DDC0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6722772" y="922209"/>
            <a:ext cx="341632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5400" dirty="0" smtClean="0">
                <a:latin typeface="华康俪金黑W8" panose="020B0809000000000000" pitchFamily="49" charset="-122"/>
                <a:ea typeface="华康俪金黑W8" panose="020B0809000000000000" pitchFamily="49" charset="-122"/>
              </a:rPr>
              <a:t>成长</a:t>
            </a:r>
            <a:r>
              <a:rPr lang="zh-CN" altLang="en-US" sz="4800" dirty="0" smtClean="0">
                <a:solidFill>
                  <a:srgbClr val="DDC047"/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rPr>
              <a:t>的秘诀</a:t>
            </a:r>
            <a:endParaRPr lang="zh-CN" altLang="en-US" sz="4800" dirty="0">
              <a:solidFill>
                <a:srgbClr val="DDC047"/>
              </a:solidFill>
              <a:latin typeface="华康俪金黑W8" panose="020B0809000000000000" pitchFamily="49" charset="-122"/>
              <a:ea typeface="华康俪金黑W8" panose="020B0809000000000000" pitchFamily="49" charset="-122"/>
            </a:endParaRPr>
          </a:p>
        </p:txBody>
      </p:sp>
      <p:cxnSp>
        <p:nvCxnSpPr>
          <p:cNvPr id="11" name="直接连接符 10"/>
          <p:cNvCxnSpPr/>
          <p:nvPr/>
        </p:nvCxnSpPr>
        <p:spPr>
          <a:xfrm>
            <a:off x="5834129" y="2112135"/>
            <a:ext cx="5383369" cy="0"/>
          </a:xfrm>
          <a:prstGeom prst="line">
            <a:avLst/>
          </a:prstGeom>
          <a:ln>
            <a:solidFill>
              <a:srgbClr val="DDC04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/>
        </p:nvSpPr>
        <p:spPr>
          <a:xfrm>
            <a:off x="6001554" y="2695506"/>
            <a:ext cx="34676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坚持比爆发更重要</a:t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6001554" y="3291755"/>
            <a:ext cx="42883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耐心是成长的最大法宝</a:t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001554" y="3888004"/>
            <a:ext cx="55194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不要</a:t>
            </a:r>
            <a:r>
              <a:rPr lang="zh-CN" altLang="en-US" sz="3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以为重复画圆就不是进步</a:t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6001554" y="4484253"/>
            <a:ext cx="46987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成长：慢反而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能</a:t>
            </a:r>
            <a:r>
              <a:rPr lang="zh-CN" altLang="en-US" sz="3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加速成功</a:t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792952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96214" y="669702"/>
            <a:ext cx="510909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800" dirty="0" smtClean="0">
                <a:solidFill>
                  <a:srgbClr val="DDC047"/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rPr>
              <a:t>小初读后小感</a:t>
            </a:r>
            <a:r>
              <a:rPr lang="en-US" altLang="zh-CN" sz="4800" dirty="0" smtClean="0">
                <a:solidFill>
                  <a:srgbClr val="DDC047"/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rPr>
              <a:t>——</a:t>
            </a:r>
            <a:endParaRPr lang="zh-CN" altLang="en-US" sz="4800" dirty="0">
              <a:solidFill>
                <a:srgbClr val="DDC047"/>
              </a:solidFill>
              <a:latin typeface="华康俪金黑W8" panose="020B0809000000000000" pitchFamily="49" charset="-122"/>
              <a:ea typeface="华康俪金黑W8" panose="020B0809000000000000" pitchFamily="49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0" y="3197381"/>
            <a:ext cx="12192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首先</a:t>
            </a:r>
            <a:r>
              <a:rPr lang="zh-CN" altLang="en-US" sz="2000" dirty="0" smtClean="0">
                <a:solidFill>
                  <a:srgbClr val="DDC04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，大学生的主要目标应该是学习各种能力，为将来进入职场做准备。</a:t>
            </a:r>
            <a:endParaRPr lang="zh-CN" altLang="en-US" sz="2000" dirty="0">
              <a:solidFill>
                <a:srgbClr val="DDC04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1925391"/>
            <a:ext cx="12192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大学</a:t>
            </a:r>
            <a:r>
              <a:rPr lang="zh-CN" altLang="en-US" sz="2000" dirty="0" smtClean="0">
                <a:solidFill>
                  <a:srgbClr val="DDC04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是一个给你自由发展的地方，是与社会接轨的地方。</a:t>
            </a:r>
            <a:endParaRPr lang="zh-CN" altLang="en-US" sz="2000" dirty="0">
              <a:solidFill>
                <a:srgbClr val="DDC04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0" y="2561386"/>
            <a:ext cx="121919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大学生</a:t>
            </a:r>
            <a:r>
              <a:rPr lang="zh-CN" altLang="en-US" sz="2000" dirty="0" smtClean="0">
                <a:solidFill>
                  <a:srgbClr val="DDC04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在大学里应该勇</a:t>
            </a:r>
            <a:r>
              <a:rPr lang="zh-CN" altLang="en-US" sz="2000" dirty="0">
                <a:solidFill>
                  <a:srgbClr val="DDC04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于</a:t>
            </a:r>
            <a:r>
              <a:rPr lang="zh-CN" altLang="en-US" sz="2000" dirty="0" smtClean="0">
                <a:solidFill>
                  <a:srgbClr val="DDC04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尝试，尝试各种可能性，不要被你的专业所局限。</a:t>
            </a:r>
            <a:endParaRPr lang="zh-CN" altLang="en-US" sz="2000" dirty="0">
              <a:solidFill>
                <a:srgbClr val="DDC04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-1" y="3833376"/>
            <a:ext cx="121919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其次</a:t>
            </a:r>
            <a:r>
              <a:rPr lang="zh-CN" altLang="en-US" sz="2000" dirty="0" smtClean="0">
                <a:solidFill>
                  <a:srgbClr val="DDC04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，大学生应该在大学里努力去学会独立思考，学会独立学习。</a:t>
            </a:r>
            <a:endParaRPr lang="zh-CN" altLang="en-US" sz="2000" dirty="0">
              <a:solidFill>
                <a:srgbClr val="DDC04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-2" y="4469371"/>
            <a:ext cx="121920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最后</a:t>
            </a:r>
            <a:r>
              <a:rPr lang="zh-CN" altLang="en-US" sz="2000" dirty="0" smtClean="0">
                <a:solidFill>
                  <a:srgbClr val="DDC04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，大学生应该学会选择，这种能力需要反复的练习。</a:t>
            </a:r>
            <a:endParaRPr lang="zh-CN" altLang="en-US" sz="2000" dirty="0">
              <a:solidFill>
                <a:srgbClr val="DDC04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0" y="5105366"/>
            <a:ext cx="121919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最重要</a:t>
            </a:r>
            <a:r>
              <a:rPr lang="zh-CN" altLang="en-US" sz="2000" dirty="0" smtClean="0">
                <a:solidFill>
                  <a:srgbClr val="DDC04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的一点是行动，摆脱懒惰，行动起来</a:t>
            </a:r>
            <a:r>
              <a:rPr lang="en-US" altLang="zh-CN" sz="2000" dirty="0">
                <a:solidFill>
                  <a:srgbClr val="DDC04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!</a:t>
            </a:r>
            <a:endParaRPr lang="zh-CN" altLang="en-US" sz="2000" dirty="0">
              <a:solidFill>
                <a:srgbClr val="DDC04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-2" y="5741362"/>
            <a:ext cx="121919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奋斗</a:t>
            </a:r>
            <a:r>
              <a:rPr lang="en-US" altLang="zh-CN" sz="2000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ing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！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10868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 1"/>
          <p:cNvSpPr/>
          <p:nvPr/>
        </p:nvSpPr>
        <p:spPr>
          <a:xfrm flipV="1">
            <a:off x="4428979" y="942536"/>
            <a:ext cx="3334042" cy="2743201"/>
          </a:xfrm>
          <a:custGeom>
            <a:avLst/>
            <a:gdLst>
              <a:gd name="connsiteX0" fmla="*/ 356389 w 3629465"/>
              <a:gd name="connsiteY0" fmla="*/ 2897945 h 2897945"/>
              <a:gd name="connsiteX1" fmla="*/ 3273076 w 3629465"/>
              <a:gd name="connsiteY1" fmla="*/ 2897945 h 2897945"/>
              <a:gd name="connsiteX2" fmla="*/ 3629465 w 3629465"/>
              <a:gd name="connsiteY2" fmla="*/ 2541556 h 2897945"/>
              <a:gd name="connsiteX3" fmla="*/ 3629465 w 3629465"/>
              <a:gd name="connsiteY3" fmla="*/ 1116045 h 2897945"/>
              <a:gd name="connsiteX4" fmla="*/ 3273076 w 3629465"/>
              <a:gd name="connsiteY4" fmla="*/ 759656 h 2897945"/>
              <a:gd name="connsiteX5" fmla="*/ 1071704 w 3629465"/>
              <a:gd name="connsiteY5" fmla="*/ 759656 h 2897945"/>
              <a:gd name="connsiteX6" fmla="*/ 450167 w 3629465"/>
              <a:gd name="connsiteY6" fmla="*/ 0 h 2897945"/>
              <a:gd name="connsiteX7" fmla="*/ 450167 w 3629465"/>
              <a:gd name="connsiteY7" fmla="*/ 759656 h 2897945"/>
              <a:gd name="connsiteX8" fmla="*/ 356389 w 3629465"/>
              <a:gd name="connsiteY8" fmla="*/ 759656 h 2897945"/>
              <a:gd name="connsiteX9" fmla="*/ 0 w 3629465"/>
              <a:gd name="connsiteY9" fmla="*/ 1116045 h 2897945"/>
              <a:gd name="connsiteX10" fmla="*/ 0 w 3629465"/>
              <a:gd name="connsiteY10" fmla="*/ 2541556 h 2897945"/>
              <a:gd name="connsiteX11" fmla="*/ 356389 w 3629465"/>
              <a:gd name="connsiteY11" fmla="*/ 2897945 h 28979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629465" h="2897945">
                <a:moveTo>
                  <a:pt x="356389" y="2897945"/>
                </a:moveTo>
                <a:lnTo>
                  <a:pt x="3273076" y="2897945"/>
                </a:lnTo>
                <a:cubicBezTo>
                  <a:pt x="3469904" y="2897945"/>
                  <a:pt x="3629465" y="2738384"/>
                  <a:pt x="3629465" y="2541556"/>
                </a:cubicBezTo>
                <a:lnTo>
                  <a:pt x="3629465" y="1116045"/>
                </a:lnTo>
                <a:cubicBezTo>
                  <a:pt x="3629465" y="919217"/>
                  <a:pt x="3469904" y="759656"/>
                  <a:pt x="3273076" y="759656"/>
                </a:cubicBezTo>
                <a:lnTo>
                  <a:pt x="1071704" y="759656"/>
                </a:lnTo>
                <a:lnTo>
                  <a:pt x="450167" y="0"/>
                </a:lnTo>
                <a:lnTo>
                  <a:pt x="450167" y="759656"/>
                </a:lnTo>
                <a:lnTo>
                  <a:pt x="356389" y="759656"/>
                </a:lnTo>
                <a:cubicBezTo>
                  <a:pt x="159561" y="759656"/>
                  <a:pt x="0" y="919217"/>
                  <a:pt x="0" y="1116045"/>
                </a:cubicBezTo>
                <a:lnTo>
                  <a:pt x="0" y="2541556"/>
                </a:lnTo>
                <a:cubicBezTo>
                  <a:pt x="0" y="2738384"/>
                  <a:pt x="159561" y="2897945"/>
                  <a:pt x="356389" y="2897945"/>
                </a:cubicBezTo>
                <a:close/>
              </a:path>
            </a:pathLst>
          </a:custGeom>
          <a:solidFill>
            <a:srgbClr val="DDC047"/>
          </a:solidFill>
          <a:ln>
            <a:solidFill>
              <a:srgbClr val="DDC0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0" y="1444502"/>
            <a:ext cx="12192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6000" dirty="0">
                <a:solidFill>
                  <a:schemeClr val="bg1"/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rPr>
              <a:t>结语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0" y="4378817"/>
            <a:ext cx="12192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800" dirty="0" smtClean="0">
                <a:solidFill>
                  <a:srgbClr val="DDC047"/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rPr>
              <a:t>我已经被这本书彻彻底底的</a:t>
            </a:r>
            <a:r>
              <a:rPr lang="zh-CN" altLang="en-US" sz="5400" dirty="0" smtClean="0">
                <a:latin typeface="华康俪金黑W8" panose="020B0809000000000000" pitchFamily="49" charset="-122"/>
                <a:ea typeface="华康俪金黑W8" panose="020B0809000000000000" pitchFamily="49" charset="-122"/>
              </a:rPr>
              <a:t>改变</a:t>
            </a:r>
            <a:r>
              <a:rPr lang="zh-CN" altLang="en-US" sz="4800" dirty="0" smtClean="0">
                <a:solidFill>
                  <a:srgbClr val="DDC047"/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rPr>
              <a:t>了</a:t>
            </a:r>
            <a:endParaRPr lang="zh-CN" altLang="en-US" sz="4800" dirty="0">
              <a:solidFill>
                <a:srgbClr val="DDC047"/>
              </a:solidFill>
              <a:latin typeface="华康俪金黑W8" panose="020B0809000000000000" pitchFamily="49" charset="-122"/>
              <a:ea typeface="华康俪金黑W8" panose="020B0809000000000000" pitchFamily="49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0869769" y="5810561"/>
            <a:ext cx="1184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@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秋叶 著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9015094" y="6179893"/>
            <a:ext cx="30396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PPT Design By @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初梦想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24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519213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1969477"/>
            <a:ext cx="12192000" cy="3179298"/>
          </a:xfrm>
          <a:prstGeom prst="rect">
            <a:avLst/>
          </a:prstGeom>
          <a:solidFill>
            <a:srgbClr val="DDC047"/>
          </a:soli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2287" y="2433711"/>
            <a:ext cx="1854786" cy="1854786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1963185" y="4383399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秋夜青语的微信二维</a:t>
            </a:r>
            <a:r>
              <a:rPr lang="zh-CN" altLang="en-US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码</a:t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745133" y="2333607"/>
            <a:ext cx="5157908" cy="24191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读书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系列：初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·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读书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系列</a:t>
            </a:r>
            <a:endParaRPr lang="en-US" altLang="zh-CN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分享</a:t>
            </a:r>
            <a:r>
              <a:rPr lang="zh-CN" altLang="en-US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人：</a:t>
            </a:r>
            <a:r>
              <a:rPr lang="en-US" altLang="zh-CN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</a:t>
            </a:r>
            <a:r>
              <a:rPr lang="zh-CN" altLang="en-US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初梦想</a:t>
            </a:r>
            <a:r>
              <a:rPr lang="en-US" altLang="zh-CN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24</a:t>
            </a:r>
          </a:p>
          <a:p>
            <a:pPr>
              <a:lnSpc>
                <a:spcPct val="120000"/>
              </a:lnSpc>
            </a:pP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endParaRPr lang="en-US" altLang="zh-CN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altLang="zh-CN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</a:t>
            </a:r>
            <a:r>
              <a:rPr lang="zh-CN" altLang="en-US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秋叶 大叔教大学生独立思考的平台，或青春，或求学，或职场，或情感，不温柔，但坦诚。</a:t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74877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0" y="0"/>
            <a:ext cx="12192000" cy="1231900"/>
          </a:xfrm>
          <a:prstGeom prst="rect">
            <a:avLst/>
          </a:prstGeom>
          <a:solidFill>
            <a:srgbClr val="DDC0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2748533" y="31571"/>
            <a:ext cx="669493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400" b="1" dirty="0" smtClean="0">
                <a:solidFill>
                  <a:srgbClr val="FFFFFF"/>
                </a:solidFill>
                <a:latin typeface="方正准圆简体" panose="03000509000000000000" pitchFamily="65" charset="-122"/>
                <a:ea typeface="方正准圆简体" panose="03000509000000000000" pitchFamily="65" charset="-122"/>
              </a:rPr>
              <a:t>感谢</a:t>
            </a:r>
            <a:r>
              <a:rPr lang="en-US" altLang="zh-CN" sz="2400" b="1" dirty="0" smtClean="0">
                <a:solidFill>
                  <a:srgbClr val="FFFFFF"/>
                </a:solidFill>
                <a:latin typeface="方正准圆简体" panose="03000509000000000000" pitchFamily="65" charset="-122"/>
                <a:ea typeface="方正准圆简体" panose="03000509000000000000" pitchFamily="65" charset="-122"/>
              </a:rPr>
              <a:t>@</a:t>
            </a:r>
            <a:r>
              <a:rPr lang="zh-CN" altLang="en-US" sz="2400" b="1" dirty="0" smtClean="0">
                <a:solidFill>
                  <a:srgbClr val="FFFFFF"/>
                </a:solidFill>
                <a:latin typeface="方正准圆简体" panose="03000509000000000000" pitchFamily="65" charset="-122"/>
                <a:ea typeface="方正准圆简体" panose="03000509000000000000" pitchFamily="65" charset="-122"/>
              </a:rPr>
              <a:t>秋叶 ，</a:t>
            </a:r>
            <a:r>
              <a:rPr lang="en-US" altLang="zh-CN" sz="2400" b="1" dirty="0" smtClean="0">
                <a:solidFill>
                  <a:srgbClr val="FFFFFF"/>
                </a:solidFill>
                <a:latin typeface="方正准圆简体" panose="03000509000000000000" pitchFamily="65" charset="-122"/>
                <a:ea typeface="方正准圆简体" panose="03000509000000000000" pitchFamily="65" charset="-122"/>
              </a:rPr>
              <a:t>@</a:t>
            </a:r>
            <a:r>
              <a:rPr lang="zh-CN" altLang="en-US" sz="2400" b="1" dirty="0" smtClean="0">
                <a:solidFill>
                  <a:srgbClr val="FFFFFF"/>
                </a:solidFill>
                <a:latin typeface="方正准圆简体" panose="03000509000000000000" pitchFamily="65" charset="-122"/>
                <a:ea typeface="方正准圆简体" panose="03000509000000000000" pitchFamily="65" charset="-122"/>
              </a:rPr>
              <a:t>小巴</a:t>
            </a:r>
            <a:r>
              <a:rPr lang="en-US" altLang="zh-CN" sz="2400" b="1" dirty="0" smtClean="0">
                <a:solidFill>
                  <a:srgbClr val="FFFFFF"/>
                </a:solidFill>
                <a:latin typeface="方正准圆简体" panose="03000509000000000000" pitchFamily="65" charset="-122"/>
                <a:ea typeface="方正准圆简体" panose="03000509000000000000" pitchFamily="65" charset="-122"/>
              </a:rPr>
              <a:t>_1990 </a:t>
            </a:r>
            <a:r>
              <a:rPr lang="zh-CN" altLang="en-US" sz="2400" b="1" dirty="0" smtClean="0">
                <a:solidFill>
                  <a:srgbClr val="FFFFFF"/>
                </a:solidFill>
                <a:latin typeface="方正准圆简体" panose="03000509000000000000" pitchFamily="65" charset="-122"/>
                <a:ea typeface="方正准圆简体" panose="03000509000000000000" pitchFamily="65" charset="-122"/>
              </a:rPr>
              <a:t>，</a:t>
            </a:r>
            <a:r>
              <a:rPr lang="en-US" altLang="zh-CN" sz="2400" b="1" dirty="0" smtClean="0">
                <a:solidFill>
                  <a:srgbClr val="FFFFFF"/>
                </a:solidFill>
                <a:latin typeface="方正准圆简体" panose="03000509000000000000" pitchFamily="65" charset="-122"/>
                <a:ea typeface="方正准圆简体" panose="03000509000000000000" pitchFamily="65" charset="-122"/>
              </a:rPr>
              <a:t>@</a:t>
            </a:r>
            <a:r>
              <a:rPr lang="zh-CN" altLang="en-US" sz="2400" b="1" dirty="0">
                <a:solidFill>
                  <a:srgbClr val="FFFFFF"/>
                </a:solidFill>
                <a:latin typeface="方正准圆简体" panose="03000509000000000000" pitchFamily="65" charset="-122"/>
                <a:ea typeface="方正准圆简体" panose="03000509000000000000" pitchFamily="65" charset="-122"/>
              </a:rPr>
              <a:t>秦</a:t>
            </a:r>
            <a:r>
              <a:rPr lang="zh-CN" altLang="en-US" sz="2400" b="1" dirty="0" smtClean="0">
                <a:solidFill>
                  <a:srgbClr val="FFFFFF"/>
                </a:solidFill>
                <a:latin typeface="方正准圆简体" panose="03000509000000000000" pitchFamily="65" charset="-122"/>
                <a:ea typeface="方正准圆简体" panose="03000509000000000000" pitchFamily="65" charset="-122"/>
              </a:rPr>
              <a:t>阳 指导点评</a:t>
            </a:r>
            <a:endParaRPr lang="en-US" altLang="zh-CN" sz="2400" b="1" dirty="0" smtClean="0">
              <a:solidFill>
                <a:srgbClr val="FFFFFF"/>
              </a:solidFill>
              <a:latin typeface="方正准圆简体" panose="03000509000000000000" pitchFamily="65" charset="-122"/>
              <a:ea typeface="方正准圆简体" panose="03000509000000000000" pitchFamily="65" charset="-122"/>
            </a:endParaRPr>
          </a:p>
          <a:p>
            <a:pPr algn="ctr">
              <a:lnSpc>
                <a:spcPct val="150000"/>
              </a:lnSpc>
            </a:pPr>
            <a:r>
              <a:rPr lang="en-US" altLang="zh-CN" sz="2400" b="1" dirty="0" smtClean="0">
                <a:solidFill>
                  <a:srgbClr val="FFFFFF"/>
                </a:solidFill>
                <a:latin typeface="方正准圆简体" panose="03000509000000000000" pitchFamily="65" charset="-122"/>
                <a:ea typeface="方正准圆简体" panose="03000509000000000000" pitchFamily="65" charset="-122"/>
              </a:rPr>
              <a:t>#</a:t>
            </a:r>
            <a:r>
              <a:rPr lang="zh-CN" altLang="en-US" sz="2400" b="1" dirty="0" smtClean="0">
                <a:solidFill>
                  <a:srgbClr val="FFFFFF"/>
                </a:solidFill>
                <a:latin typeface="方正准圆简体" panose="03000509000000000000" pitchFamily="65" charset="-122"/>
                <a:ea typeface="方正准圆简体" panose="03000509000000000000" pitchFamily="65" charset="-122"/>
              </a:rPr>
              <a:t>和秋叶一起学</a:t>
            </a:r>
            <a:r>
              <a:rPr lang="en-US" altLang="zh-CN" sz="2400" b="1" dirty="0" smtClean="0">
                <a:solidFill>
                  <a:srgbClr val="FFFFFF"/>
                </a:solidFill>
                <a:latin typeface="方正准圆简体" panose="03000509000000000000" pitchFamily="65" charset="-122"/>
                <a:ea typeface="方正准圆简体" panose="03000509000000000000" pitchFamily="65" charset="-122"/>
              </a:rPr>
              <a:t>PPT#</a:t>
            </a:r>
            <a:r>
              <a:rPr lang="zh-CN" altLang="en-US" sz="2400" b="1" dirty="0" smtClean="0">
                <a:solidFill>
                  <a:srgbClr val="FFFFFF"/>
                </a:solidFill>
                <a:latin typeface="方正准圆简体" panose="03000509000000000000" pitchFamily="65" charset="-122"/>
                <a:ea typeface="方正准圆简体" panose="03000509000000000000" pitchFamily="65" charset="-122"/>
              </a:rPr>
              <a:t>我在网易云课堂等你</a:t>
            </a:r>
            <a:endParaRPr lang="zh-CN" altLang="en-US" sz="2400" b="1" dirty="0">
              <a:solidFill>
                <a:srgbClr val="FFFFFF"/>
              </a:solidFill>
              <a:latin typeface="方正准圆简体" panose="03000509000000000000" pitchFamily="65" charset="-122"/>
              <a:ea typeface="方正准圆简体" panose="03000509000000000000" pitchFamily="65" charset="-122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2053364" y="5475412"/>
            <a:ext cx="2395684" cy="748608"/>
            <a:chOff x="2930525" y="5448992"/>
            <a:chExt cx="2395684" cy="748608"/>
          </a:xfrm>
        </p:grpSpPr>
        <p:sp>
          <p:nvSpPr>
            <p:cNvPr id="19" name="矩形 18"/>
            <p:cNvSpPr/>
            <p:nvPr/>
          </p:nvSpPr>
          <p:spPr>
            <a:xfrm>
              <a:off x="2930525" y="5448992"/>
              <a:ext cx="2395684" cy="748608"/>
            </a:xfrm>
            <a:prstGeom prst="rect">
              <a:avLst/>
            </a:prstGeom>
            <a:solidFill>
              <a:srgbClr val="DDC0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3065821" y="5448992"/>
              <a:ext cx="212509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zh-CN" altLang="en-US" sz="2400" b="1" dirty="0">
                  <a:solidFill>
                    <a:srgbClr val="FFFFFF"/>
                  </a:solidFill>
                  <a:latin typeface="方正准圆简体" panose="03000509000000000000" pitchFamily="65" charset="-122"/>
                  <a:ea typeface="方正准圆简体" panose="03000509000000000000" pitchFamily="65" charset="-122"/>
                </a:rPr>
                <a:t>修改前</a:t>
              </a:r>
            </a:p>
          </p:txBody>
        </p:sp>
      </p:grpSp>
      <p:grpSp>
        <p:nvGrpSpPr>
          <p:cNvPr id="22" name="组合 21"/>
          <p:cNvGrpSpPr/>
          <p:nvPr/>
        </p:nvGrpSpPr>
        <p:grpSpPr>
          <a:xfrm>
            <a:off x="7692164" y="5475412"/>
            <a:ext cx="2395684" cy="748608"/>
            <a:chOff x="2930525" y="5448992"/>
            <a:chExt cx="2395684" cy="748608"/>
          </a:xfrm>
          <a:solidFill>
            <a:srgbClr val="DDC047"/>
          </a:solidFill>
        </p:grpSpPr>
        <p:sp>
          <p:nvSpPr>
            <p:cNvPr id="23" name="矩形 22"/>
            <p:cNvSpPr/>
            <p:nvPr/>
          </p:nvSpPr>
          <p:spPr>
            <a:xfrm>
              <a:off x="2930525" y="5448992"/>
              <a:ext cx="2395684" cy="74860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24" name="文本框 23"/>
            <p:cNvSpPr txBox="1"/>
            <p:nvPr/>
          </p:nvSpPr>
          <p:spPr>
            <a:xfrm>
              <a:off x="3065821" y="5448992"/>
              <a:ext cx="2125092" cy="588303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zh-CN" altLang="en-US" sz="2400" b="1" dirty="0" smtClean="0">
                  <a:solidFill>
                    <a:srgbClr val="FFFFFF"/>
                  </a:solidFill>
                  <a:latin typeface="方正准圆简体" panose="03000509000000000000" pitchFamily="65" charset="-122"/>
                  <a:ea typeface="方正准圆简体" panose="03000509000000000000" pitchFamily="65" charset="-122"/>
                </a:rPr>
                <a:t>修改后</a:t>
              </a:r>
              <a:endParaRPr lang="zh-CN" altLang="en-US" sz="2400" b="1" dirty="0">
                <a:solidFill>
                  <a:srgbClr val="FFFFFF"/>
                </a:solidFill>
                <a:latin typeface="方正准圆简体" panose="03000509000000000000" pitchFamily="65" charset="-122"/>
                <a:ea typeface="方正准圆简体" panose="03000509000000000000" pitchFamily="65" charset="-122"/>
              </a:endParaRPr>
            </a:p>
          </p:txBody>
        </p:sp>
      </p:grpSp>
      <p:sp>
        <p:nvSpPr>
          <p:cNvPr id="21" name="矩形 20"/>
          <p:cNvSpPr/>
          <p:nvPr/>
        </p:nvSpPr>
        <p:spPr>
          <a:xfrm>
            <a:off x="10693400" y="0"/>
            <a:ext cx="1498600" cy="1231900"/>
          </a:xfrm>
          <a:custGeom>
            <a:avLst/>
            <a:gdLst>
              <a:gd name="connsiteX0" fmla="*/ 0 w 1625600"/>
              <a:gd name="connsiteY0" fmla="*/ 0 h 1231900"/>
              <a:gd name="connsiteX1" fmla="*/ 1625600 w 1625600"/>
              <a:gd name="connsiteY1" fmla="*/ 0 h 1231900"/>
              <a:gd name="connsiteX2" fmla="*/ 1625600 w 1625600"/>
              <a:gd name="connsiteY2" fmla="*/ 1231900 h 1231900"/>
              <a:gd name="connsiteX3" fmla="*/ 0 w 1625600"/>
              <a:gd name="connsiteY3" fmla="*/ 1231900 h 1231900"/>
              <a:gd name="connsiteX4" fmla="*/ 0 w 1625600"/>
              <a:gd name="connsiteY4" fmla="*/ 0 h 1231900"/>
              <a:gd name="connsiteX0" fmla="*/ 0 w 1625600"/>
              <a:gd name="connsiteY0" fmla="*/ 1231900 h 1231900"/>
              <a:gd name="connsiteX1" fmla="*/ 1625600 w 1625600"/>
              <a:gd name="connsiteY1" fmla="*/ 0 h 1231900"/>
              <a:gd name="connsiteX2" fmla="*/ 1625600 w 1625600"/>
              <a:gd name="connsiteY2" fmla="*/ 1231900 h 1231900"/>
              <a:gd name="connsiteX3" fmla="*/ 0 w 1625600"/>
              <a:gd name="connsiteY3" fmla="*/ 1231900 h 1231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25600" h="1231900">
                <a:moveTo>
                  <a:pt x="0" y="1231900"/>
                </a:moveTo>
                <a:lnTo>
                  <a:pt x="1625600" y="0"/>
                </a:lnTo>
                <a:lnTo>
                  <a:pt x="1625600" y="1231900"/>
                </a:lnTo>
                <a:lnTo>
                  <a:pt x="0" y="1231900"/>
                </a:lnTo>
                <a:close/>
              </a:path>
            </a:pathLst>
          </a:cu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7" name="矩形 20"/>
          <p:cNvSpPr/>
          <p:nvPr/>
        </p:nvSpPr>
        <p:spPr>
          <a:xfrm>
            <a:off x="3800928" y="5475412"/>
            <a:ext cx="648120" cy="748608"/>
          </a:xfrm>
          <a:custGeom>
            <a:avLst/>
            <a:gdLst>
              <a:gd name="connsiteX0" fmla="*/ 0 w 1625600"/>
              <a:gd name="connsiteY0" fmla="*/ 0 h 1231900"/>
              <a:gd name="connsiteX1" fmla="*/ 1625600 w 1625600"/>
              <a:gd name="connsiteY1" fmla="*/ 0 h 1231900"/>
              <a:gd name="connsiteX2" fmla="*/ 1625600 w 1625600"/>
              <a:gd name="connsiteY2" fmla="*/ 1231900 h 1231900"/>
              <a:gd name="connsiteX3" fmla="*/ 0 w 1625600"/>
              <a:gd name="connsiteY3" fmla="*/ 1231900 h 1231900"/>
              <a:gd name="connsiteX4" fmla="*/ 0 w 1625600"/>
              <a:gd name="connsiteY4" fmla="*/ 0 h 1231900"/>
              <a:gd name="connsiteX0" fmla="*/ 0 w 1625600"/>
              <a:gd name="connsiteY0" fmla="*/ 1231900 h 1231900"/>
              <a:gd name="connsiteX1" fmla="*/ 1625600 w 1625600"/>
              <a:gd name="connsiteY1" fmla="*/ 0 h 1231900"/>
              <a:gd name="connsiteX2" fmla="*/ 1625600 w 1625600"/>
              <a:gd name="connsiteY2" fmla="*/ 1231900 h 1231900"/>
              <a:gd name="connsiteX3" fmla="*/ 0 w 1625600"/>
              <a:gd name="connsiteY3" fmla="*/ 1231900 h 1231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25600" h="1231900">
                <a:moveTo>
                  <a:pt x="0" y="1231900"/>
                </a:moveTo>
                <a:lnTo>
                  <a:pt x="1625600" y="0"/>
                </a:lnTo>
                <a:lnTo>
                  <a:pt x="1625600" y="1231900"/>
                </a:lnTo>
                <a:lnTo>
                  <a:pt x="0" y="1231900"/>
                </a:lnTo>
                <a:close/>
              </a:path>
            </a:pathLst>
          </a:cu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8" name="矩形 20"/>
          <p:cNvSpPr/>
          <p:nvPr/>
        </p:nvSpPr>
        <p:spPr>
          <a:xfrm>
            <a:off x="9372080" y="5475412"/>
            <a:ext cx="715768" cy="748608"/>
          </a:xfrm>
          <a:custGeom>
            <a:avLst/>
            <a:gdLst>
              <a:gd name="connsiteX0" fmla="*/ 0 w 1625600"/>
              <a:gd name="connsiteY0" fmla="*/ 0 h 1231900"/>
              <a:gd name="connsiteX1" fmla="*/ 1625600 w 1625600"/>
              <a:gd name="connsiteY1" fmla="*/ 0 h 1231900"/>
              <a:gd name="connsiteX2" fmla="*/ 1625600 w 1625600"/>
              <a:gd name="connsiteY2" fmla="*/ 1231900 h 1231900"/>
              <a:gd name="connsiteX3" fmla="*/ 0 w 1625600"/>
              <a:gd name="connsiteY3" fmla="*/ 1231900 h 1231900"/>
              <a:gd name="connsiteX4" fmla="*/ 0 w 1625600"/>
              <a:gd name="connsiteY4" fmla="*/ 0 h 1231900"/>
              <a:gd name="connsiteX0" fmla="*/ 0 w 1625600"/>
              <a:gd name="connsiteY0" fmla="*/ 1231900 h 1231900"/>
              <a:gd name="connsiteX1" fmla="*/ 1625600 w 1625600"/>
              <a:gd name="connsiteY1" fmla="*/ 0 h 1231900"/>
              <a:gd name="connsiteX2" fmla="*/ 1625600 w 1625600"/>
              <a:gd name="connsiteY2" fmla="*/ 1231900 h 1231900"/>
              <a:gd name="connsiteX3" fmla="*/ 0 w 1625600"/>
              <a:gd name="connsiteY3" fmla="*/ 1231900 h 1231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25600" h="1231900">
                <a:moveTo>
                  <a:pt x="0" y="1231900"/>
                </a:moveTo>
                <a:lnTo>
                  <a:pt x="1625600" y="0"/>
                </a:lnTo>
                <a:lnTo>
                  <a:pt x="1625600" y="1231900"/>
                </a:lnTo>
                <a:lnTo>
                  <a:pt x="0" y="1231900"/>
                </a:lnTo>
                <a:close/>
              </a:path>
            </a:pathLst>
          </a:cu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cxnSp>
        <p:nvCxnSpPr>
          <p:cNvPr id="3" name="直接连接符 2"/>
          <p:cNvCxnSpPr/>
          <p:nvPr/>
        </p:nvCxnSpPr>
        <p:spPr>
          <a:xfrm>
            <a:off x="6096000" y="1231900"/>
            <a:ext cx="0" cy="5626100"/>
          </a:xfrm>
          <a:prstGeom prst="line">
            <a:avLst/>
          </a:prstGeom>
          <a:ln w="22225">
            <a:solidFill>
              <a:srgbClr val="DDC04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4429" y="2174894"/>
            <a:ext cx="5118789" cy="2856620"/>
          </a:xfrm>
          <a:prstGeom prst="rect">
            <a:avLst/>
          </a:prstGeom>
          <a:ln>
            <a:solidFill>
              <a:srgbClr val="DDC047"/>
            </a:solidFill>
          </a:ln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782" y="2174894"/>
            <a:ext cx="5078437" cy="2856621"/>
          </a:xfrm>
          <a:prstGeom prst="rect">
            <a:avLst/>
          </a:prstGeom>
          <a:ln>
            <a:solidFill>
              <a:srgbClr val="DDC047"/>
            </a:solidFill>
          </a:ln>
        </p:spPr>
      </p:pic>
    </p:spTree>
    <p:extLst>
      <p:ext uri="{BB962C8B-B14F-4D97-AF65-F5344CB8AC3E}">
        <p14:creationId xmlns:p14="http://schemas.microsoft.com/office/powerpoint/2010/main" val="10048857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">
  <a:themeElements>
    <a:clrScheme name="孙东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529C"/>
      </a:accent1>
      <a:accent2>
        <a:srgbClr val="0070C0"/>
      </a:accent2>
      <a:accent3>
        <a:srgbClr val="43DD0D"/>
      </a:accent3>
      <a:accent4>
        <a:srgbClr val="D3E849"/>
      </a:accent4>
      <a:accent5>
        <a:srgbClr val="F200A1"/>
      </a:accent5>
      <a:accent6>
        <a:srgbClr val="FF0000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1695</TotalTime>
  <Words>781</Words>
  <Application>Microsoft Office PowerPoint</Application>
  <PresentationFormat>宽屏</PresentationFormat>
  <Paragraphs>155</Paragraphs>
  <Slides>35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35</vt:i4>
      </vt:variant>
    </vt:vector>
  </HeadingPairs>
  <TitlesOfParts>
    <vt:vector size="48" baseType="lpstr">
      <vt:lpstr>华康俪金黑W8</vt:lpstr>
      <vt:lpstr>微软雅黑</vt:lpstr>
      <vt:lpstr>Kozuka Gothic Pro B</vt:lpstr>
      <vt:lpstr>Arial</vt:lpstr>
      <vt:lpstr>Calibri Light</vt:lpstr>
      <vt:lpstr>宋体</vt:lpstr>
      <vt:lpstr>方正准圆简体</vt:lpstr>
      <vt:lpstr>Elephant</vt:lpstr>
      <vt:lpstr>Meiryo UI</vt:lpstr>
      <vt:lpstr>方正静蕾简体</vt:lpstr>
      <vt:lpstr>Calibri</vt:lpstr>
      <vt:lpstr>Office 主题</vt:lpstr>
      <vt:lpstr>1_Office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 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dellpc</dc:creator>
  <cp:lastModifiedBy>dellpc</cp:lastModifiedBy>
  <cp:revision>96</cp:revision>
  <dcterms:created xsi:type="dcterms:W3CDTF">2014-01-17T14:11:59Z</dcterms:created>
  <dcterms:modified xsi:type="dcterms:W3CDTF">2014-03-08T03:53:27Z</dcterms:modified>
</cp:coreProperties>
</file>