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sldIdLst>
    <p:sldId id="256" r:id="rId4"/>
    <p:sldId id="258" r:id="rId5"/>
    <p:sldId id="259" r:id="rId6"/>
    <p:sldId id="261" r:id="rId7"/>
    <p:sldId id="271" r:id="rId8"/>
    <p:sldId id="264" r:id="rId9"/>
    <p:sldId id="266" r:id="rId10"/>
    <p:sldId id="267" r:id="rId11"/>
    <p:sldId id="272" r:id="rId12"/>
    <p:sldId id="273" r:id="rId13"/>
    <p:sldId id="274" r:id="rId14"/>
    <p:sldId id="275" r:id="rId15"/>
    <p:sldId id="276" r:id="rId16"/>
    <p:sldId id="278" r:id="rId17"/>
    <p:sldId id="277" r:id="rId18"/>
    <p:sldId id="279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>
          <p15:clr>
            <a:srgbClr val="A4A3A4"/>
          </p15:clr>
        </p15:guide>
        <p15:guide id="2" pos="5375">
          <p15:clr>
            <a:srgbClr val="A4A3A4"/>
          </p15:clr>
        </p15:guide>
        <p15:guide id="3" pos="52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1E94F0"/>
    <a:srgbClr val="00A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70" d="100"/>
          <a:sy n="70" d="100"/>
        </p:scale>
        <p:origin x="1392" y="66"/>
      </p:cViewPr>
      <p:guideLst>
        <p:guide orient="horz" pos="346"/>
        <p:guide pos="5375"/>
        <p:guide pos="52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3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F77FA-927F-47BE-9657-0B35BBFE60F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71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941B99-67D5-4E06-A73E-7A5D4651971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25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66B6F0-CF22-4087-8E46-9C9032A0327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56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B26F0-872F-447A-A6FB-6247331B5E7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2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11EC07-D10C-4069-AFAA-4D2DF02FDC2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1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DC7256-13C5-4557-AD5C-68B05989E29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59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82FABA-9D9B-4D6E-9B95-84A3F9A5093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96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12EF73-7560-4941-A9E9-DEBF48F39B1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46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50ED6-157C-4D36-9180-609C1B67D95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323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93E45-9D44-4BA8-AA79-B5EACAECC41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23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A01-4D5A-4518-87B4-FE35402B52A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24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1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91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879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342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2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105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334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51325"/>
            <a:ext cx="9140054" cy="706827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0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4244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4360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05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3190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0830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478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04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8035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5514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7836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3751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0130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9106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06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9044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53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0454DAA0-6D13-49F9-BE14-162B94357E0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066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02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913" y="908050"/>
            <a:ext cx="3094037" cy="4608513"/>
          </a:xfrm>
          <a:prstGeom prst="rect">
            <a:avLst/>
          </a:prstGeom>
          <a:noFill/>
          <a:ln>
            <a:noFill/>
          </a:ln>
          <a:effectLst>
            <a:outerShdw dist="139700" dir="2700000" algn="ctr" rotWithShape="0">
              <a:srgbClr val="333333">
                <a:alpha val="64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1" name="直接连接符 2"/>
          <p:cNvCxnSpPr>
            <a:cxnSpLocks noChangeShapeType="1"/>
            <a:endCxn id="2053" idx="2"/>
          </p:cNvCxnSpPr>
          <p:nvPr/>
        </p:nvCxnSpPr>
        <p:spPr bwMode="auto">
          <a:xfrm>
            <a:off x="1592263" y="3556000"/>
            <a:ext cx="1670050" cy="11113"/>
          </a:xfrm>
          <a:prstGeom prst="line">
            <a:avLst/>
          </a:prstGeom>
          <a:noFill/>
          <a:ln w="2857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2" name="直接连接符 7"/>
          <p:cNvCxnSpPr>
            <a:cxnSpLocks noChangeShapeType="1"/>
          </p:cNvCxnSpPr>
          <p:nvPr/>
        </p:nvCxnSpPr>
        <p:spPr bwMode="auto">
          <a:xfrm>
            <a:off x="6011863" y="2720975"/>
            <a:ext cx="3132137" cy="0"/>
          </a:xfrm>
          <a:prstGeom prst="line">
            <a:avLst/>
          </a:prstGeom>
          <a:noFill/>
          <a:ln w="28575">
            <a:solidFill>
              <a:srgbClr val="59595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3" name="椭圆 6"/>
          <p:cNvSpPr>
            <a:spLocks noChangeAspect="1" noChangeArrowheads="1"/>
          </p:cNvSpPr>
          <p:nvPr/>
        </p:nvSpPr>
        <p:spPr bwMode="auto">
          <a:xfrm>
            <a:off x="3262313" y="3513138"/>
            <a:ext cx="107950" cy="107950"/>
          </a:xfrm>
          <a:prstGeom prst="ellipse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2054" name="椭圆 10"/>
          <p:cNvSpPr>
            <a:spLocks noChangeArrowheads="1"/>
          </p:cNvSpPr>
          <p:nvPr/>
        </p:nvSpPr>
        <p:spPr bwMode="auto">
          <a:xfrm>
            <a:off x="5940425" y="2655888"/>
            <a:ext cx="125413" cy="125412"/>
          </a:xfrm>
          <a:prstGeom prst="ellipse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2055" name="TextBox 8"/>
          <p:cNvSpPr txBox="1">
            <a:spLocks noChangeArrowheads="1"/>
          </p:cNvSpPr>
          <p:nvPr/>
        </p:nvSpPr>
        <p:spPr bwMode="auto">
          <a:xfrm>
            <a:off x="179388" y="3049588"/>
            <a:ext cx="4679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不要只做</a:t>
            </a:r>
            <a:r>
              <a:rPr lang="zh-CN" altLang="zh-CN" sz="24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我告诉你的事</a:t>
            </a:r>
            <a:endParaRPr lang="zh-CN" altLang="zh-CN" sz="2000" b="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6" name="TextBox 12"/>
          <p:cNvSpPr txBox="1">
            <a:spLocks noChangeArrowheads="1"/>
          </p:cNvSpPr>
          <p:nvPr/>
        </p:nvSpPr>
        <p:spPr bwMode="auto">
          <a:xfrm>
            <a:off x="6227763" y="2185988"/>
            <a:ext cx="46815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请做</a:t>
            </a:r>
            <a:r>
              <a:rPr lang="zh-CN" altLang="zh-CN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需要做的事</a:t>
            </a:r>
            <a:endParaRPr lang="zh-CN" altLang="zh-CN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57" name="直接连接符 15"/>
          <p:cNvCxnSpPr>
            <a:cxnSpLocks noChangeShapeType="1"/>
          </p:cNvCxnSpPr>
          <p:nvPr/>
        </p:nvCxnSpPr>
        <p:spPr bwMode="auto">
          <a:xfrm flipH="1">
            <a:off x="1403350" y="3548063"/>
            <a:ext cx="187325" cy="417512"/>
          </a:xfrm>
          <a:prstGeom prst="line">
            <a:avLst/>
          </a:prstGeom>
          <a:noFill/>
          <a:ln w="2857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" name="直接连接符 18"/>
          <p:cNvCxnSpPr>
            <a:cxnSpLocks noChangeShapeType="1"/>
          </p:cNvCxnSpPr>
          <p:nvPr/>
        </p:nvCxnSpPr>
        <p:spPr bwMode="auto">
          <a:xfrm>
            <a:off x="827088" y="3562350"/>
            <a:ext cx="576262" cy="403225"/>
          </a:xfrm>
          <a:prstGeom prst="line">
            <a:avLst/>
          </a:prstGeom>
          <a:noFill/>
          <a:ln w="2857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9" name="直接连接符 19"/>
          <p:cNvCxnSpPr>
            <a:cxnSpLocks noChangeShapeType="1"/>
          </p:cNvCxnSpPr>
          <p:nvPr/>
        </p:nvCxnSpPr>
        <p:spPr bwMode="auto">
          <a:xfrm>
            <a:off x="-727075" y="3573463"/>
            <a:ext cx="1565275" cy="0"/>
          </a:xfrm>
          <a:prstGeom prst="line">
            <a:avLst/>
          </a:prstGeom>
          <a:noFill/>
          <a:ln w="2857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>
            <a:spLocks noChangeArrowheads="1"/>
          </p:cNvSpPr>
          <p:nvPr/>
        </p:nvSpPr>
        <p:spPr bwMode="auto">
          <a:xfrm>
            <a:off x="503238" y="549275"/>
            <a:ext cx="3563937" cy="647700"/>
          </a:xfrm>
          <a:prstGeom prst="rect">
            <a:avLst/>
          </a:prstGeom>
          <a:solidFill>
            <a:srgbClr val="00A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管理者终极期望</a:t>
            </a:r>
          </a:p>
        </p:txBody>
      </p:sp>
      <p:sp>
        <p:nvSpPr>
          <p:cNvPr id="3075" name="等腰三角形 4"/>
          <p:cNvSpPr>
            <a:spLocks noChangeArrowheads="1"/>
          </p:cNvSpPr>
          <p:nvPr/>
        </p:nvSpPr>
        <p:spPr bwMode="auto">
          <a:xfrm rot="16200000" flipH="1">
            <a:off x="139701" y="731837"/>
            <a:ext cx="474662" cy="252413"/>
          </a:xfrm>
          <a:prstGeom prst="triangle">
            <a:avLst>
              <a:gd name="adj" fmla="val 50000"/>
            </a:avLst>
          </a:prstGeom>
          <a:solidFill>
            <a:srgbClr val="00A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971550" y="1628775"/>
            <a:ext cx="79216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300"/>
              </a:spcBef>
              <a:buFontTx/>
              <a:buChar char="•"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我们能够运用自己的思维、判断力和行动为公司创造最大的利益。</a:t>
            </a:r>
          </a:p>
          <a:p>
            <a:pPr eaLnBrk="1" hangingPunct="1">
              <a:spcBef>
                <a:spcPts val="300"/>
              </a:spcBef>
              <a:buFontTx/>
              <a:buChar char="•"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能始终运用自己的最佳判断，努力做好</a:t>
            </a:r>
            <a:r>
              <a:rPr lang="zh-CN" altLang="zh-CN"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需要做的事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/>
          </a:p>
        </p:txBody>
      </p:sp>
      <p:pic>
        <p:nvPicPr>
          <p:cNvPr id="3077" name="图片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7"/>
          <a:stretch>
            <a:fillRect/>
          </a:stretch>
        </p:blipFill>
        <p:spPr bwMode="auto">
          <a:xfrm>
            <a:off x="4572000" y="3754438"/>
            <a:ext cx="4716463" cy="310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Group 6"/>
          <p:cNvGrpSpPr>
            <a:grpSpLocks/>
          </p:cNvGrpSpPr>
          <p:nvPr/>
        </p:nvGrpSpPr>
        <p:grpSpPr bwMode="auto">
          <a:xfrm>
            <a:off x="804863" y="4541838"/>
            <a:ext cx="5864225" cy="547687"/>
            <a:chOff x="0" y="0"/>
            <a:chExt cx="3694" cy="345"/>
          </a:xfrm>
        </p:grpSpPr>
        <p:pic>
          <p:nvPicPr>
            <p:cNvPr id="3080" name="椭圆 11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694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1" name="Text Box 8"/>
            <p:cNvSpPr txBox="1">
              <a:spLocks noChangeArrowheads="1"/>
            </p:cNvSpPr>
            <p:nvPr/>
          </p:nvSpPr>
          <p:spPr bwMode="auto">
            <a:xfrm>
              <a:off x="546" y="55"/>
              <a:ext cx="25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FFFFFF"/>
                </a:solidFill>
              </a:endParaRPr>
            </a:p>
          </p:txBody>
        </p:sp>
      </p:grpSp>
      <p:sp>
        <p:nvSpPr>
          <p:cNvPr id="3079" name="TextBox 12"/>
          <p:cNvSpPr txBox="1">
            <a:spLocks noChangeArrowheads="1"/>
          </p:cNvSpPr>
          <p:nvPr/>
        </p:nvSpPr>
        <p:spPr bwMode="auto">
          <a:xfrm>
            <a:off x="971550" y="3689350"/>
            <a:ext cx="61214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需要做的事：</a:t>
            </a:r>
            <a:endParaRPr lang="en-US" altLang="zh-CN" sz="2000" b="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不断地去做需要我们做的事情，永远不要等待吩咐。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0" r="22380"/>
          <a:stretch>
            <a:fillRect/>
          </a:stretch>
        </p:blipFill>
        <p:spPr bwMode="auto">
          <a:xfrm>
            <a:off x="-34925" y="0"/>
            <a:ext cx="37369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矩形 3"/>
          <p:cNvSpPr>
            <a:spLocks noChangeArrowheads="1"/>
          </p:cNvSpPr>
          <p:nvPr/>
        </p:nvSpPr>
        <p:spPr bwMode="auto">
          <a:xfrm>
            <a:off x="4032250" y="549275"/>
            <a:ext cx="3563938" cy="647700"/>
          </a:xfrm>
          <a:prstGeom prst="rect">
            <a:avLst/>
          </a:prstGeom>
          <a:solidFill>
            <a:srgbClr val="00A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如何实现终极期望</a:t>
            </a:r>
          </a:p>
        </p:txBody>
      </p:sp>
      <p:sp>
        <p:nvSpPr>
          <p:cNvPr id="4100" name="等腰三角形 4"/>
          <p:cNvSpPr>
            <a:spLocks noChangeArrowheads="1"/>
          </p:cNvSpPr>
          <p:nvPr/>
        </p:nvSpPr>
        <p:spPr bwMode="auto">
          <a:xfrm rot="16200000" flipH="1">
            <a:off x="3668713" y="731838"/>
            <a:ext cx="474662" cy="252412"/>
          </a:xfrm>
          <a:prstGeom prst="triangle">
            <a:avLst>
              <a:gd name="adj" fmla="val 50000"/>
            </a:avLst>
          </a:prstGeom>
          <a:solidFill>
            <a:srgbClr val="00A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4101" name="TextBox 10"/>
          <p:cNvSpPr txBox="1">
            <a:spLocks noChangeArrowheads="1"/>
          </p:cNvSpPr>
          <p:nvPr/>
        </p:nvSpPr>
        <p:spPr bwMode="auto">
          <a:xfrm>
            <a:off x="3786188" y="3549650"/>
            <a:ext cx="4746625" cy="1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想一想哪些事情在等待着我们去做，行动前做好充分的准备，然后主动出击，决不放弃。</a:t>
            </a:r>
            <a:r>
              <a:rPr lang="zh-CN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思考、准备、行动、坚持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，这就是每个员工实现领导终极期望的必由之路。</a:t>
            </a:r>
            <a:endParaRPr lang="zh-CN" altLang="zh-CN" sz="1800"/>
          </a:p>
        </p:txBody>
      </p:sp>
      <p:sp>
        <p:nvSpPr>
          <p:cNvPr id="4102" name="圆角矩形 13"/>
          <p:cNvSpPr>
            <a:spLocks noChangeArrowheads="1"/>
          </p:cNvSpPr>
          <p:nvPr/>
        </p:nvSpPr>
        <p:spPr bwMode="auto">
          <a:xfrm>
            <a:off x="3779838" y="2349500"/>
            <a:ext cx="865187" cy="503238"/>
          </a:xfrm>
          <a:prstGeom prst="roundRect">
            <a:avLst>
              <a:gd name="adj" fmla="val 50000"/>
            </a:avLst>
          </a:prstGeom>
          <a:solidFill>
            <a:srgbClr val="1E9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  <p:sp>
        <p:nvSpPr>
          <p:cNvPr id="4103" name="圆角矩形 14"/>
          <p:cNvSpPr>
            <a:spLocks noChangeArrowheads="1"/>
          </p:cNvSpPr>
          <p:nvPr/>
        </p:nvSpPr>
        <p:spPr bwMode="auto">
          <a:xfrm>
            <a:off x="5076825" y="2349500"/>
            <a:ext cx="863600" cy="503238"/>
          </a:xfrm>
          <a:prstGeom prst="roundRect">
            <a:avLst>
              <a:gd name="adj" fmla="val 50000"/>
            </a:avLst>
          </a:prstGeom>
          <a:solidFill>
            <a:srgbClr val="1E9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</a:p>
        </p:txBody>
      </p:sp>
      <p:sp>
        <p:nvSpPr>
          <p:cNvPr id="4104" name="圆角矩形 15"/>
          <p:cNvSpPr>
            <a:spLocks noChangeArrowheads="1"/>
          </p:cNvSpPr>
          <p:nvPr/>
        </p:nvSpPr>
        <p:spPr bwMode="auto">
          <a:xfrm>
            <a:off x="6373813" y="2349500"/>
            <a:ext cx="863600" cy="503238"/>
          </a:xfrm>
          <a:prstGeom prst="roundRect">
            <a:avLst>
              <a:gd name="adj" fmla="val 50000"/>
            </a:avLst>
          </a:prstGeom>
          <a:solidFill>
            <a:srgbClr val="1E9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</a:p>
        </p:txBody>
      </p:sp>
      <p:sp>
        <p:nvSpPr>
          <p:cNvPr id="4105" name="圆角矩形 16"/>
          <p:cNvSpPr>
            <a:spLocks noChangeArrowheads="1"/>
          </p:cNvSpPr>
          <p:nvPr/>
        </p:nvSpPr>
        <p:spPr bwMode="auto">
          <a:xfrm>
            <a:off x="7669213" y="2349500"/>
            <a:ext cx="863600" cy="503238"/>
          </a:xfrm>
          <a:prstGeom prst="roundRect">
            <a:avLst>
              <a:gd name="adj" fmla="val 50000"/>
            </a:avLst>
          </a:prstGeom>
          <a:solidFill>
            <a:srgbClr val="1E9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坚持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圆角矩形 10"/>
          <p:cNvSpPr>
            <a:spLocks noChangeArrowheads="1"/>
          </p:cNvSpPr>
          <p:nvPr/>
        </p:nvSpPr>
        <p:spPr bwMode="auto">
          <a:xfrm>
            <a:off x="542925" y="549275"/>
            <a:ext cx="1296988" cy="576263"/>
          </a:xfrm>
          <a:prstGeom prst="roundRect">
            <a:avLst>
              <a:gd name="adj" fmla="val 50000"/>
            </a:avLst>
          </a:prstGeom>
          <a:solidFill>
            <a:srgbClr val="1E9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  <p:sp>
        <p:nvSpPr>
          <p:cNvPr id="5123" name="TextBox 11"/>
          <p:cNvSpPr txBox="1">
            <a:spLocks noChangeArrowheads="1"/>
          </p:cNvSpPr>
          <p:nvPr/>
        </p:nvSpPr>
        <p:spPr bwMode="auto">
          <a:xfrm>
            <a:off x="1979613" y="620713"/>
            <a:ext cx="3744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哪些事情在等待我们去做</a:t>
            </a:r>
            <a:endParaRPr lang="zh-CN" altLang="en-US" sz="1800"/>
          </a:p>
        </p:txBody>
      </p:sp>
      <p:cxnSp>
        <p:nvCxnSpPr>
          <p:cNvPr id="5124" name="直接连接符 7"/>
          <p:cNvCxnSpPr>
            <a:cxnSpLocks noChangeShapeType="1"/>
          </p:cNvCxnSpPr>
          <p:nvPr/>
        </p:nvCxnSpPr>
        <p:spPr bwMode="auto">
          <a:xfrm flipH="1">
            <a:off x="827088" y="1641475"/>
            <a:ext cx="1587" cy="4429125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5" name="椭圆 8"/>
          <p:cNvSpPr>
            <a:spLocks noChangeArrowheads="1"/>
          </p:cNvSpPr>
          <p:nvPr/>
        </p:nvSpPr>
        <p:spPr bwMode="auto">
          <a:xfrm>
            <a:off x="684213" y="1738313"/>
            <a:ext cx="288925" cy="287337"/>
          </a:xfrm>
          <a:prstGeom prst="ellipse">
            <a:avLst/>
          </a:prstGeom>
          <a:solidFill>
            <a:srgbClr val="D9D9D9"/>
          </a:solidFill>
          <a:ln w="38100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grpSp>
        <p:nvGrpSpPr>
          <p:cNvPr id="5126" name="Group 6"/>
          <p:cNvGrpSpPr>
            <a:grpSpLocks/>
          </p:cNvGrpSpPr>
          <p:nvPr/>
        </p:nvGrpSpPr>
        <p:grpSpPr bwMode="auto">
          <a:xfrm>
            <a:off x="1152525" y="1641475"/>
            <a:ext cx="7397750" cy="820738"/>
            <a:chOff x="0" y="0"/>
            <a:chExt cx="7397750" cy="820837"/>
          </a:xfrm>
        </p:grpSpPr>
        <p:sp>
          <p:nvSpPr>
            <p:cNvPr id="5144" name="TextBox 15"/>
            <p:cNvSpPr txBox="1">
              <a:spLocks noChangeArrowheads="1"/>
            </p:cNvSpPr>
            <p:nvPr/>
          </p:nvSpPr>
          <p:spPr bwMode="auto">
            <a:xfrm>
              <a:off x="0" y="0"/>
              <a:ext cx="2663825" cy="738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2400" b="1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加大</a:t>
              </a:r>
              <a:r>
                <a:rPr lang="zh-CN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我们的工作难度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sp>
          <p:nvSpPr>
            <p:cNvPr id="5145" name="TextBox 16"/>
            <p:cNvSpPr txBox="1">
              <a:spLocks noChangeArrowheads="1"/>
            </p:cNvSpPr>
            <p:nvPr/>
          </p:nvSpPr>
          <p:spPr bwMode="auto">
            <a:xfrm>
              <a:off x="0" y="312837"/>
              <a:ext cx="739775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主动接手工作，主动帮助别人，主动参与项目。</a:t>
              </a:r>
            </a:p>
          </p:txBody>
        </p:sp>
      </p:grpSp>
      <p:sp>
        <p:nvSpPr>
          <p:cNvPr id="5127" name="椭圆 15"/>
          <p:cNvSpPr>
            <a:spLocks noChangeArrowheads="1"/>
          </p:cNvSpPr>
          <p:nvPr/>
        </p:nvSpPr>
        <p:spPr bwMode="auto">
          <a:xfrm>
            <a:off x="684213" y="2662238"/>
            <a:ext cx="288925" cy="287337"/>
          </a:xfrm>
          <a:prstGeom prst="ellipse">
            <a:avLst/>
          </a:prstGeom>
          <a:solidFill>
            <a:srgbClr val="D9D9D9"/>
          </a:solidFill>
          <a:ln w="38100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grpSp>
        <p:nvGrpSpPr>
          <p:cNvPr id="5128" name="Group 10"/>
          <p:cNvGrpSpPr>
            <a:grpSpLocks/>
          </p:cNvGrpSpPr>
          <p:nvPr/>
        </p:nvGrpSpPr>
        <p:grpSpPr bwMode="auto">
          <a:xfrm>
            <a:off x="1133475" y="2565400"/>
            <a:ext cx="7418388" cy="792163"/>
            <a:chOff x="0" y="0"/>
            <a:chExt cx="7418388" cy="791373"/>
          </a:xfrm>
        </p:grpSpPr>
        <p:sp>
          <p:nvSpPr>
            <p:cNvPr id="5142" name="TextBox 18"/>
            <p:cNvSpPr txBox="1">
              <a:spLocks noChangeArrowheads="1"/>
            </p:cNvSpPr>
            <p:nvPr/>
          </p:nvSpPr>
          <p:spPr bwMode="auto">
            <a:xfrm>
              <a:off x="0" y="0"/>
              <a:ext cx="3313112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2400" b="1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想一想</a:t>
              </a:r>
              <a:r>
                <a:rPr lang="zh-CN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事情还能如何改进</a:t>
              </a:r>
            </a:p>
          </p:txBody>
        </p:sp>
        <p:sp>
          <p:nvSpPr>
            <p:cNvPr id="5143" name="TextBox 19"/>
            <p:cNvSpPr txBox="1">
              <a:spLocks noChangeArrowheads="1"/>
            </p:cNvSpPr>
            <p:nvPr/>
          </p:nvSpPr>
          <p:spPr bwMode="auto">
            <a:xfrm>
              <a:off x="19050" y="283542"/>
              <a:ext cx="7399338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每周在工作中提出至少两条建议。</a:t>
              </a:r>
            </a:p>
          </p:txBody>
        </p:sp>
      </p:grpSp>
      <p:sp>
        <p:nvSpPr>
          <p:cNvPr id="5129" name="椭圆 19"/>
          <p:cNvSpPr>
            <a:spLocks noChangeArrowheads="1"/>
          </p:cNvSpPr>
          <p:nvPr/>
        </p:nvSpPr>
        <p:spPr bwMode="auto">
          <a:xfrm>
            <a:off x="684213" y="3600450"/>
            <a:ext cx="288925" cy="288925"/>
          </a:xfrm>
          <a:prstGeom prst="ellipse">
            <a:avLst/>
          </a:prstGeom>
          <a:solidFill>
            <a:srgbClr val="D9D9D9"/>
          </a:solidFill>
          <a:ln w="38100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grpSp>
        <p:nvGrpSpPr>
          <p:cNvPr id="5130" name="Group 14"/>
          <p:cNvGrpSpPr>
            <a:grpSpLocks/>
          </p:cNvGrpSpPr>
          <p:nvPr/>
        </p:nvGrpSpPr>
        <p:grpSpPr bwMode="auto">
          <a:xfrm>
            <a:off x="1133475" y="3500438"/>
            <a:ext cx="7797800" cy="823912"/>
            <a:chOff x="0" y="0"/>
            <a:chExt cx="7797800" cy="824682"/>
          </a:xfrm>
        </p:grpSpPr>
        <p:sp>
          <p:nvSpPr>
            <p:cNvPr id="5140" name="TextBox 22"/>
            <p:cNvSpPr txBox="1">
              <a:spLocks noChangeArrowheads="1"/>
            </p:cNvSpPr>
            <p:nvPr/>
          </p:nvSpPr>
          <p:spPr bwMode="auto">
            <a:xfrm>
              <a:off x="0" y="0"/>
              <a:ext cx="49688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2400" b="1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就当个</a:t>
              </a:r>
              <a:r>
                <a:rPr lang="zh-CN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出名的吝啬鬼员工吧</a:t>
              </a:r>
            </a:p>
          </p:txBody>
        </p:sp>
        <p:sp>
          <p:nvSpPr>
            <p:cNvPr id="5141" name="TextBox 24"/>
            <p:cNvSpPr txBox="1">
              <a:spLocks noChangeArrowheads="1"/>
            </p:cNvSpPr>
            <p:nvPr/>
          </p:nvSpPr>
          <p:spPr bwMode="auto">
            <a:xfrm>
              <a:off x="19050" y="318269"/>
              <a:ext cx="7778750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想方设法帮公司节约成本，像爱惜自己钱财一样去爱惜公司资金。</a:t>
              </a:r>
            </a:p>
          </p:txBody>
        </p:sp>
      </p:grpSp>
      <p:sp>
        <p:nvSpPr>
          <p:cNvPr id="5131" name="椭圆 24"/>
          <p:cNvSpPr>
            <a:spLocks noChangeArrowheads="1"/>
          </p:cNvSpPr>
          <p:nvPr/>
        </p:nvSpPr>
        <p:spPr bwMode="auto">
          <a:xfrm>
            <a:off x="684213" y="4594225"/>
            <a:ext cx="288925" cy="287338"/>
          </a:xfrm>
          <a:prstGeom prst="ellipse">
            <a:avLst/>
          </a:prstGeom>
          <a:solidFill>
            <a:srgbClr val="D9D9D9"/>
          </a:solidFill>
          <a:ln w="38100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grpSp>
        <p:nvGrpSpPr>
          <p:cNvPr id="5132" name="Group 18"/>
          <p:cNvGrpSpPr>
            <a:grpSpLocks/>
          </p:cNvGrpSpPr>
          <p:nvPr/>
        </p:nvGrpSpPr>
        <p:grpSpPr bwMode="auto">
          <a:xfrm>
            <a:off x="1152525" y="4508500"/>
            <a:ext cx="7397750" cy="766763"/>
            <a:chOff x="0" y="0"/>
            <a:chExt cx="7397750" cy="766579"/>
          </a:xfrm>
        </p:grpSpPr>
        <p:sp>
          <p:nvSpPr>
            <p:cNvPr id="5138" name="TextBox 15"/>
            <p:cNvSpPr txBox="1">
              <a:spLocks noChangeArrowheads="1"/>
            </p:cNvSpPr>
            <p:nvPr/>
          </p:nvSpPr>
          <p:spPr bwMode="auto">
            <a:xfrm>
              <a:off x="0" y="0"/>
              <a:ext cx="3581400" cy="73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2400" b="1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敢于提出</a:t>
              </a:r>
              <a:r>
                <a:rPr lang="zh-CN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愚蠢的问题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sp>
          <p:nvSpPr>
            <p:cNvPr id="5139" name="TextBox 16"/>
            <p:cNvSpPr txBox="1">
              <a:spLocks noChangeArrowheads="1"/>
            </p:cNvSpPr>
            <p:nvPr/>
          </p:nvSpPr>
          <p:spPr bwMode="auto">
            <a:xfrm>
              <a:off x="0" y="397247"/>
              <a:ext cx="73977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哪怕所提出的问题之前可能从未有人提过。</a:t>
              </a:r>
            </a:p>
          </p:txBody>
        </p:sp>
      </p:grpSp>
      <p:sp>
        <p:nvSpPr>
          <p:cNvPr id="5133" name="椭圆 28"/>
          <p:cNvSpPr>
            <a:spLocks noChangeArrowheads="1"/>
          </p:cNvSpPr>
          <p:nvPr/>
        </p:nvSpPr>
        <p:spPr bwMode="auto">
          <a:xfrm>
            <a:off x="684213" y="5634038"/>
            <a:ext cx="288925" cy="288925"/>
          </a:xfrm>
          <a:prstGeom prst="ellipse">
            <a:avLst/>
          </a:prstGeom>
          <a:solidFill>
            <a:srgbClr val="D9D9D9"/>
          </a:solidFill>
          <a:ln w="38100">
            <a:solidFill>
              <a:srgbClr val="00B0F0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grpSp>
        <p:nvGrpSpPr>
          <p:cNvPr id="5134" name="Group 22"/>
          <p:cNvGrpSpPr>
            <a:grpSpLocks/>
          </p:cNvGrpSpPr>
          <p:nvPr/>
        </p:nvGrpSpPr>
        <p:grpSpPr bwMode="auto">
          <a:xfrm>
            <a:off x="1133475" y="5532438"/>
            <a:ext cx="7418388" cy="776287"/>
            <a:chOff x="0" y="0"/>
            <a:chExt cx="7418388" cy="776451"/>
          </a:xfrm>
        </p:grpSpPr>
        <p:sp>
          <p:nvSpPr>
            <p:cNvPr id="5136" name="TextBox 18"/>
            <p:cNvSpPr txBox="1">
              <a:spLocks noChangeArrowheads="1"/>
            </p:cNvSpPr>
            <p:nvPr/>
          </p:nvSpPr>
          <p:spPr bwMode="auto">
            <a:xfrm>
              <a:off x="0" y="0"/>
              <a:ext cx="33131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2400" b="1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转化</a:t>
              </a:r>
              <a:r>
                <a:rPr lang="zh-CN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需求为机会</a:t>
              </a:r>
            </a:p>
          </p:txBody>
        </p:sp>
        <p:sp>
          <p:nvSpPr>
            <p:cNvPr id="5137" name="TextBox 19"/>
            <p:cNvSpPr txBox="1">
              <a:spLocks noChangeArrowheads="1"/>
            </p:cNvSpPr>
            <p:nvPr/>
          </p:nvSpPr>
          <p:spPr bwMode="auto">
            <a:xfrm>
              <a:off x="19050" y="407119"/>
              <a:ext cx="7399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有什么问题？能不能想出三种解决方法？谁会因为这个方案受益？</a:t>
              </a:r>
            </a:p>
          </p:txBody>
        </p:sp>
      </p:grpSp>
      <p:pic>
        <p:nvPicPr>
          <p:cNvPr id="5135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0" y="7938"/>
            <a:ext cx="2698750" cy="202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圆角矩形 10"/>
          <p:cNvSpPr>
            <a:spLocks noChangeArrowheads="1"/>
          </p:cNvSpPr>
          <p:nvPr/>
        </p:nvSpPr>
        <p:spPr bwMode="auto">
          <a:xfrm>
            <a:off x="538163" y="549275"/>
            <a:ext cx="1296987" cy="576263"/>
          </a:xfrm>
          <a:prstGeom prst="roundRect">
            <a:avLst>
              <a:gd name="adj" fmla="val 50000"/>
            </a:avLst>
          </a:prstGeom>
          <a:solidFill>
            <a:srgbClr val="1E9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</a:p>
        </p:txBody>
      </p:sp>
      <p:sp>
        <p:nvSpPr>
          <p:cNvPr id="6147" name="TextBox 11"/>
          <p:cNvSpPr txBox="1">
            <a:spLocks noChangeArrowheads="1"/>
          </p:cNvSpPr>
          <p:nvPr/>
        </p:nvSpPr>
        <p:spPr bwMode="auto">
          <a:xfrm>
            <a:off x="1906588" y="620713"/>
            <a:ext cx="3744912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行动前做好充分准备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172" name="矩形 9"/>
          <p:cNvSpPr>
            <a:spLocks noChangeArrowheads="1"/>
          </p:cNvSpPr>
          <p:nvPr/>
        </p:nvSpPr>
        <p:spPr bwMode="auto">
          <a:xfrm>
            <a:off x="2335213" y="1577975"/>
            <a:ext cx="4105275" cy="3587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4999">
                <a:srgbClr val="F2F2F2"/>
              </a:gs>
              <a:gs pos="36000">
                <a:srgbClr val="0070C0"/>
              </a:gs>
              <a:gs pos="64999">
                <a:srgbClr val="00B0F0"/>
              </a:gs>
              <a:gs pos="86000">
                <a:srgbClr val="F2F2F2"/>
              </a:gs>
              <a:gs pos="99001">
                <a:srgbClr val="FFFF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dist="152400" dir="4619990" sx="67999" sy="67999" algn="t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先变不知为知</a:t>
            </a:r>
          </a:p>
        </p:txBody>
      </p:sp>
      <p:sp>
        <p:nvSpPr>
          <p:cNvPr id="6149" name="TextBox 2"/>
          <p:cNvSpPr txBox="1">
            <a:spLocks noChangeArrowheads="1"/>
          </p:cNvSpPr>
          <p:nvPr/>
        </p:nvSpPr>
        <p:spPr bwMode="auto">
          <a:xfrm>
            <a:off x="539750" y="2082800"/>
            <a:ext cx="84248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zh-CN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说服别人接受新想法前，先了解过去为何要这样做，比盲目建议要明智。</a:t>
            </a:r>
            <a:endParaRPr lang="zh-CN" altLang="zh-CN" sz="2000" b="1"/>
          </a:p>
        </p:txBody>
      </p:sp>
      <p:sp>
        <p:nvSpPr>
          <p:cNvPr id="7174" name="矩形 15"/>
          <p:cNvSpPr>
            <a:spLocks noChangeArrowheads="1"/>
          </p:cNvSpPr>
          <p:nvPr/>
        </p:nvSpPr>
        <p:spPr bwMode="auto">
          <a:xfrm>
            <a:off x="2335213" y="2924175"/>
            <a:ext cx="4105275" cy="360363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4999">
                <a:srgbClr val="F2F2F2"/>
              </a:gs>
              <a:gs pos="36000">
                <a:srgbClr val="0070C0"/>
              </a:gs>
              <a:gs pos="64999">
                <a:srgbClr val="00B0F0"/>
              </a:gs>
              <a:gs pos="86000">
                <a:srgbClr val="F2F2F2"/>
              </a:gs>
              <a:gs pos="99001">
                <a:srgbClr val="FFFF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dist="152400" dir="4619990" sx="67999" sy="67999" algn="t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为想法收集信息</a:t>
            </a:r>
          </a:p>
        </p:txBody>
      </p:sp>
      <p:sp>
        <p:nvSpPr>
          <p:cNvPr id="6151" name="TextBox 14"/>
          <p:cNvSpPr txBox="1">
            <a:spLocks noChangeArrowheads="1"/>
          </p:cNvSpPr>
          <p:nvPr/>
        </p:nvSpPr>
        <p:spPr bwMode="auto">
          <a:xfrm>
            <a:off x="539750" y="3427413"/>
            <a:ext cx="799306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无论什么工作，都做些简单的调研，收集数据以支撑我们的建议。</a:t>
            </a:r>
            <a:endParaRPr lang="zh-CN" altLang="zh-CN" sz="2000" b="1"/>
          </a:p>
        </p:txBody>
      </p:sp>
      <p:sp>
        <p:nvSpPr>
          <p:cNvPr id="7176" name="矩形 17"/>
          <p:cNvSpPr>
            <a:spLocks noChangeArrowheads="1"/>
          </p:cNvSpPr>
          <p:nvPr/>
        </p:nvSpPr>
        <p:spPr bwMode="auto">
          <a:xfrm>
            <a:off x="2335213" y="4246563"/>
            <a:ext cx="4105275" cy="36036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4999">
                <a:srgbClr val="F2F2F2"/>
              </a:gs>
              <a:gs pos="36000">
                <a:srgbClr val="0070C0"/>
              </a:gs>
              <a:gs pos="64999">
                <a:srgbClr val="00B0F0"/>
              </a:gs>
              <a:gs pos="86000">
                <a:srgbClr val="F2F2F2"/>
              </a:gs>
              <a:gs pos="99001">
                <a:srgbClr val="FFFF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dist="152400" dir="4619990" sx="67999" sy="67999" algn="t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研究多种可能</a:t>
            </a:r>
          </a:p>
        </p:txBody>
      </p:sp>
      <p:sp>
        <p:nvSpPr>
          <p:cNvPr id="6153" name="TextBox 16"/>
          <p:cNvSpPr txBox="1">
            <a:spLocks noChangeArrowheads="1"/>
          </p:cNvSpPr>
          <p:nvPr/>
        </p:nvSpPr>
        <p:spPr bwMode="auto">
          <a:xfrm>
            <a:off x="539750" y="4751388"/>
            <a:ext cx="828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考虑多种可能性，制定多套行动计划，选与实际情况最为相符行动方案。</a:t>
            </a:r>
            <a:endParaRPr lang="zh-CN" altLang="zh-CN" sz="2000" b="1"/>
          </a:p>
        </p:txBody>
      </p:sp>
      <p:sp>
        <p:nvSpPr>
          <p:cNvPr id="7178" name="矩形 19"/>
          <p:cNvSpPr>
            <a:spLocks noChangeArrowheads="1"/>
          </p:cNvSpPr>
          <p:nvPr/>
        </p:nvSpPr>
        <p:spPr bwMode="auto">
          <a:xfrm>
            <a:off x="2335213" y="5541963"/>
            <a:ext cx="4105275" cy="3587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4999">
                <a:srgbClr val="F2F2F2"/>
              </a:gs>
              <a:gs pos="36000">
                <a:srgbClr val="0070C0"/>
              </a:gs>
              <a:gs pos="64999">
                <a:srgbClr val="00B0F0"/>
              </a:gs>
              <a:gs pos="86000">
                <a:srgbClr val="F2F2F2"/>
              </a:gs>
              <a:gs pos="99001">
                <a:srgbClr val="FFFF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dist="152400" dir="4619990" sx="67999" sy="67999" algn="t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细量计划</a:t>
            </a:r>
          </a:p>
        </p:txBody>
      </p:sp>
      <p:sp>
        <p:nvSpPr>
          <p:cNvPr id="6155" name="TextBox 2"/>
          <p:cNvSpPr txBox="1">
            <a:spLocks noChangeArrowheads="1"/>
          </p:cNvSpPr>
          <p:nvPr/>
        </p:nvSpPr>
        <p:spPr bwMode="auto">
          <a:xfrm>
            <a:off x="539750" y="6034088"/>
            <a:ext cx="828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我们不仅需做好准备，且在临近计划执行时思考和预期可能出现的问题。</a:t>
            </a:r>
            <a:endParaRPr lang="zh-CN" altLang="zh-CN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圆角矩形 10"/>
          <p:cNvSpPr>
            <a:spLocks noChangeArrowheads="1"/>
          </p:cNvSpPr>
          <p:nvPr/>
        </p:nvSpPr>
        <p:spPr bwMode="auto">
          <a:xfrm>
            <a:off x="539750" y="549275"/>
            <a:ext cx="1296988" cy="576263"/>
          </a:xfrm>
          <a:prstGeom prst="roundRect">
            <a:avLst>
              <a:gd name="adj" fmla="val 50000"/>
            </a:avLst>
          </a:prstGeom>
          <a:solidFill>
            <a:srgbClr val="1E9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</a:p>
        </p:txBody>
      </p:sp>
      <p:sp>
        <p:nvSpPr>
          <p:cNvPr id="7171" name="TextBox 11"/>
          <p:cNvSpPr txBox="1">
            <a:spLocks noChangeArrowheads="1"/>
          </p:cNvSpPr>
          <p:nvPr/>
        </p:nvSpPr>
        <p:spPr bwMode="auto">
          <a:xfrm>
            <a:off x="1908175" y="620713"/>
            <a:ext cx="5256213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现在就开始进行不一样的尝试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172" name="矩形 13"/>
          <p:cNvSpPr>
            <a:spLocks noChangeArrowheads="1"/>
          </p:cNvSpPr>
          <p:nvPr/>
        </p:nvSpPr>
        <p:spPr bwMode="auto">
          <a:xfrm>
            <a:off x="839788" y="1412875"/>
            <a:ext cx="144462" cy="4318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7173" name="TextBox 7"/>
          <p:cNvSpPr txBox="1">
            <a:spLocks noChangeArrowheads="1"/>
          </p:cNvSpPr>
          <p:nvPr/>
        </p:nvSpPr>
        <p:spPr bwMode="auto">
          <a:xfrm>
            <a:off x="971550" y="1412875"/>
            <a:ext cx="3600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发表意见，培养影响力</a:t>
            </a:r>
          </a:p>
        </p:txBody>
      </p:sp>
      <p:sp>
        <p:nvSpPr>
          <p:cNvPr id="7174" name="TextBox 2"/>
          <p:cNvSpPr txBox="1">
            <a:spLocks noChangeArrowheads="1"/>
          </p:cNvSpPr>
          <p:nvPr/>
        </p:nvSpPr>
        <p:spPr bwMode="auto">
          <a:xfrm>
            <a:off x="971550" y="1939925"/>
            <a:ext cx="7921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如果我们要参加会议，那么就做一个积极的参与者。如果有想法、见解或问题，那就大声说出来！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用一切我们力所能及的方法帮助团队，可以是总结陈词、计算并控制时间、引发导发言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5" name="矩形 16"/>
          <p:cNvSpPr>
            <a:spLocks noChangeArrowheads="1"/>
          </p:cNvSpPr>
          <p:nvPr/>
        </p:nvSpPr>
        <p:spPr bwMode="auto">
          <a:xfrm>
            <a:off x="839788" y="3500438"/>
            <a:ext cx="144462" cy="430212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7176" name="TextBox 12"/>
          <p:cNvSpPr txBox="1">
            <a:spLocks noChangeArrowheads="1"/>
          </p:cNvSpPr>
          <p:nvPr/>
        </p:nvSpPr>
        <p:spPr bwMode="auto">
          <a:xfrm>
            <a:off x="971550" y="3511550"/>
            <a:ext cx="360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以创新精神迎接挑战</a:t>
            </a:r>
          </a:p>
        </p:txBody>
      </p:sp>
      <p:sp>
        <p:nvSpPr>
          <p:cNvPr id="7177" name="TextBox 14"/>
          <p:cNvSpPr txBox="1">
            <a:spLocks noChangeArrowheads="1"/>
          </p:cNvSpPr>
          <p:nvPr/>
        </p:nvSpPr>
        <p:spPr bwMode="auto">
          <a:xfrm>
            <a:off x="971550" y="4048125"/>
            <a:ext cx="7921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经常有这样的情况：某项任务一开始似乎是不可能完成的，但是我们若认真对待，积极探索，就会意外的发现自己竟然能为之做出这么多。</a:t>
            </a:r>
          </a:p>
        </p:txBody>
      </p:sp>
      <p:sp>
        <p:nvSpPr>
          <p:cNvPr id="7178" name="矩形 19"/>
          <p:cNvSpPr>
            <a:spLocks noChangeArrowheads="1"/>
          </p:cNvSpPr>
          <p:nvPr/>
        </p:nvSpPr>
        <p:spPr bwMode="auto">
          <a:xfrm>
            <a:off x="839788" y="5157788"/>
            <a:ext cx="144462" cy="4318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7179" name="TextBox 16"/>
          <p:cNvSpPr txBox="1">
            <a:spLocks noChangeArrowheads="1"/>
          </p:cNvSpPr>
          <p:nvPr/>
        </p:nvSpPr>
        <p:spPr bwMode="auto">
          <a:xfrm>
            <a:off x="971550" y="5157788"/>
            <a:ext cx="3600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寻找问题中积极的一面</a:t>
            </a:r>
          </a:p>
        </p:txBody>
      </p:sp>
      <p:sp>
        <p:nvSpPr>
          <p:cNvPr id="7180" name="TextBox 17"/>
          <p:cNvSpPr txBox="1">
            <a:spLocks noChangeArrowheads="1"/>
          </p:cNvSpPr>
          <p:nvPr/>
        </p:nvSpPr>
        <p:spPr bwMode="auto">
          <a:xfrm>
            <a:off x="971550" y="5602288"/>
            <a:ext cx="7921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若在工作中遇到问题，请不要即可端起消极的态度，将其抛给上司或者其他人去解决；而是确定问题将会带来的影响，思考其为何会发生，是否曾发生过，每个问题都有积极的一面，都潜在着让你闪光的机会。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3" b="12250"/>
          <a:stretch>
            <a:fillRect/>
          </a:stretch>
        </p:blipFill>
        <p:spPr bwMode="auto">
          <a:xfrm rot="1865343" flipH="1">
            <a:off x="4259263" y="3451225"/>
            <a:ext cx="4476750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矩形 1"/>
          <p:cNvSpPr>
            <a:spLocks noChangeArrowheads="1"/>
          </p:cNvSpPr>
          <p:nvPr/>
        </p:nvSpPr>
        <p:spPr bwMode="auto">
          <a:xfrm>
            <a:off x="827088" y="549275"/>
            <a:ext cx="144462" cy="4318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8196" name="TextBox 7"/>
          <p:cNvSpPr txBox="1">
            <a:spLocks noChangeArrowheads="1"/>
          </p:cNvSpPr>
          <p:nvPr/>
        </p:nvSpPr>
        <p:spPr bwMode="auto">
          <a:xfrm>
            <a:off x="971550" y="549275"/>
            <a:ext cx="3600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做一个能办事的人</a:t>
            </a:r>
          </a:p>
        </p:txBody>
      </p:sp>
      <p:sp>
        <p:nvSpPr>
          <p:cNvPr id="8197" name="TextBox 2"/>
          <p:cNvSpPr txBox="1">
            <a:spLocks noChangeArrowheads="1"/>
          </p:cNvSpPr>
          <p:nvPr/>
        </p:nvSpPr>
        <p:spPr bwMode="auto">
          <a:xfrm>
            <a:off x="611188" y="1052513"/>
            <a:ext cx="79930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与其对形势进行过多的分析，不如果断行动。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干等问题得到管理层的关注只会导致我们失去工作。</a:t>
            </a:r>
          </a:p>
        </p:txBody>
      </p:sp>
      <p:sp>
        <p:nvSpPr>
          <p:cNvPr id="8198" name="TextBox 10"/>
          <p:cNvSpPr txBox="1">
            <a:spLocks noChangeArrowheads="1"/>
          </p:cNvSpPr>
          <p:nvPr/>
        </p:nvSpPr>
        <p:spPr bwMode="auto">
          <a:xfrm>
            <a:off x="971550" y="4303713"/>
            <a:ext cx="7993063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听取同事的建议了吗？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收集的信息齐全了吗？包括正反面吗？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工作做到最好了吗？</a:t>
            </a:r>
          </a:p>
        </p:txBody>
      </p:sp>
      <p:sp>
        <p:nvSpPr>
          <p:cNvPr id="8199" name="矩形 18"/>
          <p:cNvSpPr>
            <a:spLocks/>
          </p:cNvSpPr>
          <p:nvPr/>
        </p:nvSpPr>
        <p:spPr bwMode="auto">
          <a:xfrm>
            <a:off x="611188" y="3178175"/>
            <a:ext cx="504825" cy="623888"/>
          </a:xfrm>
          <a:custGeom>
            <a:avLst/>
            <a:gdLst>
              <a:gd name="T0" fmla="*/ 0 w 288032"/>
              <a:gd name="T1" fmla="*/ 0 h 431453"/>
              <a:gd name="T2" fmla="*/ 504825 w 288032"/>
              <a:gd name="T3" fmla="*/ 0 h 431453"/>
              <a:gd name="T4" fmla="*/ 329535 w 288032"/>
              <a:gd name="T5" fmla="*/ 623887 h 431453"/>
              <a:gd name="T6" fmla="*/ 125207 w 288032"/>
              <a:gd name="T7" fmla="*/ 623887 h 431453"/>
              <a:gd name="T8" fmla="*/ 0 w 288032"/>
              <a:gd name="T9" fmla="*/ 0 h 4314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032" h="431453">
                <a:moveTo>
                  <a:pt x="0" y="0"/>
                </a:moveTo>
                <a:lnTo>
                  <a:pt x="288032" y="0"/>
                </a:lnTo>
                <a:lnTo>
                  <a:pt x="188019" y="431453"/>
                </a:lnTo>
                <a:lnTo>
                  <a:pt x="71438" y="431453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6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200" name="矩形 11"/>
          <p:cNvSpPr>
            <a:spLocks noChangeArrowheads="1"/>
          </p:cNvSpPr>
          <p:nvPr/>
        </p:nvSpPr>
        <p:spPr bwMode="auto">
          <a:xfrm>
            <a:off x="739775" y="3989388"/>
            <a:ext cx="193675" cy="2317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8201" name="TextBox 13"/>
          <p:cNvSpPr txBox="1">
            <a:spLocks noChangeArrowheads="1"/>
          </p:cNvSpPr>
          <p:nvPr/>
        </p:nvSpPr>
        <p:spPr bwMode="auto">
          <a:xfrm>
            <a:off x="971550" y="3860800"/>
            <a:ext cx="3024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行动中请经常反问自己</a:t>
            </a:r>
          </a:p>
        </p:txBody>
      </p:sp>
      <p:sp>
        <p:nvSpPr>
          <p:cNvPr id="8202" name="直角三角形 3"/>
          <p:cNvSpPr>
            <a:spLocks noChangeArrowheads="1"/>
          </p:cNvSpPr>
          <p:nvPr/>
        </p:nvSpPr>
        <p:spPr bwMode="auto">
          <a:xfrm flipH="1">
            <a:off x="7596188" y="4365625"/>
            <a:ext cx="1547812" cy="2492375"/>
          </a:xfrm>
          <a:prstGeom prst="rtTriangle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圆角矩形 10"/>
          <p:cNvSpPr>
            <a:spLocks noChangeArrowheads="1"/>
          </p:cNvSpPr>
          <p:nvPr/>
        </p:nvSpPr>
        <p:spPr bwMode="auto">
          <a:xfrm>
            <a:off x="541338" y="549275"/>
            <a:ext cx="1296987" cy="576263"/>
          </a:xfrm>
          <a:prstGeom prst="roundRect">
            <a:avLst>
              <a:gd name="adj" fmla="val 50000"/>
            </a:avLst>
          </a:prstGeom>
          <a:solidFill>
            <a:srgbClr val="1E9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坚持</a:t>
            </a:r>
          </a:p>
        </p:txBody>
      </p:sp>
      <p:sp>
        <p:nvSpPr>
          <p:cNvPr id="9219" name="TextBox 11"/>
          <p:cNvSpPr txBox="1">
            <a:spLocks noChangeArrowheads="1"/>
          </p:cNvSpPr>
          <p:nvPr/>
        </p:nvSpPr>
        <p:spPr bwMode="auto">
          <a:xfrm>
            <a:off x="1908175" y="628650"/>
            <a:ext cx="66246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不轻言放弃，面对挫折要一直向前。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0" name="矩形 9"/>
          <p:cNvSpPr>
            <a:spLocks noChangeArrowheads="1"/>
          </p:cNvSpPr>
          <p:nvPr/>
        </p:nvSpPr>
        <p:spPr bwMode="auto">
          <a:xfrm>
            <a:off x="612775" y="1557338"/>
            <a:ext cx="3960813" cy="1549400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21" name="TextBox 17"/>
          <p:cNvSpPr txBox="1">
            <a:spLocks noChangeArrowheads="1"/>
          </p:cNvSpPr>
          <p:nvPr/>
        </p:nvSpPr>
        <p:spPr bwMode="auto">
          <a:xfrm>
            <a:off x="785813" y="2135188"/>
            <a:ext cx="36718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当想法遇到意外的困难和阻力时可停下来想想其他方法</a:t>
            </a:r>
          </a:p>
        </p:txBody>
      </p:sp>
      <p:sp>
        <p:nvSpPr>
          <p:cNvPr id="9222" name="矩形 13"/>
          <p:cNvSpPr>
            <a:spLocks noChangeArrowheads="1"/>
          </p:cNvSpPr>
          <p:nvPr/>
        </p:nvSpPr>
        <p:spPr bwMode="auto">
          <a:xfrm>
            <a:off x="539750" y="1570038"/>
            <a:ext cx="4105275" cy="42227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dist="38100" dir="54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23" name="TextBox 15"/>
          <p:cNvSpPr txBox="1">
            <a:spLocks noChangeArrowheads="1"/>
          </p:cNvSpPr>
          <p:nvPr/>
        </p:nvSpPr>
        <p:spPr bwMode="auto">
          <a:xfrm>
            <a:off x="1260475" y="1570038"/>
            <a:ext cx="2663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受阻时，重整思路</a:t>
            </a:r>
          </a:p>
        </p:txBody>
      </p:sp>
      <p:sp>
        <p:nvSpPr>
          <p:cNvPr id="9224" name="矩形 15"/>
          <p:cNvSpPr>
            <a:spLocks noChangeArrowheads="1"/>
          </p:cNvSpPr>
          <p:nvPr/>
        </p:nvSpPr>
        <p:spPr bwMode="auto">
          <a:xfrm>
            <a:off x="4845050" y="1557338"/>
            <a:ext cx="3960813" cy="1549400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25" name="TextBox 35"/>
          <p:cNvSpPr txBox="1">
            <a:spLocks noChangeArrowheads="1"/>
          </p:cNvSpPr>
          <p:nvPr/>
        </p:nvSpPr>
        <p:spPr bwMode="auto">
          <a:xfrm>
            <a:off x="5003800" y="2063750"/>
            <a:ext cx="3671888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在和上司沟通时，准备好可供选择的解决方案，并寻求上司的建议。</a:t>
            </a:r>
          </a:p>
        </p:txBody>
      </p:sp>
      <p:sp>
        <p:nvSpPr>
          <p:cNvPr id="9226" name="矩形 17"/>
          <p:cNvSpPr>
            <a:spLocks noChangeArrowheads="1"/>
          </p:cNvSpPr>
          <p:nvPr/>
        </p:nvSpPr>
        <p:spPr bwMode="auto">
          <a:xfrm>
            <a:off x="4773613" y="1570038"/>
            <a:ext cx="4103687" cy="42227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dist="38100" dir="54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27" name="TextBox 37"/>
          <p:cNvSpPr txBox="1">
            <a:spLocks noChangeArrowheads="1"/>
          </p:cNvSpPr>
          <p:nvPr/>
        </p:nvSpPr>
        <p:spPr bwMode="auto">
          <a:xfrm>
            <a:off x="5724525" y="1582738"/>
            <a:ext cx="201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尊重上司时间</a:t>
            </a:r>
          </a:p>
        </p:txBody>
      </p:sp>
      <p:sp>
        <p:nvSpPr>
          <p:cNvPr id="9228" name="矩形 19"/>
          <p:cNvSpPr>
            <a:spLocks noChangeArrowheads="1"/>
          </p:cNvSpPr>
          <p:nvPr/>
        </p:nvSpPr>
        <p:spPr bwMode="auto">
          <a:xfrm>
            <a:off x="612775" y="3322638"/>
            <a:ext cx="3960813" cy="1473200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29" name="TextBox 39"/>
          <p:cNvSpPr txBox="1">
            <a:spLocks noChangeArrowheads="1"/>
          </p:cNvSpPr>
          <p:nvPr/>
        </p:nvSpPr>
        <p:spPr bwMode="auto">
          <a:xfrm>
            <a:off x="757238" y="3830638"/>
            <a:ext cx="36718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时刻记住做需要做的事，克服阻碍大部分人前进的困难</a:t>
            </a:r>
          </a:p>
        </p:txBody>
      </p:sp>
      <p:sp>
        <p:nvSpPr>
          <p:cNvPr id="9230" name="矩形 22"/>
          <p:cNvSpPr>
            <a:spLocks noChangeArrowheads="1"/>
          </p:cNvSpPr>
          <p:nvPr/>
        </p:nvSpPr>
        <p:spPr bwMode="auto">
          <a:xfrm>
            <a:off x="539750" y="3336925"/>
            <a:ext cx="4105275" cy="42227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dist="38100" dir="54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31" name="TextBox 41"/>
          <p:cNvSpPr txBox="1">
            <a:spLocks noChangeArrowheads="1"/>
          </p:cNvSpPr>
          <p:nvPr/>
        </p:nvSpPr>
        <p:spPr bwMode="auto">
          <a:xfrm>
            <a:off x="1619250" y="3355975"/>
            <a:ext cx="1800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激流勇进</a:t>
            </a:r>
          </a:p>
        </p:txBody>
      </p:sp>
      <p:sp>
        <p:nvSpPr>
          <p:cNvPr id="9232" name="矩形 24"/>
          <p:cNvSpPr>
            <a:spLocks noChangeArrowheads="1"/>
          </p:cNvSpPr>
          <p:nvPr/>
        </p:nvSpPr>
        <p:spPr bwMode="auto">
          <a:xfrm>
            <a:off x="4859338" y="3322638"/>
            <a:ext cx="3960812" cy="1473200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33" name="TextBox 43"/>
          <p:cNvSpPr txBox="1">
            <a:spLocks noChangeArrowheads="1"/>
          </p:cNvSpPr>
          <p:nvPr/>
        </p:nvSpPr>
        <p:spPr bwMode="auto">
          <a:xfrm>
            <a:off x="5003800" y="3829050"/>
            <a:ext cx="36718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千人一面的方法或技巧不太可能在所有的环境中都起作用</a:t>
            </a:r>
          </a:p>
        </p:txBody>
      </p:sp>
      <p:sp>
        <p:nvSpPr>
          <p:cNvPr id="9234" name="矩形 26"/>
          <p:cNvSpPr>
            <a:spLocks noChangeArrowheads="1"/>
          </p:cNvSpPr>
          <p:nvPr/>
        </p:nvSpPr>
        <p:spPr bwMode="auto">
          <a:xfrm>
            <a:off x="4787900" y="3335338"/>
            <a:ext cx="4105275" cy="42227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dist="38100" dir="54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35" name="TextBox 45"/>
          <p:cNvSpPr txBox="1">
            <a:spLocks noChangeArrowheads="1"/>
          </p:cNvSpPr>
          <p:nvPr/>
        </p:nvSpPr>
        <p:spPr bwMode="auto">
          <a:xfrm>
            <a:off x="5435600" y="3346450"/>
            <a:ext cx="266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尝试使用不同的方法</a:t>
            </a:r>
          </a:p>
        </p:txBody>
      </p:sp>
      <p:sp>
        <p:nvSpPr>
          <p:cNvPr id="9236" name="矩形 28"/>
          <p:cNvSpPr>
            <a:spLocks noChangeArrowheads="1"/>
          </p:cNvSpPr>
          <p:nvPr/>
        </p:nvSpPr>
        <p:spPr bwMode="auto">
          <a:xfrm>
            <a:off x="625475" y="5011738"/>
            <a:ext cx="3960813" cy="1668462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37" name="TextBox 14"/>
          <p:cNvSpPr txBox="1">
            <a:spLocks noChangeArrowheads="1"/>
          </p:cNvSpPr>
          <p:nvPr/>
        </p:nvSpPr>
        <p:spPr bwMode="auto">
          <a:xfrm>
            <a:off x="769938" y="5518150"/>
            <a:ext cx="36718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善于做他人不喜欢做的事情，可为我们成为职场英雄提供很多机会</a:t>
            </a:r>
          </a:p>
        </p:txBody>
      </p:sp>
      <p:sp>
        <p:nvSpPr>
          <p:cNvPr id="9238" name="矩形 30"/>
          <p:cNvSpPr>
            <a:spLocks noChangeArrowheads="1"/>
          </p:cNvSpPr>
          <p:nvPr/>
        </p:nvSpPr>
        <p:spPr bwMode="auto">
          <a:xfrm>
            <a:off x="552450" y="5024438"/>
            <a:ext cx="4105275" cy="42227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dist="38100" dir="54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39" name="TextBox 19"/>
          <p:cNvSpPr txBox="1">
            <a:spLocks noChangeArrowheads="1"/>
          </p:cNvSpPr>
          <p:nvPr/>
        </p:nvSpPr>
        <p:spPr bwMode="auto">
          <a:xfrm>
            <a:off x="1258888" y="5024438"/>
            <a:ext cx="2592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做别人不喜欢做的事</a:t>
            </a:r>
          </a:p>
        </p:txBody>
      </p:sp>
      <p:sp>
        <p:nvSpPr>
          <p:cNvPr id="9240" name="矩形 32"/>
          <p:cNvSpPr>
            <a:spLocks noChangeArrowheads="1"/>
          </p:cNvSpPr>
          <p:nvPr/>
        </p:nvSpPr>
        <p:spPr bwMode="auto">
          <a:xfrm>
            <a:off x="4859338" y="5024438"/>
            <a:ext cx="3960812" cy="1655762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41" name="TextBox 23"/>
          <p:cNvSpPr txBox="1">
            <a:spLocks noChangeArrowheads="1"/>
          </p:cNvSpPr>
          <p:nvPr/>
        </p:nvSpPr>
        <p:spPr bwMode="auto">
          <a:xfrm>
            <a:off x="5003800" y="5530850"/>
            <a:ext cx="3671888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问题发生时多想想“做什么防止出现这样的问题，可以从中学到什么”</a:t>
            </a:r>
          </a:p>
        </p:txBody>
      </p:sp>
      <p:sp>
        <p:nvSpPr>
          <p:cNvPr id="9242" name="矩形 34"/>
          <p:cNvSpPr>
            <a:spLocks noChangeArrowheads="1"/>
          </p:cNvSpPr>
          <p:nvPr/>
        </p:nvSpPr>
        <p:spPr bwMode="auto">
          <a:xfrm>
            <a:off x="4787900" y="5037138"/>
            <a:ext cx="4105275" cy="42227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dist="38100" dir="54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243" name="TextBox 29"/>
          <p:cNvSpPr txBox="1">
            <a:spLocks noChangeArrowheads="1"/>
          </p:cNvSpPr>
          <p:nvPr/>
        </p:nvSpPr>
        <p:spPr bwMode="auto">
          <a:xfrm>
            <a:off x="5724525" y="5035550"/>
            <a:ext cx="2160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切勿相互指责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3"/>
          <p:cNvSpPr>
            <a:spLocks noChangeArrowheads="1"/>
          </p:cNvSpPr>
          <p:nvPr/>
        </p:nvSpPr>
        <p:spPr bwMode="auto">
          <a:xfrm>
            <a:off x="503238" y="549275"/>
            <a:ext cx="3563937" cy="647700"/>
          </a:xfrm>
          <a:prstGeom prst="rect">
            <a:avLst/>
          </a:prstGeom>
          <a:solidFill>
            <a:srgbClr val="00A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实现终极期望的障碍</a:t>
            </a:r>
          </a:p>
        </p:txBody>
      </p:sp>
      <p:sp>
        <p:nvSpPr>
          <p:cNvPr id="10243" name="等腰三角形 4"/>
          <p:cNvSpPr>
            <a:spLocks noChangeArrowheads="1"/>
          </p:cNvSpPr>
          <p:nvPr/>
        </p:nvSpPr>
        <p:spPr bwMode="auto">
          <a:xfrm rot="16200000" flipH="1">
            <a:off x="139701" y="731837"/>
            <a:ext cx="474662" cy="252413"/>
          </a:xfrm>
          <a:prstGeom prst="triangle">
            <a:avLst>
              <a:gd name="adj" fmla="val 50000"/>
            </a:avLst>
          </a:prstGeom>
          <a:solidFill>
            <a:srgbClr val="00A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10244" name="TextBox 2"/>
          <p:cNvSpPr txBox="1">
            <a:spLocks noChangeArrowheads="1"/>
          </p:cNvSpPr>
          <p:nvPr/>
        </p:nvSpPr>
        <p:spPr bwMode="auto">
          <a:xfrm>
            <a:off x="3852863" y="3546475"/>
            <a:ext cx="489585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不等吩咐主动做需要做的事情包括冒一些风险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我们之所以不太愿意主动采取行动，一般都是因为恐惧、挫折和失败。</a:t>
            </a:r>
          </a:p>
        </p:txBody>
      </p:sp>
      <p:pic>
        <p:nvPicPr>
          <p:cNvPr id="10245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9" r="15535"/>
          <a:stretch>
            <a:fillRect/>
          </a:stretch>
        </p:blipFill>
        <p:spPr bwMode="auto">
          <a:xfrm>
            <a:off x="785813" y="2289175"/>
            <a:ext cx="2559050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6"/>
          <p:cNvSpPr txBox="1">
            <a:spLocks noChangeArrowheads="1"/>
          </p:cNvSpPr>
          <p:nvPr/>
        </p:nvSpPr>
        <p:spPr bwMode="auto">
          <a:xfrm>
            <a:off x="3851275" y="2670175"/>
            <a:ext cx="4089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职场中普遍存在的顾虑</a:t>
            </a:r>
            <a:endParaRPr lang="en-US" altLang="zh-CN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你是否也有？</a:t>
            </a:r>
          </a:p>
        </p:txBody>
      </p:sp>
      <p:sp>
        <p:nvSpPr>
          <p:cNvPr id="10247" name="L 形 17"/>
          <p:cNvSpPr>
            <a:spLocks/>
          </p:cNvSpPr>
          <p:nvPr/>
        </p:nvSpPr>
        <p:spPr bwMode="auto">
          <a:xfrm flipH="1" flipV="1">
            <a:off x="7970838" y="2060575"/>
            <a:ext cx="633412" cy="612775"/>
          </a:xfrm>
          <a:custGeom>
            <a:avLst/>
            <a:gdLst>
              <a:gd name="T0" fmla="*/ 0 w 633412"/>
              <a:gd name="T1" fmla="*/ 0 h 612775"/>
              <a:gd name="T2" fmla="*/ 156196 w 633412"/>
              <a:gd name="T3" fmla="*/ 0 h 612775"/>
              <a:gd name="T4" fmla="*/ 156196 w 633412"/>
              <a:gd name="T5" fmla="*/ 456579 h 612775"/>
              <a:gd name="T6" fmla="*/ 633412 w 633412"/>
              <a:gd name="T7" fmla="*/ 456579 h 612775"/>
              <a:gd name="T8" fmla="*/ 633412 w 633412"/>
              <a:gd name="T9" fmla="*/ 612775 h 612775"/>
              <a:gd name="T10" fmla="*/ 0 w 633412"/>
              <a:gd name="T11" fmla="*/ 612775 h 612775"/>
              <a:gd name="T12" fmla="*/ 0 w 633412"/>
              <a:gd name="T13" fmla="*/ 0 h 6127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3412" h="612775">
                <a:moveTo>
                  <a:pt x="0" y="0"/>
                </a:moveTo>
                <a:lnTo>
                  <a:pt x="156196" y="0"/>
                </a:lnTo>
                <a:lnTo>
                  <a:pt x="156196" y="456579"/>
                </a:lnTo>
                <a:lnTo>
                  <a:pt x="633412" y="456579"/>
                </a:lnTo>
                <a:lnTo>
                  <a:pt x="633412" y="612775"/>
                </a:lnTo>
                <a:lnTo>
                  <a:pt x="0" y="612775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48" name="L 形 1"/>
          <p:cNvSpPr>
            <a:spLocks/>
          </p:cNvSpPr>
          <p:nvPr/>
        </p:nvSpPr>
        <p:spPr bwMode="auto">
          <a:xfrm>
            <a:off x="468313" y="4832350"/>
            <a:ext cx="631825" cy="612775"/>
          </a:xfrm>
          <a:custGeom>
            <a:avLst/>
            <a:gdLst>
              <a:gd name="T0" fmla="*/ 0 w 631825"/>
              <a:gd name="T1" fmla="*/ 0 h 612775"/>
              <a:gd name="T2" fmla="*/ 156196 w 631825"/>
              <a:gd name="T3" fmla="*/ 0 h 612775"/>
              <a:gd name="T4" fmla="*/ 156196 w 631825"/>
              <a:gd name="T5" fmla="*/ 456579 h 612775"/>
              <a:gd name="T6" fmla="*/ 631825 w 631825"/>
              <a:gd name="T7" fmla="*/ 456579 h 612775"/>
              <a:gd name="T8" fmla="*/ 631825 w 631825"/>
              <a:gd name="T9" fmla="*/ 612775 h 612775"/>
              <a:gd name="T10" fmla="*/ 0 w 631825"/>
              <a:gd name="T11" fmla="*/ 612775 h 612775"/>
              <a:gd name="T12" fmla="*/ 0 w 631825"/>
              <a:gd name="T13" fmla="*/ 0 h 6127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1825" h="612775">
                <a:moveTo>
                  <a:pt x="0" y="0"/>
                </a:moveTo>
                <a:lnTo>
                  <a:pt x="156196" y="0"/>
                </a:lnTo>
                <a:lnTo>
                  <a:pt x="156196" y="456579"/>
                </a:lnTo>
                <a:lnTo>
                  <a:pt x="631825" y="456579"/>
                </a:lnTo>
                <a:lnTo>
                  <a:pt x="631825" y="612775"/>
                </a:lnTo>
                <a:lnTo>
                  <a:pt x="0" y="612775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6"/>
          <p:cNvSpPr>
            <a:spLocks noChangeArrowheads="1"/>
          </p:cNvSpPr>
          <p:nvPr/>
        </p:nvSpPr>
        <p:spPr bwMode="auto">
          <a:xfrm>
            <a:off x="2339975" y="549275"/>
            <a:ext cx="6553200" cy="4318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11267" name="TextBox 7"/>
          <p:cNvSpPr txBox="1">
            <a:spLocks noChangeArrowheads="1"/>
          </p:cNvSpPr>
          <p:nvPr/>
        </p:nvSpPr>
        <p:spPr bwMode="auto">
          <a:xfrm>
            <a:off x="541338" y="1373188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我要是出错了怎么办</a:t>
            </a:r>
          </a:p>
        </p:txBody>
      </p:sp>
      <p:sp>
        <p:nvSpPr>
          <p:cNvPr id="11268" name="TextBox 12"/>
          <p:cNvSpPr txBox="1">
            <a:spLocks noChangeArrowheads="1"/>
          </p:cNvSpPr>
          <p:nvPr/>
        </p:nvSpPr>
        <p:spPr bwMode="auto">
          <a:xfrm>
            <a:off x="539750" y="1773238"/>
            <a:ext cx="84963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即使情况再恶劣，我们还是能从中找到一些积极因素，从错误中吸取经验教训</a:t>
            </a:r>
          </a:p>
        </p:txBody>
      </p:sp>
      <p:sp>
        <p:nvSpPr>
          <p:cNvPr id="11269" name="TextBox 17"/>
          <p:cNvSpPr txBox="1">
            <a:spLocks noChangeArrowheads="1"/>
          </p:cNvSpPr>
          <p:nvPr/>
        </p:nvSpPr>
        <p:spPr bwMode="auto">
          <a:xfrm>
            <a:off x="541338" y="2813050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需要做的事情并不容易</a:t>
            </a:r>
          </a:p>
        </p:txBody>
      </p:sp>
      <p:sp>
        <p:nvSpPr>
          <p:cNvPr id="11270" name="TextBox 19"/>
          <p:cNvSpPr txBox="1">
            <a:spLocks noChangeArrowheads="1"/>
          </p:cNvSpPr>
          <p:nvPr/>
        </p:nvSpPr>
        <p:spPr bwMode="auto">
          <a:xfrm>
            <a:off x="539750" y="3213100"/>
            <a:ext cx="799306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极少有想法一开始就能受欢迎。如果这主意真的那么了不起，两年前怎么没人用？要有遇到阻碍也不妥协的心理准备。</a:t>
            </a:r>
          </a:p>
        </p:txBody>
      </p:sp>
      <p:sp>
        <p:nvSpPr>
          <p:cNvPr id="11271" name="TextBox 20"/>
          <p:cNvSpPr txBox="1">
            <a:spLocks noChangeArrowheads="1"/>
          </p:cNvSpPr>
          <p:nvPr/>
        </p:nvSpPr>
        <p:spPr bwMode="auto">
          <a:xfrm>
            <a:off x="541338" y="4508500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我担心会被炒鱿鱼</a:t>
            </a:r>
          </a:p>
        </p:txBody>
      </p:sp>
      <p:sp>
        <p:nvSpPr>
          <p:cNvPr id="11272" name="TextBox 22"/>
          <p:cNvSpPr txBox="1">
            <a:spLocks noChangeArrowheads="1"/>
          </p:cNvSpPr>
          <p:nvPr/>
        </p:nvSpPr>
        <p:spPr bwMode="auto">
          <a:xfrm>
            <a:off x="539750" y="4883150"/>
            <a:ext cx="799306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防止别人对我们工作不满的策略是，事先确定所做的工作与上司、部门乃至公司需求息息相关，对他们具有重要意义。</a:t>
            </a:r>
          </a:p>
        </p:txBody>
      </p:sp>
      <p:cxnSp>
        <p:nvCxnSpPr>
          <p:cNvPr id="11273" name="直接连接符 3"/>
          <p:cNvCxnSpPr>
            <a:cxnSpLocks noChangeShapeType="1"/>
          </p:cNvCxnSpPr>
          <p:nvPr/>
        </p:nvCxnSpPr>
        <p:spPr bwMode="auto">
          <a:xfrm>
            <a:off x="609600" y="1773238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4" name="直接连接符 15"/>
          <p:cNvCxnSpPr>
            <a:cxnSpLocks noChangeShapeType="1"/>
          </p:cNvCxnSpPr>
          <p:nvPr/>
        </p:nvCxnSpPr>
        <p:spPr bwMode="auto">
          <a:xfrm>
            <a:off x="588963" y="3233738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5" name="直接连接符 16"/>
          <p:cNvCxnSpPr>
            <a:cxnSpLocks noChangeShapeType="1"/>
          </p:cNvCxnSpPr>
          <p:nvPr/>
        </p:nvCxnSpPr>
        <p:spPr bwMode="auto">
          <a:xfrm>
            <a:off x="609600" y="4908550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矩形 2"/>
          <p:cNvSpPr/>
          <p:nvPr/>
        </p:nvSpPr>
        <p:spPr>
          <a:xfrm>
            <a:off x="323850" y="549275"/>
            <a:ext cx="2519363" cy="431800"/>
          </a:xfrm>
          <a:custGeom>
            <a:avLst/>
            <a:gdLst/>
            <a:ahLst/>
            <a:cxnLst/>
            <a:rect l="l" t="t" r="r" b="b"/>
            <a:pathLst>
              <a:path w="2520280" h="431453">
                <a:moveTo>
                  <a:pt x="0" y="0"/>
                </a:moveTo>
                <a:lnTo>
                  <a:pt x="2520280" y="0"/>
                </a:lnTo>
                <a:lnTo>
                  <a:pt x="2520280" y="11522"/>
                </a:lnTo>
                <a:lnTo>
                  <a:pt x="2160835" y="431453"/>
                </a:lnTo>
                <a:lnTo>
                  <a:pt x="0" y="4314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恐惧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6"/>
          <p:cNvSpPr>
            <a:spLocks noChangeArrowheads="1"/>
          </p:cNvSpPr>
          <p:nvPr/>
        </p:nvSpPr>
        <p:spPr bwMode="auto">
          <a:xfrm>
            <a:off x="2339975" y="549275"/>
            <a:ext cx="6553200" cy="4318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12291" name="TextBox 7"/>
          <p:cNvSpPr txBox="1">
            <a:spLocks noChangeArrowheads="1"/>
          </p:cNvSpPr>
          <p:nvPr/>
        </p:nvSpPr>
        <p:spPr bwMode="auto">
          <a:xfrm>
            <a:off x="573088" y="1373188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A6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我的职权不够</a:t>
            </a:r>
          </a:p>
        </p:txBody>
      </p:sp>
      <p:sp>
        <p:nvSpPr>
          <p:cNvPr id="12292" name="TextBox 12"/>
          <p:cNvSpPr txBox="1">
            <a:spLocks noChangeArrowheads="1"/>
          </p:cNvSpPr>
          <p:nvPr/>
        </p:nvSpPr>
        <p:spPr bwMode="auto">
          <a:xfrm>
            <a:off x="539750" y="1844675"/>
            <a:ext cx="8135938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很少人有足够的职权去做为改善现状而必须做的所有事。一个人能拥有的最好权限并非由其职位所赋予，而是产生于其以往的成功以及其对人对事的影响力。</a:t>
            </a:r>
          </a:p>
        </p:txBody>
      </p:sp>
      <p:sp>
        <p:nvSpPr>
          <p:cNvPr id="12293" name="TextBox 17"/>
          <p:cNvSpPr txBox="1">
            <a:spLocks noChangeArrowheads="1"/>
          </p:cNvSpPr>
          <p:nvPr/>
        </p:nvSpPr>
        <p:spPr bwMode="auto">
          <a:xfrm>
            <a:off x="566738" y="3068638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A6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我得不到支持</a:t>
            </a:r>
          </a:p>
        </p:txBody>
      </p:sp>
      <p:sp>
        <p:nvSpPr>
          <p:cNvPr id="12294" name="TextBox 19"/>
          <p:cNvSpPr txBox="1">
            <a:spLocks noChangeArrowheads="1"/>
          </p:cNvSpPr>
          <p:nvPr/>
        </p:nvSpPr>
        <p:spPr bwMode="auto">
          <a:xfrm>
            <a:off x="539750" y="3500438"/>
            <a:ext cx="79930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我们必须通过自己的行动，在时间沉淀中赢得上司的支持，让他们相信我们的细心与计划，我们持之以恒的努力能够给企业带来好的结果</a:t>
            </a:r>
          </a:p>
        </p:txBody>
      </p:sp>
      <p:sp>
        <p:nvSpPr>
          <p:cNvPr id="12295" name="TextBox 20"/>
          <p:cNvSpPr txBox="1">
            <a:spLocks noChangeArrowheads="1"/>
          </p:cNvSpPr>
          <p:nvPr/>
        </p:nvSpPr>
        <p:spPr bwMode="auto">
          <a:xfrm>
            <a:off x="554038" y="4868863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A6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我缺乏技能</a:t>
            </a:r>
          </a:p>
        </p:txBody>
      </p:sp>
      <p:sp>
        <p:nvSpPr>
          <p:cNvPr id="12296" name="TextBox 22"/>
          <p:cNvSpPr txBox="1">
            <a:spLocks noChangeArrowheads="1"/>
          </p:cNvSpPr>
          <p:nvPr/>
        </p:nvSpPr>
        <p:spPr bwMode="auto">
          <a:xfrm>
            <a:off x="539750" y="5445125"/>
            <a:ext cx="79930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大多数技能都是在目前的工作中慢慢的发展出来的。我们要有计划的发展各种必要技能包括个人效率、交际技巧、技术专长以及团队合作能力</a:t>
            </a:r>
          </a:p>
        </p:txBody>
      </p:sp>
      <p:cxnSp>
        <p:nvCxnSpPr>
          <p:cNvPr id="12297" name="直接连接符 13"/>
          <p:cNvCxnSpPr>
            <a:cxnSpLocks noChangeShapeType="1"/>
          </p:cNvCxnSpPr>
          <p:nvPr/>
        </p:nvCxnSpPr>
        <p:spPr bwMode="auto">
          <a:xfrm>
            <a:off x="609600" y="1773238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8" name="直接连接符 14"/>
          <p:cNvCxnSpPr>
            <a:cxnSpLocks noChangeShapeType="1"/>
          </p:cNvCxnSpPr>
          <p:nvPr/>
        </p:nvCxnSpPr>
        <p:spPr bwMode="auto">
          <a:xfrm>
            <a:off x="609600" y="3500438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9" name="直接连接符 15"/>
          <p:cNvCxnSpPr>
            <a:cxnSpLocks noChangeShapeType="1"/>
          </p:cNvCxnSpPr>
          <p:nvPr/>
        </p:nvCxnSpPr>
        <p:spPr bwMode="auto">
          <a:xfrm>
            <a:off x="611188" y="5373688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矩形 2"/>
          <p:cNvSpPr/>
          <p:nvPr/>
        </p:nvSpPr>
        <p:spPr>
          <a:xfrm>
            <a:off x="323850" y="549275"/>
            <a:ext cx="2519363" cy="431800"/>
          </a:xfrm>
          <a:custGeom>
            <a:avLst/>
            <a:gdLst/>
            <a:ahLst/>
            <a:cxnLst/>
            <a:rect l="l" t="t" r="r" b="b"/>
            <a:pathLst>
              <a:path w="2520280" h="431453">
                <a:moveTo>
                  <a:pt x="0" y="0"/>
                </a:moveTo>
                <a:lnTo>
                  <a:pt x="2520280" y="0"/>
                </a:lnTo>
                <a:lnTo>
                  <a:pt x="2520280" y="11522"/>
                </a:lnTo>
                <a:lnTo>
                  <a:pt x="2160835" y="431453"/>
                </a:lnTo>
                <a:lnTo>
                  <a:pt x="0" y="4314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挫折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6"/>
          <p:cNvSpPr>
            <a:spLocks noChangeArrowheads="1"/>
          </p:cNvSpPr>
          <p:nvPr/>
        </p:nvSpPr>
        <p:spPr bwMode="auto">
          <a:xfrm>
            <a:off x="2339975" y="549275"/>
            <a:ext cx="6553200" cy="4318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13315" name="TextBox 7"/>
          <p:cNvSpPr txBox="1">
            <a:spLocks noChangeArrowheads="1"/>
          </p:cNvSpPr>
          <p:nvPr/>
        </p:nvSpPr>
        <p:spPr bwMode="auto">
          <a:xfrm>
            <a:off x="600075" y="1268413"/>
            <a:ext cx="3167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A6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我主动过却失败了</a:t>
            </a:r>
          </a:p>
        </p:txBody>
      </p:sp>
      <p:sp>
        <p:nvSpPr>
          <p:cNvPr id="13316" name="TextBox 12"/>
          <p:cNvSpPr txBox="1">
            <a:spLocks noChangeArrowheads="1"/>
          </p:cNvSpPr>
          <p:nvPr/>
        </p:nvSpPr>
        <p:spPr bwMode="auto">
          <a:xfrm>
            <a:off x="592138" y="1628775"/>
            <a:ext cx="79676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我们要看到失败中蕴涵的力量，尤其是在失败的那一刻，该多问问“下次我该如何做才不会重蹈覆辙”如果能从中吸取教训，失败会让我们变得更强大</a:t>
            </a:r>
          </a:p>
        </p:txBody>
      </p:sp>
      <p:sp>
        <p:nvSpPr>
          <p:cNvPr id="13317" name="TextBox 17"/>
          <p:cNvSpPr txBox="1">
            <a:spLocks noChangeArrowheads="1"/>
          </p:cNvSpPr>
          <p:nvPr/>
        </p:nvSpPr>
        <p:spPr bwMode="auto">
          <a:xfrm>
            <a:off x="587375" y="2965450"/>
            <a:ext cx="3167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A6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总有人和我过不去</a:t>
            </a:r>
          </a:p>
        </p:txBody>
      </p:sp>
      <p:sp>
        <p:nvSpPr>
          <p:cNvPr id="13318" name="TextBox 19"/>
          <p:cNvSpPr txBox="1">
            <a:spLocks noChangeArrowheads="1"/>
          </p:cNvSpPr>
          <p:nvPr/>
        </p:nvSpPr>
        <p:spPr bwMode="auto">
          <a:xfrm>
            <a:off x="566738" y="3357563"/>
            <a:ext cx="7993062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这些人可能是反对我们的想法本身，也可能是反对我们选择时机，或者是觉得我们的成功会让他们难堪。不过要记住，别人在努力帮我们考量计划、规避错误时，他们所给出的批评建议经常都是善意的。</a:t>
            </a:r>
          </a:p>
        </p:txBody>
      </p:sp>
      <p:sp>
        <p:nvSpPr>
          <p:cNvPr id="13319" name="TextBox 13"/>
          <p:cNvSpPr txBox="1">
            <a:spLocks noChangeArrowheads="1"/>
          </p:cNvSpPr>
          <p:nvPr/>
        </p:nvSpPr>
        <p:spPr bwMode="auto">
          <a:xfrm>
            <a:off x="547688" y="5013325"/>
            <a:ext cx="316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rgbClr val="00A6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我总是失败</a:t>
            </a:r>
          </a:p>
        </p:txBody>
      </p:sp>
      <p:sp>
        <p:nvSpPr>
          <p:cNvPr id="13320" name="TextBox 15"/>
          <p:cNvSpPr txBox="1">
            <a:spLocks noChangeArrowheads="1"/>
          </p:cNvSpPr>
          <p:nvPr/>
        </p:nvSpPr>
        <p:spPr bwMode="auto">
          <a:xfrm>
            <a:off x="579438" y="5373688"/>
            <a:ext cx="8497887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如果我们主动出击了，却总是失败可以考虑跳槽了</a:t>
            </a:r>
          </a:p>
        </p:txBody>
      </p:sp>
      <p:cxnSp>
        <p:nvCxnSpPr>
          <p:cNvPr id="13321" name="直接连接符 12"/>
          <p:cNvCxnSpPr>
            <a:cxnSpLocks noChangeShapeType="1"/>
          </p:cNvCxnSpPr>
          <p:nvPr/>
        </p:nvCxnSpPr>
        <p:spPr bwMode="auto">
          <a:xfrm>
            <a:off x="609600" y="1628775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2" name="直接连接符 13"/>
          <p:cNvCxnSpPr>
            <a:cxnSpLocks noChangeShapeType="1"/>
          </p:cNvCxnSpPr>
          <p:nvPr/>
        </p:nvCxnSpPr>
        <p:spPr bwMode="auto">
          <a:xfrm>
            <a:off x="609600" y="3357563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3" name="直接连接符 15"/>
          <p:cNvCxnSpPr>
            <a:cxnSpLocks noChangeShapeType="1"/>
          </p:cNvCxnSpPr>
          <p:nvPr/>
        </p:nvCxnSpPr>
        <p:spPr bwMode="auto">
          <a:xfrm>
            <a:off x="609600" y="5373688"/>
            <a:ext cx="2809875" cy="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矩形 2"/>
          <p:cNvSpPr/>
          <p:nvPr/>
        </p:nvSpPr>
        <p:spPr>
          <a:xfrm>
            <a:off x="323850" y="549275"/>
            <a:ext cx="2519363" cy="431800"/>
          </a:xfrm>
          <a:custGeom>
            <a:avLst/>
            <a:gdLst/>
            <a:ahLst/>
            <a:cxnLst/>
            <a:rect l="l" t="t" r="r" b="b"/>
            <a:pathLst>
              <a:path w="2520280" h="431453">
                <a:moveTo>
                  <a:pt x="0" y="0"/>
                </a:moveTo>
                <a:lnTo>
                  <a:pt x="2520280" y="0"/>
                </a:lnTo>
                <a:lnTo>
                  <a:pt x="2520280" y="11522"/>
                </a:lnTo>
                <a:lnTo>
                  <a:pt x="2160835" y="431453"/>
                </a:lnTo>
                <a:lnTo>
                  <a:pt x="0" y="4314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265488"/>
            <a:ext cx="9144000" cy="717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矩形 7"/>
          <p:cNvSpPr>
            <a:spLocks noChangeArrowheads="1"/>
          </p:cNvSpPr>
          <p:nvPr/>
        </p:nvSpPr>
        <p:spPr bwMode="auto">
          <a:xfrm>
            <a:off x="539750" y="-331788"/>
            <a:ext cx="7993063" cy="4319588"/>
          </a:xfrm>
          <a:prstGeom prst="rect">
            <a:avLst/>
          </a:prstGeom>
          <a:solidFill>
            <a:srgbClr val="007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14340" name="TextBox 8"/>
          <p:cNvSpPr txBox="1">
            <a:spLocks noChangeArrowheads="1"/>
          </p:cNvSpPr>
          <p:nvPr/>
        </p:nvSpPr>
        <p:spPr bwMode="auto">
          <a:xfrm>
            <a:off x="1908175" y="2636838"/>
            <a:ext cx="7056438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生活就像一艘船，任何时候人们其实都有机会登上它。</a:t>
            </a:r>
            <a:endParaRPr lang="en-US" altLang="zh-CN" sz="1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你才是人生舰船的舵手，唯有你自己才能决定你的想法和行动。</a:t>
            </a:r>
            <a:endParaRPr lang="en-US" altLang="zh-CN" sz="1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341" name="椭圆 9"/>
          <p:cNvSpPr>
            <a:spLocks noChangeArrowheads="1"/>
          </p:cNvSpPr>
          <p:nvPr/>
        </p:nvSpPr>
        <p:spPr bwMode="auto">
          <a:xfrm>
            <a:off x="973138" y="549275"/>
            <a:ext cx="719137" cy="7191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挖</a:t>
            </a:r>
          </a:p>
        </p:txBody>
      </p:sp>
      <p:sp>
        <p:nvSpPr>
          <p:cNvPr id="14342" name="椭圆 10"/>
          <p:cNvSpPr>
            <a:spLocks noChangeArrowheads="1"/>
          </p:cNvSpPr>
          <p:nvPr/>
        </p:nvSpPr>
        <p:spPr bwMode="auto">
          <a:xfrm>
            <a:off x="1836738" y="549275"/>
            <a:ext cx="720725" cy="7191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掘</a:t>
            </a:r>
          </a:p>
        </p:txBody>
      </p:sp>
      <p:sp>
        <p:nvSpPr>
          <p:cNvPr id="14343" name="椭圆 11"/>
          <p:cNvSpPr>
            <a:spLocks noChangeArrowheads="1"/>
          </p:cNvSpPr>
          <p:nvPr/>
        </p:nvSpPr>
        <p:spPr bwMode="auto">
          <a:xfrm>
            <a:off x="2709863" y="765175"/>
            <a:ext cx="503237" cy="5032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</a:p>
        </p:txBody>
      </p:sp>
      <p:sp>
        <p:nvSpPr>
          <p:cNvPr id="14344" name="椭圆 12"/>
          <p:cNvSpPr>
            <a:spLocks noChangeArrowheads="1"/>
          </p:cNvSpPr>
          <p:nvPr/>
        </p:nvSpPr>
        <p:spPr bwMode="auto">
          <a:xfrm>
            <a:off x="3205163" y="765175"/>
            <a:ext cx="503237" cy="5032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</a:p>
        </p:txBody>
      </p:sp>
      <p:sp>
        <p:nvSpPr>
          <p:cNvPr id="14345" name="椭圆 13"/>
          <p:cNvSpPr>
            <a:spLocks noChangeArrowheads="1"/>
          </p:cNvSpPr>
          <p:nvPr/>
        </p:nvSpPr>
        <p:spPr bwMode="auto">
          <a:xfrm>
            <a:off x="3708400" y="765175"/>
            <a:ext cx="504825" cy="5032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潜</a:t>
            </a:r>
          </a:p>
        </p:txBody>
      </p:sp>
      <p:sp>
        <p:nvSpPr>
          <p:cNvPr id="14346" name="椭圆 14"/>
          <p:cNvSpPr>
            <a:spLocks noChangeArrowheads="1"/>
          </p:cNvSpPr>
          <p:nvPr/>
        </p:nvSpPr>
        <p:spPr bwMode="auto">
          <a:xfrm>
            <a:off x="4213225" y="765175"/>
            <a:ext cx="503238" cy="5032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</a:p>
        </p:txBody>
      </p:sp>
      <p:sp>
        <p:nvSpPr>
          <p:cNvPr id="14347" name="TextBox 1"/>
          <p:cNvSpPr txBox="1">
            <a:spLocks noChangeArrowheads="1"/>
          </p:cNvSpPr>
          <p:nvPr/>
        </p:nvSpPr>
        <p:spPr bwMode="auto">
          <a:xfrm>
            <a:off x="6588125" y="6064250"/>
            <a:ext cx="25923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404040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@</a:t>
            </a:r>
            <a:r>
              <a:rPr lang="zh-CN" altLang="en-US" sz="2400" b="1">
                <a:solidFill>
                  <a:srgbClr val="404040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小贤去哪儿</a:t>
            </a:r>
            <a:endParaRPr lang="zh-CN" altLang="en-US" sz="2400" b="1">
              <a:solidFill>
                <a:schemeClr val="bg1"/>
              </a:solidFill>
              <a:latin typeface="Dotum" panose="020B0600000101010101" pitchFamily="34" charset="-127"/>
              <a:ea typeface="Dotum" panose="020B0600000101010101" pitchFamily="34" charset="-127"/>
            </a:endParaRPr>
          </a:p>
        </p:txBody>
      </p:sp>
      <p:sp>
        <p:nvSpPr>
          <p:cNvPr id="14348" name="TextBox 3"/>
          <p:cNvSpPr txBox="1">
            <a:spLocks noChangeArrowheads="1"/>
          </p:cNvSpPr>
          <p:nvPr/>
        </p:nvSpPr>
        <p:spPr bwMode="auto">
          <a:xfrm>
            <a:off x="539750" y="5084763"/>
            <a:ext cx="7993063" cy="400050"/>
          </a:xfrm>
          <a:prstGeom prst="rect">
            <a:avLst/>
          </a:prstGeom>
          <a:solidFill>
            <a:srgbClr val="00A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0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享受初入职场给领导带给我们的“痛苦并快乐”吧！！！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989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Calibri"/>
                </a:rPr>
                <a:t/>
              </a:r>
              <a:br>
                <a:rPr lang="en-US" altLang="zh-CN" sz="1400" kern="0" dirty="0">
                  <a:solidFill>
                    <a:prstClr val="black"/>
                  </a:solidFill>
                  <a:latin typeface="Calibri"/>
                </a:rPr>
              </a:br>
              <a:endParaRPr lang="en-US" altLang="zh-CN" sz="1400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800" eaLnBrk="1" hangingPunct="1">
                <a:buFontTx/>
                <a:buNone/>
                <a:defRPr/>
              </a:pPr>
              <a:endParaRPr lang="zh-CN" altLang="en-US" sz="135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>
                <a:buFontTx/>
                <a:buNone/>
                <a:defRPr/>
              </a:pPr>
              <a:endParaRPr lang="zh-CN" altLang="en-US" sz="105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3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60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5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4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858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endParaRPr lang="zh-CN" altLang="en-US" sz="78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>
                  <a:buFontTx/>
                  <a:buNone/>
                  <a:defRPr/>
                </a:pPr>
                <a:endParaRPr lang="zh-CN" altLang="en-US" sz="10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>
                  <a:buFontTx/>
                  <a:buNone/>
                  <a:defRPr/>
                </a:pPr>
                <a:endParaRPr lang="zh-CN" altLang="en-US" sz="10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>
                  <a:buFontTx/>
                  <a:buNone/>
                  <a:defRPr/>
                </a:pPr>
                <a:endParaRPr lang="zh-CN" altLang="en-US" sz="10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10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>
                <a:buFontTx/>
                <a:buNone/>
                <a:defRPr/>
              </a:pPr>
              <a:endParaRPr lang="zh-CN" altLang="en-US" sz="105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>
                  <a:buFontTx/>
                  <a:buNone/>
                  <a:defRPr/>
                </a:pPr>
                <a:endParaRPr lang="zh-CN" altLang="en-US" sz="1050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>
                  <a:buFontTx/>
                  <a:buNone/>
                  <a:defRPr/>
                </a:pPr>
                <a:endParaRPr lang="zh-CN" altLang="en-US" sz="10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10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>
                <a:buFontTx/>
                <a:buNone/>
                <a:defRPr/>
              </a:pPr>
              <a:endParaRPr lang="zh-CN" altLang="en-US" sz="135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>
                  <a:buFontTx/>
                  <a:buNone/>
                  <a:defRPr/>
                </a:pPr>
                <a:endParaRPr lang="zh-CN" altLang="en-US" sz="1350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150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1" fontAlgn="auto" hangingPunct="1">
              <a:spcBef>
                <a:spcPts val="3000"/>
              </a:spcBef>
              <a:spcAft>
                <a:spcPts val="0"/>
              </a:spcAft>
              <a:buFontTx/>
              <a:buNone/>
            </a:pPr>
            <a:r>
              <a:rPr lang="zh-CN" altLang="en-US" sz="4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Bef>
                <a:spcPts val="3000"/>
              </a:spcBef>
              <a:spcAft>
                <a:spcPts val="0"/>
              </a:spcAft>
              <a:buFontTx/>
              <a:buNone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415160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2768600"/>
            <a:ext cx="3673475" cy="2749550"/>
          </a:xfrm>
          <a:prstGeom prst="rect">
            <a:avLst/>
          </a:prstGeom>
          <a:noFill/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矩形 12"/>
          <p:cNvSpPr>
            <a:spLocks noChangeArrowheads="1"/>
          </p:cNvSpPr>
          <p:nvPr/>
        </p:nvSpPr>
        <p:spPr bwMode="auto">
          <a:xfrm>
            <a:off x="539750" y="620713"/>
            <a:ext cx="7993063" cy="14398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圆角矩形 6"/>
          <p:cNvSpPr>
            <a:spLocks noChangeArrowheads="1"/>
          </p:cNvSpPr>
          <p:nvPr/>
        </p:nvSpPr>
        <p:spPr bwMode="auto">
          <a:xfrm>
            <a:off x="539750" y="5589588"/>
            <a:ext cx="3671888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15365" name="圆角矩形 9"/>
          <p:cNvSpPr>
            <a:spLocks noChangeArrowheads="1"/>
          </p:cNvSpPr>
          <p:nvPr/>
        </p:nvSpPr>
        <p:spPr bwMode="auto">
          <a:xfrm>
            <a:off x="4860925" y="5589588"/>
            <a:ext cx="3671888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538163" y="736600"/>
            <a:ext cx="79946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秋叶 大叔，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_199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反复指导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12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我在网易云课堂等你</a:t>
            </a:r>
          </a:p>
        </p:txBody>
      </p:sp>
      <p:pic>
        <p:nvPicPr>
          <p:cNvPr id="15367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5" y="2770188"/>
            <a:ext cx="3651250" cy="2747962"/>
          </a:xfrm>
          <a:prstGeom prst="rect">
            <a:avLst/>
          </a:prstGeom>
          <a:noFill/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1" fontAlgn="auto" hangingPunct="1">
              <a:spcBef>
                <a:spcPts val="1800"/>
              </a:spcBef>
              <a:spcAft>
                <a:spcPts val="0"/>
              </a:spcAft>
              <a:buFontTx/>
              <a:buNone/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Bef>
                <a:spcPts val="1800"/>
              </a:spcBef>
              <a:spcAft>
                <a:spcPts val="0"/>
              </a:spcAft>
              <a:buFontTx/>
              <a:buNone/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笔记，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1" fontAlgn="auto" hangingPunct="1"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1" fontAlgn="auto" hangingPunct="1"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0815643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Pages>0</Pages>
  <Words>1427</Words>
  <Characters>0</Characters>
  <Application>Microsoft Office PowerPoint</Application>
  <DocSecurity>0</DocSecurity>
  <PresentationFormat>全屏显示(4:3)</PresentationFormat>
  <Lines>0</Lines>
  <Paragraphs>133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Dotum</vt:lpstr>
      <vt:lpstr>方正正黑简体</vt:lpstr>
      <vt:lpstr>方正正中黑简体</vt:lpstr>
      <vt:lpstr>华康俪金黑W8</vt:lpstr>
      <vt:lpstr>宋体</vt:lpstr>
      <vt:lpstr>微软雅黑</vt:lpstr>
      <vt:lpstr>Arial</vt:lpstr>
      <vt:lpstr>Calibri</vt:lpstr>
      <vt:lpstr>默认设计模板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小巴</cp:lastModifiedBy>
  <cp:revision>83</cp:revision>
  <dcterms:created xsi:type="dcterms:W3CDTF">2012-06-06T01:30:27Z</dcterms:created>
  <dcterms:modified xsi:type="dcterms:W3CDTF">2014-02-19T05:13:43Z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