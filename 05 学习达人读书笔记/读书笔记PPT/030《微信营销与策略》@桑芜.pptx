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8" r:id="rId1"/>
  </p:sldMasterIdLst>
  <p:sldIdLst>
    <p:sldId id="257" r:id="rId2"/>
    <p:sldId id="258" r:id="rId3"/>
  </p:sldIdLst>
  <p:sldSz cx="10690225" cy="43200638"/>
  <p:notesSz cx="6858000" cy="9144000"/>
  <p:embeddedFontLst>
    <p:embeddedFont>
      <p:font typeface="方正行黑简体" panose="02000000000000000000" pitchFamily="2" charset="-122"/>
      <p:regular r:id="rId4"/>
    </p:embeddedFont>
    <p:embeddedFont>
      <p:font typeface="华文细黑" panose="02010600040101010101" pitchFamily="2" charset="-122"/>
      <p:regular r:id="rId5"/>
    </p:embeddedFont>
    <p:embeddedFont>
      <p:font typeface="华康俪金黑W8" panose="020B0809000000000000" pitchFamily="49" charset="-122"/>
      <p:regular r:id="rId6"/>
    </p:embeddedFont>
    <p:embeddedFont>
      <p:font typeface="Calibri Light" panose="020F0302020204030204" pitchFamily="34" charset="0"/>
      <p:regular r:id="rId7"/>
      <p:italic r:id="rId8"/>
    </p:embeddedFont>
    <p:embeddedFont>
      <p:font typeface="華康墨字體" panose="02010609010101010101" pitchFamily="49" charset="-120"/>
      <p:regular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微软雅黑" panose="020B0503020204020204" pitchFamily="34" charset="-122"/>
      <p:regular r:id="rId14"/>
      <p:bold r:id="rId15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344" userDrawn="1">
          <p15:clr>
            <a:srgbClr val="A4A3A4"/>
          </p15:clr>
        </p15:guide>
        <p15:guide id="4" orient="horz" pos="7007" userDrawn="1">
          <p15:clr>
            <a:srgbClr val="A4A3A4"/>
          </p15:clr>
        </p15:guide>
        <p15:guide id="5" orient="horz" pos="5835" userDrawn="1">
          <p15:clr>
            <a:srgbClr val="A4A3A4"/>
          </p15:clr>
        </p15:guide>
        <p15:guide id="6" orient="horz" pos="5418" userDrawn="1">
          <p15:clr>
            <a:srgbClr val="A4A3A4"/>
          </p15:clr>
        </p15:guide>
        <p15:guide id="7" pos="396" userDrawn="1">
          <p15:clr>
            <a:srgbClr val="A4A3A4"/>
          </p15:clr>
        </p15:guide>
        <p15:guide id="8" orient="horz" pos="16511" userDrawn="1">
          <p15:clr>
            <a:srgbClr val="A4A3A4"/>
          </p15:clr>
        </p15:guide>
        <p15:guide id="9" orient="horz" pos="12971" userDrawn="1">
          <p15:clr>
            <a:srgbClr val="A4A3A4"/>
          </p15:clr>
        </p15:guide>
        <p15:guide id="10" pos="5385" userDrawn="1">
          <p15:clr>
            <a:srgbClr val="A4A3A4"/>
          </p15:clr>
        </p15:guide>
        <p15:guide id="11" orient="horz" pos="20774" userDrawn="1">
          <p15:clr>
            <a:srgbClr val="A4A3A4"/>
          </p15:clr>
        </p15:guide>
        <p15:guide id="12" orient="horz" pos="23588" userDrawn="1">
          <p15:clr>
            <a:srgbClr val="A4A3A4"/>
          </p15:clr>
        </p15:guide>
        <p15:guide id="13" orient="horz" pos="22634" userDrawn="1">
          <p15:clr>
            <a:srgbClr val="A4A3A4"/>
          </p15:clr>
        </p15:guide>
        <p15:guide id="14" orient="horz" pos="21545" userDrawn="1">
          <p15:clr>
            <a:srgbClr val="A4A3A4"/>
          </p15:clr>
        </p15:guide>
        <p15:guide id="15" pos="1008" userDrawn="1">
          <p15:clr>
            <a:srgbClr val="A4A3A4"/>
          </p15:clr>
        </p15:guide>
        <p15:guide id="16" pos="4342" userDrawn="1">
          <p15:clr>
            <a:srgbClr val="A4A3A4"/>
          </p15:clr>
        </p15:guide>
        <p15:guide id="17" orient="horz" pos="4037" userDrawn="1">
          <p15:clr>
            <a:srgbClr val="A4A3A4"/>
          </p15:clr>
        </p15:guide>
        <p15:guide id="18" orient="horz" pos="13221" userDrawn="1">
          <p15:clr>
            <a:srgbClr val="A4A3A4"/>
          </p15:clr>
        </p15:guide>
        <p15:guide id="19" orient="horz" pos="13743" userDrawn="1">
          <p15:clr>
            <a:srgbClr val="A4A3A4"/>
          </p15:clr>
        </p15:guide>
        <p15:guide id="20" pos="1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F8F8F8"/>
    <a:srgbClr val="F5F5F5"/>
    <a:srgbClr val="CFAB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74" autoAdjust="0"/>
    <p:restoredTop sz="94660"/>
  </p:normalViewPr>
  <p:slideViewPr>
    <p:cSldViewPr snapToGrid="0" showGuides="1">
      <p:cViewPr varScale="1">
        <p:scale>
          <a:sx n="12" d="100"/>
          <a:sy n="12" d="100"/>
        </p:scale>
        <p:origin x="3030" y="108"/>
      </p:cViewPr>
      <p:guideLst>
        <p:guide pos="3344"/>
        <p:guide orient="horz" pos="7007"/>
        <p:guide orient="horz" pos="5835"/>
        <p:guide orient="horz" pos="5418"/>
        <p:guide pos="396"/>
        <p:guide orient="horz" pos="16511"/>
        <p:guide orient="horz" pos="12971"/>
        <p:guide pos="5385"/>
        <p:guide orient="horz" pos="20774"/>
        <p:guide orient="horz" pos="23588"/>
        <p:guide orient="horz" pos="22634"/>
        <p:guide orient="horz" pos="21545"/>
        <p:guide pos="1008"/>
        <p:guide pos="4342"/>
        <p:guide orient="horz" pos="4037"/>
        <p:guide orient="horz" pos="13221"/>
        <p:guide orient="horz" pos="13743"/>
        <p:guide pos="1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769" y="7070108"/>
            <a:ext cx="9086691" cy="15040222"/>
          </a:xfrm>
        </p:spPr>
        <p:txBody>
          <a:bodyPr anchor="b"/>
          <a:lstStyle>
            <a:lvl1pPr algn="ctr">
              <a:defRPr sz="7015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280" y="22690339"/>
            <a:ext cx="8017669" cy="10430151"/>
          </a:xfrm>
        </p:spPr>
        <p:txBody>
          <a:bodyPr/>
          <a:lstStyle>
            <a:lvl1pPr marL="0" indent="0" algn="ctr">
              <a:buNone/>
              <a:defRPr sz="2806"/>
            </a:lvl1pPr>
            <a:lvl2pPr marL="534492" indent="0" algn="ctr">
              <a:buNone/>
              <a:defRPr sz="2338"/>
            </a:lvl2pPr>
            <a:lvl3pPr marL="1068983" indent="0" algn="ctr">
              <a:buNone/>
              <a:defRPr sz="2104"/>
            </a:lvl3pPr>
            <a:lvl4pPr marL="1603474" indent="0" algn="ctr">
              <a:buNone/>
              <a:defRPr sz="1871"/>
            </a:lvl4pPr>
            <a:lvl5pPr marL="2137964" indent="0" algn="ctr">
              <a:buNone/>
              <a:defRPr sz="1871"/>
            </a:lvl5pPr>
            <a:lvl6pPr marL="2672456" indent="0" algn="ctr">
              <a:buNone/>
              <a:defRPr sz="1871"/>
            </a:lvl6pPr>
            <a:lvl7pPr marL="3206947" indent="0" algn="ctr">
              <a:buNone/>
              <a:defRPr sz="1871"/>
            </a:lvl7pPr>
            <a:lvl8pPr marL="3741438" indent="0" algn="ctr">
              <a:buNone/>
              <a:defRPr sz="1871"/>
            </a:lvl8pPr>
            <a:lvl9pPr marL="4275929" indent="0" algn="ctr">
              <a:buNone/>
              <a:defRPr sz="1871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57E4-66A9-4BB9-801C-15ECC6089447}" type="datetimeFigureOut">
              <a:rPr lang="zh-CN" altLang="en-US" smtClean="0"/>
              <a:t>2014/2/25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FEED1-BECD-444B-BA77-84D1D652DD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75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57E4-66A9-4BB9-801C-15ECC6089447}" type="datetimeFigureOut">
              <a:rPr lang="zh-CN" altLang="en-US" smtClean="0"/>
              <a:t>2014/2/25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FEED1-BECD-444B-BA77-84D1D652DD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4490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388" y="10770173"/>
            <a:ext cx="9220319" cy="17970262"/>
          </a:xfrm>
        </p:spPr>
        <p:txBody>
          <a:bodyPr anchor="b"/>
          <a:lstStyle>
            <a:lvl1pPr>
              <a:defRPr sz="7015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388" y="28910440"/>
            <a:ext cx="9220319" cy="9450136"/>
          </a:xfrm>
        </p:spPr>
        <p:txBody>
          <a:bodyPr/>
          <a:lstStyle>
            <a:lvl1pPr marL="0" indent="0">
              <a:buNone/>
              <a:defRPr sz="2806">
                <a:solidFill>
                  <a:schemeClr val="tx1"/>
                </a:solidFill>
              </a:defRPr>
            </a:lvl1pPr>
            <a:lvl2pPr marL="534492" indent="0">
              <a:buNone/>
              <a:defRPr sz="2338">
                <a:solidFill>
                  <a:schemeClr val="tx1">
                    <a:tint val="75000"/>
                  </a:schemeClr>
                </a:solidFill>
              </a:defRPr>
            </a:lvl2pPr>
            <a:lvl3pPr marL="1068983" indent="0">
              <a:buNone/>
              <a:defRPr sz="2104">
                <a:solidFill>
                  <a:schemeClr val="tx1">
                    <a:tint val="75000"/>
                  </a:schemeClr>
                </a:solidFill>
              </a:defRPr>
            </a:lvl3pPr>
            <a:lvl4pPr marL="1603474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4pPr>
            <a:lvl5pPr marL="2137964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5pPr>
            <a:lvl6pPr marL="2672456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6pPr>
            <a:lvl7pPr marL="3206947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7pPr>
            <a:lvl8pPr marL="3741438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8pPr>
            <a:lvl9pPr marL="4275929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57E4-66A9-4BB9-801C-15ECC6089447}" type="datetimeFigureOut">
              <a:rPr lang="zh-CN" altLang="en-US" smtClean="0"/>
              <a:t>2014/2/25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FEED1-BECD-444B-BA77-84D1D652DD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3318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4953" y="11500171"/>
            <a:ext cx="4543346" cy="2741040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1926" y="11500171"/>
            <a:ext cx="4543346" cy="2741040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57E4-66A9-4BB9-801C-15ECC6089447}" type="datetimeFigureOut">
              <a:rPr lang="zh-CN" altLang="en-US" smtClean="0"/>
              <a:t>2014/2/25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FEED1-BECD-444B-BA77-84D1D652DD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628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347" y="2300045"/>
            <a:ext cx="9220319" cy="835012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346" y="10590161"/>
            <a:ext cx="4522466" cy="5190072"/>
          </a:xfrm>
        </p:spPr>
        <p:txBody>
          <a:bodyPr anchor="b"/>
          <a:lstStyle>
            <a:lvl1pPr marL="0" indent="0">
              <a:buNone/>
              <a:defRPr sz="2806" b="1"/>
            </a:lvl1pPr>
            <a:lvl2pPr marL="534492" indent="0">
              <a:buNone/>
              <a:defRPr sz="2338" b="1"/>
            </a:lvl2pPr>
            <a:lvl3pPr marL="1068983" indent="0">
              <a:buNone/>
              <a:defRPr sz="2104" b="1"/>
            </a:lvl3pPr>
            <a:lvl4pPr marL="1603474" indent="0">
              <a:buNone/>
              <a:defRPr sz="1871" b="1"/>
            </a:lvl4pPr>
            <a:lvl5pPr marL="2137964" indent="0">
              <a:buNone/>
              <a:defRPr sz="1871" b="1"/>
            </a:lvl5pPr>
            <a:lvl6pPr marL="2672456" indent="0">
              <a:buNone/>
              <a:defRPr sz="1871" b="1"/>
            </a:lvl6pPr>
            <a:lvl7pPr marL="3206947" indent="0">
              <a:buNone/>
              <a:defRPr sz="1871" b="1"/>
            </a:lvl7pPr>
            <a:lvl8pPr marL="3741438" indent="0">
              <a:buNone/>
              <a:defRPr sz="1871" b="1"/>
            </a:lvl8pPr>
            <a:lvl9pPr marL="4275929" indent="0">
              <a:buNone/>
              <a:defRPr sz="1871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346" y="15780234"/>
            <a:ext cx="4522466" cy="2321034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1927" y="10590161"/>
            <a:ext cx="4544738" cy="5190072"/>
          </a:xfrm>
        </p:spPr>
        <p:txBody>
          <a:bodyPr anchor="b"/>
          <a:lstStyle>
            <a:lvl1pPr marL="0" indent="0">
              <a:buNone/>
              <a:defRPr sz="2806" b="1"/>
            </a:lvl1pPr>
            <a:lvl2pPr marL="534492" indent="0">
              <a:buNone/>
              <a:defRPr sz="2338" b="1"/>
            </a:lvl2pPr>
            <a:lvl3pPr marL="1068983" indent="0">
              <a:buNone/>
              <a:defRPr sz="2104" b="1"/>
            </a:lvl3pPr>
            <a:lvl4pPr marL="1603474" indent="0">
              <a:buNone/>
              <a:defRPr sz="1871" b="1"/>
            </a:lvl4pPr>
            <a:lvl5pPr marL="2137964" indent="0">
              <a:buNone/>
              <a:defRPr sz="1871" b="1"/>
            </a:lvl5pPr>
            <a:lvl6pPr marL="2672456" indent="0">
              <a:buNone/>
              <a:defRPr sz="1871" b="1"/>
            </a:lvl6pPr>
            <a:lvl7pPr marL="3206947" indent="0">
              <a:buNone/>
              <a:defRPr sz="1871" b="1"/>
            </a:lvl7pPr>
            <a:lvl8pPr marL="3741438" indent="0">
              <a:buNone/>
              <a:defRPr sz="1871" b="1"/>
            </a:lvl8pPr>
            <a:lvl9pPr marL="4275929" indent="0">
              <a:buNone/>
              <a:defRPr sz="1871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1927" y="15780234"/>
            <a:ext cx="4544738" cy="2321034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57E4-66A9-4BB9-801C-15ECC6089447}" type="datetimeFigureOut">
              <a:rPr lang="zh-CN" altLang="en-US" smtClean="0"/>
              <a:t>2014/2/25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FEED1-BECD-444B-BA77-84D1D652DD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0133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57E4-66A9-4BB9-801C-15ECC6089447}" type="datetimeFigureOut">
              <a:rPr lang="zh-CN" altLang="en-US" smtClean="0"/>
              <a:t>2014/2/25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FEED1-BECD-444B-BA77-84D1D652DD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287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57E4-66A9-4BB9-801C-15ECC6089447}" type="datetimeFigureOut">
              <a:rPr lang="zh-CN" altLang="en-US" smtClean="0"/>
              <a:t>2014/2/25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FEED1-BECD-444B-BA77-84D1D652DD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241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345" y="2880043"/>
            <a:ext cx="3447876" cy="10080149"/>
          </a:xfrm>
        </p:spPr>
        <p:txBody>
          <a:bodyPr anchor="b"/>
          <a:lstStyle>
            <a:lvl1pPr>
              <a:defRPr sz="374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4738" y="6220103"/>
            <a:ext cx="5411926" cy="30700453"/>
          </a:xfrm>
        </p:spPr>
        <p:txBody>
          <a:bodyPr/>
          <a:lstStyle>
            <a:lvl1pPr>
              <a:defRPr sz="3740"/>
            </a:lvl1pPr>
            <a:lvl2pPr>
              <a:defRPr sz="3272"/>
            </a:lvl2pPr>
            <a:lvl3pPr>
              <a:defRPr sz="2806"/>
            </a:lvl3pPr>
            <a:lvl4pPr>
              <a:defRPr sz="2338"/>
            </a:lvl4pPr>
            <a:lvl5pPr>
              <a:defRPr sz="2338"/>
            </a:lvl5pPr>
            <a:lvl6pPr>
              <a:defRPr sz="2338"/>
            </a:lvl6pPr>
            <a:lvl7pPr>
              <a:defRPr sz="2338"/>
            </a:lvl7pPr>
            <a:lvl8pPr>
              <a:defRPr sz="2338"/>
            </a:lvl8pPr>
            <a:lvl9pPr>
              <a:defRPr sz="2338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345" y="12960191"/>
            <a:ext cx="3447876" cy="24010359"/>
          </a:xfrm>
        </p:spPr>
        <p:txBody>
          <a:bodyPr/>
          <a:lstStyle>
            <a:lvl1pPr marL="0" indent="0">
              <a:buNone/>
              <a:defRPr sz="1871"/>
            </a:lvl1pPr>
            <a:lvl2pPr marL="534492" indent="0">
              <a:buNone/>
              <a:defRPr sz="1637"/>
            </a:lvl2pPr>
            <a:lvl3pPr marL="1068983" indent="0">
              <a:buNone/>
              <a:defRPr sz="1403"/>
            </a:lvl3pPr>
            <a:lvl4pPr marL="1603474" indent="0">
              <a:buNone/>
              <a:defRPr sz="1169"/>
            </a:lvl4pPr>
            <a:lvl5pPr marL="2137964" indent="0">
              <a:buNone/>
              <a:defRPr sz="1169"/>
            </a:lvl5pPr>
            <a:lvl6pPr marL="2672456" indent="0">
              <a:buNone/>
              <a:defRPr sz="1169"/>
            </a:lvl6pPr>
            <a:lvl7pPr marL="3206947" indent="0">
              <a:buNone/>
              <a:defRPr sz="1169"/>
            </a:lvl7pPr>
            <a:lvl8pPr marL="3741438" indent="0">
              <a:buNone/>
              <a:defRPr sz="1169"/>
            </a:lvl8pPr>
            <a:lvl9pPr marL="4275929" indent="0">
              <a:buNone/>
              <a:defRPr sz="1169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57E4-66A9-4BB9-801C-15ECC6089447}" type="datetimeFigureOut">
              <a:rPr lang="zh-CN" altLang="en-US" smtClean="0"/>
              <a:t>2014/2/25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FEED1-BECD-444B-BA77-84D1D652DD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886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345" y="2880043"/>
            <a:ext cx="3447876" cy="10080149"/>
          </a:xfrm>
        </p:spPr>
        <p:txBody>
          <a:bodyPr anchor="b"/>
          <a:lstStyle>
            <a:lvl1pPr>
              <a:defRPr sz="374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4738" y="6220103"/>
            <a:ext cx="5411926" cy="30700453"/>
          </a:xfrm>
        </p:spPr>
        <p:txBody>
          <a:bodyPr anchor="t"/>
          <a:lstStyle>
            <a:lvl1pPr marL="0" indent="0">
              <a:buNone/>
              <a:defRPr sz="3740"/>
            </a:lvl1pPr>
            <a:lvl2pPr marL="534492" indent="0">
              <a:buNone/>
              <a:defRPr sz="3272"/>
            </a:lvl2pPr>
            <a:lvl3pPr marL="1068983" indent="0">
              <a:buNone/>
              <a:defRPr sz="2806"/>
            </a:lvl3pPr>
            <a:lvl4pPr marL="1603474" indent="0">
              <a:buNone/>
              <a:defRPr sz="2338"/>
            </a:lvl4pPr>
            <a:lvl5pPr marL="2137964" indent="0">
              <a:buNone/>
              <a:defRPr sz="2338"/>
            </a:lvl5pPr>
            <a:lvl6pPr marL="2672456" indent="0">
              <a:buNone/>
              <a:defRPr sz="2338"/>
            </a:lvl6pPr>
            <a:lvl7pPr marL="3206947" indent="0">
              <a:buNone/>
              <a:defRPr sz="2338"/>
            </a:lvl7pPr>
            <a:lvl8pPr marL="3741438" indent="0">
              <a:buNone/>
              <a:defRPr sz="2338"/>
            </a:lvl8pPr>
            <a:lvl9pPr marL="4275929" indent="0">
              <a:buNone/>
              <a:defRPr sz="2338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345" y="12960191"/>
            <a:ext cx="3447876" cy="24010359"/>
          </a:xfrm>
        </p:spPr>
        <p:txBody>
          <a:bodyPr/>
          <a:lstStyle>
            <a:lvl1pPr marL="0" indent="0">
              <a:buNone/>
              <a:defRPr sz="1871"/>
            </a:lvl1pPr>
            <a:lvl2pPr marL="534492" indent="0">
              <a:buNone/>
              <a:defRPr sz="1637"/>
            </a:lvl2pPr>
            <a:lvl3pPr marL="1068983" indent="0">
              <a:buNone/>
              <a:defRPr sz="1403"/>
            </a:lvl3pPr>
            <a:lvl4pPr marL="1603474" indent="0">
              <a:buNone/>
              <a:defRPr sz="1169"/>
            </a:lvl4pPr>
            <a:lvl5pPr marL="2137964" indent="0">
              <a:buNone/>
              <a:defRPr sz="1169"/>
            </a:lvl5pPr>
            <a:lvl6pPr marL="2672456" indent="0">
              <a:buNone/>
              <a:defRPr sz="1169"/>
            </a:lvl6pPr>
            <a:lvl7pPr marL="3206947" indent="0">
              <a:buNone/>
              <a:defRPr sz="1169"/>
            </a:lvl7pPr>
            <a:lvl8pPr marL="3741438" indent="0">
              <a:buNone/>
              <a:defRPr sz="1169"/>
            </a:lvl8pPr>
            <a:lvl9pPr marL="4275929" indent="0">
              <a:buNone/>
              <a:defRPr sz="1169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57E4-66A9-4BB9-801C-15ECC6089447}" type="datetimeFigureOut">
              <a:rPr lang="zh-CN" altLang="en-US" smtClean="0"/>
              <a:t>2014/2/25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FEED1-BECD-444B-BA77-84D1D652DD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766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57E4-66A9-4BB9-801C-15ECC6089447}" type="datetimeFigureOut">
              <a:rPr lang="zh-CN" altLang="en-US" smtClean="0"/>
              <a:t>2014/2/25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FEED1-BECD-444B-BA77-84D1D652DD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2190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0193" y="2300034"/>
            <a:ext cx="2305080" cy="366105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4955" y="2300034"/>
            <a:ext cx="6781611" cy="366105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57E4-66A9-4BB9-801C-15ECC6089447}" type="datetimeFigureOut">
              <a:rPr lang="zh-CN" altLang="en-US" smtClean="0"/>
              <a:t>2014/2/25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FEED1-BECD-444B-BA77-84D1D652DD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3255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4955" y="2300045"/>
            <a:ext cx="9220319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4955" y="11500171"/>
            <a:ext cx="9220319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4953" y="40040602"/>
            <a:ext cx="2405301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6557E4-66A9-4BB9-801C-15ECC6089447}" type="datetimeFigureOut">
              <a:rPr lang="zh-CN" altLang="en-US" smtClean="0"/>
              <a:t>2014/2/25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139" y="40040602"/>
            <a:ext cx="3607951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9973" y="40040602"/>
            <a:ext cx="2405301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3FEED1-BECD-444B-BA77-84D1D652DD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289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068983" rtl="0" eaLnBrk="1" latinLnBrk="0" hangingPunct="1">
        <a:lnSpc>
          <a:spcPct val="90000"/>
        </a:lnSpc>
        <a:spcBef>
          <a:spcPct val="0"/>
        </a:spcBef>
        <a:buNone/>
        <a:defRPr sz="514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7245" indent="-267245" algn="l" defTabSz="1068983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3272" kern="1200">
          <a:solidFill>
            <a:schemeClr val="tx1"/>
          </a:solidFill>
          <a:latin typeface="+mn-lt"/>
          <a:ea typeface="+mn-ea"/>
          <a:cs typeface="+mn-cs"/>
        </a:defRPr>
      </a:lvl1pPr>
      <a:lvl2pPr marL="801737" indent="-267245" algn="l" defTabSz="1068983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336228" indent="-267245" algn="l" defTabSz="1068983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870720" indent="-267245" algn="l" defTabSz="1068983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sz="2104" kern="1200">
          <a:solidFill>
            <a:schemeClr val="tx1"/>
          </a:solidFill>
          <a:latin typeface="+mn-lt"/>
          <a:ea typeface="+mn-ea"/>
          <a:cs typeface="+mn-cs"/>
        </a:defRPr>
      </a:lvl4pPr>
      <a:lvl5pPr marL="2405209" indent="-267245" algn="l" defTabSz="1068983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sz="2104" kern="1200">
          <a:solidFill>
            <a:schemeClr val="tx1"/>
          </a:solidFill>
          <a:latin typeface="+mn-lt"/>
          <a:ea typeface="+mn-ea"/>
          <a:cs typeface="+mn-cs"/>
        </a:defRPr>
      </a:lvl5pPr>
      <a:lvl6pPr marL="2939701" indent="-267245" algn="l" defTabSz="1068983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sz="2104" kern="1200">
          <a:solidFill>
            <a:schemeClr val="tx1"/>
          </a:solidFill>
          <a:latin typeface="+mn-lt"/>
          <a:ea typeface="+mn-ea"/>
          <a:cs typeface="+mn-cs"/>
        </a:defRPr>
      </a:lvl6pPr>
      <a:lvl7pPr marL="3474192" indent="-267245" algn="l" defTabSz="1068983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sz="2104" kern="1200">
          <a:solidFill>
            <a:schemeClr val="tx1"/>
          </a:solidFill>
          <a:latin typeface="+mn-lt"/>
          <a:ea typeface="+mn-ea"/>
          <a:cs typeface="+mn-cs"/>
        </a:defRPr>
      </a:lvl7pPr>
      <a:lvl8pPr marL="4008684" indent="-267245" algn="l" defTabSz="1068983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sz="2104" kern="1200">
          <a:solidFill>
            <a:schemeClr val="tx1"/>
          </a:solidFill>
          <a:latin typeface="+mn-lt"/>
          <a:ea typeface="+mn-ea"/>
          <a:cs typeface="+mn-cs"/>
        </a:defRPr>
      </a:lvl8pPr>
      <a:lvl9pPr marL="4543175" indent="-267245" algn="l" defTabSz="1068983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sz="210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8983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1pPr>
      <a:lvl2pPr marL="534492" algn="l" defTabSz="1068983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2pPr>
      <a:lvl3pPr marL="1068983" algn="l" defTabSz="1068983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3pPr>
      <a:lvl4pPr marL="1603474" algn="l" defTabSz="1068983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4pPr>
      <a:lvl5pPr marL="2137964" algn="l" defTabSz="1068983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5pPr>
      <a:lvl6pPr marL="2672456" algn="l" defTabSz="1068983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6pPr>
      <a:lvl7pPr marL="3206947" algn="l" defTabSz="1068983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7pPr>
      <a:lvl8pPr marL="3741438" algn="l" defTabSz="1068983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8pPr>
      <a:lvl9pPr marL="4275929" algn="l" defTabSz="1068983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onfetti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圆角矩形 276"/>
          <p:cNvSpPr/>
          <p:nvPr/>
        </p:nvSpPr>
        <p:spPr>
          <a:xfrm>
            <a:off x="2260558" y="34275244"/>
            <a:ext cx="6534872" cy="396000"/>
          </a:xfrm>
          <a:prstGeom prst="roundRect">
            <a:avLst/>
          </a:prstGeom>
          <a:solidFill>
            <a:schemeClr val="bg1">
              <a:lumMod val="85000"/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9" name="圆角矩形 278"/>
          <p:cNvSpPr/>
          <p:nvPr/>
        </p:nvSpPr>
        <p:spPr>
          <a:xfrm>
            <a:off x="2229564" y="32793367"/>
            <a:ext cx="6592451" cy="396000"/>
          </a:xfrm>
          <a:prstGeom prst="roundRect">
            <a:avLst/>
          </a:prstGeom>
          <a:solidFill>
            <a:schemeClr val="bg1">
              <a:lumMod val="85000"/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5" name="矩形 294"/>
          <p:cNvSpPr/>
          <p:nvPr/>
        </p:nvSpPr>
        <p:spPr>
          <a:xfrm>
            <a:off x="1865718" y="32812413"/>
            <a:ext cx="69374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提供文字、音频或内容给付费的订阅用户</a:t>
            </a:r>
          </a:p>
        </p:txBody>
      </p:sp>
      <p:sp>
        <p:nvSpPr>
          <p:cNvPr id="280" name="圆角矩形 279"/>
          <p:cNvSpPr/>
          <p:nvPr/>
        </p:nvSpPr>
        <p:spPr>
          <a:xfrm>
            <a:off x="1837676" y="32106519"/>
            <a:ext cx="6500431" cy="396000"/>
          </a:xfrm>
          <a:prstGeom prst="roundRect">
            <a:avLst/>
          </a:prstGeom>
          <a:solidFill>
            <a:schemeClr val="bg1">
              <a:lumMod val="85000"/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7" name="组合 326"/>
          <p:cNvGrpSpPr/>
          <p:nvPr/>
        </p:nvGrpSpPr>
        <p:grpSpPr>
          <a:xfrm>
            <a:off x="2227696" y="29893020"/>
            <a:ext cx="6575495" cy="396628"/>
            <a:chOff x="2039012" y="29922069"/>
            <a:chExt cx="6779162" cy="396628"/>
          </a:xfrm>
        </p:grpSpPr>
        <p:sp>
          <p:nvSpPr>
            <p:cNvPr id="283" name="圆角矩形 282"/>
            <p:cNvSpPr/>
            <p:nvPr/>
          </p:nvSpPr>
          <p:spPr>
            <a:xfrm>
              <a:off x="2039012" y="29922069"/>
              <a:ext cx="6779162" cy="396000"/>
            </a:xfrm>
            <a:prstGeom prst="roundRect">
              <a:avLst/>
            </a:prstGeom>
            <a:solidFill>
              <a:schemeClr val="bg1">
                <a:lumMod val="85000"/>
                <a:alpha val="8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1" name="矩形 290"/>
            <p:cNvSpPr/>
            <p:nvPr/>
          </p:nvSpPr>
          <p:spPr>
            <a:xfrm>
              <a:off x="2138072" y="29949365"/>
              <a:ext cx="66393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定位是类似信息媒介，辅助买家或者卖家了解当前的市场状况</a:t>
              </a:r>
            </a:p>
          </p:txBody>
        </p:sp>
      </p:grpSp>
      <p:sp>
        <p:nvSpPr>
          <p:cNvPr id="218" name="椭圆形标注 217"/>
          <p:cNvSpPr/>
          <p:nvPr/>
        </p:nvSpPr>
        <p:spPr>
          <a:xfrm>
            <a:off x="1595481" y="20980875"/>
            <a:ext cx="975698" cy="737745"/>
          </a:xfrm>
          <a:prstGeom prst="wedgeEllipseCallou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0" name="矩形 199"/>
          <p:cNvSpPr/>
          <p:nvPr/>
        </p:nvSpPr>
        <p:spPr>
          <a:xfrm>
            <a:off x="317116" y="12533090"/>
            <a:ext cx="9969100" cy="3299718"/>
          </a:xfrm>
          <a:custGeom>
            <a:avLst/>
            <a:gdLst>
              <a:gd name="connsiteX0" fmla="*/ 0 w 9397807"/>
              <a:gd name="connsiteY0" fmla="*/ 0 h 3105400"/>
              <a:gd name="connsiteX1" fmla="*/ 9397807 w 9397807"/>
              <a:gd name="connsiteY1" fmla="*/ 0 h 3105400"/>
              <a:gd name="connsiteX2" fmla="*/ 9397807 w 9397807"/>
              <a:gd name="connsiteY2" fmla="*/ 3105400 h 3105400"/>
              <a:gd name="connsiteX3" fmla="*/ 0 w 9397807"/>
              <a:gd name="connsiteY3" fmla="*/ 3105400 h 3105400"/>
              <a:gd name="connsiteX4" fmla="*/ 0 w 9397807"/>
              <a:gd name="connsiteY4" fmla="*/ 0 h 3105400"/>
              <a:gd name="connsiteX0" fmla="*/ 0 w 9397807"/>
              <a:gd name="connsiteY0" fmla="*/ 0 h 3105400"/>
              <a:gd name="connsiteX1" fmla="*/ 9397807 w 9397807"/>
              <a:gd name="connsiteY1" fmla="*/ 0 h 3105400"/>
              <a:gd name="connsiteX2" fmla="*/ 9397807 w 9397807"/>
              <a:gd name="connsiteY2" fmla="*/ 3105400 h 3105400"/>
              <a:gd name="connsiteX3" fmla="*/ 0 w 9397807"/>
              <a:gd name="connsiteY3" fmla="*/ 3105400 h 3105400"/>
              <a:gd name="connsiteX4" fmla="*/ 0 w 9397807"/>
              <a:gd name="connsiteY4" fmla="*/ 0 h 3105400"/>
              <a:gd name="connsiteX0" fmla="*/ 0 w 9397807"/>
              <a:gd name="connsiteY0" fmla="*/ 0 h 3105400"/>
              <a:gd name="connsiteX1" fmla="*/ 9397807 w 9397807"/>
              <a:gd name="connsiteY1" fmla="*/ 0 h 3105400"/>
              <a:gd name="connsiteX2" fmla="*/ 9397807 w 9397807"/>
              <a:gd name="connsiteY2" fmla="*/ 3105400 h 3105400"/>
              <a:gd name="connsiteX3" fmla="*/ 0 w 9397807"/>
              <a:gd name="connsiteY3" fmla="*/ 3105400 h 3105400"/>
              <a:gd name="connsiteX4" fmla="*/ 0 w 9397807"/>
              <a:gd name="connsiteY4" fmla="*/ 0 h 3105400"/>
              <a:gd name="connsiteX0" fmla="*/ 0 w 9397807"/>
              <a:gd name="connsiteY0" fmla="*/ 0 h 3105400"/>
              <a:gd name="connsiteX1" fmla="*/ 9397807 w 9397807"/>
              <a:gd name="connsiteY1" fmla="*/ 0 h 3105400"/>
              <a:gd name="connsiteX2" fmla="*/ 9397807 w 9397807"/>
              <a:gd name="connsiteY2" fmla="*/ 3105400 h 3105400"/>
              <a:gd name="connsiteX3" fmla="*/ 0 w 9397807"/>
              <a:gd name="connsiteY3" fmla="*/ 3105400 h 3105400"/>
              <a:gd name="connsiteX4" fmla="*/ 0 w 9397807"/>
              <a:gd name="connsiteY4" fmla="*/ 0 h 3105400"/>
              <a:gd name="connsiteX0" fmla="*/ 0 w 9397807"/>
              <a:gd name="connsiteY0" fmla="*/ 0 h 3105400"/>
              <a:gd name="connsiteX1" fmla="*/ 9397807 w 9397807"/>
              <a:gd name="connsiteY1" fmla="*/ 0 h 3105400"/>
              <a:gd name="connsiteX2" fmla="*/ 9397807 w 9397807"/>
              <a:gd name="connsiteY2" fmla="*/ 3105400 h 3105400"/>
              <a:gd name="connsiteX3" fmla="*/ 0 w 9397807"/>
              <a:gd name="connsiteY3" fmla="*/ 3105400 h 3105400"/>
              <a:gd name="connsiteX4" fmla="*/ 0 w 9397807"/>
              <a:gd name="connsiteY4" fmla="*/ 0 h 3105400"/>
              <a:gd name="connsiteX0" fmla="*/ 359166 w 9397807"/>
              <a:gd name="connsiteY0" fmla="*/ 158774 h 3105400"/>
              <a:gd name="connsiteX1" fmla="*/ 9397807 w 9397807"/>
              <a:gd name="connsiteY1" fmla="*/ 0 h 3105400"/>
              <a:gd name="connsiteX2" fmla="*/ 9397807 w 9397807"/>
              <a:gd name="connsiteY2" fmla="*/ 3105400 h 3105400"/>
              <a:gd name="connsiteX3" fmla="*/ 0 w 9397807"/>
              <a:gd name="connsiteY3" fmla="*/ 3105400 h 3105400"/>
              <a:gd name="connsiteX4" fmla="*/ 359166 w 9397807"/>
              <a:gd name="connsiteY4" fmla="*/ 158774 h 3105400"/>
              <a:gd name="connsiteX0" fmla="*/ 359166 w 9397807"/>
              <a:gd name="connsiteY0" fmla="*/ 0 h 2946626"/>
              <a:gd name="connsiteX1" fmla="*/ 9098502 w 9397807"/>
              <a:gd name="connsiteY1" fmla="*/ 11341 h 2946626"/>
              <a:gd name="connsiteX2" fmla="*/ 9397807 w 9397807"/>
              <a:gd name="connsiteY2" fmla="*/ 2946626 h 2946626"/>
              <a:gd name="connsiteX3" fmla="*/ 0 w 9397807"/>
              <a:gd name="connsiteY3" fmla="*/ 2946626 h 2946626"/>
              <a:gd name="connsiteX4" fmla="*/ 359166 w 9397807"/>
              <a:gd name="connsiteY4" fmla="*/ 0 h 2946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97807" h="2946626">
                <a:moveTo>
                  <a:pt x="359166" y="0"/>
                </a:moveTo>
                <a:lnTo>
                  <a:pt x="9098502" y="11341"/>
                </a:lnTo>
                <a:cubicBezTo>
                  <a:pt x="8793702" y="1211574"/>
                  <a:pt x="9258107" y="1936893"/>
                  <a:pt x="9397807" y="2946626"/>
                </a:cubicBezTo>
                <a:lnTo>
                  <a:pt x="0" y="2946626"/>
                </a:lnTo>
                <a:cubicBezTo>
                  <a:pt x="304800" y="1822593"/>
                  <a:pt x="663966" y="997033"/>
                  <a:pt x="359166" y="0"/>
                </a:cubicBezTo>
                <a:close/>
              </a:path>
            </a:pathLst>
          </a:custGeom>
          <a:solidFill>
            <a:schemeClr val="tx1"/>
          </a:solidFill>
          <a:ln>
            <a:solidFill>
              <a:srgbClr val="00B050"/>
            </a:solidFill>
          </a:ln>
          <a:effectLst>
            <a:softEdge rad="2159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3" name="矩形 142"/>
          <p:cNvSpPr/>
          <p:nvPr/>
        </p:nvSpPr>
        <p:spPr>
          <a:xfrm>
            <a:off x="649517" y="12520198"/>
            <a:ext cx="9306310" cy="3064714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883567" y="704012"/>
            <a:ext cx="6241513" cy="2000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4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一张图让你读懂</a:t>
            </a:r>
            <a:r>
              <a:rPr lang="zh-CN" altLang="en-US" sz="7999" dirty="0">
                <a:solidFill>
                  <a:srgbClr val="00B050"/>
                </a:solidFill>
                <a:latin typeface="華康墨字體" panose="040B0900000000000000" pitchFamily="82" charset="-122"/>
                <a:ea typeface="華康墨字體" panose="040B0900000000000000" pitchFamily="82" charset="-122"/>
              </a:rPr>
              <a:t>微信</a:t>
            </a:r>
            <a:r>
              <a:rPr lang="zh-CN" altLang="en-US" sz="44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的</a:t>
            </a:r>
            <a:r>
              <a:rPr lang="zh-CN" altLang="en-US" sz="4400" b="1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运营模式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342516" y="991632"/>
            <a:ext cx="1663487" cy="948871"/>
            <a:chOff x="1054100" y="1778000"/>
            <a:chExt cx="927100" cy="528828"/>
          </a:xfrm>
        </p:grpSpPr>
        <p:sp>
          <p:nvSpPr>
            <p:cNvPr id="8" name="椭圆形标注 7"/>
            <p:cNvSpPr/>
            <p:nvPr/>
          </p:nvSpPr>
          <p:spPr>
            <a:xfrm>
              <a:off x="1054100" y="1778000"/>
              <a:ext cx="762000" cy="510540"/>
            </a:xfrm>
            <a:prstGeom prst="wedgeEllipseCallou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" name="椭圆形标注 8"/>
            <p:cNvSpPr/>
            <p:nvPr/>
          </p:nvSpPr>
          <p:spPr>
            <a:xfrm flipH="1">
              <a:off x="1193800" y="1779270"/>
              <a:ext cx="787400" cy="527558"/>
            </a:xfrm>
            <a:prstGeom prst="wedgeEllipseCallout">
              <a:avLst/>
            </a:prstGeom>
            <a:solidFill>
              <a:srgbClr val="00B050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1663700" y="20066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1422400" y="20066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3937001" y="283980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方正行黑简体" panose="02000000000000000000" pitchFamily="2" charset="-122"/>
                <a:ea typeface="方正行黑简体" panose="02000000000000000000" pitchFamily="2" charset="-122"/>
              </a:rPr>
              <a:t>——《</a:t>
            </a:r>
            <a:r>
              <a:rPr lang="zh-CN" altLang="en-US" sz="2000" dirty="0">
                <a:latin typeface="方正行黑简体" panose="02000000000000000000" pitchFamily="2" charset="-122"/>
                <a:ea typeface="方正行黑简体" panose="02000000000000000000" pitchFamily="2" charset="-122"/>
              </a:rPr>
              <a:t>微信的营销与运营</a:t>
            </a:r>
            <a:r>
              <a:rPr lang="en-US" altLang="zh-CN" sz="2000" dirty="0">
                <a:latin typeface="方正行黑简体" panose="02000000000000000000" pitchFamily="2" charset="-122"/>
                <a:ea typeface="方正行黑简体" panose="02000000000000000000" pitchFamily="2" charset="-122"/>
              </a:rPr>
              <a:t>》</a:t>
            </a:r>
            <a:r>
              <a:rPr lang="zh-CN" altLang="en-US" sz="2000" dirty="0">
                <a:latin typeface="方正行黑简体" panose="02000000000000000000" pitchFamily="2" charset="-122"/>
                <a:ea typeface="方正行黑简体" panose="02000000000000000000" pitchFamily="2" charset="-122"/>
              </a:rPr>
              <a:t>读书笔记</a:t>
            </a:r>
            <a:r>
              <a:rPr lang="en-US" altLang="zh-CN" sz="2000" dirty="0">
                <a:latin typeface="方正行黑简体" panose="02000000000000000000" pitchFamily="2" charset="-122"/>
                <a:ea typeface="方正行黑简体" panose="02000000000000000000" pitchFamily="2" charset="-122"/>
              </a:rPr>
              <a:t>	BY@</a:t>
            </a:r>
            <a:r>
              <a:rPr lang="zh-CN" altLang="en-US" sz="2000" b="1" dirty="0">
                <a:latin typeface="方正行黑简体" panose="02000000000000000000" pitchFamily="2" charset="-122"/>
                <a:ea typeface="方正行黑简体" panose="02000000000000000000" pitchFamily="2" charset="-122"/>
              </a:rPr>
              <a:t>桑</a:t>
            </a:r>
            <a:r>
              <a:rPr lang="zh-CN" altLang="en-US" sz="2000" b="1" dirty="0" smtClean="0">
                <a:latin typeface="方正行黑简体" panose="02000000000000000000" pitchFamily="2" charset="-122"/>
                <a:ea typeface="方正行黑简体" panose="02000000000000000000" pitchFamily="2" charset="-122"/>
              </a:rPr>
              <a:t>芜</a:t>
            </a:r>
            <a:endParaRPr lang="en-US" altLang="zh-CN" sz="2000" b="1" dirty="0" smtClean="0">
              <a:latin typeface="方正行黑简体" panose="02000000000000000000" pitchFamily="2" charset="-122"/>
              <a:ea typeface="方正行黑简体" panose="02000000000000000000" pitchFamily="2" charset="-122"/>
            </a:endParaRPr>
          </a:p>
          <a:p>
            <a:pPr algn="r"/>
            <a:r>
              <a:rPr lang="en-US" altLang="zh-CN" sz="2000" dirty="0" smtClean="0">
                <a:latin typeface="方正行黑简体" panose="02000000000000000000" pitchFamily="2" charset="-122"/>
                <a:ea typeface="方正行黑简体" panose="02000000000000000000" pitchFamily="2" charset="-122"/>
              </a:rPr>
              <a:t>@</a:t>
            </a:r>
            <a:r>
              <a:rPr lang="en-US" altLang="zh-CN" sz="2000" b="1" dirty="0" err="1" smtClean="0">
                <a:latin typeface="方正行黑简体" panose="02000000000000000000" pitchFamily="2" charset="-122"/>
                <a:ea typeface="方正行黑简体" panose="02000000000000000000" pitchFamily="2" charset="-122"/>
              </a:rPr>
              <a:t>Mr_idiot_c</a:t>
            </a:r>
            <a:endParaRPr lang="zh-CN" altLang="en-US" sz="2000" b="1" dirty="0">
              <a:latin typeface="方正行黑简体" panose="02000000000000000000" pitchFamily="2" charset="-122"/>
              <a:ea typeface="方正行黑简体" panose="02000000000000000000" pitchFamily="2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15429" r="82857">
                        <a14:foregroundMark x1="50286" y1="5143" x2="74286" y2="86286"/>
                        <a14:foregroundMark x1="69429" y1="11143" x2="56286" y2="71714"/>
                        <a14:foregroundMark x1="36571" y1="93429" x2="78000" y2="91714"/>
                        <a14:backgroundMark x1="78857" y1="2571" x2="50286" y2="1143"/>
                        <a14:backgroundMark x1="48571" y1="1714" x2="19429" y2="571"/>
                        <a14:backgroundMark x1="80000" y1="97429" x2="19429" y2="988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268" r="17909"/>
          <a:stretch/>
        </p:blipFill>
        <p:spPr>
          <a:xfrm>
            <a:off x="8474084" y="931006"/>
            <a:ext cx="1266808" cy="19245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组合 6"/>
          <p:cNvGrpSpPr/>
          <p:nvPr/>
        </p:nvGrpSpPr>
        <p:grpSpPr>
          <a:xfrm>
            <a:off x="1" y="3486648"/>
            <a:ext cx="7073900" cy="584197"/>
            <a:chOff x="0" y="3486648"/>
            <a:chExt cx="7073900" cy="584197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0" y="3757497"/>
              <a:ext cx="707390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等腰三角形 22"/>
            <p:cNvSpPr/>
            <p:nvPr/>
          </p:nvSpPr>
          <p:spPr>
            <a:xfrm rot="10800000">
              <a:off x="6823711" y="3770282"/>
              <a:ext cx="241300" cy="208017"/>
            </a:xfrm>
            <a:prstGeom prst="triangl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0" y="3486648"/>
              <a:ext cx="522514" cy="202208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28" name="直接连接符 27"/>
            <p:cNvCxnSpPr/>
            <p:nvPr/>
          </p:nvCxnSpPr>
          <p:spPr>
            <a:xfrm>
              <a:off x="1567544" y="3847668"/>
              <a:ext cx="5392511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等腰三角形 29"/>
            <p:cNvSpPr/>
            <p:nvPr/>
          </p:nvSpPr>
          <p:spPr>
            <a:xfrm rot="10800000">
              <a:off x="1567541" y="3862828"/>
              <a:ext cx="241300" cy="208017"/>
            </a:xfrm>
            <a:prstGeom prst="triangl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-1" y="5557"/>
            <a:ext cx="10690228" cy="733428"/>
            <a:chOff x="-1" y="5557"/>
            <a:chExt cx="10690228" cy="733428"/>
          </a:xfrm>
        </p:grpSpPr>
        <p:sp>
          <p:nvSpPr>
            <p:cNvPr id="3" name="直角三角形 2"/>
            <p:cNvSpPr/>
            <p:nvPr/>
          </p:nvSpPr>
          <p:spPr>
            <a:xfrm flipH="1" flipV="1">
              <a:off x="9956802" y="5558"/>
              <a:ext cx="733425" cy="733425"/>
            </a:xfrm>
            <a:prstGeom prst="rtTriangl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" name="直角三角形 3"/>
            <p:cNvSpPr/>
            <p:nvPr/>
          </p:nvSpPr>
          <p:spPr>
            <a:xfrm flipV="1">
              <a:off x="2" y="5560"/>
              <a:ext cx="733425" cy="733425"/>
            </a:xfrm>
            <a:prstGeom prst="rtTriangl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-1" y="5557"/>
              <a:ext cx="10690225" cy="362858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79" name="组合 78"/>
            <p:cNvGrpSpPr/>
            <p:nvPr/>
          </p:nvGrpSpPr>
          <p:grpSpPr>
            <a:xfrm>
              <a:off x="1128800" y="238866"/>
              <a:ext cx="8432632" cy="355166"/>
              <a:chOff x="1196871" y="258708"/>
              <a:chExt cx="8432631" cy="355166"/>
            </a:xfrm>
          </p:grpSpPr>
          <p:sp>
            <p:nvSpPr>
              <p:cNvPr id="32" name="等腰三角形 31"/>
              <p:cNvSpPr/>
              <p:nvPr/>
            </p:nvSpPr>
            <p:spPr>
              <a:xfrm rot="12600000">
                <a:off x="1196871" y="258708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等腰三角形 59"/>
              <p:cNvSpPr/>
              <p:nvPr/>
            </p:nvSpPr>
            <p:spPr>
              <a:xfrm rot="12600000">
                <a:off x="1619011" y="258709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等腰三角形 60"/>
              <p:cNvSpPr/>
              <p:nvPr/>
            </p:nvSpPr>
            <p:spPr>
              <a:xfrm rot="12600000">
                <a:off x="2041151" y="258710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等腰三角形 61"/>
              <p:cNvSpPr/>
              <p:nvPr/>
            </p:nvSpPr>
            <p:spPr>
              <a:xfrm rot="12600000">
                <a:off x="2463291" y="258711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等腰三角形 62"/>
              <p:cNvSpPr/>
              <p:nvPr/>
            </p:nvSpPr>
            <p:spPr>
              <a:xfrm rot="12600000">
                <a:off x="2885431" y="258712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等腰三角形 63"/>
              <p:cNvSpPr/>
              <p:nvPr/>
            </p:nvSpPr>
            <p:spPr>
              <a:xfrm rot="12600000">
                <a:off x="3307571" y="258713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等腰三角形 64"/>
              <p:cNvSpPr/>
              <p:nvPr/>
            </p:nvSpPr>
            <p:spPr>
              <a:xfrm rot="12600000">
                <a:off x="3729711" y="258714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等腰三角形 65"/>
              <p:cNvSpPr/>
              <p:nvPr/>
            </p:nvSpPr>
            <p:spPr>
              <a:xfrm rot="12600000">
                <a:off x="4151851" y="258715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等腰三角形 66"/>
              <p:cNvSpPr/>
              <p:nvPr/>
            </p:nvSpPr>
            <p:spPr>
              <a:xfrm rot="12600000">
                <a:off x="4573991" y="258716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等腰三角形 67"/>
              <p:cNvSpPr/>
              <p:nvPr/>
            </p:nvSpPr>
            <p:spPr>
              <a:xfrm rot="12600000">
                <a:off x="4996131" y="258717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等腰三角形 68"/>
              <p:cNvSpPr/>
              <p:nvPr/>
            </p:nvSpPr>
            <p:spPr>
              <a:xfrm rot="12600000">
                <a:off x="5418271" y="258718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等腰三角形 69"/>
              <p:cNvSpPr/>
              <p:nvPr/>
            </p:nvSpPr>
            <p:spPr>
              <a:xfrm rot="12600000">
                <a:off x="5840411" y="258719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等腰三角形 70"/>
              <p:cNvSpPr/>
              <p:nvPr/>
            </p:nvSpPr>
            <p:spPr>
              <a:xfrm rot="12600000">
                <a:off x="6262551" y="258720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等腰三角形 71"/>
              <p:cNvSpPr/>
              <p:nvPr/>
            </p:nvSpPr>
            <p:spPr>
              <a:xfrm rot="12600000">
                <a:off x="6684691" y="258721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等腰三角形 72"/>
              <p:cNvSpPr/>
              <p:nvPr/>
            </p:nvSpPr>
            <p:spPr>
              <a:xfrm rot="12600000">
                <a:off x="7106831" y="258722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等腰三角形 73"/>
              <p:cNvSpPr/>
              <p:nvPr/>
            </p:nvSpPr>
            <p:spPr>
              <a:xfrm rot="12600000">
                <a:off x="7528971" y="258723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5" name="等腰三角形 74"/>
              <p:cNvSpPr/>
              <p:nvPr/>
            </p:nvSpPr>
            <p:spPr>
              <a:xfrm rot="12600000">
                <a:off x="7951111" y="258724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等腰三角形 75"/>
              <p:cNvSpPr/>
              <p:nvPr/>
            </p:nvSpPr>
            <p:spPr>
              <a:xfrm rot="12600000">
                <a:off x="8373251" y="258725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等腰三角形 76"/>
              <p:cNvSpPr/>
              <p:nvPr/>
            </p:nvSpPr>
            <p:spPr>
              <a:xfrm rot="12600000">
                <a:off x="8795391" y="258726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等腰三角形 77"/>
              <p:cNvSpPr/>
              <p:nvPr/>
            </p:nvSpPr>
            <p:spPr>
              <a:xfrm rot="12600000">
                <a:off x="9217531" y="258727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81" name="矩形 80"/>
          <p:cNvSpPr/>
          <p:nvPr/>
        </p:nvSpPr>
        <p:spPr>
          <a:xfrm>
            <a:off x="2545779" y="4289149"/>
            <a:ext cx="5600031" cy="7080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企业可能遇到的</a:t>
            </a:r>
            <a:r>
              <a:rPr lang="zh-CN" altLang="en-US" sz="4001" b="1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问题</a:t>
            </a:r>
          </a:p>
        </p:txBody>
      </p:sp>
      <p:sp>
        <p:nvSpPr>
          <p:cNvPr id="83" name="椭圆 82"/>
          <p:cNvSpPr/>
          <p:nvPr/>
        </p:nvSpPr>
        <p:spPr>
          <a:xfrm>
            <a:off x="1760501" y="5257579"/>
            <a:ext cx="443391" cy="443388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造字工房尚黑（非商用）常规体" pitchFamily="50" charset="-122"/>
                <a:cs typeface="Arial" panose="020B0604020202020204" pitchFamily="34" charset="0"/>
              </a:rPr>
              <a:t>1</a:t>
            </a:r>
            <a:endParaRPr lang="zh-CN" altLang="en-US" sz="2400" b="1" dirty="0">
              <a:latin typeface="Arial" panose="020B0604020202020204" pitchFamily="34" charset="0"/>
              <a:ea typeface="造字工房尚黑（非商用）常规体" pitchFamily="50" charset="-122"/>
              <a:cs typeface="Arial" panose="020B0604020202020204" pitchFamily="34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2390383" y="5214684"/>
            <a:ext cx="6810097" cy="266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竞争加剧，成本变高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35000"/>
              </a:lnSpc>
            </a:pP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随着网络各种业态竞争加剧，企业进行网络营销获取用户的成本越来越高。</a:t>
            </a:r>
            <a:endParaRPr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35000"/>
              </a:lnSpc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同类产品，用户转移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35000"/>
              </a:lnSpc>
            </a:pPr>
            <a:r>
              <a:rPr lang="zh-CN" altLang="en-US" sz="1600" b="1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互联网同质化产品和服务越来越多，用户转移频率也越来越高。</a:t>
            </a:r>
            <a:endParaRPr lang="en-US" altLang="zh-CN" sz="1600" b="1" dirty="0">
              <a:solidFill>
                <a:prstClr val="black">
                  <a:lumMod val="50000"/>
                  <a:lumOff val="50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35000"/>
              </a:lnSpc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购买频率，掌握偏好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35000"/>
              </a:lnSpc>
            </a:pPr>
            <a:r>
              <a:rPr lang="zh-CN" altLang="en-US" sz="1600" b="1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网络用户的购买行为具有诸多的不确定性，如果没有够买频率，对商家而言，想要掌握用户身边的购买偏好、习惯就比较难。</a:t>
            </a:r>
            <a:endParaRPr lang="en-US" altLang="zh-CN" sz="1600" b="1" dirty="0">
              <a:solidFill>
                <a:prstClr val="black">
                  <a:lumMod val="50000"/>
                  <a:lumOff val="50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椭圆 84"/>
          <p:cNvSpPr/>
          <p:nvPr/>
        </p:nvSpPr>
        <p:spPr>
          <a:xfrm>
            <a:off x="1760501" y="6001563"/>
            <a:ext cx="443391" cy="443388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造字工房尚黑（非商用）常规体" pitchFamily="50" charset="-122"/>
                <a:cs typeface="Arial" panose="020B0604020202020204" pitchFamily="34" charset="0"/>
              </a:rPr>
              <a:t>2</a:t>
            </a:r>
            <a:endParaRPr lang="zh-CN" altLang="en-US" sz="2400" b="1" dirty="0">
              <a:latin typeface="Arial" panose="020B0604020202020204" pitchFamily="34" charset="0"/>
              <a:ea typeface="造字工房尚黑（非商用）常规体" pitchFamily="50" charset="-122"/>
              <a:cs typeface="Arial" panose="020B0604020202020204" pitchFamily="34" charset="0"/>
            </a:endParaRPr>
          </a:p>
        </p:txBody>
      </p:sp>
      <p:sp>
        <p:nvSpPr>
          <p:cNvPr id="88" name="椭圆 87"/>
          <p:cNvSpPr/>
          <p:nvPr/>
        </p:nvSpPr>
        <p:spPr>
          <a:xfrm>
            <a:off x="1760501" y="6745546"/>
            <a:ext cx="443391" cy="443388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造字工房尚黑（非商用）常规体" pitchFamily="50" charset="-122"/>
                <a:cs typeface="Arial" panose="020B0604020202020204" pitchFamily="34" charset="0"/>
              </a:rPr>
              <a:t>3</a:t>
            </a:r>
            <a:endParaRPr lang="zh-CN" altLang="en-US" sz="2400" b="1" dirty="0">
              <a:latin typeface="Arial" panose="020B0604020202020204" pitchFamily="34" charset="0"/>
              <a:ea typeface="造字工房尚黑（非商用）常规体" pitchFamily="50" charset="-122"/>
              <a:cs typeface="Arial" panose="020B0604020202020204" pitchFamily="34" charset="0"/>
            </a:endParaRPr>
          </a:p>
        </p:txBody>
      </p:sp>
      <p:grpSp>
        <p:nvGrpSpPr>
          <p:cNvPr id="94" name="组合 93"/>
          <p:cNvGrpSpPr/>
          <p:nvPr/>
        </p:nvGrpSpPr>
        <p:grpSpPr>
          <a:xfrm>
            <a:off x="8447416" y="7311131"/>
            <a:ext cx="1925523" cy="1938992"/>
            <a:chOff x="7808742" y="5007977"/>
            <a:chExt cx="1925523" cy="1938991"/>
          </a:xfrm>
        </p:grpSpPr>
        <p:sp>
          <p:nvSpPr>
            <p:cNvPr id="91" name="文本框 90"/>
            <p:cNvSpPr txBox="1"/>
            <p:nvPr/>
          </p:nvSpPr>
          <p:spPr>
            <a:xfrm rot="1319456">
              <a:off x="9044949" y="5633891"/>
              <a:ext cx="689316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6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行黑简体" panose="02000000000000000000" pitchFamily="2" charset="-122"/>
                  <a:ea typeface="方正行黑简体" panose="02000000000000000000" pitchFamily="2" charset="-122"/>
                </a:rPr>
                <a:t>？</a:t>
              </a:r>
            </a:p>
          </p:txBody>
        </p:sp>
        <p:sp>
          <p:nvSpPr>
            <p:cNvPr id="92" name="文本框 91"/>
            <p:cNvSpPr txBox="1"/>
            <p:nvPr/>
          </p:nvSpPr>
          <p:spPr>
            <a:xfrm>
              <a:off x="8211866" y="5007977"/>
              <a:ext cx="689316" cy="1938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行黑简体" panose="02000000000000000000" pitchFamily="2" charset="-122"/>
                  <a:ea typeface="方正行黑简体" panose="02000000000000000000" pitchFamily="2" charset="-122"/>
                </a:rPr>
                <a:t>？</a:t>
              </a:r>
            </a:p>
          </p:txBody>
        </p:sp>
        <p:sp>
          <p:nvSpPr>
            <p:cNvPr id="93" name="文本框 92"/>
            <p:cNvSpPr txBox="1"/>
            <p:nvPr/>
          </p:nvSpPr>
          <p:spPr>
            <a:xfrm rot="20201952">
              <a:off x="7808742" y="5749612"/>
              <a:ext cx="68931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行黑简体" panose="02000000000000000000" pitchFamily="2" charset="-122"/>
                  <a:ea typeface="方正行黑简体" panose="02000000000000000000" pitchFamily="2" charset="-122"/>
                </a:rPr>
                <a:t>？</a:t>
              </a:r>
            </a:p>
          </p:txBody>
        </p:sp>
      </p:grpSp>
      <p:sp>
        <p:nvSpPr>
          <p:cNvPr id="95" name="文本框 94"/>
          <p:cNvSpPr txBox="1"/>
          <p:nvPr/>
        </p:nvSpPr>
        <p:spPr>
          <a:xfrm>
            <a:off x="4543663" y="8097101"/>
            <a:ext cx="1671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怎么办</a:t>
            </a:r>
          </a:p>
        </p:txBody>
      </p:sp>
      <p:grpSp>
        <p:nvGrpSpPr>
          <p:cNvPr id="96" name="组合 95"/>
          <p:cNvGrpSpPr/>
          <p:nvPr/>
        </p:nvGrpSpPr>
        <p:grpSpPr>
          <a:xfrm>
            <a:off x="2601204" y="4530045"/>
            <a:ext cx="559180" cy="318963"/>
            <a:chOff x="1054100" y="1778000"/>
            <a:chExt cx="927100" cy="528828"/>
          </a:xfrm>
        </p:grpSpPr>
        <p:sp>
          <p:nvSpPr>
            <p:cNvPr id="97" name="椭圆形标注 96"/>
            <p:cNvSpPr/>
            <p:nvPr/>
          </p:nvSpPr>
          <p:spPr>
            <a:xfrm>
              <a:off x="1054100" y="1778000"/>
              <a:ext cx="762000" cy="510540"/>
            </a:xfrm>
            <a:prstGeom prst="wedgeEllipseCallou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8" name="椭圆形标注 97"/>
            <p:cNvSpPr/>
            <p:nvPr/>
          </p:nvSpPr>
          <p:spPr>
            <a:xfrm flipH="1">
              <a:off x="1193800" y="1779270"/>
              <a:ext cx="787400" cy="527558"/>
            </a:xfrm>
            <a:prstGeom prst="wedgeEllipseCallout">
              <a:avLst/>
            </a:prstGeom>
            <a:solidFill>
              <a:srgbClr val="00B050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9" name="椭圆 98"/>
            <p:cNvSpPr/>
            <p:nvPr/>
          </p:nvSpPr>
          <p:spPr>
            <a:xfrm>
              <a:off x="1663700" y="20066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0" name="椭圆 99"/>
            <p:cNvSpPr/>
            <p:nvPr/>
          </p:nvSpPr>
          <p:spPr>
            <a:xfrm>
              <a:off x="1422400" y="20066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01" name="文本框 100"/>
          <p:cNvSpPr txBox="1"/>
          <p:nvPr/>
        </p:nvSpPr>
        <p:spPr>
          <a:xfrm>
            <a:off x="2518810" y="9156352"/>
            <a:ext cx="56372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>
                <a:solidFill>
                  <a:srgbClr val="00B050"/>
                </a:solidFill>
                <a:latin typeface="華康墨字體" panose="040B0900000000000000" pitchFamily="82" charset="-122"/>
                <a:ea typeface="華康墨字體" panose="040B0900000000000000" pitchFamily="82" charset="-122"/>
              </a:rPr>
              <a:t>微信</a:t>
            </a:r>
            <a:r>
              <a:rPr lang="zh-CN" altLang="en-US" sz="4001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公众账号</a:t>
            </a:r>
            <a:r>
              <a:rPr lang="zh-CN" altLang="en-US" sz="24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帮你搞定</a:t>
            </a:r>
            <a:endParaRPr lang="zh-CN" altLang="en-US" sz="4001" dirty="0"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cxnSp>
        <p:nvCxnSpPr>
          <p:cNvPr id="103" name="直接连接符 102"/>
          <p:cNvCxnSpPr/>
          <p:nvPr/>
        </p:nvCxnSpPr>
        <p:spPr>
          <a:xfrm>
            <a:off x="3789590" y="8830243"/>
            <a:ext cx="3111051" cy="0"/>
          </a:xfrm>
          <a:prstGeom prst="line">
            <a:avLst/>
          </a:prstGeom>
          <a:ln w="19050">
            <a:solidFill>
              <a:srgbClr val="00B05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/>
          <p:cNvCxnSpPr/>
          <p:nvPr/>
        </p:nvCxnSpPr>
        <p:spPr>
          <a:xfrm>
            <a:off x="3789590" y="8097098"/>
            <a:ext cx="3111051" cy="0"/>
          </a:xfrm>
          <a:prstGeom prst="line">
            <a:avLst/>
          </a:prstGeom>
          <a:ln w="19050">
            <a:solidFill>
              <a:srgbClr val="00B05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/>
        </p:nvCxnSpPr>
        <p:spPr>
          <a:xfrm>
            <a:off x="4134798" y="8097102"/>
            <a:ext cx="0" cy="73314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/>
          <p:cNvCxnSpPr/>
          <p:nvPr/>
        </p:nvCxnSpPr>
        <p:spPr>
          <a:xfrm>
            <a:off x="6555427" y="8097102"/>
            <a:ext cx="0" cy="73314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115"/>
          <p:cNvCxnSpPr/>
          <p:nvPr/>
        </p:nvCxnSpPr>
        <p:spPr>
          <a:xfrm flipH="1">
            <a:off x="0" y="8449291"/>
            <a:ext cx="4134798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116"/>
          <p:cNvCxnSpPr/>
          <p:nvPr/>
        </p:nvCxnSpPr>
        <p:spPr>
          <a:xfrm flipH="1">
            <a:off x="6555424" y="8449291"/>
            <a:ext cx="4134798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4" name="组合 123"/>
          <p:cNvGrpSpPr/>
          <p:nvPr/>
        </p:nvGrpSpPr>
        <p:grpSpPr>
          <a:xfrm>
            <a:off x="621804" y="10701304"/>
            <a:ext cx="867944" cy="602126"/>
            <a:chOff x="494914" y="10448077"/>
            <a:chExt cx="1043600" cy="710702"/>
          </a:xfrm>
        </p:grpSpPr>
        <p:grpSp>
          <p:nvGrpSpPr>
            <p:cNvPr id="118" name="组合 117"/>
            <p:cNvGrpSpPr/>
            <p:nvPr/>
          </p:nvGrpSpPr>
          <p:grpSpPr>
            <a:xfrm>
              <a:off x="494914" y="10448077"/>
              <a:ext cx="1043600" cy="710702"/>
              <a:chOff x="1054100" y="1778000"/>
              <a:chExt cx="927100" cy="528828"/>
            </a:xfrm>
          </p:grpSpPr>
          <p:sp>
            <p:nvSpPr>
              <p:cNvPr id="119" name="椭圆形标注 118"/>
              <p:cNvSpPr/>
              <p:nvPr/>
            </p:nvSpPr>
            <p:spPr>
              <a:xfrm>
                <a:off x="1054100" y="1778000"/>
                <a:ext cx="762000" cy="510540"/>
              </a:xfrm>
              <a:prstGeom prst="wedgeEllipseCallou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20" name="椭圆形标注 119"/>
              <p:cNvSpPr/>
              <p:nvPr/>
            </p:nvSpPr>
            <p:spPr>
              <a:xfrm flipH="1">
                <a:off x="1193800" y="1779270"/>
                <a:ext cx="787400" cy="527558"/>
              </a:xfrm>
              <a:prstGeom prst="wedgeEllipseCallout">
                <a:avLst/>
              </a:prstGeom>
              <a:solidFill>
                <a:srgbClr val="00B050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23" name="文本框 122"/>
            <p:cNvSpPr txBox="1"/>
            <p:nvPr/>
          </p:nvSpPr>
          <p:spPr>
            <a:xfrm>
              <a:off x="765092" y="10461471"/>
              <a:ext cx="603171" cy="617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1" b="1" dirty="0">
                  <a:solidFill>
                    <a:schemeClr val="bg1"/>
                  </a:solidFill>
                  <a:latin typeface="華康墨字體" panose="040B0900000000000000" pitchFamily="82" charset="-122"/>
                  <a:ea typeface="華康墨字體" panose="040B0900000000000000" pitchFamily="82" charset="-122"/>
                </a:rPr>
                <a:t>一</a:t>
              </a:r>
            </a:p>
          </p:txBody>
        </p:sp>
      </p:grpSp>
      <p:sp>
        <p:nvSpPr>
          <p:cNvPr id="125" name="文本框 124"/>
          <p:cNvSpPr txBox="1"/>
          <p:nvPr/>
        </p:nvSpPr>
        <p:spPr>
          <a:xfrm>
            <a:off x="1528002" y="10791643"/>
            <a:ext cx="24945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个</a:t>
            </a:r>
            <a:r>
              <a:rPr lang="zh-CN" altLang="en-US" sz="20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本质（微信订阅号）</a:t>
            </a:r>
            <a:endParaRPr lang="zh-CN" altLang="en-US" sz="2000" dirty="0"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1442443" y="11274327"/>
            <a:ext cx="4025954" cy="85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利用微信展示企业形象，通过内容展示不断获取客户产生</a:t>
            </a:r>
            <a:r>
              <a:rPr lang="zh-CN" altLang="en-US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可预测收入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32" name="文本框 131"/>
          <p:cNvSpPr txBox="1"/>
          <p:nvPr/>
        </p:nvSpPr>
        <p:spPr>
          <a:xfrm>
            <a:off x="6883852" y="10786742"/>
            <a:ext cx="12953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种类型</a:t>
            </a:r>
          </a:p>
        </p:txBody>
      </p:sp>
      <p:graphicFrame>
        <p:nvGraphicFramePr>
          <p:cNvPr id="133" name="表格 1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804924"/>
              </p:ext>
            </p:extLst>
          </p:nvPr>
        </p:nvGraphicFramePr>
        <p:xfrm>
          <a:off x="1024620" y="13128220"/>
          <a:ext cx="8693348" cy="20892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4548"/>
                <a:gridCol w="3370726"/>
                <a:gridCol w="3398074"/>
              </a:tblGrid>
              <a:tr h="365766">
                <a:tc>
                  <a:txBody>
                    <a:bodyPr/>
                    <a:lstStyle/>
                    <a:p>
                      <a:pPr algn="ctr"/>
                      <a:endParaRPr lang="zh-CN" altLang="en-US" sz="1800" b="0" dirty="0">
                        <a:solidFill>
                          <a:srgbClr val="FFFF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dirty="0" smtClean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服务号</a:t>
                      </a:r>
                      <a:endParaRPr lang="en-US" altLang="zh-CN" sz="1800" b="0" dirty="0" smtClean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dirty="0" smtClean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订阅号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</a:tr>
              <a:tr h="36576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群发消息</a:t>
                      </a:r>
                      <a:endParaRPr lang="zh-CN" altLang="en-US" sz="18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8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</a:t>
                      </a:r>
                      <a:r>
                        <a:rPr lang="en-US" altLang="zh-CN" sz="18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8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lang="zh-CN" altLang="en-US" sz="18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8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</a:t>
                      </a:r>
                      <a:r>
                        <a:rPr lang="en-US" altLang="zh-CN" sz="18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8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天</a:t>
                      </a:r>
                      <a:endParaRPr lang="zh-CN" altLang="en-US" sz="18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95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显示效果</a:t>
                      </a:r>
                      <a:endParaRPr lang="zh-CN" altLang="en-US" sz="18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显示在用户列表中</a:t>
                      </a:r>
                      <a:endParaRPr lang="zh-CN" altLang="en-US" sz="18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隐藏在订阅号文件夹中</a:t>
                      </a:r>
                      <a:endParaRPr lang="zh-CN" altLang="en-US" sz="18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消息提醒</a:t>
                      </a:r>
                      <a:endParaRPr lang="zh-CN" altLang="en-US" sz="18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即时提醒</a:t>
                      </a:r>
                      <a:endParaRPr lang="zh-CN" altLang="en-US" sz="18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不提醒</a:t>
                      </a:r>
                      <a:endParaRPr lang="zh-CN" altLang="en-US" sz="18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95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自定义菜单</a:t>
                      </a:r>
                      <a:endParaRPr lang="zh-CN" altLang="en-US" sz="18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可申请</a:t>
                      </a:r>
                      <a:endParaRPr lang="zh-CN" altLang="en-US" sz="18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维持现状</a:t>
                      </a:r>
                      <a:endParaRPr lang="zh-CN" altLang="en-US" sz="18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5" name="椭圆形标注 134"/>
          <p:cNvSpPr/>
          <p:nvPr/>
        </p:nvSpPr>
        <p:spPr>
          <a:xfrm>
            <a:off x="7061134" y="11572962"/>
            <a:ext cx="842354" cy="564377"/>
          </a:xfrm>
          <a:prstGeom prst="wedgeEllipseCallou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6" name="椭圆形标注 135"/>
          <p:cNvSpPr/>
          <p:nvPr/>
        </p:nvSpPr>
        <p:spPr>
          <a:xfrm flipH="1">
            <a:off x="8015894" y="11583979"/>
            <a:ext cx="842354" cy="564377"/>
          </a:xfrm>
          <a:prstGeom prst="wedgeEllipseCallou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7070903" y="11691998"/>
            <a:ext cx="199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服务号    订阅号</a:t>
            </a:r>
          </a:p>
        </p:txBody>
      </p:sp>
      <p:sp>
        <p:nvSpPr>
          <p:cNvPr id="137" name="文本框 136"/>
          <p:cNvSpPr txBox="1"/>
          <p:nvPr/>
        </p:nvSpPr>
        <p:spPr>
          <a:xfrm>
            <a:off x="919562" y="12619055"/>
            <a:ext cx="3092141" cy="523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1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科普</a:t>
            </a:r>
            <a:r>
              <a:rPr lang="zh-CN" altLang="en-US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一下：两者的区别</a:t>
            </a:r>
          </a:p>
        </p:txBody>
      </p:sp>
      <p:sp>
        <p:nvSpPr>
          <p:cNvPr id="144" name="直角三角形 143"/>
          <p:cNvSpPr/>
          <p:nvPr/>
        </p:nvSpPr>
        <p:spPr>
          <a:xfrm rot="5400000">
            <a:off x="617083" y="12497849"/>
            <a:ext cx="268967" cy="268967"/>
          </a:xfrm>
          <a:prstGeom prst="rtTriangle">
            <a:avLst/>
          </a:prstGeom>
          <a:solidFill>
            <a:srgbClr val="00B050"/>
          </a:solidFill>
          <a:ln>
            <a:solidFill>
              <a:srgbClr val="00B05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5" name="直角三角形 144"/>
          <p:cNvSpPr/>
          <p:nvPr/>
        </p:nvSpPr>
        <p:spPr>
          <a:xfrm rot="10800000">
            <a:off x="9709969" y="12497849"/>
            <a:ext cx="268967" cy="268967"/>
          </a:xfrm>
          <a:prstGeom prst="rtTriangle">
            <a:avLst/>
          </a:prstGeom>
          <a:solidFill>
            <a:srgbClr val="00B050"/>
          </a:solidFill>
          <a:ln>
            <a:solidFill>
              <a:srgbClr val="00B050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46" name="组合 145"/>
          <p:cNvGrpSpPr/>
          <p:nvPr/>
        </p:nvGrpSpPr>
        <p:grpSpPr>
          <a:xfrm>
            <a:off x="4872752" y="16079390"/>
            <a:ext cx="867944" cy="602126"/>
            <a:chOff x="494914" y="10448077"/>
            <a:chExt cx="1043600" cy="710702"/>
          </a:xfrm>
        </p:grpSpPr>
        <p:grpSp>
          <p:nvGrpSpPr>
            <p:cNvPr id="147" name="组合 146"/>
            <p:cNvGrpSpPr/>
            <p:nvPr/>
          </p:nvGrpSpPr>
          <p:grpSpPr>
            <a:xfrm>
              <a:off x="494914" y="10448077"/>
              <a:ext cx="1043600" cy="710702"/>
              <a:chOff x="1054100" y="1778000"/>
              <a:chExt cx="927100" cy="528828"/>
            </a:xfrm>
          </p:grpSpPr>
          <p:sp>
            <p:nvSpPr>
              <p:cNvPr id="149" name="椭圆形标注 148"/>
              <p:cNvSpPr/>
              <p:nvPr/>
            </p:nvSpPr>
            <p:spPr>
              <a:xfrm>
                <a:off x="1054100" y="1778000"/>
                <a:ext cx="762000" cy="510540"/>
              </a:xfrm>
              <a:prstGeom prst="wedgeEllipseCallou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" name="椭圆形标注 149"/>
              <p:cNvSpPr/>
              <p:nvPr/>
            </p:nvSpPr>
            <p:spPr>
              <a:xfrm flipH="1">
                <a:off x="1193800" y="1779270"/>
                <a:ext cx="787400" cy="527558"/>
              </a:xfrm>
              <a:prstGeom prst="wedgeEllipseCallout">
                <a:avLst/>
              </a:prstGeom>
              <a:solidFill>
                <a:srgbClr val="00B050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8" name="文本框 147"/>
            <p:cNvSpPr txBox="1"/>
            <p:nvPr/>
          </p:nvSpPr>
          <p:spPr>
            <a:xfrm>
              <a:off x="765092" y="10461471"/>
              <a:ext cx="603171" cy="617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1" b="1" dirty="0">
                  <a:solidFill>
                    <a:schemeClr val="bg1"/>
                  </a:solidFill>
                  <a:latin typeface="華康墨字體" panose="040B0900000000000000" pitchFamily="82" charset="-122"/>
                  <a:ea typeface="華康墨字體" panose="040B0900000000000000" pitchFamily="82" charset="-122"/>
                </a:rPr>
                <a:t>三</a:t>
              </a:r>
            </a:p>
          </p:txBody>
        </p:sp>
      </p:grpSp>
      <p:pic>
        <p:nvPicPr>
          <p:cNvPr id="175" name="图片 17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61" y="16751268"/>
            <a:ext cx="1157898" cy="1101118"/>
          </a:xfrm>
          <a:prstGeom prst="rect">
            <a:avLst/>
          </a:prstGeom>
        </p:spPr>
      </p:pic>
      <p:sp>
        <p:nvSpPr>
          <p:cNvPr id="176" name="矩形 175"/>
          <p:cNvSpPr/>
          <p:nvPr/>
        </p:nvSpPr>
        <p:spPr>
          <a:xfrm>
            <a:off x="1122762" y="17006004"/>
            <a:ext cx="2656496" cy="4662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35000"/>
              </a:lnSpc>
            </a:pPr>
            <a:r>
              <a:rPr lang="en-US" altLang="zh-CN" b="1" dirty="0">
                <a:solidFill>
                  <a:srgbClr val="00B05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Q1: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竞争加剧，成本变高</a:t>
            </a:r>
            <a:endParaRPr lang="en-US" altLang="zh-CN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7" name="矩形 176"/>
          <p:cNvSpPr/>
          <p:nvPr/>
        </p:nvSpPr>
        <p:spPr>
          <a:xfrm>
            <a:off x="4363541" y="17006004"/>
            <a:ext cx="2656496" cy="4662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35000"/>
              </a:lnSpc>
            </a:pPr>
            <a:r>
              <a:rPr lang="en-US" altLang="zh-CN" b="1" dirty="0">
                <a:solidFill>
                  <a:srgbClr val="00B05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Q2: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同类产品，用户转移</a:t>
            </a:r>
            <a:endParaRPr lang="en-US" altLang="zh-CN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8" name="矩形 177"/>
          <p:cNvSpPr/>
          <p:nvPr/>
        </p:nvSpPr>
        <p:spPr>
          <a:xfrm>
            <a:off x="7655121" y="17006004"/>
            <a:ext cx="2656496" cy="4662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35000"/>
              </a:lnSpc>
            </a:pPr>
            <a:r>
              <a:rPr lang="en-US" altLang="zh-CN" b="1" dirty="0">
                <a:solidFill>
                  <a:srgbClr val="00B05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Q3: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购买频率，掌握偏好</a:t>
            </a:r>
            <a:endParaRPr lang="en-US" altLang="zh-CN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9" name="图片 1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6843" y="16751268"/>
            <a:ext cx="1157898" cy="1101118"/>
          </a:xfrm>
          <a:prstGeom prst="rect">
            <a:avLst/>
          </a:prstGeom>
        </p:spPr>
      </p:pic>
      <p:pic>
        <p:nvPicPr>
          <p:cNvPr id="180" name="图片 17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225" y="16751268"/>
            <a:ext cx="1157898" cy="1101118"/>
          </a:xfrm>
          <a:prstGeom prst="rect">
            <a:avLst/>
          </a:prstGeom>
        </p:spPr>
      </p:pic>
      <p:grpSp>
        <p:nvGrpSpPr>
          <p:cNvPr id="184" name="组合 183"/>
          <p:cNvGrpSpPr/>
          <p:nvPr/>
        </p:nvGrpSpPr>
        <p:grpSpPr>
          <a:xfrm>
            <a:off x="1393907" y="17546182"/>
            <a:ext cx="2245598" cy="1654197"/>
            <a:chOff x="1444707" y="17482681"/>
            <a:chExt cx="2245598" cy="1654197"/>
          </a:xfrm>
        </p:grpSpPr>
        <p:sp>
          <p:nvSpPr>
            <p:cNvPr id="182" name="矩形 181"/>
            <p:cNvSpPr/>
            <p:nvPr/>
          </p:nvSpPr>
          <p:spPr>
            <a:xfrm>
              <a:off x="1444707" y="17676378"/>
              <a:ext cx="2245598" cy="1460500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4" name="矩形 153"/>
            <p:cNvSpPr/>
            <p:nvPr/>
          </p:nvSpPr>
          <p:spPr>
            <a:xfrm>
              <a:off x="1641737" y="17712999"/>
              <a:ext cx="1826141" cy="142192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通过体验手段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0" algn="ctr">
                <a:lnSpc>
                  <a:spcPct val="135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降低用户够买风险</a:t>
              </a:r>
              <a:endParaRPr lang="zh-CN" altLang="en-US" sz="1600" b="1" dirty="0">
                <a:solidFill>
                  <a:schemeClr val="bg1"/>
                </a:solidFill>
              </a:endParaRPr>
            </a:p>
            <a:p>
              <a:pPr algn="ctr">
                <a:lnSpc>
                  <a:spcPct val="135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激发购买意愿</a:t>
              </a:r>
              <a:endParaRPr lang="zh-CN" altLang="en-US" sz="1600" b="1" dirty="0">
                <a:solidFill>
                  <a:schemeClr val="bg1"/>
                </a:solidFill>
              </a:endParaRPr>
            </a:p>
            <a:p>
              <a:pPr algn="ctr">
                <a:lnSpc>
                  <a:spcPct val="135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降低获取用户成本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3" name="等腰三角形 182"/>
            <p:cNvSpPr/>
            <p:nvPr/>
          </p:nvSpPr>
          <p:spPr>
            <a:xfrm>
              <a:off x="2443750" y="17482681"/>
              <a:ext cx="222113" cy="191477"/>
            </a:xfrm>
            <a:prstGeom prst="triangl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85" name="组合 184"/>
          <p:cNvGrpSpPr/>
          <p:nvPr/>
        </p:nvGrpSpPr>
        <p:grpSpPr>
          <a:xfrm>
            <a:off x="4639780" y="17546181"/>
            <a:ext cx="2245597" cy="1791946"/>
            <a:chOff x="1444707" y="17482681"/>
            <a:chExt cx="2245598" cy="1791945"/>
          </a:xfrm>
        </p:grpSpPr>
        <p:sp>
          <p:nvSpPr>
            <p:cNvPr id="186" name="矩形 185"/>
            <p:cNvSpPr/>
            <p:nvPr/>
          </p:nvSpPr>
          <p:spPr>
            <a:xfrm>
              <a:off x="1444707" y="17676378"/>
              <a:ext cx="2245598" cy="1460500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7" name="矩形 186"/>
            <p:cNvSpPr/>
            <p:nvPr/>
          </p:nvSpPr>
          <p:spPr>
            <a:xfrm>
              <a:off x="1449250" y="17852699"/>
              <a:ext cx="2236511" cy="1421927"/>
            </a:xfrm>
            <a:prstGeom prst="rect">
              <a:avLst/>
            </a:prstGeom>
          </p:spPr>
          <p:txBody>
            <a:bodyPr wrap="none" anchor="b">
              <a:spAutoFit/>
            </a:bodyPr>
            <a:lstStyle/>
            <a:p>
              <a:pPr algn="ctr">
                <a:lnSpc>
                  <a:spcPct val="135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订阅有频率和消费周期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35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容易培养消费习惯</a:t>
              </a:r>
            </a:p>
            <a:p>
              <a:pPr algn="ctr">
                <a:lnSpc>
                  <a:spcPct val="135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把购买行为进行频率化</a:t>
              </a:r>
            </a:p>
            <a:p>
              <a:pPr algn="ctr">
                <a:lnSpc>
                  <a:spcPct val="135000"/>
                </a:lnSpc>
              </a:pP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等腰三角形 187"/>
            <p:cNvSpPr/>
            <p:nvPr/>
          </p:nvSpPr>
          <p:spPr>
            <a:xfrm>
              <a:off x="2443750" y="17482681"/>
              <a:ext cx="222113" cy="191477"/>
            </a:xfrm>
            <a:prstGeom prst="triangl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89" name="组合 188"/>
          <p:cNvGrpSpPr/>
          <p:nvPr/>
        </p:nvGrpSpPr>
        <p:grpSpPr>
          <a:xfrm>
            <a:off x="7908862" y="17546183"/>
            <a:ext cx="2245598" cy="1654197"/>
            <a:chOff x="1444707" y="17482681"/>
            <a:chExt cx="2245598" cy="1654197"/>
          </a:xfrm>
        </p:grpSpPr>
        <p:sp>
          <p:nvSpPr>
            <p:cNvPr id="190" name="矩形 189"/>
            <p:cNvSpPr/>
            <p:nvPr/>
          </p:nvSpPr>
          <p:spPr>
            <a:xfrm>
              <a:off x="1444707" y="17676378"/>
              <a:ext cx="2245598" cy="1460500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1" name="矩形 190"/>
            <p:cNvSpPr/>
            <p:nvPr/>
          </p:nvSpPr>
          <p:spPr>
            <a:xfrm>
              <a:off x="1551843" y="18045398"/>
              <a:ext cx="2031325" cy="1089529"/>
            </a:xfrm>
            <a:prstGeom prst="rect">
              <a:avLst/>
            </a:prstGeom>
          </p:spPr>
          <p:txBody>
            <a:bodyPr wrap="none" anchor="b">
              <a:spAutoFit/>
            </a:bodyPr>
            <a:lstStyle/>
            <a:p>
              <a:pPr algn="ctr">
                <a:lnSpc>
                  <a:spcPct val="135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了解购买行为和偏好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35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让顾客允许营销</a:t>
              </a:r>
            </a:p>
            <a:p>
              <a:pPr algn="ctr">
                <a:lnSpc>
                  <a:spcPct val="135000"/>
                </a:lnSpc>
              </a:pP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2" name="等腰三角形 191"/>
            <p:cNvSpPr/>
            <p:nvPr/>
          </p:nvSpPr>
          <p:spPr>
            <a:xfrm>
              <a:off x="2443750" y="17482681"/>
              <a:ext cx="222113" cy="191477"/>
            </a:xfrm>
            <a:prstGeom prst="triangl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93" name="矩形 192"/>
          <p:cNvSpPr/>
          <p:nvPr/>
        </p:nvSpPr>
        <p:spPr>
          <a:xfrm>
            <a:off x="1688856" y="19800451"/>
            <a:ext cx="77788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微信订阅号的       种属性及适用类型</a:t>
            </a:r>
          </a:p>
        </p:txBody>
      </p:sp>
      <p:sp>
        <p:nvSpPr>
          <p:cNvPr id="194" name="文本框 193"/>
          <p:cNvSpPr txBox="1"/>
          <p:nvPr/>
        </p:nvSpPr>
        <p:spPr>
          <a:xfrm>
            <a:off x="4230917" y="16146141"/>
            <a:ext cx="26401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解决       大问题</a:t>
            </a:r>
          </a:p>
        </p:txBody>
      </p:sp>
      <p:grpSp>
        <p:nvGrpSpPr>
          <p:cNvPr id="195" name="组合 194"/>
          <p:cNvGrpSpPr/>
          <p:nvPr/>
        </p:nvGrpSpPr>
        <p:grpSpPr>
          <a:xfrm>
            <a:off x="4869325" y="19720999"/>
            <a:ext cx="867944" cy="602126"/>
            <a:chOff x="494914" y="10448077"/>
            <a:chExt cx="1043600" cy="710702"/>
          </a:xfrm>
        </p:grpSpPr>
        <p:grpSp>
          <p:nvGrpSpPr>
            <p:cNvPr id="196" name="组合 195"/>
            <p:cNvGrpSpPr/>
            <p:nvPr/>
          </p:nvGrpSpPr>
          <p:grpSpPr>
            <a:xfrm>
              <a:off x="494914" y="10448077"/>
              <a:ext cx="1043600" cy="710702"/>
              <a:chOff x="1054100" y="1778000"/>
              <a:chExt cx="927100" cy="528828"/>
            </a:xfrm>
          </p:grpSpPr>
          <p:sp>
            <p:nvSpPr>
              <p:cNvPr id="198" name="椭圆形标注 197"/>
              <p:cNvSpPr/>
              <p:nvPr/>
            </p:nvSpPr>
            <p:spPr>
              <a:xfrm>
                <a:off x="1054100" y="1778000"/>
                <a:ext cx="762000" cy="510540"/>
              </a:xfrm>
              <a:prstGeom prst="wedgeEllipseCallou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99" name="椭圆形标注 198"/>
              <p:cNvSpPr/>
              <p:nvPr/>
            </p:nvSpPr>
            <p:spPr>
              <a:xfrm flipH="1">
                <a:off x="1193800" y="1779270"/>
                <a:ext cx="787400" cy="527558"/>
              </a:xfrm>
              <a:prstGeom prst="wedgeEllipseCallout">
                <a:avLst/>
              </a:prstGeom>
              <a:solidFill>
                <a:srgbClr val="00B050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97" name="文本框 196"/>
            <p:cNvSpPr txBox="1"/>
            <p:nvPr/>
          </p:nvSpPr>
          <p:spPr>
            <a:xfrm>
              <a:off x="765092" y="10461471"/>
              <a:ext cx="603171" cy="617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1" b="1" dirty="0">
                  <a:solidFill>
                    <a:schemeClr val="bg1"/>
                  </a:solidFill>
                  <a:latin typeface="華康墨字體" panose="040B0900000000000000" pitchFamily="82" charset="-122"/>
                  <a:ea typeface="華康墨字體" panose="040B0900000000000000" pitchFamily="82" charset="-122"/>
                </a:rPr>
                <a:t>四</a:t>
              </a:r>
            </a:p>
          </p:txBody>
        </p:sp>
      </p:grpSp>
      <p:sp>
        <p:nvSpPr>
          <p:cNvPr id="201" name="文本框 200"/>
          <p:cNvSpPr txBox="1"/>
          <p:nvPr/>
        </p:nvSpPr>
        <p:spPr>
          <a:xfrm>
            <a:off x="3357045" y="21963961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捕捉客户变化</a:t>
            </a:r>
          </a:p>
        </p:txBody>
      </p:sp>
      <p:sp>
        <p:nvSpPr>
          <p:cNvPr id="202" name="文本框 201"/>
          <p:cNvSpPr txBox="1"/>
          <p:nvPr/>
        </p:nvSpPr>
        <p:spPr>
          <a:xfrm>
            <a:off x="5838873" y="2196396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注重口碑</a:t>
            </a:r>
          </a:p>
        </p:txBody>
      </p:sp>
      <p:sp>
        <p:nvSpPr>
          <p:cNvPr id="203" name="文本框 202"/>
          <p:cNvSpPr txBox="1"/>
          <p:nvPr/>
        </p:nvSpPr>
        <p:spPr>
          <a:xfrm>
            <a:off x="7577234" y="21963961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挖掘会员消费潜力</a:t>
            </a:r>
          </a:p>
        </p:txBody>
      </p:sp>
      <p:sp>
        <p:nvSpPr>
          <p:cNvPr id="204" name="矩形 203"/>
          <p:cNvSpPr/>
          <p:nvPr/>
        </p:nvSpPr>
        <p:spPr>
          <a:xfrm>
            <a:off x="1618979" y="21963961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吸引力</a:t>
            </a:r>
          </a:p>
        </p:txBody>
      </p:sp>
      <p:sp>
        <p:nvSpPr>
          <p:cNvPr id="207" name="椭圆 206"/>
          <p:cNvSpPr/>
          <p:nvPr/>
        </p:nvSpPr>
        <p:spPr>
          <a:xfrm>
            <a:off x="1475677" y="21245292"/>
            <a:ext cx="286604" cy="281322"/>
          </a:xfrm>
          <a:prstGeom prst="ellipse">
            <a:avLst/>
          </a:prstGeom>
          <a:pattFill prst="smConfetti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rPr>
              <a:t>1</a:t>
            </a:r>
            <a:endParaRPr lang="zh-CN" altLang="en-US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09" name="椭圆形标注 208"/>
          <p:cNvSpPr/>
          <p:nvPr/>
        </p:nvSpPr>
        <p:spPr>
          <a:xfrm>
            <a:off x="3763554" y="20999925"/>
            <a:ext cx="1021409" cy="737745"/>
          </a:xfrm>
          <a:prstGeom prst="wedgeEllipseCallou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周期服务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0" name="椭圆 209"/>
          <p:cNvSpPr/>
          <p:nvPr/>
        </p:nvSpPr>
        <p:spPr>
          <a:xfrm>
            <a:off x="3663965" y="21245292"/>
            <a:ext cx="286604" cy="281322"/>
          </a:xfrm>
          <a:prstGeom prst="ellipse">
            <a:avLst/>
          </a:prstGeom>
          <a:pattFill prst="smConfetti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rPr>
              <a:t>2</a:t>
            </a:r>
            <a:endParaRPr lang="zh-CN" altLang="en-US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12" name="椭圆形标注 211"/>
          <p:cNvSpPr/>
          <p:nvPr/>
        </p:nvSpPr>
        <p:spPr>
          <a:xfrm>
            <a:off x="5951842" y="20988339"/>
            <a:ext cx="1021409" cy="749333"/>
          </a:xfrm>
          <a:prstGeom prst="wedgeEllipseCallou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顾客为轴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" name="椭圆 212"/>
          <p:cNvSpPr/>
          <p:nvPr/>
        </p:nvSpPr>
        <p:spPr>
          <a:xfrm>
            <a:off x="5852253" y="21245292"/>
            <a:ext cx="286604" cy="281322"/>
          </a:xfrm>
          <a:prstGeom prst="ellipse">
            <a:avLst/>
          </a:prstGeom>
          <a:pattFill prst="smConfetti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rPr>
              <a:t>3</a:t>
            </a:r>
            <a:endParaRPr lang="zh-CN" altLang="en-US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15" name="椭圆形标注 214"/>
          <p:cNvSpPr/>
          <p:nvPr/>
        </p:nvSpPr>
        <p:spPr>
          <a:xfrm>
            <a:off x="8140130" y="20999926"/>
            <a:ext cx="1021409" cy="718695"/>
          </a:xfrm>
          <a:prstGeom prst="wedgeEllipseCallou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会员体系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6" name="椭圆 215"/>
          <p:cNvSpPr/>
          <p:nvPr/>
        </p:nvSpPr>
        <p:spPr>
          <a:xfrm>
            <a:off x="8040542" y="21245292"/>
            <a:ext cx="286604" cy="281322"/>
          </a:xfrm>
          <a:prstGeom prst="ellipse">
            <a:avLst/>
          </a:prstGeom>
          <a:pattFill prst="smConfetti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  <a:cs typeface="Arial" panose="020B0604020202020204" pitchFamily="34" charset="0"/>
              </a:rPr>
              <a:t>4</a:t>
            </a:r>
            <a:endParaRPr lang="zh-CN" altLang="en-US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19" name="文本框 218"/>
          <p:cNvSpPr txBox="1"/>
          <p:nvPr/>
        </p:nvSpPr>
        <p:spPr>
          <a:xfrm>
            <a:off x="1703613" y="21096809"/>
            <a:ext cx="7913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锁定客户</a:t>
            </a:r>
          </a:p>
        </p:txBody>
      </p:sp>
      <p:sp>
        <p:nvSpPr>
          <p:cNvPr id="220" name="矩形 219"/>
          <p:cNvSpPr/>
          <p:nvPr/>
        </p:nvSpPr>
        <p:spPr>
          <a:xfrm>
            <a:off x="1014764" y="22794404"/>
            <a:ext cx="77788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微信订阅号的       大好处</a:t>
            </a:r>
          </a:p>
        </p:txBody>
      </p:sp>
      <p:grpSp>
        <p:nvGrpSpPr>
          <p:cNvPr id="221" name="组合 220"/>
          <p:cNvGrpSpPr/>
          <p:nvPr/>
        </p:nvGrpSpPr>
        <p:grpSpPr>
          <a:xfrm>
            <a:off x="4869325" y="22730900"/>
            <a:ext cx="867944" cy="602126"/>
            <a:chOff x="494914" y="10448077"/>
            <a:chExt cx="1043600" cy="710702"/>
          </a:xfrm>
        </p:grpSpPr>
        <p:grpSp>
          <p:nvGrpSpPr>
            <p:cNvPr id="222" name="组合 221"/>
            <p:cNvGrpSpPr/>
            <p:nvPr/>
          </p:nvGrpSpPr>
          <p:grpSpPr>
            <a:xfrm>
              <a:off x="494914" y="10448077"/>
              <a:ext cx="1043600" cy="710702"/>
              <a:chOff x="1054100" y="1778000"/>
              <a:chExt cx="927100" cy="528828"/>
            </a:xfrm>
          </p:grpSpPr>
          <p:sp>
            <p:nvSpPr>
              <p:cNvPr id="224" name="椭圆形标注 223"/>
              <p:cNvSpPr/>
              <p:nvPr/>
            </p:nvSpPr>
            <p:spPr>
              <a:xfrm>
                <a:off x="1054100" y="1778000"/>
                <a:ext cx="762000" cy="510540"/>
              </a:xfrm>
              <a:prstGeom prst="wedgeEllipseCallou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" name="椭圆形标注 224"/>
              <p:cNvSpPr/>
              <p:nvPr/>
            </p:nvSpPr>
            <p:spPr>
              <a:xfrm flipH="1">
                <a:off x="1193800" y="1779270"/>
                <a:ext cx="787400" cy="527558"/>
              </a:xfrm>
              <a:prstGeom prst="wedgeEllipseCallout">
                <a:avLst/>
              </a:prstGeom>
              <a:solidFill>
                <a:srgbClr val="00B050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23" name="文本框 222"/>
            <p:cNvSpPr txBox="1"/>
            <p:nvPr/>
          </p:nvSpPr>
          <p:spPr>
            <a:xfrm>
              <a:off x="765092" y="10461471"/>
              <a:ext cx="603171" cy="617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1" b="1" dirty="0">
                  <a:solidFill>
                    <a:schemeClr val="bg1"/>
                  </a:solidFill>
                  <a:latin typeface="華康墨字體" panose="040B0900000000000000" pitchFamily="82" charset="-122"/>
                  <a:ea typeface="華康墨字體" panose="040B0900000000000000" pitchFamily="82" charset="-122"/>
                </a:rPr>
                <a:t>五</a:t>
              </a:r>
            </a:p>
          </p:txBody>
        </p:sp>
      </p:grpSp>
      <p:sp>
        <p:nvSpPr>
          <p:cNvPr id="231" name="文本框 230"/>
          <p:cNvSpPr txBox="1"/>
          <p:nvPr/>
        </p:nvSpPr>
        <p:spPr>
          <a:xfrm>
            <a:off x="728654" y="24309742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随时随地看到企业信息</a:t>
            </a:r>
          </a:p>
        </p:txBody>
      </p:sp>
      <p:sp>
        <p:nvSpPr>
          <p:cNvPr id="232" name="文本框 231"/>
          <p:cNvSpPr txBox="1"/>
          <p:nvPr/>
        </p:nvSpPr>
        <p:spPr>
          <a:xfrm>
            <a:off x="3701840" y="24309742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客户体验好，口碑相传</a:t>
            </a:r>
          </a:p>
        </p:txBody>
      </p:sp>
      <p:sp>
        <p:nvSpPr>
          <p:cNvPr id="226" name="圆角矩形 225"/>
          <p:cNvSpPr/>
          <p:nvPr/>
        </p:nvSpPr>
        <p:spPr>
          <a:xfrm>
            <a:off x="1526940" y="23812525"/>
            <a:ext cx="1637733" cy="477673"/>
          </a:xfrm>
          <a:prstGeom prst="roundRect">
            <a:avLst/>
          </a:prstGeom>
          <a:solidFill>
            <a:srgbClr val="00B050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方便客户</a:t>
            </a:r>
          </a:p>
        </p:txBody>
      </p:sp>
      <p:sp>
        <p:nvSpPr>
          <p:cNvPr id="227" name="圆角矩形 226"/>
          <p:cNvSpPr/>
          <p:nvPr/>
        </p:nvSpPr>
        <p:spPr>
          <a:xfrm>
            <a:off x="4526247" y="23812525"/>
            <a:ext cx="1637733" cy="477673"/>
          </a:xfrm>
          <a:prstGeom prst="roundRect">
            <a:avLst/>
          </a:prstGeom>
          <a:solidFill>
            <a:srgbClr val="00B050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提升形象</a:t>
            </a:r>
          </a:p>
        </p:txBody>
      </p:sp>
      <p:sp>
        <p:nvSpPr>
          <p:cNvPr id="228" name="圆角矩形 227"/>
          <p:cNvSpPr/>
          <p:nvPr/>
        </p:nvSpPr>
        <p:spPr>
          <a:xfrm>
            <a:off x="7525552" y="23812525"/>
            <a:ext cx="1637733" cy="477673"/>
          </a:xfrm>
          <a:prstGeom prst="roundRect">
            <a:avLst/>
          </a:prstGeom>
          <a:solidFill>
            <a:srgbClr val="00B050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付费订阅</a:t>
            </a:r>
          </a:p>
        </p:txBody>
      </p:sp>
      <p:sp>
        <p:nvSpPr>
          <p:cNvPr id="233" name="文本框 232"/>
          <p:cNvSpPr txBox="1"/>
          <p:nvPr/>
        </p:nvSpPr>
        <p:spPr>
          <a:xfrm>
            <a:off x="6143820" y="24309742"/>
            <a:ext cx="28520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通过活动或定制，让客户付费</a:t>
            </a:r>
          </a:p>
        </p:txBody>
      </p:sp>
      <p:sp>
        <p:nvSpPr>
          <p:cNvPr id="229" name="圆角矩形 228"/>
          <p:cNvSpPr/>
          <p:nvPr/>
        </p:nvSpPr>
        <p:spPr>
          <a:xfrm>
            <a:off x="2960391" y="25002750"/>
            <a:ext cx="1637733" cy="477673"/>
          </a:xfrm>
          <a:prstGeom prst="roundRect">
            <a:avLst/>
          </a:prstGeom>
          <a:solidFill>
            <a:srgbClr val="00B050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无欠费</a:t>
            </a:r>
          </a:p>
        </p:txBody>
      </p:sp>
      <p:sp>
        <p:nvSpPr>
          <p:cNvPr id="234" name="文本框 233"/>
          <p:cNvSpPr txBox="1"/>
          <p:nvPr/>
        </p:nvSpPr>
        <p:spPr>
          <a:xfrm>
            <a:off x="3272271" y="25507045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看中产品，微信支付</a:t>
            </a:r>
          </a:p>
        </p:txBody>
      </p:sp>
      <p:sp>
        <p:nvSpPr>
          <p:cNvPr id="230" name="圆角矩形 229"/>
          <p:cNvSpPr/>
          <p:nvPr/>
        </p:nvSpPr>
        <p:spPr>
          <a:xfrm>
            <a:off x="6051836" y="24976380"/>
            <a:ext cx="1637733" cy="477673"/>
          </a:xfrm>
          <a:prstGeom prst="roundRect">
            <a:avLst/>
          </a:prstGeom>
          <a:solidFill>
            <a:srgbClr val="00B050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顺势营销</a:t>
            </a:r>
          </a:p>
        </p:txBody>
      </p:sp>
      <p:sp>
        <p:nvSpPr>
          <p:cNvPr id="235" name="文本框 234"/>
          <p:cNvSpPr txBox="1"/>
          <p:nvPr/>
        </p:nvSpPr>
        <p:spPr>
          <a:xfrm>
            <a:off x="6272831" y="25507045"/>
            <a:ext cx="2646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送小礼品，根据情况做宣传</a:t>
            </a:r>
          </a:p>
        </p:txBody>
      </p:sp>
      <p:grpSp>
        <p:nvGrpSpPr>
          <p:cNvPr id="265" name="组合 264"/>
          <p:cNvGrpSpPr/>
          <p:nvPr/>
        </p:nvGrpSpPr>
        <p:grpSpPr>
          <a:xfrm>
            <a:off x="4266292" y="26866695"/>
            <a:ext cx="2093234" cy="923330"/>
            <a:chOff x="2450428" y="27721344"/>
            <a:chExt cx="2093235" cy="923331"/>
          </a:xfrm>
        </p:grpSpPr>
        <p:sp>
          <p:nvSpPr>
            <p:cNvPr id="248" name="矩形 247"/>
            <p:cNvSpPr/>
            <p:nvPr/>
          </p:nvSpPr>
          <p:spPr>
            <a:xfrm>
              <a:off x="2974002" y="28163877"/>
              <a:ext cx="156966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分担顾客问题</a:t>
              </a:r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2" name="文本框 251"/>
            <p:cNvSpPr txBox="1"/>
            <p:nvPr/>
          </p:nvSpPr>
          <p:spPr>
            <a:xfrm>
              <a:off x="2450428" y="27721344"/>
              <a:ext cx="569387" cy="923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b="1" dirty="0">
                  <a:solidFill>
                    <a:srgbClr val="00B050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2</a:t>
              </a:r>
              <a:endParaRPr lang="zh-CN" altLang="en-US" sz="5400" b="1" dirty="0">
                <a:solidFill>
                  <a:srgbClr val="00B05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64" name="组合 263"/>
          <p:cNvGrpSpPr/>
          <p:nvPr/>
        </p:nvGrpSpPr>
        <p:grpSpPr>
          <a:xfrm>
            <a:off x="1209037" y="26866727"/>
            <a:ext cx="2093234" cy="923330"/>
            <a:chOff x="2450428" y="26788540"/>
            <a:chExt cx="2093235" cy="923330"/>
          </a:xfrm>
        </p:grpSpPr>
        <p:sp>
          <p:nvSpPr>
            <p:cNvPr id="246" name="矩形 245"/>
            <p:cNvSpPr/>
            <p:nvPr/>
          </p:nvSpPr>
          <p:spPr>
            <a:xfrm>
              <a:off x="2974002" y="27204524"/>
              <a:ext cx="156966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聆听顾客需求</a:t>
              </a:r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3" name="文本框 252"/>
            <p:cNvSpPr txBox="1"/>
            <p:nvPr/>
          </p:nvSpPr>
          <p:spPr>
            <a:xfrm>
              <a:off x="2450428" y="26788540"/>
              <a:ext cx="569387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b="1" dirty="0">
                  <a:solidFill>
                    <a:srgbClr val="00B050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1</a:t>
              </a:r>
              <a:endParaRPr lang="zh-CN" altLang="en-US" sz="5400" b="1" dirty="0">
                <a:solidFill>
                  <a:srgbClr val="00B05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66" name="组合 265"/>
          <p:cNvGrpSpPr/>
          <p:nvPr/>
        </p:nvGrpSpPr>
        <p:grpSpPr>
          <a:xfrm>
            <a:off x="7323545" y="26866695"/>
            <a:ext cx="2093234" cy="923330"/>
            <a:chOff x="2450428" y="28683599"/>
            <a:chExt cx="2093235" cy="923331"/>
          </a:xfrm>
        </p:grpSpPr>
        <p:sp>
          <p:nvSpPr>
            <p:cNvPr id="247" name="矩形 246"/>
            <p:cNvSpPr/>
            <p:nvPr/>
          </p:nvSpPr>
          <p:spPr>
            <a:xfrm>
              <a:off x="2974002" y="29087208"/>
              <a:ext cx="156966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提供交易渠道</a:t>
              </a:r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4" name="文本框 253"/>
            <p:cNvSpPr txBox="1"/>
            <p:nvPr/>
          </p:nvSpPr>
          <p:spPr>
            <a:xfrm>
              <a:off x="2450428" y="28683599"/>
              <a:ext cx="569387" cy="923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b="1" dirty="0">
                  <a:solidFill>
                    <a:srgbClr val="00B050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3</a:t>
              </a:r>
              <a:endParaRPr lang="zh-CN" altLang="en-US" sz="5400" b="1" dirty="0">
                <a:solidFill>
                  <a:srgbClr val="00B05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67" name="组合 266"/>
          <p:cNvGrpSpPr/>
          <p:nvPr/>
        </p:nvGrpSpPr>
        <p:grpSpPr>
          <a:xfrm>
            <a:off x="1145538" y="27799964"/>
            <a:ext cx="2099056" cy="923330"/>
            <a:chOff x="5721206" y="27116651"/>
            <a:chExt cx="2099055" cy="923330"/>
          </a:xfrm>
        </p:grpSpPr>
        <p:sp>
          <p:nvSpPr>
            <p:cNvPr id="249" name="矩形 248"/>
            <p:cNvSpPr/>
            <p:nvPr/>
          </p:nvSpPr>
          <p:spPr>
            <a:xfrm>
              <a:off x="6250602" y="27497949"/>
              <a:ext cx="156965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缩短够买时间</a:t>
              </a:r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5" name="文本框 254"/>
            <p:cNvSpPr txBox="1"/>
            <p:nvPr/>
          </p:nvSpPr>
          <p:spPr>
            <a:xfrm>
              <a:off x="5721206" y="27116651"/>
              <a:ext cx="569387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b="1" dirty="0">
                  <a:solidFill>
                    <a:srgbClr val="00B050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4</a:t>
              </a:r>
              <a:endParaRPr lang="zh-CN" altLang="en-US" sz="5400" b="1" dirty="0">
                <a:solidFill>
                  <a:srgbClr val="00B05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68" name="组合 267"/>
          <p:cNvGrpSpPr/>
          <p:nvPr/>
        </p:nvGrpSpPr>
        <p:grpSpPr>
          <a:xfrm>
            <a:off x="4256207" y="27799934"/>
            <a:ext cx="2093234" cy="923330"/>
            <a:chOff x="5727028" y="27868264"/>
            <a:chExt cx="2093235" cy="923331"/>
          </a:xfrm>
        </p:grpSpPr>
        <p:sp>
          <p:nvSpPr>
            <p:cNvPr id="250" name="矩形 249"/>
            <p:cNvSpPr/>
            <p:nvPr/>
          </p:nvSpPr>
          <p:spPr>
            <a:xfrm>
              <a:off x="6250602" y="28270889"/>
              <a:ext cx="156966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提供相关资讯</a:t>
              </a:r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" name="文本框 255"/>
            <p:cNvSpPr txBox="1"/>
            <p:nvPr/>
          </p:nvSpPr>
          <p:spPr>
            <a:xfrm>
              <a:off x="5727028" y="27868264"/>
              <a:ext cx="569387" cy="923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b="1" dirty="0">
                  <a:solidFill>
                    <a:srgbClr val="00B050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5</a:t>
              </a:r>
              <a:endParaRPr lang="zh-CN" altLang="en-US" sz="5400" b="1" dirty="0">
                <a:solidFill>
                  <a:srgbClr val="00B05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69" name="组合 268"/>
          <p:cNvGrpSpPr/>
          <p:nvPr/>
        </p:nvGrpSpPr>
        <p:grpSpPr>
          <a:xfrm>
            <a:off x="7361058" y="27799964"/>
            <a:ext cx="2099056" cy="923330"/>
            <a:chOff x="5721205" y="28663516"/>
            <a:chExt cx="2099055" cy="923330"/>
          </a:xfrm>
        </p:grpSpPr>
        <p:sp>
          <p:nvSpPr>
            <p:cNvPr id="251" name="矩形 250"/>
            <p:cNvSpPr/>
            <p:nvPr/>
          </p:nvSpPr>
          <p:spPr>
            <a:xfrm>
              <a:off x="6250601" y="29043830"/>
              <a:ext cx="156965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给客户多问候</a:t>
              </a:r>
              <a:endParaRPr lang="zh-CN" altLang="en-US" b="1" dirty="0"/>
            </a:p>
          </p:txBody>
        </p:sp>
        <p:sp>
          <p:nvSpPr>
            <p:cNvPr id="257" name="文本框 256"/>
            <p:cNvSpPr txBox="1"/>
            <p:nvPr/>
          </p:nvSpPr>
          <p:spPr>
            <a:xfrm>
              <a:off x="5721205" y="28663516"/>
              <a:ext cx="569387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b="1" dirty="0">
                  <a:solidFill>
                    <a:srgbClr val="00B050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rPr>
                <a:t>6</a:t>
              </a:r>
              <a:endParaRPr lang="zh-CN" altLang="en-US" sz="5400" b="1" dirty="0">
                <a:solidFill>
                  <a:srgbClr val="00B05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258" name="矩形 257"/>
          <p:cNvSpPr/>
          <p:nvPr/>
        </p:nvSpPr>
        <p:spPr>
          <a:xfrm>
            <a:off x="2212589" y="26292819"/>
            <a:ext cx="44015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为客户</a:t>
            </a:r>
            <a:r>
              <a:rPr lang="zh-CN" altLang="en-US" sz="20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创造增值服务的       种方法</a:t>
            </a:r>
            <a:endParaRPr lang="zh-CN" altLang="en-US" sz="2000" dirty="0"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grpSp>
        <p:nvGrpSpPr>
          <p:cNvPr id="259" name="组合 258"/>
          <p:cNvGrpSpPr/>
          <p:nvPr/>
        </p:nvGrpSpPr>
        <p:grpSpPr>
          <a:xfrm>
            <a:off x="4869325" y="26190742"/>
            <a:ext cx="867944" cy="602126"/>
            <a:chOff x="494914" y="10448077"/>
            <a:chExt cx="1043600" cy="710702"/>
          </a:xfrm>
        </p:grpSpPr>
        <p:grpSp>
          <p:nvGrpSpPr>
            <p:cNvPr id="260" name="组合 259"/>
            <p:cNvGrpSpPr/>
            <p:nvPr/>
          </p:nvGrpSpPr>
          <p:grpSpPr>
            <a:xfrm>
              <a:off x="494914" y="10448077"/>
              <a:ext cx="1043600" cy="710702"/>
              <a:chOff x="1054100" y="1778000"/>
              <a:chExt cx="927100" cy="528828"/>
            </a:xfrm>
          </p:grpSpPr>
          <p:sp>
            <p:nvSpPr>
              <p:cNvPr id="262" name="椭圆形标注 261"/>
              <p:cNvSpPr/>
              <p:nvPr/>
            </p:nvSpPr>
            <p:spPr>
              <a:xfrm>
                <a:off x="1054100" y="1778000"/>
                <a:ext cx="762000" cy="510540"/>
              </a:xfrm>
              <a:prstGeom prst="wedgeEllipseCallou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63" name="椭圆形标注 262"/>
              <p:cNvSpPr/>
              <p:nvPr/>
            </p:nvSpPr>
            <p:spPr>
              <a:xfrm flipH="1">
                <a:off x="1193800" y="1779270"/>
                <a:ext cx="787400" cy="527558"/>
              </a:xfrm>
              <a:prstGeom prst="wedgeEllipseCallout">
                <a:avLst/>
              </a:prstGeom>
              <a:solidFill>
                <a:srgbClr val="00B050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61" name="文本框 260"/>
            <p:cNvSpPr txBox="1"/>
            <p:nvPr/>
          </p:nvSpPr>
          <p:spPr>
            <a:xfrm>
              <a:off x="765092" y="10461471"/>
              <a:ext cx="603171" cy="617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1" b="1" dirty="0">
                  <a:solidFill>
                    <a:schemeClr val="bg1"/>
                  </a:solidFill>
                  <a:latin typeface="華康墨字體" panose="040B0900000000000000" pitchFamily="82" charset="-122"/>
                  <a:ea typeface="華康墨字體" panose="040B0900000000000000" pitchFamily="82" charset="-122"/>
                </a:rPr>
                <a:t>六</a:t>
              </a:r>
            </a:p>
          </p:txBody>
        </p:sp>
      </p:grpSp>
      <p:sp>
        <p:nvSpPr>
          <p:cNvPr id="270" name="矩形 269"/>
          <p:cNvSpPr/>
          <p:nvPr/>
        </p:nvSpPr>
        <p:spPr>
          <a:xfrm>
            <a:off x="1281464" y="29157104"/>
            <a:ext cx="77788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微信订阅号的       大运营模式</a:t>
            </a:r>
          </a:p>
        </p:txBody>
      </p:sp>
      <p:grpSp>
        <p:nvGrpSpPr>
          <p:cNvPr id="271" name="组合 270"/>
          <p:cNvGrpSpPr/>
          <p:nvPr/>
        </p:nvGrpSpPr>
        <p:grpSpPr>
          <a:xfrm>
            <a:off x="4882026" y="29068200"/>
            <a:ext cx="867944" cy="602126"/>
            <a:chOff x="494914" y="10448077"/>
            <a:chExt cx="1043600" cy="710702"/>
          </a:xfrm>
        </p:grpSpPr>
        <p:grpSp>
          <p:nvGrpSpPr>
            <p:cNvPr id="272" name="组合 271"/>
            <p:cNvGrpSpPr/>
            <p:nvPr/>
          </p:nvGrpSpPr>
          <p:grpSpPr>
            <a:xfrm>
              <a:off x="494914" y="10448077"/>
              <a:ext cx="1043600" cy="710702"/>
              <a:chOff x="1054100" y="1778000"/>
              <a:chExt cx="927100" cy="528828"/>
            </a:xfrm>
          </p:grpSpPr>
          <p:sp>
            <p:nvSpPr>
              <p:cNvPr id="274" name="椭圆形标注 273"/>
              <p:cNvSpPr/>
              <p:nvPr/>
            </p:nvSpPr>
            <p:spPr>
              <a:xfrm>
                <a:off x="1054100" y="1778000"/>
                <a:ext cx="762000" cy="510540"/>
              </a:xfrm>
              <a:prstGeom prst="wedgeEllipseCallou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75" name="椭圆形标注 274"/>
              <p:cNvSpPr/>
              <p:nvPr/>
            </p:nvSpPr>
            <p:spPr>
              <a:xfrm flipH="1">
                <a:off x="1193800" y="1779270"/>
                <a:ext cx="787400" cy="527558"/>
              </a:xfrm>
              <a:prstGeom prst="wedgeEllipseCallout">
                <a:avLst/>
              </a:prstGeom>
              <a:solidFill>
                <a:srgbClr val="00B050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73" name="文本框 272"/>
            <p:cNvSpPr txBox="1"/>
            <p:nvPr/>
          </p:nvSpPr>
          <p:spPr>
            <a:xfrm>
              <a:off x="765092" y="10461471"/>
              <a:ext cx="603171" cy="617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1" b="1" dirty="0">
                  <a:solidFill>
                    <a:schemeClr val="bg1"/>
                  </a:solidFill>
                  <a:latin typeface="華康墨字體" panose="040B0900000000000000" pitchFamily="82" charset="-122"/>
                  <a:ea typeface="華康墨字體" panose="040B0900000000000000" pitchFamily="82" charset="-122"/>
                </a:rPr>
                <a:t>七</a:t>
              </a:r>
            </a:p>
          </p:txBody>
        </p:sp>
      </p:grpSp>
      <p:sp>
        <p:nvSpPr>
          <p:cNvPr id="278" name="圆角矩形 277"/>
          <p:cNvSpPr/>
          <p:nvPr/>
        </p:nvSpPr>
        <p:spPr>
          <a:xfrm>
            <a:off x="1846941" y="33545527"/>
            <a:ext cx="6477762" cy="396000"/>
          </a:xfrm>
          <a:prstGeom prst="roundRect">
            <a:avLst/>
          </a:prstGeom>
          <a:solidFill>
            <a:schemeClr val="bg1">
              <a:lumMod val="85000"/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1" name="圆角矩形 280"/>
          <p:cNvSpPr/>
          <p:nvPr/>
        </p:nvSpPr>
        <p:spPr>
          <a:xfrm>
            <a:off x="1819781" y="31390954"/>
            <a:ext cx="6983411" cy="396000"/>
          </a:xfrm>
          <a:prstGeom prst="roundRect">
            <a:avLst/>
          </a:prstGeom>
          <a:solidFill>
            <a:schemeClr val="bg1">
              <a:lumMod val="85000"/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2" name="圆角矩形 281"/>
          <p:cNvSpPr/>
          <p:nvPr/>
        </p:nvSpPr>
        <p:spPr>
          <a:xfrm>
            <a:off x="1846939" y="30657218"/>
            <a:ext cx="6948489" cy="396000"/>
          </a:xfrm>
          <a:prstGeom prst="roundRect">
            <a:avLst/>
          </a:prstGeom>
          <a:solidFill>
            <a:schemeClr val="bg1">
              <a:lumMod val="85000"/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4" name="椭圆 283"/>
          <p:cNvSpPr/>
          <p:nvPr/>
        </p:nvSpPr>
        <p:spPr>
          <a:xfrm>
            <a:off x="8285451" y="30358712"/>
            <a:ext cx="1007999" cy="100799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厂商直销</a:t>
            </a:r>
          </a:p>
        </p:txBody>
      </p:sp>
      <p:sp>
        <p:nvSpPr>
          <p:cNvPr id="285" name="椭圆 284"/>
          <p:cNvSpPr/>
          <p:nvPr/>
        </p:nvSpPr>
        <p:spPr>
          <a:xfrm>
            <a:off x="1315782" y="31045541"/>
            <a:ext cx="1007999" cy="100799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整合品牌</a:t>
            </a:r>
          </a:p>
        </p:txBody>
      </p:sp>
      <p:sp>
        <p:nvSpPr>
          <p:cNvPr id="286" name="椭圆 285"/>
          <p:cNvSpPr/>
          <p:nvPr/>
        </p:nvSpPr>
        <p:spPr>
          <a:xfrm>
            <a:off x="8285451" y="31795370"/>
            <a:ext cx="1007999" cy="100799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社区模式</a:t>
            </a:r>
          </a:p>
        </p:txBody>
      </p:sp>
      <p:sp>
        <p:nvSpPr>
          <p:cNvPr id="287" name="椭圆 286"/>
          <p:cNvSpPr/>
          <p:nvPr/>
        </p:nvSpPr>
        <p:spPr>
          <a:xfrm>
            <a:off x="1315782" y="32488199"/>
            <a:ext cx="1007999" cy="100799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内容服务</a:t>
            </a:r>
          </a:p>
        </p:txBody>
      </p:sp>
      <p:sp>
        <p:nvSpPr>
          <p:cNvPr id="288" name="椭圆 287"/>
          <p:cNvSpPr/>
          <p:nvPr/>
        </p:nvSpPr>
        <p:spPr>
          <a:xfrm>
            <a:off x="8285451" y="33232029"/>
            <a:ext cx="1007999" cy="100799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效用模式</a:t>
            </a:r>
          </a:p>
        </p:txBody>
      </p:sp>
      <p:sp>
        <p:nvSpPr>
          <p:cNvPr id="289" name="椭圆 288"/>
          <p:cNvSpPr/>
          <p:nvPr/>
        </p:nvSpPr>
        <p:spPr>
          <a:xfrm>
            <a:off x="1315782" y="33930858"/>
            <a:ext cx="1007999" cy="100799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定量订阅</a:t>
            </a:r>
          </a:p>
        </p:txBody>
      </p:sp>
      <p:sp>
        <p:nvSpPr>
          <p:cNvPr id="290" name="椭圆 289"/>
          <p:cNvSpPr/>
          <p:nvPr/>
        </p:nvSpPr>
        <p:spPr>
          <a:xfrm>
            <a:off x="1315782" y="29602883"/>
            <a:ext cx="1007999" cy="100799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信息中转</a:t>
            </a:r>
          </a:p>
        </p:txBody>
      </p:sp>
      <p:sp>
        <p:nvSpPr>
          <p:cNvPr id="292" name="矩形 291"/>
          <p:cNvSpPr/>
          <p:nvPr/>
        </p:nvSpPr>
        <p:spPr>
          <a:xfrm>
            <a:off x="1846941" y="30680788"/>
            <a:ext cx="64385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使厂商直接接触消费者，因此压缩了分销渠道</a:t>
            </a:r>
          </a:p>
        </p:txBody>
      </p:sp>
      <p:sp>
        <p:nvSpPr>
          <p:cNvPr id="293" name="矩形 292"/>
          <p:cNvSpPr/>
          <p:nvPr/>
        </p:nvSpPr>
        <p:spPr>
          <a:xfrm>
            <a:off x="2270843" y="31410856"/>
            <a:ext cx="65323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合内容由生产商创造，用于更替基础信息</a:t>
            </a:r>
          </a:p>
        </p:txBody>
      </p:sp>
      <p:sp>
        <p:nvSpPr>
          <p:cNvPr id="294" name="矩形 293"/>
          <p:cNvSpPr/>
          <p:nvPr/>
        </p:nvSpPr>
        <p:spPr>
          <a:xfrm>
            <a:off x="1837676" y="32134348"/>
            <a:ext cx="69655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发展主要依赖用户忠诚度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6" name="矩形 295"/>
          <p:cNvSpPr/>
          <p:nvPr/>
        </p:nvSpPr>
        <p:spPr>
          <a:xfrm>
            <a:off x="1846939" y="33544924"/>
            <a:ext cx="69484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采用定量使用或者随用随付的方式</a:t>
            </a:r>
          </a:p>
        </p:txBody>
      </p:sp>
      <p:sp>
        <p:nvSpPr>
          <p:cNvPr id="297" name="矩形 296"/>
          <p:cNvSpPr/>
          <p:nvPr/>
        </p:nvSpPr>
        <p:spPr>
          <a:xfrm>
            <a:off x="2246046" y="34287443"/>
            <a:ext cx="71015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允许购买内容用增值服务吸引用户，以用户规模及应用服务制胜</a:t>
            </a:r>
          </a:p>
        </p:txBody>
      </p:sp>
      <p:sp>
        <p:nvSpPr>
          <p:cNvPr id="299" name="矩形 298"/>
          <p:cNvSpPr/>
          <p:nvPr/>
        </p:nvSpPr>
        <p:spPr>
          <a:xfrm>
            <a:off x="1534806" y="35246241"/>
            <a:ext cx="77788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微信订阅模式的       种类型及增值服务</a:t>
            </a:r>
          </a:p>
        </p:txBody>
      </p:sp>
      <p:grpSp>
        <p:nvGrpSpPr>
          <p:cNvPr id="300" name="组合 299"/>
          <p:cNvGrpSpPr/>
          <p:nvPr/>
        </p:nvGrpSpPr>
        <p:grpSpPr>
          <a:xfrm>
            <a:off x="4868667" y="35157337"/>
            <a:ext cx="867944" cy="602126"/>
            <a:chOff x="494914" y="10448077"/>
            <a:chExt cx="1043600" cy="710702"/>
          </a:xfrm>
        </p:grpSpPr>
        <p:grpSp>
          <p:nvGrpSpPr>
            <p:cNvPr id="301" name="组合 300"/>
            <p:cNvGrpSpPr/>
            <p:nvPr/>
          </p:nvGrpSpPr>
          <p:grpSpPr>
            <a:xfrm>
              <a:off x="494914" y="10448077"/>
              <a:ext cx="1043600" cy="710702"/>
              <a:chOff x="1054100" y="1778000"/>
              <a:chExt cx="927100" cy="528828"/>
            </a:xfrm>
          </p:grpSpPr>
          <p:sp>
            <p:nvSpPr>
              <p:cNvPr id="303" name="椭圆形标注 302"/>
              <p:cNvSpPr/>
              <p:nvPr/>
            </p:nvSpPr>
            <p:spPr>
              <a:xfrm>
                <a:off x="1054100" y="1778000"/>
                <a:ext cx="762000" cy="510540"/>
              </a:xfrm>
              <a:prstGeom prst="wedgeEllipseCallou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04" name="椭圆形标注 303"/>
              <p:cNvSpPr/>
              <p:nvPr/>
            </p:nvSpPr>
            <p:spPr>
              <a:xfrm flipH="1">
                <a:off x="1193800" y="1779270"/>
                <a:ext cx="787400" cy="527558"/>
              </a:xfrm>
              <a:prstGeom prst="wedgeEllipseCallout">
                <a:avLst/>
              </a:prstGeom>
              <a:solidFill>
                <a:srgbClr val="00B050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02" name="文本框 301"/>
            <p:cNvSpPr txBox="1"/>
            <p:nvPr/>
          </p:nvSpPr>
          <p:spPr>
            <a:xfrm>
              <a:off x="765092" y="10461471"/>
              <a:ext cx="603171" cy="617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1" b="1" dirty="0">
                  <a:solidFill>
                    <a:schemeClr val="bg1"/>
                  </a:solidFill>
                  <a:latin typeface="華康墨字體" panose="040B0900000000000000" pitchFamily="82" charset="-122"/>
                  <a:ea typeface="華康墨字體" panose="040B0900000000000000" pitchFamily="82" charset="-122"/>
                </a:rPr>
                <a:t>八</a:t>
              </a:r>
            </a:p>
          </p:txBody>
        </p:sp>
      </p:grpSp>
      <p:sp>
        <p:nvSpPr>
          <p:cNvPr id="306" name="圆角矩形 305"/>
          <p:cNvSpPr/>
          <p:nvPr/>
        </p:nvSpPr>
        <p:spPr>
          <a:xfrm>
            <a:off x="2146521" y="36058478"/>
            <a:ext cx="2070280" cy="4680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管家式服务</a:t>
            </a:r>
          </a:p>
        </p:txBody>
      </p:sp>
      <p:sp>
        <p:nvSpPr>
          <p:cNvPr id="307" name="圆角矩形 306"/>
          <p:cNvSpPr/>
          <p:nvPr/>
        </p:nvSpPr>
        <p:spPr>
          <a:xfrm>
            <a:off x="2146521" y="36571913"/>
            <a:ext cx="2070280" cy="4680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亲情式服务</a:t>
            </a:r>
          </a:p>
        </p:txBody>
      </p:sp>
      <p:sp>
        <p:nvSpPr>
          <p:cNvPr id="308" name="圆角矩形 307"/>
          <p:cNvSpPr/>
          <p:nvPr/>
        </p:nvSpPr>
        <p:spPr>
          <a:xfrm>
            <a:off x="2146521" y="37085349"/>
            <a:ext cx="2070280" cy="4680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顾问式服务</a:t>
            </a:r>
          </a:p>
        </p:txBody>
      </p:sp>
      <p:sp>
        <p:nvSpPr>
          <p:cNvPr id="309" name="圆角矩形 308"/>
          <p:cNvSpPr/>
          <p:nvPr/>
        </p:nvSpPr>
        <p:spPr>
          <a:xfrm>
            <a:off x="2146521" y="37598785"/>
            <a:ext cx="2070280" cy="4680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情境式服务</a:t>
            </a:r>
          </a:p>
        </p:txBody>
      </p:sp>
      <p:sp>
        <p:nvSpPr>
          <p:cNvPr id="310" name="圆角矩形 309"/>
          <p:cNvSpPr/>
          <p:nvPr/>
        </p:nvSpPr>
        <p:spPr>
          <a:xfrm>
            <a:off x="2146521" y="38112221"/>
            <a:ext cx="2070280" cy="4680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保姆式服务</a:t>
            </a:r>
          </a:p>
        </p:txBody>
      </p:sp>
      <p:sp>
        <p:nvSpPr>
          <p:cNvPr id="311" name="圆角矩形 310"/>
          <p:cNvSpPr/>
          <p:nvPr/>
        </p:nvSpPr>
        <p:spPr>
          <a:xfrm>
            <a:off x="2146521" y="38625658"/>
            <a:ext cx="2070280" cy="4680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 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优惠信息</a:t>
            </a:r>
          </a:p>
        </p:txBody>
      </p:sp>
      <p:sp>
        <p:nvSpPr>
          <p:cNvPr id="312" name="圆角矩形 311"/>
          <p:cNvSpPr/>
          <p:nvPr/>
        </p:nvSpPr>
        <p:spPr>
          <a:xfrm>
            <a:off x="2146521" y="39139094"/>
            <a:ext cx="2070280" cy="4680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 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信息增值服务</a:t>
            </a:r>
          </a:p>
        </p:txBody>
      </p:sp>
      <p:sp>
        <p:nvSpPr>
          <p:cNvPr id="313" name="圆角矩形 312"/>
          <p:cNvSpPr/>
          <p:nvPr/>
        </p:nvSpPr>
        <p:spPr>
          <a:xfrm>
            <a:off x="2146521" y="39652532"/>
            <a:ext cx="2070280" cy="4680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 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解答客户疑难</a:t>
            </a:r>
          </a:p>
        </p:txBody>
      </p:sp>
      <p:sp>
        <p:nvSpPr>
          <p:cNvPr id="314" name="矩形 313"/>
          <p:cNvSpPr/>
          <p:nvPr/>
        </p:nvSpPr>
        <p:spPr>
          <a:xfrm>
            <a:off x="4216801" y="36107813"/>
            <a:ext cx="26761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适用于规律性消费品类</a:t>
            </a:r>
          </a:p>
        </p:txBody>
      </p:sp>
      <p:sp>
        <p:nvSpPr>
          <p:cNvPr id="315" name="矩形 314"/>
          <p:cNvSpPr/>
          <p:nvPr/>
        </p:nvSpPr>
        <p:spPr>
          <a:xfrm>
            <a:off x="4216801" y="36621249"/>
            <a:ext cx="45378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让客户对产品和服务人员产生情感共鸣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6" name="矩形 315"/>
          <p:cNvSpPr/>
          <p:nvPr/>
        </p:nvSpPr>
        <p:spPr>
          <a:xfrm>
            <a:off x="4216801" y="37134684"/>
            <a:ext cx="45378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针对客户的实际问题，为客户提供方案</a:t>
            </a:r>
          </a:p>
        </p:txBody>
      </p:sp>
      <p:sp>
        <p:nvSpPr>
          <p:cNvPr id="317" name="矩形 316"/>
          <p:cNvSpPr/>
          <p:nvPr/>
        </p:nvSpPr>
        <p:spPr>
          <a:xfrm>
            <a:off x="4216802" y="37648119"/>
            <a:ext cx="43584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基于现实环境提供服务</a:t>
            </a:r>
          </a:p>
        </p:txBody>
      </p:sp>
      <p:sp>
        <p:nvSpPr>
          <p:cNvPr id="318" name="矩形 317"/>
          <p:cNvSpPr/>
          <p:nvPr/>
        </p:nvSpPr>
        <p:spPr>
          <a:xfrm>
            <a:off x="4216801" y="38161555"/>
            <a:ext cx="43396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贴心服务，不是直接销售，而是订购销售</a:t>
            </a:r>
            <a:endParaRPr lang="zh-CN" altLang="en-US" b="1" dirty="0"/>
          </a:p>
        </p:txBody>
      </p:sp>
      <p:sp>
        <p:nvSpPr>
          <p:cNvPr id="319" name="矩形 318"/>
          <p:cNvSpPr/>
          <p:nvPr/>
        </p:nvSpPr>
        <p:spPr>
          <a:xfrm>
            <a:off x="4216802" y="38674992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提供顾客某类商品更优惠的价格</a:t>
            </a:r>
          </a:p>
        </p:txBody>
      </p:sp>
      <p:sp>
        <p:nvSpPr>
          <p:cNvPr id="320" name="矩形 319"/>
          <p:cNvSpPr/>
          <p:nvPr/>
        </p:nvSpPr>
        <p:spPr>
          <a:xfrm>
            <a:off x="4216801" y="39188428"/>
            <a:ext cx="45378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分析用户特征针，进行市场细分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1" name="矩形 320"/>
          <p:cNvSpPr/>
          <p:nvPr/>
        </p:nvSpPr>
        <p:spPr>
          <a:xfrm>
            <a:off x="4216802" y="39701864"/>
            <a:ext cx="45342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解答商品给用户带来的价值</a:t>
            </a:r>
          </a:p>
        </p:txBody>
      </p:sp>
      <p:grpSp>
        <p:nvGrpSpPr>
          <p:cNvPr id="332" name="组合 331"/>
          <p:cNvGrpSpPr/>
          <p:nvPr/>
        </p:nvGrpSpPr>
        <p:grpSpPr>
          <a:xfrm>
            <a:off x="6074461" y="10697417"/>
            <a:ext cx="867944" cy="602126"/>
            <a:chOff x="494914" y="10448077"/>
            <a:chExt cx="1043600" cy="710702"/>
          </a:xfrm>
        </p:grpSpPr>
        <p:grpSp>
          <p:nvGrpSpPr>
            <p:cNvPr id="333" name="组合 332"/>
            <p:cNvGrpSpPr/>
            <p:nvPr/>
          </p:nvGrpSpPr>
          <p:grpSpPr>
            <a:xfrm>
              <a:off x="494914" y="10448077"/>
              <a:ext cx="1043600" cy="710702"/>
              <a:chOff x="1054100" y="1778000"/>
              <a:chExt cx="927100" cy="528828"/>
            </a:xfrm>
          </p:grpSpPr>
          <p:sp>
            <p:nvSpPr>
              <p:cNvPr id="335" name="椭圆形标注 334"/>
              <p:cNvSpPr/>
              <p:nvPr/>
            </p:nvSpPr>
            <p:spPr>
              <a:xfrm>
                <a:off x="1054100" y="1778000"/>
                <a:ext cx="762000" cy="510540"/>
              </a:xfrm>
              <a:prstGeom prst="wedgeEllipseCallou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36" name="椭圆形标注 335"/>
              <p:cNvSpPr/>
              <p:nvPr/>
            </p:nvSpPr>
            <p:spPr>
              <a:xfrm flipH="1">
                <a:off x="1193800" y="1779270"/>
                <a:ext cx="787400" cy="527558"/>
              </a:xfrm>
              <a:prstGeom prst="wedgeEllipseCallout">
                <a:avLst/>
              </a:prstGeom>
              <a:solidFill>
                <a:srgbClr val="00B050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34" name="文本框 333"/>
            <p:cNvSpPr txBox="1"/>
            <p:nvPr/>
          </p:nvSpPr>
          <p:spPr>
            <a:xfrm>
              <a:off x="765092" y="10461471"/>
              <a:ext cx="603171" cy="617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1" b="1" dirty="0">
                  <a:solidFill>
                    <a:schemeClr val="bg1"/>
                  </a:solidFill>
                  <a:latin typeface="華康墨字體" panose="040B0900000000000000" pitchFamily="82" charset="-122"/>
                  <a:ea typeface="華康墨字體" panose="040B0900000000000000" pitchFamily="82" charset="-122"/>
                </a:rPr>
                <a:t>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48311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onfetti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文本框 235"/>
          <p:cNvSpPr txBox="1"/>
          <p:nvPr/>
        </p:nvSpPr>
        <p:spPr>
          <a:xfrm>
            <a:off x="1567542" y="1293459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什么是微信服务号</a:t>
            </a:r>
          </a:p>
        </p:txBody>
      </p:sp>
      <p:sp>
        <p:nvSpPr>
          <p:cNvPr id="237" name="文本框 236"/>
          <p:cNvSpPr txBox="1"/>
          <p:nvPr/>
        </p:nvSpPr>
        <p:spPr>
          <a:xfrm>
            <a:off x="1567542" y="1919250"/>
            <a:ext cx="8348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ea typeface="微软雅黑" panose="020B0503020204020204" pitchFamily="34" charset="-122"/>
              </a:rPr>
              <a:t>主要是为客户提供服务，能为企业和组织提供更强大的业务服务与用户管理能力。</a:t>
            </a:r>
          </a:p>
        </p:txBody>
      </p:sp>
      <p:sp>
        <p:nvSpPr>
          <p:cNvPr id="238" name="文本框 237"/>
          <p:cNvSpPr txBox="1"/>
          <p:nvPr/>
        </p:nvSpPr>
        <p:spPr>
          <a:xfrm>
            <a:off x="1567542" y="3184926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微信服务号本质</a:t>
            </a:r>
          </a:p>
        </p:txBody>
      </p:sp>
      <p:sp>
        <p:nvSpPr>
          <p:cNvPr id="239" name="文本框 238"/>
          <p:cNvSpPr txBox="1"/>
          <p:nvPr/>
        </p:nvSpPr>
        <p:spPr>
          <a:xfrm>
            <a:off x="1567542" y="3869062"/>
            <a:ext cx="826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ea typeface="微软雅黑" panose="020B0503020204020204" pitchFamily="34" charset="-122"/>
              </a:rPr>
              <a:t>利用好微信服务号通过差别化、个性话的服务，营造具有自己特色的企业品牌。</a:t>
            </a:r>
          </a:p>
        </p:txBody>
      </p:sp>
      <p:grpSp>
        <p:nvGrpSpPr>
          <p:cNvPr id="245" name="组合 244"/>
          <p:cNvGrpSpPr/>
          <p:nvPr/>
        </p:nvGrpSpPr>
        <p:grpSpPr>
          <a:xfrm>
            <a:off x="1" y="70349"/>
            <a:ext cx="7073900" cy="584197"/>
            <a:chOff x="0" y="3486648"/>
            <a:chExt cx="7073900" cy="584197"/>
          </a:xfrm>
        </p:grpSpPr>
        <p:cxnSp>
          <p:nvCxnSpPr>
            <p:cNvPr id="276" name="直接连接符 275"/>
            <p:cNvCxnSpPr/>
            <p:nvPr/>
          </p:nvCxnSpPr>
          <p:spPr>
            <a:xfrm>
              <a:off x="0" y="3757497"/>
              <a:ext cx="707390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8" name="等腰三角形 297"/>
            <p:cNvSpPr/>
            <p:nvPr/>
          </p:nvSpPr>
          <p:spPr>
            <a:xfrm rot="10800000">
              <a:off x="6823711" y="3770282"/>
              <a:ext cx="241300" cy="208017"/>
            </a:xfrm>
            <a:prstGeom prst="triangl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05" name="矩形 304"/>
            <p:cNvSpPr/>
            <p:nvPr/>
          </p:nvSpPr>
          <p:spPr>
            <a:xfrm>
              <a:off x="0" y="3486648"/>
              <a:ext cx="522514" cy="202208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324" name="直接连接符 323"/>
            <p:cNvCxnSpPr/>
            <p:nvPr/>
          </p:nvCxnSpPr>
          <p:spPr>
            <a:xfrm>
              <a:off x="1567544" y="3847668"/>
              <a:ext cx="5392511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5" name="等腰三角形 324"/>
            <p:cNvSpPr/>
            <p:nvPr/>
          </p:nvSpPr>
          <p:spPr>
            <a:xfrm rot="10800000">
              <a:off x="1567541" y="3862828"/>
              <a:ext cx="241300" cy="208017"/>
            </a:xfrm>
            <a:prstGeom prst="triangl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8447416" y="4288531"/>
            <a:ext cx="1925523" cy="1938992"/>
            <a:chOff x="7808742" y="5007977"/>
            <a:chExt cx="1925523" cy="1938991"/>
          </a:xfrm>
        </p:grpSpPr>
        <p:sp>
          <p:nvSpPr>
            <p:cNvPr id="13" name="文本框 12"/>
            <p:cNvSpPr txBox="1"/>
            <p:nvPr/>
          </p:nvSpPr>
          <p:spPr>
            <a:xfrm rot="1319456">
              <a:off x="9044949" y="5633891"/>
              <a:ext cx="689316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6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行黑简体" panose="02000000000000000000" pitchFamily="2" charset="-122"/>
                  <a:ea typeface="方正行黑简体" panose="02000000000000000000" pitchFamily="2" charset="-122"/>
                </a:rPr>
                <a:t>？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8211866" y="5007977"/>
              <a:ext cx="689316" cy="1938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行黑简体" panose="02000000000000000000" pitchFamily="2" charset="-122"/>
                  <a:ea typeface="方正行黑简体" panose="02000000000000000000" pitchFamily="2" charset="-122"/>
                </a:rPr>
                <a:t>？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 rot="20201952">
              <a:off x="7808742" y="5749612"/>
              <a:ext cx="68931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行黑简体" panose="02000000000000000000" pitchFamily="2" charset="-122"/>
                  <a:ea typeface="方正行黑简体" panose="02000000000000000000" pitchFamily="2" charset="-122"/>
                </a:rPr>
                <a:t>？</a:t>
              </a: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2082800" y="5074502"/>
            <a:ext cx="629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企业为什么要用微信服务号</a:t>
            </a:r>
          </a:p>
        </p:txBody>
      </p:sp>
      <p:cxnSp>
        <p:nvCxnSpPr>
          <p:cNvPr id="17" name="直接连接符 16"/>
          <p:cNvCxnSpPr/>
          <p:nvPr/>
        </p:nvCxnSpPr>
        <p:spPr>
          <a:xfrm>
            <a:off x="2024289" y="5807643"/>
            <a:ext cx="6480000" cy="0"/>
          </a:xfrm>
          <a:prstGeom prst="line">
            <a:avLst/>
          </a:prstGeom>
          <a:ln w="19050">
            <a:solidFill>
              <a:srgbClr val="00B05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2024289" y="5074498"/>
            <a:ext cx="6480000" cy="0"/>
          </a:xfrm>
          <a:prstGeom prst="line">
            <a:avLst/>
          </a:prstGeom>
          <a:ln w="19050">
            <a:solidFill>
              <a:srgbClr val="00B05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2382197" y="5074502"/>
            <a:ext cx="0" cy="73314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8142927" y="5074499"/>
            <a:ext cx="0" cy="73314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>
            <a:off x="0" y="5426692"/>
            <a:ext cx="2382198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>
            <a:off x="8142927" y="5426693"/>
            <a:ext cx="2547296" cy="14378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3680218" y="6324199"/>
            <a:ext cx="31566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为企业创造       大价值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966682" y="7162908"/>
            <a:ext cx="5693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>
                <a:solidFill>
                  <a:srgbClr val="00B05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endParaRPr lang="zh-CN" altLang="en-US" sz="5400" b="1" dirty="0">
              <a:solidFill>
                <a:srgbClr val="00B05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412340" y="7573176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ea typeface="微软雅黑" panose="020B0503020204020204" pitchFamily="34" charset="-122"/>
              </a:rPr>
              <a:t>增加收入，节约成本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4397672" y="7162908"/>
            <a:ext cx="5693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5400" b="1">
                <a:solidFill>
                  <a:srgbClr val="00B05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1" name="文本框 30"/>
          <p:cNvSpPr txBox="1"/>
          <p:nvPr/>
        </p:nvSpPr>
        <p:spPr>
          <a:xfrm>
            <a:off x="4873201" y="7597065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ea typeface="微软雅黑" panose="020B0503020204020204" pitchFamily="34" charset="-122"/>
              </a:rPr>
              <a:t>快速有效的收集信息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7982149" y="7162908"/>
            <a:ext cx="5693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5400" b="1">
                <a:solidFill>
                  <a:srgbClr val="00B05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8435362" y="759706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ea typeface="微软雅黑" panose="020B0503020204020204" pitchFamily="34" charset="-122"/>
              </a:rPr>
              <a:t>客户管理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966682" y="8253311"/>
            <a:ext cx="5693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5400" b="1">
                <a:solidFill>
                  <a:srgbClr val="00B05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1412340" y="8618283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ea typeface="微软雅黑" panose="020B0503020204020204" pitchFamily="34" charset="-122"/>
              </a:rPr>
              <a:t>形象效应和口碑效应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4397672" y="8253311"/>
            <a:ext cx="5693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5400" b="1">
                <a:solidFill>
                  <a:srgbClr val="00B05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37" name="文本框 36"/>
          <p:cNvSpPr txBox="1"/>
          <p:nvPr/>
        </p:nvSpPr>
        <p:spPr>
          <a:xfrm>
            <a:off x="4873201" y="8618283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ea typeface="微软雅黑" panose="020B0503020204020204" pitchFamily="34" charset="-122"/>
              </a:rPr>
              <a:t>增强企业核心竞争力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7982149" y="8253311"/>
            <a:ext cx="5693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5400" b="1">
                <a:solidFill>
                  <a:srgbClr val="00B05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39" name="文本框 38"/>
          <p:cNvSpPr txBox="1"/>
          <p:nvPr/>
        </p:nvSpPr>
        <p:spPr>
          <a:xfrm>
            <a:off x="8461121" y="8618283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ea typeface="微软雅黑" panose="020B0503020204020204" pitchFamily="34" charset="-122"/>
              </a:rPr>
              <a:t>客户和企业双赢</a:t>
            </a:r>
          </a:p>
        </p:txBody>
      </p:sp>
      <p:grpSp>
        <p:nvGrpSpPr>
          <p:cNvPr id="43" name="组合 42"/>
          <p:cNvGrpSpPr/>
          <p:nvPr/>
        </p:nvGrpSpPr>
        <p:grpSpPr>
          <a:xfrm>
            <a:off x="5085535" y="6223205"/>
            <a:ext cx="867944" cy="602126"/>
            <a:chOff x="494914" y="10448077"/>
            <a:chExt cx="1043600" cy="710702"/>
          </a:xfrm>
        </p:grpSpPr>
        <p:grpSp>
          <p:nvGrpSpPr>
            <p:cNvPr id="44" name="组合 43"/>
            <p:cNvGrpSpPr/>
            <p:nvPr/>
          </p:nvGrpSpPr>
          <p:grpSpPr>
            <a:xfrm>
              <a:off x="494914" y="10448077"/>
              <a:ext cx="1043600" cy="710702"/>
              <a:chOff x="1054100" y="1778000"/>
              <a:chExt cx="927100" cy="528828"/>
            </a:xfrm>
          </p:grpSpPr>
          <p:sp>
            <p:nvSpPr>
              <p:cNvPr id="46" name="椭圆形标注 45"/>
              <p:cNvSpPr/>
              <p:nvPr/>
            </p:nvSpPr>
            <p:spPr>
              <a:xfrm>
                <a:off x="1054100" y="1778000"/>
                <a:ext cx="762000" cy="510540"/>
              </a:xfrm>
              <a:prstGeom prst="wedgeEllipseCallou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椭圆形标注 46"/>
              <p:cNvSpPr/>
              <p:nvPr/>
            </p:nvSpPr>
            <p:spPr>
              <a:xfrm flipH="1">
                <a:off x="1193800" y="1779270"/>
                <a:ext cx="787400" cy="527558"/>
              </a:xfrm>
              <a:prstGeom prst="wedgeEllipseCallout">
                <a:avLst/>
              </a:prstGeom>
              <a:solidFill>
                <a:srgbClr val="00B050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5" name="文本框 44"/>
            <p:cNvSpPr txBox="1"/>
            <p:nvPr/>
          </p:nvSpPr>
          <p:spPr>
            <a:xfrm>
              <a:off x="765092" y="10461471"/>
              <a:ext cx="603171" cy="617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1" b="1" dirty="0">
                  <a:solidFill>
                    <a:schemeClr val="bg1"/>
                  </a:solidFill>
                  <a:latin typeface="華康墨字體" panose="040B0900000000000000" pitchFamily="82" charset="-122"/>
                  <a:ea typeface="華康墨字體" panose="040B0900000000000000" pitchFamily="82" charset="-122"/>
                </a:rPr>
                <a:t>六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214602" y="10486729"/>
            <a:ext cx="10394432" cy="3966450"/>
            <a:chOff x="214602" y="10820560"/>
            <a:chExt cx="10394432" cy="3966450"/>
          </a:xfrm>
        </p:grpSpPr>
        <p:sp>
          <p:nvSpPr>
            <p:cNvPr id="50" name="圆角矩形 49"/>
            <p:cNvSpPr/>
            <p:nvPr/>
          </p:nvSpPr>
          <p:spPr>
            <a:xfrm>
              <a:off x="254003" y="10820560"/>
              <a:ext cx="1785257" cy="504000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1.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公共客服</a:t>
              </a:r>
            </a:p>
          </p:txBody>
        </p:sp>
        <p:sp>
          <p:nvSpPr>
            <p:cNvPr id="51" name="圆角矩形 50"/>
            <p:cNvSpPr/>
            <p:nvPr/>
          </p:nvSpPr>
          <p:spPr>
            <a:xfrm>
              <a:off x="3000879" y="10821823"/>
              <a:ext cx="1865480" cy="504000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活动互动平台</a:t>
              </a:r>
            </a:p>
          </p:txBody>
        </p:sp>
        <p:sp>
          <p:nvSpPr>
            <p:cNvPr id="52" name="圆角矩形 51"/>
            <p:cNvSpPr/>
            <p:nvPr/>
          </p:nvSpPr>
          <p:spPr>
            <a:xfrm>
              <a:off x="5827981" y="10823086"/>
              <a:ext cx="1821905" cy="504000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3.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客户自助服务</a:t>
              </a:r>
            </a:p>
          </p:txBody>
        </p:sp>
        <p:sp>
          <p:nvSpPr>
            <p:cNvPr id="53" name="圆角矩形 52"/>
            <p:cNvSpPr/>
            <p:nvPr/>
          </p:nvSpPr>
          <p:spPr>
            <a:xfrm>
              <a:off x="8611506" y="10824347"/>
              <a:ext cx="1840595" cy="504000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4.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基本受理业务</a:t>
              </a:r>
            </a:p>
          </p:txBody>
        </p:sp>
        <p:sp>
          <p:nvSpPr>
            <p:cNvPr id="54" name="圆角矩形 53"/>
            <p:cNvSpPr/>
            <p:nvPr/>
          </p:nvSpPr>
          <p:spPr>
            <a:xfrm>
              <a:off x="954313" y="12222450"/>
              <a:ext cx="1726918" cy="504000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5.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增值类业务</a:t>
              </a:r>
            </a:p>
          </p:txBody>
        </p:sp>
        <p:sp>
          <p:nvSpPr>
            <p:cNvPr id="55" name="圆角矩形 54"/>
            <p:cNvSpPr/>
            <p:nvPr/>
          </p:nvSpPr>
          <p:spPr>
            <a:xfrm>
              <a:off x="4095919" y="12222450"/>
              <a:ext cx="2088982" cy="504000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6.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市场调研及关怀</a:t>
              </a:r>
            </a:p>
          </p:txBody>
        </p:sp>
        <p:sp>
          <p:nvSpPr>
            <p:cNvPr id="56" name="圆角矩形 55"/>
            <p:cNvSpPr/>
            <p:nvPr/>
          </p:nvSpPr>
          <p:spPr>
            <a:xfrm>
              <a:off x="7418953" y="12222450"/>
              <a:ext cx="2082297" cy="504000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7.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智能的人机对话</a:t>
              </a:r>
            </a:p>
          </p:txBody>
        </p:sp>
        <p:sp>
          <p:nvSpPr>
            <p:cNvPr id="57" name="圆角矩形 56"/>
            <p:cNvSpPr/>
            <p:nvPr/>
          </p:nvSpPr>
          <p:spPr>
            <a:xfrm>
              <a:off x="2180638" y="13661725"/>
              <a:ext cx="2505662" cy="504000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8.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客户服务与企业同步</a:t>
              </a:r>
            </a:p>
          </p:txBody>
        </p:sp>
        <p:sp>
          <p:nvSpPr>
            <p:cNvPr id="58" name="圆角矩形 57"/>
            <p:cNvSpPr/>
            <p:nvPr/>
          </p:nvSpPr>
          <p:spPr>
            <a:xfrm>
              <a:off x="5842001" y="13661725"/>
              <a:ext cx="2085822" cy="504000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9.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特色的人工服务</a:t>
              </a:r>
            </a:p>
          </p:txBody>
        </p:sp>
        <p:sp>
          <p:nvSpPr>
            <p:cNvPr id="59" name="矩形 58"/>
            <p:cNvSpPr/>
            <p:nvPr/>
          </p:nvSpPr>
          <p:spPr>
            <a:xfrm>
              <a:off x="214602" y="11369834"/>
              <a:ext cx="1970403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降低咨询带来的服务或成本</a:t>
              </a:r>
            </a:p>
          </p:txBody>
        </p:sp>
        <p:sp>
          <p:nvSpPr>
            <p:cNvPr id="60" name="矩形 59"/>
            <p:cNvSpPr/>
            <p:nvPr/>
          </p:nvSpPr>
          <p:spPr>
            <a:xfrm>
              <a:off x="3213867" y="11369833"/>
              <a:ext cx="141577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拓展有效用户</a:t>
              </a:r>
            </a:p>
          </p:txBody>
        </p:sp>
        <p:sp>
          <p:nvSpPr>
            <p:cNvPr id="61" name="矩形 60"/>
            <p:cNvSpPr/>
            <p:nvPr/>
          </p:nvSpPr>
          <p:spPr>
            <a:xfrm>
              <a:off x="5848045" y="11369833"/>
              <a:ext cx="182614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自助缴费、充值等</a:t>
              </a: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8549004" y="11369834"/>
              <a:ext cx="206003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投诉建议，产品维修、预约服务等</a:t>
              </a: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776797" y="12769099"/>
              <a:ext cx="207357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拓展信息服务，转电邮、企业秘书台等</a:t>
              </a: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3964684" y="12769100"/>
              <a:ext cx="234721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提供市场调研，节假日问候等</a:t>
              </a: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7355452" y="12769100"/>
              <a:ext cx="229325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NFC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支持，实现只能人工对话</a:t>
              </a: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2180638" y="14202235"/>
              <a:ext cx="250566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针对客户促销提醒，消费后回访等</a:t>
              </a: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5766656" y="14202235"/>
              <a:ext cx="229325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设定人工语音音色，如机器猫，小新等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423736" y="9422045"/>
            <a:ext cx="3413114" cy="602126"/>
            <a:chOff x="3423736" y="9334961"/>
            <a:chExt cx="3413114" cy="602126"/>
          </a:xfrm>
        </p:grpSpPr>
        <p:sp>
          <p:nvSpPr>
            <p:cNvPr id="49" name="文本框 48"/>
            <p:cNvSpPr txBox="1"/>
            <p:nvPr/>
          </p:nvSpPr>
          <p:spPr>
            <a:xfrm>
              <a:off x="3423736" y="9417487"/>
              <a:ext cx="34131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>
                  <a:latin typeface="华康俪金黑W8" panose="020B0809000000000000" pitchFamily="49" charset="-122"/>
                  <a:ea typeface="华康俪金黑W8" panose="020B0809000000000000" pitchFamily="49" charset="-122"/>
                </a:defRPr>
              </a:lvl1pPr>
            </a:lstStyle>
            <a:p>
              <a:r>
                <a:rPr lang="zh-CN" altLang="en-US" sz="2000" dirty="0"/>
                <a:t>微信服务号的       大应用</a:t>
              </a:r>
            </a:p>
          </p:txBody>
        </p:sp>
        <p:grpSp>
          <p:nvGrpSpPr>
            <p:cNvPr id="68" name="组合 67"/>
            <p:cNvGrpSpPr/>
            <p:nvPr/>
          </p:nvGrpSpPr>
          <p:grpSpPr>
            <a:xfrm>
              <a:off x="5085535" y="9334961"/>
              <a:ext cx="867944" cy="602126"/>
              <a:chOff x="494914" y="10448077"/>
              <a:chExt cx="1043600" cy="710702"/>
            </a:xfrm>
          </p:grpSpPr>
          <p:grpSp>
            <p:nvGrpSpPr>
              <p:cNvPr id="69" name="组合 68"/>
              <p:cNvGrpSpPr/>
              <p:nvPr/>
            </p:nvGrpSpPr>
            <p:grpSpPr>
              <a:xfrm>
                <a:off x="494914" y="10448077"/>
                <a:ext cx="1043600" cy="710702"/>
                <a:chOff x="1054100" y="1778000"/>
                <a:chExt cx="927100" cy="528828"/>
              </a:xfrm>
            </p:grpSpPr>
            <p:sp>
              <p:nvSpPr>
                <p:cNvPr id="71" name="椭圆形标注 70"/>
                <p:cNvSpPr/>
                <p:nvPr/>
              </p:nvSpPr>
              <p:spPr>
                <a:xfrm>
                  <a:off x="1054100" y="1778000"/>
                  <a:ext cx="762000" cy="510540"/>
                </a:xfrm>
                <a:prstGeom prst="wedgeEllipseCallou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2" name="椭圆形标注 71"/>
                <p:cNvSpPr/>
                <p:nvPr/>
              </p:nvSpPr>
              <p:spPr>
                <a:xfrm flipH="1">
                  <a:off x="1193800" y="1779270"/>
                  <a:ext cx="787400" cy="527558"/>
                </a:xfrm>
                <a:prstGeom prst="wedgeEllipseCallout">
                  <a:avLst/>
                </a:prstGeom>
                <a:solidFill>
                  <a:srgbClr val="00B050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70" name="文本框 69"/>
              <p:cNvSpPr txBox="1"/>
              <p:nvPr/>
            </p:nvSpPr>
            <p:spPr>
              <a:xfrm>
                <a:off x="765092" y="10461471"/>
                <a:ext cx="603171" cy="6177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1" b="1" dirty="0">
                    <a:solidFill>
                      <a:schemeClr val="bg1"/>
                    </a:solidFill>
                    <a:latin typeface="華康墨字體" panose="040B0900000000000000" pitchFamily="82" charset="-122"/>
                    <a:ea typeface="華康墨字體" panose="040B0900000000000000" pitchFamily="82" charset="-122"/>
                  </a:rPr>
                  <a:t>九</a:t>
                </a:r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2427463" y="14870808"/>
            <a:ext cx="4439036" cy="602125"/>
            <a:chOff x="2427463" y="15436866"/>
            <a:chExt cx="4439036" cy="602125"/>
          </a:xfrm>
        </p:grpSpPr>
        <p:sp>
          <p:nvSpPr>
            <p:cNvPr id="74" name="文本框 73"/>
            <p:cNvSpPr txBox="1"/>
            <p:nvPr/>
          </p:nvSpPr>
          <p:spPr>
            <a:xfrm>
              <a:off x="2427463" y="15545921"/>
              <a:ext cx="44390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微信服务号提供服务的       种方式</a:t>
              </a:r>
            </a:p>
          </p:txBody>
        </p:sp>
        <p:grpSp>
          <p:nvGrpSpPr>
            <p:cNvPr id="97" name="组合 96"/>
            <p:cNvGrpSpPr/>
            <p:nvPr/>
          </p:nvGrpSpPr>
          <p:grpSpPr>
            <a:xfrm>
              <a:off x="5085535" y="15436866"/>
              <a:ext cx="867944" cy="602125"/>
              <a:chOff x="1054100" y="1778000"/>
              <a:chExt cx="927100" cy="528828"/>
            </a:xfrm>
          </p:grpSpPr>
          <p:sp>
            <p:nvSpPr>
              <p:cNvPr id="99" name="椭圆形标注 98"/>
              <p:cNvSpPr/>
              <p:nvPr/>
            </p:nvSpPr>
            <p:spPr>
              <a:xfrm>
                <a:off x="1054100" y="1778000"/>
                <a:ext cx="762000" cy="510540"/>
              </a:xfrm>
              <a:prstGeom prst="wedgeEllipseCallou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" name="椭圆形标注 99"/>
              <p:cNvSpPr/>
              <p:nvPr/>
            </p:nvSpPr>
            <p:spPr>
              <a:xfrm flipH="1">
                <a:off x="1193800" y="1779270"/>
                <a:ext cx="787400" cy="527558"/>
              </a:xfrm>
              <a:prstGeom prst="wedgeEllipseCallout">
                <a:avLst/>
              </a:prstGeom>
              <a:solidFill>
                <a:srgbClr val="00B050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98" name="文本框 97"/>
            <p:cNvSpPr txBox="1"/>
            <p:nvPr/>
          </p:nvSpPr>
          <p:spPr>
            <a:xfrm>
              <a:off x="5136068" y="15448213"/>
              <a:ext cx="1048833" cy="5233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1" b="1" dirty="0">
                  <a:solidFill>
                    <a:schemeClr val="bg1"/>
                  </a:solidFill>
                  <a:latin typeface="華康墨字體" panose="040B0900000000000000" pitchFamily="82" charset="-122"/>
                  <a:ea typeface="華康墨字體" panose="040B0900000000000000" pitchFamily="82" charset="-122"/>
                </a:rPr>
                <a:t>十二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545548" y="15790662"/>
            <a:ext cx="8101364" cy="10573480"/>
            <a:chOff x="2612348" y="15790662"/>
            <a:chExt cx="8101364" cy="10573480"/>
          </a:xfrm>
        </p:grpSpPr>
        <p:sp>
          <p:nvSpPr>
            <p:cNvPr id="75" name="文本框 74"/>
            <p:cNvSpPr txBox="1"/>
            <p:nvPr/>
          </p:nvSpPr>
          <p:spPr>
            <a:xfrm>
              <a:off x="3171260" y="15881766"/>
              <a:ext cx="26199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ea typeface="微软雅黑" panose="020B0503020204020204" pitchFamily="34" charset="-122"/>
                </a:rPr>
                <a:t>全新的售后服务模式</a:t>
              </a:r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3171258" y="16795318"/>
              <a:ext cx="26199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ea typeface="微软雅黑" panose="020B0503020204020204" pitchFamily="34" charset="-122"/>
                </a:rPr>
                <a:t>售前服务</a:t>
              </a: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3171260" y="17694356"/>
              <a:ext cx="26199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ea typeface="微软雅黑" panose="020B0503020204020204" pitchFamily="34" charset="-122"/>
                </a:rPr>
                <a:t>微信自助服务</a:t>
              </a:r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3171261" y="18578881"/>
              <a:ext cx="26199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ea typeface="微软雅黑" panose="020B0503020204020204" pitchFamily="34" charset="-122"/>
                </a:rPr>
                <a:t>智能微信服务平台</a:t>
              </a:r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3171261" y="19463404"/>
              <a:ext cx="26199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ea typeface="微软雅黑" panose="020B0503020204020204" pitchFamily="34" charset="-122"/>
                </a:rPr>
                <a:t>自定义个性化服务</a:t>
              </a:r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3171260" y="20347926"/>
              <a:ext cx="26199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ea typeface="微软雅黑" panose="020B0503020204020204" pitchFamily="34" charset="-122"/>
                </a:rPr>
                <a:t>纯粹服务渠道</a:t>
              </a:r>
            </a:p>
          </p:txBody>
        </p:sp>
        <p:sp>
          <p:nvSpPr>
            <p:cNvPr id="81" name="椭圆 80"/>
            <p:cNvSpPr/>
            <p:nvPr/>
          </p:nvSpPr>
          <p:spPr>
            <a:xfrm>
              <a:off x="2612348" y="15790662"/>
              <a:ext cx="551543" cy="551543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" name="椭圆 81"/>
            <p:cNvSpPr/>
            <p:nvPr/>
          </p:nvSpPr>
          <p:spPr>
            <a:xfrm>
              <a:off x="2612348" y="16703571"/>
              <a:ext cx="551543" cy="551543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椭圆 82"/>
            <p:cNvSpPr/>
            <p:nvPr/>
          </p:nvSpPr>
          <p:spPr>
            <a:xfrm>
              <a:off x="2612348" y="17601967"/>
              <a:ext cx="551543" cy="551543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椭圆 83"/>
            <p:cNvSpPr/>
            <p:nvPr/>
          </p:nvSpPr>
          <p:spPr>
            <a:xfrm>
              <a:off x="2612348" y="18485849"/>
              <a:ext cx="551543" cy="551543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椭圆 84"/>
            <p:cNvSpPr/>
            <p:nvPr/>
          </p:nvSpPr>
          <p:spPr>
            <a:xfrm>
              <a:off x="2612348" y="19369731"/>
              <a:ext cx="551543" cy="551543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椭圆 85"/>
            <p:cNvSpPr/>
            <p:nvPr/>
          </p:nvSpPr>
          <p:spPr>
            <a:xfrm>
              <a:off x="2612348" y="20253612"/>
              <a:ext cx="551543" cy="551543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3163892" y="16281360"/>
              <a:ext cx="64171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微信将多业务流程融合其中，无论是语音或视频都能解决问题</a:t>
              </a:r>
            </a:p>
          </p:txBody>
        </p:sp>
        <p:sp>
          <p:nvSpPr>
            <p:cNvPr id="88" name="文本框 87"/>
            <p:cNvSpPr txBox="1"/>
            <p:nvPr/>
          </p:nvSpPr>
          <p:spPr>
            <a:xfrm>
              <a:off x="3171259" y="17177723"/>
              <a:ext cx="31854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通过微信预约时间，上门服务</a:t>
              </a:r>
            </a:p>
          </p:txBody>
        </p:sp>
        <p:sp>
          <p:nvSpPr>
            <p:cNvPr id="89" name="文本框 88"/>
            <p:cNvSpPr txBox="1"/>
            <p:nvPr/>
          </p:nvSpPr>
          <p:spPr>
            <a:xfrm>
              <a:off x="3171258" y="18066426"/>
              <a:ext cx="38779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通过微信快捷查询，如航班、快递等</a:t>
              </a:r>
            </a:p>
          </p:txBody>
        </p:sp>
        <p:sp>
          <p:nvSpPr>
            <p:cNvPr id="90" name="文本框 89"/>
            <p:cNvSpPr txBox="1"/>
            <p:nvPr/>
          </p:nvSpPr>
          <p:spPr>
            <a:xfrm>
              <a:off x="3163890" y="18976971"/>
              <a:ext cx="45704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利用先进的技术为客户提供良好的用户体验</a:t>
              </a:r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3163890" y="19853593"/>
              <a:ext cx="5724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通过自定义接口向用户提高订餐饮，订酒店等个性服务</a:t>
              </a:r>
            </a:p>
          </p:txBody>
        </p:sp>
        <p:sp>
          <p:nvSpPr>
            <p:cNvPr id="92" name="文本框 91"/>
            <p:cNvSpPr txBox="1"/>
            <p:nvPr/>
          </p:nvSpPr>
          <p:spPr>
            <a:xfrm>
              <a:off x="3163891" y="20683650"/>
              <a:ext cx="61863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利用微信即使交流平台的快捷性，为客户提供高效快捷服务</a:t>
              </a:r>
            </a:p>
          </p:txBody>
        </p:sp>
        <p:sp>
          <p:nvSpPr>
            <p:cNvPr id="101" name="文本框 100"/>
            <p:cNvSpPr txBox="1"/>
            <p:nvPr/>
          </p:nvSpPr>
          <p:spPr>
            <a:xfrm>
              <a:off x="3163890" y="21178654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ea typeface="微软雅黑" panose="020B0503020204020204" pitchFamily="34" charset="-122"/>
                </a:rPr>
                <a:t>客服渠道</a:t>
              </a:r>
            </a:p>
          </p:txBody>
        </p:sp>
        <p:sp>
          <p:nvSpPr>
            <p:cNvPr id="102" name="文本框 101"/>
            <p:cNvSpPr txBox="1"/>
            <p:nvPr/>
          </p:nvSpPr>
          <p:spPr>
            <a:xfrm>
              <a:off x="3163890" y="22119463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ea typeface="微软雅黑" panose="020B0503020204020204" pitchFamily="34" charset="-122"/>
                </a:rPr>
                <a:t>更多增值服务</a:t>
              </a:r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3163891" y="23003345"/>
              <a:ext cx="29546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ea typeface="微软雅黑" panose="020B0503020204020204" pitchFamily="34" charset="-122"/>
                </a:rPr>
                <a:t>互动问答及全流程微信服务</a:t>
              </a:r>
            </a:p>
          </p:txBody>
        </p:sp>
        <p:sp>
          <p:nvSpPr>
            <p:cNvPr id="104" name="文本框 103"/>
            <p:cNvSpPr txBox="1"/>
            <p:nvPr/>
          </p:nvSpPr>
          <p:spPr>
            <a:xfrm>
              <a:off x="3163890" y="23855203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ea typeface="微软雅黑" panose="020B0503020204020204" pitchFamily="34" charset="-122"/>
                </a:rPr>
                <a:t>视觉搜索服务</a:t>
              </a:r>
            </a:p>
          </p:txBody>
        </p:sp>
        <p:sp>
          <p:nvSpPr>
            <p:cNvPr id="105" name="文本框 104"/>
            <p:cNvSpPr txBox="1"/>
            <p:nvPr/>
          </p:nvSpPr>
          <p:spPr>
            <a:xfrm>
              <a:off x="3163890" y="24771108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ea typeface="微软雅黑" panose="020B0503020204020204" pitchFamily="34" charset="-122"/>
                </a:rPr>
                <a:t>语音服务</a:t>
              </a:r>
            </a:p>
          </p:txBody>
        </p:sp>
        <p:sp>
          <p:nvSpPr>
            <p:cNvPr id="106" name="文本框 105"/>
            <p:cNvSpPr txBox="1"/>
            <p:nvPr/>
          </p:nvSpPr>
          <p:spPr>
            <a:xfrm>
              <a:off x="3163891" y="25627933"/>
              <a:ext cx="18004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ea typeface="微软雅黑" panose="020B0503020204020204" pitchFamily="34" charset="-122"/>
                </a:rPr>
                <a:t>微生活会员服务</a:t>
              </a:r>
            </a:p>
          </p:txBody>
        </p:sp>
        <p:sp>
          <p:nvSpPr>
            <p:cNvPr id="107" name="椭圆 106"/>
            <p:cNvSpPr/>
            <p:nvPr/>
          </p:nvSpPr>
          <p:spPr>
            <a:xfrm>
              <a:off x="2612348" y="21117420"/>
              <a:ext cx="551543" cy="551543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椭圆 107"/>
            <p:cNvSpPr/>
            <p:nvPr/>
          </p:nvSpPr>
          <p:spPr>
            <a:xfrm>
              <a:off x="2612348" y="22001301"/>
              <a:ext cx="551543" cy="551543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椭圆 108"/>
            <p:cNvSpPr/>
            <p:nvPr/>
          </p:nvSpPr>
          <p:spPr>
            <a:xfrm>
              <a:off x="2612348" y="22885183"/>
              <a:ext cx="551543" cy="551543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椭圆 109"/>
            <p:cNvSpPr/>
            <p:nvPr/>
          </p:nvSpPr>
          <p:spPr>
            <a:xfrm>
              <a:off x="2612348" y="23769065"/>
              <a:ext cx="551543" cy="551543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  <a:endParaRPr lang="zh-CN" altLang="en-US" sz="2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椭圆 110"/>
            <p:cNvSpPr/>
            <p:nvPr/>
          </p:nvSpPr>
          <p:spPr>
            <a:xfrm>
              <a:off x="2612348" y="24652947"/>
              <a:ext cx="551543" cy="551543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  <a:endParaRPr lang="zh-CN" altLang="en-US" sz="2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椭圆 111"/>
            <p:cNvSpPr/>
            <p:nvPr/>
          </p:nvSpPr>
          <p:spPr>
            <a:xfrm>
              <a:off x="2612348" y="25536828"/>
              <a:ext cx="551543" cy="551543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  <a:endParaRPr lang="zh-CN" altLang="en-US" sz="2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文本框 112"/>
            <p:cNvSpPr txBox="1"/>
            <p:nvPr/>
          </p:nvSpPr>
          <p:spPr>
            <a:xfrm>
              <a:off x="3142410" y="21566521"/>
              <a:ext cx="73404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通过关注企业服务号，了解热点活动信息、常见问题解答、在线帮助等</a:t>
              </a:r>
            </a:p>
          </p:txBody>
        </p:sp>
        <p:sp>
          <p:nvSpPr>
            <p:cNvPr id="114" name="文本框 113"/>
            <p:cNvSpPr txBox="1"/>
            <p:nvPr/>
          </p:nvSpPr>
          <p:spPr>
            <a:xfrm>
              <a:off x="3142410" y="22502322"/>
              <a:ext cx="3416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为客户提供个性化，专享化服务</a:t>
              </a:r>
            </a:p>
          </p:txBody>
        </p:sp>
        <p:sp>
          <p:nvSpPr>
            <p:cNvPr id="115" name="文本框 114"/>
            <p:cNvSpPr txBox="1"/>
            <p:nvPr/>
          </p:nvSpPr>
          <p:spPr>
            <a:xfrm>
              <a:off x="3142410" y="23381715"/>
              <a:ext cx="61863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自助服务与人工服务平滑过度，对用户拟人化方式进行互动</a:t>
              </a:r>
            </a:p>
          </p:txBody>
        </p:sp>
        <p:sp>
          <p:nvSpPr>
            <p:cNvPr id="116" name="文本框 115"/>
            <p:cNvSpPr txBox="1"/>
            <p:nvPr/>
          </p:nvSpPr>
          <p:spPr>
            <a:xfrm>
              <a:off x="3142410" y="24238061"/>
              <a:ext cx="5131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依靠视觉搜索服务企业，图书、海报、</a:t>
              </a: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CD</a:t>
              </a:r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等搜索</a:t>
              </a:r>
            </a:p>
          </p:txBody>
        </p:sp>
        <p:sp>
          <p:nvSpPr>
            <p:cNvPr id="117" name="文本框 116"/>
            <p:cNvSpPr txBox="1"/>
            <p:nvPr/>
          </p:nvSpPr>
          <p:spPr>
            <a:xfrm>
              <a:off x="3142409" y="25994810"/>
              <a:ext cx="75713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通过关注公众帐号，获取会员资格，得到会员特权，如折扣、现金卷等。</a:t>
              </a:r>
            </a:p>
          </p:txBody>
        </p:sp>
        <p:sp>
          <p:nvSpPr>
            <p:cNvPr id="118" name="文本框 117"/>
            <p:cNvSpPr txBox="1"/>
            <p:nvPr/>
          </p:nvSpPr>
          <p:spPr>
            <a:xfrm>
              <a:off x="3142408" y="25115415"/>
              <a:ext cx="48013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使用微信对讲功能，微信平台对指令做出响应</a:t>
              </a:r>
            </a:p>
          </p:txBody>
        </p:sp>
      </p:grpSp>
      <p:sp>
        <p:nvSpPr>
          <p:cNvPr id="121" name="文本框 120"/>
          <p:cNvSpPr txBox="1"/>
          <p:nvPr/>
        </p:nvSpPr>
        <p:spPr>
          <a:xfrm>
            <a:off x="3184177" y="26771776"/>
            <a:ext cx="4260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方正行黑简体" panose="02000000000000000000" pitchFamily="2" charset="-122"/>
                <a:ea typeface="方正行黑简体" panose="02000000000000000000" pitchFamily="2" charset="-122"/>
              </a:rPr>
              <a:t>一张图看懂微信，你看懂了吗？</a:t>
            </a:r>
          </a:p>
        </p:txBody>
      </p:sp>
      <p:sp>
        <p:nvSpPr>
          <p:cNvPr id="122" name="文本框 121"/>
          <p:cNvSpPr txBox="1"/>
          <p:nvPr/>
        </p:nvSpPr>
        <p:spPr>
          <a:xfrm>
            <a:off x="3372748" y="27404398"/>
            <a:ext cx="3944729" cy="200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5000"/>
              </a:lnSpc>
            </a:pPr>
            <a:r>
              <a:rPr lang="zh-CN" altLang="en-US" sz="28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更多精彩尽在</a:t>
            </a:r>
            <a:endParaRPr lang="en-US" altLang="zh-CN" sz="2800" dirty="0"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  <a:p>
            <a:pPr algn="r">
              <a:lnSpc>
                <a:spcPct val="135000"/>
              </a:lnSpc>
            </a:pPr>
            <a:r>
              <a:rPr lang="en-US" altLang="zh-CN" sz="3600" b="1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《</a:t>
            </a:r>
            <a:r>
              <a:rPr lang="zh-CN" altLang="en-US" sz="3600" b="1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微</a:t>
            </a:r>
            <a:r>
              <a:rPr lang="zh-CN" altLang="en-US" sz="3600" b="1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信营销与</a:t>
            </a:r>
            <a:r>
              <a:rPr lang="zh-CN" altLang="en-US" sz="3600" b="1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运营</a:t>
            </a:r>
            <a:r>
              <a:rPr lang="en-US" altLang="zh-CN" sz="3600" b="1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》</a:t>
            </a:r>
            <a:endParaRPr lang="en-US" altLang="zh-CN" sz="3600" b="1" dirty="0"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  <a:p>
            <a:pPr algn="r">
              <a:lnSpc>
                <a:spcPct val="135000"/>
              </a:lnSpc>
            </a:pPr>
            <a:r>
              <a:rPr lang="zh-CN" altLang="en-US" sz="28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感谢观看</a:t>
            </a:r>
          </a:p>
        </p:txBody>
      </p:sp>
      <p:grpSp>
        <p:nvGrpSpPr>
          <p:cNvPr id="127" name="组合 126"/>
          <p:cNvGrpSpPr/>
          <p:nvPr/>
        </p:nvGrpSpPr>
        <p:grpSpPr>
          <a:xfrm flipV="1">
            <a:off x="0" y="29481049"/>
            <a:ext cx="10690228" cy="733428"/>
            <a:chOff x="-1" y="5557"/>
            <a:chExt cx="10690228" cy="733428"/>
          </a:xfrm>
        </p:grpSpPr>
        <p:sp>
          <p:nvSpPr>
            <p:cNvPr id="128" name="直角三角形 127"/>
            <p:cNvSpPr/>
            <p:nvPr/>
          </p:nvSpPr>
          <p:spPr>
            <a:xfrm flipH="1" flipV="1">
              <a:off x="9956802" y="5558"/>
              <a:ext cx="733425" cy="733425"/>
            </a:xfrm>
            <a:prstGeom prst="rtTriangl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9" name="直角三角形 128"/>
            <p:cNvSpPr/>
            <p:nvPr/>
          </p:nvSpPr>
          <p:spPr>
            <a:xfrm flipV="1">
              <a:off x="2" y="5560"/>
              <a:ext cx="733425" cy="733425"/>
            </a:xfrm>
            <a:prstGeom prst="rtTriangl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0" name="矩形 129"/>
            <p:cNvSpPr/>
            <p:nvPr/>
          </p:nvSpPr>
          <p:spPr>
            <a:xfrm>
              <a:off x="-1" y="5557"/>
              <a:ext cx="10690225" cy="362858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131" name="组合 130"/>
            <p:cNvGrpSpPr/>
            <p:nvPr/>
          </p:nvGrpSpPr>
          <p:grpSpPr>
            <a:xfrm>
              <a:off x="1128800" y="238866"/>
              <a:ext cx="8432632" cy="355166"/>
              <a:chOff x="1196871" y="258708"/>
              <a:chExt cx="8432631" cy="355166"/>
            </a:xfrm>
          </p:grpSpPr>
          <p:sp>
            <p:nvSpPr>
              <p:cNvPr id="132" name="等腰三角形 131"/>
              <p:cNvSpPr/>
              <p:nvPr/>
            </p:nvSpPr>
            <p:spPr>
              <a:xfrm rot="12600000">
                <a:off x="1196871" y="258708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" name="等腰三角形 132"/>
              <p:cNvSpPr/>
              <p:nvPr/>
            </p:nvSpPr>
            <p:spPr>
              <a:xfrm rot="12600000">
                <a:off x="1619011" y="258709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" name="等腰三角形 133"/>
              <p:cNvSpPr/>
              <p:nvPr/>
            </p:nvSpPr>
            <p:spPr>
              <a:xfrm rot="12600000">
                <a:off x="2041151" y="258710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等腰三角形 134"/>
              <p:cNvSpPr/>
              <p:nvPr/>
            </p:nvSpPr>
            <p:spPr>
              <a:xfrm rot="12600000">
                <a:off x="2463291" y="258711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36" name="等腰三角形 135"/>
              <p:cNvSpPr/>
              <p:nvPr/>
            </p:nvSpPr>
            <p:spPr>
              <a:xfrm rot="12600000">
                <a:off x="2885431" y="258712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" name="等腰三角形 136"/>
              <p:cNvSpPr/>
              <p:nvPr/>
            </p:nvSpPr>
            <p:spPr>
              <a:xfrm rot="12600000">
                <a:off x="3307571" y="258713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" name="等腰三角形 137"/>
              <p:cNvSpPr/>
              <p:nvPr/>
            </p:nvSpPr>
            <p:spPr>
              <a:xfrm rot="12600000">
                <a:off x="3729711" y="258714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39" name="等腰三角形 138"/>
              <p:cNvSpPr/>
              <p:nvPr/>
            </p:nvSpPr>
            <p:spPr>
              <a:xfrm rot="12600000">
                <a:off x="4151851" y="258715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" name="等腰三角形 139"/>
              <p:cNvSpPr/>
              <p:nvPr/>
            </p:nvSpPr>
            <p:spPr>
              <a:xfrm rot="12600000">
                <a:off x="4573991" y="258716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" name="等腰三角形 140"/>
              <p:cNvSpPr/>
              <p:nvPr/>
            </p:nvSpPr>
            <p:spPr>
              <a:xfrm rot="12600000">
                <a:off x="4996131" y="258717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" name="等腰三角形 141"/>
              <p:cNvSpPr/>
              <p:nvPr/>
            </p:nvSpPr>
            <p:spPr>
              <a:xfrm rot="12600000">
                <a:off x="5418271" y="258718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43" name="等腰三角形 142"/>
              <p:cNvSpPr/>
              <p:nvPr/>
            </p:nvSpPr>
            <p:spPr>
              <a:xfrm rot="12600000">
                <a:off x="5840411" y="258719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" name="等腰三角形 143"/>
              <p:cNvSpPr/>
              <p:nvPr/>
            </p:nvSpPr>
            <p:spPr>
              <a:xfrm rot="12600000">
                <a:off x="6262551" y="258720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" name="等腰三角形 144"/>
              <p:cNvSpPr/>
              <p:nvPr/>
            </p:nvSpPr>
            <p:spPr>
              <a:xfrm rot="12600000">
                <a:off x="6684691" y="258721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" name="等腰三角形 145"/>
              <p:cNvSpPr/>
              <p:nvPr/>
            </p:nvSpPr>
            <p:spPr>
              <a:xfrm rot="12600000">
                <a:off x="7106831" y="258722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" name="等腰三角形 146"/>
              <p:cNvSpPr/>
              <p:nvPr/>
            </p:nvSpPr>
            <p:spPr>
              <a:xfrm rot="12600000">
                <a:off x="7528971" y="258723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" name="等腰三角形 147"/>
              <p:cNvSpPr/>
              <p:nvPr/>
            </p:nvSpPr>
            <p:spPr>
              <a:xfrm rot="12600000">
                <a:off x="7951111" y="258724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" name="等腰三角形 148"/>
              <p:cNvSpPr/>
              <p:nvPr/>
            </p:nvSpPr>
            <p:spPr>
              <a:xfrm rot="12600000">
                <a:off x="8373251" y="258725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" name="等腰三角形 149"/>
              <p:cNvSpPr/>
              <p:nvPr/>
            </p:nvSpPr>
            <p:spPr>
              <a:xfrm rot="12600000">
                <a:off x="8795391" y="258726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1" name="等腰三角形 150"/>
              <p:cNvSpPr/>
              <p:nvPr/>
            </p:nvSpPr>
            <p:spPr>
              <a:xfrm rot="12600000">
                <a:off x="9217531" y="258727"/>
                <a:ext cx="411971" cy="355147"/>
              </a:xfrm>
              <a:prstGeom prst="triangl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pic>
        <p:nvPicPr>
          <p:cNvPr id="152" name="图片 15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15429" r="82857">
                        <a14:foregroundMark x1="50286" y1="5143" x2="74286" y2="86286"/>
                        <a14:foregroundMark x1="69429" y1="11143" x2="56286" y2="71714"/>
                        <a14:foregroundMark x1="36571" y1="93429" x2="78000" y2="91714"/>
                        <a14:backgroundMark x1="78857" y1="2571" x2="50286" y2="1143"/>
                        <a14:backgroundMark x1="48571" y1="1714" x2="19429" y2="571"/>
                        <a14:backgroundMark x1="80000" y1="97429" x2="19429" y2="988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268" r="17909"/>
          <a:stretch/>
        </p:blipFill>
        <p:spPr>
          <a:xfrm rot="21149046">
            <a:off x="1254111" y="27156247"/>
            <a:ext cx="1266808" cy="192455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本框 6"/>
          <p:cNvSpPr txBox="1"/>
          <p:nvPr/>
        </p:nvSpPr>
        <p:spPr>
          <a:xfrm rot="21046585">
            <a:off x="1522069" y="29040695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华章经管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8259841" y="28359944"/>
            <a:ext cx="2543140" cy="971315"/>
            <a:chOff x="8007947" y="28195390"/>
            <a:chExt cx="2543140" cy="971315"/>
          </a:xfrm>
        </p:grpSpPr>
        <p:sp>
          <p:nvSpPr>
            <p:cNvPr id="153" name="文本框 152"/>
            <p:cNvSpPr txBox="1"/>
            <p:nvPr/>
          </p:nvSpPr>
          <p:spPr>
            <a:xfrm>
              <a:off x="8007947" y="28195390"/>
              <a:ext cx="7108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>
                  <a:latin typeface="方正行黑简体" panose="02000000000000000000" pitchFamily="2" charset="-122"/>
                  <a:ea typeface="方正行黑简体" panose="02000000000000000000" pitchFamily="2" charset="-122"/>
                </a:rPr>
                <a:t>制作</a:t>
              </a:r>
              <a:r>
                <a:rPr lang="en-US" altLang="zh-CN" dirty="0" smtClean="0">
                  <a:latin typeface="方正行黑简体" panose="02000000000000000000" pitchFamily="2" charset="-122"/>
                  <a:ea typeface="方正行黑简体" panose="02000000000000000000" pitchFamily="2" charset="-122"/>
                </a:rPr>
                <a:t>:</a:t>
              </a:r>
              <a:endParaRPr lang="zh-CN" altLang="en-US" b="1" dirty="0">
                <a:latin typeface="方正行黑简体" panose="02000000000000000000" pitchFamily="2" charset="-122"/>
                <a:ea typeface="方正行黑简体" panose="02000000000000000000" pitchFamily="2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8677765" y="28195390"/>
              <a:ext cx="1583849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方正行黑简体" panose="02000000000000000000" pitchFamily="2" charset="-122"/>
                  <a:ea typeface="方正行黑简体" panose="02000000000000000000" pitchFamily="2" charset="-122"/>
                </a:rPr>
                <a:t>@</a:t>
              </a:r>
              <a:r>
                <a:rPr lang="zh-CN" altLang="en-US" b="1" dirty="0">
                  <a:latin typeface="方正行黑简体" panose="02000000000000000000" pitchFamily="2" charset="-122"/>
                  <a:ea typeface="方正行黑简体" panose="02000000000000000000" pitchFamily="2" charset="-122"/>
                </a:rPr>
                <a:t>桑芜</a:t>
              </a:r>
              <a:endParaRPr lang="en-US" altLang="zh-CN" b="1" dirty="0">
                <a:latin typeface="方正行黑简体" panose="02000000000000000000" pitchFamily="2" charset="-122"/>
                <a:ea typeface="方正行黑简体" panose="02000000000000000000" pitchFamily="2" charset="-122"/>
              </a:endParaRPr>
            </a:p>
            <a:p>
              <a:r>
                <a:rPr lang="en-US" altLang="zh-CN" dirty="0">
                  <a:latin typeface="方正行黑简体" panose="02000000000000000000" pitchFamily="2" charset="-122"/>
                  <a:ea typeface="方正行黑简体" panose="02000000000000000000" pitchFamily="2" charset="-122"/>
                </a:rPr>
                <a:t>@</a:t>
              </a:r>
              <a:r>
                <a:rPr lang="en-US" altLang="zh-CN" b="1" dirty="0" err="1">
                  <a:latin typeface="方正行黑简体" panose="02000000000000000000" pitchFamily="2" charset="-122"/>
                  <a:ea typeface="方正行黑简体" panose="02000000000000000000" pitchFamily="2" charset="-122"/>
                </a:rPr>
                <a:t>Mr_idiot_c</a:t>
              </a:r>
              <a:endParaRPr lang="zh-CN" altLang="en-US" b="1" dirty="0">
                <a:latin typeface="方正行黑简体" panose="02000000000000000000" pitchFamily="2" charset="-122"/>
                <a:ea typeface="方正行黑简体" panose="02000000000000000000" pitchFamily="2" charset="-122"/>
              </a:endParaRPr>
            </a:p>
          </p:txBody>
        </p:sp>
        <p:sp>
          <p:nvSpPr>
            <p:cNvPr id="154" name="文本框 153"/>
            <p:cNvSpPr txBox="1"/>
            <p:nvPr/>
          </p:nvSpPr>
          <p:spPr>
            <a:xfrm>
              <a:off x="8007947" y="28797373"/>
              <a:ext cx="25431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>
                  <a:latin typeface="方正行黑简体" panose="02000000000000000000" pitchFamily="2" charset="-122"/>
                  <a:ea typeface="方正行黑简体" panose="02000000000000000000" pitchFamily="2" charset="-122"/>
                </a:rPr>
                <a:t>指导：</a:t>
              </a:r>
              <a:r>
                <a:rPr lang="en-US" altLang="zh-CN" dirty="0" smtClean="0">
                  <a:latin typeface="方正行黑简体" panose="02000000000000000000" pitchFamily="2" charset="-122"/>
                  <a:ea typeface="方正行黑简体" panose="02000000000000000000" pitchFamily="2" charset="-122"/>
                </a:rPr>
                <a:t>@</a:t>
              </a:r>
              <a:r>
                <a:rPr lang="zh-CN" altLang="en-US" dirty="0" smtClean="0">
                  <a:latin typeface="方正行黑简体" panose="02000000000000000000" pitchFamily="2" charset="-122"/>
                  <a:ea typeface="方正行黑简体" panose="02000000000000000000" pitchFamily="2" charset="-122"/>
                </a:rPr>
                <a:t>小巴</a:t>
              </a:r>
              <a:r>
                <a:rPr lang="en-US" altLang="zh-CN" dirty="0" smtClean="0">
                  <a:latin typeface="方正行黑简体" panose="02000000000000000000" pitchFamily="2" charset="-122"/>
                  <a:ea typeface="方正行黑简体" panose="02000000000000000000" pitchFamily="2" charset="-122"/>
                </a:rPr>
                <a:t>_1990</a:t>
              </a:r>
              <a:endParaRPr lang="zh-CN" altLang="en-US" b="1" dirty="0">
                <a:latin typeface="方正行黑简体" panose="02000000000000000000" pitchFamily="2" charset="-122"/>
                <a:ea typeface="方正行黑简体" panose="020000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0066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B050"/>
        </a:solidFill>
        <a:ln>
          <a:solidFill>
            <a:srgbClr val="00B05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606</TotalTime>
  <Words>1118</Words>
  <Application>Microsoft Office PowerPoint</Application>
  <PresentationFormat>自定义</PresentationFormat>
  <Paragraphs>218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方正行黑简体</vt:lpstr>
      <vt:lpstr>Arial</vt:lpstr>
      <vt:lpstr>华文细黑</vt:lpstr>
      <vt:lpstr>华康俪金黑W8</vt:lpstr>
      <vt:lpstr>Calibri Light</vt:lpstr>
      <vt:lpstr>宋体</vt:lpstr>
      <vt:lpstr>華康墨字體</vt:lpstr>
      <vt:lpstr>Calibri</vt:lpstr>
      <vt:lpstr>造字工房尚黑（非商用）常规体</vt:lpstr>
      <vt:lpstr>微软雅黑</vt:lpstr>
      <vt:lpstr>Office 主题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Mr.idiot</dc:creator>
  <cp:lastModifiedBy>小巴</cp:lastModifiedBy>
  <cp:revision>54</cp:revision>
  <dcterms:created xsi:type="dcterms:W3CDTF">2014-02-18T02:58:32Z</dcterms:created>
  <dcterms:modified xsi:type="dcterms:W3CDTF">2014-02-25T02:30:44Z</dcterms:modified>
</cp:coreProperties>
</file>