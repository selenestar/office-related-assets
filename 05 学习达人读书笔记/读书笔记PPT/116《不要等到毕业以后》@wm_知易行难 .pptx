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72" r:id="rId3"/>
  </p:sldMasterIdLst>
  <p:notesMasterIdLst>
    <p:notesMasterId r:id="rId17"/>
  </p:notesMasterIdLst>
  <p:sldIdLst>
    <p:sldId id="256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57" r:id="rId14"/>
    <p:sldId id="268" r:id="rId15"/>
    <p:sldId id="269" r:id="rId16"/>
  </p:sldIdLst>
  <p:sldSz cx="9144000" cy="6858000" type="screen4x3"/>
  <p:notesSz cx="6858000" cy="9144000"/>
  <p:embeddedFontLst>
    <p:embeddedFont>
      <p:font typeface="微软雅黑" panose="020B0503020204020204" pitchFamily="34" charset="-122"/>
      <p:regular r:id="rId18"/>
      <p:bold r:id="rId19"/>
    </p:embeddedFont>
    <p:embeddedFont>
      <p:font typeface="Arial Unicode MS" panose="020B0604020202020204" pitchFamily="34" charset="-122"/>
      <p:regular r:id="rId20"/>
    </p:embeddedFont>
    <p:embeddedFont>
      <p:font typeface="方正正黑简体" panose="02000000000000000000" pitchFamily="2" charset="-122"/>
      <p:regular r:id="rId21"/>
    </p:embeddedFont>
    <p:embeddedFont>
      <p:font typeface="方正正中黑简体" panose="02000000000000000000" pitchFamily="2" charset="-122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FF0000"/>
    <a:srgbClr val="B2B2B2"/>
    <a:srgbClr val="000000"/>
    <a:srgbClr val="FF9900"/>
    <a:srgbClr val="808080"/>
    <a:srgbClr val="5F5F5F"/>
    <a:srgbClr val="E812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>
      <p:cViewPr varScale="1">
        <p:scale>
          <a:sx n="70" d="100"/>
          <a:sy n="70" d="100"/>
        </p:scale>
        <p:origin x="1398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837D5DEB-615E-487F-8EED-A4F0E5B291E0}" type="datetimeFigureOut">
              <a:rPr lang="zh-CN" altLang="en-US"/>
              <a:pPr>
                <a:defRPr/>
              </a:pPr>
              <a:t>2014/6/12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18071532-16F0-4966-BCC3-B0D4CBF0182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195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A0DC946-424E-4574-910C-E5D1B43E7BAA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2226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817D-59F6-4359-81C0-4DFDD50A64CC}" type="datetimeFigureOut">
              <a:rPr lang="zh-CN" altLang="en-US"/>
              <a:pPr>
                <a:defRPr/>
              </a:pPr>
              <a:t>2014/6/12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48BB00-DDF4-4B31-9CE1-84C31F56F16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9E9DA1-6681-43A1-BEB9-DA8772C36EAF}" type="datetimeFigureOut">
              <a:rPr lang="zh-CN" altLang="en-US"/>
              <a:pPr>
                <a:defRPr/>
              </a:pPr>
              <a:t>2014/6/12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D6C19-4B7D-4DAA-A779-036BEC9E98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46A83-654E-4D27-93D1-BFB8C0A03351}" type="datetimeFigureOut">
              <a:rPr lang="zh-CN" altLang="en-US"/>
              <a:pPr>
                <a:defRPr/>
              </a:pPr>
              <a:t>2014/6/12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1A9E4F-4677-49D3-9F6B-3A65B3CFAD1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15559D-A31E-41B1-B847-1402DF7F8BB8}" type="datetimeFigureOut">
              <a:rPr lang="zh-CN" altLang="en-US"/>
              <a:pPr>
                <a:defRPr/>
              </a:pPr>
              <a:t>2014/6/12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306AE9-76DB-45B1-B910-83DE24A8319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38849E-A77D-4C3F-8D10-60090D5BB094}" type="datetimeFigureOut">
              <a:rPr lang="zh-CN" altLang="en-US"/>
              <a:pPr>
                <a:defRPr/>
              </a:pPr>
              <a:t>2014/6/12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351D11-4586-4E31-9B70-6700A9ADA36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28EAD-F49B-40F9-9F1B-0920A4455B20}" type="datetimeFigureOut">
              <a:rPr lang="zh-CN" altLang="en-US"/>
              <a:pPr>
                <a:defRPr/>
              </a:pPr>
              <a:t>2014/6/12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EAC0C-6619-4CAC-8B8A-091C211DCC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8CA53-C6E4-46AE-9480-8BE4C9BE0EC0}" type="datetimeFigureOut">
              <a:rPr lang="zh-CN" altLang="en-US"/>
              <a:pPr>
                <a:defRPr/>
              </a:pPr>
              <a:t>2014/6/12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8CD40-9EB4-4F0B-B2B4-5E23ABA7D17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71B8D-C55C-45B0-9B5A-92DC50B2E8ED}" type="datetimeFigureOut">
              <a:rPr lang="zh-CN" altLang="en-US"/>
              <a:pPr>
                <a:defRPr/>
              </a:pPr>
              <a:t>2014/6/12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B7DF9-2ACD-4456-B7A2-A0826DDEB7A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385CA-8A73-4476-93E1-FE1716C43B56}" type="datetimeFigureOut">
              <a:rPr lang="zh-CN" altLang="en-US"/>
              <a:pPr>
                <a:defRPr/>
              </a:pPr>
              <a:t>2014/6/12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CCC1A4-F961-4F23-906D-1A47436D8BA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02494-8B99-49F1-98AB-0A8FC12B479C}" type="datetimeFigureOut">
              <a:rPr lang="zh-CN" altLang="en-US"/>
              <a:pPr>
                <a:defRPr/>
              </a:pPr>
              <a:t>2014/6/12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A2AC5-7566-41A5-9363-20B37874045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397B64-0840-49AF-9703-0C82C015E52C}" type="datetimeFigureOut">
              <a:rPr lang="zh-CN" altLang="en-US"/>
              <a:pPr>
                <a:defRPr/>
              </a:pPr>
              <a:t>2014/6/12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10C9BB-7B2A-4970-BB39-6772C7CBDD2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409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110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239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334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169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6386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0220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6390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6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0804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8548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2020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80728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05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2782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964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1824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4603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5782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946" y="-51325"/>
            <a:ext cx="9140054" cy="706827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894850" y="585521"/>
            <a:ext cx="468052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3946" y="26340"/>
            <a:ext cx="108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6939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044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5403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3267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25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Vert">
          <a:fgClr>
            <a:srgbClr val="E8121A"/>
          </a:fgClr>
          <a:bgClr>
            <a:srgbClr val="6B080C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47937CC-0788-4FCA-9CF4-17FF27CE07AF}" type="datetimeFigureOut">
              <a:rPr lang="zh-CN" altLang="en-US"/>
              <a:pPr>
                <a:defRPr/>
              </a:pPr>
              <a:t>2014/6/12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AD8645A-A56E-4695-B37E-D7F0CB228B5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宋体" panose="02010600030101010101" pitchFamily="2" charset="-122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宋体" panose="02010600030101010101" pitchFamily="2" charset="-122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537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宋体" panose="02010600030101010101" pitchFamily="2" charset="-122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宋体" panose="02010600030101010101" pitchFamily="2" charset="-122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0992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圆角矩形 1027"/>
          <p:cNvSpPr>
            <a:spLocks noChangeArrowheads="1"/>
          </p:cNvSpPr>
          <p:nvPr/>
        </p:nvSpPr>
        <p:spPr bwMode="auto">
          <a:xfrm>
            <a:off x="0" y="1484412"/>
            <a:ext cx="9144000" cy="3960812"/>
          </a:xfrm>
          <a:prstGeom prst="roundRect">
            <a:avLst>
              <a:gd name="adj" fmla="val 0"/>
            </a:avLst>
          </a:prstGeom>
          <a:solidFill>
            <a:srgbClr val="E8121A">
              <a:alpha val="50999"/>
            </a:srgbClr>
          </a:solidFill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4340" name="TextBox 23"/>
          <p:cNvSpPr txBox="1">
            <a:spLocks noChangeArrowheads="1"/>
          </p:cNvSpPr>
          <p:nvPr/>
        </p:nvSpPr>
        <p:spPr bwMode="auto">
          <a:xfrm>
            <a:off x="1540794" y="5141020"/>
            <a:ext cx="136683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张志 著</a:t>
            </a:r>
          </a:p>
        </p:txBody>
      </p:sp>
      <p:sp>
        <p:nvSpPr>
          <p:cNvPr id="14341" name="TextBox 24"/>
          <p:cNvSpPr txBox="1">
            <a:spLocks noChangeArrowheads="1"/>
          </p:cNvSpPr>
          <p:nvPr/>
        </p:nvSpPr>
        <p:spPr bwMode="auto">
          <a:xfrm rot="16059">
            <a:off x="3865410" y="1088441"/>
            <a:ext cx="22336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不是人生导师</a:t>
            </a:r>
          </a:p>
        </p:txBody>
      </p:sp>
      <p:sp>
        <p:nvSpPr>
          <p:cNvPr id="14342" name="TextBox 26"/>
          <p:cNvSpPr txBox="1">
            <a:spLocks noChangeArrowheads="1"/>
          </p:cNvSpPr>
          <p:nvPr/>
        </p:nvSpPr>
        <p:spPr bwMode="auto">
          <a:xfrm rot="21551078">
            <a:off x="1577823" y="1099553"/>
            <a:ext cx="2159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没有标准答案</a:t>
            </a:r>
          </a:p>
        </p:txBody>
      </p:sp>
      <p:sp>
        <p:nvSpPr>
          <p:cNvPr id="14343" name="TextBox 27"/>
          <p:cNvSpPr txBox="1">
            <a:spLocks noChangeArrowheads="1"/>
          </p:cNvSpPr>
          <p:nvPr/>
        </p:nvSpPr>
        <p:spPr bwMode="auto">
          <a:xfrm rot="15029">
            <a:off x="6227610" y="1088441"/>
            <a:ext cx="2232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不是心灵鸡汤</a:t>
            </a:r>
          </a:p>
        </p:txBody>
      </p:sp>
      <p:sp>
        <p:nvSpPr>
          <p:cNvPr id="26" name="TextBox 25"/>
          <p:cNvSpPr txBox="1"/>
          <p:nvPr/>
        </p:nvSpPr>
        <p:spPr>
          <a:xfrm rot="21585171">
            <a:off x="3718421" y="2132112"/>
            <a:ext cx="5605463" cy="8239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b="1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造字工房悦黑体验版常规体" pitchFamily="50" charset="-122"/>
                <a:ea typeface="造字工房悦黑体验版常规体" pitchFamily="50" charset="-122"/>
              </a:rPr>
              <a:t>不要等到毕业以后</a:t>
            </a:r>
          </a:p>
        </p:txBody>
      </p:sp>
      <p:sp>
        <p:nvSpPr>
          <p:cNvPr id="1025" name="TextBox 1024"/>
          <p:cNvSpPr txBox="1"/>
          <p:nvPr/>
        </p:nvSpPr>
        <p:spPr>
          <a:xfrm>
            <a:off x="3716670" y="3357662"/>
            <a:ext cx="2867025" cy="793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一本真正帮助</a:t>
            </a:r>
            <a:endParaRPr lang="en-US" altLang="zh-CN" b="1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b="1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大学生</a:t>
            </a:r>
            <a:r>
              <a:rPr lang="zh-CN" altLang="en-US" sz="2800" b="1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成长</a:t>
            </a:r>
            <a:r>
              <a:rPr lang="zh-CN" altLang="en-US" b="1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的书</a:t>
            </a:r>
          </a:p>
        </p:txBody>
      </p:sp>
      <p:sp>
        <p:nvSpPr>
          <p:cNvPr id="14346" name="TextBox 1032"/>
          <p:cNvSpPr txBox="1">
            <a:spLocks noChangeArrowheads="1"/>
          </p:cNvSpPr>
          <p:nvPr/>
        </p:nvSpPr>
        <p:spPr bwMode="auto">
          <a:xfrm>
            <a:off x="1280960" y="1123366"/>
            <a:ext cx="4318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800">
                <a:solidFill>
                  <a:schemeClr val="bg1"/>
                </a:solidFill>
                <a:latin typeface="Calibri" pitchFamily="34" charset="0"/>
              </a:rPr>
              <a:t>口</a:t>
            </a:r>
          </a:p>
        </p:txBody>
      </p:sp>
      <p:sp>
        <p:nvSpPr>
          <p:cNvPr id="14347" name="TextBox 42"/>
          <p:cNvSpPr txBox="1">
            <a:spLocks noChangeArrowheads="1"/>
          </p:cNvSpPr>
          <p:nvPr/>
        </p:nvSpPr>
        <p:spPr bwMode="auto">
          <a:xfrm>
            <a:off x="5960910" y="1123366"/>
            <a:ext cx="433388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800">
                <a:solidFill>
                  <a:schemeClr val="bg1"/>
                </a:solidFill>
                <a:latin typeface="Calibri" pitchFamily="34" charset="0"/>
              </a:rPr>
              <a:t>口</a:t>
            </a:r>
          </a:p>
        </p:txBody>
      </p:sp>
      <p:sp>
        <p:nvSpPr>
          <p:cNvPr id="14348" name="TextBox 43"/>
          <p:cNvSpPr txBox="1">
            <a:spLocks noChangeArrowheads="1"/>
          </p:cNvSpPr>
          <p:nvPr/>
        </p:nvSpPr>
        <p:spPr bwMode="auto">
          <a:xfrm>
            <a:off x="3620935" y="1123366"/>
            <a:ext cx="4318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800">
                <a:solidFill>
                  <a:schemeClr val="bg1"/>
                </a:solidFill>
                <a:latin typeface="Calibri" pitchFamily="34" charset="0"/>
              </a:rPr>
              <a:t>口</a:t>
            </a:r>
          </a:p>
        </p:txBody>
      </p:sp>
      <p:pic>
        <p:nvPicPr>
          <p:cNvPr id="19" name="图片 18" descr="图片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20625854">
            <a:off x="427223" y="1233656"/>
            <a:ext cx="2856310" cy="37292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2" name="TextBox 24"/>
          <p:cNvSpPr txBox="1">
            <a:spLocks noChangeArrowheads="1"/>
          </p:cNvSpPr>
          <p:nvPr/>
        </p:nvSpPr>
        <p:spPr bwMode="auto">
          <a:xfrm>
            <a:off x="1543547" y="5519491"/>
            <a:ext cx="223361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江</a:t>
            </a:r>
            <a:r>
              <a:rPr lang="zh-CN" altLang="en-US" sz="1600" dirty="0" smtClean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苏文艺出版社</a:t>
            </a:r>
            <a:endParaRPr lang="zh-CN" altLang="en-US" sz="1600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2"/>
          <p:cNvPicPr>
            <a:picLocks noChangeAspect="1" noChangeArrowheads="1"/>
          </p:cNvPicPr>
          <p:nvPr/>
        </p:nvPicPr>
        <p:blipFill>
          <a:blip r:embed="rId3" cstate="print">
            <a:lum bright="100000" contrast="-70000"/>
            <a:biLevel thresh="50000"/>
            <a:grayscl/>
          </a:blip>
          <a:srcRect/>
          <a:stretch>
            <a:fillRect/>
          </a:stretch>
        </p:blipFill>
        <p:spPr bwMode="auto">
          <a:xfrm>
            <a:off x="900113" y="908050"/>
            <a:ext cx="3059112" cy="4292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28" name="TextBox 27"/>
          <p:cNvSpPr txBox="1"/>
          <p:nvPr/>
        </p:nvSpPr>
        <p:spPr>
          <a:xfrm>
            <a:off x="3563938" y="981075"/>
            <a:ext cx="3744912" cy="701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/>
            <a:r>
              <a:rPr lang="zh-CN" altLang="en-US" sz="4000" dirty="0">
                <a:solidFill>
                  <a:schemeClr val="bg1">
                    <a:lumMod val="75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专业和职业</a:t>
            </a:r>
          </a:p>
        </p:txBody>
      </p:sp>
      <p:sp>
        <p:nvSpPr>
          <p:cNvPr id="15363" name="矩形 2048"/>
          <p:cNvSpPr>
            <a:spLocks noChangeArrowheads="1"/>
          </p:cNvSpPr>
          <p:nvPr/>
        </p:nvSpPr>
        <p:spPr bwMode="auto">
          <a:xfrm>
            <a:off x="2411413" y="2243138"/>
            <a:ext cx="4572000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了解自己的专业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要学会独立学习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endParaRPr lang="zh-CN" altLang="en-US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培养兴趣很重要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专业好不一定就业好</a:t>
            </a:r>
          </a:p>
          <a:p>
            <a:pPr algn="r"/>
            <a:endParaRPr lang="zh-CN" altLang="en-US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2059" name="TextBox 2058"/>
          <p:cNvSpPr txBox="1"/>
          <p:nvPr/>
        </p:nvSpPr>
        <p:spPr>
          <a:xfrm>
            <a:off x="4584700" y="5589240"/>
            <a:ext cx="2698750" cy="641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推荐书籍：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《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思维导图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》</a:t>
            </a: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推荐人物： 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@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小巴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_1990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5365" name="TextBox 47"/>
          <p:cNvSpPr txBox="1">
            <a:spLocks noChangeArrowheads="1"/>
          </p:cNvSpPr>
          <p:nvPr/>
        </p:nvSpPr>
        <p:spPr bwMode="auto">
          <a:xfrm>
            <a:off x="1835150" y="5591175"/>
            <a:ext cx="158432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600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NO</a:t>
            </a:r>
            <a:r>
              <a:rPr lang="en-US" altLang="zh-CN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</a:t>
            </a:r>
            <a:r>
              <a:rPr lang="en-US" altLang="zh-CN" sz="3600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.</a:t>
            </a:r>
            <a:endParaRPr lang="zh-CN" altLang="en-US" sz="3600" b="1">
              <a:solidFill>
                <a:schemeClr val="bg1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49" name="肘形连接符 48"/>
          <p:cNvCxnSpPr/>
          <p:nvPr/>
        </p:nvCxnSpPr>
        <p:spPr>
          <a:xfrm rot="5400000" flipH="1" flipV="1">
            <a:off x="2808288" y="1366837"/>
            <a:ext cx="5111750" cy="4321175"/>
          </a:xfrm>
          <a:prstGeom prst="bentConnector3">
            <a:avLst>
              <a:gd name="adj1" fmla="val 10823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7" name="Rectangle 2"/>
          <p:cNvSpPr>
            <a:spLocks noChangeArrowheads="1"/>
          </p:cNvSpPr>
          <p:nvPr/>
        </p:nvSpPr>
        <p:spPr bwMode="auto">
          <a:xfrm>
            <a:off x="6896100" y="224948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●</a:t>
            </a:r>
          </a:p>
        </p:txBody>
      </p:sp>
      <p:sp>
        <p:nvSpPr>
          <p:cNvPr id="15368" name="Rectangle 2"/>
          <p:cNvSpPr>
            <a:spLocks noChangeArrowheads="1"/>
          </p:cNvSpPr>
          <p:nvPr/>
        </p:nvSpPr>
        <p:spPr bwMode="auto">
          <a:xfrm>
            <a:off x="6896100" y="28575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●</a:t>
            </a:r>
          </a:p>
        </p:txBody>
      </p:sp>
      <p:sp>
        <p:nvSpPr>
          <p:cNvPr id="15369" name="Rectangle 2"/>
          <p:cNvSpPr>
            <a:spLocks noChangeArrowheads="1"/>
          </p:cNvSpPr>
          <p:nvPr/>
        </p:nvSpPr>
        <p:spPr bwMode="auto">
          <a:xfrm>
            <a:off x="6896100" y="3463925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●</a:t>
            </a:r>
          </a:p>
        </p:txBody>
      </p:sp>
      <p:sp>
        <p:nvSpPr>
          <p:cNvPr id="15370" name="Rectangle 2"/>
          <p:cNvSpPr>
            <a:spLocks noChangeArrowheads="1"/>
          </p:cNvSpPr>
          <p:nvPr/>
        </p:nvSpPr>
        <p:spPr bwMode="auto">
          <a:xfrm>
            <a:off x="6896100" y="407035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2"/>
          <p:cNvPicPr>
            <a:picLocks noChangeAspect="1" noChangeArrowheads="1"/>
          </p:cNvPicPr>
          <p:nvPr/>
        </p:nvPicPr>
        <p:blipFill>
          <a:blip r:embed="rId2" cstate="print">
            <a:grayscl/>
            <a:biLevel thresh="50000"/>
            <a:lum bright="100000" contrast="-70000"/>
          </a:blip>
          <a:srcRect/>
          <a:stretch>
            <a:fillRect/>
          </a:stretch>
        </p:blipFill>
        <p:spPr bwMode="auto">
          <a:xfrm>
            <a:off x="5986463" y="1268413"/>
            <a:ext cx="2787650" cy="39512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689100" y="1400175"/>
            <a:ext cx="2811463" cy="701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/>
            <a:r>
              <a:rPr lang="zh-CN" altLang="en-US" sz="4000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读书和学习</a:t>
            </a:r>
          </a:p>
        </p:txBody>
      </p:sp>
      <p:sp>
        <p:nvSpPr>
          <p:cNvPr id="17411" name="矩形 6"/>
          <p:cNvSpPr>
            <a:spLocks noChangeArrowheads="1"/>
          </p:cNvSpPr>
          <p:nvPr/>
        </p:nvSpPr>
        <p:spPr bwMode="auto">
          <a:xfrm>
            <a:off x="2124075" y="2343150"/>
            <a:ext cx="4572000" cy="255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学会自学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zh-CN" altLang="en-US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好书一定要精读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zh-CN" altLang="en-US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写好论文写好长微博</a:t>
            </a:r>
          </a:p>
          <a:p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天才</a:t>
            </a:r>
            <a:r>
              <a:rPr lang="en-US" altLang="zh-CN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=</a:t>
            </a:r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科学训练</a:t>
            </a:r>
            <a:r>
              <a:rPr lang="en-US" altLang="zh-CN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10000</a:t>
            </a:r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个小时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35150" y="5591175"/>
            <a:ext cx="3384550" cy="641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推荐书籍：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《</a:t>
            </a:r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如何阅读一本书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》</a:t>
            </a:r>
          </a:p>
          <a:p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推荐人物：  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@Dandoliya</a:t>
            </a:r>
            <a:endParaRPr lang="zh-CN" altLang="en-US">
              <a:solidFill>
                <a:srgbClr val="B2B2B2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7413" name="TextBox 16"/>
          <p:cNvSpPr txBox="1">
            <a:spLocks noChangeArrowheads="1"/>
          </p:cNvSpPr>
          <p:nvPr/>
        </p:nvSpPr>
        <p:spPr bwMode="auto">
          <a:xfrm>
            <a:off x="6318250" y="5735638"/>
            <a:ext cx="1584325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600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NO</a:t>
            </a:r>
            <a:r>
              <a:rPr lang="en-US" altLang="zh-CN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</a:t>
            </a:r>
            <a:r>
              <a:rPr lang="en-US" altLang="zh-CN" sz="3600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.</a:t>
            </a:r>
            <a:endParaRPr lang="zh-CN" altLang="en-US" sz="3600" b="1">
              <a:solidFill>
                <a:schemeClr val="bg1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18" name="肘形连接符 17"/>
          <p:cNvCxnSpPr/>
          <p:nvPr/>
        </p:nvCxnSpPr>
        <p:spPr>
          <a:xfrm rot="16200000" flipV="1">
            <a:off x="1535112" y="1525588"/>
            <a:ext cx="4868863" cy="4554538"/>
          </a:xfrm>
          <a:prstGeom prst="bentConnector3">
            <a:avLst>
              <a:gd name="adj1" fmla="val 14521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5" name="Rectangle 2"/>
          <p:cNvSpPr>
            <a:spLocks noChangeArrowheads="1"/>
          </p:cNvSpPr>
          <p:nvPr/>
        </p:nvSpPr>
        <p:spPr bwMode="auto">
          <a:xfrm>
            <a:off x="1839913" y="236855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◆</a:t>
            </a:r>
          </a:p>
        </p:txBody>
      </p:sp>
      <p:sp>
        <p:nvSpPr>
          <p:cNvPr id="17416" name="Rectangle 2"/>
          <p:cNvSpPr>
            <a:spLocks noChangeArrowheads="1"/>
          </p:cNvSpPr>
          <p:nvPr/>
        </p:nvSpPr>
        <p:spPr bwMode="auto">
          <a:xfrm>
            <a:off x="1839913" y="29718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◆</a:t>
            </a:r>
          </a:p>
        </p:txBody>
      </p:sp>
      <p:sp>
        <p:nvSpPr>
          <p:cNvPr id="17417" name="Rectangle 2"/>
          <p:cNvSpPr>
            <a:spLocks noChangeArrowheads="1"/>
          </p:cNvSpPr>
          <p:nvPr/>
        </p:nvSpPr>
        <p:spPr bwMode="auto">
          <a:xfrm>
            <a:off x="1839913" y="357505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◆</a:t>
            </a:r>
          </a:p>
        </p:txBody>
      </p:sp>
      <p:sp>
        <p:nvSpPr>
          <p:cNvPr id="17418" name="Rectangle 2"/>
          <p:cNvSpPr>
            <a:spLocks noChangeArrowheads="1"/>
          </p:cNvSpPr>
          <p:nvPr/>
        </p:nvSpPr>
        <p:spPr bwMode="auto">
          <a:xfrm>
            <a:off x="1839913" y="417988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2" cstate="print">
            <a:lum bright="100000" contrast="-70000"/>
            <a:biLevel thresh="50000"/>
            <a:grayscl/>
          </a:blip>
          <a:srcRect/>
          <a:stretch>
            <a:fillRect/>
          </a:stretch>
        </p:blipFill>
        <p:spPr bwMode="auto">
          <a:xfrm>
            <a:off x="1109663" y="1328738"/>
            <a:ext cx="2243137" cy="3359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18434" name="TextBox 2"/>
          <p:cNvSpPr txBox="1">
            <a:spLocks noChangeArrowheads="1"/>
          </p:cNvSpPr>
          <p:nvPr/>
        </p:nvSpPr>
        <p:spPr bwMode="auto">
          <a:xfrm>
            <a:off x="1619250" y="5591175"/>
            <a:ext cx="158432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600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NO</a:t>
            </a:r>
            <a:r>
              <a:rPr lang="en-US" altLang="zh-CN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3</a:t>
            </a:r>
            <a:r>
              <a:rPr lang="en-US" altLang="zh-CN" sz="3600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.</a:t>
            </a:r>
            <a:endParaRPr lang="zh-CN" altLang="en-US" sz="3600" b="1">
              <a:solidFill>
                <a:schemeClr val="bg1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4" name="肘形连接符 3"/>
          <p:cNvCxnSpPr/>
          <p:nvPr/>
        </p:nvCxnSpPr>
        <p:spPr>
          <a:xfrm rot="5400000" flipH="1" flipV="1">
            <a:off x="2592388" y="1366837"/>
            <a:ext cx="5111750" cy="4321175"/>
          </a:xfrm>
          <a:prstGeom prst="bentConnector3">
            <a:avLst>
              <a:gd name="adj1" fmla="val 10823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56100" y="981075"/>
            <a:ext cx="2808288" cy="701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4000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社团和实践</a:t>
            </a:r>
          </a:p>
        </p:txBody>
      </p:sp>
      <p:sp>
        <p:nvSpPr>
          <p:cNvPr id="18437" name="矩形 5"/>
          <p:cNvSpPr>
            <a:spLocks noChangeArrowheads="1"/>
          </p:cNvSpPr>
          <p:nvPr/>
        </p:nvSpPr>
        <p:spPr bwMode="auto">
          <a:xfrm>
            <a:off x="2195513" y="1989138"/>
            <a:ext cx="4572000" cy="224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利用碎片时间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培养能力是思考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endParaRPr lang="zh-CN" altLang="en-US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选择社团的理由很重要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endParaRPr lang="zh-CN" altLang="en-US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独立完成事情才是工作经验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10138" y="5591175"/>
            <a:ext cx="2241550" cy="641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推荐书籍：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《</a:t>
            </a:r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公正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》</a:t>
            </a:r>
          </a:p>
          <a:p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推荐人物：  陈维贤</a:t>
            </a:r>
          </a:p>
        </p:txBody>
      </p:sp>
      <p:sp>
        <p:nvSpPr>
          <p:cNvPr id="18439" name="Rectangle 2"/>
          <p:cNvSpPr>
            <a:spLocks noChangeArrowheads="1"/>
          </p:cNvSpPr>
          <p:nvPr/>
        </p:nvSpPr>
        <p:spPr bwMode="auto">
          <a:xfrm>
            <a:off x="6680200" y="198913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●</a:t>
            </a:r>
          </a:p>
        </p:txBody>
      </p:sp>
      <p:sp>
        <p:nvSpPr>
          <p:cNvPr id="18440" name="Rectangle 2"/>
          <p:cNvSpPr>
            <a:spLocks noChangeArrowheads="1"/>
          </p:cNvSpPr>
          <p:nvPr/>
        </p:nvSpPr>
        <p:spPr bwMode="auto">
          <a:xfrm>
            <a:off x="6680200" y="259556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●</a:t>
            </a:r>
          </a:p>
        </p:txBody>
      </p:sp>
      <p:sp>
        <p:nvSpPr>
          <p:cNvPr id="18441" name="Rectangle 2"/>
          <p:cNvSpPr>
            <a:spLocks noChangeArrowheads="1"/>
          </p:cNvSpPr>
          <p:nvPr/>
        </p:nvSpPr>
        <p:spPr bwMode="auto">
          <a:xfrm>
            <a:off x="6680200" y="320198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●</a:t>
            </a:r>
          </a:p>
        </p:txBody>
      </p:sp>
      <p:sp>
        <p:nvSpPr>
          <p:cNvPr id="18442" name="Rectangle 2"/>
          <p:cNvSpPr>
            <a:spLocks noChangeArrowheads="1"/>
          </p:cNvSpPr>
          <p:nvPr/>
        </p:nvSpPr>
        <p:spPr bwMode="auto">
          <a:xfrm>
            <a:off x="6680200" y="38100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2" cstate="print">
            <a:lum bright="100000" contrast="-70000"/>
            <a:biLevel thresh="50000"/>
            <a:grayscl/>
          </a:blip>
          <a:srcRect/>
          <a:stretch>
            <a:fillRect/>
          </a:stretch>
        </p:blipFill>
        <p:spPr bwMode="auto">
          <a:xfrm>
            <a:off x="5930900" y="738188"/>
            <a:ext cx="2146300" cy="32115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19458" name="TextBox 2"/>
          <p:cNvSpPr txBox="1">
            <a:spLocks noChangeArrowheads="1"/>
          </p:cNvSpPr>
          <p:nvPr/>
        </p:nvSpPr>
        <p:spPr bwMode="auto">
          <a:xfrm>
            <a:off x="6516688" y="5735638"/>
            <a:ext cx="1584325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600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NO</a:t>
            </a:r>
            <a:r>
              <a:rPr lang="en-US" altLang="zh-CN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4</a:t>
            </a:r>
            <a:r>
              <a:rPr lang="en-US" altLang="zh-CN" sz="3600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.</a:t>
            </a:r>
            <a:endParaRPr lang="zh-CN" altLang="en-US" sz="3600" b="1">
              <a:solidFill>
                <a:schemeClr val="bg1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4" name="肘形连接符 3"/>
          <p:cNvCxnSpPr/>
          <p:nvPr/>
        </p:nvCxnSpPr>
        <p:spPr>
          <a:xfrm rot="16200000" flipV="1">
            <a:off x="1731962" y="1525588"/>
            <a:ext cx="4868863" cy="4554538"/>
          </a:xfrm>
          <a:prstGeom prst="bentConnector3">
            <a:avLst>
              <a:gd name="adj1" fmla="val 14521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92275" y="1352550"/>
            <a:ext cx="3024188" cy="701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/>
            <a:r>
              <a:rPr lang="zh-CN" altLang="en-US" sz="4000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友情和爱情</a:t>
            </a:r>
          </a:p>
        </p:txBody>
      </p:sp>
      <p:sp>
        <p:nvSpPr>
          <p:cNvPr id="19461" name="矩形 5"/>
          <p:cNvSpPr>
            <a:spLocks noChangeArrowheads="1"/>
          </p:cNvSpPr>
          <p:nvPr/>
        </p:nvSpPr>
        <p:spPr bwMode="auto">
          <a:xfrm>
            <a:off x="2303463" y="2249488"/>
            <a:ext cx="3421062" cy="317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和名人微博互动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学会和异性搭讪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学会欣赏别人的优点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爱情是人生的宝贵经历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zh-CN" altLang="en-US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79613" y="5591175"/>
            <a:ext cx="2927350" cy="641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推荐书籍：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《</a:t>
            </a:r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象与骑象人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》</a:t>
            </a:r>
          </a:p>
          <a:p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推荐人物：  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@</a:t>
            </a:r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刘健亮</a:t>
            </a:r>
          </a:p>
        </p:txBody>
      </p:sp>
      <p:sp>
        <p:nvSpPr>
          <p:cNvPr id="19463" name="Rectangle 2"/>
          <p:cNvSpPr>
            <a:spLocks noChangeArrowheads="1"/>
          </p:cNvSpPr>
          <p:nvPr/>
        </p:nvSpPr>
        <p:spPr bwMode="auto">
          <a:xfrm>
            <a:off x="1979613" y="22590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◆</a:t>
            </a:r>
          </a:p>
        </p:txBody>
      </p:sp>
      <p:sp>
        <p:nvSpPr>
          <p:cNvPr id="19464" name="Rectangle 2"/>
          <p:cNvSpPr>
            <a:spLocks noChangeArrowheads="1"/>
          </p:cNvSpPr>
          <p:nvPr/>
        </p:nvSpPr>
        <p:spPr bwMode="auto">
          <a:xfrm>
            <a:off x="1979613" y="286226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◆</a:t>
            </a:r>
          </a:p>
        </p:txBody>
      </p:sp>
      <p:sp>
        <p:nvSpPr>
          <p:cNvPr id="19465" name="Rectangle 2"/>
          <p:cNvSpPr>
            <a:spLocks noChangeArrowheads="1"/>
          </p:cNvSpPr>
          <p:nvPr/>
        </p:nvSpPr>
        <p:spPr bwMode="auto">
          <a:xfrm>
            <a:off x="1979613" y="34671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◆</a:t>
            </a:r>
          </a:p>
        </p:txBody>
      </p:sp>
      <p:sp>
        <p:nvSpPr>
          <p:cNvPr id="19466" name="Rectangle 2"/>
          <p:cNvSpPr>
            <a:spLocks noChangeArrowheads="1"/>
          </p:cNvSpPr>
          <p:nvPr/>
        </p:nvSpPr>
        <p:spPr bwMode="auto">
          <a:xfrm>
            <a:off x="1979613" y="407035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2" cstate="print">
            <a:lum bright="100000" contrast="-70000"/>
            <a:biLevel thresh="50000"/>
            <a:grayscl/>
          </a:blip>
          <a:srcRect/>
          <a:stretch>
            <a:fillRect/>
          </a:stretch>
        </p:blipFill>
        <p:spPr bwMode="auto">
          <a:xfrm>
            <a:off x="463550" y="828675"/>
            <a:ext cx="2528888" cy="41640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20482" name="TextBox 3"/>
          <p:cNvSpPr txBox="1">
            <a:spLocks noChangeArrowheads="1"/>
          </p:cNvSpPr>
          <p:nvPr/>
        </p:nvSpPr>
        <p:spPr bwMode="auto">
          <a:xfrm>
            <a:off x="1619250" y="5591175"/>
            <a:ext cx="158432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600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NO</a:t>
            </a:r>
            <a:r>
              <a:rPr lang="en-US" altLang="zh-CN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5</a:t>
            </a:r>
            <a:r>
              <a:rPr lang="en-US" altLang="zh-CN" sz="3600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.</a:t>
            </a:r>
            <a:endParaRPr lang="zh-CN" altLang="en-US" sz="3600" b="1">
              <a:solidFill>
                <a:schemeClr val="bg1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5" name="肘形连接符 4"/>
          <p:cNvCxnSpPr/>
          <p:nvPr/>
        </p:nvCxnSpPr>
        <p:spPr>
          <a:xfrm rot="5400000" flipH="1" flipV="1">
            <a:off x="2592388" y="1366837"/>
            <a:ext cx="5111750" cy="4321175"/>
          </a:xfrm>
          <a:prstGeom prst="bentConnector3">
            <a:avLst>
              <a:gd name="adj1" fmla="val 10823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348038" y="981075"/>
            <a:ext cx="3744912" cy="701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/>
            <a:r>
              <a:rPr lang="zh-CN" altLang="en-US" sz="4000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考研和就业</a:t>
            </a:r>
          </a:p>
        </p:txBody>
      </p:sp>
      <p:sp>
        <p:nvSpPr>
          <p:cNvPr id="20485" name="矩形 6"/>
          <p:cNvSpPr>
            <a:spLocks noChangeArrowheads="1"/>
          </p:cNvSpPr>
          <p:nvPr/>
        </p:nvSpPr>
        <p:spPr bwMode="auto">
          <a:xfrm>
            <a:off x="2195513" y="1989138"/>
            <a:ext cx="4572000" cy="224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考研决策因素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考研风险评估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endParaRPr lang="zh-CN" altLang="en-US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公务员的利弊分析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endParaRPr lang="zh-CN" altLang="en-US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考研就业只是走向目标的两条路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76600" y="5591175"/>
            <a:ext cx="3841750" cy="641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推荐书籍：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《</a:t>
            </a:r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有了博士学位还不够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》</a:t>
            </a:r>
          </a:p>
          <a:p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推荐人物：  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@</a:t>
            </a:r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曹将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PPTao</a:t>
            </a:r>
            <a:endParaRPr lang="zh-CN" altLang="en-US">
              <a:solidFill>
                <a:srgbClr val="B2B2B2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20487" name="Rectangle 2"/>
          <p:cNvSpPr>
            <a:spLocks noChangeArrowheads="1"/>
          </p:cNvSpPr>
          <p:nvPr/>
        </p:nvSpPr>
        <p:spPr bwMode="auto">
          <a:xfrm>
            <a:off x="6659563" y="198913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●</a:t>
            </a:r>
          </a:p>
        </p:txBody>
      </p:sp>
      <p:sp>
        <p:nvSpPr>
          <p:cNvPr id="20488" name="Rectangle 2"/>
          <p:cNvSpPr>
            <a:spLocks noChangeArrowheads="1"/>
          </p:cNvSpPr>
          <p:nvPr/>
        </p:nvSpPr>
        <p:spPr bwMode="auto">
          <a:xfrm>
            <a:off x="6659563" y="259556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●</a:t>
            </a:r>
          </a:p>
        </p:txBody>
      </p:sp>
      <p:sp>
        <p:nvSpPr>
          <p:cNvPr id="20489" name="Rectangle 2"/>
          <p:cNvSpPr>
            <a:spLocks noChangeArrowheads="1"/>
          </p:cNvSpPr>
          <p:nvPr/>
        </p:nvSpPr>
        <p:spPr bwMode="auto">
          <a:xfrm>
            <a:off x="6659563" y="320198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●</a:t>
            </a:r>
          </a:p>
        </p:txBody>
      </p:sp>
      <p:sp>
        <p:nvSpPr>
          <p:cNvPr id="20490" name="Rectangle 2"/>
          <p:cNvSpPr>
            <a:spLocks noChangeArrowheads="1"/>
          </p:cNvSpPr>
          <p:nvPr/>
        </p:nvSpPr>
        <p:spPr bwMode="auto">
          <a:xfrm>
            <a:off x="6659563" y="38100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2" cstate="print">
            <a:lum bright="100000" contrast="-70000"/>
            <a:biLevel thresh="50000"/>
            <a:grayscl/>
          </a:blip>
          <a:srcRect/>
          <a:stretch>
            <a:fillRect/>
          </a:stretch>
        </p:blipFill>
        <p:spPr bwMode="auto">
          <a:xfrm>
            <a:off x="6291263" y="1530350"/>
            <a:ext cx="2859087" cy="3797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21506" name="TextBox 8"/>
          <p:cNvSpPr txBox="1">
            <a:spLocks noChangeArrowheads="1"/>
          </p:cNvSpPr>
          <p:nvPr/>
        </p:nvSpPr>
        <p:spPr bwMode="auto">
          <a:xfrm>
            <a:off x="6516688" y="5735638"/>
            <a:ext cx="1584325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600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NO</a:t>
            </a:r>
            <a:r>
              <a:rPr lang="en-US" altLang="zh-CN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6</a:t>
            </a:r>
            <a:r>
              <a:rPr lang="en-US" altLang="zh-CN" sz="3600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.</a:t>
            </a:r>
            <a:endParaRPr lang="zh-CN" altLang="en-US" sz="3600" b="1">
              <a:solidFill>
                <a:schemeClr val="bg1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10" name="肘形连接符 9"/>
          <p:cNvCxnSpPr/>
          <p:nvPr/>
        </p:nvCxnSpPr>
        <p:spPr>
          <a:xfrm rot="16200000" flipV="1">
            <a:off x="1731962" y="1525588"/>
            <a:ext cx="4868863" cy="4554538"/>
          </a:xfrm>
          <a:prstGeom prst="bentConnector3">
            <a:avLst>
              <a:gd name="adj1" fmla="val 14521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1550" y="1341438"/>
            <a:ext cx="3744913" cy="701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/>
            <a:r>
              <a:rPr lang="zh-CN" altLang="en-US" sz="4000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求职和创业</a:t>
            </a:r>
          </a:p>
        </p:txBody>
      </p:sp>
      <p:sp>
        <p:nvSpPr>
          <p:cNvPr id="21509" name="矩形 11"/>
          <p:cNvSpPr>
            <a:spLocks noChangeArrowheads="1"/>
          </p:cNvSpPr>
          <p:nvPr/>
        </p:nvSpPr>
        <p:spPr bwMode="auto">
          <a:xfrm>
            <a:off x="2376488" y="2249488"/>
            <a:ext cx="4572000" cy="286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写好简历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了解面试公司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学习商务礼仪知识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创业不是一件容易的事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zh-CN" altLang="en-US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51050" y="5591175"/>
            <a:ext cx="3432175" cy="641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推荐书籍：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《</a:t>
            </a:r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创业的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36</a:t>
            </a:r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条军规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》</a:t>
            </a:r>
          </a:p>
          <a:p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推荐人物：  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@</a:t>
            </a:r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请叫我许胖纸</a:t>
            </a:r>
          </a:p>
        </p:txBody>
      </p:sp>
      <p:sp>
        <p:nvSpPr>
          <p:cNvPr id="21511" name="Rectangle 2"/>
          <p:cNvSpPr>
            <a:spLocks noChangeArrowheads="1"/>
          </p:cNvSpPr>
          <p:nvPr/>
        </p:nvSpPr>
        <p:spPr bwMode="auto">
          <a:xfrm>
            <a:off x="2051050" y="22590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◆</a:t>
            </a:r>
          </a:p>
        </p:txBody>
      </p:sp>
      <p:sp>
        <p:nvSpPr>
          <p:cNvPr id="21512" name="Rectangle 2"/>
          <p:cNvSpPr>
            <a:spLocks noChangeArrowheads="1"/>
          </p:cNvSpPr>
          <p:nvPr/>
        </p:nvSpPr>
        <p:spPr bwMode="auto">
          <a:xfrm>
            <a:off x="2051050" y="286226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◆</a:t>
            </a:r>
          </a:p>
        </p:txBody>
      </p:sp>
      <p:sp>
        <p:nvSpPr>
          <p:cNvPr id="21513" name="Rectangle 2"/>
          <p:cNvSpPr>
            <a:spLocks noChangeArrowheads="1"/>
          </p:cNvSpPr>
          <p:nvPr/>
        </p:nvSpPr>
        <p:spPr bwMode="auto">
          <a:xfrm>
            <a:off x="2051050" y="34671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◆</a:t>
            </a:r>
          </a:p>
        </p:txBody>
      </p:sp>
      <p:sp>
        <p:nvSpPr>
          <p:cNvPr id="21514" name="Rectangle 2"/>
          <p:cNvSpPr>
            <a:spLocks noChangeArrowheads="1"/>
          </p:cNvSpPr>
          <p:nvPr/>
        </p:nvSpPr>
        <p:spPr bwMode="auto">
          <a:xfrm>
            <a:off x="2051050" y="407035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2" cstate="print">
            <a:lum bright="100000" contrast="-70000"/>
            <a:biLevel thresh="50000"/>
            <a:grayscl/>
          </a:blip>
          <a:srcRect/>
          <a:stretch>
            <a:fillRect/>
          </a:stretch>
        </p:blipFill>
        <p:spPr bwMode="auto">
          <a:xfrm>
            <a:off x="-30163" y="1292225"/>
            <a:ext cx="2809876" cy="38592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22530" name="TextBox 2"/>
          <p:cNvSpPr txBox="1">
            <a:spLocks noChangeArrowheads="1"/>
          </p:cNvSpPr>
          <p:nvPr/>
        </p:nvSpPr>
        <p:spPr bwMode="auto">
          <a:xfrm>
            <a:off x="1619250" y="5591175"/>
            <a:ext cx="158432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600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NO</a:t>
            </a:r>
            <a:r>
              <a:rPr lang="en-US" altLang="zh-CN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7</a:t>
            </a:r>
            <a:r>
              <a:rPr lang="en-US" altLang="zh-CN" sz="3600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.</a:t>
            </a:r>
            <a:endParaRPr lang="zh-CN" altLang="en-US" sz="3600" b="1">
              <a:solidFill>
                <a:schemeClr val="bg1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4" name="肘形连接符 3"/>
          <p:cNvCxnSpPr/>
          <p:nvPr/>
        </p:nvCxnSpPr>
        <p:spPr>
          <a:xfrm rot="5400000" flipH="1" flipV="1">
            <a:off x="2592388" y="1366837"/>
            <a:ext cx="5111750" cy="4321175"/>
          </a:xfrm>
          <a:prstGeom prst="bentConnector3">
            <a:avLst>
              <a:gd name="adj1" fmla="val 10823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348038" y="981075"/>
            <a:ext cx="3744912" cy="701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/>
            <a:r>
              <a:rPr lang="zh-CN" altLang="en-US" sz="4000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生活和习惯</a:t>
            </a:r>
          </a:p>
        </p:txBody>
      </p:sp>
      <p:sp>
        <p:nvSpPr>
          <p:cNvPr id="22533" name="矩形 5"/>
          <p:cNvSpPr>
            <a:spLocks noChangeArrowheads="1"/>
          </p:cNvSpPr>
          <p:nvPr/>
        </p:nvSpPr>
        <p:spPr bwMode="auto">
          <a:xfrm>
            <a:off x="2195513" y="1989138"/>
            <a:ext cx="4572000" cy="224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击败拖延症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培养专注力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endParaRPr lang="zh-CN" altLang="en-US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学会记账培养理财</a:t>
            </a:r>
          </a:p>
          <a:p>
            <a:pPr algn="r"/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pPr algn="r"/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留住你的好奇心和观察力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78275" y="5591175"/>
            <a:ext cx="3155950" cy="641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推荐书籍：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《</a:t>
            </a:r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思考，快与慢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》</a:t>
            </a:r>
          </a:p>
          <a:p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推荐人物：  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@</a:t>
            </a:r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谷月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K</a:t>
            </a:r>
            <a:endParaRPr lang="zh-CN" altLang="en-US">
              <a:solidFill>
                <a:srgbClr val="B2B2B2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22535" name="Rectangle 2"/>
          <p:cNvSpPr>
            <a:spLocks noChangeArrowheads="1"/>
          </p:cNvSpPr>
          <p:nvPr/>
        </p:nvSpPr>
        <p:spPr bwMode="auto">
          <a:xfrm>
            <a:off x="6659563" y="198913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●</a:t>
            </a:r>
          </a:p>
        </p:txBody>
      </p:sp>
      <p:sp>
        <p:nvSpPr>
          <p:cNvPr id="22536" name="Rectangle 2"/>
          <p:cNvSpPr>
            <a:spLocks noChangeArrowheads="1"/>
          </p:cNvSpPr>
          <p:nvPr/>
        </p:nvSpPr>
        <p:spPr bwMode="auto">
          <a:xfrm>
            <a:off x="6659563" y="259556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●</a:t>
            </a:r>
          </a:p>
        </p:txBody>
      </p:sp>
      <p:sp>
        <p:nvSpPr>
          <p:cNvPr id="22537" name="Rectangle 2"/>
          <p:cNvSpPr>
            <a:spLocks noChangeArrowheads="1"/>
          </p:cNvSpPr>
          <p:nvPr/>
        </p:nvSpPr>
        <p:spPr bwMode="auto">
          <a:xfrm>
            <a:off x="6659563" y="320198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●</a:t>
            </a:r>
          </a:p>
        </p:txBody>
      </p:sp>
      <p:sp>
        <p:nvSpPr>
          <p:cNvPr id="22538" name="Rectangle 2"/>
          <p:cNvSpPr>
            <a:spLocks noChangeArrowheads="1"/>
          </p:cNvSpPr>
          <p:nvPr/>
        </p:nvSpPr>
        <p:spPr bwMode="auto">
          <a:xfrm>
            <a:off x="6659563" y="38100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2" cstate="print">
            <a:lum bright="100000" contrast="-70000"/>
            <a:biLevel thresh="50000"/>
            <a:grayscl/>
          </a:blip>
          <a:srcRect/>
          <a:stretch>
            <a:fillRect/>
          </a:stretch>
        </p:blipFill>
        <p:spPr bwMode="auto">
          <a:xfrm>
            <a:off x="5894388" y="1316038"/>
            <a:ext cx="3225800" cy="4425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23554" name="TextBox 2"/>
          <p:cNvSpPr txBox="1">
            <a:spLocks noChangeArrowheads="1"/>
          </p:cNvSpPr>
          <p:nvPr/>
        </p:nvSpPr>
        <p:spPr bwMode="auto">
          <a:xfrm>
            <a:off x="6516688" y="5735638"/>
            <a:ext cx="1584325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600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NO</a:t>
            </a:r>
            <a:r>
              <a:rPr lang="en-US" altLang="zh-CN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8</a:t>
            </a:r>
            <a:r>
              <a:rPr lang="en-US" altLang="zh-CN" sz="3600" b="1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.</a:t>
            </a:r>
            <a:endParaRPr lang="zh-CN" altLang="en-US" sz="3600" b="1">
              <a:solidFill>
                <a:schemeClr val="bg1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cxnSp>
        <p:nvCxnSpPr>
          <p:cNvPr id="4" name="肘形连接符 3"/>
          <p:cNvCxnSpPr/>
          <p:nvPr/>
        </p:nvCxnSpPr>
        <p:spPr>
          <a:xfrm rot="16200000" flipV="1">
            <a:off x="1731962" y="1525588"/>
            <a:ext cx="4868863" cy="4554538"/>
          </a:xfrm>
          <a:prstGeom prst="bentConnector3">
            <a:avLst>
              <a:gd name="adj1" fmla="val 14521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4425" y="1352550"/>
            <a:ext cx="3744913" cy="701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/>
            <a:r>
              <a:rPr lang="zh-CN" altLang="en-US" sz="4000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个人和社会</a:t>
            </a:r>
          </a:p>
        </p:txBody>
      </p:sp>
      <p:sp>
        <p:nvSpPr>
          <p:cNvPr id="23557" name="矩形 5"/>
          <p:cNvSpPr>
            <a:spLocks noChangeArrowheads="1"/>
          </p:cNvSpPr>
          <p:nvPr/>
        </p:nvSpPr>
        <p:spPr bwMode="auto">
          <a:xfrm>
            <a:off x="2447925" y="2249488"/>
            <a:ext cx="4572000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请拥抱社会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寻找身边正能量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做一个合格的公民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sz="200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请学会养成独立思考</a:t>
            </a:r>
            <a:endParaRPr lang="en-US" altLang="zh-CN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endParaRPr lang="zh-CN" altLang="en-US" sz="200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06613" y="5591175"/>
            <a:ext cx="3155950" cy="641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推荐书籍：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《</a:t>
            </a:r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重新发现社会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》</a:t>
            </a:r>
          </a:p>
          <a:p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推荐人物：  </a:t>
            </a:r>
            <a:r>
              <a:rPr lang="en-US" altLang="zh-CN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@Dian</a:t>
            </a:r>
            <a:r>
              <a:rPr lang="zh-CN" altLang="en-US">
                <a:solidFill>
                  <a:srgbClr val="B2B2B2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小威</a:t>
            </a:r>
          </a:p>
        </p:txBody>
      </p:sp>
      <p:sp>
        <p:nvSpPr>
          <p:cNvPr id="23559" name="Rectangle 2"/>
          <p:cNvSpPr>
            <a:spLocks noChangeArrowheads="1"/>
          </p:cNvSpPr>
          <p:nvPr/>
        </p:nvSpPr>
        <p:spPr bwMode="auto">
          <a:xfrm>
            <a:off x="2143125" y="2276475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◆</a:t>
            </a:r>
          </a:p>
        </p:txBody>
      </p:sp>
      <p:sp>
        <p:nvSpPr>
          <p:cNvPr id="23560" name="Rectangle 2"/>
          <p:cNvSpPr>
            <a:spLocks noChangeArrowheads="1"/>
          </p:cNvSpPr>
          <p:nvPr/>
        </p:nvSpPr>
        <p:spPr bwMode="auto">
          <a:xfrm>
            <a:off x="2143125" y="28813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◆</a:t>
            </a:r>
          </a:p>
        </p:txBody>
      </p:sp>
      <p:sp>
        <p:nvSpPr>
          <p:cNvPr id="23561" name="Rectangle 2"/>
          <p:cNvSpPr>
            <a:spLocks noChangeArrowheads="1"/>
          </p:cNvSpPr>
          <p:nvPr/>
        </p:nvSpPr>
        <p:spPr bwMode="auto">
          <a:xfrm>
            <a:off x="2143125" y="348456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◆</a:t>
            </a:r>
          </a:p>
        </p:txBody>
      </p:sp>
      <p:sp>
        <p:nvSpPr>
          <p:cNvPr id="23562" name="Rectangle 2"/>
          <p:cNvSpPr>
            <a:spLocks noChangeArrowheads="1"/>
          </p:cNvSpPr>
          <p:nvPr/>
        </p:nvSpPr>
        <p:spPr bwMode="auto">
          <a:xfrm>
            <a:off x="2143125" y="40878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bg1"/>
                </a:solidFill>
              </a:rPr>
              <a:t>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00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417833">
            <a:off x="7444607" y="844892"/>
            <a:ext cx="1100113" cy="16288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6" name="图片 15" descr="4c4cee11jw1dva0fenv9vj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658658">
            <a:off x="5376687" y="4930039"/>
            <a:ext cx="1331125" cy="177281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7" name="图片 16" descr="008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1110903">
            <a:off x="3259774" y="247058"/>
            <a:ext cx="941851" cy="141277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8" name="图片 17" descr="013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815446">
            <a:off x="7620702" y="3889185"/>
            <a:ext cx="1037861" cy="155679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9" name="图片 18" descr="016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012160" y="1124744"/>
            <a:ext cx="960107" cy="144016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1" name="图片 20" descr="017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11560" y="1700808"/>
            <a:ext cx="1248139" cy="187220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3" name="图片 22" descr="019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20284431">
            <a:off x="1791774" y="4464777"/>
            <a:ext cx="1296144" cy="19442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4" name="图片 23" descr="023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635896" y="2060848"/>
            <a:ext cx="1853952" cy="278092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13" name="矩形 12"/>
          <p:cNvSpPr/>
          <p:nvPr/>
        </p:nvSpPr>
        <p:spPr>
          <a:xfrm>
            <a:off x="0" y="2280270"/>
            <a:ext cx="9144000" cy="2228850"/>
          </a:xfrm>
          <a:prstGeom prst="rect">
            <a:avLst/>
          </a:prstGeom>
          <a:solidFill>
            <a:schemeClr val="tx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4586" name="TextBox 14"/>
          <p:cNvSpPr txBox="1">
            <a:spLocks noChangeArrowheads="1"/>
          </p:cNvSpPr>
          <p:nvPr/>
        </p:nvSpPr>
        <p:spPr bwMode="auto">
          <a:xfrm>
            <a:off x="1393825" y="2411413"/>
            <a:ext cx="3067050" cy="14652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作者简介：</a:t>
            </a:r>
            <a:endParaRPr lang="en-US" altLang="zh-CN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原名：张志</a:t>
            </a:r>
            <a:endParaRPr lang="en-US" altLang="zh-CN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俗称：秋叶大叔</a:t>
            </a:r>
            <a:endParaRPr lang="en-US" altLang="zh-CN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大号：</a:t>
            </a:r>
            <a:r>
              <a:rPr lang="en-US" altLang="zh-CN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Q</a:t>
            </a:r>
            <a:r>
              <a:rPr lang="zh-CN" altLang="en-US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叔</a:t>
            </a:r>
            <a:endParaRPr lang="en-US" altLang="zh-CN" dirty="0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人生信条：组织内</a:t>
            </a:r>
            <a:r>
              <a:rPr lang="en-US" altLang="zh-CN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U</a:t>
            </a:r>
            <a:r>
              <a:rPr lang="zh-CN" altLang="en-US" dirty="0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盘化生存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4427538" y="3851275"/>
            <a:ext cx="275907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PPT</a:t>
            </a:r>
            <a:r>
              <a:rPr lang="zh-CN" altLang="en-US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制作：</a:t>
            </a:r>
            <a:r>
              <a:rPr lang="en-US" altLang="zh-CN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@wm_</a:t>
            </a:r>
            <a:r>
              <a:rPr lang="zh-CN" altLang="en-US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知易行难</a:t>
            </a:r>
          </a:p>
        </p:txBody>
      </p:sp>
      <p:cxnSp>
        <p:nvCxnSpPr>
          <p:cNvPr id="22" name="肘形连接符 21"/>
          <p:cNvCxnSpPr/>
          <p:nvPr/>
        </p:nvCxnSpPr>
        <p:spPr>
          <a:xfrm>
            <a:off x="1476375" y="3851275"/>
            <a:ext cx="5675313" cy="319088"/>
          </a:xfrm>
          <a:prstGeom prst="bentConnector3">
            <a:avLst>
              <a:gd name="adj1" fmla="val 51534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7092950" y="4140200"/>
            <a:ext cx="10985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谢谢观看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7956376" y="2420938"/>
            <a:ext cx="1368425" cy="20605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8" name="图片 7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49440" y="2305901"/>
            <a:ext cx="1474788" cy="22050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7" name="图片 6"/>
          <p:cNvPicPr>
            <a:picLocks noChangeAspect="1" noChangeArrowheads="1"/>
          </p:cNvPicPr>
          <p:nvPr/>
        </p:nvPicPr>
        <p:blipFill>
          <a:blip r:embed="rId4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3303588" y="980728"/>
            <a:ext cx="2535237" cy="41640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13" name="矩形 12"/>
          <p:cNvSpPr/>
          <p:nvPr/>
        </p:nvSpPr>
        <p:spPr>
          <a:xfrm>
            <a:off x="0" y="2280270"/>
            <a:ext cx="9144000" cy="2228850"/>
          </a:xfrm>
          <a:prstGeom prst="rect">
            <a:avLst/>
          </a:prstGeom>
          <a:solidFill>
            <a:schemeClr val="tx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6" name="图片 5"/>
          <p:cNvPicPr>
            <a:picLocks noChangeAspect="1" noChangeArrowheads="1"/>
          </p:cNvPicPr>
          <p:nvPr/>
        </p:nvPicPr>
        <p:blipFill>
          <a:blip r:embed="rId5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7164388" y="547688"/>
            <a:ext cx="1155700" cy="17287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9" name="图片 8"/>
          <p:cNvPicPr>
            <a:picLocks noChangeAspect="1" noChangeArrowheads="1"/>
          </p:cNvPicPr>
          <p:nvPr/>
        </p:nvPicPr>
        <p:blipFill>
          <a:blip r:embed="rId6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1619250" y="406400"/>
            <a:ext cx="1393825" cy="20859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10" name="图片 9"/>
          <p:cNvPicPr>
            <a:picLocks noChangeAspect="1" noChangeArrowheads="1"/>
          </p:cNvPicPr>
          <p:nvPr/>
        </p:nvPicPr>
        <p:blipFill>
          <a:blip r:embed="rId7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5795963" y="4392613"/>
            <a:ext cx="1512887" cy="24923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11" name="图片 10"/>
          <p:cNvPicPr>
            <a:picLocks noChangeAspect="1" noChangeArrowheads="1"/>
          </p:cNvPicPr>
          <p:nvPr/>
        </p:nvPicPr>
        <p:blipFill>
          <a:blip r:embed="rId8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5435600" y="765175"/>
            <a:ext cx="1009650" cy="1511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12" name="图片 11"/>
          <p:cNvPicPr>
            <a:picLocks noChangeAspect="1" noChangeArrowheads="1"/>
          </p:cNvPicPr>
          <p:nvPr/>
        </p:nvPicPr>
        <p:blipFill>
          <a:blip r:embed="rId9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1547813" y="5024438"/>
            <a:ext cx="1223962" cy="1860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24586" name="TextBox 14"/>
          <p:cNvSpPr txBox="1">
            <a:spLocks noChangeArrowheads="1"/>
          </p:cNvSpPr>
          <p:nvPr/>
        </p:nvSpPr>
        <p:spPr bwMode="auto">
          <a:xfrm>
            <a:off x="1393825" y="2411413"/>
            <a:ext cx="3067050" cy="14652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作者简介：</a:t>
            </a:r>
            <a:endParaRPr lang="en-US" altLang="zh-CN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原名：张志</a:t>
            </a:r>
            <a:endParaRPr lang="en-US" altLang="zh-CN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俗称：秋叶大叔</a:t>
            </a:r>
            <a:endParaRPr lang="en-US" altLang="zh-CN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大号：</a:t>
            </a:r>
            <a:r>
              <a:rPr lang="en-US" altLang="zh-CN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Q</a:t>
            </a:r>
            <a:r>
              <a:rPr lang="zh-CN" altLang="en-US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叔</a:t>
            </a:r>
            <a:endParaRPr lang="en-US" altLang="zh-CN">
              <a:solidFill>
                <a:schemeClr val="bg1"/>
              </a:solidFill>
              <a:latin typeface="造字工房悦黑体验版常规体" pitchFamily="50" charset="-122"/>
              <a:ea typeface="造字工房悦黑体验版常规体" pitchFamily="50" charset="-122"/>
            </a:endParaRPr>
          </a:p>
          <a:p>
            <a:r>
              <a:rPr lang="zh-CN" altLang="en-US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人生信条：组织内</a:t>
            </a:r>
            <a:r>
              <a:rPr lang="en-US" altLang="zh-CN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U</a:t>
            </a:r>
            <a:r>
              <a:rPr lang="zh-CN" altLang="en-US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盘化生存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4427538" y="3851275"/>
            <a:ext cx="2759075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PPT</a:t>
            </a:r>
            <a:r>
              <a:rPr lang="zh-CN" altLang="en-US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制作：</a:t>
            </a:r>
            <a:r>
              <a:rPr lang="en-US" altLang="zh-CN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@wm_</a:t>
            </a:r>
            <a:r>
              <a:rPr lang="zh-CN" altLang="en-US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知易行难</a:t>
            </a:r>
          </a:p>
        </p:txBody>
      </p:sp>
      <p:cxnSp>
        <p:nvCxnSpPr>
          <p:cNvPr id="22" name="肘形连接符 21"/>
          <p:cNvCxnSpPr/>
          <p:nvPr/>
        </p:nvCxnSpPr>
        <p:spPr>
          <a:xfrm>
            <a:off x="1476375" y="3851275"/>
            <a:ext cx="5675313" cy="319088"/>
          </a:xfrm>
          <a:prstGeom prst="bentConnector3">
            <a:avLst>
              <a:gd name="adj1" fmla="val 51534"/>
            </a:avLst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7092950" y="4140200"/>
            <a:ext cx="10985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造字工房悦黑体验版常规体" pitchFamily="50" charset="-122"/>
                <a:ea typeface="造字工房悦黑体验版常规体" pitchFamily="50" charset="-122"/>
              </a:rPr>
              <a:t>谢谢观看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554912"/>
            <a:ext cx="91440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  <a:endParaRPr lang="zh-CN" altLang="en-US" sz="2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22812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4893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79370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380" y="4139575"/>
            <a:ext cx="9144000" cy="216982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fontAlgn="auto">
              <a:spcBef>
                <a:spcPts val="180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auto">
              <a:spcBef>
                <a:spcPts val="1800"/>
              </a:spcBef>
              <a:spcAft>
                <a:spcPts val="0"/>
              </a:spcAft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1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2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3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4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  <a:endParaRPr lang="zh-CN" altLang="en-US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23410" y="4509150"/>
            <a:ext cx="8497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07380" y="2024805"/>
            <a:ext cx="1944270" cy="1341376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81146" y="2024805"/>
            <a:ext cx="1944270" cy="1341376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17672" y="2024805"/>
            <a:ext cx="1944270" cy="1341376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浪微博晒作业被老师肯定奖励内部选书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865719" y="2024805"/>
            <a:ext cx="1944270" cy="1341376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8183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79" y="4077072"/>
            <a:ext cx="9169004" cy="1607344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232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91989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400" kern="0" dirty="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rPr>
                <a:t/>
              </a:r>
              <a:br>
                <a:rPr lang="en-US" altLang="zh-CN" sz="1400" kern="0" dirty="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rPr>
              </a:br>
              <a:endParaRPr lang="en-US" altLang="zh-CN" sz="1400" kern="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85800">
                <a:defRPr/>
              </a:pPr>
              <a:endParaRPr lang="zh-CN" altLang="en-US" sz="135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hangingPunct="0">
                <a:defRPr/>
              </a:pPr>
              <a:endParaRPr lang="zh-CN" altLang="en-US" sz="105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0" y="3613173"/>
              <a:ext cx="594122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30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60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496470" cy="906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4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5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4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40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8580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endParaRPr lang="zh-CN" altLang="en-US" sz="78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hangingPunct="0">
                  <a:defRPr/>
                </a:pPr>
                <a:endParaRPr lang="zh-CN" altLang="en-US" sz="1050" kern="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hangingPunct="0">
                  <a:defRPr/>
                </a:pPr>
                <a:endParaRPr lang="zh-CN" altLang="en-US" sz="1050" kern="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hangingPunct="0">
                  <a:defRPr/>
                </a:pPr>
                <a:endParaRPr lang="zh-CN" altLang="en-US" sz="1050" kern="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5"/>
              <a:ext cx="1596629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0" hangingPunct="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10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hangingPunct="0">
                <a:defRPr/>
              </a:pPr>
              <a:endParaRPr lang="zh-CN" altLang="en-US" sz="105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hangingPunct="0">
                  <a:defRPr/>
                </a:pPr>
                <a:endParaRPr lang="zh-CN" altLang="en-US" sz="1050" kern="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hangingPunct="0">
                  <a:defRPr/>
                </a:pPr>
                <a:endParaRPr lang="zh-CN" altLang="en-US" sz="1050" kern="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8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0" hangingPunct="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10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hangingPunct="0">
                <a:defRPr/>
              </a:pPr>
              <a:endParaRPr lang="zh-CN" altLang="en-US" sz="135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hangingPunct="0">
                  <a:defRPr/>
                </a:pPr>
                <a:endParaRPr lang="zh-CN" altLang="en-US" sz="1350" kern="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2" y="4353742"/>
              <a:ext cx="3070071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150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367521" y="908720"/>
            <a:ext cx="640895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fontAlgn="auto">
              <a:spcBef>
                <a:spcPts val="3000"/>
              </a:spcBef>
              <a:spcAft>
                <a:spcPts val="0"/>
              </a:spcAft>
            </a:pPr>
            <a:r>
              <a:rPr lang="zh-CN" altLang="en-US" sz="4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</a:t>
            </a:r>
            <a:r>
              <a:rPr lang="zh-CN" altLang="en-US" sz="4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</a:t>
            </a:r>
            <a:r>
              <a:rPr lang="en-US" altLang="zh-CN" sz="4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116</a:t>
            </a:r>
            <a:r>
              <a:rPr lang="zh-CN" altLang="en-US" sz="4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4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spcBef>
                <a:spcPts val="300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71904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</TotalTime>
  <Words>666</Words>
  <Application>Microsoft Office PowerPoint</Application>
  <PresentationFormat>全屏显示(4:3)</PresentationFormat>
  <Paragraphs>174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微软雅黑</vt:lpstr>
      <vt:lpstr>宋体</vt:lpstr>
      <vt:lpstr>Arial Unicode MS</vt:lpstr>
      <vt:lpstr>方正正黑简体</vt:lpstr>
      <vt:lpstr>方正正中黑简体</vt:lpstr>
      <vt:lpstr>Calibri</vt:lpstr>
      <vt:lpstr>造字工房悦黑体验版常规体</vt:lpstr>
      <vt:lpstr>Arial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wm</dc:creator>
  <cp:lastModifiedBy>小巴</cp:lastModifiedBy>
  <cp:revision>89</cp:revision>
  <dcterms:created xsi:type="dcterms:W3CDTF">2014-05-14T05:04:55Z</dcterms:created>
  <dcterms:modified xsi:type="dcterms:W3CDTF">2014-06-12T02:46:28Z</dcterms:modified>
</cp:coreProperties>
</file>