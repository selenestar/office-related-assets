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1"/>
  </p:notesMasterIdLst>
  <p:sldIdLst>
    <p:sldId id="288" r:id="rId4"/>
    <p:sldId id="289" r:id="rId5"/>
    <p:sldId id="290" r:id="rId6"/>
    <p:sldId id="291" r:id="rId7"/>
    <p:sldId id="292" r:id="rId8"/>
    <p:sldId id="294" r:id="rId9"/>
    <p:sldId id="296" r:id="rId10"/>
    <p:sldId id="295" r:id="rId11"/>
    <p:sldId id="298" r:id="rId12"/>
    <p:sldId id="297" r:id="rId13"/>
    <p:sldId id="300" r:id="rId14"/>
    <p:sldId id="301" r:id="rId15"/>
    <p:sldId id="299" r:id="rId16"/>
    <p:sldId id="293" r:id="rId17"/>
    <p:sldId id="302" r:id="rId18"/>
    <p:sldId id="303" r:id="rId19"/>
    <p:sldId id="30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2" userDrawn="1">
          <p15:clr>
            <a:srgbClr val="A4A3A4"/>
          </p15:clr>
        </p15:guide>
        <p15:guide id="2" pos="2638" userDrawn="1">
          <p15:clr>
            <a:srgbClr val="A4A3A4"/>
          </p15:clr>
        </p15:guide>
        <p15:guide id="3" orient="horz" pos="3838" userDrawn="1">
          <p15:clr>
            <a:srgbClr val="A4A3A4"/>
          </p15:clr>
        </p15:guide>
        <p15:guide id="4" pos="72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8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1" autoAdjust="0"/>
    <p:restoredTop sz="94414" autoAdjust="0"/>
  </p:normalViewPr>
  <p:slideViewPr>
    <p:cSldViewPr snapToGrid="0">
      <p:cViewPr varScale="1">
        <p:scale>
          <a:sx n="74" d="100"/>
          <a:sy n="74" d="100"/>
        </p:scale>
        <p:origin x="462" y="72"/>
      </p:cViewPr>
      <p:guideLst>
        <p:guide orient="horz" pos="1412"/>
        <p:guide pos="2638"/>
        <p:guide orient="horz" pos="3838"/>
        <p:guide pos="721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3AD0A-4A50-47B2-82A2-2DA51326382F}" type="datetimeFigureOut">
              <a:rPr lang="zh-CN" altLang="en-US" smtClean="0"/>
              <a:t>2014/3/16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C4082-B690-4E37-BC60-F5E87C6BC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674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F773-A66D-449A-B708-0A9B78A27D0B}" type="datetimeFigureOut">
              <a:rPr lang="zh-CN" altLang="en-US" smtClean="0"/>
              <a:t>2014/3/16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32CF-9E72-45A9-A4FD-D1B1AD83A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62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F773-A66D-449A-B708-0A9B78A27D0B}" type="datetimeFigureOut">
              <a:rPr lang="zh-CN" altLang="en-US" smtClean="0"/>
              <a:t>2014/3/16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32CF-9E72-45A9-A4FD-D1B1AD83A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944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F773-A66D-449A-B708-0A9B78A27D0B}" type="datetimeFigureOut">
              <a:rPr lang="zh-CN" altLang="en-US" smtClean="0"/>
              <a:t>2014/3/16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32CF-9E72-45A9-A4FD-D1B1AD83A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192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F773-A66D-449A-B708-0A9B78A27D0B}" type="datetimeFigureOut">
              <a:rPr lang="zh-CN" altLang="en-US" smtClean="0"/>
              <a:t>2014/3/16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32CF-9E72-45A9-A4FD-D1B1AD83A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1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F773-A66D-449A-B708-0A9B78A27D0B}" type="datetimeFigureOut">
              <a:rPr lang="zh-CN" altLang="en-US" smtClean="0"/>
              <a:t>2014/3/16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32CF-9E72-45A9-A4FD-D1B1AD83A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105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F773-A66D-449A-B708-0A9B78A27D0B}" type="datetimeFigureOut">
              <a:rPr lang="zh-CN" altLang="en-US" smtClean="0"/>
              <a:t>2014/3/16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32CF-9E72-45A9-A4FD-D1B1AD83A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813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F773-A66D-449A-B708-0A9B78A27D0B}" type="datetimeFigureOut">
              <a:rPr lang="zh-CN" altLang="en-US" smtClean="0"/>
              <a:t>2014/3/16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32CF-9E72-45A9-A4FD-D1B1AD83A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548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F773-A66D-449A-B708-0A9B78A27D0B}" type="datetimeFigureOut">
              <a:rPr lang="zh-CN" altLang="en-US" smtClean="0"/>
              <a:t>2014/3/16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32CF-9E72-45A9-A4FD-D1B1AD83A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657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F773-A66D-449A-B708-0A9B78A27D0B}" type="datetimeFigureOut">
              <a:rPr lang="zh-CN" altLang="en-US" smtClean="0"/>
              <a:t>2014/3/16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32CF-9E72-45A9-A4FD-D1B1AD83A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257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F773-A66D-449A-B708-0A9B78A27D0B}" type="datetimeFigureOut">
              <a:rPr lang="zh-CN" altLang="en-US" smtClean="0"/>
              <a:t>2014/3/16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32CF-9E72-45A9-A4FD-D1B1AD83A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840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F773-A66D-449A-B708-0A9B78A27D0B}" type="datetimeFigureOut">
              <a:rPr lang="zh-CN" altLang="en-US" smtClean="0"/>
              <a:t>2014/3/16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532CF-9E72-45A9-A4FD-D1B1AD83A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985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3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0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198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9205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39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87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317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7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19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633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072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51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440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3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656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39" indent="0">
              <a:buNone/>
              <a:defRPr sz="1800" b="1"/>
            </a:lvl2pPr>
            <a:lvl3pPr marL="822878" indent="0">
              <a:buNone/>
              <a:defRPr sz="1620" b="1"/>
            </a:lvl3pPr>
            <a:lvl4pPr marL="1234317" indent="0">
              <a:buNone/>
              <a:defRPr sz="1440" b="1"/>
            </a:lvl4pPr>
            <a:lvl5pPr marL="1645755" indent="0">
              <a:buNone/>
              <a:defRPr sz="1440" b="1"/>
            </a:lvl5pPr>
            <a:lvl6pPr marL="2057194" indent="0">
              <a:buNone/>
              <a:defRPr sz="1440" b="1"/>
            </a:lvl6pPr>
            <a:lvl7pPr marL="2468633" indent="0">
              <a:buNone/>
              <a:defRPr sz="1440" b="1"/>
            </a:lvl7pPr>
            <a:lvl8pPr marL="2880072" indent="0">
              <a:buNone/>
              <a:defRPr sz="1440" b="1"/>
            </a:lvl8pPr>
            <a:lvl9pPr marL="3291511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39" indent="0">
              <a:buNone/>
              <a:defRPr sz="1800" b="1"/>
            </a:lvl2pPr>
            <a:lvl3pPr marL="822878" indent="0">
              <a:buNone/>
              <a:defRPr sz="1620" b="1"/>
            </a:lvl3pPr>
            <a:lvl4pPr marL="1234317" indent="0">
              <a:buNone/>
              <a:defRPr sz="1440" b="1"/>
            </a:lvl4pPr>
            <a:lvl5pPr marL="1645755" indent="0">
              <a:buNone/>
              <a:defRPr sz="1440" b="1"/>
            </a:lvl5pPr>
            <a:lvl6pPr marL="2057194" indent="0">
              <a:buNone/>
              <a:defRPr sz="1440" b="1"/>
            </a:lvl6pPr>
            <a:lvl7pPr marL="2468633" indent="0">
              <a:buNone/>
              <a:defRPr sz="1440" b="1"/>
            </a:lvl7pPr>
            <a:lvl8pPr marL="2880072" indent="0">
              <a:buNone/>
              <a:defRPr sz="1440" b="1"/>
            </a:lvl8pPr>
            <a:lvl9pPr marL="3291511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69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3422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7778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4"/>
            <a:ext cx="6815667" cy="585311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260"/>
            </a:lvl1pPr>
            <a:lvl2pPr marL="411439" indent="0">
              <a:buNone/>
              <a:defRPr sz="1080"/>
            </a:lvl2pPr>
            <a:lvl3pPr marL="822878" indent="0">
              <a:buNone/>
              <a:defRPr sz="900"/>
            </a:lvl3pPr>
            <a:lvl4pPr marL="1234317" indent="0">
              <a:buNone/>
              <a:defRPr sz="810"/>
            </a:lvl4pPr>
            <a:lvl5pPr marL="1645755" indent="0">
              <a:buNone/>
              <a:defRPr sz="810"/>
            </a:lvl5pPr>
            <a:lvl6pPr marL="2057194" indent="0">
              <a:buNone/>
              <a:defRPr sz="810"/>
            </a:lvl6pPr>
            <a:lvl7pPr marL="2468633" indent="0">
              <a:buNone/>
              <a:defRPr sz="810"/>
            </a:lvl7pPr>
            <a:lvl8pPr marL="2880072" indent="0">
              <a:buNone/>
              <a:defRPr sz="810"/>
            </a:lvl8pPr>
            <a:lvl9pPr marL="3291511" indent="0">
              <a:buNone/>
              <a:defRPr sz="8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147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880"/>
            </a:lvl1pPr>
            <a:lvl2pPr marL="411439" indent="0">
              <a:buNone/>
              <a:defRPr sz="2520"/>
            </a:lvl2pPr>
            <a:lvl3pPr marL="822878" indent="0">
              <a:buNone/>
              <a:defRPr sz="2160"/>
            </a:lvl3pPr>
            <a:lvl4pPr marL="1234317" indent="0">
              <a:buNone/>
              <a:defRPr sz="1800"/>
            </a:lvl4pPr>
            <a:lvl5pPr marL="1645755" indent="0">
              <a:buNone/>
              <a:defRPr sz="1800"/>
            </a:lvl5pPr>
            <a:lvl6pPr marL="2057194" indent="0">
              <a:buNone/>
              <a:defRPr sz="1800"/>
            </a:lvl6pPr>
            <a:lvl7pPr marL="2468633" indent="0">
              <a:buNone/>
              <a:defRPr sz="1800"/>
            </a:lvl7pPr>
            <a:lvl8pPr marL="2880072" indent="0">
              <a:buNone/>
              <a:defRPr sz="1800"/>
            </a:lvl8pPr>
            <a:lvl9pPr marL="3291511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260"/>
            </a:lvl1pPr>
            <a:lvl2pPr marL="411439" indent="0">
              <a:buNone/>
              <a:defRPr sz="1080"/>
            </a:lvl2pPr>
            <a:lvl3pPr marL="822878" indent="0">
              <a:buNone/>
              <a:defRPr sz="900"/>
            </a:lvl3pPr>
            <a:lvl4pPr marL="1234317" indent="0">
              <a:buNone/>
              <a:defRPr sz="810"/>
            </a:lvl4pPr>
            <a:lvl5pPr marL="1645755" indent="0">
              <a:buNone/>
              <a:defRPr sz="810"/>
            </a:lvl5pPr>
            <a:lvl6pPr marL="2057194" indent="0">
              <a:buNone/>
              <a:defRPr sz="810"/>
            </a:lvl6pPr>
            <a:lvl7pPr marL="2468633" indent="0">
              <a:buNone/>
              <a:defRPr sz="810"/>
            </a:lvl7pPr>
            <a:lvl8pPr marL="2880072" indent="0">
              <a:buNone/>
              <a:defRPr sz="810"/>
            </a:lvl8pPr>
            <a:lvl9pPr marL="3291511" indent="0">
              <a:buNone/>
              <a:defRPr sz="8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134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498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2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3787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3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0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7889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980728"/>
            <a:ext cx="109728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" y="0"/>
            <a:ext cx="12192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2990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3468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39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87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317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7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19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633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072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51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1100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3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2032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39" indent="0">
              <a:buNone/>
              <a:defRPr sz="1800" b="1"/>
            </a:lvl2pPr>
            <a:lvl3pPr marL="822878" indent="0">
              <a:buNone/>
              <a:defRPr sz="1620" b="1"/>
            </a:lvl3pPr>
            <a:lvl4pPr marL="1234317" indent="0">
              <a:buNone/>
              <a:defRPr sz="1440" b="1"/>
            </a:lvl4pPr>
            <a:lvl5pPr marL="1645755" indent="0">
              <a:buNone/>
              <a:defRPr sz="1440" b="1"/>
            </a:lvl5pPr>
            <a:lvl6pPr marL="2057194" indent="0">
              <a:buNone/>
              <a:defRPr sz="1440" b="1"/>
            </a:lvl6pPr>
            <a:lvl7pPr marL="2468633" indent="0">
              <a:buNone/>
              <a:defRPr sz="1440" b="1"/>
            </a:lvl7pPr>
            <a:lvl8pPr marL="2880072" indent="0">
              <a:buNone/>
              <a:defRPr sz="1440" b="1"/>
            </a:lvl8pPr>
            <a:lvl9pPr marL="3291511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39" indent="0">
              <a:buNone/>
              <a:defRPr sz="1800" b="1"/>
            </a:lvl2pPr>
            <a:lvl3pPr marL="822878" indent="0">
              <a:buNone/>
              <a:defRPr sz="1620" b="1"/>
            </a:lvl3pPr>
            <a:lvl4pPr marL="1234317" indent="0">
              <a:buNone/>
              <a:defRPr sz="1440" b="1"/>
            </a:lvl4pPr>
            <a:lvl5pPr marL="1645755" indent="0">
              <a:buNone/>
              <a:defRPr sz="1440" b="1"/>
            </a:lvl5pPr>
            <a:lvl6pPr marL="2057194" indent="0">
              <a:buNone/>
              <a:defRPr sz="1440" b="1"/>
            </a:lvl6pPr>
            <a:lvl7pPr marL="2468633" indent="0">
              <a:buNone/>
              <a:defRPr sz="1440" b="1"/>
            </a:lvl7pPr>
            <a:lvl8pPr marL="2880072" indent="0">
              <a:buNone/>
              <a:defRPr sz="1440" b="1"/>
            </a:lvl8pPr>
            <a:lvl9pPr marL="3291511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6218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9456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262" y="-51325"/>
            <a:ext cx="12186739" cy="706828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1193135" y="585521"/>
            <a:ext cx="624069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5261" y="26340"/>
            <a:ext cx="144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2446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4"/>
            <a:ext cx="6815667" cy="585311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260"/>
            </a:lvl1pPr>
            <a:lvl2pPr marL="411439" indent="0">
              <a:buNone/>
              <a:defRPr sz="1080"/>
            </a:lvl2pPr>
            <a:lvl3pPr marL="822878" indent="0">
              <a:buNone/>
              <a:defRPr sz="900"/>
            </a:lvl3pPr>
            <a:lvl4pPr marL="1234317" indent="0">
              <a:buNone/>
              <a:defRPr sz="810"/>
            </a:lvl4pPr>
            <a:lvl5pPr marL="1645755" indent="0">
              <a:buNone/>
              <a:defRPr sz="810"/>
            </a:lvl5pPr>
            <a:lvl6pPr marL="2057194" indent="0">
              <a:buNone/>
              <a:defRPr sz="810"/>
            </a:lvl6pPr>
            <a:lvl7pPr marL="2468633" indent="0">
              <a:buNone/>
              <a:defRPr sz="810"/>
            </a:lvl7pPr>
            <a:lvl8pPr marL="2880072" indent="0">
              <a:buNone/>
              <a:defRPr sz="810"/>
            </a:lvl8pPr>
            <a:lvl9pPr marL="3291511" indent="0">
              <a:buNone/>
              <a:defRPr sz="8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0326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880"/>
            </a:lvl1pPr>
            <a:lvl2pPr marL="411439" indent="0">
              <a:buNone/>
              <a:defRPr sz="2520"/>
            </a:lvl2pPr>
            <a:lvl3pPr marL="822878" indent="0">
              <a:buNone/>
              <a:defRPr sz="2160"/>
            </a:lvl3pPr>
            <a:lvl4pPr marL="1234317" indent="0">
              <a:buNone/>
              <a:defRPr sz="1800"/>
            </a:lvl4pPr>
            <a:lvl5pPr marL="1645755" indent="0">
              <a:buNone/>
              <a:defRPr sz="1800"/>
            </a:lvl5pPr>
            <a:lvl6pPr marL="2057194" indent="0">
              <a:buNone/>
              <a:defRPr sz="1800"/>
            </a:lvl6pPr>
            <a:lvl7pPr marL="2468633" indent="0">
              <a:buNone/>
              <a:defRPr sz="1800"/>
            </a:lvl7pPr>
            <a:lvl8pPr marL="2880072" indent="0">
              <a:buNone/>
              <a:defRPr sz="1800"/>
            </a:lvl8pPr>
            <a:lvl9pPr marL="3291511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260"/>
            </a:lvl1pPr>
            <a:lvl2pPr marL="411439" indent="0">
              <a:buNone/>
              <a:defRPr sz="1080"/>
            </a:lvl2pPr>
            <a:lvl3pPr marL="822878" indent="0">
              <a:buNone/>
              <a:defRPr sz="900"/>
            </a:lvl3pPr>
            <a:lvl4pPr marL="1234317" indent="0">
              <a:buNone/>
              <a:defRPr sz="810"/>
            </a:lvl4pPr>
            <a:lvl5pPr marL="1645755" indent="0">
              <a:buNone/>
              <a:defRPr sz="810"/>
            </a:lvl5pPr>
            <a:lvl6pPr marL="2057194" indent="0">
              <a:buNone/>
              <a:defRPr sz="810"/>
            </a:lvl6pPr>
            <a:lvl7pPr marL="2468633" indent="0">
              <a:buNone/>
              <a:defRPr sz="810"/>
            </a:lvl7pPr>
            <a:lvl8pPr marL="2880072" indent="0">
              <a:buNone/>
              <a:defRPr sz="810"/>
            </a:lvl8pPr>
            <a:lvl9pPr marL="3291511" indent="0">
              <a:buNone/>
              <a:defRPr sz="8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5873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1240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2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55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5F773-A66D-449A-B708-0A9B78A27D0B}" type="datetimeFigureOut">
              <a:rPr lang="zh-CN" altLang="en-US" smtClean="0"/>
              <a:t>2014/3/16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532CF-9E72-45A9-A4FD-D1B1AD83A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94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16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822878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579" indent="-308579" algn="l" defTabSz="822878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589" indent="-257150" algn="l" defTabSz="822878" rtl="0" eaLnBrk="1" latinLnBrk="0" hangingPunct="1">
        <a:spcBef>
          <a:spcPct val="20000"/>
        </a:spcBef>
        <a:buFont typeface="Arial" pitchFamily="34" charset="0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597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36" indent="-205719" algn="l" defTabSz="822878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475" indent="-205719" algn="l" defTabSz="822878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2914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353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5791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230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39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878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317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755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194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633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72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511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069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822878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579" indent="-308579" algn="l" defTabSz="822878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589" indent="-257150" algn="l" defTabSz="822878" rtl="0" eaLnBrk="1" latinLnBrk="0" hangingPunct="1">
        <a:spcBef>
          <a:spcPct val="20000"/>
        </a:spcBef>
        <a:buFont typeface="Arial" pitchFamily="34" charset="0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597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36" indent="-205719" algn="l" defTabSz="822878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475" indent="-205719" algn="l" defTabSz="822878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2914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353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5791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230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39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878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317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755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194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633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72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511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  <p:sp>
        <p:nvSpPr>
          <p:cNvPr id="19" name="平行四边形 18"/>
          <p:cNvSpPr/>
          <p:nvPr/>
        </p:nvSpPr>
        <p:spPr>
          <a:xfrm flipH="1">
            <a:off x="1075139" y="3603009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平行四边形 19"/>
          <p:cNvSpPr/>
          <p:nvPr/>
        </p:nvSpPr>
        <p:spPr>
          <a:xfrm>
            <a:off x="686557" y="3603009"/>
            <a:ext cx="5117911" cy="7560860"/>
          </a:xfrm>
          <a:prstGeom prst="parallelogram">
            <a:avLst>
              <a:gd name="adj" fmla="val 36847"/>
            </a:avLst>
          </a:prstGeom>
          <a:solidFill>
            <a:srgbClr val="FFC0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/>
        </p:nvSpPr>
        <p:spPr>
          <a:xfrm>
            <a:off x="975814" y="0"/>
            <a:ext cx="5117911" cy="7560860"/>
          </a:xfrm>
          <a:prstGeom prst="parallelogram">
            <a:avLst>
              <a:gd name="adj" fmla="val 36847"/>
            </a:avLst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/>
        </p:nvSpPr>
        <p:spPr>
          <a:xfrm flipH="1">
            <a:off x="1563046" y="-177421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accent4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/>
          <p:cNvSpPr/>
          <p:nvPr/>
        </p:nvSpPr>
        <p:spPr>
          <a:xfrm flipH="1">
            <a:off x="1463721" y="0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accent4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/>
        </p:nvSpPr>
        <p:spPr>
          <a:xfrm flipH="1">
            <a:off x="1951628" y="-177421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accent4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平行四边形 12"/>
          <p:cNvSpPr/>
          <p:nvPr/>
        </p:nvSpPr>
        <p:spPr>
          <a:xfrm>
            <a:off x="1075139" y="0"/>
            <a:ext cx="5117911" cy="7560860"/>
          </a:xfrm>
          <a:prstGeom prst="parallelogram">
            <a:avLst>
              <a:gd name="adj" fmla="val 36847"/>
            </a:avLst>
          </a:prstGeom>
          <a:solidFill>
            <a:srgbClr val="FFC0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13"/>
          <p:cNvSpPr/>
          <p:nvPr/>
        </p:nvSpPr>
        <p:spPr>
          <a:xfrm>
            <a:off x="2050953" y="420914"/>
            <a:ext cx="5117911" cy="7560860"/>
          </a:xfrm>
          <a:prstGeom prst="parallelogram">
            <a:avLst>
              <a:gd name="adj" fmla="val 36847"/>
            </a:avLst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418224" y="2033349"/>
            <a:ext cx="97692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8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《</a:t>
            </a:r>
            <a:r>
              <a:rPr lang="zh-CN" altLang="en-US" sz="48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马云内部讲话</a:t>
            </a:r>
            <a:r>
              <a:rPr lang="en-US" altLang="zh-CN" sz="48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》</a:t>
            </a:r>
            <a:r>
              <a:rPr lang="zh-CN" altLang="en-US" sz="48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读书笔记</a:t>
            </a:r>
            <a:endParaRPr lang="en-US" altLang="zh-CN" sz="4800" dirty="0" smtClean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  <a:p>
            <a:pPr algn="ctr"/>
            <a:r>
              <a:rPr lang="en-US" altLang="zh-CN" sz="4800" dirty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——</a:t>
            </a:r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关键时，马云说了什么？</a:t>
            </a:r>
            <a:endParaRPr lang="en-US" altLang="zh-CN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287292" y="4216722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编者：阿里巴巴集团</a:t>
            </a:r>
            <a:endParaRPr lang="zh-CN" altLang="en-US" sz="2000" dirty="0"/>
          </a:p>
        </p:txBody>
      </p:sp>
      <p:sp>
        <p:nvSpPr>
          <p:cNvPr id="17" name="矩形 16"/>
          <p:cNvSpPr/>
          <p:nvPr/>
        </p:nvSpPr>
        <p:spPr>
          <a:xfrm>
            <a:off x="7001645" y="4216722"/>
            <a:ext cx="22382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发行：红旗出版社</a:t>
            </a:r>
            <a:endParaRPr lang="zh-CN" altLang="en-US" sz="2000" dirty="0"/>
          </a:p>
        </p:txBody>
      </p:sp>
      <p:sp>
        <p:nvSpPr>
          <p:cNvPr id="18" name="矩形 17"/>
          <p:cNvSpPr/>
          <p:nvPr/>
        </p:nvSpPr>
        <p:spPr>
          <a:xfrm>
            <a:off x="4579863" y="4677307"/>
            <a:ext cx="18758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制作：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黄琳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7294216" y="4677307"/>
            <a:ext cx="25250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指导：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小巴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_1990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379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 flipH="1">
            <a:off x="7680257" y="-477266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 flipH="1">
            <a:off x="7655449" y="1942288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/>
        </p:nvSpPr>
        <p:spPr>
          <a:xfrm flipH="1">
            <a:off x="10596772" y="4361842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l="12039" t="2985" r="12681" b="-2985"/>
          <a:stretch/>
        </p:blipFill>
        <p:spPr>
          <a:xfrm>
            <a:off x="725586" y="2521926"/>
            <a:ext cx="3299460" cy="3299460"/>
          </a:xfrm>
          <a:prstGeom prst="ellipse">
            <a:avLst/>
          </a:prstGeom>
          <a:blipFill dpi="0" rotWithShape="1">
            <a:blip r:embed="rId3"/>
            <a:srcRect/>
            <a:tile tx="0" ty="0" sx="100000" sy="100000" flip="none" algn="tr"/>
          </a:blipFill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036" y="2451836"/>
            <a:ext cx="7547676" cy="3725957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725586" y="562938"/>
            <a:ext cx="913041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关于本书：</a:t>
            </a:r>
            <a:endParaRPr lang="en-US" altLang="zh-CN" sz="3600" b="1" dirty="0" smtClean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阿里巴巴首次批露，诸多答案皆在其中</a:t>
            </a:r>
            <a:r>
              <a:rPr lang="zh-CN" altLang="en-US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6943" y="547440"/>
            <a:ext cx="167647" cy="1115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88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6943" y="547440"/>
            <a:ext cx="167647" cy="1115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94590" y="586100"/>
            <a:ext cx="75373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Chapter1</a:t>
            </a:r>
          </a:p>
          <a:p>
            <a:r>
              <a:rPr lang="zh-CN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面对信仰缺乏，一个公司怎么确立自己的</a:t>
            </a:r>
            <a:r>
              <a:rPr lang="zh-CN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0" b="3360"/>
          <a:stretch/>
        </p:blipFill>
        <p:spPr>
          <a:xfrm>
            <a:off x="610766" y="2440250"/>
            <a:ext cx="3046834" cy="3046834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0" name="平行四边形 9"/>
          <p:cNvSpPr/>
          <p:nvPr/>
        </p:nvSpPr>
        <p:spPr>
          <a:xfrm flipH="1">
            <a:off x="7680257" y="-477266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/>
        </p:nvSpPr>
        <p:spPr>
          <a:xfrm flipH="1">
            <a:off x="7655449" y="1942288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/>
        </p:nvSpPr>
        <p:spPr>
          <a:xfrm flipH="1">
            <a:off x="10596772" y="4361842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108788" y="2174706"/>
            <a:ext cx="7014137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胸怀这个字眼里面就是使命感。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/>
            </a:r>
            <a:b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</a:b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因为有使命感，你就有这种胸怀让别人去说，自己知道自己在做什么，而且我一定要把它做出来，比如我胸怀超大，希望改变人类。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108788" y="3566635"/>
            <a:ext cx="7778412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不管什么挑战，一起手拉手，大家拉一拉。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/>
            </a:r>
            <a:b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</a:b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一个人在沙漠走路是慌的，手拉手是不可怕的，当然不能手拉手往回逃。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108788" y="4693097"/>
            <a:ext cx="7468446" cy="1495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我个人理解这么多年来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阿里巴巴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最独特的一点就是拥抱变化。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/>
            </a:r>
            <a:b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</a:b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，特别是既得利益者一定是害怕变化的，其次，很多人只是适应变化，而阿里巴巴这个词比较过分，叫“拥抱变化”。</a:t>
            </a:r>
          </a:p>
        </p:txBody>
      </p:sp>
    </p:spTree>
    <p:extLst>
      <p:ext uri="{BB962C8B-B14F-4D97-AF65-F5344CB8AC3E}">
        <p14:creationId xmlns:p14="http://schemas.microsoft.com/office/powerpoint/2010/main" val="1379800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6943" y="547440"/>
            <a:ext cx="167647" cy="1115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94590" y="586100"/>
            <a:ext cx="75373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Chapter2</a:t>
            </a:r>
            <a:endParaRPr lang="en-US" altLang="zh-CN" sz="3600" b="1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聚集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了这么多钱，上哪去找新的激情</a:t>
            </a:r>
          </a:p>
        </p:txBody>
      </p:sp>
      <p:sp>
        <p:nvSpPr>
          <p:cNvPr id="10" name="平行四边形 9"/>
          <p:cNvSpPr/>
          <p:nvPr/>
        </p:nvSpPr>
        <p:spPr>
          <a:xfrm flipH="1">
            <a:off x="7680257" y="-477266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/>
        </p:nvSpPr>
        <p:spPr>
          <a:xfrm flipH="1">
            <a:off x="7655449" y="1942288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/>
        </p:nvSpPr>
        <p:spPr>
          <a:xfrm flipH="1">
            <a:off x="10596772" y="4361842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" y="2441484"/>
            <a:ext cx="3045600" cy="3045600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8" name="文本框 17"/>
          <p:cNvSpPr txBox="1"/>
          <p:nvPr/>
        </p:nvSpPr>
        <p:spPr>
          <a:xfrm>
            <a:off x="4190880" y="2508350"/>
            <a:ext cx="7269283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我们守在这个船上，自认为不是很聪明的人留下来了，我们这里能干的人真不多，能干的人都去创业了，我们并不能干，但是团队、勇气和毅力让我们变得很强大。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187824" y="3937015"/>
            <a:ext cx="7272339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大家都要死的时候，他再往前挺一步，人家倒下去，他还站在那。大部分人说这么富，我这么有钱了，转弯了，只有这个人说我还往前挺一步，往前挺一步的那个人就是伟大的人。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187824" y="5381743"/>
            <a:ext cx="7272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你是阿里巴巴的员工，你拥有很多股票，身价上百万，人家看你的眼光彻底不一样，但你还是你，你没有变，别像当年的万元户。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87825" y="5057592"/>
            <a:ext cx="5314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但你还是你，你没有变，别像当年的万元户。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187825" y="3636744"/>
            <a:ext cx="40318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往前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挺一步的那个人就是伟大的人</a:t>
            </a:r>
          </a:p>
        </p:txBody>
      </p:sp>
      <p:sp>
        <p:nvSpPr>
          <p:cNvPr id="8" name="矩形 7"/>
          <p:cNvSpPr/>
          <p:nvPr/>
        </p:nvSpPr>
        <p:spPr>
          <a:xfrm>
            <a:off x="4166072" y="2213636"/>
            <a:ext cx="45448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团队、勇气和毅力让我们变得很强大。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1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6943" y="547440"/>
            <a:ext cx="167647" cy="1115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94590" y="586100"/>
            <a:ext cx="75373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Chapter3</a:t>
            </a:r>
            <a:endParaRPr lang="en-US" altLang="zh-CN" sz="3600" b="1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大公司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的通病，阿里巴巴也要批官僚主义</a:t>
            </a:r>
          </a:p>
        </p:txBody>
      </p:sp>
      <p:sp>
        <p:nvSpPr>
          <p:cNvPr id="10" name="平行四边形 9"/>
          <p:cNvSpPr/>
          <p:nvPr/>
        </p:nvSpPr>
        <p:spPr>
          <a:xfrm flipH="1">
            <a:off x="7680257" y="-477266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/>
        </p:nvSpPr>
        <p:spPr>
          <a:xfrm flipH="1">
            <a:off x="7655449" y="1942288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/>
        </p:nvSpPr>
        <p:spPr>
          <a:xfrm flipH="1">
            <a:off x="10596772" y="4361842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/>
          <a:srcRect l="8467" r="8467"/>
          <a:stretch/>
        </p:blipFill>
        <p:spPr>
          <a:xfrm>
            <a:off x="526943" y="2304301"/>
            <a:ext cx="3045600" cy="3045600"/>
          </a:xfrm>
          <a:prstGeom prst="ellipse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03888" y="2588064"/>
            <a:ext cx="7356275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的很多同事和干部离客户远了，离铺张浪费近了。公司的干部离员工远了。我们很多干部只关注自己的位置。我看我们价值观提的少了，特别是干部的价值观提的少了。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103888" y="4135182"/>
            <a:ext cx="7356274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对我们从事的事业的关心，在公司里面以各种各样的形式从内心中展示出来，而不一定在墙上贴、在身上穿，不一定喊口号。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103887" y="5349901"/>
            <a:ext cx="7356275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谁会责任、第一责任就是公司必须挣钱，你不挣钱别人就要为你承担责任，你挣了钱才能为社会承担责任。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102348" y="3819662"/>
            <a:ext cx="73661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从内心中展示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出来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不一定在墙上贴、在身上穿，不一定喊口号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102348" y="2254537"/>
            <a:ext cx="6853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我看我们价值观提的少了，特别是干部的价值观提的少了。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02348" y="5048328"/>
            <a:ext cx="37753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你不挣钱别人就要为你承担责任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18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6943" y="547440"/>
            <a:ext cx="167647" cy="1115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94590" y="586100"/>
            <a:ext cx="75373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Chapter4</a:t>
            </a:r>
            <a:endParaRPr lang="en-US" altLang="zh-CN" sz="3600" b="1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别人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纷纷落水，怎么克服内心的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恐惧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平行四边形 9"/>
          <p:cNvSpPr/>
          <p:nvPr/>
        </p:nvSpPr>
        <p:spPr>
          <a:xfrm flipH="1">
            <a:off x="7680257" y="-477266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/>
        </p:nvSpPr>
        <p:spPr>
          <a:xfrm flipH="1">
            <a:off x="7655449" y="1942288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/>
        </p:nvSpPr>
        <p:spPr>
          <a:xfrm flipH="1">
            <a:off x="10596772" y="4361842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152955" y="3734408"/>
            <a:ext cx="730720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脑子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是用来思考的，眼睛是用来捕捉机会的，手是用来抓住机会的。想活下去的人是会把机会变成真正机会的人。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152955" y="2556704"/>
            <a:ext cx="730720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带兵打仗，有些毛头将军看到自己的一个营被吃掉，恨不得就冲出去，大将军总说慢慢来。不然的话，到最危急的时候，已经没戏了。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52955" y="4996519"/>
            <a:ext cx="7307208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一个优秀的企业不在于如何抓住一两次机会，而是在于如何多过一两次致命的打击。做一个持久发展一百零二年的企业，就是要学会怎样度过灾难。</a:t>
            </a:r>
          </a:p>
        </p:txBody>
      </p:sp>
      <p:sp>
        <p:nvSpPr>
          <p:cNvPr id="2" name="矩形 1"/>
          <p:cNvSpPr/>
          <p:nvPr/>
        </p:nvSpPr>
        <p:spPr>
          <a:xfrm>
            <a:off x="4152955" y="2229367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大将军总说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慢慢来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152955" y="3367483"/>
            <a:ext cx="5314275" cy="4303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想活下去的人是会把机会变成真正机会的人。</a:t>
            </a:r>
          </a:p>
        </p:txBody>
      </p:sp>
      <p:sp>
        <p:nvSpPr>
          <p:cNvPr id="5" name="矩形 4"/>
          <p:cNvSpPr/>
          <p:nvPr/>
        </p:nvSpPr>
        <p:spPr>
          <a:xfrm>
            <a:off x="4152955" y="4677632"/>
            <a:ext cx="76877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做一个持久发展一百零二年的企业，就是要学会怎样度过灾难。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7" name="图片 6"/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43" y="2229367"/>
            <a:ext cx="3045600" cy="30456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8124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26943" y="547440"/>
            <a:ext cx="167647" cy="1115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94590" y="586100"/>
            <a:ext cx="75373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Chapter5</a:t>
            </a:r>
            <a:endParaRPr lang="en-US" altLang="zh-CN" sz="3600" b="1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办公室的气氛有点闷，还能回到草根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吗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平行四边形 3"/>
          <p:cNvSpPr/>
          <p:nvPr/>
        </p:nvSpPr>
        <p:spPr>
          <a:xfrm flipH="1">
            <a:off x="7680257" y="-477266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 flipH="1">
            <a:off x="7655449" y="1942288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/>
          <p:cNvSpPr/>
          <p:nvPr/>
        </p:nvSpPr>
        <p:spPr>
          <a:xfrm flipH="1">
            <a:off x="10596772" y="4361842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126349" y="3031406"/>
            <a:ext cx="7272338" cy="72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义乌小商品市场脏兮兮、乱哄哄的，以前更脏更乱，但里面拥有最宝贵的东西。是什么？商机、人气。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126349" y="4764474"/>
            <a:ext cx="7272338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我们的流程有没有问题，我们的习惯思维有没有问题，我们敢不敢挑战我们一直认为对的东西，什么是要挑战下去的，什么是老鸭煲，什么是杀手锏，当然改来改去不能把我们的杀手锏改掉。</a:t>
            </a:r>
          </a:p>
        </p:txBody>
      </p:sp>
      <p:sp>
        <p:nvSpPr>
          <p:cNvPr id="9" name="矩形 8"/>
          <p:cNvSpPr/>
          <p:nvPr/>
        </p:nvSpPr>
        <p:spPr>
          <a:xfrm>
            <a:off x="4126349" y="2686408"/>
            <a:ext cx="55707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里面拥有最宝贵的东西。是什么？商机、人气。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121143" y="4448773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我们敢不敢挑战我们一直认为对的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东西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/>
          <a:srcRect l="11134" r="11134"/>
          <a:stretch/>
        </p:blipFill>
        <p:spPr>
          <a:xfrm>
            <a:off x="694590" y="2503872"/>
            <a:ext cx="3045600" cy="30456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2304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26943" y="547440"/>
            <a:ext cx="167647" cy="1115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94590" y="586100"/>
            <a:ext cx="75373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Chapter6</a:t>
            </a:r>
            <a:endParaRPr lang="en-US" altLang="zh-CN" sz="3600" b="1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不是新的技术，而是新的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欲望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平行四边形 3"/>
          <p:cNvSpPr/>
          <p:nvPr/>
        </p:nvSpPr>
        <p:spPr>
          <a:xfrm flipH="1">
            <a:off x="7680257" y="-477266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 flipH="1">
            <a:off x="7655449" y="1942288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/>
          <p:cNvSpPr/>
          <p:nvPr/>
        </p:nvSpPr>
        <p:spPr>
          <a:xfrm flipH="1">
            <a:off x="10596772" y="4361842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144320" y="4927122"/>
            <a:ext cx="7315843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很多的传统行业想尝试新的，一旦碰到这些痛处，越成功的人越自信，这么多天打下来了，还怕什么，结果往往搞死掉。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44320" y="2800429"/>
            <a:ext cx="7315843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者越强，发现边上的人都被你搞死了，你这里有一千万的买家，那边只有一千买家。这不是我们想垄断，灭了别人，互联网真是这个样子。想到这些，我们应该引进更多的竞争者，引进更多的产业链、人、服务商，让更多的人赚钱。</a:t>
            </a:r>
          </a:p>
        </p:txBody>
      </p:sp>
      <p:sp>
        <p:nvSpPr>
          <p:cNvPr id="9" name="矩形 8"/>
          <p:cNvSpPr/>
          <p:nvPr/>
        </p:nvSpPr>
        <p:spPr>
          <a:xfrm>
            <a:off x="4144320" y="4597249"/>
            <a:ext cx="3518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很多的传统行业想尝试新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144320" y="243543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想到这些，我们应该引进更多的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竞争者。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11" name="图片 10"/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90" y="2435438"/>
            <a:ext cx="3045600" cy="30456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6965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26943" y="547440"/>
            <a:ext cx="167647" cy="1115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94590" y="586100"/>
            <a:ext cx="75373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Chapter7</a:t>
            </a:r>
            <a:endParaRPr lang="en-US" altLang="zh-CN" sz="3600" b="1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新人蜂拥而来，文化碰撞会发生什么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平行四边形 3"/>
          <p:cNvSpPr/>
          <p:nvPr/>
        </p:nvSpPr>
        <p:spPr>
          <a:xfrm flipH="1">
            <a:off x="7680257" y="-477266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 flipH="1">
            <a:off x="7655449" y="1942288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/>
          <p:cNvSpPr/>
          <p:nvPr/>
        </p:nvSpPr>
        <p:spPr>
          <a:xfrm flipH="1">
            <a:off x="10596772" y="4361842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143717" y="2726684"/>
            <a:ext cx="7316446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我不承诺你发财，不承诺你升官，你在这个公司里面有很多的磨难、委屈、不爽、呻吟，这是我的承诺，经历过这一切以后，你才知道怎么样才能打造伟大、坚强、勇敢的公司。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43715" y="4531390"/>
            <a:ext cx="7316447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每个人朝气蓬勃，每个人有激情，每个人有想法，每个人很聪明，但我们这些人能不能团结在一个目标底下，我们能不能坚持客户第一讲究诚信、成就团结的价值观？</a:t>
            </a:r>
          </a:p>
        </p:txBody>
      </p:sp>
      <p:sp>
        <p:nvSpPr>
          <p:cNvPr id="9" name="矩形 8"/>
          <p:cNvSpPr/>
          <p:nvPr/>
        </p:nvSpPr>
        <p:spPr>
          <a:xfrm>
            <a:off x="4143212" y="2356367"/>
            <a:ext cx="8654956" cy="430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才知道怎么样才能打造伟大、坚强、勇敢的公司。</a:t>
            </a:r>
          </a:p>
        </p:txBody>
      </p:sp>
      <p:sp>
        <p:nvSpPr>
          <p:cNvPr id="10" name="矩形 9"/>
          <p:cNvSpPr/>
          <p:nvPr/>
        </p:nvSpPr>
        <p:spPr>
          <a:xfrm>
            <a:off x="4143212" y="4146655"/>
            <a:ext cx="8654956" cy="430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这些人能不能团结在一个目标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底下？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43" y="2356367"/>
            <a:ext cx="3045600" cy="3045600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23045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26943" y="547440"/>
            <a:ext cx="167647" cy="1115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94590" y="586100"/>
            <a:ext cx="75373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Chapter8</a:t>
            </a:r>
            <a:endParaRPr lang="en-US" altLang="zh-CN" sz="3600" b="1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不过去的时候，绕过去再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平行四边形 3"/>
          <p:cNvSpPr/>
          <p:nvPr/>
        </p:nvSpPr>
        <p:spPr>
          <a:xfrm flipH="1">
            <a:off x="7680257" y="-477266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 flipH="1">
            <a:off x="7655449" y="1942288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/>
          <p:cNvSpPr/>
          <p:nvPr/>
        </p:nvSpPr>
        <p:spPr>
          <a:xfrm flipH="1">
            <a:off x="10596772" y="4361842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187825" y="2882543"/>
            <a:ext cx="727233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黄药师的例子告诉大家，你武功很高，青筋暴露出来，人家会防你。等人家一防你，知道你很厉害的时候，你的武功基本废了。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87826" y="4487624"/>
            <a:ext cx="7272338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在中国，慈善好像是一个富人的游戏。连像我这种比你们有钱，应该比绝大多数人有钱的人都不好意思做慈善。因为听上去都捐三千万四千万的，拿出一两百万觉得很丢脸。</a:t>
            </a:r>
          </a:p>
        </p:txBody>
      </p:sp>
      <p:sp>
        <p:nvSpPr>
          <p:cNvPr id="9" name="矩形 8"/>
          <p:cNvSpPr/>
          <p:nvPr/>
        </p:nvSpPr>
        <p:spPr>
          <a:xfrm>
            <a:off x="4175926" y="2511497"/>
            <a:ext cx="6853158" cy="4303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等人家一防你，知道你很厉害的时候，你的武功基本废了。</a:t>
            </a:r>
          </a:p>
        </p:txBody>
      </p:sp>
      <p:sp>
        <p:nvSpPr>
          <p:cNvPr id="10" name="矩形 9"/>
          <p:cNvSpPr/>
          <p:nvPr/>
        </p:nvSpPr>
        <p:spPr>
          <a:xfrm>
            <a:off x="4175926" y="4168392"/>
            <a:ext cx="45448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在中国，慈善好像是一个富人的游戏。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11" name="图片 10"/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43" y="2511497"/>
            <a:ext cx="3045600" cy="3045600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59206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26943" y="547440"/>
            <a:ext cx="167647" cy="1115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94590" y="586100"/>
            <a:ext cx="75373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Chapter9</a:t>
            </a:r>
            <a:endParaRPr lang="en-US" altLang="zh-CN" sz="3600" b="1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整个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世界都处在迷茫期，我们有什么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平行四边形 3"/>
          <p:cNvSpPr/>
          <p:nvPr/>
        </p:nvSpPr>
        <p:spPr>
          <a:xfrm flipH="1">
            <a:off x="7680257" y="-477266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 flipH="1">
            <a:off x="7655449" y="1942288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/>
          <p:cNvSpPr/>
          <p:nvPr/>
        </p:nvSpPr>
        <p:spPr>
          <a:xfrm flipH="1">
            <a:off x="10596772" y="4361842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180344" y="2988893"/>
            <a:ext cx="7279819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我们并不想战胜谁、打败谁，我们希望世界上生意越来越透明公正，商界没有腐败。我们不是为了创造概念，而是为了创造价值！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我们希望阿里巴巴能够影响世界经济的格局、亚洲经济的格局和中国经济的格局。因为有了阿里巴巴，这个世界不一样。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180343" y="5075109"/>
            <a:ext cx="7279819" cy="72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你看跑步的人动作都差不多，就差那一点，这个人成了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冠军。这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个人把优秀的习惯和品质带进一家公司，这两家就差一点点。</a:t>
            </a:r>
          </a:p>
        </p:txBody>
      </p:sp>
      <p:sp>
        <p:nvSpPr>
          <p:cNvPr id="9" name="矩形 8"/>
          <p:cNvSpPr/>
          <p:nvPr/>
        </p:nvSpPr>
        <p:spPr>
          <a:xfrm>
            <a:off x="4187825" y="4721482"/>
            <a:ext cx="2492990" cy="4303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这两家就差一点点。</a:t>
            </a:r>
          </a:p>
        </p:txBody>
      </p:sp>
      <p:sp>
        <p:nvSpPr>
          <p:cNvPr id="10" name="矩形 9"/>
          <p:cNvSpPr/>
          <p:nvPr/>
        </p:nvSpPr>
        <p:spPr>
          <a:xfrm>
            <a:off x="4173757" y="2627417"/>
            <a:ext cx="4544834" cy="4303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因为有了阿里巴巴，这个世界不一样。</a:t>
            </a:r>
          </a:p>
        </p:txBody>
      </p:sp>
      <p:pic>
        <p:nvPicPr>
          <p:cNvPr id="12" name="图片 11"/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43" y="2394000"/>
            <a:ext cx="3045600" cy="3045600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73500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26943" y="547440"/>
            <a:ext cx="167647" cy="1115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94590" y="586100"/>
            <a:ext cx="75373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Chapter10</a:t>
            </a:r>
            <a:endParaRPr lang="en-US" altLang="zh-CN" sz="3600" b="1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凭什么让员工在一家公司里待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十年？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平行四边形 3"/>
          <p:cNvSpPr/>
          <p:nvPr/>
        </p:nvSpPr>
        <p:spPr>
          <a:xfrm flipH="1">
            <a:off x="7680257" y="-477266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 flipH="1">
            <a:off x="7655449" y="1942288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/>
          <p:cNvSpPr/>
          <p:nvPr/>
        </p:nvSpPr>
        <p:spPr>
          <a:xfrm flipH="1">
            <a:off x="10596772" y="4361842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157211" y="2655474"/>
            <a:ext cx="730191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阿里巴巴最大的成功不是我们有诚信通、中国供应商，而是创造了伟大的公司。一百零二年我肯定看不到，但是我们可以把自己的孩子，孩子的孩子请到这里来，让他们今生无悔。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73550" y="5286052"/>
            <a:ext cx="7285572" cy="72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我相信世界也许最终会忘记我们，因为我们不是追求别人记住我们，我们追求的是让别人记住我们的服务，完善自己的生活，促进社会的发展。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157211" y="4151037"/>
            <a:ext cx="7302952" cy="72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今天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很残酷，明天更残酷，后天很美好，绝大部分人死在明天晚上，看不到后天的太阳，阿里人必须看到后天的太阳。</a:t>
            </a:r>
          </a:p>
        </p:txBody>
      </p:sp>
      <p:sp>
        <p:nvSpPr>
          <p:cNvPr id="10" name="矩形 9"/>
          <p:cNvSpPr/>
          <p:nvPr/>
        </p:nvSpPr>
        <p:spPr>
          <a:xfrm>
            <a:off x="4159482" y="2350021"/>
            <a:ext cx="61943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阿里巴巴最大的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成功是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创造了伟大的公司。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57211" y="3823918"/>
            <a:ext cx="61943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今天很残酷，明天更残酷，后天很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美好。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173550" y="4944018"/>
            <a:ext cx="61943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我们追求的是让别人记住我们的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43" y="2509948"/>
            <a:ext cx="3045599" cy="3028049"/>
          </a:xfrm>
          <a:prstGeom prst="ellipse">
            <a:avLst/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02480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282" r="-2642" b="14251"/>
          <a:stretch/>
        </p:blipFill>
        <p:spPr>
          <a:xfrm>
            <a:off x="995867" y="2241550"/>
            <a:ext cx="2415654" cy="2698938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平行四边形 5"/>
          <p:cNvSpPr/>
          <p:nvPr/>
        </p:nvSpPr>
        <p:spPr>
          <a:xfrm flipH="1">
            <a:off x="7680257" y="-477266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 flipH="1">
            <a:off x="7655449" y="1942288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/>
        </p:nvSpPr>
        <p:spPr>
          <a:xfrm flipH="1">
            <a:off x="10596772" y="4361842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066802" y="4047936"/>
            <a:ext cx="844334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马云理想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中的商业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愿意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付钱的付钱，不愿意付钱的不付钱。</a:t>
            </a:r>
          </a:p>
        </p:txBody>
      </p:sp>
    </p:spTree>
    <p:extLst>
      <p:ext uri="{BB962C8B-B14F-4D97-AF65-F5344CB8AC3E}">
        <p14:creationId xmlns:p14="http://schemas.microsoft.com/office/powerpoint/2010/main" val="69806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  <p:sp>
        <p:nvSpPr>
          <p:cNvPr id="19" name="平行四边形 18"/>
          <p:cNvSpPr/>
          <p:nvPr/>
        </p:nvSpPr>
        <p:spPr>
          <a:xfrm flipH="1">
            <a:off x="1075139" y="3603009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平行四边形 19"/>
          <p:cNvSpPr/>
          <p:nvPr/>
        </p:nvSpPr>
        <p:spPr>
          <a:xfrm>
            <a:off x="686557" y="3603009"/>
            <a:ext cx="5117911" cy="7560860"/>
          </a:xfrm>
          <a:prstGeom prst="parallelogram">
            <a:avLst>
              <a:gd name="adj" fmla="val 36847"/>
            </a:avLst>
          </a:prstGeom>
          <a:solidFill>
            <a:srgbClr val="FFC0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/>
        </p:nvSpPr>
        <p:spPr>
          <a:xfrm>
            <a:off x="975814" y="0"/>
            <a:ext cx="5117911" cy="7560860"/>
          </a:xfrm>
          <a:prstGeom prst="parallelogram">
            <a:avLst>
              <a:gd name="adj" fmla="val 36847"/>
            </a:avLst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/>
        </p:nvSpPr>
        <p:spPr>
          <a:xfrm flipH="1">
            <a:off x="1563046" y="-177421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accent4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/>
          <p:cNvSpPr/>
          <p:nvPr/>
        </p:nvSpPr>
        <p:spPr>
          <a:xfrm flipH="1">
            <a:off x="1463721" y="0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accent4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/>
        </p:nvSpPr>
        <p:spPr>
          <a:xfrm flipH="1">
            <a:off x="1951628" y="-177421"/>
            <a:ext cx="5117911" cy="7560860"/>
          </a:xfrm>
          <a:prstGeom prst="parallelogram">
            <a:avLst>
              <a:gd name="adj" fmla="val 36847"/>
            </a:avLst>
          </a:prstGeom>
          <a:solidFill>
            <a:schemeClr val="accent4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平行四边形 12"/>
          <p:cNvSpPr/>
          <p:nvPr/>
        </p:nvSpPr>
        <p:spPr>
          <a:xfrm>
            <a:off x="1075139" y="0"/>
            <a:ext cx="5117911" cy="7560860"/>
          </a:xfrm>
          <a:prstGeom prst="parallelogram">
            <a:avLst>
              <a:gd name="adj" fmla="val 36847"/>
            </a:avLst>
          </a:prstGeom>
          <a:solidFill>
            <a:srgbClr val="FFC0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13"/>
          <p:cNvSpPr/>
          <p:nvPr/>
        </p:nvSpPr>
        <p:spPr>
          <a:xfrm>
            <a:off x="2050953" y="420914"/>
            <a:ext cx="5117911" cy="7560860"/>
          </a:xfrm>
          <a:prstGeom prst="parallelogram">
            <a:avLst>
              <a:gd name="adj" fmla="val 36847"/>
            </a:avLst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263178" y="2881516"/>
            <a:ext cx="44986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感谢观看！</a:t>
            </a:r>
            <a:endParaRPr lang="en-US" altLang="zh-CN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287292" y="4216722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编者：阿里巴巴集团</a:t>
            </a:r>
            <a:endParaRPr lang="zh-CN" altLang="en-US" sz="2000" dirty="0"/>
          </a:p>
        </p:txBody>
      </p:sp>
      <p:sp>
        <p:nvSpPr>
          <p:cNvPr id="17" name="矩形 16"/>
          <p:cNvSpPr/>
          <p:nvPr/>
        </p:nvSpPr>
        <p:spPr>
          <a:xfrm>
            <a:off x="7001645" y="4216722"/>
            <a:ext cx="22382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发行：红旗出版社</a:t>
            </a:r>
            <a:endParaRPr lang="zh-CN" altLang="en-US" sz="2000" dirty="0"/>
          </a:p>
        </p:txBody>
      </p:sp>
      <p:sp>
        <p:nvSpPr>
          <p:cNvPr id="22" name="矩形 21"/>
          <p:cNvSpPr/>
          <p:nvPr/>
        </p:nvSpPr>
        <p:spPr>
          <a:xfrm>
            <a:off x="4596388" y="4677307"/>
            <a:ext cx="18758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制作：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黄琳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7310741" y="4677307"/>
            <a:ext cx="25250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指导：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小巴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_1990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249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55" y="1877989"/>
            <a:ext cx="5262033" cy="317978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2372826" y="5283770"/>
            <a:ext cx="2143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23898" y="5274323"/>
            <a:ext cx="1228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43050" y="728663"/>
            <a:ext cx="8601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小巴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_1990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的多次指导和帮助，感谢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秋叶 的支持！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776" y="1877989"/>
            <a:ext cx="5635218" cy="317978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254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736" y="838043"/>
            <a:ext cx="8228528" cy="424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034631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1662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095280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8365" y="4061256"/>
            <a:ext cx="8228528" cy="196694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620"/>
              </a:spcBef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62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72768" y="4401009"/>
            <a:ext cx="7646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78365" y="2165390"/>
            <a:ext cx="1749616" cy="120708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24488" y="2165393"/>
            <a:ext cx="1749616" cy="1207082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7100" y="2165390"/>
            <a:ext cx="1749616" cy="120708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0078" y="2165390"/>
            <a:ext cx="1749616" cy="120708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5111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85318" y="4012191"/>
            <a:ext cx="8251029" cy="1446421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347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82782">
                <a:defRPr/>
              </a:pPr>
              <a:r>
                <a:rPr lang="en-US" altLang="zh-CN" sz="126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260" kern="0" dirty="0">
                  <a:solidFill>
                    <a:prstClr val="black"/>
                  </a:solidFill>
                </a:rPr>
              </a:br>
              <a:endParaRPr lang="en-US" altLang="zh-CN" sz="126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1715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6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7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39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519839" cy="916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16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70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89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89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216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090590" cy="3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35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212347" y="1161046"/>
            <a:ext cx="5767312" cy="261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700"/>
              </a:spcBef>
            </a:pPr>
            <a:r>
              <a:rPr lang="zh-CN" altLang="en-US" sz="39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96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053</a:t>
            </a:r>
            <a:r>
              <a:rPr lang="zh-CN" altLang="en-US" sz="396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96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700"/>
              </a:spcBef>
            </a:pP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52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90363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</TotalTime>
  <Words>1713</Words>
  <Application>Microsoft Office PowerPoint</Application>
  <PresentationFormat>宽屏</PresentationFormat>
  <Paragraphs>114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方正粗黑宋简体</vt:lpstr>
      <vt:lpstr>方正粗宋简体</vt:lpstr>
      <vt:lpstr>方正正黑简体</vt:lpstr>
      <vt:lpstr>方正正中黑简体</vt:lpstr>
      <vt:lpstr>宋体</vt:lpstr>
      <vt:lpstr>微软雅黑</vt:lpstr>
      <vt:lpstr>Arial</vt:lpstr>
      <vt:lpstr>Calibri</vt:lpstr>
      <vt:lpstr>Calibri Light</vt:lpstr>
      <vt:lpstr>Times New Roman</vt:lpstr>
      <vt:lpstr>Office 主题</vt:lpstr>
      <vt:lpstr>1_Office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半夏</dc:creator>
  <cp:lastModifiedBy>小巴</cp:lastModifiedBy>
  <cp:revision>98</cp:revision>
  <dcterms:created xsi:type="dcterms:W3CDTF">2014-01-16T11:34:50Z</dcterms:created>
  <dcterms:modified xsi:type="dcterms:W3CDTF">2014-03-15T16:03:03Z</dcterms:modified>
</cp:coreProperties>
</file>