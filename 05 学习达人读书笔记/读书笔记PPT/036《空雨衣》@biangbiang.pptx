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  <p:sldMasterId id="2147483673" r:id="rId3"/>
    <p:sldMasterId id="2147483685" r:id="rId4"/>
  </p:sldMasterIdLst>
  <p:notesMasterIdLst>
    <p:notesMasterId r:id="rId39"/>
  </p:notesMasterIdLst>
  <p:sldIdLst>
    <p:sldId id="319" r:id="rId5"/>
    <p:sldId id="256" r:id="rId6"/>
    <p:sldId id="288" r:id="rId7"/>
    <p:sldId id="262" r:id="rId8"/>
    <p:sldId id="264" r:id="rId9"/>
    <p:sldId id="310" r:id="rId10"/>
    <p:sldId id="308" r:id="rId11"/>
    <p:sldId id="309" r:id="rId12"/>
    <p:sldId id="304" r:id="rId13"/>
    <p:sldId id="305" r:id="rId14"/>
    <p:sldId id="306" r:id="rId15"/>
    <p:sldId id="307" r:id="rId16"/>
    <p:sldId id="311" r:id="rId17"/>
    <p:sldId id="313" r:id="rId18"/>
    <p:sldId id="314" r:id="rId19"/>
    <p:sldId id="315" r:id="rId20"/>
    <p:sldId id="316" r:id="rId21"/>
    <p:sldId id="292" r:id="rId22"/>
    <p:sldId id="291" r:id="rId23"/>
    <p:sldId id="293" r:id="rId24"/>
    <p:sldId id="296" r:id="rId25"/>
    <p:sldId id="297" r:id="rId26"/>
    <p:sldId id="298" r:id="rId27"/>
    <p:sldId id="322" r:id="rId28"/>
    <p:sldId id="300" r:id="rId29"/>
    <p:sldId id="301" r:id="rId30"/>
    <p:sldId id="302" r:id="rId31"/>
    <p:sldId id="303" r:id="rId32"/>
    <p:sldId id="317" r:id="rId33"/>
    <p:sldId id="318" r:id="rId34"/>
    <p:sldId id="323" r:id="rId35"/>
    <p:sldId id="325" r:id="rId36"/>
    <p:sldId id="326" r:id="rId37"/>
    <p:sldId id="324" r:id="rId3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298">
          <p15:clr>
            <a:srgbClr val="A4A3A4"/>
          </p15:clr>
        </p15:guide>
        <p15:guide id="3" orient="horz" pos="2296">
          <p15:clr>
            <a:srgbClr val="A4A3A4"/>
          </p15:clr>
        </p15:guide>
        <p15:guide id="4" pos="2880">
          <p15:clr>
            <a:srgbClr val="A4A3A4"/>
          </p15:clr>
        </p15:guide>
        <p15:guide id="5" pos="204">
          <p15:clr>
            <a:srgbClr val="A4A3A4"/>
          </p15:clr>
        </p15:guide>
        <p15:guide id="6" pos="2200">
          <p15:clr>
            <a:srgbClr val="A4A3A4"/>
          </p15:clr>
        </p15:guide>
        <p15:guide id="7" pos="3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8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6"/>
      </p:cViewPr>
      <p:guideLst>
        <p:guide orient="horz" pos="2160"/>
        <p:guide orient="horz" pos="1298"/>
        <p:guide orient="horz" pos="2296"/>
        <p:guide pos="2880"/>
        <p:guide pos="204"/>
        <p:guide pos="2200"/>
        <p:guide pos="387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6058AA-F062-4078-9172-F30FABE5278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3773B55-5B8C-4DF6-84EA-3A12BED03261}">
      <dgm:prSet phldrT="[文本]" phldr="1"/>
      <dgm:spPr>
        <a:noFill/>
        <a:ln w="28575">
          <a:solidFill>
            <a:srgbClr val="C08C64"/>
          </a:solidFill>
          <a:prstDash val="sysDash"/>
        </a:ln>
      </dgm:spPr>
      <dgm:t>
        <a:bodyPr/>
        <a:lstStyle/>
        <a:p>
          <a:endParaRPr lang="zh-CN" altLang="en-US" dirty="0">
            <a:noFill/>
          </a:endParaRPr>
        </a:p>
      </dgm:t>
    </dgm:pt>
    <dgm:pt modelId="{02D15EB6-BBF0-454A-AB0B-12E6F7457100}" type="parTrans" cxnId="{8A7C7A74-BB2B-4D4D-AFC8-B8276882B3F8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C4794E60-C1E1-42E9-A847-35C061226F45}" type="sibTrans" cxnId="{8A7C7A74-BB2B-4D4D-AFC8-B8276882B3F8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FA57811B-7D3E-47A0-BDD6-C91C6B124332}" type="asst">
      <dgm:prSet phldrT="[文本]" phldr="1"/>
      <dgm:spPr>
        <a:noFill/>
        <a:ln w="28575">
          <a:solidFill>
            <a:srgbClr val="C08C64"/>
          </a:solidFill>
          <a:prstDash val="sysDash"/>
        </a:ln>
      </dgm:spPr>
      <dgm:t>
        <a:bodyPr/>
        <a:lstStyle/>
        <a:p>
          <a:endParaRPr lang="zh-CN" altLang="en-US" dirty="0">
            <a:noFill/>
          </a:endParaRPr>
        </a:p>
      </dgm:t>
    </dgm:pt>
    <dgm:pt modelId="{0B72248C-7693-4388-95A6-9BDA10DC97E8}" type="parTrans" cxnId="{87C80CD8-81B3-4697-B03E-6CA9ACA6FC2D}">
      <dgm:prSet/>
      <dgm:spPr>
        <a:ln>
          <a:solidFill>
            <a:schemeClr val="bg1"/>
          </a:solidFill>
        </a:ln>
      </dgm:spPr>
      <dgm:t>
        <a:bodyPr/>
        <a:lstStyle/>
        <a:p>
          <a:endParaRPr lang="zh-CN" altLang="en-US">
            <a:noFill/>
          </a:endParaRPr>
        </a:p>
      </dgm:t>
    </dgm:pt>
    <dgm:pt modelId="{686FD1AA-25BF-481A-B493-2FA0D7CEF2A8}" type="sibTrans" cxnId="{87C80CD8-81B3-4697-B03E-6CA9ACA6FC2D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B3EA4E1A-4C96-432A-9A0B-DADA65C50A02}">
      <dgm:prSet phldrT="[文本]" phldr="1"/>
      <dgm:spPr>
        <a:noFill/>
        <a:ln w="28575">
          <a:solidFill>
            <a:srgbClr val="C08C64"/>
          </a:solidFill>
          <a:prstDash val="sysDash"/>
        </a:ln>
      </dgm:spPr>
      <dgm:t>
        <a:bodyPr/>
        <a:lstStyle/>
        <a:p>
          <a:endParaRPr lang="zh-CN" altLang="en-US">
            <a:noFill/>
          </a:endParaRPr>
        </a:p>
      </dgm:t>
    </dgm:pt>
    <dgm:pt modelId="{C69F40BE-8D49-4436-AEB7-F51136DA1DFC}" type="parTrans" cxnId="{D64D86AD-38B7-481D-8DDD-258DFF633ACC}">
      <dgm:prSet/>
      <dgm:spPr>
        <a:ln>
          <a:solidFill>
            <a:schemeClr val="bg1"/>
          </a:solidFill>
        </a:ln>
      </dgm:spPr>
      <dgm:t>
        <a:bodyPr/>
        <a:lstStyle/>
        <a:p>
          <a:endParaRPr lang="zh-CN" altLang="en-US">
            <a:noFill/>
          </a:endParaRPr>
        </a:p>
      </dgm:t>
    </dgm:pt>
    <dgm:pt modelId="{4F2CD185-3FAB-4A4D-B903-C99675CC3D5D}" type="sibTrans" cxnId="{D64D86AD-38B7-481D-8DDD-258DFF633ACC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FCAAB407-82C4-4269-A829-B828EDE1E001}">
      <dgm:prSet phldrT="[文本]" phldr="1"/>
      <dgm:spPr>
        <a:noFill/>
        <a:ln w="28575">
          <a:solidFill>
            <a:srgbClr val="C08C64"/>
          </a:solidFill>
          <a:prstDash val="sysDash"/>
        </a:ln>
      </dgm:spPr>
      <dgm:t>
        <a:bodyPr/>
        <a:lstStyle/>
        <a:p>
          <a:endParaRPr lang="zh-CN" altLang="en-US">
            <a:noFill/>
          </a:endParaRPr>
        </a:p>
      </dgm:t>
    </dgm:pt>
    <dgm:pt modelId="{90388656-49D7-449A-B6B7-DD869C2C7EA5}" type="parTrans" cxnId="{E130A04C-1C02-4117-B5EF-8861303327F0}">
      <dgm:prSet/>
      <dgm:spPr>
        <a:ln>
          <a:solidFill>
            <a:schemeClr val="bg1"/>
          </a:solidFill>
        </a:ln>
      </dgm:spPr>
      <dgm:t>
        <a:bodyPr/>
        <a:lstStyle/>
        <a:p>
          <a:endParaRPr lang="zh-CN" altLang="en-US">
            <a:noFill/>
          </a:endParaRPr>
        </a:p>
      </dgm:t>
    </dgm:pt>
    <dgm:pt modelId="{B7397865-BDF5-4FA2-B3F7-47D0FDE144B5}" type="sibTrans" cxnId="{E130A04C-1C02-4117-B5EF-8861303327F0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076AA5EC-6443-4BCA-BC89-9C4A0F8151BA}">
      <dgm:prSet phldrT="[文本]" phldr="1"/>
      <dgm:spPr>
        <a:noFill/>
        <a:ln w="28575">
          <a:solidFill>
            <a:srgbClr val="C08C64"/>
          </a:solidFill>
          <a:prstDash val="sysDash"/>
        </a:ln>
      </dgm:spPr>
      <dgm:t>
        <a:bodyPr/>
        <a:lstStyle/>
        <a:p>
          <a:endParaRPr lang="zh-CN" altLang="en-US">
            <a:noFill/>
          </a:endParaRPr>
        </a:p>
      </dgm:t>
    </dgm:pt>
    <dgm:pt modelId="{23D82D76-63E6-4831-B54A-DE3D3EC5CADA}" type="parTrans" cxnId="{F8C293DB-6D17-45C9-A462-3C3286209F43}">
      <dgm:prSet/>
      <dgm:spPr>
        <a:ln>
          <a:solidFill>
            <a:schemeClr val="bg1"/>
          </a:solidFill>
        </a:ln>
      </dgm:spPr>
      <dgm:t>
        <a:bodyPr/>
        <a:lstStyle/>
        <a:p>
          <a:endParaRPr lang="zh-CN" altLang="en-US">
            <a:noFill/>
          </a:endParaRPr>
        </a:p>
      </dgm:t>
    </dgm:pt>
    <dgm:pt modelId="{1353CBEA-5A80-4B1A-90E9-96709C02184D}" type="sibTrans" cxnId="{F8C293DB-6D17-45C9-A462-3C3286209F43}">
      <dgm:prSet/>
      <dgm:spPr/>
      <dgm:t>
        <a:bodyPr/>
        <a:lstStyle/>
        <a:p>
          <a:endParaRPr lang="zh-CN" altLang="en-US">
            <a:noFill/>
          </a:endParaRPr>
        </a:p>
      </dgm:t>
    </dgm:pt>
    <dgm:pt modelId="{00A83F91-0662-4471-B889-71F918019E53}" type="pres">
      <dgm:prSet presAssocID="{5A6058AA-F062-4078-9172-F30FABE5278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3F2D6B48-883B-4359-9E30-3FC8F617A71E}" type="pres">
      <dgm:prSet presAssocID="{83773B55-5B8C-4DF6-84EA-3A12BED03261}" presName="hierRoot1" presStyleCnt="0">
        <dgm:presLayoutVars>
          <dgm:hierBranch val="init"/>
        </dgm:presLayoutVars>
      </dgm:prSet>
      <dgm:spPr/>
    </dgm:pt>
    <dgm:pt modelId="{80E42EC6-E447-46B9-9B41-FCF291E1A356}" type="pres">
      <dgm:prSet presAssocID="{83773B55-5B8C-4DF6-84EA-3A12BED03261}" presName="rootComposite1" presStyleCnt="0"/>
      <dgm:spPr/>
    </dgm:pt>
    <dgm:pt modelId="{32F50DE1-02E8-444E-BE33-85B877201698}" type="pres">
      <dgm:prSet presAssocID="{83773B55-5B8C-4DF6-84EA-3A12BED03261}" presName="rootText1" presStyleLbl="node0" presStyleIdx="0" presStyleCnt="1" custScaleX="68409" custScaleY="6840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669FDE7-713A-431E-9F3D-275AEBB1A0B1}" type="pres">
      <dgm:prSet presAssocID="{83773B55-5B8C-4DF6-84EA-3A12BED03261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0D4AB476-31C6-4B0B-BE51-4B8CAA2E80E3}" type="pres">
      <dgm:prSet presAssocID="{83773B55-5B8C-4DF6-84EA-3A12BED03261}" presName="hierChild2" presStyleCnt="0"/>
      <dgm:spPr/>
    </dgm:pt>
    <dgm:pt modelId="{A3C44B9B-C478-496B-A1D9-47A09E42F29E}" type="pres">
      <dgm:prSet presAssocID="{C69F40BE-8D49-4436-AEB7-F51136DA1DFC}" presName="Name37" presStyleLbl="parChTrans1D2" presStyleIdx="0" presStyleCnt="4"/>
      <dgm:spPr/>
      <dgm:t>
        <a:bodyPr/>
        <a:lstStyle/>
        <a:p>
          <a:endParaRPr lang="zh-CN" altLang="en-US"/>
        </a:p>
      </dgm:t>
    </dgm:pt>
    <dgm:pt modelId="{16890E6C-1554-4CA6-AEC6-C296C3A11B24}" type="pres">
      <dgm:prSet presAssocID="{B3EA4E1A-4C96-432A-9A0B-DADA65C50A02}" presName="hierRoot2" presStyleCnt="0">
        <dgm:presLayoutVars>
          <dgm:hierBranch val="init"/>
        </dgm:presLayoutVars>
      </dgm:prSet>
      <dgm:spPr/>
    </dgm:pt>
    <dgm:pt modelId="{94027E46-B6E7-43A6-9A3B-2B8C9343A1D6}" type="pres">
      <dgm:prSet presAssocID="{B3EA4E1A-4C96-432A-9A0B-DADA65C50A02}" presName="rootComposite" presStyleCnt="0"/>
      <dgm:spPr/>
    </dgm:pt>
    <dgm:pt modelId="{230C1F36-14B0-4529-BEE7-338A1039C88D}" type="pres">
      <dgm:prSet presAssocID="{B3EA4E1A-4C96-432A-9A0B-DADA65C50A02}" presName="rootText" presStyleLbl="node2" presStyleIdx="0" presStyleCnt="3" custScaleX="68409" custScaleY="6840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A8086DB-8F9E-40A6-B616-9EC06D0191E0}" type="pres">
      <dgm:prSet presAssocID="{B3EA4E1A-4C96-432A-9A0B-DADA65C50A02}" presName="rootConnector" presStyleLbl="node2" presStyleIdx="0" presStyleCnt="3"/>
      <dgm:spPr/>
      <dgm:t>
        <a:bodyPr/>
        <a:lstStyle/>
        <a:p>
          <a:endParaRPr lang="zh-CN" altLang="en-US"/>
        </a:p>
      </dgm:t>
    </dgm:pt>
    <dgm:pt modelId="{1234F562-78E5-46E3-A684-BBCCCADF8C8E}" type="pres">
      <dgm:prSet presAssocID="{B3EA4E1A-4C96-432A-9A0B-DADA65C50A02}" presName="hierChild4" presStyleCnt="0"/>
      <dgm:spPr/>
    </dgm:pt>
    <dgm:pt modelId="{21879AA7-53DD-4509-8401-F07DA361E5AB}" type="pres">
      <dgm:prSet presAssocID="{B3EA4E1A-4C96-432A-9A0B-DADA65C50A02}" presName="hierChild5" presStyleCnt="0"/>
      <dgm:spPr/>
    </dgm:pt>
    <dgm:pt modelId="{67EE439F-95FE-4E7F-94D3-7AD8842C786C}" type="pres">
      <dgm:prSet presAssocID="{90388656-49D7-449A-B6B7-DD869C2C7EA5}" presName="Name37" presStyleLbl="parChTrans1D2" presStyleIdx="1" presStyleCnt="4"/>
      <dgm:spPr/>
      <dgm:t>
        <a:bodyPr/>
        <a:lstStyle/>
        <a:p>
          <a:endParaRPr lang="zh-CN" altLang="en-US"/>
        </a:p>
      </dgm:t>
    </dgm:pt>
    <dgm:pt modelId="{DF63B917-0EC7-4B81-9DDF-079493947C8A}" type="pres">
      <dgm:prSet presAssocID="{FCAAB407-82C4-4269-A829-B828EDE1E001}" presName="hierRoot2" presStyleCnt="0">
        <dgm:presLayoutVars>
          <dgm:hierBranch val="init"/>
        </dgm:presLayoutVars>
      </dgm:prSet>
      <dgm:spPr/>
    </dgm:pt>
    <dgm:pt modelId="{571DC5CE-0120-48AE-8F11-CF30E668962C}" type="pres">
      <dgm:prSet presAssocID="{FCAAB407-82C4-4269-A829-B828EDE1E001}" presName="rootComposite" presStyleCnt="0"/>
      <dgm:spPr/>
    </dgm:pt>
    <dgm:pt modelId="{6A5387A9-11DB-4ADE-8F3C-E66BBB23B914}" type="pres">
      <dgm:prSet presAssocID="{FCAAB407-82C4-4269-A829-B828EDE1E001}" presName="rootText" presStyleLbl="node2" presStyleIdx="1" presStyleCnt="3" custScaleX="68409" custScaleY="6840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45511CB-9678-4B77-A0D6-DA3BB11A0577}" type="pres">
      <dgm:prSet presAssocID="{FCAAB407-82C4-4269-A829-B828EDE1E001}" presName="rootConnector" presStyleLbl="node2" presStyleIdx="1" presStyleCnt="3"/>
      <dgm:spPr/>
      <dgm:t>
        <a:bodyPr/>
        <a:lstStyle/>
        <a:p>
          <a:endParaRPr lang="zh-CN" altLang="en-US"/>
        </a:p>
      </dgm:t>
    </dgm:pt>
    <dgm:pt modelId="{541ACB2B-0121-40E7-9711-77FE2D3264B2}" type="pres">
      <dgm:prSet presAssocID="{FCAAB407-82C4-4269-A829-B828EDE1E001}" presName="hierChild4" presStyleCnt="0"/>
      <dgm:spPr/>
    </dgm:pt>
    <dgm:pt modelId="{48B74F20-67D6-4D99-B59E-E883EA1A3015}" type="pres">
      <dgm:prSet presAssocID="{FCAAB407-82C4-4269-A829-B828EDE1E001}" presName="hierChild5" presStyleCnt="0"/>
      <dgm:spPr/>
    </dgm:pt>
    <dgm:pt modelId="{A445DF73-8154-4B97-A166-BFF1F466C979}" type="pres">
      <dgm:prSet presAssocID="{23D82D76-63E6-4831-B54A-DE3D3EC5CADA}" presName="Name37" presStyleLbl="parChTrans1D2" presStyleIdx="2" presStyleCnt="4"/>
      <dgm:spPr/>
      <dgm:t>
        <a:bodyPr/>
        <a:lstStyle/>
        <a:p>
          <a:endParaRPr lang="zh-CN" altLang="en-US"/>
        </a:p>
      </dgm:t>
    </dgm:pt>
    <dgm:pt modelId="{8B485967-730E-44D3-9C6D-3B395DE8FB31}" type="pres">
      <dgm:prSet presAssocID="{076AA5EC-6443-4BCA-BC89-9C4A0F8151BA}" presName="hierRoot2" presStyleCnt="0">
        <dgm:presLayoutVars>
          <dgm:hierBranch val="init"/>
        </dgm:presLayoutVars>
      </dgm:prSet>
      <dgm:spPr/>
    </dgm:pt>
    <dgm:pt modelId="{D54F093C-56B7-45ED-AD6E-8625F9FF0C6F}" type="pres">
      <dgm:prSet presAssocID="{076AA5EC-6443-4BCA-BC89-9C4A0F8151BA}" presName="rootComposite" presStyleCnt="0"/>
      <dgm:spPr/>
    </dgm:pt>
    <dgm:pt modelId="{B21AE9D9-EFAB-4E69-A0E0-9AD0E1912D3E}" type="pres">
      <dgm:prSet presAssocID="{076AA5EC-6443-4BCA-BC89-9C4A0F8151BA}" presName="rootText" presStyleLbl="node2" presStyleIdx="2" presStyleCnt="3" custScaleX="68409" custScaleY="6840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6DDA947-2D35-43F3-BCB4-83A5114B5A06}" type="pres">
      <dgm:prSet presAssocID="{076AA5EC-6443-4BCA-BC89-9C4A0F8151BA}" presName="rootConnector" presStyleLbl="node2" presStyleIdx="2" presStyleCnt="3"/>
      <dgm:spPr/>
      <dgm:t>
        <a:bodyPr/>
        <a:lstStyle/>
        <a:p>
          <a:endParaRPr lang="zh-CN" altLang="en-US"/>
        </a:p>
      </dgm:t>
    </dgm:pt>
    <dgm:pt modelId="{E9EFFAF7-F5A1-4834-B2D1-2D2132DA0E49}" type="pres">
      <dgm:prSet presAssocID="{076AA5EC-6443-4BCA-BC89-9C4A0F8151BA}" presName="hierChild4" presStyleCnt="0"/>
      <dgm:spPr/>
    </dgm:pt>
    <dgm:pt modelId="{7D48BDD6-61BC-4943-A134-D09BF5F71635}" type="pres">
      <dgm:prSet presAssocID="{076AA5EC-6443-4BCA-BC89-9C4A0F8151BA}" presName="hierChild5" presStyleCnt="0"/>
      <dgm:spPr/>
    </dgm:pt>
    <dgm:pt modelId="{A2D21FDD-5548-455D-A979-F4F83BACCE26}" type="pres">
      <dgm:prSet presAssocID="{83773B55-5B8C-4DF6-84EA-3A12BED03261}" presName="hierChild3" presStyleCnt="0"/>
      <dgm:spPr/>
    </dgm:pt>
    <dgm:pt modelId="{99CDFA43-2193-4ECD-A41B-DACA743BD426}" type="pres">
      <dgm:prSet presAssocID="{0B72248C-7693-4388-95A6-9BDA10DC97E8}" presName="Name111" presStyleLbl="parChTrans1D2" presStyleIdx="3" presStyleCnt="4"/>
      <dgm:spPr/>
      <dgm:t>
        <a:bodyPr/>
        <a:lstStyle/>
        <a:p>
          <a:endParaRPr lang="zh-CN" altLang="en-US"/>
        </a:p>
      </dgm:t>
    </dgm:pt>
    <dgm:pt modelId="{94F6022B-1925-4337-933A-C9F6AA020333}" type="pres">
      <dgm:prSet presAssocID="{FA57811B-7D3E-47A0-BDD6-C91C6B124332}" presName="hierRoot3" presStyleCnt="0">
        <dgm:presLayoutVars>
          <dgm:hierBranch val="init"/>
        </dgm:presLayoutVars>
      </dgm:prSet>
      <dgm:spPr/>
    </dgm:pt>
    <dgm:pt modelId="{70CF317F-FDD5-4684-9297-E1827546A0F5}" type="pres">
      <dgm:prSet presAssocID="{FA57811B-7D3E-47A0-BDD6-C91C6B124332}" presName="rootComposite3" presStyleCnt="0"/>
      <dgm:spPr/>
    </dgm:pt>
    <dgm:pt modelId="{E6434C11-BADE-4793-B908-CF4FF454A711}" type="pres">
      <dgm:prSet presAssocID="{FA57811B-7D3E-47A0-BDD6-C91C6B124332}" presName="rootText3" presStyleLbl="asst1" presStyleIdx="0" presStyleCnt="1" custScaleX="68409" custScaleY="68409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DB0E248-1B3B-44B5-B9A6-4BE8589AE3A4}" type="pres">
      <dgm:prSet presAssocID="{FA57811B-7D3E-47A0-BDD6-C91C6B124332}" presName="rootConnector3" presStyleLbl="asst1" presStyleIdx="0" presStyleCnt="1"/>
      <dgm:spPr/>
      <dgm:t>
        <a:bodyPr/>
        <a:lstStyle/>
        <a:p>
          <a:endParaRPr lang="zh-CN" altLang="en-US"/>
        </a:p>
      </dgm:t>
    </dgm:pt>
    <dgm:pt modelId="{F5D8722A-0F81-4CB0-B122-CD30F5F469E0}" type="pres">
      <dgm:prSet presAssocID="{FA57811B-7D3E-47A0-BDD6-C91C6B124332}" presName="hierChild6" presStyleCnt="0"/>
      <dgm:spPr/>
    </dgm:pt>
    <dgm:pt modelId="{252E8D59-6F8D-4969-ADF8-DC4DD4DB91C8}" type="pres">
      <dgm:prSet presAssocID="{FA57811B-7D3E-47A0-BDD6-C91C6B124332}" presName="hierChild7" presStyleCnt="0"/>
      <dgm:spPr/>
    </dgm:pt>
  </dgm:ptLst>
  <dgm:cxnLst>
    <dgm:cxn modelId="{87C80CD8-81B3-4697-B03E-6CA9ACA6FC2D}" srcId="{83773B55-5B8C-4DF6-84EA-3A12BED03261}" destId="{FA57811B-7D3E-47A0-BDD6-C91C6B124332}" srcOrd="0" destOrd="0" parTransId="{0B72248C-7693-4388-95A6-9BDA10DC97E8}" sibTransId="{686FD1AA-25BF-481A-B493-2FA0D7CEF2A8}"/>
    <dgm:cxn modelId="{8A8DA5F9-CDE0-479F-B9D0-080C2BE7EBC4}" type="presOf" srcId="{5A6058AA-F062-4078-9172-F30FABE52784}" destId="{00A83F91-0662-4471-B889-71F918019E53}" srcOrd="0" destOrd="0" presId="urn:microsoft.com/office/officeart/2005/8/layout/orgChart1"/>
    <dgm:cxn modelId="{9EBAD987-C751-449B-A6A2-098E59C91E21}" type="presOf" srcId="{23D82D76-63E6-4831-B54A-DE3D3EC5CADA}" destId="{A445DF73-8154-4B97-A166-BFF1F466C979}" srcOrd="0" destOrd="0" presId="urn:microsoft.com/office/officeart/2005/8/layout/orgChart1"/>
    <dgm:cxn modelId="{0263BCB9-4ABA-479F-8A72-7B74FCDDD2C4}" type="presOf" srcId="{B3EA4E1A-4C96-432A-9A0B-DADA65C50A02}" destId="{230C1F36-14B0-4529-BEE7-338A1039C88D}" srcOrd="0" destOrd="0" presId="urn:microsoft.com/office/officeart/2005/8/layout/orgChart1"/>
    <dgm:cxn modelId="{3DF26C3B-B940-48E3-A0BC-658C180F5FB3}" type="presOf" srcId="{0B72248C-7693-4388-95A6-9BDA10DC97E8}" destId="{99CDFA43-2193-4ECD-A41B-DACA743BD426}" srcOrd="0" destOrd="0" presId="urn:microsoft.com/office/officeart/2005/8/layout/orgChart1"/>
    <dgm:cxn modelId="{7B1AEFDC-E7E8-40C2-9DFF-D17E088FB364}" type="presOf" srcId="{076AA5EC-6443-4BCA-BC89-9C4A0F8151BA}" destId="{66DDA947-2D35-43F3-BCB4-83A5114B5A06}" srcOrd="1" destOrd="0" presId="urn:microsoft.com/office/officeart/2005/8/layout/orgChart1"/>
    <dgm:cxn modelId="{6D14C484-D453-4C33-BE7D-CA8E2AB55EED}" type="presOf" srcId="{C69F40BE-8D49-4436-AEB7-F51136DA1DFC}" destId="{A3C44B9B-C478-496B-A1D9-47A09E42F29E}" srcOrd="0" destOrd="0" presId="urn:microsoft.com/office/officeart/2005/8/layout/orgChart1"/>
    <dgm:cxn modelId="{53AB8FC9-221E-4934-A909-B4BB943149EE}" type="presOf" srcId="{90388656-49D7-449A-B6B7-DD869C2C7EA5}" destId="{67EE439F-95FE-4E7F-94D3-7AD8842C786C}" srcOrd="0" destOrd="0" presId="urn:microsoft.com/office/officeart/2005/8/layout/orgChart1"/>
    <dgm:cxn modelId="{F5148BEB-6C3B-4643-BAB6-F782C11BB39B}" type="presOf" srcId="{83773B55-5B8C-4DF6-84EA-3A12BED03261}" destId="{B669FDE7-713A-431E-9F3D-275AEBB1A0B1}" srcOrd="1" destOrd="0" presId="urn:microsoft.com/office/officeart/2005/8/layout/orgChart1"/>
    <dgm:cxn modelId="{8A7C7A74-BB2B-4D4D-AFC8-B8276882B3F8}" srcId="{5A6058AA-F062-4078-9172-F30FABE52784}" destId="{83773B55-5B8C-4DF6-84EA-3A12BED03261}" srcOrd="0" destOrd="0" parTransId="{02D15EB6-BBF0-454A-AB0B-12E6F7457100}" sibTransId="{C4794E60-C1E1-42E9-A847-35C061226F45}"/>
    <dgm:cxn modelId="{04AEC49C-1CEE-4284-B6CB-C6B48731397F}" type="presOf" srcId="{FA57811B-7D3E-47A0-BDD6-C91C6B124332}" destId="{E6434C11-BADE-4793-B908-CF4FF454A711}" srcOrd="0" destOrd="0" presId="urn:microsoft.com/office/officeart/2005/8/layout/orgChart1"/>
    <dgm:cxn modelId="{5739A50A-4634-4A2F-B7B9-C665819A24E2}" type="presOf" srcId="{FA57811B-7D3E-47A0-BDD6-C91C6B124332}" destId="{8DB0E248-1B3B-44B5-B9A6-4BE8589AE3A4}" srcOrd="1" destOrd="0" presId="urn:microsoft.com/office/officeart/2005/8/layout/orgChart1"/>
    <dgm:cxn modelId="{39FEF043-DFFA-4F44-BDDD-049D2EB8EE93}" type="presOf" srcId="{FCAAB407-82C4-4269-A829-B828EDE1E001}" destId="{045511CB-9678-4B77-A0D6-DA3BB11A0577}" srcOrd="1" destOrd="0" presId="urn:microsoft.com/office/officeart/2005/8/layout/orgChart1"/>
    <dgm:cxn modelId="{FC5C4E76-6E76-4024-993C-05CC138201FF}" type="presOf" srcId="{076AA5EC-6443-4BCA-BC89-9C4A0F8151BA}" destId="{B21AE9D9-EFAB-4E69-A0E0-9AD0E1912D3E}" srcOrd="0" destOrd="0" presId="urn:microsoft.com/office/officeart/2005/8/layout/orgChart1"/>
    <dgm:cxn modelId="{D64D86AD-38B7-481D-8DDD-258DFF633ACC}" srcId="{83773B55-5B8C-4DF6-84EA-3A12BED03261}" destId="{B3EA4E1A-4C96-432A-9A0B-DADA65C50A02}" srcOrd="1" destOrd="0" parTransId="{C69F40BE-8D49-4436-AEB7-F51136DA1DFC}" sibTransId="{4F2CD185-3FAB-4A4D-B903-C99675CC3D5D}"/>
    <dgm:cxn modelId="{E130A04C-1C02-4117-B5EF-8861303327F0}" srcId="{83773B55-5B8C-4DF6-84EA-3A12BED03261}" destId="{FCAAB407-82C4-4269-A829-B828EDE1E001}" srcOrd="2" destOrd="0" parTransId="{90388656-49D7-449A-B6B7-DD869C2C7EA5}" sibTransId="{B7397865-BDF5-4FA2-B3F7-47D0FDE144B5}"/>
    <dgm:cxn modelId="{9781634D-B687-4BBA-A18A-09F253A8C459}" type="presOf" srcId="{FCAAB407-82C4-4269-A829-B828EDE1E001}" destId="{6A5387A9-11DB-4ADE-8F3C-E66BBB23B914}" srcOrd="0" destOrd="0" presId="urn:microsoft.com/office/officeart/2005/8/layout/orgChart1"/>
    <dgm:cxn modelId="{F8C293DB-6D17-45C9-A462-3C3286209F43}" srcId="{83773B55-5B8C-4DF6-84EA-3A12BED03261}" destId="{076AA5EC-6443-4BCA-BC89-9C4A0F8151BA}" srcOrd="3" destOrd="0" parTransId="{23D82D76-63E6-4831-B54A-DE3D3EC5CADA}" sibTransId="{1353CBEA-5A80-4B1A-90E9-96709C02184D}"/>
    <dgm:cxn modelId="{0546551C-E17F-4404-BFA8-EB8B35181AFB}" type="presOf" srcId="{B3EA4E1A-4C96-432A-9A0B-DADA65C50A02}" destId="{7A8086DB-8F9E-40A6-B616-9EC06D0191E0}" srcOrd="1" destOrd="0" presId="urn:microsoft.com/office/officeart/2005/8/layout/orgChart1"/>
    <dgm:cxn modelId="{F52B75DD-79B1-49A7-95EF-53111BF74506}" type="presOf" srcId="{83773B55-5B8C-4DF6-84EA-3A12BED03261}" destId="{32F50DE1-02E8-444E-BE33-85B877201698}" srcOrd="0" destOrd="0" presId="urn:microsoft.com/office/officeart/2005/8/layout/orgChart1"/>
    <dgm:cxn modelId="{7DC64205-585E-41BF-9EEA-CE15BE0CC4AC}" type="presParOf" srcId="{00A83F91-0662-4471-B889-71F918019E53}" destId="{3F2D6B48-883B-4359-9E30-3FC8F617A71E}" srcOrd="0" destOrd="0" presId="urn:microsoft.com/office/officeart/2005/8/layout/orgChart1"/>
    <dgm:cxn modelId="{A0B8AAFB-EAD1-4EA8-ADDC-F9F1FA55E33C}" type="presParOf" srcId="{3F2D6B48-883B-4359-9E30-3FC8F617A71E}" destId="{80E42EC6-E447-46B9-9B41-FCF291E1A356}" srcOrd="0" destOrd="0" presId="urn:microsoft.com/office/officeart/2005/8/layout/orgChart1"/>
    <dgm:cxn modelId="{9273A147-874B-4E39-A5F3-E764829EB61C}" type="presParOf" srcId="{80E42EC6-E447-46B9-9B41-FCF291E1A356}" destId="{32F50DE1-02E8-444E-BE33-85B877201698}" srcOrd="0" destOrd="0" presId="urn:microsoft.com/office/officeart/2005/8/layout/orgChart1"/>
    <dgm:cxn modelId="{2018CFD1-22AF-4650-BDD3-2908CB20F849}" type="presParOf" srcId="{80E42EC6-E447-46B9-9B41-FCF291E1A356}" destId="{B669FDE7-713A-431E-9F3D-275AEBB1A0B1}" srcOrd="1" destOrd="0" presId="urn:microsoft.com/office/officeart/2005/8/layout/orgChart1"/>
    <dgm:cxn modelId="{1349CEC1-858C-45A5-8DA7-88F3F8D03C33}" type="presParOf" srcId="{3F2D6B48-883B-4359-9E30-3FC8F617A71E}" destId="{0D4AB476-31C6-4B0B-BE51-4B8CAA2E80E3}" srcOrd="1" destOrd="0" presId="urn:microsoft.com/office/officeart/2005/8/layout/orgChart1"/>
    <dgm:cxn modelId="{9099F8BD-26AE-43C4-9E7A-AC80DCFA90E0}" type="presParOf" srcId="{0D4AB476-31C6-4B0B-BE51-4B8CAA2E80E3}" destId="{A3C44B9B-C478-496B-A1D9-47A09E42F29E}" srcOrd="0" destOrd="0" presId="urn:microsoft.com/office/officeart/2005/8/layout/orgChart1"/>
    <dgm:cxn modelId="{472DE64C-2F2E-449C-9476-CFF8C7BA3615}" type="presParOf" srcId="{0D4AB476-31C6-4B0B-BE51-4B8CAA2E80E3}" destId="{16890E6C-1554-4CA6-AEC6-C296C3A11B24}" srcOrd="1" destOrd="0" presId="urn:microsoft.com/office/officeart/2005/8/layout/orgChart1"/>
    <dgm:cxn modelId="{967ACDF9-9435-4863-A25C-C946459A935D}" type="presParOf" srcId="{16890E6C-1554-4CA6-AEC6-C296C3A11B24}" destId="{94027E46-B6E7-43A6-9A3B-2B8C9343A1D6}" srcOrd="0" destOrd="0" presId="urn:microsoft.com/office/officeart/2005/8/layout/orgChart1"/>
    <dgm:cxn modelId="{8903C429-4F47-4988-9FC6-1A0F1A7DCBAE}" type="presParOf" srcId="{94027E46-B6E7-43A6-9A3B-2B8C9343A1D6}" destId="{230C1F36-14B0-4529-BEE7-338A1039C88D}" srcOrd="0" destOrd="0" presId="urn:microsoft.com/office/officeart/2005/8/layout/orgChart1"/>
    <dgm:cxn modelId="{4F4B7ADC-03D8-4B10-B46F-10CF88880A97}" type="presParOf" srcId="{94027E46-B6E7-43A6-9A3B-2B8C9343A1D6}" destId="{7A8086DB-8F9E-40A6-B616-9EC06D0191E0}" srcOrd="1" destOrd="0" presId="urn:microsoft.com/office/officeart/2005/8/layout/orgChart1"/>
    <dgm:cxn modelId="{B9BA91F9-F84E-43A7-82C4-658999C98494}" type="presParOf" srcId="{16890E6C-1554-4CA6-AEC6-C296C3A11B24}" destId="{1234F562-78E5-46E3-A684-BBCCCADF8C8E}" srcOrd="1" destOrd="0" presId="urn:microsoft.com/office/officeart/2005/8/layout/orgChart1"/>
    <dgm:cxn modelId="{FCAAA06B-63D7-45A0-8D0D-BBE067D19597}" type="presParOf" srcId="{16890E6C-1554-4CA6-AEC6-C296C3A11B24}" destId="{21879AA7-53DD-4509-8401-F07DA361E5AB}" srcOrd="2" destOrd="0" presId="urn:microsoft.com/office/officeart/2005/8/layout/orgChart1"/>
    <dgm:cxn modelId="{00D6B6F5-10EB-4FF3-AE32-47EE93C5B9B9}" type="presParOf" srcId="{0D4AB476-31C6-4B0B-BE51-4B8CAA2E80E3}" destId="{67EE439F-95FE-4E7F-94D3-7AD8842C786C}" srcOrd="2" destOrd="0" presId="urn:microsoft.com/office/officeart/2005/8/layout/orgChart1"/>
    <dgm:cxn modelId="{F5934403-0EE1-4C62-AD2D-3FAAA94705B4}" type="presParOf" srcId="{0D4AB476-31C6-4B0B-BE51-4B8CAA2E80E3}" destId="{DF63B917-0EC7-4B81-9DDF-079493947C8A}" srcOrd="3" destOrd="0" presId="urn:microsoft.com/office/officeart/2005/8/layout/orgChart1"/>
    <dgm:cxn modelId="{F0A675FF-78E9-4599-863E-E7FBFE729664}" type="presParOf" srcId="{DF63B917-0EC7-4B81-9DDF-079493947C8A}" destId="{571DC5CE-0120-48AE-8F11-CF30E668962C}" srcOrd="0" destOrd="0" presId="urn:microsoft.com/office/officeart/2005/8/layout/orgChart1"/>
    <dgm:cxn modelId="{942F64D4-1FE0-4573-A5A0-85FD81A998CF}" type="presParOf" srcId="{571DC5CE-0120-48AE-8F11-CF30E668962C}" destId="{6A5387A9-11DB-4ADE-8F3C-E66BBB23B914}" srcOrd="0" destOrd="0" presId="urn:microsoft.com/office/officeart/2005/8/layout/orgChart1"/>
    <dgm:cxn modelId="{22D37D81-80D7-440F-8886-E0ECA9E1BFD0}" type="presParOf" srcId="{571DC5CE-0120-48AE-8F11-CF30E668962C}" destId="{045511CB-9678-4B77-A0D6-DA3BB11A0577}" srcOrd="1" destOrd="0" presId="urn:microsoft.com/office/officeart/2005/8/layout/orgChart1"/>
    <dgm:cxn modelId="{9FFB859C-3877-4380-96DE-E04D15093F37}" type="presParOf" srcId="{DF63B917-0EC7-4B81-9DDF-079493947C8A}" destId="{541ACB2B-0121-40E7-9711-77FE2D3264B2}" srcOrd="1" destOrd="0" presId="urn:microsoft.com/office/officeart/2005/8/layout/orgChart1"/>
    <dgm:cxn modelId="{7D2057A6-C2E4-4378-AAB2-EB2FD139291A}" type="presParOf" srcId="{DF63B917-0EC7-4B81-9DDF-079493947C8A}" destId="{48B74F20-67D6-4D99-B59E-E883EA1A3015}" srcOrd="2" destOrd="0" presId="urn:microsoft.com/office/officeart/2005/8/layout/orgChart1"/>
    <dgm:cxn modelId="{6C4D982D-30F6-46A0-89FF-9B93690E5E1E}" type="presParOf" srcId="{0D4AB476-31C6-4B0B-BE51-4B8CAA2E80E3}" destId="{A445DF73-8154-4B97-A166-BFF1F466C979}" srcOrd="4" destOrd="0" presId="urn:microsoft.com/office/officeart/2005/8/layout/orgChart1"/>
    <dgm:cxn modelId="{5711DCD9-EA01-4AE3-9392-F01E86B95497}" type="presParOf" srcId="{0D4AB476-31C6-4B0B-BE51-4B8CAA2E80E3}" destId="{8B485967-730E-44D3-9C6D-3B395DE8FB31}" srcOrd="5" destOrd="0" presId="urn:microsoft.com/office/officeart/2005/8/layout/orgChart1"/>
    <dgm:cxn modelId="{8D4CC154-FFF3-4975-9347-F3E81D158E1D}" type="presParOf" srcId="{8B485967-730E-44D3-9C6D-3B395DE8FB31}" destId="{D54F093C-56B7-45ED-AD6E-8625F9FF0C6F}" srcOrd="0" destOrd="0" presId="urn:microsoft.com/office/officeart/2005/8/layout/orgChart1"/>
    <dgm:cxn modelId="{7F71A11B-3B7A-4339-AB67-AABABF728BC0}" type="presParOf" srcId="{D54F093C-56B7-45ED-AD6E-8625F9FF0C6F}" destId="{B21AE9D9-EFAB-4E69-A0E0-9AD0E1912D3E}" srcOrd="0" destOrd="0" presId="urn:microsoft.com/office/officeart/2005/8/layout/orgChart1"/>
    <dgm:cxn modelId="{28109F2E-CC16-45B9-8085-FF2DD344B6E9}" type="presParOf" srcId="{D54F093C-56B7-45ED-AD6E-8625F9FF0C6F}" destId="{66DDA947-2D35-43F3-BCB4-83A5114B5A06}" srcOrd="1" destOrd="0" presId="urn:microsoft.com/office/officeart/2005/8/layout/orgChart1"/>
    <dgm:cxn modelId="{0308DC14-B777-4B07-B087-80E08280C782}" type="presParOf" srcId="{8B485967-730E-44D3-9C6D-3B395DE8FB31}" destId="{E9EFFAF7-F5A1-4834-B2D1-2D2132DA0E49}" srcOrd="1" destOrd="0" presId="urn:microsoft.com/office/officeart/2005/8/layout/orgChart1"/>
    <dgm:cxn modelId="{9B389AA0-6CFE-4969-80E3-1136F1EBB638}" type="presParOf" srcId="{8B485967-730E-44D3-9C6D-3B395DE8FB31}" destId="{7D48BDD6-61BC-4943-A134-D09BF5F71635}" srcOrd="2" destOrd="0" presId="urn:microsoft.com/office/officeart/2005/8/layout/orgChart1"/>
    <dgm:cxn modelId="{B0DA02B7-C3EA-4468-B01D-A35F8CD39E08}" type="presParOf" srcId="{3F2D6B48-883B-4359-9E30-3FC8F617A71E}" destId="{A2D21FDD-5548-455D-A979-F4F83BACCE26}" srcOrd="2" destOrd="0" presId="urn:microsoft.com/office/officeart/2005/8/layout/orgChart1"/>
    <dgm:cxn modelId="{7AD9DFA7-5B07-478A-8391-7D907D0E55BC}" type="presParOf" srcId="{A2D21FDD-5548-455D-A979-F4F83BACCE26}" destId="{99CDFA43-2193-4ECD-A41B-DACA743BD426}" srcOrd="0" destOrd="0" presId="urn:microsoft.com/office/officeart/2005/8/layout/orgChart1"/>
    <dgm:cxn modelId="{1DC1FFBE-8FC5-4A88-B5FA-BF4FAFDA7C12}" type="presParOf" srcId="{A2D21FDD-5548-455D-A979-F4F83BACCE26}" destId="{94F6022B-1925-4337-933A-C9F6AA020333}" srcOrd="1" destOrd="0" presId="urn:microsoft.com/office/officeart/2005/8/layout/orgChart1"/>
    <dgm:cxn modelId="{8250D859-84CA-409E-8A66-D7D35316BA34}" type="presParOf" srcId="{94F6022B-1925-4337-933A-C9F6AA020333}" destId="{70CF317F-FDD5-4684-9297-E1827546A0F5}" srcOrd="0" destOrd="0" presId="urn:microsoft.com/office/officeart/2005/8/layout/orgChart1"/>
    <dgm:cxn modelId="{C48C57B3-34AB-4334-84B0-0E9E43967E5B}" type="presParOf" srcId="{70CF317F-FDD5-4684-9297-E1827546A0F5}" destId="{E6434C11-BADE-4793-B908-CF4FF454A711}" srcOrd="0" destOrd="0" presId="urn:microsoft.com/office/officeart/2005/8/layout/orgChart1"/>
    <dgm:cxn modelId="{68DACF42-14EC-4AB3-A1C2-92F4BB03946B}" type="presParOf" srcId="{70CF317F-FDD5-4684-9297-E1827546A0F5}" destId="{8DB0E248-1B3B-44B5-B9A6-4BE8589AE3A4}" srcOrd="1" destOrd="0" presId="urn:microsoft.com/office/officeart/2005/8/layout/orgChart1"/>
    <dgm:cxn modelId="{B00D3A0E-ADFB-4A75-88A8-11431DAEB648}" type="presParOf" srcId="{94F6022B-1925-4337-933A-C9F6AA020333}" destId="{F5D8722A-0F81-4CB0-B122-CD30F5F469E0}" srcOrd="1" destOrd="0" presId="urn:microsoft.com/office/officeart/2005/8/layout/orgChart1"/>
    <dgm:cxn modelId="{E7D4FBDB-C70B-4DFB-9CD7-AB50DC5FB736}" type="presParOf" srcId="{94F6022B-1925-4337-933A-C9F6AA020333}" destId="{252E8D59-6F8D-4969-ADF8-DC4DD4DB91C8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CDFA43-2193-4ECD-A41B-DACA743BD426}">
      <dsp:nvSpPr>
        <dsp:cNvPr id="0" name=""/>
        <dsp:cNvSpPr/>
      </dsp:nvSpPr>
      <dsp:spPr>
        <a:xfrm>
          <a:off x="1316684" y="366259"/>
          <a:ext cx="112075" cy="490996"/>
        </a:xfrm>
        <a:custGeom>
          <a:avLst/>
          <a:gdLst/>
          <a:ahLst/>
          <a:cxnLst/>
          <a:rect l="0" t="0" r="0" b="0"/>
          <a:pathLst>
            <a:path>
              <a:moveTo>
                <a:pt x="112075" y="0"/>
              </a:moveTo>
              <a:lnTo>
                <a:pt x="112075" y="490996"/>
              </a:lnTo>
              <a:lnTo>
                <a:pt x="0" y="490996"/>
              </a:lnTo>
            </a:path>
          </a:pathLst>
        </a:custGeom>
        <a:noFill/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45DF73-8154-4B97-A166-BFF1F466C979}">
      <dsp:nvSpPr>
        <dsp:cNvPr id="0" name=""/>
        <dsp:cNvSpPr/>
      </dsp:nvSpPr>
      <dsp:spPr>
        <a:xfrm>
          <a:off x="1428759" y="366259"/>
          <a:ext cx="954337" cy="981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9918"/>
              </a:lnTo>
              <a:lnTo>
                <a:pt x="954337" y="869918"/>
              </a:lnTo>
              <a:lnTo>
                <a:pt x="954337" y="981993"/>
              </a:lnTo>
            </a:path>
          </a:pathLst>
        </a:custGeom>
        <a:noFill/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EE439F-95FE-4E7F-94D3-7AD8842C786C}">
      <dsp:nvSpPr>
        <dsp:cNvPr id="0" name=""/>
        <dsp:cNvSpPr/>
      </dsp:nvSpPr>
      <dsp:spPr>
        <a:xfrm>
          <a:off x="1383039" y="366259"/>
          <a:ext cx="91440" cy="98199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81993"/>
              </a:lnTo>
            </a:path>
          </a:pathLst>
        </a:custGeom>
        <a:noFill/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C44B9B-C478-496B-A1D9-47A09E42F29E}">
      <dsp:nvSpPr>
        <dsp:cNvPr id="0" name=""/>
        <dsp:cNvSpPr/>
      </dsp:nvSpPr>
      <dsp:spPr>
        <a:xfrm>
          <a:off x="474422" y="366259"/>
          <a:ext cx="954337" cy="981993"/>
        </a:xfrm>
        <a:custGeom>
          <a:avLst/>
          <a:gdLst/>
          <a:ahLst/>
          <a:cxnLst/>
          <a:rect l="0" t="0" r="0" b="0"/>
          <a:pathLst>
            <a:path>
              <a:moveTo>
                <a:pt x="954337" y="0"/>
              </a:moveTo>
              <a:lnTo>
                <a:pt x="954337" y="869918"/>
              </a:lnTo>
              <a:lnTo>
                <a:pt x="0" y="869918"/>
              </a:lnTo>
              <a:lnTo>
                <a:pt x="0" y="981993"/>
              </a:lnTo>
            </a:path>
          </a:pathLst>
        </a:custGeom>
        <a:noFill/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F50DE1-02E8-444E-BE33-85B877201698}">
      <dsp:nvSpPr>
        <dsp:cNvPr id="0" name=""/>
        <dsp:cNvSpPr/>
      </dsp:nvSpPr>
      <dsp:spPr>
        <a:xfrm>
          <a:off x="1063666" y="1165"/>
          <a:ext cx="730186" cy="365093"/>
        </a:xfrm>
        <a:prstGeom prst="rect">
          <a:avLst/>
        </a:prstGeom>
        <a:noFill/>
        <a:ln w="28575" cap="flat" cmpd="sng" algn="ctr">
          <a:solidFill>
            <a:srgbClr val="C08C64"/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700" kern="1200" dirty="0">
            <a:noFill/>
          </a:endParaRPr>
        </a:p>
      </dsp:txBody>
      <dsp:txXfrm>
        <a:off x="1063666" y="1165"/>
        <a:ext cx="730186" cy="365093"/>
      </dsp:txXfrm>
    </dsp:sp>
    <dsp:sp modelId="{230C1F36-14B0-4529-BEE7-338A1039C88D}">
      <dsp:nvSpPr>
        <dsp:cNvPr id="0" name=""/>
        <dsp:cNvSpPr/>
      </dsp:nvSpPr>
      <dsp:spPr>
        <a:xfrm>
          <a:off x="109329" y="1348252"/>
          <a:ext cx="730186" cy="365093"/>
        </a:xfrm>
        <a:prstGeom prst="rect">
          <a:avLst/>
        </a:prstGeom>
        <a:noFill/>
        <a:ln w="28575" cap="flat" cmpd="sng" algn="ctr">
          <a:solidFill>
            <a:srgbClr val="C08C64"/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700" kern="1200">
            <a:noFill/>
          </a:endParaRPr>
        </a:p>
      </dsp:txBody>
      <dsp:txXfrm>
        <a:off x="109329" y="1348252"/>
        <a:ext cx="730186" cy="365093"/>
      </dsp:txXfrm>
    </dsp:sp>
    <dsp:sp modelId="{6A5387A9-11DB-4ADE-8F3C-E66BBB23B914}">
      <dsp:nvSpPr>
        <dsp:cNvPr id="0" name=""/>
        <dsp:cNvSpPr/>
      </dsp:nvSpPr>
      <dsp:spPr>
        <a:xfrm>
          <a:off x="1063666" y="1348252"/>
          <a:ext cx="730186" cy="365093"/>
        </a:xfrm>
        <a:prstGeom prst="rect">
          <a:avLst/>
        </a:prstGeom>
        <a:noFill/>
        <a:ln w="28575" cap="flat" cmpd="sng" algn="ctr">
          <a:solidFill>
            <a:srgbClr val="C08C64"/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700" kern="1200">
            <a:noFill/>
          </a:endParaRPr>
        </a:p>
      </dsp:txBody>
      <dsp:txXfrm>
        <a:off x="1063666" y="1348252"/>
        <a:ext cx="730186" cy="365093"/>
      </dsp:txXfrm>
    </dsp:sp>
    <dsp:sp modelId="{B21AE9D9-EFAB-4E69-A0E0-9AD0E1912D3E}">
      <dsp:nvSpPr>
        <dsp:cNvPr id="0" name=""/>
        <dsp:cNvSpPr/>
      </dsp:nvSpPr>
      <dsp:spPr>
        <a:xfrm>
          <a:off x="2018004" y="1348252"/>
          <a:ext cx="730186" cy="365093"/>
        </a:xfrm>
        <a:prstGeom prst="rect">
          <a:avLst/>
        </a:prstGeom>
        <a:noFill/>
        <a:ln w="28575" cap="flat" cmpd="sng" algn="ctr">
          <a:solidFill>
            <a:srgbClr val="C08C64"/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700" kern="1200">
            <a:noFill/>
          </a:endParaRPr>
        </a:p>
      </dsp:txBody>
      <dsp:txXfrm>
        <a:off x="2018004" y="1348252"/>
        <a:ext cx="730186" cy="365093"/>
      </dsp:txXfrm>
    </dsp:sp>
    <dsp:sp modelId="{E6434C11-BADE-4793-B908-CF4FF454A711}">
      <dsp:nvSpPr>
        <dsp:cNvPr id="0" name=""/>
        <dsp:cNvSpPr/>
      </dsp:nvSpPr>
      <dsp:spPr>
        <a:xfrm>
          <a:off x="586497" y="674709"/>
          <a:ext cx="730186" cy="365093"/>
        </a:xfrm>
        <a:prstGeom prst="rect">
          <a:avLst/>
        </a:prstGeom>
        <a:noFill/>
        <a:ln w="28575" cap="flat" cmpd="sng" algn="ctr">
          <a:solidFill>
            <a:srgbClr val="C08C64"/>
          </a:solidFill>
          <a:prstDash val="sys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700" kern="1200" dirty="0">
            <a:noFill/>
          </a:endParaRPr>
        </a:p>
      </dsp:txBody>
      <dsp:txXfrm>
        <a:off x="586497" y="674709"/>
        <a:ext cx="730186" cy="3650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E4709-E0C3-4A31-BB5E-6CDE43A783E8}" type="datetimeFigureOut">
              <a:rPr lang="zh-CN" altLang="en-US" smtClean="0"/>
              <a:pPr/>
              <a:t>2014/2/27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732EE-7F82-4D78-AC83-5CF97B4F9F9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7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2732EE-7F82-4D78-AC83-5CF97B4F9F9D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574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2732EE-7F82-4D78-AC83-5CF97B4F9F9D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369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B3D21-BD32-4FED-A02E-E027266191EE}" type="datetime1">
              <a:rPr lang="zh-CN" altLang="en-US" smtClean="0"/>
              <a:pPr/>
              <a:t>2014/2/27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C121A-5BA9-4236-B4BA-0C05E5317507}" type="datetime1">
              <a:rPr lang="zh-CN" altLang="en-US" smtClean="0"/>
              <a:pPr/>
              <a:t>2014/2/27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400F-05DB-41BB-BD3F-610C4F642019}" type="datetime1">
              <a:rPr lang="zh-CN" altLang="en-US" smtClean="0"/>
              <a:pPr/>
              <a:t>2014/2/27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3BA72-2DE2-4774-9FA8-3B96B5225BF1}" type="datetime1">
              <a:rPr lang="zh-CN" altLang="en-US" smtClean="0"/>
              <a:pPr/>
              <a:t>2014/2/27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C8E1A-1327-4558-9A7E-CAFC46628A97}" type="datetime1">
              <a:rPr lang="zh-CN" altLang="en-US" smtClean="0"/>
              <a:pPr/>
              <a:t>2014/2/27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5B29-DCEC-4851-A22E-E9679ED15265}" type="datetime1">
              <a:rPr lang="zh-CN" altLang="en-US" smtClean="0"/>
              <a:pPr/>
              <a:t>2014/2/27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0B6CA-C809-4A14-B606-143209FB804B}" type="datetime1">
              <a:rPr lang="zh-CN" altLang="en-US" smtClean="0"/>
              <a:pPr/>
              <a:t>2014/2/27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16AC6-1CBA-4D5E-8C95-CEB3318FB0CA}" type="datetime1">
              <a:rPr lang="zh-CN" altLang="en-US" smtClean="0"/>
              <a:pPr/>
              <a:t>2014/2/27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57FB5-9134-4B65-84EA-264C745E3421}" type="datetime1">
              <a:rPr lang="zh-CN" altLang="en-US" smtClean="0"/>
              <a:pPr/>
              <a:t>2014/2/27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79A7B-8589-499F-9A7D-357586181DB3}" type="datetime1">
              <a:rPr lang="zh-CN" altLang="en-US" smtClean="0"/>
              <a:pPr/>
              <a:t>2014/2/27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A5E6-1DB0-4CF6-9A9A-924412568295}" type="datetime1">
              <a:rPr lang="zh-CN" altLang="en-US" smtClean="0"/>
              <a:pPr/>
              <a:t>2014/2/27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502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786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681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822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464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842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5815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946" y="-51325"/>
            <a:ext cx="9140054" cy="706827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894850" y="585521"/>
            <a:ext cx="468052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3946" y="26340"/>
            <a:ext cx="108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880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173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598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1858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4830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CF77FA-927F-47BE-9657-0B35BBFE60F1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7138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941B99-67D5-4E06-A73E-7A5D4651971D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0756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66B6F0-CF22-4087-8E46-9C9032A03274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3201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5B26F0-872F-447A-A6FB-6247331B5E7E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24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11EC07-D10C-4069-AFAA-4D2DF02FDC21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3426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DC7256-13C5-4557-AD5C-68B05989E298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2759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82FABA-9D9B-4D6E-9B95-84A3F9A50936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1063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12EF73-7560-4941-A9E9-DEBF48F39B14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717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C50ED6-157C-4D36-9180-609C1B67D955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7994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393E45-9D44-4BA8-AA79-B5EACAECC418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6286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01A01-4D5A-4518-87B4-FE35402B52A0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7905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9925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618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8640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6716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9453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4774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4892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3696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3582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5175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61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4ED15-5F5D-456F-9B27-1CBC9FDEBF9C}" type="datetime1">
              <a:rPr lang="zh-CN" altLang="en-US" smtClean="0"/>
              <a:pPr/>
              <a:t>2014/2/27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505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fld id="{0454DAA0-6D13-49F9-BE14-162B94357E04}" type="slidenum">
              <a:rPr lang="zh-CN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76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883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00462" y="4259274"/>
            <a:ext cx="5643570" cy="1077218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这是一个觉醒的年代</a:t>
            </a:r>
            <a:endParaRPr lang="en-US" altLang="zh-CN" sz="3200" b="1" dirty="0" smtClean="0"/>
          </a:p>
          <a:p>
            <a:r>
              <a:rPr lang="zh-CN" altLang="en-US" sz="3200" b="1" dirty="0" smtClean="0"/>
              <a:t>我们不要做有名无实的空雨衣</a:t>
            </a:r>
            <a:endParaRPr lang="zh-CN" altLang="en-US" sz="3200" b="1" dirty="0"/>
          </a:p>
        </p:txBody>
      </p:sp>
      <p:pic>
        <p:nvPicPr>
          <p:cNvPr id="5" name="Picture 2" descr="H:\空雨衣\u=2717349002,203847789&amp;fm=15&amp;gp=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221" y="1500174"/>
            <a:ext cx="3034178" cy="3836318"/>
          </a:xfrm>
          <a:prstGeom prst="rect">
            <a:avLst/>
          </a:prstGeom>
          <a:noFill/>
        </p:spPr>
      </p:pic>
      <p:sp>
        <p:nvSpPr>
          <p:cNvPr id="6" name="矩形 5"/>
          <p:cNvSpPr/>
          <p:nvPr/>
        </p:nvSpPr>
        <p:spPr>
          <a:xfrm>
            <a:off x="2803835" y="1359274"/>
            <a:ext cx="6340197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600" b="1" dirty="0" smtClean="0">
                <a:solidFill>
                  <a:srgbClr val="C08C64"/>
                </a:solidFill>
              </a:rPr>
              <a:t>《</a:t>
            </a:r>
            <a:r>
              <a:rPr lang="zh-CN" altLang="en-US" sz="9600" b="1" dirty="0" smtClean="0">
                <a:solidFill>
                  <a:srgbClr val="C08C64"/>
                </a:solidFill>
              </a:rPr>
              <a:t>空雨衣</a:t>
            </a:r>
            <a:r>
              <a:rPr lang="en-US" altLang="zh-CN" sz="9600" b="1" dirty="0" smtClean="0">
                <a:solidFill>
                  <a:srgbClr val="C08C64"/>
                </a:solidFill>
              </a:rPr>
              <a:t>》</a:t>
            </a:r>
            <a:endParaRPr lang="zh-CN" altLang="en-US" sz="9600" dirty="0">
              <a:solidFill>
                <a:srgbClr val="C08C64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57554" y="2786058"/>
            <a:ext cx="578395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000" b="1" dirty="0" smtClean="0">
                <a:solidFill>
                  <a:schemeClr val="bg1"/>
                </a:solidFill>
              </a:rPr>
              <a:t>查尔斯</a:t>
            </a:r>
            <a:r>
              <a:rPr lang="en-US" altLang="zh-CN" sz="8000" b="1" dirty="0" smtClean="0">
                <a:solidFill>
                  <a:srgbClr val="C00000"/>
                </a:solidFill>
                <a:latin typeface="微软雅黑"/>
                <a:ea typeface="微软雅黑"/>
                <a:sym typeface="Wingdings"/>
              </a:rPr>
              <a:t></a:t>
            </a:r>
            <a:r>
              <a:rPr lang="zh-CN" altLang="en-US" sz="8000" b="1" dirty="0" smtClean="0">
                <a:solidFill>
                  <a:schemeClr val="bg1"/>
                </a:solidFill>
                <a:latin typeface="微软雅黑"/>
                <a:ea typeface="微软雅黑"/>
                <a:sym typeface="Wingdings"/>
              </a:rPr>
              <a:t>汉</a:t>
            </a:r>
            <a:r>
              <a:rPr lang="zh-CN" altLang="en-US" sz="8000" b="1" dirty="0" smtClean="0">
                <a:solidFill>
                  <a:schemeClr val="bg1"/>
                </a:solidFill>
              </a:rPr>
              <a:t>迪</a:t>
            </a:r>
            <a:endParaRPr lang="zh-CN" altLang="en-US" sz="8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:\空雨衣\u=2587332478,4172100256&amp;fm=23&amp;gp=0.jpg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17181A"/>
              </a:clrFrom>
              <a:clrTo>
                <a:srgbClr val="17181A">
                  <a:alpha val="0"/>
                </a:srgbClr>
              </a:clrTo>
            </a:clrChange>
          </a:blip>
          <a:srcRect t="2000" b="2000"/>
          <a:stretch/>
        </p:blipFill>
        <p:spPr bwMode="auto">
          <a:xfrm rot="19595400">
            <a:off x="6985102" y="4612579"/>
            <a:ext cx="1811846" cy="1811846"/>
          </a:xfrm>
          <a:prstGeom prst="ellipse">
            <a:avLst/>
          </a:prstGeom>
          <a:noFill/>
          <a:ln>
            <a:solidFill>
              <a:schemeClr val="bg1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323528" y="908720"/>
            <a:ext cx="7560840" cy="3354735"/>
          </a:xfrm>
          <a:prstGeom prst="roundRect">
            <a:avLst>
              <a:gd name="adj" fmla="val 4543"/>
            </a:avLst>
          </a:prstGeom>
          <a:solidFill>
            <a:srgbClr val="C08C64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 anchor="ctr" anchorCtr="0">
            <a:no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000" dirty="0" smtClean="0">
                <a:latin typeface="方正行黑简体" pitchFamily="2" charset="-122"/>
                <a:ea typeface="方正行黑简体" pitchFamily="2" charset="-122"/>
              </a:rPr>
              <a:t>“</a:t>
            </a:r>
            <a:r>
              <a:rPr lang="zh-CN" altLang="en-US" sz="3200" dirty="0" smtClean="0">
                <a:solidFill>
                  <a:srgbClr val="C00000"/>
                </a:solidFill>
                <a:latin typeface="方正行黑简体" pitchFamily="2" charset="-122"/>
                <a:ea typeface="方正行黑简体" pitchFamily="2" charset="-122"/>
              </a:rPr>
              <a:t>空雨衣</a:t>
            </a:r>
            <a:r>
              <a:rPr lang="zh-CN" altLang="en-US" sz="2000" dirty="0" smtClean="0">
                <a:latin typeface="方正行黑简体" pitchFamily="2" charset="-122"/>
                <a:ea typeface="方正行黑简体" pitchFamily="2" charset="-122"/>
              </a:rPr>
              <a:t>正象征着当前人类直面的悖论</a:t>
            </a:r>
            <a:r>
              <a:rPr lang="en-US" altLang="zh-CN" sz="2000" dirty="0" smtClean="0">
                <a:latin typeface="方正行黑简体" pitchFamily="2" charset="-122"/>
                <a:ea typeface="方正行黑简体" pitchFamily="2" charset="-122"/>
              </a:rPr>
              <a:t>.</a:t>
            </a:r>
            <a:r>
              <a:rPr lang="zh-CN" altLang="en-US" sz="2000" dirty="0" smtClean="0">
                <a:latin typeface="方正行黑简体" pitchFamily="2" charset="-122"/>
                <a:ea typeface="方正行黑简体" pitchFamily="2" charset="-122"/>
              </a:rPr>
              <a:t>我们并非天生要当有名无实的‘空雨衣’，薪水名册上的编号、某一特定角色、经济学或社会学研究中的‘原始资料’，或者某份政府报告里的‘统计数字’。如果这些是经济增长所必须付出的代价，那增长毫无意义。</a:t>
            </a:r>
            <a:endParaRPr lang="en-US" altLang="zh-CN" sz="2000" dirty="0" smtClean="0">
              <a:latin typeface="方正行黑简体" pitchFamily="2" charset="-122"/>
              <a:ea typeface="方正行黑简体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方正行黑简体" pitchFamily="2" charset="-122"/>
                <a:ea typeface="方正行黑简体" pitchFamily="2" charset="-122"/>
              </a:rPr>
              <a:t>因为人生的意义，绝不仅仅是充当某部大机器的齿轮，终日疾转，不知目标何在。</a:t>
            </a:r>
            <a:r>
              <a:rPr lang="zh-CN" altLang="en-US" sz="2000" dirty="0" smtClean="0">
                <a:latin typeface="方正行黑简体" pitchFamily="2" charset="-122"/>
                <a:ea typeface="方正行黑简体" pitchFamily="2" charset="-122"/>
              </a:rPr>
              <a:t>”</a:t>
            </a:r>
            <a:endParaRPr lang="en-US" altLang="zh-CN" sz="2000" dirty="0" smtClean="0">
              <a:latin typeface="方正行黑简体" pitchFamily="2" charset="-122"/>
              <a:ea typeface="方正行黑简体" pitchFamily="2" charset="-122"/>
            </a:endParaRPr>
          </a:p>
          <a:p>
            <a:pPr algn="r">
              <a:lnSpc>
                <a:spcPct val="120000"/>
              </a:lnSpc>
            </a:pPr>
            <a:r>
              <a:rPr lang="en-US" altLang="zh-CN" sz="2000" dirty="0" smtClean="0">
                <a:latin typeface="方正行黑简体" pitchFamily="2" charset="-122"/>
                <a:ea typeface="方正行黑简体" pitchFamily="2" charset="-122"/>
              </a:rPr>
              <a:t>——</a:t>
            </a:r>
            <a:r>
              <a:rPr lang="zh-CN" altLang="en-US" sz="2000" dirty="0" smtClean="0">
                <a:latin typeface="方正行黑简体" pitchFamily="2" charset="-122"/>
                <a:ea typeface="方正行黑简体" pitchFamily="2" charset="-122"/>
              </a:rPr>
              <a:t>查尔斯</a:t>
            </a:r>
            <a:r>
              <a:rPr lang="en-US" altLang="zh-CN" sz="2000" dirty="0" smtClean="0">
                <a:latin typeface="方正行黑简体" pitchFamily="2" charset="-122"/>
                <a:ea typeface="方正行黑简体" pitchFamily="2" charset="-122"/>
              </a:rPr>
              <a:t>·</a:t>
            </a:r>
            <a:r>
              <a:rPr lang="zh-CN" altLang="en-US" sz="2000" dirty="0" smtClean="0">
                <a:latin typeface="方正行黑简体" pitchFamily="2" charset="-122"/>
                <a:ea typeface="方正行黑简体" pitchFamily="2" charset="-122"/>
              </a:rPr>
              <a:t>汉迪</a:t>
            </a:r>
            <a:endParaRPr lang="zh-CN" altLang="en-US" sz="4800" dirty="0">
              <a:latin typeface="方正行黑简体" pitchFamily="2" charset="-122"/>
              <a:ea typeface="方正行黑简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2123348"/>
            <a:ext cx="9144000" cy="2000548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第一部分</a:t>
            </a:r>
            <a:endParaRPr lang="en-US" altLang="zh-CN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sz="8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迷</a:t>
            </a:r>
            <a:r>
              <a:rPr lang="zh-CN" altLang="en-US" sz="8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思</a:t>
            </a:r>
            <a:endParaRPr lang="zh-CN" altLang="en-US" sz="8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14282" y="1558341"/>
            <a:ext cx="200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8C64"/>
                </a:solidFill>
              </a:rPr>
              <a:t>当代九大悖论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1</a:t>
            </a:r>
            <a:endParaRPr lang="zh-CN" altLang="en-US" b="1" dirty="0">
              <a:solidFill>
                <a:srgbClr val="C08C64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14546" y="3857628"/>
            <a:ext cx="5357850" cy="1421928"/>
          </a:xfrm>
          <a:prstGeom prst="rect">
            <a:avLst/>
          </a:prstGeom>
          <a:solidFill>
            <a:srgbClr val="C08C64"/>
          </a:solidFill>
          <a:ln w="19050">
            <a:solidFill>
              <a:srgbClr val="C08C64"/>
            </a:solidFill>
            <a:prstDash val="solid"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“智慧这种新财源极可能导致社会分化程度与日俱增，除非我们能将整个社会转型为‘永续学习’的社会”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2049738" y="2252955"/>
            <a:ext cx="3450956" cy="1693901"/>
            <a:chOff x="1478234" y="2830108"/>
            <a:chExt cx="2441694" cy="1693901"/>
          </a:xfrm>
        </p:grpSpPr>
        <p:sp>
          <p:nvSpPr>
            <p:cNvPr id="5" name="TextBox 4"/>
            <p:cNvSpPr txBox="1"/>
            <p:nvPr/>
          </p:nvSpPr>
          <p:spPr>
            <a:xfrm>
              <a:off x="1493752" y="2830108"/>
              <a:ext cx="1615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b="1" dirty="0" smtClean="0">
                  <a:solidFill>
                    <a:schemeClr val="bg1"/>
                  </a:solidFill>
                </a:rPr>
                <a:t>新型生产工具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8234" y="3077459"/>
              <a:ext cx="2441694" cy="144655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8800" b="1" dirty="0" smtClean="0">
                  <a:solidFill>
                    <a:schemeClr val="bg1"/>
                  </a:solidFill>
                </a:rPr>
                <a:t>智</a:t>
              </a:r>
              <a:r>
                <a:rPr lang="zh-CN" altLang="en-US" sz="8800" b="1" dirty="0" smtClean="0">
                  <a:solidFill>
                    <a:srgbClr val="C00000"/>
                  </a:solidFill>
                </a:rPr>
                <a:t>慧</a:t>
              </a:r>
              <a:endParaRPr lang="zh-CN" altLang="en-US" sz="8800" b="1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071670" y="3786190"/>
            <a:ext cx="5429288" cy="1826847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“假如一个社会中有许多无标价的工作，那人人都有事可做，有趣的是，社会有标价的工作越多，有偿工作反而没人做，因为如今有太多工作做来不划算”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14282" y="1558341"/>
            <a:ext cx="200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8C64"/>
                </a:solidFill>
              </a:rPr>
              <a:t>当代九大悖论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2</a:t>
            </a:r>
            <a:endParaRPr lang="zh-CN" altLang="en-US" b="1" dirty="0">
              <a:solidFill>
                <a:srgbClr val="C08C64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071670" y="2268202"/>
            <a:ext cx="4572032" cy="1446550"/>
            <a:chOff x="2500298" y="2000240"/>
            <a:chExt cx="4572032" cy="1446550"/>
          </a:xfrm>
        </p:grpSpPr>
        <p:sp>
          <p:nvSpPr>
            <p:cNvPr id="13" name="矩形 12"/>
            <p:cNvSpPr/>
            <p:nvPr/>
          </p:nvSpPr>
          <p:spPr>
            <a:xfrm>
              <a:off x="5429256" y="2000240"/>
              <a:ext cx="1643074" cy="14465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4400" b="1" dirty="0" smtClean="0">
                  <a:solidFill>
                    <a:schemeClr val="bg1"/>
                  </a:solidFill>
                </a:rPr>
                <a:t>是</a:t>
              </a:r>
              <a:r>
                <a:rPr lang="zh-CN" altLang="en-US" sz="4400" b="1" dirty="0" smtClean="0">
                  <a:solidFill>
                    <a:srgbClr val="C00000"/>
                  </a:solidFill>
                </a:rPr>
                <a:t>福</a:t>
              </a:r>
              <a:endParaRPr lang="en-US" altLang="zh-CN" sz="4400" b="1" dirty="0" smtClean="0">
                <a:solidFill>
                  <a:srgbClr val="C00000"/>
                </a:solidFill>
              </a:endParaRPr>
            </a:p>
            <a:p>
              <a:r>
                <a:rPr lang="zh-CN" altLang="en-US" sz="4400" b="1" dirty="0" smtClean="0">
                  <a:solidFill>
                    <a:schemeClr val="bg1"/>
                  </a:solidFill>
                </a:rPr>
                <a:t>是</a:t>
              </a:r>
              <a:r>
                <a:rPr lang="zh-CN" altLang="en-US" sz="4400" b="1" dirty="0" smtClean="0">
                  <a:solidFill>
                    <a:schemeClr val="bg1">
                      <a:lumMod val="65000"/>
                    </a:schemeClr>
                  </a:solidFill>
                </a:rPr>
                <a:t>祸</a:t>
              </a:r>
              <a:endParaRPr lang="zh-CN" altLang="en-US" sz="44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979402" y="2013824"/>
              <a:ext cx="1449854" cy="1428214"/>
            </a:xfrm>
            <a:prstGeom prst="ellipse">
              <a:avLst/>
            </a:prstGeom>
            <a:solidFill>
              <a:srgbClr val="C08C64"/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6000" b="1" dirty="0" smtClean="0">
                  <a:solidFill>
                    <a:prstClr val="white"/>
                  </a:solidFill>
                </a:rPr>
                <a:t>作</a:t>
              </a:r>
              <a:endParaRPr lang="zh-CN" altLang="en-US" sz="1600" b="1" dirty="0"/>
            </a:p>
          </p:txBody>
        </p:sp>
        <p:sp>
          <p:nvSpPr>
            <p:cNvPr id="15" name="椭圆 14"/>
            <p:cNvSpPr/>
            <p:nvPr/>
          </p:nvSpPr>
          <p:spPr>
            <a:xfrm>
              <a:off x="2500298" y="2013824"/>
              <a:ext cx="1449854" cy="1428214"/>
            </a:xfrm>
            <a:prstGeom prst="ellipse">
              <a:avLst/>
            </a:prstGeom>
            <a:solidFill>
              <a:srgbClr val="C08C64"/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6000" b="1" dirty="0" smtClean="0"/>
                <a:t>工</a:t>
              </a:r>
              <a:endParaRPr lang="zh-CN" altLang="en-US" sz="60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692210" y="2526565"/>
            <a:ext cx="41434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rgbClr val="C00000"/>
                </a:solidFill>
              </a:rPr>
              <a:t>生产力</a:t>
            </a:r>
            <a:r>
              <a:rPr lang="zh-CN" altLang="en-US" sz="4800" b="1" dirty="0" smtClean="0">
                <a:solidFill>
                  <a:schemeClr val="bg1"/>
                </a:solidFill>
              </a:rPr>
              <a:t>的迷思</a:t>
            </a:r>
            <a:endParaRPr lang="zh-CN" altLang="en-US" sz="48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85950" y="3368713"/>
            <a:ext cx="6000760" cy="2751522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当今社会正通过标价，把越来越多类型的工作带进正式经济体系，这种做法固然能促进专业分工与效率提升，但最后却使得一部分新工作因标价过高而无法存在，也导致许多民众丧失技能而创造出一群一旦丧失即无所事事的人”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14282" y="1571612"/>
            <a:ext cx="200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8C64"/>
                </a:solidFill>
              </a:rPr>
              <a:t>当代九大悖论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3</a:t>
            </a:r>
            <a:endParaRPr lang="zh-CN" altLang="en-US" b="1" dirty="0">
              <a:solidFill>
                <a:srgbClr val="C08C6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849426" y="2314510"/>
            <a:ext cx="2794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</a:rPr>
              <a:t>时间商品的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困惑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39945" y="4014621"/>
            <a:ext cx="5429288" cy="2308324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“时间变成一种令人困惑的商品</a:t>
            </a:r>
            <a:r>
              <a:rPr lang="en-US" altLang="zh-CN" sz="2400" b="1" dirty="0" smtClean="0">
                <a:latin typeface="方正行黑简体" pitchFamily="2" charset="-122"/>
                <a:ea typeface="方正行黑简体" pitchFamily="2" charset="-122"/>
              </a:rPr>
              <a:t>.</a:t>
            </a: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有些人愿意花钱以节省时间，有的人愿意花时间以节省金钱，还有人在人生某些特定阶段宁愿少做点事，少赚点钱，以争取有更多自己的时间”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14282" y="1558341"/>
            <a:ext cx="200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8C64"/>
                </a:solidFill>
              </a:rPr>
              <a:t>当代九大悖论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4</a:t>
            </a:r>
            <a:endParaRPr lang="zh-CN" altLang="en-US" b="1" dirty="0">
              <a:solidFill>
                <a:srgbClr val="C08C64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868507" y="2928934"/>
            <a:ext cx="5500726" cy="1058063"/>
            <a:chOff x="1928794" y="2723373"/>
            <a:chExt cx="5500726" cy="1058063"/>
          </a:xfrm>
        </p:grpSpPr>
        <p:grpSp>
          <p:nvGrpSpPr>
            <p:cNvPr id="18" name="组合 17"/>
            <p:cNvGrpSpPr/>
            <p:nvPr/>
          </p:nvGrpSpPr>
          <p:grpSpPr>
            <a:xfrm>
              <a:off x="1928794" y="2928934"/>
              <a:ext cx="5500726" cy="852502"/>
              <a:chOff x="2071670" y="3076564"/>
              <a:chExt cx="5500726" cy="852502"/>
            </a:xfrm>
          </p:grpSpPr>
          <p:pic>
            <p:nvPicPr>
              <p:cNvPr id="1028" name="Picture 4" descr="F:\全局（PPT、照片、资料共享、制度）\ppt\其他（案例、工具、矢量图）\PPT素材（图表及矢量图）\png图标和矢量图\1000个常用嗾标\1000个常用嗾标-604.png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6934208" y="3076564"/>
                <a:ext cx="638188" cy="6381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031" name="Picture 7" descr="F:\全局（PPT、照片、资料共享、制度）\ppt\其他（案例、工具、矢量图）\PPT素材（图表及矢量图）\png图标和矢量图\韩国风格\cpng3.png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071670" y="3076564"/>
                <a:ext cx="638188" cy="638188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grpSp>
            <p:nvGrpSpPr>
              <p:cNvPr id="2" name="组合 17"/>
              <p:cNvGrpSpPr/>
              <p:nvPr/>
            </p:nvGrpSpPr>
            <p:grpSpPr>
              <a:xfrm>
                <a:off x="2143108" y="3714752"/>
                <a:ext cx="5400000" cy="214314"/>
                <a:chOff x="1285852" y="4286256"/>
                <a:chExt cx="5400000" cy="214314"/>
              </a:xfrm>
            </p:grpSpPr>
            <p:cxnSp>
              <p:nvCxnSpPr>
                <p:cNvPr id="15" name="直接连接符 14"/>
                <p:cNvCxnSpPr/>
                <p:nvPr/>
              </p:nvCxnSpPr>
              <p:spPr>
                <a:xfrm rot="16200000" flipH="1">
                  <a:off x="3982681" y="1589427"/>
                  <a:ext cx="6342" cy="5400000"/>
                </a:xfrm>
                <a:prstGeom prst="line">
                  <a:avLst/>
                </a:prstGeom>
                <a:ln w="571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等腰三角形 16"/>
                <p:cNvSpPr/>
                <p:nvPr/>
              </p:nvSpPr>
              <p:spPr>
                <a:xfrm>
                  <a:off x="3786182" y="4286256"/>
                  <a:ext cx="214314" cy="214314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21" name="矩形 20"/>
            <p:cNvSpPr/>
            <p:nvPr/>
          </p:nvSpPr>
          <p:spPr>
            <a:xfrm>
              <a:off x="1939806" y="2723373"/>
              <a:ext cx="49244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 smtClean="0">
                  <a:solidFill>
                    <a:schemeClr val="bg1"/>
                  </a:solidFill>
                </a:rPr>
                <a:t>时间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6865639" y="2723373"/>
              <a:ext cx="49244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200" dirty="0" smtClean="0">
                  <a:solidFill>
                    <a:schemeClr val="bg1"/>
                  </a:solidFill>
                </a:rPr>
                <a:t>金钱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214282" y="1558341"/>
            <a:ext cx="200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8C64"/>
                </a:solidFill>
              </a:rPr>
              <a:t>当代九大悖论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5</a:t>
            </a:r>
            <a:endParaRPr lang="zh-CN" altLang="en-US" b="1" dirty="0">
              <a:solidFill>
                <a:srgbClr val="C08C64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1" name="灯片编号占位符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23" name="页脚占位符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643042" y="2725771"/>
            <a:ext cx="7072362" cy="2400657"/>
            <a:chOff x="71406" y="2725771"/>
            <a:chExt cx="7072362" cy="2400657"/>
          </a:xfrm>
        </p:grpSpPr>
        <p:sp>
          <p:nvSpPr>
            <p:cNvPr id="26" name="TextBox 25"/>
            <p:cNvSpPr txBox="1"/>
            <p:nvPr/>
          </p:nvSpPr>
          <p:spPr>
            <a:xfrm>
              <a:off x="2868639" y="2725771"/>
              <a:ext cx="4275129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0" b="1" dirty="0" smtClean="0">
                  <a:solidFill>
                    <a:srgbClr val="C00000"/>
                  </a:solidFill>
                </a:rPr>
                <a:t>假象</a:t>
              </a:r>
              <a:endParaRPr lang="zh-CN" altLang="en-US" sz="15000" b="1" dirty="0">
                <a:solidFill>
                  <a:srgbClr val="C0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1406" y="3434364"/>
              <a:ext cx="2928958" cy="1421928"/>
            </a:xfrm>
            <a:prstGeom prst="rect">
              <a:avLst/>
            </a:prstGeom>
            <a:solidFill>
              <a:srgbClr val="C08C64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buFont typeface="Arial" pitchFamily="34" charset="0"/>
                <a:buChar char="•"/>
              </a:pPr>
              <a:r>
                <a:rPr lang="zh-CN" altLang="en-US" sz="2400" b="1" dirty="0" smtClean="0">
                  <a:latin typeface="方正行黑简体" pitchFamily="2" charset="-122"/>
                  <a:ea typeface="方正行黑简体" pitchFamily="2" charset="-122"/>
                </a:rPr>
                <a:t> 富裕地区日趋枯竭</a:t>
              </a:r>
              <a:endParaRPr lang="en-US" altLang="zh-CN" sz="2400" b="1" dirty="0" smtClean="0">
                <a:latin typeface="方正行黑简体" pitchFamily="2" charset="-122"/>
                <a:ea typeface="方正行黑简体" pitchFamily="2" charset="-122"/>
              </a:endParaRPr>
            </a:p>
            <a:p>
              <a:pPr>
                <a:lnSpc>
                  <a:spcPct val="120000"/>
                </a:lnSpc>
                <a:buFont typeface="Arial" pitchFamily="34" charset="0"/>
                <a:buChar char="•"/>
              </a:pPr>
              <a:r>
                <a:rPr lang="en-US" altLang="zh-CN" sz="2400" b="1" dirty="0" smtClean="0">
                  <a:latin typeface="方正行黑简体" pitchFamily="2" charset="-122"/>
                  <a:ea typeface="方正行黑简体" pitchFamily="2" charset="-122"/>
                </a:rPr>
                <a:t> </a:t>
              </a:r>
              <a:r>
                <a:rPr lang="zh-CN" altLang="en-US" sz="2400" b="1" dirty="0" smtClean="0">
                  <a:latin typeface="方正行黑简体" pitchFamily="2" charset="-122"/>
                  <a:ea typeface="方正行黑简体" pitchFamily="2" charset="-122"/>
                </a:rPr>
                <a:t>成人寿命越来越长</a:t>
              </a:r>
              <a:endParaRPr lang="en-US" altLang="zh-CN" sz="2400" b="1" dirty="0" smtClean="0">
                <a:latin typeface="方正行黑简体" pitchFamily="2" charset="-122"/>
                <a:ea typeface="方正行黑简体" pitchFamily="2" charset="-122"/>
              </a:endParaRPr>
            </a:p>
            <a:p>
              <a:pPr>
                <a:lnSpc>
                  <a:spcPct val="120000"/>
                </a:lnSpc>
                <a:buFont typeface="Arial" pitchFamily="34" charset="0"/>
                <a:buChar char="•"/>
              </a:pPr>
              <a:r>
                <a:rPr lang="en-US" altLang="zh-CN" sz="2400" b="1" dirty="0" smtClean="0">
                  <a:latin typeface="方正行黑简体" pitchFamily="2" charset="-122"/>
                  <a:ea typeface="方正行黑简体" pitchFamily="2" charset="-122"/>
                </a:rPr>
                <a:t> </a:t>
              </a:r>
              <a:r>
                <a:rPr lang="zh-CN" altLang="en-US" sz="2400" b="1" dirty="0" smtClean="0">
                  <a:latin typeface="方正行黑简体" pitchFamily="2" charset="-122"/>
                  <a:ea typeface="方正行黑简体" pitchFamily="2" charset="-122"/>
                </a:rPr>
                <a:t>婴儿越生越少</a:t>
              </a:r>
              <a:endParaRPr lang="zh-CN" altLang="en-US" sz="2400" b="1" dirty="0">
                <a:latin typeface="方正行黑简体" pitchFamily="2" charset="-122"/>
                <a:ea typeface="方正行黑简体" pitchFamily="2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857356" y="2928934"/>
              <a:ext cx="126188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 smtClean="0">
                  <a:solidFill>
                    <a:prstClr val="white"/>
                  </a:solidFill>
                </a:rPr>
                <a:t>富裕的</a:t>
              </a:r>
              <a:endParaRPr lang="zh-CN" alt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357422" y="2060575"/>
            <a:ext cx="250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看不见的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组织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39945" y="4511721"/>
            <a:ext cx="5786478" cy="1865126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“当智慧成为主要资产时，组织就变得比较像若干项目小组的集合，其中有些是长期性的，有些是临时性，还有一些则与其他小组相结盟”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14282" y="1571612"/>
            <a:ext cx="200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8C64"/>
                </a:solidFill>
              </a:rPr>
              <a:t>当代九大悖论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6</a:t>
            </a:r>
            <a:endParaRPr lang="zh-CN" altLang="en-US" b="1" dirty="0">
              <a:solidFill>
                <a:srgbClr val="C08C64"/>
              </a:solidFill>
            </a:endParaRPr>
          </a:p>
        </p:txBody>
      </p:sp>
      <p:graphicFrame>
        <p:nvGraphicFramePr>
          <p:cNvPr id="25" name="图示 24"/>
          <p:cNvGraphicFramePr/>
          <p:nvPr/>
        </p:nvGraphicFramePr>
        <p:xfrm>
          <a:off x="3143240" y="2714620"/>
          <a:ext cx="2857520" cy="1714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071671" y="1787902"/>
            <a:ext cx="51435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b="1" dirty="0" smtClean="0">
                <a:solidFill>
                  <a:schemeClr val="bg1"/>
                </a:solidFill>
              </a:rPr>
              <a:t>世代</a:t>
            </a:r>
            <a:r>
              <a:rPr lang="zh-CN" altLang="en-US" sz="9600" b="1" dirty="0" smtClean="0">
                <a:solidFill>
                  <a:srgbClr val="C00000"/>
                </a:solidFill>
              </a:rPr>
              <a:t>差异</a:t>
            </a:r>
            <a:endParaRPr lang="zh-CN" altLang="en-US" sz="96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41380" y="3187852"/>
            <a:ext cx="4786346" cy="3268587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方正行黑简体" pitchFamily="2" charset="-122"/>
                <a:ea typeface="方正行黑简体" pitchFamily="2" charset="-122"/>
              </a:rPr>
              <a:t>年老一代</a:t>
            </a:r>
            <a:endParaRPr lang="en-US" altLang="zh-CN" sz="2400" b="1" dirty="0" smtClean="0">
              <a:solidFill>
                <a:schemeClr val="bg1"/>
              </a:solidFill>
              <a:latin typeface="方正行黑简体" pitchFamily="2" charset="-122"/>
              <a:ea typeface="方正行黑简体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b="1" dirty="0" smtClean="0">
                <a:latin typeface="方正行黑简体" pitchFamily="2" charset="-122"/>
                <a:ea typeface="方正行黑简体" pitchFamily="2" charset="-122"/>
              </a:rPr>
              <a:t> </a:t>
            </a:r>
            <a:r>
              <a:rPr lang="en-US" altLang="zh-CN" sz="2000" b="1" dirty="0" smtClean="0">
                <a:latin typeface="方正行黑简体" pitchFamily="2" charset="-122"/>
                <a:ea typeface="方正行黑简体" pitchFamily="2" charset="-122"/>
              </a:rPr>
              <a:t>50</a:t>
            </a:r>
            <a:r>
              <a:rPr lang="zh-CN" altLang="en-US" sz="2000" b="1" dirty="0" smtClean="0">
                <a:latin typeface="方正行黑简体" pitchFamily="2" charset="-122"/>
                <a:ea typeface="方正行黑简体" pitchFamily="2" charset="-122"/>
              </a:rPr>
              <a:t>岁中年危机 无合适工作</a:t>
            </a:r>
            <a:endParaRPr lang="en-US" altLang="zh-CN" sz="2000" b="1" dirty="0" smtClean="0">
              <a:latin typeface="方正行黑简体" pitchFamily="2" charset="-122"/>
              <a:ea typeface="方正行黑简体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b="1" dirty="0" smtClean="0">
                <a:latin typeface="方正行黑简体" pitchFamily="2" charset="-122"/>
                <a:ea typeface="方正行黑简体" pitchFamily="2" charset="-122"/>
              </a:rPr>
              <a:t> </a:t>
            </a:r>
            <a:r>
              <a:rPr lang="zh-CN" altLang="en-US" sz="2000" b="1" dirty="0" smtClean="0">
                <a:latin typeface="方正行黑简体" pitchFamily="2" charset="-122"/>
                <a:ea typeface="方正行黑简体" pitchFamily="2" charset="-122"/>
              </a:rPr>
              <a:t>因离婚结束婚姻 不是死亡</a:t>
            </a:r>
            <a:endParaRPr lang="en-US" altLang="zh-CN" sz="2000" b="1" dirty="0" smtClean="0">
              <a:latin typeface="方正行黑简体" pitchFamily="2" charset="-122"/>
              <a:ea typeface="方正行黑简体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方正行黑简体" pitchFamily="2" charset="-122"/>
                <a:ea typeface="方正行黑简体" pitchFamily="2" charset="-122"/>
              </a:rPr>
              <a:t>年轻一代 </a:t>
            </a:r>
            <a:r>
              <a:rPr lang="en-US" altLang="zh-CN" sz="2400" b="1" dirty="0" smtClean="0">
                <a:latin typeface="方正行黑简体" pitchFamily="2" charset="-122"/>
                <a:ea typeface="方正行黑简体" pitchFamily="2" charset="-122"/>
              </a:rPr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zh-CN" sz="2000" b="1" dirty="0" smtClean="0">
                <a:latin typeface="方正行黑简体" pitchFamily="2" charset="-122"/>
                <a:ea typeface="方正行黑简体" pitchFamily="2" charset="-122"/>
              </a:rPr>
              <a:t> </a:t>
            </a:r>
            <a:r>
              <a:rPr lang="zh-CN" altLang="en-US" sz="2000" b="1" dirty="0" smtClean="0">
                <a:latin typeface="方正行黑简体" pitchFamily="2" charset="-122"/>
                <a:ea typeface="方正行黑简体" pitchFamily="2" charset="-122"/>
              </a:rPr>
              <a:t>工作较晚</a:t>
            </a:r>
            <a:endParaRPr lang="en-US" altLang="zh-CN" sz="2000" b="1" dirty="0" smtClean="0">
              <a:latin typeface="方正行黑简体" pitchFamily="2" charset="-122"/>
              <a:ea typeface="方正行黑简体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b="1" dirty="0" smtClean="0">
                <a:latin typeface="方正行黑简体" pitchFamily="2" charset="-122"/>
                <a:ea typeface="方正行黑简体" pitchFamily="2" charset="-122"/>
              </a:rPr>
              <a:t> </a:t>
            </a:r>
            <a:r>
              <a:rPr lang="zh-CN" altLang="en-US" sz="2000" b="1" dirty="0" smtClean="0">
                <a:latin typeface="方正行黑简体" pitchFamily="2" charset="-122"/>
                <a:ea typeface="方正行黑简体" pitchFamily="2" charset="-122"/>
              </a:rPr>
              <a:t>计划无忧无虑</a:t>
            </a:r>
            <a:endParaRPr lang="en-US" altLang="zh-CN" sz="2000" b="1" dirty="0" smtClean="0">
              <a:latin typeface="方正行黑简体" pitchFamily="2" charset="-122"/>
              <a:ea typeface="方正行黑简体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b="1" dirty="0" smtClean="0">
                <a:latin typeface="方正行黑简体" pitchFamily="2" charset="-122"/>
                <a:ea typeface="方正行黑简体" pitchFamily="2" charset="-122"/>
              </a:rPr>
              <a:t> </a:t>
            </a:r>
            <a:r>
              <a:rPr lang="zh-CN" altLang="en-US" sz="2000" b="1" dirty="0" smtClean="0">
                <a:latin typeface="方正行黑简体" pitchFamily="2" charset="-122"/>
                <a:ea typeface="方正行黑简体" pitchFamily="2" charset="-122"/>
              </a:rPr>
              <a:t>女性 从事有偿工作</a:t>
            </a:r>
            <a:endParaRPr lang="en-US" altLang="zh-CN" sz="2000" b="1" dirty="0" smtClean="0">
              <a:latin typeface="方正行黑简体" pitchFamily="2" charset="-122"/>
              <a:ea typeface="方正行黑简体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000" b="1" dirty="0" smtClean="0">
                <a:latin typeface="方正行黑简体" pitchFamily="2" charset="-122"/>
                <a:ea typeface="方正行黑简体" pitchFamily="2" charset="-122"/>
              </a:rPr>
              <a:t> </a:t>
            </a:r>
            <a:r>
              <a:rPr lang="zh-CN" altLang="en-US" sz="2000" b="1" dirty="0" smtClean="0">
                <a:latin typeface="方正行黑简体" pitchFamily="2" charset="-122"/>
                <a:ea typeface="方正行黑简体" pitchFamily="2" charset="-122"/>
              </a:rPr>
              <a:t>生儿育女不是偶然 而是一项决定</a:t>
            </a:r>
            <a:endParaRPr lang="en-US" altLang="zh-CN" sz="2000" b="1" dirty="0" smtClean="0">
              <a:latin typeface="方正行黑简体" pitchFamily="2" charset="-122"/>
              <a:ea typeface="方正行黑简体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14282" y="1558341"/>
            <a:ext cx="200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8C64"/>
                </a:solidFill>
              </a:rPr>
              <a:t>当代九大悖论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7</a:t>
            </a:r>
            <a:endParaRPr lang="zh-CN" altLang="en-US" b="1" dirty="0">
              <a:solidFill>
                <a:srgbClr val="C08C6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214546" y="2714620"/>
            <a:ext cx="2928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chemeClr val="bg1"/>
                </a:solidFill>
              </a:rPr>
              <a:t>个人</a:t>
            </a:r>
            <a:r>
              <a:rPr lang="zh-CN" altLang="en-US" sz="5400" b="1" dirty="0" smtClean="0">
                <a:solidFill>
                  <a:srgbClr val="C00000"/>
                </a:solidFill>
              </a:rPr>
              <a:t>独尊  </a:t>
            </a:r>
            <a:r>
              <a:rPr lang="zh-CN" altLang="en-US" sz="5400" b="1" dirty="0" smtClean="0">
                <a:solidFill>
                  <a:schemeClr val="bg1"/>
                </a:solidFill>
              </a:rPr>
              <a:t>团体</a:t>
            </a:r>
            <a:r>
              <a:rPr lang="zh-CN" altLang="en-US" sz="5400" b="1" dirty="0" smtClean="0">
                <a:solidFill>
                  <a:srgbClr val="C00000"/>
                </a:solidFill>
              </a:rPr>
              <a:t>至上</a:t>
            </a:r>
            <a:endParaRPr lang="zh-CN" altLang="en-US" sz="54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14546" y="4403679"/>
            <a:ext cx="4786346" cy="1383649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“我们所该归属的‘团体我’在哪里？是极度简化的‘虚拟组织’还是消失中的传统家庭？</a:t>
            </a:r>
            <a:endParaRPr lang="en-US" altLang="zh-CN" sz="2400" b="1" dirty="0" smtClean="0">
              <a:latin typeface="方正行黑简体" pitchFamily="2" charset="-122"/>
              <a:ea typeface="方正行黑简体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143504" y="2786056"/>
            <a:ext cx="1800000" cy="1571638"/>
            <a:chOff x="4500562" y="2786058"/>
            <a:chExt cx="1800000" cy="1571636"/>
          </a:xfrm>
        </p:grpSpPr>
        <p:sp>
          <p:nvSpPr>
            <p:cNvPr id="11" name="椭圆 10"/>
            <p:cNvSpPr/>
            <p:nvPr/>
          </p:nvSpPr>
          <p:spPr>
            <a:xfrm>
              <a:off x="4500562" y="2786058"/>
              <a:ext cx="1800000" cy="1571636"/>
            </a:xfrm>
            <a:prstGeom prst="ellipse">
              <a:avLst/>
            </a:prstGeom>
            <a:solidFill>
              <a:srgbClr val="C08C64"/>
            </a:solidFill>
            <a:ln w="28575">
              <a:solidFill>
                <a:schemeClr val="bg1"/>
              </a:solidFill>
            </a:ln>
          </p:spPr>
          <p:txBody>
            <a:bodyPr wrap="square">
              <a:noAutofit/>
            </a:bodyPr>
            <a:lstStyle/>
            <a:p>
              <a:r>
                <a:rPr lang="zh-CN" altLang="en-US" sz="2000" b="1" dirty="0" smtClean="0"/>
                <a:t>     团体</a:t>
              </a:r>
              <a:endParaRPr lang="zh-CN" altLang="en-US" sz="20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04559" y="3429000"/>
              <a:ext cx="908823" cy="714380"/>
            </a:xfrm>
            <a:prstGeom prst="ellipse">
              <a:avLst/>
            </a:prstGeom>
            <a:solidFill>
              <a:srgbClr val="C08C64"/>
            </a:solidFill>
            <a:ln w="19050">
              <a:solidFill>
                <a:schemeClr val="bg1"/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sz="1400" b="1" dirty="0" smtClean="0"/>
                <a:t>个人</a:t>
              </a:r>
              <a:endParaRPr lang="zh-CN" altLang="en-US" sz="1400" b="1" dirty="0"/>
            </a:p>
          </p:txBody>
        </p:sp>
      </p:grp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14282" y="1558341"/>
            <a:ext cx="200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8C64"/>
                </a:solidFill>
              </a:rPr>
              <a:t>当代九大悖论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8</a:t>
            </a:r>
            <a:endParaRPr lang="zh-CN" altLang="en-US" b="1" dirty="0">
              <a:solidFill>
                <a:srgbClr val="C08C6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357422" y="1924142"/>
            <a:ext cx="482206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</a:rPr>
              <a:t>正义的</a:t>
            </a:r>
            <a:r>
              <a:rPr lang="zh-CN" altLang="en-US" sz="13000" b="1" dirty="0" smtClean="0">
                <a:solidFill>
                  <a:srgbClr val="C00000"/>
                </a:solidFill>
              </a:rPr>
              <a:t>两</a:t>
            </a:r>
            <a:r>
              <a:rPr lang="zh-CN" altLang="en-US" sz="13000" b="1" dirty="0" smtClean="0">
                <a:solidFill>
                  <a:schemeClr val="bg1"/>
                </a:solidFill>
              </a:rPr>
              <a:t>难</a:t>
            </a:r>
            <a:endParaRPr lang="zh-CN" altLang="en-US" sz="130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0166" y="3856980"/>
            <a:ext cx="6429420" cy="2308324"/>
          </a:xfrm>
          <a:prstGeom prst="rect">
            <a:avLst/>
          </a:prstGeom>
          <a:solidFill>
            <a:srgbClr val="C08C64"/>
          </a:solidFill>
        </p:spPr>
        <p:txBody>
          <a:bodyPr wrap="square" rtlCol="0" anchor="ctr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 “正义是平等对待每一个人？这对社会弱势群体是公平的，但对贡献大的人不公平”</a:t>
            </a:r>
            <a:endParaRPr lang="en-US" altLang="zh-CN" sz="2400" b="1" dirty="0" smtClean="0">
              <a:latin typeface="方正行黑简体" pitchFamily="2" charset="-122"/>
              <a:ea typeface="方正行黑简体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 b="1" dirty="0" smtClean="0">
                <a:latin typeface="方正行黑简体" pitchFamily="2" charset="-122"/>
                <a:ea typeface="方正行黑简体" pitchFamily="2" charset="-122"/>
              </a:rPr>
              <a:t> </a:t>
            </a: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“倘若人们除了有理由自私自利外，做其他事都找不到充分理由，那么这样的社会注定走上自我灭亡的道路”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214282" y="1558341"/>
            <a:ext cx="200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8C64"/>
                </a:solidFill>
              </a:rPr>
              <a:t>当代九大悖论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9</a:t>
            </a:r>
            <a:endParaRPr lang="zh-CN" altLang="en-US" b="1" dirty="0">
              <a:solidFill>
                <a:srgbClr val="C08C6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2123348"/>
            <a:ext cx="9144000" cy="2000548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第二部分</a:t>
            </a:r>
            <a:endParaRPr lang="en-US" altLang="zh-CN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平衡悖论的</a:t>
            </a:r>
            <a:r>
              <a:rPr lang="en-US" altLang="zh-CN" sz="8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种途径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1714480" y="2179489"/>
            <a:ext cx="4694663" cy="2178205"/>
          </a:xfrm>
          <a:custGeom>
            <a:avLst/>
            <a:gdLst>
              <a:gd name="connsiteX0" fmla="*/ 0 w 4694663"/>
              <a:gd name="connsiteY0" fmla="*/ 1100254 h 2178205"/>
              <a:gd name="connsiteX1" fmla="*/ 992458 w 4694663"/>
              <a:gd name="connsiteY1" fmla="*/ 2025805 h 2178205"/>
              <a:gd name="connsiteX2" fmla="*/ 3367668 w 4694663"/>
              <a:gd name="connsiteY2" fmla="*/ 185854 h 2178205"/>
              <a:gd name="connsiteX3" fmla="*/ 4694663 w 4694663"/>
              <a:gd name="connsiteY3" fmla="*/ 910683 h 217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4663" h="2178205">
                <a:moveTo>
                  <a:pt x="0" y="1100254"/>
                </a:moveTo>
                <a:cubicBezTo>
                  <a:pt x="215590" y="1639229"/>
                  <a:pt x="431180" y="2178205"/>
                  <a:pt x="992458" y="2025805"/>
                </a:cubicBezTo>
                <a:cubicBezTo>
                  <a:pt x="1553736" y="1873405"/>
                  <a:pt x="2750634" y="371708"/>
                  <a:pt x="3367668" y="185854"/>
                </a:cubicBezTo>
                <a:cubicBezTo>
                  <a:pt x="3984702" y="0"/>
                  <a:pt x="4339682" y="455341"/>
                  <a:pt x="4694663" y="910683"/>
                </a:cubicBezTo>
              </a:path>
            </a:pathLst>
          </a:cu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928662" y="4786322"/>
            <a:ext cx="7572428" cy="461665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生命历程：缓慢尝试、蹒跚学步、迈向巅峰、盛极而衰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4282" y="1281342"/>
            <a:ext cx="29289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8C64"/>
                </a:solidFill>
              </a:rPr>
              <a:t>途径</a:t>
            </a:r>
            <a:r>
              <a:rPr lang="en-US" altLang="zh-CN" sz="2400" b="1" dirty="0" smtClean="0">
                <a:solidFill>
                  <a:srgbClr val="C08C64"/>
                </a:solidFill>
              </a:rPr>
              <a:t>1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 </a:t>
            </a:r>
          </a:p>
          <a:p>
            <a:r>
              <a:rPr lang="en-US" altLang="zh-CN" dirty="0" smtClean="0">
                <a:solidFill>
                  <a:srgbClr val="C08C64"/>
                </a:solidFill>
              </a:rPr>
              <a:t>S</a:t>
            </a:r>
            <a:r>
              <a:rPr lang="zh-CN" altLang="en-US" dirty="0" smtClean="0">
                <a:solidFill>
                  <a:srgbClr val="C08C64"/>
                </a:solidFill>
              </a:rPr>
              <a:t>型曲线：持续成长的秘方</a:t>
            </a:r>
            <a:endParaRPr lang="zh-CN" altLang="en-US" dirty="0">
              <a:solidFill>
                <a:srgbClr val="C08C64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圆角矩形标注 7"/>
          <p:cNvSpPr/>
          <p:nvPr/>
        </p:nvSpPr>
        <p:spPr>
          <a:xfrm>
            <a:off x="5623325" y="3357562"/>
            <a:ext cx="1949072" cy="1205436"/>
          </a:xfrm>
          <a:prstGeom prst="wedgeRoundRectCallout">
            <a:avLst>
              <a:gd name="adj1" fmla="val -37056"/>
              <a:gd name="adj2" fmla="val -72284"/>
              <a:gd name="adj3" fmla="val 166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 smtClean="0">
                <a:latin typeface="方正行黑简体" pitchFamily="2" charset="-122"/>
                <a:ea typeface="方正行黑简体" pitchFamily="2" charset="-122"/>
              </a:rPr>
              <a:t>可以理解为企业发展、职业生涯、恋爱关系</a:t>
            </a:r>
            <a:r>
              <a:rPr lang="en-US" altLang="zh-CN" dirty="0" smtClean="0">
                <a:latin typeface="方正行黑简体" pitchFamily="2" charset="-122"/>
                <a:ea typeface="方正行黑简体" pitchFamily="2" charset="-122"/>
              </a:rPr>
              <a:t>……</a:t>
            </a:r>
            <a:endParaRPr lang="zh-CN" altLang="en-US" dirty="0">
              <a:latin typeface="方正行黑简体" pitchFamily="2" charset="-122"/>
              <a:ea typeface="方正行黑简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1"/>
          <p:cNvGrpSpPr/>
          <p:nvPr/>
        </p:nvGrpSpPr>
        <p:grpSpPr>
          <a:xfrm>
            <a:off x="1571604" y="2500306"/>
            <a:ext cx="5715040" cy="2370911"/>
            <a:chOff x="1857356" y="2500306"/>
            <a:chExt cx="5715040" cy="2370911"/>
          </a:xfrm>
        </p:grpSpPr>
        <p:sp>
          <p:nvSpPr>
            <p:cNvPr id="9" name="任意多边形 8"/>
            <p:cNvSpPr/>
            <p:nvPr/>
          </p:nvSpPr>
          <p:spPr>
            <a:xfrm>
              <a:off x="1857356" y="2693012"/>
              <a:ext cx="4694663" cy="2178205"/>
            </a:xfrm>
            <a:custGeom>
              <a:avLst/>
              <a:gdLst>
                <a:gd name="connsiteX0" fmla="*/ 0 w 4694663"/>
                <a:gd name="connsiteY0" fmla="*/ 1100254 h 2178205"/>
                <a:gd name="connsiteX1" fmla="*/ 992458 w 4694663"/>
                <a:gd name="connsiteY1" fmla="*/ 2025805 h 2178205"/>
                <a:gd name="connsiteX2" fmla="*/ 3367668 w 4694663"/>
                <a:gd name="connsiteY2" fmla="*/ 185854 h 2178205"/>
                <a:gd name="connsiteX3" fmla="*/ 4694663 w 4694663"/>
                <a:gd name="connsiteY3" fmla="*/ 910683 h 217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94663" h="2178205">
                  <a:moveTo>
                    <a:pt x="0" y="1100254"/>
                  </a:moveTo>
                  <a:cubicBezTo>
                    <a:pt x="215590" y="1639229"/>
                    <a:pt x="431180" y="2178205"/>
                    <a:pt x="992458" y="2025805"/>
                  </a:cubicBezTo>
                  <a:cubicBezTo>
                    <a:pt x="1553736" y="1873405"/>
                    <a:pt x="2750634" y="371708"/>
                    <a:pt x="3367668" y="185854"/>
                  </a:cubicBezTo>
                  <a:cubicBezTo>
                    <a:pt x="3984702" y="0"/>
                    <a:pt x="4339682" y="455341"/>
                    <a:pt x="4694663" y="910683"/>
                  </a:cubicBezTo>
                </a:path>
              </a:pathLst>
            </a:cu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4850780" y="2500306"/>
              <a:ext cx="2721616" cy="940420"/>
            </a:xfrm>
            <a:custGeom>
              <a:avLst/>
              <a:gdLst>
                <a:gd name="connsiteX0" fmla="*/ 0 w 2375210"/>
                <a:gd name="connsiteY0" fmla="*/ 624469 h 940420"/>
                <a:gd name="connsiteX1" fmla="*/ 880947 w 2375210"/>
                <a:gd name="connsiteY1" fmla="*/ 836342 h 940420"/>
                <a:gd name="connsiteX2" fmla="*/ 2375210 w 2375210"/>
                <a:gd name="connsiteY2" fmla="*/ 0 h 940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75210" h="940420">
                  <a:moveTo>
                    <a:pt x="0" y="624469"/>
                  </a:moveTo>
                  <a:cubicBezTo>
                    <a:pt x="242539" y="782444"/>
                    <a:pt x="485079" y="940420"/>
                    <a:pt x="880947" y="836342"/>
                  </a:cubicBezTo>
                  <a:cubicBezTo>
                    <a:pt x="1276815" y="732264"/>
                    <a:pt x="1826012" y="366132"/>
                    <a:pt x="2375210" y="0"/>
                  </a:cubicBezTo>
                </a:path>
              </a:pathLst>
            </a:custGeom>
            <a:ln w="28575">
              <a:solidFill>
                <a:schemeClr val="bg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4786314" y="3050202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8" name="直接连接符 27"/>
            <p:cNvCxnSpPr>
              <a:stCxn id="9" idx="2"/>
            </p:cNvCxnSpPr>
            <p:nvPr/>
          </p:nvCxnSpPr>
          <p:spPr>
            <a:xfrm flipH="1">
              <a:off x="5143504" y="2878866"/>
              <a:ext cx="81522" cy="38565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rot="5400000">
              <a:off x="5072066" y="2978764"/>
              <a:ext cx="428628" cy="14287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rot="5400000">
              <a:off x="5179223" y="3014483"/>
              <a:ext cx="500066" cy="14287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rot="5400000">
              <a:off x="5322099" y="3014483"/>
              <a:ext cx="500066" cy="14287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rot="5400000">
              <a:off x="5500694" y="3050202"/>
              <a:ext cx="428628" cy="14287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rot="5400000">
              <a:off x="5572132" y="3050202"/>
              <a:ext cx="428628" cy="14287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rot="5400000">
              <a:off x="5787260" y="3123148"/>
              <a:ext cx="357884" cy="6911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rot="5400000">
              <a:off x="5429256" y="3050202"/>
              <a:ext cx="428628" cy="14287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rot="5400000">
              <a:off x="5250661" y="3014483"/>
              <a:ext cx="500066" cy="14287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rot="5400000">
              <a:off x="5107785" y="3014483"/>
              <a:ext cx="500066" cy="14287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rot="5400000">
              <a:off x="4964909" y="3014483"/>
              <a:ext cx="285752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rot="5400000">
              <a:off x="5713500" y="3123148"/>
              <a:ext cx="357884" cy="69116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rot="5400000">
              <a:off x="4929190" y="3050202"/>
              <a:ext cx="214314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/>
            <p:cNvSpPr/>
            <p:nvPr/>
          </p:nvSpPr>
          <p:spPr>
            <a:xfrm>
              <a:off x="4587430" y="2752308"/>
              <a:ext cx="3417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rgbClr val="C00000"/>
                  </a:solidFill>
                </a:rPr>
                <a:t>A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6443214" y="3264516"/>
              <a:ext cx="3433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rgbClr val="C00000"/>
                  </a:solidFill>
                </a:rPr>
                <a:t>B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6357950" y="3370830"/>
              <a:ext cx="108000" cy="10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785786" y="5000636"/>
            <a:ext cx="8072494" cy="978729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 在</a:t>
            </a:r>
            <a:r>
              <a:rPr lang="en-US" altLang="zh-CN" sz="2400" b="1" dirty="0" smtClean="0">
                <a:solidFill>
                  <a:srgbClr val="C00000"/>
                </a:solidFill>
                <a:latin typeface="方正行黑简体" pitchFamily="2" charset="-122"/>
                <a:ea typeface="方正行黑简体" pitchFamily="2" charset="-122"/>
              </a:rPr>
              <a:t>A</a:t>
            </a: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点进入第二曲线</a:t>
            </a:r>
            <a:endParaRPr lang="en-US" altLang="zh-CN" sz="2400" b="1" dirty="0" smtClean="0">
              <a:latin typeface="方正行黑简体" pitchFamily="2" charset="-122"/>
              <a:ea typeface="方正行黑简体" pitchFamily="2" charset="-122"/>
            </a:endParaRP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 到了</a:t>
            </a:r>
            <a:r>
              <a:rPr lang="en-US" altLang="zh-CN" sz="2400" b="1" dirty="0" smtClean="0">
                <a:solidFill>
                  <a:srgbClr val="C00000"/>
                </a:solidFill>
                <a:latin typeface="方正行黑简体" pitchFamily="2" charset="-122"/>
                <a:ea typeface="方正行黑简体" pitchFamily="2" charset="-122"/>
              </a:rPr>
              <a:t>B</a:t>
            </a: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点，必须要付出极大努力，才回到第二曲线的位置</a:t>
            </a:r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14282" y="1281342"/>
            <a:ext cx="62151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8C64"/>
                </a:solidFill>
              </a:rPr>
              <a:t>途径</a:t>
            </a:r>
            <a:r>
              <a:rPr lang="en-US" altLang="zh-CN" sz="2400" b="1" dirty="0" smtClean="0">
                <a:solidFill>
                  <a:srgbClr val="C08C64"/>
                </a:solidFill>
              </a:rPr>
              <a:t>1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 </a:t>
            </a:r>
          </a:p>
          <a:p>
            <a:r>
              <a:rPr lang="en-US" altLang="zh-CN" dirty="0" smtClean="0">
                <a:solidFill>
                  <a:srgbClr val="C08C64"/>
                </a:solidFill>
              </a:rPr>
              <a:t>S</a:t>
            </a:r>
            <a:r>
              <a:rPr lang="zh-CN" altLang="en-US" dirty="0" smtClean="0">
                <a:solidFill>
                  <a:srgbClr val="C08C64"/>
                </a:solidFill>
              </a:rPr>
              <a:t>型曲线：持续成长的秘方</a:t>
            </a:r>
            <a:endParaRPr lang="zh-CN" altLang="en-US" dirty="0">
              <a:solidFill>
                <a:srgbClr val="C08C6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 4"/>
          <p:cNvSpPr/>
          <p:nvPr/>
        </p:nvSpPr>
        <p:spPr>
          <a:xfrm>
            <a:off x="1857356" y="3214686"/>
            <a:ext cx="4694663" cy="2178205"/>
          </a:xfrm>
          <a:custGeom>
            <a:avLst/>
            <a:gdLst>
              <a:gd name="connsiteX0" fmla="*/ 0 w 4694663"/>
              <a:gd name="connsiteY0" fmla="*/ 1100254 h 2178205"/>
              <a:gd name="connsiteX1" fmla="*/ 992458 w 4694663"/>
              <a:gd name="connsiteY1" fmla="*/ 2025805 h 2178205"/>
              <a:gd name="connsiteX2" fmla="*/ 3367668 w 4694663"/>
              <a:gd name="connsiteY2" fmla="*/ 185854 h 2178205"/>
              <a:gd name="connsiteX3" fmla="*/ 4694663 w 4694663"/>
              <a:gd name="connsiteY3" fmla="*/ 910683 h 217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4663" h="2178205">
                <a:moveTo>
                  <a:pt x="0" y="1100254"/>
                </a:moveTo>
                <a:cubicBezTo>
                  <a:pt x="215590" y="1639229"/>
                  <a:pt x="431180" y="2178205"/>
                  <a:pt x="992458" y="2025805"/>
                </a:cubicBezTo>
                <a:cubicBezTo>
                  <a:pt x="1553736" y="1873405"/>
                  <a:pt x="2750634" y="371708"/>
                  <a:pt x="3367668" y="185854"/>
                </a:cubicBezTo>
                <a:cubicBezTo>
                  <a:pt x="3984702" y="0"/>
                  <a:pt x="4339682" y="455341"/>
                  <a:pt x="4694663" y="910683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6" name="AutoShape 2" descr="http://t11.baidu.com/it/u=1127065582,4136623426&amp;fm=15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8" name="AutoShape 4" descr="http://t11.baidu.com/it/u=1127065582,4136623426&amp;fm=15&amp;gp=0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同心圆 6"/>
          <p:cNvSpPr/>
          <p:nvPr/>
        </p:nvSpPr>
        <p:spPr>
          <a:xfrm>
            <a:off x="2357422" y="2571744"/>
            <a:ext cx="2071702" cy="2000264"/>
          </a:xfrm>
          <a:prstGeom prst="donut">
            <a:avLst>
              <a:gd name="adj" fmla="val 15518"/>
            </a:avLst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" name="组合 16"/>
          <p:cNvGrpSpPr/>
          <p:nvPr/>
        </p:nvGrpSpPr>
        <p:grpSpPr>
          <a:xfrm>
            <a:off x="3357554" y="2357430"/>
            <a:ext cx="1357322" cy="1214446"/>
            <a:chOff x="4286248" y="2428868"/>
            <a:chExt cx="1357322" cy="1214446"/>
          </a:xfrm>
        </p:grpSpPr>
        <p:cxnSp>
          <p:nvCxnSpPr>
            <p:cNvPr id="10" name="直接连接符 9"/>
            <p:cNvCxnSpPr/>
            <p:nvPr/>
          </p:nvCxnSpPr>
          <p:spPr>
            <a:xfrm rot="5400000" flipH="1" flipV="1">
              <a:off x="4071934" y="2643182"/>
              <a:ext cx="1214446" cy="78581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5072066" y="2428868"/>
              <a:ext cx="571504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4714876" y="2143116"/>
            <a:ext cx="2786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0000"/>
                </a:solidFill>
              </a:rPr>
              <a:t>核心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：必须做的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3" name="组合 19"/>
          <p:cNvGrpSpPr/>
          <p:nvPr/>
        </p:nvGrpSpPr>
        <p:grpSpPr>
          <a:xfrm>
            <a:off x="3643306" y="4265361"/>
            <a:ext cx="1071570" cy="428628"/>
            <a:chOff x="4572000" y="2001828"/>
            <a:chExt cx="1071570" cy="428628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4572000" y="2001828"/>
              <a:ext cx="500066" cy="42704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5072066" y="2428868"/>
              <a:ext cx="571504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4724400" y="4467533"/>
            <a:ext cx="250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0000"/>
                </a:solidFill>
              </a:rPr>
              <a:t>边界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：做得到的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7224" y="4978334"/>
            <a:ext cx="7500990" cy="1421928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 为两者建立边界</a:t>
            </a:r>
            <a:endParaRPr lang="en-US" altLang="zh-CN" sz="2400" b="1" dirty="0" smtClean="0">
              <a:latin typeface="方正行黑简体" pitchFamily="2" charset="-122"/>
              <a:ea typeface="方正行黑简体" pitchFamily="2" charset="-122"/>
            </a:endParaRP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 核心大小取决于个人</a:t>
            </a:r>
            <a:endParaRPr lang="en-US" altLang="zh-CN" sz="2400" b="1" dirty="0" smtClean="0">
              <a:latin typeface="方正行黑简体" pitchFamily="2" charset="-122"/>
              <a:ea typeface="方正行黑简体" pitchFamily="2" charset="-122"/>
            </a:endParaRP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 在“必须做的”与“做得到的”事情之间找到平衡点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14282" y="1281342"/>
            <a:ext cx="371477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8C64"/>
                </a:solidFill>
              </a:rPr>
              <a:t>途径</a:t>
            </a:r>
            <a:r>
              <a:rPr lang="en-US" altLang="zh-CN" sz="2400" b="1" dirty="0" smtClean="0">
                <a:solidFill>
                  <a:srgbClr val="C08C64"/>
                </a:solidFill>
              </a:rPr>
              <a:t>2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 </a:t>
            </a:r>
          </a:p>
          <a:p>
            <a:r>
              <a:rPr lang="zh-CN" altLang="en-US" dirty="0" smtClean="0">
                <a:solidFill>
                  <a:srgbClr val="C08C64"/>
                </a:solidFill>
              </a:rPr>
              <a:t>甜甜圈原理：核心与边界之间</a:t>
            </a:r>
          </a:p>
        </p:txBody>
      </p:sp>
      <p:sp>
        <p:nvSpPr>
          <p:cNvPr id="28" name="矩形 27"/>
          <p:cNvSpPr/>
          <p:nvPr/>
        </p:nvSpPr>
        <p:spPr>
          <a:xfrm>
            <a:off x="3106885" y="4580761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dirty="0" smtClean="0">
                <a:solidFill>
                  <a:schemeClr val="bg1"/>
                </a:solidFill>
              </a:rPr>
              <a:t>甜甜圈</a:t>
            </a:r>
            <a:endParaRPr lang="zh-CN" alt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85918" y="2425479"/>
            <a:ext cx="3071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C00000"/>
                </a:solidFill>
              </a:rPr>
              <a:t>妥协</a:t>
            </a:r>
            <a:r>
              <a:rPr lang="zh-CN" altLang="en-US" sz="3600" b="1" dirty="0" smtClean="0">
                <a:solidFill>
                  <a:schemeClr val="bg1"/>
                </a:solidFill>
              </a:rPr>
              <a:t>方能成长</a:t>
            </a:r>
            <a:endParaRPr lang="en-US" altLang="zh-CN" sz="3600" b="1" dirty="0" smtClean="0">
              <a:solidFill>
                <a:schemeClr val="bg1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bg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14282" y="1214422"/>
            <a:ext cx="33575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8C64"/>
                </a:solidFill>
              </a:rPr>
              <a:t>途径</a:t>
            </a:r>
            <a:r>
              <a:rPr lang="en-US" altLang="zh-CN" sz="2400" b="1" dirty="0" smtClean="0">
                <a:solidFill>
                  <a:srgbClr val="C08C64"/>
                </a:solidFill>
              </a:rPr>
              <a:t>3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 </a:t>
            </a:r>
          </a:p>
          <a:p>
            <a:r>
              <a:rPr lang="zh-CN" altLang="en-US" dirty="0" smtClean="0">
                <a:solidFill>
                  <a:srgbClr val="C08C64"/>
                </a:solidFill>
              </a:rPr>
              <a:t>中国式契约：双赢战略</a:t>
            </a:r>
          </a:p>
        </p:txBody>
      </p:sp>
      <p:sp>
        <p:nvSpPr>
          <p:cNvPr id="10" name="矩形 9"/>
          <p:cNvSpPr/>
          <p:nvPr/>
        </p:nvSpPr>
        <p:spPr>
          <a:xfrm>
            <a:off x="4580324" y="3045924"/>
            <a:ext cx="3134948" cy="2289600"/>
          </a:xfrm>
          <a:prstGeom prst="rect">
            <a:avLst/>
          </a:prstGeom>
          <a:solidFill>
            <a:srgbClr val="C08C64"/>
          </a:solidFill>
        </p:spPr>
        <p:txBody>
          <a:bodyPr wrap="square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“强者不但知道什么时候该妥协，而且知道若为维护某个更重大的原则，所有的原则都可以妥协”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pic>
        <p:nvPicPr>
          <p:cNvPr id="17414" name="Picture 6" descr="C:\Documents and Settings\Administrator\桌面\握手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6476" y="3045924"/>
            <a:ext cx="2616388" cy="22893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2123348"/>
            <a:ext cx="9144000" cy="2000548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b="1" dirty="0" smtClean="0"/>
              <a:t>第三部分</a:t>
            </a:r>
            <a:endParaRPr lang="en-US" altLang="zh-CN" sz="4400" b="1" dirty="0" smtClean="0"/>
          </a:p>
          <a:p>
            <a:pPr algn="ctr"/>
            <a:r>
              <a:rPr lang="zh-CN" altLang="en-US" sz="4400" b="1" dirty="0" smtClean="0">
                <a:solidFill>
                  <a:schemeClr val="bg1"/>
                </a:solidFill>
              </a:rPr>
              <a:t>穿越悖论的</a:t>
            </a:r>
            <a:r>
              <a:rPr lang="en-US" altLang="zh-CN" sz="8000" b="1" dirty="0" smtClean="0">
                <a:solidFill>
                  <a:srgbClr val="C00000"/>
                </a:solidFill>
              </a:rPr>
              <a:t>8</a:t>
            </a:r>
            <a:r>
              <a:rPr lang="zh-CN" altLang="en-US" sz="4400" b="1" dirty="0" smtClean="0">
                <a:solidFill>
                  <a:schemeClr val="bg1"/>
                </a:solidFill>
              </a:rPr>
              <a:t>种蹊径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500166" y="2285992"/>
            <a:ext cx="6072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你既属于自己的邦   也属于一个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更大的联邦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71604" y="5026895"/>
            <a:ext cx="6215106" cy="1383649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“假如我们无法在我们的同胞中，创造出一种较大范围的</a:t>
            </a:r>
            <a:r>
              <a:rPr lang="zh-CN" altLang="en-US" sz="2400" b="1" dirty="0" smtClean="0">
                <a:solidFill>
                  <a:srgbClr val="C00000"/>
                </a:solidFill>
                <a:latin typeface="方正行黑简体" pitchFamily="2" charset="-122"/>
                <a:ea typeface="方正行黑简体" pitchFamily="2" charset="-122"/>
              </a:rPr>
              <a:t>公民身份意识</a:t>
            </a: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，我们的社会便无法维持均衡状态”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穿越悖论的</a:t>
                      </a:r>
                      <a:r>
                        <a:rPr lang="en-US" altLang="zh-CN" sz="1200" dirty="0" smtClean="0"/>
                        <a:t>8</a:t>
                      </a:r>
                      <a:r>
                        <a:rPr lang="zh-CN" altLang="en-US" sz="1200" dirty="0" smtClean="0"/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14282" y="1285860"/>
            <a:ext cx="2285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8C64"/>
                </a:solidFill>
              </a:rPr>
              <a:t>蹊径</a:t>
            </a:r>
            <a:r>
              <a:rPr lang="en-US" altLang="zh-CN" sz="2400" b="1" dirty="0" smtClean="0">
                <a:solidFill>
                  <a:srgbClr val="C08C64"/>
                </a:solidFill>
              </a:rPr>
              <a:t>1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 </a:t>
            </a:r>
          </a:p>
          <a:p>
            <a:r>
              <a:rPr lang="zh-CN" altLang="en-US" dirty="0" smtClean="0">
                <a:solidFill>
                  <a:srgbClr val="C08C64"/>
                </a:solidFill>
              </a:rPr>
              <a:t>建立双重公民身份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3027153" y="2896462"/>
            <a:ext cx="3116488" cy="2032736"/>
            <a:chOff x="3027153" y="2682148"/>
            <a:chExt cx="3116488" cy="2032736"/>
          </a:xfrm>
        </p:grpSpPr>
        <p:grpSp>
          <p:nvGrpSpPr>
            <p:cNvPr id="13" name="组合 12"/>
            <p:cNvGrpSpPr/>
            <p:nvPr/>
          </p:nvGrpSpPr>
          <p:grpSpPr>
            <a:xfrm>
              <a:off x="3027153" y="2682148"/>
              <a:ext cx="3116488" cy="2032736"/>
              <a:chOff x="4105550" y="3123765"/>
              <a:chExt cx="1466582" cy="1324850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4105550" y="3424290"/>
                <a:ext cx="558898" cy="723800"/>
              </a:xfrm>
              <a:prstGeom prst="ellipse">
                <a:avLst/>
              </a:prstGeom>
              <a:noFill/>
              <a:ln>
                <a:solidFill>
                  <a:srgbClr val="C08C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4357686" y="3123765"/>
                <a:ext cx="1214446" cy="1324850"/>
              </a:xfrm>
              <a:prstGeom prst="ellipse">
                <a:avLst/>
              </a:prstGeom>
              <a:noFill/>
              <a:ln>
                <a:solidFill>
                  <a:srgbClr val="C08C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4098" name="Picture 2" descr="F:\全局（PPT、照片、资料共享、制度）\ppt\其他（案例、工具、矢量图）\PPT素材（图表及矢量图）\png图标和矢量图\1000个常用嗾标\1000个常用嗾标-525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643306" y="3429000"/>
              <a:ext cx="495312" cy="495312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572132" y="4071942"/>
            <a:ext cx="1928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chemeClr val="bg1"/>
                </a:solidFill>
              </a:rPr>
              <a:t>由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成员</a:t>
            </a:r>
            <a:r>
              <a:rPr lang="zh-CN" altLang="en-US" sz="1600" b="1" dirty="0" smtClean="0">
                <a:solidFill>
                  <a:schemeClr val="bg1"/>
                </a:solidFill>
              </a:rPr>
              <a:t>授权给中心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0166" y="4786322"/>
            <a:ext cx="6572296" cy="1421928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“中心的主要任务是接受委托，为未来掌航”</a:t>
            </a:r>
            <a:endParaRPr lang="en-US" altLang="zh-CN" sz="2400" b="1" dirty="0" smtClean="0">
              <a:latin typeface="方正行黑简体" pitchFamily="2" charset="-122"/>
              <a:ea typeface="方正行黑简体" pitchFamily="2" charset="-122"/>
            </a:endParaRPr>
          </a:p>
          <a:p>
            <a:pPr>
              <a:lnSpc>
                <a:spcPct val="120000"/>
              </a:lnSpc>
              <a:buFont typeface="Arial" pitchFamily="34" charset="0"/>
              <a:buChar char="•"/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</a:t>
            </a:r>
            <a:r>
              <a:rPr lang="zh-CN" altLang="en-US" sz="2400" b="1" dirty="0" smtClean="0">
                <a:solidFill>
                  <a:srgbClr val="C00000"/>
                </a:solidFill>
                <a:latin typeface="方正行黑简体" pitchFamily="2" charset="-122"/>
                <a:ea typeface="方正行黑简体" pitchFamily="2" charset="-122"/>
              </a:rPr>
              <a:t>权力补贴</a:t>
            </a: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的意义，就是要让小单位担负起真正的责任”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194837" y="3076210"/>
            <a:ext cx="742033" cy="809491"/>
          </a:xfrm>
          <a:prstGeom prst="ellipse">
            <a:avLst/>
          </a:prstGeom>
          <a:solidFill>
            <a:srgbClr val="C08C6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4" name="组合 53"/>
          <p:cNvGrpSpPr/>
          <p:nvPr/>
        </p:nvGrpSpPr>
        <p:grpSpPr>
          <a:xfrm>
            <a:off x="4936871" y="3071810"/>
            <a:ext cx="706699" cy="424019"/>
            <a:chOff x="4936871" y="3134031"/>
            <a:chExt cx="706699" cy="424019"/>
          </a:xfrm>
        </p:grpSpPr>
        <p:sp>
          <p:nvSpPr>
            <p:cNvPr id="9" name="椭圆 8"/>
            <p:cNvSpPr/>
            <p:nvPr/>
          </p:nvSpPr>
          <p:spPr>
            <a:xfrm>
              <a:off x="5254885" y="3134031"/>
              <a:ext cx="388685" cy="424019"/>
            </a:xfrm>
            <a:prstGeom prst="ellipse">
              <a:avLst/>
            </a:prstGeom>
            <a:solidFill>
              <a:srgbClr val="C08C6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箭头连接符 26"/>
            <p:cNvCxnSpPr>
              <a:stCxn id="9" idx="2"/>
              <a:endCxn id="21" idx="6"/>
            </p:cNvCxnSpPr>
            <p:nvPr/>
          </p:nvCxnSpPr>
          <p:spPr>
            <a:xfrm rot="10800000" flipV="1">
              <a:off x="4936871" y="3346039"/>
              <a:ext cx="318014" cy="134915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/>
          <p:cNvGrpSpPr/>
          <p:nvPr/>
        </p:nvGrpSpPr>
        <p:grpSpPr>
          <a:xfrm>
            <a:off x="3452804" y="3000372"/>
            <a:ext cx="742033" cy="424019"/>
            <a:chOff x="3452804" y="3134031"/>
            <a:chExt cx="742033" cy="424019"/>
          </a:xfrm>
        </p:grpSpPr>
        <p:sp>
          <p:nvSpPr>
            <p:cNvPr id="11" name="椭圆 10"/>
            <p:cNvSpPr/>
            <p:nvPr/>
          </p:nvSpPr>
          <p:spPr>
            <a:xfrm>
              <a:off x="3452804" y="3134031"/>
              <a:ext cx="388685" cy="424019"/>
            </a:xfrm>
            <a:prstGeom prst="ellipse">
              <a:avLst/>
            </a:prstGeom>
            <a:solidFill>
              <a:srgbClr val="C08C6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箭头连接符 41"/>
            <p:cNvCxnSpPr>
              <a:stCxn id="11" idx="6"/>
              <a:endCxn id="21" idx="2"/>
            </p:cNvCxnSpPr>
            <p:nvPr/>
          </p:nvCxnSpPr>
          <p:spPr>
            <a:xfrm>
              <a:off x="3841489" y="3346040"/>
              <a:ext cx="353348" cy="134915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3754272" y="2285992"/>
            <a:ext cx="1606618" cy="908764"/>
            <a:chOff x="3754272" y="2285992"/>
            <a:chExt cx="1606618" cy="908764"/>
          </a:xfrm>
        </p:grpSpPr>
        <p:grpSp>
          <p:nvGrpSpPr>
            <p:cNvPr id="34" name="组合 33"/>
            <p:cNvGrpSpPr/>
            <p:nvPr/>
          </p:nvGrpSpPr>
          <p:grpSpPr>
            <a:xfrm>
              <a:off x="3754272" y="2514548"/>
              <a:ext cx="549234" cy="680208"/>
              <a:chOff x="3754272" y="2514548"/>
              <a:chExt cx="549234" cy="680208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3754272" y="2514548"/>
                <a:ext cx="388685" cy="424019"/>
              </a:xfrm>
              <a:prstGeom prst="ellipse">
                <a:avLst/>
              </a:prstGeom>
              <a:solidFill>
                <a:srgbClr val="C08C64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" name="直接箭头连接符 24"/>
              <p:cNvCxnSpPr>
                <a:stCxn id="23" idx="5"/>
                <a:endCxn id="21" idx="1"/>
              </p:cNvCxnSpPr>
              <p:nvPr/>
            </p:nvCxnSpPr>
            <p:spPr>
              <a:xfrm rot="16200000" flipH="1">
                <a:off x="4035628" y="2926879"/>
                <a:ext cx="318285" cy="21747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组合 34"/>
            <p:cNvGrpSpPr/>
            <p:nvPr/>
          </p:nvGrpSpPr>
          <p:grpSpPr>
            <a:xfrm>
              <a:off x="4336176" y="2285992"/>
              <a:ext cx="388685" cy="790217"/>
              <a:chOff x="4336176" y="2285992"/>
              <a:chExt cx="388685" cy="790217"/>
            </a:xfrm>
          </p:grpSpPr>
          <p:sp>
            <p:nvSpPr>
              <p:cNvPr id="14" name="椭圆 13"/>
              <p:cNvSpPr/>
              <p:nvPr/>
            </p:nvSpPr>
            <p:spPr>
              <a:xfrm>
                <a:off x="4336176" y="2285992"/>
                <a:ext cx="388685" cy="424019"/>
              </a:xfrm>
              <a:prstGeom prst="ellipse">
                <a:avLst/>
              </a:prstGeom>
              <a:solidFill>
                <a:srgbClr val="C08C64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0" name="直接箭头连接符 29"/>
              <p:cNvCxnSpPr>
                <a:stCxn id="14" idx="4"/>
                <a:endCxn id="21" idx="0"/>
              </p:cNvCxnSpPr>
              <p:nvPr/>
            </p:nvCxnSpPr>
            <p:spPr>
              <a:xfrm rot="16200000" flipH="1">
                <a:off x="4365086" y="2875442"/>
                <a:ext cx="366199" cy="35335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组合 36"/>
            <p:cNvGrpSpPr/>
            <p:nvPr/>
          </p:nvGrpSpPr>
          <p:grpSpPr>
            <a:xfrm>
              <a:off x="4828204" y="2498002"/>
              <a:ext cx="532686" cy="696754"/>
              <a:chOff x="4828204" y="2498002"/>
              <a:chExt cx="532686" cy="696754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4972205" y="2498002"/>
                <a:ext cx="388685" cy="424019"/>
              </a:xfrm>
              <a:prstGeom prst="ellipse">
                <a:avLst/>
              </a:prstGeom>
              <a:solidFill>
                <a:srgbClr val="C08C64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5" name="直接箭头连接符 44"/>
              <p:cNvCxnSpPr>
                <a:stCxn id="10" idx="3"/>
                <a:endCxn id="21" idx="7"/>
              </p:cNvCxnSpPr>
              <p:nvPr/>
            </p:nvCxnSpPr>
            <p:spPr>
              <a:xfrm rot="5400000">
                <a:off x="4761250" y="2926879"/>
                <a:ext cx="334831" cy="200924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穿越悖论的</a:t>
                      </a:r>
                      <a:r>
                        <a:rPr lang="en-US" altLang="zh-CN" sz="1200" dirty="0" smtClean="0"/>
                        <a:t>8</a:t>
                      </a:r>
                      <a:r>
                        <a:rPr lang="zh-CN" altLang="en-US" sz="1200" dirty="0" smtClean="0"/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31" name="页脚占位符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214282" y="1285860"/>
            <a:ext cx="2285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8C64"/>
                </a:solidFill>
              </a:rPr>
              <a:t>蹊径</a:t>
            </a:r>
            <a:r>
              <a:rPr lang="en-US" altLang="zh-CN" sz="2400" b="1" dirty="0" smtClean="0">
                <a:solidFill>
                  <a:srgbClr val="C08C64"/>
                </a:solidFill>
              </a:rPr>
              <a:t>2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 </a:t>
            </a:r>
          </a:p>
          <a:p>
            <a:r>
              <a:rPr lang="zh-CN" altLang="en-US" dirty="0" smtClean="0">
                <a:solidFill>
                  <a:srgbClr val="C08C64"/>
                </a:solidFill>
              </a:rPr>
              <a:t>逆向授权的艺术</a:t>
            </a:r>
          </a:p>
        </p:txBody>
      </p:sp>
      <p:grpSp>
        <p:nvGrpSpPr>
          <p:cNvPr id="40" name="组合 39"/>
          <p:cNvGrpSpPr/>
          <p:nvPr/>
        </p:nvGrpSpPr>
        <p:grpSpPr>
          <a:xfrm flipV="1">
            <a:off x="3751200" y="3775039"/>
            <a:ext cx="1606618" cy="908764"/>
            <a:chOff x="3754272" y="2285992"/>
            <a:chExt cx="1606618" cy="908764"/>
          </a:xfrm>
        </p:grpSpPr>
        <p:grpSp>
          <p:nvGrpSpPr>
            <p:cNvPr id="41" name="组合 33"/>
            <p:cNvGrpSpPr/>
            <p:nvPr/>
          </p:nvGrpSpPr>
          <p:grpSpPr>
            <a:xfrm>
              <a:off x="3754272" y="2514548"/>
              <a:ext cx="549234" cy="680208"/>
              <a:chOff x="3754272" y="2514548"/>
              <a:chExt cx="549234" cy="680208"/>
            </a:xfrm>
          </p:grpSpPr>
          <p:sp>
            <p:nvSpPr>
              <p:cNvPr id="51" name="椭圆 50"/>
              <p:cNvSpPr/>
              <p:nvPr/>
            </p:nvSpPr>
            <p:spPr>
              <a:xfrm>
                <a:off x="3754272" y="2514548"/>
                <a:ext cx="388685" cy="424019"/>
              </a:xfrm>
              <a:prstGeom prst="ellipse">
                <a:avLst/>
              </a:prstGeom>
              <a:solidFill>
                <a:srgbClr val="C08C64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2" name="直接箭头连接符 51"/>
              <p:cNvCxnSpPr>
                <a:stCxn id="51" idx="5"/>
              </p:cNvCxnSpPr>
              <p:nvPr/>
            </p:nvCxnSpPr>
            <p:spPr>
              <a:xfrm rot="16200000" flipH="1">
                <a:off x="4035628" y="2926879"/>
                <a:ext cx="318285" cy="217470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组合 34"/>
            <p:cNvGrpSpPr/>
            <p:nvPr/>
          </p:nvGrpSpPr>
          <p:grpSpPr>
            <a:xfrm>
              <a:off x="4336176" y="2285992"/>
              <a:ext cx="388685" cy="790217"/>
              <a:chOff x="4336176" y="2285992"/>
              <a:chExt cx="388685" cy="790217"/>
            </a:xfrm>
          </p:grpSpPr>
          <p:sp>
            <p:nvSpPr>
              <p:cNvPr id="49" name="椭圆 48"/>
              <p:cNvSpPr/>
              <p:nvPr/>
            </p:nvSpPr>
            <p:spPr>
              <a:xfrm>
                <a:off x="4336176" y="2285992"/>
                <a:ext cx="388685" cy="424019"/>
              </a:xfrm>
              <a:prstGeom prst="ellipse">
                <a:avLst/>
              </a:prstGeom>
              <a:solidFill>
                <a:srgbClr val="C08C64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" name="直接箭头连接符 49"/>
              <p:cNvCxnSpPr>
                <a:stCxn id="49" idx="4"/>
              </p:cNvCxnSpPr>
              <p:nvPr/>
            </p:nvCxnSpPr>
            <p:spPr>
              <a:xfrm rot="16200000" flipH="1">
                <a:off x="4365086" y="2875442"/>
                <a:ext cx="366199" cy="35335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组合 36"/>
            <p:cNvGrpSpPr/>
            <p:nvPr/>
          </p:nvGrpSpPr>
          <p:grpSpPr>
            <a:xfrm>
              <a:off x="4828204" y="2498002"/>
              <a:ext cx="532686" cy="696754"/>
              <a:chOff x="4828204" y="2498002"/>
              <a:chExt cx="532686" cy="696754"/>
            </a:xfrm>
          </p:grpSpPr>
          <p:sp>
            <p:nvSpPr>
              <p:cNvPr id="46" name="椭圆 45"/>
              <p:cNvSpPr/>
              <p:nvPr/>
            </p:nvSpPr>
            <p:spPr>
              <a:xfrm>
                <a:off x="4972205" y="2498002"/>
                <a:ext cx="388685" cy="424019"/>
              </a:xfrm>
              <a:prstGeom prst="ellipse">
                <a:avLst/>
              </a:prstGeom>
              <a:solidFill>
                <a:srgbClr val="C08C64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7" name="直接箭头连接符 46"/>
              <p:cNvCxnSpPr>
                <a:stCxn id="46" idx="3"/>
              </p:cNvCxnSpPr>
              <p:nvPr/>
            </p:nvCxnSpPr>
            <p:spPr>
              <a:xfrm rot="5400000">
                <a:off x="4761250" y="2926879"/>
                <a:ext cx="334831" cy="200924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8" name="组合 57"/>
          <p:cNvGrpSpPr/>
          <p:nvPr/>
        </p:nvGrpSpPr>
        <p:grpSpPr>
          <a:xfrm flipV="1">
            <a:off x="4929190" y="3576485"/>
            <a:ext cx="706699" cy="424019"/>
            <a:chOff x="4936871" y="3134031"/>
            <a:chExt cx="706699" cy="424019"/>
          </a:xfrm>
        </p:grpSpPr>
        <p:sp>
          <p:nvSpPr>
            <p:cNvPr id="59" name="椭圆 58"/>
            <p:cNvSpPr/>
            <p:nvPr/>
          </p:nvSpPr>
          <p:spPr>
            <a:xfrm>
              <a:off x="5254885" y="3134031"/>
              <a:ext cx="388685" cy="424019"/>
            </a:xfrm>
            <a:prstGeom prst="ellipse">
              <a:avLst/>
            </a:prstGeom>
            <a:solidFill>
              <a:srgbClr val="C08C6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" name="直接箭头连接符 59"/>
            <p:cNvCxnSpPr>
              <a:stCxn id="59" idx="2"/>
            </p:cNvCxnSpPr>
            <p:nvPr/>
          </p:nvCxnSpPr>
          <p:spPr>
            <a:xfrm rot="10800000" flipV="1">
              <a:off x="4936871" y="3346039"/>
              <a:ext cx="318014" cy="134915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/>
          <p:cNvGrpSpPr/>
          <p:nvPr/>
        </p:nvGrpSpPr>
        <p:grpSpPr>
          <a:xfrm flipV="1">
            <a:off x="3500430" y="3576485"/>
            <a:ext cx="742033" cy="424019"/>
            <a:chOff x="3452804" y="3134031"/>
            <a:chExt cx="742033" cy="424019"/>
          </a:xfrm>
        </p:grpSpPr>
        <p:sp>
          <p:nvSpPr>
            <p:cNvPr id="62" name="椭圆 61"/>
            <p:cNvSpPr/>
            <p:nvPr/>
          </p:nvSpPr>
          <p:spPr>
            <a:xfrm>
              <a:off x="3452804" y="3134031"/>
              <a:ext cx="388685" cy="424019"/>
            </a:xfrm>
            <a:prstGeom prst="ellipse">
              <a:avLst/>
            </a:prstGeom>
            <a:solidFill>
              <a:srgbClr val="C08C64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3" name="直接箭头连接符 62"/>
            <p:cNvCxnSpPr>
              <a:stCxn id="62" idx="6"/>
            </p:cNvCxnSpPr>
            <p:nvPr/>
          </p:nvCxnSpPr>
          <p:spPr>
            <a:xfrm>
              <a:off x="3841489" y="3346040"/>
              <a:ext cx="353348" cy="134915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14282" y="1285860"/>
            <a:ext cx="2285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8C64"/>
                </a:solidFill>
              </a:rPr>
              <a:t>蹊径</a:t>
            </a:r>
            <a:r>
              <a:rPr lang="en-US" altLang="zh-CN" sz="2400" b="1" dirty="0" smtClean="0">
                <a:solidFill>
                  <a:srgbClr val="C08C64"/>
                </a:solidFill>
              </a:rPr>
              <a:t>3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 </a:t>
            </a:r>
          </a:p>
          <a:p>
            <a:r>
              <a:rPr lang="zh-CN" altLang="en-US" dirty="0" smtClean="0">
                <a:solidFill>
                  <a:srgbClr val="C08C64"/>
                </a:solidFill>
              </a:rPr>
              <a:t>超越利润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785918" y="4500570"/>
            <a:ext cx="6072230" cy="830997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“把</a:t>
            </a:r>
            <a:r>
              <a:rPr lang="zh-CN" altLang="en-US" sz="2400" b="1" dirty="0" smtClean="0">
                <a:solidFill>
                  <a:srgbClr val="C00000"/>
                </a:solidFill>
                <a:latin typeface="方正行黑简体" pitchFamily="2" charset="-122"/>
                <a:ea typeface="方正行黑简体" pitchFamily="2" charset="-122"/>
              </a:rPr>
              <a:t>利润</a:t>
            </a: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当做是追求其他目的的一种手段，而不是视其本身为一种目的”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穿越悖论的</a:t>
                      </a:r>
                      <a:r>
                        <a:rPr lang="en-US" altLang="zh-CN" sz="1200" dirty="0" smtClean="0"/>
                        <a:t>8</a:t>
                      </a:r>
                      <a:r>
                        <a:rPr lang="zh-CN" altLang="en-US" sz="1200" dirty="0" smtClean="0"/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32" name="页脚占位符 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pic>
        <p:nvPicPr>
          <p:cNvPr id="4099" name="Picture 3" descr="F:\全局（PPT、照片、资料共享、制度）\ppt\其他（案例、工具、矢量图）\PPT素材（图表及矢量图）\png图标和矢量图\1000个常用嗾标\1000个常用嗾标-24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1802" y="1928802"/>
            <a:ext cx="2736850" cy="2736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214414" y="2786058"/>
            <a:ext cx="3357586" cy="3214710"/>
          </a:xfrm>
          <a:prstGeom prst="rect">
            <a:avLst/>
          </a:prstGeom>
          <a:solidFill>
            <a:srgbClr val="C08C64"/>
          </a:solidFill>
        </p:spPr>
        <p:txBody>
          <a:bodyPr wrap="square" rtlCol="0" anchor="t" anchorCtr="0">
            <a:no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latin typeface="方正行黑简体" pitchFamily="2" charset="-122"/>
                <a:ea typeface="方正行黑简体" pitchFamily="2" charset="-122"/>
              </a:rPr>
              <a:t>企业</a:t>
            </a:r>
            <a:endParaRPr lang="en-US" altLang="zh-CN" sz="3200" b="1" dirty="0" smtClean="0">
              <a:solidFill>
                <a:srgbClr val="C00000"/>
              </a:solidFill>
              <a:latin typeface="方正行黑简体" pitchFamily="2" charset="-122"/>
              <a:ea typeface="方正行黑简体" pitchFamily="2" charset="-122"/>
            </a:endParaRPr>
          </a:p>
          <a:p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“改变当前各组织的结构，以及修正“企业”的意义，必将有助于整出一条穿越悖论的蹊径”</a:t>
            </a:r>
          </a:p>
          <a:p>
            <a:endParaRPr lang="zh-CN" altLang="en-US" sz="2400" b="1" dirty="0">
              <a:solidFill>
                <a:schemeClr val="bg1"/>
              </a:solidFill>
              <a:latin typeface="方正行黑简体" pitchFamily="2" charset="-122"/>
              <a:ea typeface="方正行黑简体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43438" y="2786058"/>
            <a:ext cx="3286148" cy="3214710"/>
          </a:xfrm>
          <a:prstGeom prst="rect">
            <a:avLst/>
          </a:prstGeom>
          <a:solidFill>
            <a:srgbClr val="C08C64"/>
          </a:solidFill>
        </p:spPr>
        <p:txBody>
          <a:bodyPr wrap="square" rtlCol="0" anchor="t" anchorCtr="0">
            <a:noAutofit/>
          </a:bodyPr>
          <a:lstStyle/>
          <a:p>
            <a:r>
              <a:rPr lang="zh-CN" altLang="en-US" sz="3200" b="1" dirty="0" smtClean="0">
                <a:solidFill>
                  <a:srgbClr val="C00000"/>
                </a:solidFill>
                <a:latin typeface="方正行黑简体" pitchFamily="2" charset="-122"/>
                <a:ea typeface="方正行黑简体" pitchFamily="2" charset="-122"/>
              </a:rPr>
              <a:t>个人</a:t>
            </a:r>
            <a:endParaRPr lang="en-US" altLang="zh-CN" sz="3200" b="1" dirty="0" smtClean="0">
              <a:solidFill>
                <a:srgbClr val="C00000"/>
              </a:solidFill>
              <a:latin typeface="方正行黑简体" pitchFamily="2" charset="-122"/>
              <a:ea typeface="方正行黑简体" pitchFamily="2" charset="-122"/>
            </a:endParaRPr>
          </a:p>
          <a:p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“混乱的时代也是充满机会的时代，因为一切旧模式正在改变，我们无须追随上一代的生活方式。事实上，我们比他们更容易塑造自己的生活形态。”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穿越悖论的</a:t>
                      </a:r>
                      <a:r>
                        <a:rPr lang="en-US" altLang="zh-CN" sz="1200" dirty="0" smtClean="0"/>
                        <a:t>8</a:t>
                      </a:r>
                      <a:r>
                        <a:rPr lang="zh-CN" altLang="en-US" sz="1200" dirty="0" smtClean="0"/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31" name="页脚占位符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14282" y="1285860"/>
            <a:ext cx="2285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8C64"/>
                </a:solidFill>
              </a:rPr>
              <a:t>蹊径</a:t>
            </a:r>
            <a:r>
              <a:rPr lang="en-US" altLang="zh-CN" sz="2400" b="1" dirty="0" smtClean="0">
                <a:solidFill>
                  <a:srgbClr val="C08C64"/>
                </a:solidFill>
              </a:rPr>
              <a:t>4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 </a:t>
            </a:r>
          </a:p>
          <a:p>
            <a:r>
              <a:rPr lang="zh-CN" altLang="en-US" dirty="0" smtClean="0">
                <a:solidFill>
                  <a:srgbClr val="C08C64"/>
                </a:solidFill>
              </a:rPr>
              <a:t>新型企业</a:t>
            </a:r>
          </a:p>
        </p:txBody>
      </p:sp>
      <p:pic>
        <p:nvPicPr>
          <p:cNvPr id="2052" name="Picture 4" descr="F:\全局（PPT、照片、资料共享、制度）\ppt\其他（案例、工具、矢量图）\PPT素材（图表及矢量图）\png图标和矢量图\商业元素\companie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70" y="2428868"/>
            <a:ext cx="857256" cy="85725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 descr="F:\全局（PPT、照片、资料共享、制度）\ppt\其他（案例、工具、矢量图）\PPT素材（图表及矢量图）\png图标和矢量图\1000个常用嗾标\1000个常用嗾标-675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3146" y="2511457"/>
            <a:ext cx="781064" cy="78106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929058" y="2500306"/>
            <a:ext cx="4000528" cy="3156442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“未来，我们将看到越来越多的项目组、任务组、小业务单位、工作组等，这些都是符合甜甜圈组织原理的组合方式。这些小团体将随着组织需求的变化，而改变其形态与成员。”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pic>
        <p:nvPicPr>
          <p:cNvPr id="1026" name="Picture 2" descr="C:\Documents and Settings\Administrator\桌面\u=2126747634,3730332024&amp;fm=23&amp;gp=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04" y="2571744"/>
            <a:ext cx="3000416" cy="3000416"/>
          </a:xfrm>
          <a:prstGeom prst="rect">
            <a:avLst/>
          </a:prstGeom>
          <a:noFill/>
          <a:effectLst>
            <a:softEdge rad="63500"/>
          </a:effectLst>
        </p:spPr>
      </p:pic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穿越悖论的</a:t>
                      </a:r>
                      <a:r>
                        <a:rPr lang="en-US" altLang="zh-CN" sz="1200" dirty="0" smtClean="0"/>
                        <a:t>8</a:t>
                      </a:r>
                      <a:r>
                        <a:rPr lang="zh-CN" altLang="en-US" sz="1200" dirty="0" smtClean="0"/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31" name="页脚占位符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14282" y="1285860"/>
            <a:ext cx="2285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8C64"/>
                </a:solidFill>
              </a:rPr>
              <a:t>蹊径</a:t>
            </a:r>
            <a:r>
              <a:rPr lang="en-US" altLang="zh-CN" sz="2400" b="1" dirty="0" smtClean="0">
                <a:solidFill>
                  <a:srgbClr val="C08C64"/>
                </a:solidFill>
              </a:rPr>
              <a:t>5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 </a:t>
            </a:r>
          </a:p>
          <a:p>
            <a:r>
              <a:rPr lang="zh-CN" altLang="en-US" dirty="0" smtClean="0">
                <a:solidFill>
                  <a:srgbClr val="C08C64"/>
                </a:solidFill>
              </a:rPr>
              <a:t>虚拟办公室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穿越悖论的</a:t>
                      </a:r>
                      <a:r>
                        <a:rPr lang="en-US" altLang="zh-CN" sz="1200" dirty="0" smtClean="0"/>
                        <a:t>8</a:t>
                      </a:r>
                      <a:r>
                        <a:rPr lang="zh-CN" altLang="en-US" sz="1200" dirty="0" smtClean="0"/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71472" y="5039037"/>
            <a:ext cx="7786742" cy="461665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“变换人生阶段，实际上是第二条曲线原则的一种版本”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14282" y="1285860"/>
            <a:ext cx="2285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8C64"/>
                </a:solidFill>
              </a:rPr>
              <a:t>蹊径</a:t>
            </a:r>
            <a:r>
              <a:rPr lang="en-US" altLang="zh-CN" sz="2400" b="1" dirty="0" smtClean="0">
                <a:solidFill>
                  <a:srgbClr val="C08C64"/>
                </a:solidFill>
              </a:rPr>
              <a:t>6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 </a:t>
            </a:r>
          </a:p>
          <a:p>
            <a:r>
              <a:rPr lang="zh-CN" altLang="en-US" dirty="0" smtClean="0">
                <a:solidFill>
                  <a:srgbClr val="C08C64"/>
                </a:solidFill>
              </a:rPr>
              <a:t>人生四季之美</a:t>
            </a:r>
          </a:p>
        </p:txBody>
      </p:sp>
      <p:sp>
        <p:nvSpPr>
          <p:cNvPr id="9" name="矩形 8"/>
          <p:cNvSpPr/>
          <p:nvPr/>
        </p:nvSpPr>
        <p:spPr>
          <a:xfrm>
            <a:off x="929878" y="2454850"/>
            <a:ext cx="12089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C08C64"/>
                </a:solidFill>
              </a:rPr>
              <a:t>第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1</a:t>
            </a:r>
            <a:r>
              <a:rPr lang="zh-CN" altLang="en-US" sz="2000" b="1" dirty="0" smtClean="0">
                <a:solidFill>
                  <a:srgbClr val="C08C64"/>
                </a:solidFill>
              </a:rPr>
              <a:t>阶段</a:t>
            </a:r>
            <a:endParaRPr lang="zh-CN" altLang="en-US" sz="2000" b="1" dirty="0">
              <a:solidFill>
                <a:srgbClr val="C08C64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005825" y="2454850"/>
            <a:ext cx="12089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C08C64"/>
                </a:solidFill>
              </a:rPr>
              <a:t>第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2</a:t>
            </a:r>
            <a:r>
              <a:rPr lang="zh-CN" altLang="en-US" sz="2000" b="1" dirty="0" smtClean="0">
                <a:solidFill>
                  <a:srgbClr val="C08C64"/>
                </a:solidFill>
              </a:rPr>
              <a:t>阶段</a:t>
            </a:r>
            <a:endParaRPr lang="zh-CN" altLang="en-US" sz="2000" b="1" dirty="0">
              <a:solidFill>
                <a:srgbClr val="C08C64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006089" y="2454850"/>
            <a:ext cx="12089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C08C64"/>
                </a:solidFill>
              </a:rPr>
              <a:t>第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3</a:t>
            </a:r>
            <a:r>
              <a:rPr lang="zh-CN" altLang="en-US" sz="2000" b="1" dirty="0" smtClean="0">
                <a:solidFill>
                  <a:srgbClr val="C08C64"/>
                </a:solidFill>
              </a:rPr>
              <a:t>阶段</a:t>
            </a:r>
            <a:endParaRPr lang="zh-CN" altLang="en-US" sz="2000" b="1" dirty="0">
              <a:solidFill>
                <a:srgbClr val="C08C64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077791" y="2454850"/>
            <a:ext cx="12089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rgbClr val="C08C64"/>
                </a:solidFill>
              </a:rPr>
              <a:t>第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4</a:t>
            </a:r>
            <a:r>
              <a:rPr lang="zh-CN" altLang="en-US" sz="2000" b="1" dirty="0" smtClean="0">
                <a:solidFill>
                  <a:srgbClr val="C08C64"/>
                </a:solidFill>
              </a:rPr>
              <a:t>阶段</a:t>
            </a:r>
            <a:endParaRPr lang="zh-CN" altLang="en-US" sz="2000" b="1" dirty="0">
              <a:solidFill>
                <a:srgbClr val="C08C64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40411" y="419251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 smtClean="0">
                <a:solidFill>
                  <a:schemeClr val="bg1"/>
                </a:solidFill>
              </a:rPr>
              <a:t>生活与工作准备期</a:t>
            </a:r>
          </a:p>
        </p:txBody>
      </p:sp>
      <p:sp>
        <p:nvSpPr>
          <p:cNvPr id="19" name="矩形 18"/>
          <p:cNvSpPr/>
          <p:nvPr/>
        </p:nvSpPr>
        <p:spPr>
          <a:xfrm>
            <a:off x="2958571" y="4192516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 smtClean="0">
                <a:solidFill>
                  <a:schemeClr val="bg1"/>
                </a:solidFill>
              </a:rPr>
              <a:t>主要奋斗期</a:t>
            </a:r>
          </a:p>
        </p:txBody>
      </p:sp>
      <p:sp>
        <p:nvSpPr>
          <p:cNvPr id="20" name="矩形 19"/>
          <p:cNvSpPr/>
          <p:nvPr/>
        </p:nvSpPr>
        <p:spPr>
          <a:xfrm>
            <a:off x="4797465" y="4192516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 smtClean="0">
                <a:solidFill>
                  <a:schemeClr val="bg1"/>
                </a:solidFill>
              </a:rPr>
              <a:t>人生后半段开始</a:t>
            </a:r>
            <a:endParaRPr lang="en-US" altLang="zh-CN" b="1" dirty="0" smtClean="0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189931" y="419251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 smtClean="0">
                <a:solidFill>
                  <a:schemeClr val="bg1"/>
                </a:solidFill>
              </a:rPr>
              <a:t>依赖阶段</a:t>
            </a:r>
          </a:p>
        </p:txBody>
      </p:sp>
      <p:sp>
        <p:nvSpPr>
          <p:cNvPr id="1026" name="AutoShape 2" descr="data:image/jpeg;base64,/9j/4AAQSkZJRgABAQAAAQABAAD/2wCEAAkGBhIPEBATEhASEhAUEBUQEhIQEhAQEBIUFRQWFBUUEhUXGyceGBkjGhUXIC8gIycpLCwsFR4xNTAqNSYrLCkBCQoKBQUFDQUFDSkYEhgpKSkpKSkpKSkpKSkpKSkpKSkpKSkpKSkpKSkpKSkpKSkpKSkpKSkpKSkpKSkpKSkpKf/AABEIAMIBAwMBIgACEQEDEQH/xAAcAAEAAgMBAQEAAAAAAAAAAAAABQYBAgMEBwj/xABAEAACAQIEAggEAQoFBQEAAAAAAQIDEQQFEiEGMRMiQVFhcZGxMoGhwRQjQlJicnOy0eHwBzOCkvEkU2OiwjT/xAAUAQEAAAAAAAAAAAAAAAAAAAAA/8QAFBEBAAAAAAAAAAAAAAAAAAAAAP/aAAwDAQACEQMRAD8A+4gAAAAAAAAAAAAAAAAAAAAAAAAAAAAAAAAAAAAAAAAAAAAAAAAAAAAAAAAAAAAAAAAAAAAAAAAAAAAAAAAAAAAAAAAAAAAAAAAAAAAAAAAAAAAADZo6q7wNwc+mXebp3AyAAAAAAAAAAAAAAAAAAAAAAAAAAAAAAAAAAAAAGJSsrvkZPFmlbTFLvfsBrUxV/LuOfTEe8QYeIAkOmNoYixG/iPELEAT9CupLx7TqQ+XYnrpd+xMAAAAAAAAAAAAAAAAAAAAAAAAw2BkHmqYvu9Tk8U+8D3A8MMbbnv7nshNNXXIDYAAAAAIbiKelQfZeS9iZIziHCupQk0utHrr5c16XArbxJj8SRjxJj8QBJ/ijZYkivxBlYgCwZVW1Vqa/W9k2WpFV4SoOc5VGurFaV4yf8l/EWsAAAAAAAGGwMg59Ou82jUTA2AAAAAAAAAAA8mZ19EPN2+/2PWRvEFNui2t3BqfyWz+j+gEa8Z4nOWN8SEljTlLGgTv47xJjJMTrjJdzT9f+CjSx5a+D5aqdSXfJRXyV37gWEAAAABhuxC5jnem6jt49p6c6xeiNu/d+X9+x81zLiFxqSu9rgdswnpk2tot38vA8n4zxPPVzmMuauvEhsdXs24SaXc97AWH8Z4m9LEamkip0MRJvedicoZjCCVl2bvm2/FgfQckzPooqKtpXZ3t82WjD11NXXz8D5BDiLkkXvhnNdSjft2YFpAQAAAARGIx92+69l/MlK3wy8n7FHlmG4FgWL8TeOLK7HHnSOP8AEC3YTE614rmegguHq+uU+5RXv/QnQAAAAAAAABpVkkm3ytvfuNyG4oxmii0ub9kBRs5nGnUnof5O+299PgyJqZmu9HfI+H62PrV1Gr0cYQUtUoucXKUrRi912KTv4HmzjgHHU2/yCqr9LDtS9Y7S+gGlPG65WXMnsqzRwSWpqxQJuph5OMoypzXOM4yhJeae/IzHMqj2T/kB9wybOtdk5XT2vfkydPlnDGJkoK7v4n07C1tcIS74p/QDqAYk7AVfiPEXcrdnV9CvcK5BTxWJrdNTjUpxpW0zV1qnKyfg7Re/Zc9+a173ffdkrwLhrUak+2dW3ygkvdyAovHHA8ME4zoTlpnq/J1Otptb4Zc2t+T9Slzqtcz6r/iXiPhXPTHf57/ZHyevioyez37u0DKrE1w/kUsZWhTc+jjKSi5Japb9y5ELQauXDhLEaK1N90k/RgWnPuBcNhcDN0qf5SEoTdWb1VZJStJN9itJ7Ky2PNw/UaSL7j8OqtGpDsnCUP8AcrL3PnWU1LW7H2/cD6XRqaoxfekzc8GTVdVKPg2vv9z3gDSrVUU2+SNyE4kxmlRiu5yfsvuB58x4lcL6Uvco2Jx/Xk+Sbbt3dpE5vn1SFWS7L7Mja2cuUbfPxuBZoY/xPRTxbbVvLYp2CxFWpLTBSnLsjTi5y9ET9fL8ZhaUa1Si6cZTVNObjrTabXUT6q27bAfVcgy/oaMbtOUutJrdX7EvJbepJlb4LzJ1KWmTu0rr7lkAAAAAAAAAFO4xxV5OPZFJfd+5cT5/xPUvUrPuk/p/wBM8AYHRhpTtvVqSl/pj1F7N/Msz2PHkuG6PD0YWs40oJ+elX+pH8UZp0VPQn1pLfwj/AF+wHzn/ABMxka9fVCF9MdF1zaTv92VPLcpxNZOVLDVqkYy0ycKcpJPnZ2XMteJgpNtq7Z68o4pq4DSnaeG1XnDTFSSk95Qkldvwd72tsB5uFcRenumnGUotNWas+1fP6H0/h2up0I/qtxfye30aKhnODp061SpSacMQo4nbleas3Hz06vOTO/DObuDqQT8fNrs9AL2ccbK1Oo+6En9Gb0qmqKfek/VXOOZO1Gr+7l7MCi4zdMt/D1Lo8JR/d63/AKryfuU3FS2l8y4Yip0WEguT6OEP/VX+lwKhxLU6Vyb7SCyPh7DTxdF1403DVuqiTjJ2emLvtu7cyWx0tTPDOlqv/foB3/xK4Lw2Gw0a+GpRpOFRdJGDlaUJdW9m+yWnu+JlWyDEq6L5xFjunw1CM3tVwrhN97fVb9Y3PlmTV3Tm4S2alb0A/Q2U4npKFKXfBX81s/Yo9WjprVkuSrT/AI2WDgXF68M4/oT+kkn73ITH7YjEfvpe9wLPwzK9KX7f/wAomSF4W/yZfvH/AAxJoAU3ibE6qs0uxKPot/q2WLNMy6H/AGuT8uS+pQfxTqSk273bf1AoubVnOpU0xlJKTT0xlLl5HlyiEJ1YqSbjdXVmk1fdXPqdfO45Vh6OGoKM8RUi69Ry+GPSPU5SS5vsS7oFVhhU224xTbcuqtMVd8kuxAfXcr6J0oOlGMYNKyikkvCy7jz8SZd+IwtaFt9DlH9qPWj9V9SvcH5tofRyfVfLwZdGBQODcUoSh3Oy9dv5H0A+c4aj0VapH9CrJLyUnb6WPosWBkAAAAAAAA+fZpRdSu42fXxGj1nbb5FwzTMlTTSdnbdv81ERk6jXxCne6hDWrbpuWyfo2BZ0j5fxJnqliKsZOzjUcLPa2l2S9Pc+okBn3BWDxstdal17b1Kc50ptLlqcWr/O4HztV43vdctvDv8AM4Yj8vFxp9aTkoRtycm7JL52N884cw8JuFF1NCduvVlNu3m+0snBOUx6aLstFGGvstqe0fu/kAz7AfhlQoq7VLDU6d93fTqTb+fuVbLc4UMRPflO3si9YvMlWqTaadttuaS5J+/zKvm/DtN4hV4xSlL4t2k5LlK3K9vYD6llzvSpfu4+yOebv8hW/dy9jXJp3w9G/wD24r0VjnmWL5wX+r+QFKqQbSVubUfV2J/jfG9DTpfouUlfsukrfS5hQUqlJPl0sW/Xb6k5m2VU8VSlSqx1Ql4tNNcpRa3TXeB8rhmik+aOrxKilvffbvb8jwZ/wOsNWl0OKqSjHsqQg2nztqTV/Q1yjByU05Scmu/s+QEpxdX6Ghg+q2vw93ZXtecn92UJUp16ydClVqSk+UITlJvysfUeJ6GroI7dXDU4227r/ci8iw7o16U7cqkW/K9n9LgXLgTJauGw7dZaalRqWi6bhFLZSttfdkTnMLYjEbfn39Yxf3L4iuZhFfiar71FPz0r+gHq4TX/AE9++cvsvsTREZZi1Hqv4W9vBsl7gUvj/MFSsr/FBfRv+hTshxXSRdk3aco7Jvx+5Z/8Q8Eq9SMZWsoRVm7btvlbc1yrL4YWjCnCKSirvxf5zb/vkBG8S5U6dejX3cauGp/KdOCi16aX6kfDFwmtn8+7+pdsTbF4Kdt5UXqjs07RTurc76dS+SPn2Iyim6ursfPTKUb+jA9lPNo05LdXXcfU8mxvT4elU/Tgn59l/nz+ZWcg4Ey6ahVVDpJdqq1atWKl+xKVvVFzjFJJJWS2SXJAUfPcO4YutZfFGNXbxjpf1iy60HeMf2V7ENxJSSlRqdupw8005b/NfVm+S5uqiSvePJPuadmmBNAAAAAObrIi8zz7om4qFVuyd4UatRO/YnGNrkp0Y6MCpUYPESUq8akaSepUeiquU3/5Xpsl+qr+LXI9OT1ZQrYiXRzSk0otwlFNKU3tddzRY+jMOkgPHLMZdkX6HkzGrVq05wXV1K2pXuiX6MdGB82r8F4uT/zqNvGlVv8Axkvh8PXwWGnGEXUk+fRwlrnJ7dr6sUvTmXBwMOPgBTsPgalOjTUoylUhqlLTSqWbnJylG9r83s33HOtJVrU3hsTJOSvejVpxVnzc3ZKxc3E41m0naN3bZePYB56bdKKjFtJK0VySS5bEdj8SqcXJv7tvu8zhWzevZ/8AQ4nV3aY29U7WOGDhWlNVKuFqua3hFumoQ8fi3l49nZ3gZpxqwlFVHHVqpztH8xSl8Lfa1bd/27Ni8zVOE5c3GLdl22RWsfSrzqRlHDz3ShLrU9rS1Rl8Xi180Sjw8pc6f1QFLzDN4Tb68bt3fWXM8OHxa1WTV27c127F0rcKYep8eGoyf61ODf1RpQ4OwtN6oYWjGXY404Ra8mkBFcSZTUxFbpKMqdtEYuM5uNtKteLSezSXYcMBkeJTWqdOMb76ZSqO3gnFItUcpiuUUdFgbdgHup5ndW0/UrmJnUrVZqnKKk3Oa13atFpJbcr7K/Z4kpOhNJ6Y3dtt+35kZleFxFOUpyodZpRS1w6sVvzT3bfsgO+X1+kXc09MovnFrZp+JM0araSu7+DK/jqNfX0lPDSVT861SlpqJfpXa38f6HppY3Eaf/x1dX7VFK/nrA7ZxlmtwqKj01SMla84xkl4OTS252Z5p4KtNpdBKMfzm50W/LaRP0m7K6s7K67n2o6oCu4TBYqnXqtf5dTruT0NxlteLjfddqfmn3kTieAJzm5RxEoJu+lU4SS8Fd8i9o2sBXMiyerhFK1RzcrX1RSW3ckTH4mr3HsUTNgILO4Vq0IqNO7U0/igtrNdr8ThjcFU1urRpTjUfxxbpOFS3a+veMv1l80WRRM2Aisrx9eVlUw86at8Up0Zb93Vk2/OxJqr4G1jOkDXpfAwb6QBtYxYyAMWMNGwA1sYaNrCwGmkzY2sGgNNJh0zpYWA5dEOjOtjGkDl0Q6JHXSNIHJ0jHRHbSNIHHogqR20jSBy6MdGddI0gcujM9GdNIsBoqZnQb2FgNNI0m9hYDWxmxmwsBgzYzYAYSMgAAAAAAAAAAAAAAAAAAAAAAAAAAAAAAAAAAAAAAAAAAAAAAAAAAAAAAAAAAAAAAAAAAAAAAAAAAAAAAAAAAAAAAAAAAAAAAH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8" name="AutoShape 4" descr="data:image/jpeg;base64,/9j/4AAQSkZJRgABAQAAAQABAAD/2wCEAAkGBhIPEBATEhASEhAUEBUQEhIQEhAQEBIUFRQWFBUUEhUXGyceGBkjGhUXIC8gIycpLCwsFR4xNTAqNSYrLCkBCQoKBQUFDQUFDSkYEhgpKSkpKSkpKSkpKSkpKSkpKSkpKSkpKSkpKSkpKSkpKSkpKSkpKSkpKSkpKSkpKSkpKf/AABEIAMIBAwMBIgACEQEDEQH/xAAcAAEAAgMBAQEAAAAAAAAAAAAABQYBAgMEBwj/xABAEAACAQIEAggEAQoFBQEAAAAAAQIDEQQFEiEGMRMiQVFhcZGxMoGhwRQjQlJicnOy0eHwBzOCkvEkU2OiwjT/xAAUAQEAAAAAAAAAAAAAAAAAAAAA/8QAFBEBAAAAAAAAAAAAAAAAAAAAAP/aAAwDAQACEQMRAD8A+4gAAAAAAAAAAAAAAAAAAAAAAAAAAAAAAAAAAAAAAAAAAAAAAAAAAAAAAAAAAAAAAAAAAAAAAAAAAAAAAAAAAAAAAAAAAAAAAAAAAAAAAAAAAAAADZo6q7wNwc+mXebp3AyAAAAAAAAAAAAAAAAAAAAAAAAAAAAAAAAAAAAAGJSsrvkZPFmlbTFLvfsBrUxV/LuOfTEe8QYeIAkOmNoYixG/iPELEAT9CupLx7TqQ+XYnrpd+xMAAAAAAAAAAAAAAAAAAAAAAAAw2BkHmqYvu9Tk8U+8D3A8MMbbnv7nshNNXXIDYAAAAAIbiKelQfZeS9iZIziHCupQk0utHrr5c16XArbxJj8SRjxJj8QBJ/ijZYkivxBlYgCwZVW1Vqa/W9k2WpFV4SoOc5VGurFaV4yf8l/EWsAAAAAAAGGwMg59Ou82jUTA2AAAAAAAAAAA8mZ19EPN2+/2PWRvEFNui2t3BqfyWz+j+gEa8Z4nOWN8SEljTlLGgTv47xJjJMTrjJdzT9f+CjSx5a+D5aqdSXfJRXyV37gWEAAAABhuxC5jnem6jt49p6c6xeiNu/d+X9+x81zLiFxqSu9rgdswnpk2tot38vA8n4zxPPVzmMuauvEhsdXs24SaXc97AWH8Z4m9LEamkip0MRJvedicoZjCCVl2bvm2/FgfQckzPooqKtpXZ3t82WjD11NXXz8D5BDiLkkXvhnNdSjft2YFpAQAAAARGIx92+69l/MlK3wy8n7FHlmG4FgWL8TeOLK7HHnSOP8AEC3YTE614rmegguHq+uU+5RXv/QnQAAAAAAAABpVkkm3ytvfuNyG4oxmii0ub9kBRs5nGnUnof5O+299PgyJqZmu9HfI+H62PrV1Gr0cYQUtUoucXKUrRi912KTv4HmzjgHHU2/yCqr9LDtS9Y7S+gGlPG65WXMnsqzRwSWpqxQJuph5OMoypzXOM4yhJeae/IzHMqj2T/kB9wybOtdk5XT2vfkydPlnDGJkoK7v4n07C1tcIS74p/QDqAYk7AVfiPEXcrdnV9CvcK5BTxWJrdNTjUpxpW0zV1qnKyfg7Re/Zc9+a173ffdkrwLhrUak+2dW3ygkvdyAovHHA8ME4zoTlpnq/J1Otptb4Zc2t+T9Slzqtcz6r/iXiPhXPTHf57/ZHyevioyez37u0DKrE1w/kUsZWhTc+jjKSi5Japb9y5ELQauXDhLEaK1N90k/RgWnPuBcNhcDN0qf5SEoTdWb1VZJStJN9itJ7Ky2PNw/UaSL7j8OqtGpDsnCUP8AcrL3PnWU1LW7H2/cD6XRqaoxfekzc8GTVdVKPg2vv9z3gDSrVUU2+SNyE4kxmlRiu5yfsvuB58x4lcL6Uvco2Jx/Xk+Sbbt3dpE5vn1SFWS7L7Mja2cuUbfPxuBZoY/xPRTxbbVvLYp2CxFWpLTBSnLsjTi5y9ET9fL8ZhaUa1Si6cZTVNObjrTabXUT6q27bAfVcgy/oaMbtOUutJrdX7EvJbepJlb4LzJ1KWmTu0rr7lkAAAAAAAAAFO4xxV5OPZFJfd+5cT5/xPUvUrPuk/p/wBM8AYHRhpTtvVqSl/pj1F7N/Msz2PHkuG6PD0YWs40oJ+elX+pH8UZp0VPQn1pLfwj/AF+wHzn/ABMxka9fVCF9MdF1zaTv92VPLcpxNZOVLDVqkYy0ycKcpJPnZ2XMteJgpNtq7Z68o4pq4DSnaeG1XnDTFSSk95Qkldvwd72tsB5uFcRenumnGUotNWas+1fP6H0/h2up0I/qtxfye30aKhnODp061SpSacMQo4nbleas3Hz06vOTO/DObuDqQT8fNrs9AL2ccbK1Oo+6En9Gb0qmqKfek/VXOOZO1Gr+7l7MCi4zdMt/D1Lo8JR/d63/AKryfuU3FS2l8y4Yip0WEguT6OEP/VX+lwKhxLU6Vyb7SCyPh7DTxdF1403DVuqiTjJ2emLvtu7cyWx0tTPDOlqv/foB3/xK4Lw2Gw0a+GpRpOFRdJGDlaUJdW9m+yWnu+JlWyDEq6L5xFjunw1CM3tVwrhN97fVb9Y3PlmTV3Tm4S2alb0A/Q2U4npKFKXfBX81s/Yo9WjprVkuSrT/AI2WDgXF68M4/oT+kkn73ITH7YjEfvpe9wLPwzK9KX7f/wAomSF4W/yZfvH/AAxJoAU3ibE6qs0uxKPot/q2WLNMy6H/AGuT8uS+pQfxTqSk273bf1AoubVnOpU0xlJKTT0xlLl5HlyiEJ1YqSbjdXVmk1fdXPqdfO45Vh6OGoKM8RUi69Ry+GPSPU5SS5vsS7oFVhhU224xTbcuqtMVd8kuxAfXcr6J0oOlGMYNKyikkvCy7jz8SZd+IwtaFt9DlH9qPWj9V9SvcH5tofRyfVfLwZdGBQODcUoSh3Oy9dv5H0A+c4aj0VapH9CrJLyUnb6WPosWBkAAAAAAAA+fZpRdSu42fXxGj1nbb5FwzTMlTTSdnbdv81ERk6jXxCne6hDWrbpuWyfo2BZ0j5fxJnqliKsZOzjUcLPa2l2S9Pc+okBn3BWDxstdal17b1Kc50ptLlqcWr/O4HztV43vdctvDv8AM4Yj8vFxp9aTkoRtycm7JL52N884cw8JuFF1NCduvVlNu3m+0snBOUx6aLstFGGvstqe0fu/kAz7AfhlQoq7VLDU6d93fTqTb+fuVbLc4UMRPflO3si9YvMlWqTaadttuaS5J+/zKvm/DtN4hV4xSlL4t2k5LlK3K9vYD6llzvSpfu4+yOebv8hW/dy9jXJp3w9G/wD24r0VjnmWL5wX+r+QFKqQbSVubUfV2J/jfG9DTpfouUlfsukrfS5hQUqlJPl0sW/Xb6k5m2VU8VSlSqx1Ql4tNNcpRa3TXeB8rhmik+aOrxKilvffbvb8jwZ/wOsNWl0OKqSjHsqQg2nztqTV/Q1yjByU05Scmu/s+QEpxdX6Ghg+q2vw93ZXtecn92UJUp16ydClVqSk+UITlJvysfUeJ6GroI7dXDU4227r/ci8iw7o16U7cqkW/K9n9LgXLgTJauGw7dZaalRqWi6bhFLZSttfdkTnMLYjEbfn39Yxf3L4iuZhFfiar71FPz0r+gHq4TX/AE9++cvsvsTREZZi1Hqv4W9vBsl7gUvj/MFSsr/FBfRv+hTshxXSRdk3aco7Jvx+5Z/8Q8Eq9SMZWsoRVm7btvlbc1yrL4YWjCnCKSirvxf5zb/vkBG8S5U6dejX3cauGp/KdOCi16aX6kfDFwmtn8+7+pdsTbF4Kdt5UXqjs07RTurc76dS+SPn2Iyim6ursfPTKUb+jA9lPNo05LdXXcfU8mxvT4elU/Tgn59l/nz+ZWcg4Ey6ahVVDpJdqq1atWKl+xKVvVFzjFJJJWS2SXJAUfPcO4YutZfFGNXbxjpf1iy60HeMf2V7ENxJSSlRqdupw8005b/NfVm+S5uqiSvePJPuadmmBNAAAAAObrIi8zz7om4qFVuyd4UatRO/YnGNrkp0Y6MCpUYPESUq8akaSepUeiquU3/5Xpsl+qr+LXI9OT1ZQrYiXRzSk0otwlFNKU3tddzRY+jMOkgPHLMZdkX6HkzGrVq05wXV1K2pXuiX6MdGB82r8F4uT/zqNvGlVv8Axkvh8PXwWGnGEXUk+fRwlrnJ7dr6sUvTmXBwMOPgBTsPgalOjTUoylUhqlLTSqWbnJylG9r83s33HOtJVrU3hsTJOSvejVpxVnzc3ZKxc3E41m0naN3bZePYB56bdKKjFtJK0VySS5bEdj8SqcXJv7tvu8zhWzevZ/8AQ4nV3aY29U7WOGDhWlNVKuFqua3hFumoQ8fi3l49nZ3gZpxqwlFVHHVqpztH8xSl8Lfa1bd/27Ni8zVOE5c3GLdl22RWsfSrzqRlHDz3ShLrU9rS1Rl8Xi180Sjw8pc6f1QFLzDN4Tb68bt3fWXM8OHxa1WTV27c127F0rcKYep8eGoyf61ODf1RpQ4OwtN6oYWjGXY404Ra8mkBFcSZTUxFbpKMqdtEYuM5uNtKteLSezSXYcMBkeJTWqdOMb76ZSqO3gnFItUcpiuUUdFgbdgHup5ndW0/UrmJnUrVZqnKKk3Oa13atFpJbcr7K/Z4kpOhNJ6Y3dtt+35kZleFxFOUpyodZpRS1w6sVvzT3bfsgO+X1+kXc09MovnFrZp+JM0araSu7+DK/jqNfX0lPDSVT861SlpqJfpXa38f6HppY3Eaf/x1dX7VFK/nrA7ZxlmtwqKj01SMla84xkl4OTS252Z5p4KtNpdBKMfzm50W/LaRP0m7K6s7K67n2o6oCu4TBYqnXqtf5dTruT0NxlteLjfddqfmn3kTieAJzm5RxEoJu+lU4SS8Fd8i9o2sBXMiyerhFK1RzcrX1RSW3ckTH4mr3HsUTNgILO4Vq0IqNO7U0/igtrNdr8ThjcFU1urRpTjUfxxbpOFS3a+veMv1l80WRRM2Aisrx9eVlUw86at8Up0Zb93Vk2/OxJqr4G1jOkDXpfAwb6QBtYxYyAMWMNGwA1sYaNrCwGmkzY2sGgNNJh0zpYWA5dEOjOtjGkDl0Q6JHXSNIHJ0jHRHbSNIHHogqR20jSBy6MdGddI0gcujM9GdNIsBoqZnQb2FgNNI0m9hYDWxmxmwsBgzYzYAYSMgAAAAAAAAAAAAAAAAAAAAAAAAAAAAAAAAAAAAAAAAAAAAAAAAAAAAAAAAAAAAAAAAAAAAAAAAAAAAAAAAAAAAAAAAAAAAAAH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0" name="Picture 6" descr="C:\Documents and Settings\Administrator\桌面\后半段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13105" y="2929618"/>
            <a:ext cx="1284292" cy="1284290"/>
          </a:xfrm>
          <a:prstGeom prst="ellipse">
            <a:avLst/>
          </a:prstGeom>
          <a:noFill/>
          <a:ln w="28575">
            <a:solidFill>
              <a:srgbClr val="C08C64"/>
            </a:solidFill>
          </a:ln>
        </p:spPr>
      </p:pic>
      <p:pic>
        <p:nvPicPr>
          <p:cNvPr id="1032" name="Picture 8" descr="C:\Documents and Settings\Administrator\桌面\依赖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73924" y="2929618"/>
            <a:ext cx="1284290" cy="1284290"/>
          </a:xfrm>
          <a:prstGeom prst="ellipse">
            <a:avLst/>
          </a:prstGeom>
          <a:noFill/>
          <a:ln w="28575">
            <a:solidFill>
              <a:srgbClr val="C08C64"/>
            </a:solidFill>
          </a:ln>
        </p:spPr>
      </p:pic>
      <p:pic>
        <p:nvPicPr>
          <p:cNvPr id="1033" name="Picture 9" descr="C:\Documents and Settings\Administrator\桌面\奋斗.jpg"/>
          <p:cNvPicPr>
            <a:picLocks noChangeAspect="1" noChangeArrowheads="1"/>
          </p:cNvPicPr>
          <p:nvPr/>
        </p:nvPicPr>
        <p:blipFill>
          <a:blip r:embed="rId4"/>
          <a:srcRect l="11117" r="13843"/>
          <a:stretch>
            <a:fillRect/>
          </a:stretch>
        </p:blipFill>
        <p:spPr bwMode="auto">
          <a:xfrm>
            <a:off x="2950695" y="2929618"/>
            <a:ext cx="1285884" cy="1285200"/>
          </a:xfrm>
          <a:prstGeom prst="ellipse">
            <a:avLst/>
          </a:prstGeom>
          <a:noFill/>
          <a:ln w="28575">
            <a:solidFill>
              <a:srgbClr val="C08C64"/>
            </a:solidFill>
          </a:ln>
        </p:spPr>
      </p:pic>
      <p:pic>
        <p:nvPicPr>
          <p:cNvPr id="1034" name="Picture 10" descr="C:\Documents and Settings\Administrator\桌面\起跑.jpg"/>
          <p:cNvPicPr>
            <a:picLocks noChangeAspect="1" noChangeArrowheads="1"/>
          </p:cNvPicPr>
          <p:nvPr/>
        </p:nvPicPr>
        <p:blipFill>
          <a:blip r:embed="rId5"/>
          <a:srcRect l="8894" r="11064"/>
          <a:stretch>
            <a:fillRect/>
          </a:stretch>
        </p:blipFill>
        <p:spPr bwMode="auto">
          <a:xfrm>
            <a:off x="888285" y="2929618"/>
            <a:ext cx="1285884" cy="1285200"/>
          </a:xfrm>
          <a:prstGeom prst="ellipse">
            <a:avLst/>
          </a:prstGeom>
          <a:noFill/>
          <a:ln w="28575">
            <a:solidFill>
              <a:srgbClr val="C08C64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穿越悖论的</a:t>
                      </a:r>
                      <a:r>
                        <a:rPr lang="en-US" altLang="zh-CN" sz="1200" dirty="0" smtClean="0"/>
                        <a:t>8</a:t>
                      </a:r>
                      <a:r>
                        <a:rPr lang="zh-CN" altLang="en-US" sz="1200" dirty="0" smtClean="0"/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85786" y="4936030"/>
            <a:ext cx="7572428" cy="1421928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“发现自己有哪些智慧是一回事，应用却是另一回事”</a:t>
            </a:r>
            <a:endParaRPr lang="en-US" altLang="zh-CN" sz="2400" b="1" dirty="0" smtClean="0">
              <a:latin typeface="方正行黑简体" pitchFamily="2" charset="-122"/>
              <a:ea typeface="方正行黑简体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 “</a:t>
            </a:r>
            <a:r>
              <a:rPr lang="en-US" altLang="zh-CN" sz="2400" b="1" dirty="0" smtClean="0">
                <a:solidFill>
                  <a:srgbClr val="C00000"/>
                </a:solidFill>
                <a:latin typeface="方正行黑简体" pitchFamily="2" charset="-122"/>
                <a:ea typeface="方正行黑简体" pitchFamily="2" charset="-122"/>
              </a:rPr>
              <a:t>3C</a:t>
            </a: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应该成为一切教育甜甜圈的核心。很不幸，事实往往不是如此“</a:t>
            </a:r>
            <a:endParaRPr lang="zh-CN" altLang="en-US" sz="2400" b="1" dirty="0">
              <a:latin typeface="方正行黑简体" pitchFamily="2" charset="-122"/>
              <a:ea typeface="方正行黑简体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523751" y="4261840"/>
            <a:ext cx="10294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+mn-ea"/>
              </a:rPr>
              <a:t>掌握</a:t>
            </a:r>
            <a:r>
              <a:rPr lang="en-US" altLang="zh-CN" sz="2000" b="1" dirty="0" smtClean="0">
                <a:solidFill>
                  <a:srgbClr val="C00000"/>
                </a:solidFill>
                <a:latin typeface="+mn-ea"/>
              </a:rPr>
              <a:t>3C</a:t>
            </a:r>
            <a:endParaRPr lang="zh-CN" altLang="en-US" sz="20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214282" y="1285860"/>
            <a:ext cx="2285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8C64"/>
                </a:solidFill>
              </a:rPr>
              <a:t>蹊径</a:t>
            </a:r>
            <a:r>
              <a:rPr lang="en-US" altLang="zh-CN" sz="2400" b="1" dirty="0" smtClean="0">
                <a:solidFill>
                  <a:srgbClr val="C08C64"/>
                </a:solidFill>
              </a:rPr>
              <a:t>7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 </a:t>
            </a:r>
          </a:p>
          <a:p>
            <a:r>
              <a:rPr lang="zh-CN" altLang="en-US" dirty="0" smtClean="0">
                <a:solidFill>
                  <a:srgbClr val="C08C64"/>
                </a:solidFill>
              </a:rPr>
              <a:t>学习型社会</a:t>
            </a:r>
          </a:p>
        </p:txBody>
      </p:sp>
      <p:sp>
        <p:nvSpPr>
          <p:cNvPr id="20" name="椭圆 19"/>
          <p:cNvSpPr/>
          <p:nvPr/>
        </p:nvSpPr>
        <p:spPr>
          <a:xfrm>
            <a:off x="3515800" y="3020461"/>
            <a:ext cx="1767519" cy="1767519"/>
          </a:xfrm>
          <a:prstGeom prst="ellipse">
            <a:avLst/>
          </a:prstGeom>
          <a:solidFill>
            <a:srgbClr val="C08C64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6" name="矩形 15"/>
          <p:cNvSpPr/>
          <p:nvPr/>
        </p:nvSpPr>
        <p:spPr>
          <a:xfrm>
            <a:off x="3357554" y="3488026"/>
            <a:ext cx="2097080" cy="738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C00000"/>
                </a:solidFill>
              </a:rPr>
              <a:t>巩固</a:t>
            </a:r>
          </a:p>
          <a:p>
            <a:pPr algn="ctr"/>
            <a:r>
              <a:rPr lang="en-US" altLang="zh-CN" sz="1400" b="1" dirty="0" smtClean="0"/>
              <a:t>Consolidating</a:t>
            </a:r>
            <a:endParaRPr lang="en-US" altLang="zh-CN" sz="1400" b="1" dirty="0"/>
          </a:p>
        </p:txBody>
      </p:sp>
      <p:sp>
        <p:nvSpPr>
          <p:cNvPr id="17" name="椭圆 16"/>
          <p:cNvSpPr/>
          <p:nvPr/>
        </p:nvSpPr>
        <p:spPr>
          <a:xfrm>
            <a:off x="4491752" y="1874990"/>
            <a:ext cx="1767519" cy="1767519"/>
          </a:xfrm>
          <a:prstGeom prst="ellipse">
            <a:avLst/>
          </a:prstGeom>
          <a:solidFill>
            <a:srgbClr val="C08C64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/>
          </a:p>
        </p:txBody>
      </p:sp>
      <p:sp>
        <p:nvSpPr>
          <p:cNvPr id="15" name="矩形 14"/>
          <p:cNvSpPr/>
          <p:nvPr/>
        </p:nvSpPr>
        <p:spPr>
          <a:xfrm>
            <a:off x="4326972" y="2362194"/>
            <a:ext cx="20970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C00000"/>
                </a:solidFill>
              </a:rPr>
              <a:t>协调</a:t>
            </a:r>
          </a:p>
          <a:p>
            <a:pPr algn="ctr"/>
            <a:r>
              <a:rPr lang="en-US" altLang="zh-CN" sz="1400" b="1" dirty="0" smtClean="0"/>
              <a:t>Coordinating</a:t>
            </a:r>
            <a:endParaRPr lang="en-US" altLang="zh-CN" sz="1400" b="1" dirty="0"/>
          </a:p>
        </p:txBody>
      </p:sp>
      <p:grpSp>
        <p:nvGrpSpPr>
          <p:cNvPr id="19" name="组合 18"/>
          <p:cNvGrpSpPr/>
          <p:nvPr/>
        </p:nvGrpSpPr>
        <p:grpSpPr>
          <a:xfrm>
            <a:off x="2396218" y="1856057"/>
            <a:ext cx="2160000" cy="1767519"/>
            <a:chOff x="1785918" y="2803754"/>
            <a:chExt cx="1928826" cy="993776"/>
          </a:xfrm>
        </p:grpSpPr>
        <p:sp>
          <p:nvSpPr>
            <p:cNvPr id="14" name="椭圆 13"/>
            <p:cNvSpPr/>
            <p:nvPr/>
          </p:nvSpPr>
          <p:spPr>
            <a:xfrm>
              <a:off x="1961155" y="2803754"/>
              <a:ext cx="1578350" cy="993776"/>
            </a:xfrm>
            <a:prstGeom prst="ellipse">
              <a:avLst/>
            </a:prstGeom>
            <a:solidFill>
              <a:srgbClr val="C08C64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b="1"/>
            </a:p>
          </p:txBody>
        </p:sp>
        <p:sp>
          <p:nvSpPr>
            <p:cNvPr id="13" name="矩形 12"/>
            <p:cNvSpPr/>
            <p:nvPr/>
          </p:nvSpPr>
          <p:spPr>
            <a:xfrm>
              <a:off x="1785918" y="3048656"/>
              <a:ext cx="1928826" cy="5284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dirty="0" smtClean="0">
                  <a:solidFill>
                    <a:srgbClr val="C00000"/>
                  </a:solidFill>
                </a:rPr>
                <a:t>概念化</a:t>
              </a:r>
            </a:p>
            <a:p>
              <a:pPr algn="ctr"/>
              <a:r>
                <a:rPr lang="en-US" altLang="zh-CN" sz="1400" b="1" dirty="0" err="1" smtClean="0"/>
                <a:t>Conceptualising</a:t>
              </a:r>
              <a:endParaRPr lang="en-US" altLang="zh-CN" sz="14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穿越悖论的</a:t>
                      </a:r>
                      <a:r>
                        <a:rPr lang="en-US" altLang="zh-CN" sz="1200" dirty="0" smtClean="0"/>
                        <a:t>8</a:t>
                      </a:r>
                      <a:r>
                        <a:rPr lang="zh-CN" altLang="en-US" sz="1200" dirty="0" smtClean="0"/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214546" y="5286388"/>
            <a:ext cx="4786346" cy="461665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</a:t>
            </a:r>
            <a:r>
              <a:rPr lang="zh-CN" altLang="en-US" sz="2400" b="1" dirty="0" smtClean="0">
                <a:solidFill>
                  <a:srgbClr val="C00000"/>
                </a:solidFill>
                <a:latin typeface="方正行黑简体" pitchFamily="2" charset="-122"/>
                <a:ea typeface="方正行黑简体" pitchFamily="2" charset="-122"/>
              </a:rPr>
              <a:t>金钱</a:t>
            </a: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不是衡量一切事物的尺度”</a:t>
            </a:r>
            <a:endParaRPr lang="en-US" altLang="zh-CN" sz="2400" b="1" dirty="0" smtClean="0">
              <a:latin typeface="方正行黑简体" pitchFamily="2" charset="-122"/>
              <a:ea typeface="方正行黑简体" pitchFamily="2" charset="-122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 smtClean="0"/>
              <a:t>《</a:t>
            </a:r>
            <a:r>
              <a:rPr lang="zh-CN" altLang="en-US" dirty="0" smtClean="0"/>
              <a:t>空雨衣</a:t>
            </a:r>
            <a:r>
              <a:rPr lang="en-US" altLang="zh-CN" dirty="0" smtClean="0"/>
              <a:t>》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14282" y="1285860"/>
            <a:ext cx="2285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8C64"/>
                </a:solidFill>
              </a:rPr>
              <a:t>蹊径</a:t>
            </a:r>
            <a:r>
              <a:rPr lang="en-US" altLang="zh-CN" sz="2400" b="1" dirty="0" smtClean="0">
                <a:solidFill>
                  <a:srgbClr val="C08C64"/>
                </a:solidFill>
              </a:rPr>
              <a:t>8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 </a:t>
            </a:r>
          </a:p>
          <a:p>
            <a:r>
              <a:rPr lang="zh-CN" altLang="en-US" dirty="0" smtClean="0">
                <a:solidFill>
                  <a:srgbClr val="C08C64"/>
                </a:solidFill>
              </a:rPr>
              <a:t>建立公平的记分卡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2884322" y="3513529"/>
            <a:ext cx="3286148" cy="197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rot="5400000">
            <a:off x="3072710" y="3606978"/>
            <a:ext cx="2952000" cy="197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7" descr="F:\全局（PPT、照片、资料共享、制度）\ppt\其他（案例、工具、矢量图）\PPT素材（图表及矢量图）\png图标和矢量图\1000个常用嗾标\1000个常用嗾标-540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2138362"/>
            <a:ext cx="1219200" cy="1219200"/>
          </a:xfrm>
          <a:prstGeom prst="rect">
            <a:avLst/>
          </a:prstGeom>
          <a:noFill/>
        </p:spPr>
      </p:pic>
      <p:pic>
        <p:nvPicPr>
          <p:cNvPr id="16" name="Picture 7" descr="F:\全局（PPT、照片、资料共享、制度）\ppt\其他（案例、工具、矢量图）\PPT素材（图表及矢量图）\png图标和矢量图\1000个常用嗾标\1000个常用嗾标-540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3781436"/>
            <a:ext cx="1219200" cy="1219200"/>
          </a:xfrm>
          <a:prstGeom prst="rect">
            <a:avLst/>
          </a:prstGeom>
          <a:noFill/>
        </p:spPr>
      </p:pic>
      <p:pic>
        <p:nvPicPr>
          <p:cNvPr id="17" name="Picture 7" descr="F:\全局（PPT、照片、资料共享、制度）\ppt\其他（案例、工具、矢量图）\PPT素材（图表及矢量图）\png图标和矢量图\1000个常用嗾标\1000个常用嗾标-540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1802" y="3781436"/>
            <a:ext cx="1219200" cy="1219200"/>
          </a:xfrm>
          <a:prstGeom prst="rect">
            <a:avLst/>
          </a:prstGeom>
          <a:noFill/>
        </p:spPr>
      </p:pic>
      <p:pic>
        <p:nvPicPr>
          <p:cNvPr id="1032" name="Picture 8" descr="F:\全局（PPT、照片、资料共享、制度）\ppt\其他（案例、工具、矢量图）\PPT素材（图表及矢量图）\png图标和矢量图\1000个常用嗾标\1000个常用嗾标-604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38486" y="2143116"/>
            <a:ext cx="1219200" cy="121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2123348"/>
            <a:ext cx="9144000" cy="2000548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noAutofit/>
          </a:bodyPr>
          <a:lstStyle/>
          <a:p>
            <a:pPr algn="ctr"/>
            <a:r>
              <a:rPr lang="zh-CN" alt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第四部分</a:t>
            </a:r>
            <a:endParaRPr lang="en-US" altLang="zh-CN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CN" alt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找寻人生的</a:t>
            </a:r>
            <a:r>
              <a:rPr lang="zh-CN" altLang="en-US" sz="6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意义</a:t>
            </a:r>
            <a:endParaRPr lang="zh-CN" altLang="en-US" sz="44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14282" y="1558341"/>
            <a:ext cx="2285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C08C64"/>
                </a:solidFill>
              </a:defRPr>
            </a:lvl1pPr>
          </a:lstStyle>
          <a:p>
            <a:r>
              <a:rPr lang="zh-CN" altLang="en-US" dirty="0"/>
              <a:t>延续感</a:t>
            </a:r>
            <a:r>
              <a:rPr lang="en-US" altLang="zh-CN" dirty="0"/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0232" y="4857760"/>
            <a:ext cx="5429288" cy="978729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“若非怀抱着‘</a:t>
            </a:r>
            <a:r>
              <a:rPr lang="zh-CN" altLang="en-US" sz="2400" b="1" dirty="0" smtClean="0">
                <a:solidFill>
                  <a:srgbClr val="C00000"/>
                </a:solidFill>
                <a:latin typeface="方正行黑简体" pitchFamily="2" charset="-122"/>
                <a:ea typeface="方正行黑简体" pitchFamily="2" charset="-122"/>
              </a:rPr>
              <a:t>延续感</a:t>
            </a:r>
            <a:r>
              <a:rPr lang="en-US" altLang="zh-CN" sz="2400" b="1" dirty="0" smtClean="0">
                <a:latin typeface="方正行黑简体" pitchFamily="2" charset="-122"/>
                <a:ea typeface="方正行黑简体" pitchFamily="2" charset="-122"/>
              </a:rPr>
              <a:t>’</a:t>
            </a: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，任何为了未来而牺牲眼前的做法都毫无意义”</a:t>
            </a:r>
            <a:endParaRPr lang="en-US" altLang="zh-CN" sz="2400" b="1" dirty="0" smtClean="0">
              <a:latin typeface="方正行黑简体" pitchFamily="2" charset="-122"/>
              <a:ea typeface="方正行黑简体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701845" y="2226428"/>
            <a:ext cx="3420538" cy="2438380"/>
            <a:chOff x="2701845" y="2226428"/>
            <a:chExt cx="3420538" cy="2438380"/>
          </a:xfrm>
        </p:grpSpPr>
        <p:sp>
          <p:nvSpPr>
            <p:cNvPr id="10" name="椭圆 9"/>
            <p:cNvSpPr/>
            <p:nvPr/>
          </p:nvSpPr>
          <p:spPr>
            <a:xfrm rot="895844">
              <a:off x="3105974" y="4179651"/>
              <a:ext cx="324000" cy="324000"/>
            </a:xfrm>
            <a:prstGeom prst="ellipse">
              <a:avLst/>
            </a:prstGeom>
            <a:solidFill>
              <a:srgbClr val="C08C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 rot="895844">
              <a:off x="3478345" y="3897929"/>
              <a:ext cx="360000" cy="360000"/>
            </a:xfrm>
            <a:prstGeom prst="ellipse">
              <a:avLst/>
            </a:prstGeom>
            <a:solidFill>
              <a:srgbClr val="C08C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 rot="895844">
              <a:off x="3852924" y="3620237"/>
              <a:ext cx="432000" cy="432000"/>
            </a:xfrm>
            <a:prstGeom prst="ellipse">
              <a:avLst/>
            </a:prstGeom>
            <a:solidFill>
              <a:srgbClr val="C08C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 rot="895844">
              <a:off x="4262011" y="3261048"/>
              <a:ext cx="540000" cy="540000"/>
            </a:xfrm>
            <a:prstGeom prst="ellipse">
              <a:avLst/>
            </a:prstGeom>
            <a:solidFill>
              <a:srgbClr val="C08C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 rot="895844">
              <a:off x="5294383" y="2226428"/>
              <a:ext cx="828000" cy="828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 rot="895844">
              <a:off x="2701845" y="4556808"/>
              <a:ext cx="108000" cy="108000"/>
            </a:xfrm>
            <a:prstGeom prst="ellipse">
              <a:avLst/>
            </a:prstGeom>
            <a:solidFill>
              <a:srgbClr val="C08C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 rot="895844">
              <a:off x="2875540" y="4424864"/>
              <a:ext cx="180000" cy="180000"/>
            </a:xfrm>
            <a:prstGeom prst="ellipse">
              <a:avLst/>
            </a:prstGeom>
            <a:solidFill>
              <a:srgbClr val="C08C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 rot="895844">
              <a:off x="4702729" y="2783768"/>
              <a:ext cx="648000" cy="648000"/>
            </a:xfrm>
            <a:prstGeom prst="ellipse">
              <a:avLst/>
            </a:prstGeom>
            <a:solidFill>
              <a:srgbClr val="C08C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14282" y="1558341"/>
            <a:ext cx="2285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C08C64"/>
                </a:solidFill>
              </a:rPr>
              <a:t>联结感</a:t>
            </a:r>
            <a:r>
              <a:rPr lang="en-US" altLang="zh-CN" sz="4000" b="1" dirty="0" smtClean="0">
                <a:solidFill>
                  <a:srgbClr val="C08C64"/>
                </a:solidFill>
              </a:rPr>
              <a:t> </a:t>
            </a:r>
          </a:p>
        </p:txBody>
      </p:sp>
      <p:sp>
        <p:nvSpPr>
          <p:cNvPr id="9" name="椭圆 8"/>
          <p:cNvSpPr/>
          <p:nvPr/>
        </p:nvSpPr>
        <p:spPr>
          <a:xfrm>
            <a:off x="2285984" y="2877907"/>
            <a:ext cx="785818" cy="673558"/>
          </a:xfrm>
          <a:prstGeom prst="ellipse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043227" y="2877907"/>
            <a:ext cx="785818" cy="673558"/>
          </a:xfrm>
          <a:prstGeom prst="ellipse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3800470" y="2877907"/>
            <a:ext cx="785818" cy="67355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4557713" y="2877907"/>
            <a:ext cx="785818" cy="673558"/>
          </a:xfrm>
          <a:prstGeom prst="ellipse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5314956" y="2877907"/>
            <a:ext cx="785818" cy="673558"/>
          </a:xfrm>
          <a:prstGeom prst="ellipse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6072198" y="2877907"/>
            <a:ext cx="785818" cy="673558"/>
          </a:xfrm>
          <a:prstGeom prst="ellipse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428860" y="4214818"/>
            <a:ext cx="4429156" cy="1569660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“在未来的世界里，我们越来越有必要创造自己的</a:t>
            </a:r>
            <a:r>
              <a:rPr lang="zh-CN" altLang="en-US" sz="2400" b="1" dirty="0" smtClean="0">
                <a:solidFill>
                  <a:srgbClr val="C00000"/>
                </a:solidFill>
                <a:latin typeface="方正行黑简体" pitchFamily="2" charset="-122"/>
                <a:ea typeface="方正行黑简体" pitchFamily="2" charset="-122"/>
              </a:rPr>
              <a:t>联结关系</a:t>
            </a: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以及自己的‘虚拟城市’与自己的‘虚拟村落’”</a:t>
            </a:r>
            <a:endParaRPr lang="en-US" altLang="zh-CN" sz="2400" b="1" dirty="0" smtClean="0">
              <a:latin typeface="方正行黑简体" pitchFamily="2" charset="-122"/>
              <a:ea typeface="方正行黑简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857232"/>
            <a:ext cx="9144000" cy="71438"/>
          </a:xfrm>
          <a:prstGeom prst="rect">
            <a:avLst/>
          </a:prstGeom>
          <a:solidFill>
            <a:srgbClr val="C08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-32" y="400032"/>
          <a:ext cx="742955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388"/>
                <a:gridCol w="1857388"/>
                <a:gridCol w="1857388"/>
                <a:gridCol w="18573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第一部分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迷思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第二部分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平衡悖论的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种途径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第三部分</a:t>
                      </a:r>
                    </a:p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穿越悖论的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种蹊径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>
                        <a:alpha val="4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/>
                        <a:t>第四部分</a:t>
                      </a:r>
                    </a:p>
                    <a:p>
                      <a:pPr algn="ctr"/>
                      <a:r>
                        <a:rPr lang="zh-CN" altLang="en-US" sz="1200" dirty="0" smtClean="0"/>
                        <a:t>找寻人生的意义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8C64"/>
                    </a:solidFill>
                  </a:tcPr>
                </a:tc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《</a:t>
            </a:r>
            <a:r>
              <a:rPr lang="zh-CN" altLang="en-US" smtClean="0"/>
              <a:t>空雨衣</a:t>
            </a:r>
            <a:r>
              <a:rPr lang="en-US" altLang="zh-CN" smtClean="0"/>
              <a:t>》</a:t>
            </a:r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14282" y="1558341"/>
            <a:ext cx="2285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C08C64"/>
                </a:solidFill>
              </a:rPr>
              <a:t>方向感</a:t>
            </a:r>
            <a:r>
              <a:rPr lang="en-US" altLang="zh-CN" sz="3200" b="1" dirty="0" smtClean="0">
                <a:solidFill>
                  <a:srgbClr val="C08C64"/>
                </a:solidFill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8476" y="4650180"/>
            <a:ext cx="6347048" cy="1421928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“在社会安适环境下，很难找到一个伟大目标，可以让过惯安逸日子的人民努力奋斗”</a:t>
            </a:r>
            <a:endParaRPr lang="en-US" altLang="zh-CN" sz="2400" b="1" dirty="0" smtClean="0">
              <a:latin typeface="方正行黑简体" pitchFamily="2" charset="-122"/>
              <a:ea typeface="方正行黑简体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“我们必须在自己的地方找到自己的</a:t>
            </a:r>
            <a:r>
              <a:rPr lang="zh-CN" altLang="en-US" sz="2400" b="1" dirty="0" smtClean="0">
                <a:solidFill>
                  <a:srgbClr val="C00000"/>
                </a:solidFill>
                <a:latin typeface="方正行黑简体" pitchFamily="2" charset="-122"/>
                <a:ea typeface="方正行黑简体" pitchFamily="2" charset="-122"/>
              </a:rPr>
              <a:t>新方向</a:t>
            </a:r>
            <a:r>
              <a:rPr lang="zh-CN" altLang="en-US" sz="2400" b="1" dirty="0" smtClean="0">
                <a:latin typeface="方正行黑简体" pitchFamily="2" charset="-122"/>
                <a:ea typeface="方正行黑简体" pitchFamily="2" charset="-122"/>
              </a:rPr>
              <a:t>”</a:t>
            </a:r>
            <a:endParaRPr lang="en-US" altLang="zh-CN" sz="2400" b="1" dirty="0" smtClean="0">
              <a:latin typeface="方正行黑简体" pitchFamily="2" charset="-122"/>
              <a:ea typeface="方正行黑简体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55231">
            <a:off x="2413328" y="2289534"/>
            <a:ext cx="4317344" cy="20495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71200" y="4626230"/>
            <a:ext cx="5772799" cy="707886"/>
          </a:xfrm>
          <a:prstGeom prst="rect">
            <a:avLst/>
          </a:prstGeom>
          <a:solidFill>
            <a:srgbClr val="C08C64"/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</a:rPr>
              <a:t> 这是一个觉醒的年代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r>
              <a:rPr lang="zh-CN" altLang="en-US" sz="2000" b="1" dirty="0" smtClean="0">
                <a:solidFill>
                  <a:schemeClr val="bg1"/>
                </a:solidFill>
              </a:rPr>
              <a:t> 我们不要做有名无实的空雨衣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pic>
        <p:nvPicPr>
          <p:cNvPr id="5" name="Picture 2" descr="H:\空雨衣\u=2717349002,203847789&amp;fm=15&amp;gp=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221" y="1500174"/>
            <a:ext cx="3034178" cy="3836318"/>
          </a:xfrm>
          <a:prstGeom prst="rect">
            <a:avLst/>
          </a:prstGeom>
          <a:noFill/>
        </p:spPr>
      </p:pic>
      <p:sp>
        <p:nvSpPr>
          <p:cNvPr id="6" name="矩形 5"/>
          <p:cNvSpPr/>
          <p:nvPr/>
        </p:nvSpPr>
        <p:spPr>
          <a:xfrm>
            <a:off x="3131840" y="3418333"/>
            <a:ext cx="364715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b="1" dirty="0" smtClean="0">
                <a:solidFill>
                  <a:srgbClr val="C08C64"/>
                </a:solidFill>
              </a:rPr>
              <a:t>《</a:t>
            </a:r>
            <a:r>
              <a:rPr lang="zh-CN" altLang="en-US" sz="5400" b="1" dirty="0" smtClean="0">
                <a:solidFill>
                  <a:srgbClr val="C08C64"/>
                </a:solidFill>
              </a:rPr>
              <a:t>空雨衣</a:t>
            </a:r>
            <a:r>
              <a:rPr lang="en-US" altLang="zh-CN" sz="5400" b="1" dirty="0" smtClean="0">
                <a:solidFill>
                  <a:srgbClr val="C08C64"/>
                </a:solidFill>
              </a:rPr>
              <a:t>》</a:t>
            </a:r>
            <a:endParaRPr lang="zh-CN" altLang="en-US" sz="5400" dirty="0">
              <a:solidFill>
                <a:srgbClr val="C08C64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91880" y="3074841"/>
            <a:ext cx="20201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C08C64"/>
                </a:solidFill>
              </a:rPr>
              <a:t>查尔斯</a:t>
            </a:r>
            <a:r>
              <a:rPr lang="en-US" altLang="zh-CN" sz="2000" dirty="0" smtClean="0">
                <a:solidFill>
                  <a:srgbClr val="C08C64"/>
                </a:solidFill>
                <a:latin typeface="微软雅黑"/>
                <a:ea typeface="微软雅黑"/>
                <a:sym typeface="Wingdings"/>
              </a:rPr>
              <a:t></a:t>
            </a:r>
            <a:r>
              <a:rPr lang="zh-CN" altLang="en-US" sz="2000" dirty="0" smtClean="0">
                <a:solidFill>
                  <a:srgbClr val="C08C64"/>
                </a:solidFill>
                <a:latin typeface="微软雅黑"/>
                <a:ea typeface="微软雅黑"/>
                <a:sym typeface="Wingdings"/>
              </a:rPr>
              <a:t>汉</a:t>
            </a:r>
            <a:r>
              <a:rPr lang="zh-CN" altLang="en-US" sz="2000" dirty="0" smtClean="0">
                <a:solidFill>
                  <a:srgbClr val="C08C64"/>
                </a:solidFill>
              </a:rPr>
              <a:t>迪  著</a:t>
            </a:r>
            <a:endParaRPr lang="zh-CN" altLang="en-US" sz="2000" dirty="0">
              <a:solidFill>
                <a:srgbClr val="C08C6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91880" y="5445224"/>
            <a:ext cx="5012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8C64"/>
                </a:solidFill>
              </a:rPr>
              <a:t>微  博：</a:t>
            </a:r>
            <a:r>
              <a:rPr lang="en-US" altLang="zh-CN" dirty="0" smtClean="0">
                <a:solidFill>
                  <a:srgbClr val="C08C64"/>
                </a:solidFill>
              </a:rPr>
              <a:t>@</a:t>
            </a:r>
            <a:r>
              <a:rPr lang="en-US" altLang="zh-CN" dirty="0" err="1" smtClean="0">
                <a:solidFill>
                  <a:srgbClr val="C08C64"/>
                </a:solidFill>
              </a:rPr>
              <a:t>biangbiang</a:t>
            </a:r>
            <a:endParaRPr lang="en-US" altLang="zh-CN" dirty="0" smtClean="0">
              <a:solidFill>
                <a:srgbClr val="C08C64"/>
              </a:solidFill>
            </a:endParaRPr>
          </a:p>
          <a:p>
            <a:r>
              <a:rPr lang="en-US" altLang="zh-CN" dirty="0" smtClean="0">
                <a:solidFill>
                  <a:srgbClr val="C08C64"/>
                </a:solidFill>
              </a:rPr>
              <a:t>Email</a:t>
            </a:r>
            <a:r>
              <a:rPr lang="zh-CN" altLang="en-US" dirty="0" smtClean="0">
                <a:solidFill>
                  <a:srgbClr val="C08C64"/>
                </a:solidFill>
              </a:rPr>
              <a:t>：</a:t>
            </a:r>
            <a:r>
              <a:rPr lang="en-US" altLang="zh-CN" dirty="0" smtClean="0">
                <a:solidFill>
                  <a:srgbClr val="C08C64"/>
                </a:solidFill>
              </a:rPr>
              <a:t>loveyourgame1234@163.com</a:t>
            </a:r>
            <a:endParaRPr lang="zh-CN" altLang="en-US" dirty="0">
              <a:solidFill>
                <a:srgbClr val="C08C6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528" y="-34549"/>
            <a:ext cx="9324528" cy="687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3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54912"/>
            <a:ext cx="91440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你也想免费得到出版社赠书做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读书笔记？</a:t>
            </a:r>
            <a:endParaRPr lang="zh-CN" altLang="en-US" sz="2400" dirty="0">
              <a:solidFill>
                <a:prstClr val="black"/>
              </a:solidFill>
              <a:latin typeface="微软雅黑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22812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4893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79370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380" y="4139575"/>
            <a:ext cx="9144000" cy="216982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 友情提示：马上就去新浪微博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8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1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、关注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时间卡片  ，可以看到其它学员读书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制作约定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2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、搜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#PPT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读书笔记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标签，可以看到其它学员已经提交的读书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PPT</a:t>
            </a: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3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、搜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PPT#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标签，可以看到其它学员已经提交的作业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PPT</a:t>
            </a: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4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、国内主流出版社都已经和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秋叶 老师合作，有本事，不花钱好书随时让你选！</a:t>
            </a:r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23410" y="4509150"/>
            <a:ext cx="8497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07380" y="2024805"/>
            <a:ext cx="1944270" cy="1341376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购买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99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元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网易云课堂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在线课程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81146" y="2024805"/>
            <a:ext cx="1944270" cy="1341376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购买后去微博私信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秋叶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要福利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QQ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群号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17672" y="2024805"/>
            <a:ext cx="1944270" cy="1341376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新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浪微博晒作业被老师肯定奖励内部选书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865719" y="2024805"/>
            <a:ext cx="1944270" cy="1341376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出版社寄书到后约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时间卡片 晒读书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9188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79" y="4077072"/>
            <a:ext cx="9169004" cy="1607344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232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91989">
                <a:defRPr/>
              </a:pPr>
              <a:r>
                <a:rPr lang="en-US" altLang="zh-CN" sz="1400" kern="0" dirty="0" smtClean="0">
                  <a:solidFill>
                    <a:prstClr val="black"/>
                  </a:solidFill>
                </a:rPr>
                <a:t/>
              </a:r>
              <a:br>
                <a:rPr lang="en-US" altLang="zh-CN" sz="1400" kern="0" dirty="0" smtClean="0">
                  <a:solidFill>
                    <a:prstClr val="black"/>
                  </a:solidFill>
                </a:rPr>
              </a:br>
              <a:endParaRPr lang="en-US" altLang="zh-CN" sz="1400" kern="0" dirty="0" smtClean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50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0" y="3613173"/>
              <a:ext cx="59412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30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60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496470" cy="906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5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40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8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5"/>
              <a:ext cx="1596629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0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50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8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0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2" y="4353742"/>
              <a:ext cx="3070071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50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367521" y="908720"/>
            <a:ext cx="64089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600" b="1" dirty="0" smtClean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</a:t>
            </a:r>
            <a:r>
              <a:rPr lang="zh-CN" altLang="en-US" sz="3600" b="1" dirty="0" smtClean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叶一起学</a:t>
            </a:r>
            <a:r>
              <a:rPr lang="en-US" altLang="zh-CN" sz="3600" b="1" dirty="0" smtClean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3000"/>
              </a:spcBef>
            </a:pPr>
            <a:r>
              <a:rPr lang="zh-CN" altLang="en-US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036</a:t>
            </a:r>
            <a:r>
              <a:rPr lang="zh-CN" altLang="en-US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4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3000"/>
              </a:spcBef>
            </a:pPr>
            <a:r>
              <a:rPr lang="zh-CN" altLang="en-US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8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614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999</TotalTime>
  <Words>2118</Words>
  <Application>Microsoft Office PowerPoint</Application>
  <PresentationFormat>全屏显示(4:3)</PresentationFormat>
  <Paragraphs>420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方正行黑简体</vt:lpstr>
      <vt:lpstr>方正正黑简体</vt:lpstr>
      <vt:lpstr>方正正中黑简体</vt:lpstr>
      <vt:lpstr>宋体</vt:lpstr>
      <vt:lpstr>微软雅黑</vt:lpstr>
      <vt:lpstr>Arial</vt:lpstr>
      <vt:lpstr>Calibri</vt:lpstr>
      <vt:lpstr>Verdana</vt:lpstr>
      <vt:lpstr>Wingdings</vt:lpstr>
      <vt:lpstr>Office 主题</vt:lpstr>
      <vt:lpstr>Office 主题​​</vt:lpstr>
      <vt:lpstr>1_默认设计模板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cp:lastModifiedBy>小巴</cp:lastModifiedBy>
  <cp:revision>162</cp:revision>
  <dcterms:modified xsi:type="dcterms:W3CDTF">2014-02-27T08:23:38Z</dcterms:modified>
</cp:coreProperties>
</file>