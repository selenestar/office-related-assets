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68" r:id="rId3"/>
    <p:sldId id="257" r:id="rId4"/>
    <p:sldId id="261" r:id="rId5"/>
    <p:sldId id="262" r:id="rId6"/>
    <p:sldId id="263" r:id="rId7"/>
    <p:sldId id="276" r:id="rId8"/>
    <p:sldId id="277" r:id="rId9"/>
    <p:sldId id="264" r:id="rId10"/>
    <p:sldId id="267" r:id="rId11"/>
    <p:sldId id="266" r:id="rId12"/>
    <p:sldId id="269" r:id="rId13"/>
    <p:sldId id="271" r:id="rId14"/>
    <p:sldId id="272" r:id="rId15"/>
    <p:sldId id="270" r:id="rId16"/>
    <p:sldId id="278" r:id="rId17"/>
    <p:sldId id="273" r:id="rId18"/>
    <p:sldId id="274" r:id="rId19"/>
    <p:sldId id="265" r:id="rId20"/>
    <p:sldId id="279" r:id="rId21"/>
    <p:sldId id="280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89FF"/>
    <a:srgbClr val="FF1800"/>
    <a:srgbClr val="FF3939"/>
    <a:srgbClr val="0F5B82"/>
    <a:srgbClr val="FF4352"/>
    <a:srgbClr val="FF4B64"/>
    <a:srgbClr val="FF6B64"/>
    <a:srgbClr val="E52F2B"/>
    <a:srgbClr val="FFDC1E"/>
    <a:srgbClr val="FFE1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647" autoAdjust="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>
        <p:guide orient="horz" pos="211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50400" cy="504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B8992C-C1A8-4937-B3E9-8950C95D294D}" type="datetimeFigureOut">
              <a:rPr lang="zh-CN" altLang="en-US" smtClean="0"/>
              <a:t>2014/5/27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EF851A-F4B7-4A2B-A01C-0F2765673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569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F851A-F4B7-4A2B-A01C-0F2765673DD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164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排版修改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F851A-F4B7-4A2B-A01C-0F2765673DD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149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内容太多，重点句子和词语加粗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F851A-F4B7-4A2B-A01C-0F2765673DD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142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F851A-F4B7-4A2B-A01C-0F2765673DD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064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F851A-F4B7-4A2B-A01C-0F2765673DD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7673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F851A-F4B7-4A2B-A01C-0F2765673DD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332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排版修改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F851A-F4B7-4A2B-A01C-0F2765673DDC}" type="slidenum">
              <a:rPr lang="zh-CN" altLang="en-US" smtClean="0">
                <a:solidFill>
                  <a:prstClr val="black"/>
                </a:solidFill>
              </a:rPr>
              <a:pPr/>
              <a:t>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1873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F851A-F4B7-4A2B-A01C-0F2765673DD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766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排版修改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F851A-F4B7-4A2B-A01C-0F2765673DDC}" type="slidenum">
              <a:rPr lang="zh-CN" altLang="en-US" smtClean="0">
                <a:solidFill>
                  <a:prstClr val="black"/>
                </a:solidFill>
              </a:rPr>
              <a:pPr/>
              <a:t>15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501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F851A-F4B7-4A2B-A01C-0F2765673DD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6809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F851A-F4B7-4A2B-A01C-0F2765673DD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541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E938-7776-4C9A-9626-FDC2B9FFA580}" type="datetimeFigureOut">
              <a:rPr lang="zh-CN" altLang="en-US" smtClean="0"/>
              <a:t>2014/5/27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859D6-59C9-439B-8B66-9A2E1961D6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573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E938-7776-4C9A-9626-FDC2B9FFA580}" type="datetimeFigureOut">
              <a:rPr lang="zh-CN" altLang="en-US" smtClean="0"/>
              <a:t>2014/5/27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859D6-59C9-439B-8B66-9A2E1961D6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581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E938-7776-4C9A-9626-FDC2B9FFA580}" type="datetimeFigureOut">
              <a:rPr lang="zh-CN" altLang="en-US" smtClean="0"/>
              <a:t>2014/5/27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859D6-59C9-439B-8B66-9A2E1961D6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691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E938-7776-4C9A-9626-FDC2B9FFA580}" type="datetimeFigureOut">
              <a:rPr lang="zh-CN" altLang="en-US" smtClean="0"/>
              <a:t>2014/5/27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859D6-59C9-439B-8B66-9A2E1961D6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952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E938-7776-4C9A-9626-FDC2B9FFA580}" type="datetimeFigureOut">
              <a:rPr lang="zh-CN" altLang="en-US" smtClean="0"/>
              <a:t>2014/5/27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859D6-59C9-439B-8B66-9A2E1961D6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256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E938-7776-4C9A-9626-FDC2B9FFA580}" type="datetimeFigureOut">
              <a:rPr lang="zh-CN" altLang="en-US" smtClean="0"/>
              <a:t>2014/5/27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859D6-59C9-439B-8B66-9A2E1961D6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0103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E938-7776-4C9A-9626-FDC2B9FFA580}" type="datetimeFigureOut">
              <a:rPr lang="zh-CN" altLang="en-US" smtClean="0"/>
              <a:t>2014/5/27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859D6-59C9-439B-8B66-9A2E1961D6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253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E938-7776-4C9A-9626-FDC2B9FFA580}" type="datetimeFigureOut">
              <a:rPr lang="zh-CN" altLang="en-US" smtClean="0"/>
              <a:t>2014/5/27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859D6-59C9-439B-8B66-9A2E1961D6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610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E938-7776-4C9A-9626-FDC2B9FFA580}" type="datetimeFigureOut">
              <a:rPr lang="zh-CN" altLang="en-US" smtClean="0"/>
              <a:t>2014/5/27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859D6-59C9-439B-8B66-9A2E1961D6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15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E938-7776-4C9A-9626-FDC2B9FFA580}" type="datetimeFigureOut">
              <a:rPr lang="zh-CN" altLang="en-US" smtClean="0"/>
              <a:t>2014/5/27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859D6-59C9-439B-8B66-9A2E1961D6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908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E938-7776-4C9A-9626-FDC2B9FFA580}" type="datetimeFigureOut">
              <a:rPr lang="zh-CN" altLang="en-US" smtClean="0"/>
              <a:t>2014/5/27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859D6-59C9-439B-8B66-9A2E1961D6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793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84C2EC-F852-470A-A9DD-86F0A59AC289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0889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BA8B93-8351-4898-BB24-564053CE230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511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B5B81E-7CF0-4F5B-9FF8-B9F51549063A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737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ED4D57-6B8A-480D-AA65-EF318E8BA923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5703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4"/>
            <a:ext cx="5183188" cy="82391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2F1E0D-3DB7-4B98-B5A2-0BD6175C0CFB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3656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7E9454-2E4F-4179-AC26-B45346A8E5E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5037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A2A7E-54E6-4B9A-B9F2-26045CE35D3E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85516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7" cy="1600201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3932237" cy="3811589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CF94B2-F66F-4EE6-B1E1-D241C68DB758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7004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7" cy="1600201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3932237" cy="3811589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BB78EF-B977-4F0E-A8A5-6144ED39888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416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183D7-0B93-4594-ACC5-74436FEF7CD1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1500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8372D8-672D-457D-A7E8-104FA1A9EB7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233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FE938-7776-4C9A-9626-FDC2B9FFA580}" type="datetimeFigureOut">
              <a:rPr lang="zh-CN" altLang="en-US" smtClean="0"/>
              <a:t>2014/5/27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859D6-59C9-439B-8B66-9A2E1961D6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21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B7F8D54-5516-4B2E-AB95-6F67C90F4696}" type="slidenum">
              <a:rPr lang="zh-CN" altLang="zh-CN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133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microsoft.com/office/2007/relationships/hdphoto" Target="../media/hdphoto3.wd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microsoft.com/office/2007/relationships/hdphoto" Target="../media/hdphoto4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平行四边形 15"/>
          <p:cNvSpPr/>
          <p:nvPr/>
        </p:nvSpPr>
        <p:spPr>
          <a:xfrm>
            <a:off x="2790050" y="0"/>
            <a:ext cx="6420055" cy="6858000"/>
          </a:xfrm>
          <a:prstGeom prst="parallelogram">
            <a:avLst/>
          </a:prstGeom>
          <a:solidFill>
            <a:srgbClr val="FF6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平行四边形 3"/>
          <p:cNvSpPr/>
          <p:nvPr/>
        </p:nvSpPr>
        <p:spPr>
          <a:xfrm>
            <a:off x="-1596618" y="0"/>
            <a:ext cx="6180084" cy="6858000"/>
          </a:xfrm>
          <a:prstGeom prst="parallelogram">
            <a:avLst/>
          </a:prstGeom>
          <a:solidFill>
            <a:srgbClr val="FFDC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/>
          <p:cNvSpPr/>
          <p:nvPr/>
        </p:nvSpPr>
        <p:spPr>
          <a:xfrm>
            <a:off x="7608534" y="0"/>
            <a:ext cx="6180084" cy="6858000"/>
          </a:xfrm>
          <a:prstGeom prst="parallelogram">
            <a:avLst/>
          </a:prstGeom>
          <a:solidFill>
            <a:srgbClr val="438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949960" y="265907"/>
            <a:ext cx="10132633" cy="2736537"/>
            <a:chOff x="573466" y="156750"/>
            <a:chExt cx="10132633" cy="2736537"/>
          </a:xfrm>
        </p:grpSpPr>
        <p:sp>
          <p:nvSpPr>
            <p:cNvPr id="8" name="文本框 7"/>
            <p:cNvSpPr txBox="1"/>
            <p:nvPr/>
          </p:nvSpPr>
          <p:spPr>
            <a:xfrm rot="21442859">
              <a:off x="2690207" y="677296"/>
              <a:ext cx="1954381" cy="22159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3800" dirty="0" smtClean="0">
                  <a:solidFill>
                    <a:schemeClr val="bg1"/>
                  </a:solidFill>
                  <a:latin typeface="Hakuu" panose="02000609000000000000" pitchFamily="49" charset="-128"/>
                  <a:ea typeface="Hakuu" panose="02000609000000000000" pitchFamily="49" charset="-128"/>
                </a:rPr>
                <a:t>時</a:t>
              </a:r>
              <a:endParaRPr lang="zh-CN" altLang="en-US" sz="13800" dirty="0">
                <a:solidFill>
                  <a:schemeClr val="bg1"/>
                </a:solidFill>
                <a:latin typeface="Hakuu" panose="02000609000000000000" pitchFamily="49" charset="-128"/>
                <a:ea typeface="Hakuu" panose="02000609000000000000" pitchFamily="49" charset="-128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 rot="170839">
              <a:off x="7135891" y="1062016"/>
              <a:ext cx="3570208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800" dirty="0" smtClean="0">
                  <a:solidFill>
                    <a:schemeClr val="bg1"/>
                  </a:solidFill>
                  <a:latin typeface="Hakuu" panose="02000609000000000000" pitchFamily="49" charset="-128"/>
                  <a:ea typeface="Hakuu" panose="02000609000000000000" pitchFamily="49" charset="-128"/>
                </a:rPr>
                <a:t>就好了</a:t>
              </a:r>
              <a:endParaRPr lang="zh-CN" altLang="en-US" sz="8800" dirty="0">
                <a:solidFill>
                  <a:schemeClr val="bg1"/>
                </a:solidFill>
                <a:latin typeface="Hakuu" panose="02000609000000000000" pitchFamily="49" charset="-128"/>
                <a:ea typeface="Hakuu" panose="02000609000000000000" pitchFamily="49" charset="-128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 rot="21294023">
              <a:off x="4694197" y="1062016"/>
              <a:ext cx="2441694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800" dirty="0" smtClean="0">
                  <a:solidFill>
                    <a:schemeClr val="bg1"/>
                  </a:solidFill>
                  <a:latin typeface="Hakuu" panose="02000609000000000000" pitchFamily="49" charset="-128"/>
                  <a:ea typeface="Hakuu" panose="02000609000000000000" pitchFamily="49" charset="-128"/>
                </a:rPr>
                <a:t>忍住</a:t>
              </a:r>
              <a:endParaRPr lang="zh-CN" altLang="en-US" sz="8800" dirty="0">
                <a:solidFill>
                  <a:schemeClr val="bg1"/>
                </a:solidFill>
                <a:latin typeface="Hakuu" panose="02000609000000000000" pitchFamily="49" charset="-128"/>
                <a:ea typeface="Hakuu" panose="02000609000000000000" pitchFamily="49" charset="-128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 rot="726481">
              <a:off x="573466" y="156750"/>
              <a:ext cx="231345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600" dirty="0" smtClean="0">
                  <a:solidFill>
                    <a:schemeClr val="bg1"/>
                  </a:solidFill>
                  <a:latin typeface="Hakuu" panose="02000609000000000000" pitchFamily="49" charset="-128"/>
                  <a:ea typeface="Hakuu" panose="02000609000000000000" pitchFamily="49" charset="-128"/>
                </a:rPr>
                <a:t>当</a:t>
              </a:r>
              <a:endParaRPr lang="zh-CN" altLang="en-US" sz="16600" dirty="0">
                <a:solidFill>
                  <a:schemeClr val="bg1"/>
                </a:solidFill>
                <a:latin typeface="Hakuu" panose="02000609000000000000" pitchFamily="49" charset="-128"/>
                <a:ea typeface="Hakuu" panose="02000609000000000000" pitchFamily="49" charset="-128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5645813" y="2741253"/>
            <a:ext cx="52629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哈佛大学性格自修课</a:t>
            </a:r>
            <a:endParaRPr lang="zh-CN" altLang="en-US" sz="44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732682" y="3758331"/>
            <a:ext cx="21761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肯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林德纳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996780" y="4206023"/>
            <a:ext cx="2912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@Packy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Young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43066" y1="21477" x2="43066" y2="21477"/>
                        <a14:foregroundMark x1="21168" y1="28188" x2="21168" y2="28188"/>
                        <a14:foregroundMark x1="33577" y1="79195" x2="33577" y2="79195"/>
                        <a14:foregroundMark x1="40876" y1="44295" x2="40876" y2="44295"/>
                        <a14:backgroundMark x1="48175" y1="9396" x2="48175" y2="9396"/>
                        <a14:backgroundMark x1="59124" y1="57047" x2="59124" y2="57047"/>
                        <a14:backgroundMark x1="43066" y1="38255" x2="43066" y2="38255"/>
                        <a14:backgroundMark x1="48905" y1="78523" x2="48905" y2="78523"/>
                        <a14:backgroundMark x1="56204" y1="34228" x2="56204" y2="34228"/>
                        <a14:backgroundMark x1="66423" y1="32886" x2="66423" y2="3288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81996" y="577512"/>
            <a:ext cx="1304925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544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083576" y="-3265140"/>
            <a:ext cx="6558206" cy="133882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6400" b="1" dirty="0" smtClean="0">
                <a:solidFill>
                  <a:schemeClr val="bg1">
                    <a:alpha val="64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lang="zh-CN" altLang="en-US" sz="86400" b="1" dirty="0">
              <a:solidFill>
                <a:schemeClr val="bg1">
                  <a:alpha val="64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282262" y="1520905"/>
            <a:ext cx="5880538" cy="4031874"/>
            <a:chOff x="1282262" y="1520905"/>
            <a:chExt cx="5880538" cy="4031874"/>
          </a:xfrm>
        </p:grpSpPr>
        <p:sp>
          <p:nvSpPr>
            <p:cNvPr id="4" name="矩形 3"/>
            <p:cNvSpPr/>
            <p:nvPr/>
          </p:nvSpPr>
          <p:spPr>
            <a:xfrm>
              <a:off x="1282262" y="3860008"/>
              <a:ext cx="5880538" cy="169277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0400" b="1" spc="-300" dirty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ONE</a:t>
              </a:r>
              <a:endParaRPr lang="zh-CN" altLang="en-US" sz="10400" b="1" spc="-3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1282262" y="1520905"/>
              <a:ext cx="480131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800" dirty="0" smtClean="0">
                  <a:solidFill>
                    <a:schemeClr val="bg2">
                      <a:lumMod val="10000"/>
                    </a:schemeClr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我们忍不住的是</a:t>
              </a:r>
              <a:endParaRPr lang="en-US" altLang="zh-CN" sz="4800" dirty="0" smtClean="0">
                <a:solidFill>
                  <a:schemeClr val="bg2">
                    <a:lumMod val="10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1282262" y="1936404"/>
              <a:ext cx="4801314" cy="23544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14700" dirty="0">
                  <a:solidFill>
                    <a:schemeClr val="bg2">
                      <a:lumMod val="10000"/>
                    </a:schemeClr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能量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39066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841203" y="724446"/>
            <a:ext cx="8608089" cy="2514054"/>
            <a:chOff x="749205" y="772510"/>
            <a:chExt cx="8608089" cy="2514054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167" b="52778" l="5000" r="28594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35" t="8940" r="70963" b="47641"/>
            <a:stretch/>
          </p:blipFill>
          <p:spPr>
            <a:xfrm>
              <a:off x="749205" y="772510"/>
              <a:ext cx="2388354" cy="2514054"/>
            </a:xfrm>
            <a:prstGeom prst="rect">
              <a:avLst/>
            </a:prstGeom>
          </p:spPr>
        </p:pic>
        <p:sp>
          <p:nvSpPr>
            <p:cNvPr id="7" name="圆角矩形标注 6"/>
            <p:cNvSpPr/>
            <p:nvPr/>
          </p:nvSpPr>
          <p:spPr>
            <a:xfrm>
              <a:off x="3761712" y="1065343"/>
              <a:ext cx="5595582" cy="2015069"/>
            </a:xfrm>
            <a:prstGeom prst="wedgeRoundRectCallout">
              <a:avLst>
                <a:gd name="adj1" fmla="val -58394"/>
                <a:gd name="adj2" fmla="val 9643"/>
                <a:gd name="adj3" fmla="val 16667"/>
              </a:avLst>
            </a:prstGeom>
            <a:solidFill>
              <a:srgbClr val="4CBA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我具有很强的工作能力，领导也很赏识我，可是我的</a:t>
              </a:r>
              <a:r>
                <a:rPr lang="zh-CN" altLang="en-US" sz="2400" b="1" dirty="0" smtClean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暴脾气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总是总是让我得罪人，终于在一次对同事大发雷霆后，我被炒了鱿鱼。</a:t>
              </a:r>
              <a:r>
                <a:rPr lang="zh-CN" altLang="en-US" sz="2400" b="1" dirty="0" smtClean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愤怒的情绪干扰了我的理智。</a:t>
              </a:r>
              <a:endParaRPr lang="zh-CN" altLang="en-US" sz="24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850774" y="4000500"/>
            <a:ext cx="8598086" cy="2203647"/>
            <a:chOff x="3316410" y="4180667"/>
            <a:chExt cx="8598086" cy="2203647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2500" b="53056" l="71328" r="94609">
                          <a14:foregroundMark x1="80313" y1="29861" x2="80313" y2="29861"/>
                          <a14:foregroundMark x1="84766" y1="29444" x2="84766" y2="29444"/>
                          <a14:foregroundMark x1="83047" y1="39861" x2="83047" y2="3986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235" t="12302" r="5292" b="47414"/>
            <a:stretch/>
          </p:blipFill>
          <p:spPr>
            <a:xfrm>
              <a:off x="9631676" y="4180668"/>
              <a:ext cx="2282820" cy="2203646"/>
            </a:xfrm>
            <a:prstGeom prst="rect">
              <a:avLst/>
            </a:prstGeom>
          </p:spPr>
        </p:pic>
        <p:sp>
          <p:nvSpPr>
            <p:cNvPr id="8" name="圆角矩形标注 7"/>
            <p:cNvSpPr/>
            <p:nvPr/>
          </p:nvSpPr>
          <p:spPr>
            <a:xfrm>
              <a:off x="3316410" y="4180667"/>
              <a:ext cx="5595582" cy="2042711"/>
            </a:xfrm>
            <a:prstGeom prst="wedgeRoundRectCallout">
              <a:avLst>
                <a:gd name="adj1" fmla="val 56972"/>
                <a:gd name="adj2" fmla="val 4643"/>
                <a:gd name="adj3" fmla="val 16667"/>
              </a:avLst>
            </a:prstGeom>
            <a:solidFill>
              <a:srgbClr val="4CBA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我是一名运动员，在一次比赛中，我上半场迷失了状态，可是对手中场的</a:t>
              </a:r>
              <a:r>
                <a:rPr lang="zh-CN" altLang="en-US" sz="2400" b="1" dirty="0" smtClean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挑衅激起了我的获胜欲望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，最终，</a:t>
              </a:r>
              <a:r>
                <a:rPr lang="zh-CN" altLang="en-US" sz="2400" b="1" dirty="0" smtClean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愤怒给予了动力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，最终赢得了比赛。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4611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95462" y="980949"/>
            <a:ext cx="244169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dirty="0" smtClean="0">
                <a:solidFill>
                  <a:srgbClr val="E52F2B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情绪</a:t>
            </a:r>
            <a:endParaRPr lang="zh-CN" altLang="en-US" sz="4400" dirty="0">
              <a:solidFill>
                <a:srgbClr val="E52F2B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8" name="直角三角形 7"/>
          <p:cNvSpPr/>
          <p:nvPr/>
        </p:nvSpPr>
        <p:spPr>
          <a:xfrm rot="16200000">
            <a:off x="3163699" y="1198933"/>
            <a:ext cx="559054" cy="267691"/>
          </a:xfrm>
          <a:prstGeom prst="rtTriangle">
            <a:avLst/>
          </a:prstGeom>
          <a:solidFill>
            <a:srgbClr val="AD0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571461" y="1060255"/>
            <a:ext cx="7739309" cy="1222116"/>
          </a:xfrm>
          <a:prstGeom prst="rect">
            <a:avLst/>
          </a:prstGeom>
          <a:solidFill>
            <a:srgbClr val="EF4B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5185" y="383186"/>
            <a:ext cx="41352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以上例子告诉我们：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485" y="4214885"/>
            <a:ext cx="2415653" cy="241565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018" y="4214884"/>
            <a:ext cx="2415653" cy="241565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827788" y="1255814"/>
            <a:ext cx="72430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是客观存在的</a:t>
            </a:r>
            <a:r>
              <a:rPr lang="en-US" altLang="zh-CN" sz="2400" dirty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,</a:t>
            </a:r>
            <a:r>
              <a:rPr lang="zh-CN" altLang="en-US" sz="2400" dirty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真正影响你的是特定</a:t>
            </a:r>
            <a:r>
              <a:rPr lang="zh-CN" altLang="en-US" sz="24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情绪下</a:t>
            </a:r>
            <a:r>
              <a:rPr lang="zh-CN" altLang="en-US" sz="2400" dirty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所做出的选择或者行为，可好可坏。</a:t>
            </a:r>
          </a:p>
        </p:txBody>
      </p:sp>
      <p:sp>
        <p:nvSpPr>
          <p:cNvPr id="16" name="矩形标注 15"/>
          <p:cNvSpPr/>
          <p:nvPr/>
        </p:nvSpPr>
        <p:spPr>
          <a:xfrm>
            <a:off x="8510671" y="2708517"/>
            <a:ext cx="2781300" cy="1414534"/>
          </a:xfrm>
          <a:prstGeom prst="wedgeRectCallout">
            <a:avLst>
              <a:gd name="adj1" fmla="val -40696"/>
              <a:gd name="adj2" fmla="val 759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标注 17"/>
          <p:cNvSpPr/>
          <p:nvPr/>
        </p:nvSpPr>
        <p:spPr>
          <a:xfrm>
            <a:off x="885185" y="2708517"/>
            <a:ext cx="2781300" cy="1414534"/>
          </a:xfrm>
          <a:prstGeom prst="wedgeRectCallout">
            <a:avLst>
              <a:gd name="adj1" fmla="val 46975"/>
              <a:gd name="adj2" fmla="val 800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26631" y="2938730"/>
            <a:ext cx="21105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EF4B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兴奋、</a:t>
            </a:r>
            <a:r>
              <a:rPr lang="zh-CN" altLang="en-US" sz="2800" dirty="0" smtClean="0">
                <a:solidFill>
                  <a:srgbClr val="EF4B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鼓舞、</a:t>
            </a:r>
            <a:endParaRPr lang="en-US" altLang="zh-CN" sz="2800" dirty="0" smtClean="0">
              <a:solidFill>
                <a:srgbClr val="EF4B4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 smtClean="0">
                <a:solidFill>
                  <a:srgbClr val="EF4B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希望</a:t>
            </a:r>
            <a:r>
              <a:rPr lang="en-US" altLang="zh-CN" sz="2800" dirty="0">
                <a:solidFill>
                  <a:srgbClr val="EF4B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2800" dirty="0">
              <a:solidFill>
                <a:srgbClr val="EF4B4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731770" y="2938730"/>
            <a:ext cx="233910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失落、打击</a:t>
            </a: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endParaRPr lang="en-US" altLang="zh-CN" sz="28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绝望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76454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>
            <a:off x="6804048" y="-3072159"/>
            <a:ext cx="12929294" cy="1292929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101" y="2619559"/>
            <a:ext cx="42883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dirty="0" smtClean="0">
                <a:solidFill>
                  <a:srgbClr val="0F5B82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能量电荷</a:t>
            </a:r>
            <a:endParaRPr lang="zh-CN" altLang="en-US" sz="4000" dirty="0">
              <a:solidFill>
                <a:srgbClr val="0F5B82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5640" y="2157894"/>
            <a:ext cx="4135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我们将使用：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131072">
            <a:off x="7902027" y="582349"/>
            <a:ext cx="3432268" cy="58788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635301" y="3862849"/>
            <a:ext cx="538432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来指代我们的情绪、感受、冲动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欲望和强迫症所引发的能量</a:t>
            </a:r>
          </a:p>
        </p:txBody>
      </p:sp>
      <p:sp>
        <p:nvSpPr>
          <p:cNvPr id="8" name="等腰三角形 7"/>
          <p:cNvSpPr/>
          <p:nvPr/>
        </p:nvSpPr>
        <p:spPr>
          <a:xfrm rot="16200000">
            <a:off x="5813596" y="2801938"/>
            <a:ext cx="1370076" cy="11811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01350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451686" y="1550447"/>
            <a:ext cx="5288627" cy="398570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zh-CN" altLang="en-US" sz="5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我们要做的就是</a:t>
            </a:r>
            <a:endParaRPr lang="en-US" altLang="zh-CN" sz="5400" dirty="0" smtClean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r>
              <a:rPr lang="zh-CN" altLang="en-US" sz="19900" dirty="0" smtClean="0">
                <a:solidFill>
                  <a:srgbClr val="E52F2B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掌控</a:t>
            </a:r>
            <a:endParaRPr lang="zh-CN" altLang="en-US" sz="7200" dirty="0">
              <a:solidFill>
                <a:srgbClr val="E52F2B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95510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B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-3336577"/>
            <a:ext cx="6558206" cy="133882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6400" b="1" dirty="0" smtClean="0">
                <a:solidFill>
                  <a:prstClr val="white">
                    <a:alpha val="64000"/>
                  </a:prst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lang="zh-CN" altLang="en-US" sz="86400" b="1" dirty="0">
              <a:solidFill>
                <a:prstClr val="white">
                  <a:alpha val="64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39342" y="3800686"/>
            <a:ext cx="5968198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400" b="1" spc="-300" dirty="0" smtClean="0">
                <a:solidFill>
                  <a:prstClr val="white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TWO</a:t>
            </a:r>
            <a:endParaRPr lang="zh-CN" altLang="en-US" sz="10400" b="1" spc="-300" dirty="0">
              <a:solidFill>
                <a:prstClr val="white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96000" y="1389727"/>
            <a:ext cx="4972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dirty="0" smtClean="0">
                <a:solidFill>
                  <a:srgbClr val="E7E6E6">
                    <a:lumMod val="10000"/>
                  </a:srgb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驾驭能量只需</a:t>
            </a:r>
            <a:endParaRPr lang="en-US" altLang="zh-CN" sz="4800" dirty="0" smtClean="0">
              <a:solidFill>
                <a:srgbClr val="E7E6E6">
                  <a:lumMod val="10000"/>
                </a:srgbClr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01006" y="1841154"/>
            <a:ext cx="4967044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4700" dirty="0">
                <a:solidFill>
                  <a:srgbClr val="E7E6E6">
                    <a:lumMod val="10000"/>
                  </a:srgb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七</a:t>
            </a:r>
            <a:r>
              <a:rPr lang="zh-CN" altLang="en-US" sz="14700" dirty="0" smtClean="0">
                <a:solidFill>
                  <a:srgbClr val="E7E6E6">
                    <a:lumMod val="10000"/>
                  </a:srgb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步</a:t>
            </a:r>
            <a:endParaRPr lang="zh-CN" altLang="en-US" sz="14700" dirty="0">
              <a:solidFill>
                <a:srgbClr val="E7E6E6">
                  <a:lumMod val="10000"/>
                </a:srgbClr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67144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B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297579" y="3202321"/>
            <a:ext cx="5726612" cy="2230055"/>
            <a:chOff x="3250281" y="3076193"/>
            <a:chExt cx="5726612" cy="2230055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6893" y="3076193"/>
              <a:ext cx="1440000" cy="144000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0281" y="3076193"/>
              <a:ext cx="1440000" cy="1440000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3250281" y="4475251"/>
              <a:ext cx="1440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dirty="0" smtClean="0">
                  <a:solidFill>
                    <a:srgbClr val="0F5B82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财富</a:t>
              </a:r>
              <a:endParaRPr lang="zh-CN" altLang="en-US" sz="4800" dirty="0">
                <a:solidFill>
                  <a:srgbClr val="0F5B82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536893" y="4475250"/>
              <a:ext cx="1440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dirty="0" smtClean="0">
                  <a:solidFill>
                    <a:srgbClr val="0F5B82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梦想</a:t>
              </a:r>
              <a:endParaRPr lang="zh-CN" altLang="en-US" sz="4800" dirty="0">
                <a:solidFill>
                  <a:srgbClr val="0F5B82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sp>
          <p:nvSpPr>
            <p:cNvPr id="7" name="加号 6"/>
            <p:cNvSpPr/>
            <p:nvPr/>
          </p:nvSpPr>
          <p:spPr>
            <a:xfrm>
              <a:off x="5554905" y="3336090"/>
              <a:ext cx="996287" cy="920205"/>
            </a:xfrm>
            <a:prstGeom prst="mathPlus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953186" y="648027"/>
            <a:ext cx="11313458" cy="1744749"/>
            <a:chOff x="953186" y="648027"/>
            <a:chExt cx="11313458" cy="1744749"/>
          </a:xfrm>
        </p:grpSpPr>
        <p:sp>
          <p:nvSpPr>
            <p:cNvPr id="9" name="文本框 8"/>
            <p:cNvSpPr txBox="1"/>
            <p:nvPr/>
          </p:nvSpPr>
          <p:spPr>
            <a:xfrm>
              <a:off x="953186" y="1808001"/>
              <a:ext cx="113134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情感触发器</a:t>
              </a:r>
              <a:endParaRPr lang="en-US" altLang="zh-CN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587421" y="838371"/>
              <a:ext cx="7547110" cy="15544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等腰三角形 10"/>
            <p:cNvSpPr/>
            <p:nvPr/>
          </p:nvSpPr>
          <p:spPr>
            <a:xfrm rot="16200000">
              <a:off x="3303200" y="1029635"/>
              <a:ext cx="568442" cy="49003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3890053" y="1146281"/>
              <a:ext cx="705707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 smtClean="0">
                  <a:solidFill>
                    <a:srgbClr val="FF3939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识别能触发你内心最为强烈的情感能量电荷，你最珍视、给你最大动力的东西。</a:t>
              </a:r>
              <a:endParaRPr lang="zh-CN" altLang="en-US" sz="2800" dirty="0">
                <a:solidFill>
                  <a:srgbClr val="FF3939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953186" y="648027"/>
              <a:ext cx="2236510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000" dirty="0">
                  <a:solidFill>
                    <a:srgbClr val="FFC000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识别</a:t>
              </a:r>
              <a:endParaRPr lang="zh-CN" altLang="en-US" sz="8000" dirty="0">
                <a:solidFill>
                  <a:srgbClr val="FFC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75513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B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7264" y="3269605"/>
            <a:ext cx="11139476" cy="2998957"/>
            <a:chOff x="437264" y="2765105"/>
            <a:chExt cx="11139476" cy="2998957"/>
          </a:xfrm>
        </p:grpSpPr>
        <p:grpSp>
          <p:nvGrpSpPr>
            <p:cNvPr id="6" name="组合 5"/>
            <p:cNvGrpSpPr/>
            <p:nvPr/>
          </p:nvGrpSpPr>
          <p:grpSpPr>
            <a:xfrm>
              <a:off x="437264" y="2765105"/>
              <a:ext cx="3649706" cy="2928465"/>
              <a:chOff x="376384" y="3684895"/>
              <a:chExt cx="3649706" cy="2928465"/>
            </a:xfrm>
          </p:grpSpPr>
          <p:pic>
            <p:nvPicPr>
              <p:cNvPr id="3" name="图片 2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556" b="52083" l="48750" r="71641">
                            <a14:foregroundMark x1="58203" y1="31389" x2="58203" y2="31389"/>
                            <a14:foregroundMark x1="58594" y1="32083" x2="58594" y2="32083"/>
                            <a14:foregroundMark x1="57500" y1="32083" x2="57500" y2="32083"/>
                            <a14:foregroundMark x1="63125" y1="38056" x2="63125" y2="38056"/>
                            <a14:foregroundMark x1="63125" y1="38056" x2="63125" y2="38056"/>
                            <a14:foregroundMark x1="63359" y1="32083" x2="63359" y2="3208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661" t="10131" r="28223" b="50309"/>
              <a:stretch/>
            </p:blipFill>
            <p:spPr>
              <a:xfrm>
                <a:off x="376384" y="4375127"/>
                <a:ext cx="2224585" cy="2238233"/>
              </a:xfrm>
              <a:prstGeom prst="rect">
                <a:avLst/>
              </a:prstGeom>
            </p:spPr>
          </p:pic>
          <p:sp>
            <p:nvSpPr>
              <p:cNvPr id="5" name="矩形标注 4"/>
              <p:cNvSpPr/>
              <p:nvPr/>
            </p:nvSpPr>
            <p:spPr>
              <a:xfrm>
                <a:off x="2006221" y="3684895"/>
                <a:ext cx="2019869" cy="540106"/>
              </a:xfrm>
              <a:prstGeom prst="wedgeRectCallout">
                <a:avLst>
                  <a:gd name="adj1" fmla="val -37049"/>
                  <a:gd name="adj2" fmla="val 130639"/>
                </a:avLst>
              </a:prstGeom>
              <a:solidFill>
                <a:srgbClr val="438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周末要补习功课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" name="文本框 11"/>
            <p:cNvSpPr txBox="1"/>
            <p:nvPr/>
          </p:nvSpPr>
          <p:spPr>
            <a:xfrm>
              <a:off x="3981158" y="3283306"/>
              <a:ext cx="40092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</a:t>
              </a:r>
              <a:r>
                <a:rPr lang="zh-CN" altLang="en-US" sz="20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受任何人或事情打扰，补习功课</a:t>
              </a:r>
              <a:endParaRPr lang="zh-CN" altLang="en-US" dirty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981158" y="4288383"/>
              <a:ext cx="48392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除非布拉德喊</a:t>
              </a:r>
              <a:r>
                <a:rPr lang="zh-CN" altLang="en-US" sz="20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我去看电影，我</a:t>
              </a:r>
              <a:r>
                <a:rPr lang="zh-CN" altLang="en-US" sz="2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才放弃补课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981158" y="5293460"/>
              <a:ext cx="46142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闺</a:t>
              </a:r>
              <a:r>
                <a:rPr lang="zh-CN" altLang="en-US" sz="20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蜜叫我逛街，我可以把功课放到下周</a:t>
              </a:r>
              <a:endPara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" name="直接箭头连接符 16"/>
            <p:cNvCxnSpPr/>
            <p:nvPr/>
          </p:nvCxnSpPr>
          <p:spPr>
            <a:xfrm>
              <a:off x="8899441" y="3457400"/>
              <a:ext cx="1364566" cy="0"/>
            </a:xfrm>
            <a:prstGeom prst="straightConnector1">
              <a:avLst/>
            </a:prstGeom>
            <a:ln w="9207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>
              <a:off x="10571337" y="5179287"/>
              <a:ext cx="100540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solidFill>
                    <a:srgbClr val="FFC000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友谊</a:t>
              </a:r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8899441" y="5471675"/>
              <a:ext cx="1364566" cy="0"/>
            </a:xfrm>
            <a:prstGeom prst="straightConnector1">
              <a:avLst/>
            </a:prstGeom>
            <a:ln w="920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>
              <a:off x="8899441" y="4464537"/>
              <a:ext cx="1364566" cy="0"/>
            </a:xfrm>
            <a:prstGeom prst="straightConnector1">
              <a:avLst/>
            </a:prstGeom>
            <a:ln w="9207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10571336" y="3190973"/>
              <a:ext cx="100540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solidFill>
                    <a:srgbClr val="FFC000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功课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0571335" y="4219427"/>
              <a:ext cx="100540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 smtClean="0">
                  <a:solidFill>
                    <a:srgbClr val="FFC000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爱情</a:t>
              </a:r>
              <a:endParaRPr lang="zh-CN" altLang="en-US" sz="3200" dirty="0">
                <a:solidFill>
                  <a:srgbClr val="FFC000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53186" y="648027"/>
            <a:ext cx="11313458" cy="1744749"/>
            <a:chOff x="953186" y="648027"/>
            <a:chExt cx="11313458" cy="1744749"/>
          </a:xfrm>
        </p:grpSpPr>
        <p:sp>
          <p:nvSpPr>
            <p:cNvPr id="16" name="文本框 15"/>
            <p:cNvSpPr txBox="1"/>
            <p:nvPr/>
          </p:nvSpPr>
          <p:spPr>
            <a:xfrm>
              <a:off x="953186" y="1808001"/>
              <a:ext cx="113134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人生的选择</a:t>
              </a:r>
              <a:endParaRPr lang="en-US" altLang="zh-CN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3587421" y="838371"/>
              <a:ext cx="7547110" cy="15544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等腰三角形 23"/>
            <p:cNvSpPr/>
            <p:nvPr/>
          </p:nvSpPr>
          <p:spPr>
            <a:xfrm rot="16200000">
              <a:off x="3303200" y="1029635"/>
              <a:ext cx="568442" cy="49003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3890053" y="1146281"/>
              <a:ext cx="7057074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dirty="0" smtClean="0">
                  <a:solidFill>
                    <a:srgbClr val="FF3939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慎重考虑你的选择和行为带来的后果，这将促使你做出有价值的人生选择。</a:t>
              </a:r>
              <a:endParaRPr lang="zh-CN" altLang="en-US" sz="2800" dirty="0">
                <a:solidFill>
                  <a:srgbClr val="FF3939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953186" y="648027"/>
              <a:ext cx="2236510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000" dirty="0">
                  <a:solidFill>
                    <a:srgbClr val="FFC000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预测</a:t>
              </a:r>
              <a:endParaRPr lang="zh-CN" altLang="en-US" sz="8000" dirty="0">
                <a:solidFill>
                  <a:srgbClr val="FFC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21499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B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2883947" y="4363160"/>
            <a:ext cx="1440000" cy="2331382"/>
            <a:chOff x="2236840" y="3479880"/>
            <a:chExt cx="1440000" cy="2331382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36840" y="3479880"/>
              <a:ext cx="1440000" cy="1440000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2236840" y="4887932"/>
              <a:ext cx="14400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放弃吃甜食，拒绝吃大餐的邀请。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409060" y="4363160"/>
            <a:ext cx="1440000" cy="2363330"/>
            <a:chOff x="4689714" y="3479880"/>
            <a:chExt cx="1440000" cy="2363330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9714" y="3479880"/>
              <a:ext cx="1440000" cy="1440000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4689714" y="4919880"/>
              <a:ext cx="14400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坚持每天锻炼，去操场上踢球。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7934172" y="4363160"/>
            <a:ext cx="1440000" cy="2363330"/>
            <a:chOff x="7287065" y="3392488"/>
            <a:chExt cx="1440000" cy="2363330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7065" y="3392488"/>
              <a:ext cx="1440000" cy="1440000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7287065" y="4832488"/>
              <a:ext cx="14400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获得女孩的好感，最终赢得芳心。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9" name="图片 18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  <a14:imgEffect>
                      <a14:sharpenSoften amount="25000"/>
                    </a14:imgEffect>
                    <a14:imgEffect>
                      <a14:brightnessContrast bright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8609" y="3236848"/>
            <a:ext cx="2540000" cy="2540000"/>
          </a:xfrm>
          <a:prstGeom prst="rect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317" y="3236848"/>
            <a:ext cx="2540000" cy="2540000"/>
          </a:xfrm>
          <a:prstGeom prst="rect">
            <a:avLst/>
          </a:prstGeom>
        </p:spPr>
      </p:pic>
      <p:sp>
        <p:nvSpPr>
          <p:cNvPr id="22" name="云形标注 21"/>
          <p:cNvSpPr/>
          <p:nvPr/>
        </p:nvSpPr>
        <p:spPr>
          <a:xfrm>
            <a:off x="2243956" y="2673942"/>
            <a:ext cx="2686929" cy="1408051"/>
          </a:xfrm>
          <a:prstGeom prst="cloudCallout">
            <a:avLst>
              <a:gd name="adj1" fmla="val -60879"/>
              <a:gd name="adj2" fmla="val 55425"/>
            </a:avLst>
          </a:prstGeom>
          <a:solidFill>
            <a:srgbClr val="438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我酷爱甜食，不喜运动，可是一次偶遇让我对她一见倾心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云形标注 22"/>
          <p:cNvSpPr/>
          <p:nvPr/>
        </p:nvSpPr>
        <p:spPr>
          <a:xfrm>
            <a:off x="7310707" y="2673942"/>
            <a:ext cx="2686929" cy="1408051"/>
          </a:xfrm>
          <a:prstGeom prst="cloudCallout">
            <a:avLst>
              <a:gd name="adj1" fmla="val 66410"/>
              <a:gd name="adj2" fmla="val 57699"/>
            </a:avLst>
          </a:prstGeom>
          <a:solidFill>
            <a:srgbClr val="438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我喜欢运动型的男生，对那种在球场上奔跑的感觉没有抵抗力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等腰三角形 1"/>
          <p:cNvSpPr/>
          <p:nvPr/>
        </p:nvSpPr>
        <p:spPr>
          <a:xfrm rot="-1800000">
            <a:off x="4719323" y="4961886"/>
            <a:ext cx="281354" cy="242547"/>
          </a:xfrm>
          <a:prstGeom prst="triangle">
            <a:avLst/>
          </a:prstGeom>
          <a:solidFill>
            <a:srgbClr val="4389FF"/>
          </a:solidFill>
          <a:ln>
            <a:solidFill>
              <a:srgbClr val="438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/>
          <p:cNvSpPr/>
          <p:nvPr/>
        </p:nvSpPr>
        <p:spPr>
          <a:xfrm rot="19800000">
            <a:off x="7237934" y="4961887"/>
            <a:ext cx="281354" cy="242547"/>
          </a:xfrm>
          <a:prstGeom prst="triangle">
            <a:avLst/>
          </a:prstGeom>
          <a:solidFill>
            <a:srgbClr val="4389FF"/>
          </a:solidFill>
          <a:ln>
            <a:solidFill>
              <a:srgbClr val="438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CBAD3"/>
              </a:solidFill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953186" y="648027"/>
            <a:ext cx="11313458" cy="1744749"/>
            <a:chOff x="953186" y="648027"/>
            <a:chExt cx="11313458" cy="1744749"/>
          </a:xfrm>
        </p:grpSpPr>
        <p:sp>
          <p:nvSpPr>
            <p:cNvPr id="31" name="文本框 30"/>
            <p:cNvSpPr txBox="1"/>
            <p:nvPr/>
          </p:nvSpPr>
          <p:spPr>
            <a:xfrm>
              <a:off x="953186" y="1808001"/>
              <a:ext cx="113134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美好的未来</a:t>
              </a:r>
              <a:endParaRPr lang="en-US" altLang="zh-CN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3587421" y="838371"/>
              <a:ext cx="7547110" cy="15544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等腰三角形 32"/>
            <p:cNvSpPr/>
            <p:nvPr/>
          </p:nvSpPr>
          <p:spPr>
            <a:xfrm rot="16200000">
              <a:off x="3303200" y="1029635"/>
              <a:ext cx="568442" cy="49003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3890053" y="1146281"/>
              <a:ext cx="7057074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dirty="0" smtClean="0">
                  <a:solidFill>
                    <a:srgbClr val="FF3939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设想内心深处最美好的未来，克服一切不利于其实现的难题，做出最有价值的选择。</a:t>
              </a:r>
              <a:endParaRPr lang="zh-CN" altLang="en-US" sz="2800" dirty="0">
                <a:solidFill>
                  <a:srgbClr val="FF3939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953186" y="648027"/>
              <a:ext cx="2236510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000" dirty="0">
                  <a:solidFill>
                    <a:srgbClr val="FFC000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设想</a:t>
              </a:r>
              <a:endParaRPr lang="zh-CN" altLang="en-US" sz="8000" dirty="0">
                <a:solidFill>
                  <a:srgbClr val="FFC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15174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B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右箭头 5"/>
          <p:cNvSpPr/>
          <p:nvPr/>
        </p:nvSpPr>
        <p:spPr>
          <a:xfrm>
            <a:off x="2723421" y="3264258"/>
            <a:ext cx="1728000" cy="1055077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  识</a:t>
            </a:r>
          </a:p>
        </p:txBody>
      </p:sp>
      <p:sp>
        <p:nvSpPr>
          <p:cNvPr id="7" name="右箭头 6"/>
          <p:cNvSpPr/>
          <p:nvPr/>
        </p:nvSpPr>
        <p:spPr>
          <a:xfrm>
            <a:off x="4453428" y="3264258"/>
            <a:ext cx="1728000" cy="1055077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  解</a:t>
            </a:r>
          </a:p>
        </p:txBody>
      </p:sp>
      <p:sp>
        <p:nvSpPr>
          <p:cNvPr id="9" name="右箭头 8"/>
          <p:cNvSpPr/>
          <p:nvPr/>
        </p:nvSpPr>
        <p:spPr>
          <a:xfrm>
            <a:off x="6183435" y="3264258"/>
            <a:ext cx="1728000" cy="1055077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怜悯和同情</a:t>
            </a:r>
          </a:p>
        </p:txBody>
      </p:sp>
      <p:sp>
        <p:nvSpPr>
          <p:cNvPr id="10" name="右箭头 9"/>
          <p:cNvSpPr/>
          <p:nvPr/>
        </p:nvSpPr>
        <p:spPr>
          <a:xfrm>
            <a:off x="7911435" y="3264258"/>
            <a:ext cx="1728000" cy="1055077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  恕</a:t>
            </a:r>
          </a:p>
        </p:txBody>
      </p:sp>
      <p:sp>
        <p:nvSpPr>
          <p:cNvPr id="11" name="右箭头 10"/>
          <p:cNvSpPr/>
          <p:nvPr/>
        </p:nvSpPr>
        <p:spPr>
          <a:xfrm>
            <a:off x="9639435" y="3264258"/>
            <a:ext cx="1728000" cy="1055077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爱</a:t>
            </a:r>
          </a:p>
        </p:txBody>
      </p:sp>
      <p:sp>
        <p:nvSpPr>
          <p:cNvPr id="12" name="右箭头 11"/>
          <p:cNvSpPr/>
          <p:nvPr/>
        </p:nvSpPr>
        <p:spPr>
          <a:xfrm>
            <a:off x="991407" y="3264258"/>
            <a:ext cx="1728000" cy="1055077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不良情绪</a:t>
            </a:r>
            <a:endParaRPr lang="zh-CN" altLang="en-US" sz="20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线形标注 1 13"/>
          <p:cNvSpPr/>
          <p:nvPr/>
        </p:nvSpPr>
        <p:spPr>
          <a:xfrm>
            <a:off x="990536" y="4537049"/>
            <a:ext cx="1481230" cy="1505279"/>
          </a:xfrm>
          <a:prstGeom prst="borderCallout1">
            <a:avLst>
              <a:gd name="adj1" fmla="val -16943"/>
              <a:gd name="adj2" fmla="val 2951"/>
              <a:gd name="adj3" fmla="val -439"/>
              <a:gd name="adj4" fmla="val 501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40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我在喝可乐，忽然被旁边人撞了一下，撒了我一身，我瞬间暴怒，并气急败坏对他大吼。</a:t>
            </a:r>
            <a:endParaRPr lang="zh-CN" altLang="en-US" sz="14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线形标注 1 15"/>
          <p:cNvSpPr/>
          <p:nvPr/>
        </p:nvSpPr>
        <p:spPr>
          <a:xfrm>
            <a:off x="7920748" y="4537050"/>
            <a:ext cx="1481230" cy="1505279"/>
          </a:xfrm>
          <a:prstGeom prst="borderCallout1">
            <a:avLst>
              <a:gd name="adj1" fmla="val -568"/>
              <a:gd name="adj2" fmla="val 50331"/>
              <a:gd name="adj3" fmla="val -17342"/>
              <a:gd name="adj4" fmla="val 277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我原谅了他，并且为我的失礼对他道歉。</a:t>
            </a:r>
          </a:p>
        </p:txBody>
      </p:sp>
      <p:sp>
        <p:nvSpPr>
          <p:cNvPr id="17" name="线形标注 1 16"/>
          <p:cNvSpPr/>
          <p:nvPr/>
        </p:nvSpPr>
        <p:spPr>
          <a:xfrm>
            <a:off x="2723089" y="4537049"/>
            <a:ext cx="1481230" cy="1505279"/>
          </a:xfrm>
          <a:prstGeom prst="borderCallout1">
            <a:avLst>
              <a:gd name="adj1" fmla="val -513"/>
              <a:gd name="adj2" fmla="val 50104"/>
              <a:gd name="adj3" fmla="val -17342"/>
              <a:gd name="adj4" fmla="val 34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当我转身面对他时，忽然发现他是一个盲人。</a:t>
            </a:r>
          </a:p>
        </p:txBody>
      </p:sp>
      <p:sp>
        <p:nvSpPr>
          <p:cNvPr id="18" name="线形标注 1 17"/>
          <p:cNvSpPr/>
          <p:nvPr/>
        </p:nvSpPr>
        <p:spPr>
          <a:xfrm>
            <a:off x="4455642" y="4537050"/>
            <a:ext cx="1481230" cy="1505279"/>
          </a:xfrm>
          <a:prstGeom prst="borderCallout1">
            <a:avLst>
              <a:gd name="adj1" fmla="val 488"/>
              <a:gd name="adj2" fmla="val 49682"/>
              <a:gd name="adj3" fmla="val -16814"/>
              <a:gd name="adj4" fmla="val 83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我忽然理解了他看不到我，是无意间撞到我的。</a:t>
            </a:r>
          </a:p>
        </p:txBody>
      </p:sp>
      <p:sp>
        <p:nvSpPr>
          <p:cNvPr id="19" name="线形标注 1 18"/>
          <p:cNvSpPr/>
          <p:nvPr/>
        </p:nvSpPr>
        <p:spPr>
          <a:xfrm>
            <a:off x="6188195" y="4537050"/>
            <a:ext cx="1481230" cy="1505279"/>
          </a:xfrm>
          <a:prstGeom prst="borderCallout1">
            <a:avLst>
              <a:gd name="adj1" fmla="val -568"/>
              <a:gd name="adj2" fmla="val 49682"/>
              <a:gd name="adj3" fmla="val -18398"/>
              <a:gd name="adj4" fmla="val 277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面对他忙不迭的道歉，我产生了怜悯和同情。</a:t>
            </a:r>
          </a:p>
        </p:txBody>
      </p:sp>
      <p:sp>
        <p:nvSpPr>
          <p:cNvPr id="20" name="线形标注 1 19"/>
          <p:cNvSpPr/>
          <p:nvPr/>
        </p:nvSpPr>
        <p:spPr>
          <a:xfrm>
            <a:off x="9653301" y="4537050"/>
            <a:ext cx="1481230" cy="1505279"/>
          </a:xfrm>
          <a:prstGeom prst="borderCallout1">
            <a:avLst>
              <a:gd name="adj1" fmla="val -40"/>
              <a:gd name="adj2" fmla="val 49033"/>
              <a:gd name="adj3" fmla="val -16814"/>
              <a:gd name="adj4" fmla="val 34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我邀请他和我们一起用餐，亲切交谈后我们成了朋友。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953186" y="648027"/>
            <a:ext cx="11313458" cy="1744749"/>
            <a:chOff x="953186" y="648027"/>
            <a:chExt cx="11313458" cy="1744749"/>
          </a:xfrm>
        </p:grpSpPr>
        <p:sp>
          <p:nvSpPr>
            <p:cNvPr id="2" name="文本框 1"/>
            <p:cNvSpPr txBox="1"/>
            <p:nvPr/>
          </p:nvSpPr>
          <p:spPr>
            <a:xfrm>
              <a:off x="953186" y="1808001"/>
              <a:ext cx="113134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负能量电荷</a:t>
              </a:r>
              <a:endParaRPr lang="en-US" altLang="zh-CN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3587421" y="838371"/>
              <a:ext cx="7547110" cy="15544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等腰三角形 7"/>
            <p:cNvSpPr/>
            <p:nvPr/>
          </p:nvSpPr>
          <p:spPr>
            <a:xfrm rot="16200000">
              <a:off x="3303200" y="1029635"/>
              <a:ext cx="568442" cy="49003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3890053" y="1146281"/>
              <a:ext cx="7057074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dirty="0">
                  <a:solidFill>
                    <a:srgbClr val="FF3939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我们需要用正能量，例如理解、包容和爱去遣散那些对我们有害的负能量电荷。</a:t>
              </a:r>
            </a:p>
          </p:txBody>
        </p:sp>
        <p:sp>
          <p:nvSpPr>
            <p:cNvPr id="4" name="矩形 3"/>
            <p:cNvSpPr/>
            <p:nvPr/>
          </p:nvSpPr>
          <p:spPr>
            <a:xfrm>
              <a:off x="953186" y="648027"/>
              <a:ext cx="2236510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000" dirty="0">
                  <a:solidFill>
                    <a:srgbClr val="FFC000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遣散</a:t>
              </a:r>
              <a:endParaRPr lang="zh-CN" altLang="en-US" sz="8000" dirty="0">
                <a:solidFill>
                  <a:srgbClr val="FFC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25036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B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953186" y="2528504"/>
            <a:ext cx="9272385" cy="4516621"/>
            <a:chOff x="437264" y="2230803"/>
            <a:chExt cx="9272385" cy="4516621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264" y="2553655"/>
              <a:ext cx="3251941" cy="3251941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4841708" y="2230803"/>
              <a:ext cx="4867941" cy="4516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504000">
                <a:lnSpc>
                  <a:spcPct val="150000"/>
                </a:lnSpc>
                <a:buFont typeface="Wingdings" panose="05000000000000000000" pitchFamily="2" charset="2"/>
                <a:buChar char="n"/>
              </a:pPr>
              <a:r>
                <a:rPr lang="zh-CN" altLang="en-US" sz="25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我要成为哪种人</a:t>
              </a:r>
              <a:endParaRPr lang="en-US" altLang="zh-CN" sz="25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  <a:p>
              <a:pPr marL="342900" indent="-504000">
                <a:lnSpc>
                  <a:spcPct val="150000"/>
                </a:lnSpc>
                <a:buFont typeface="Wingdings" panose="05000000000000000000" pitchFamily="2" charset="2"/>
                <a:buChar char="n"/>
              </a:pPr>
              <a:r>
                <a:rPr lang="zh-CN" altLang="en-US" sz="2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我</a:t>
              </a:r>
              <a:r>
                <a:rPr lang="zh-CN" altLang="en-US" sz="25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的梦想是什么</a:t>
              </a:r>
              <a:endParaRPr lang="en-US" altLang="zh-CN" sz="25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  <a:p>
              <a:pPr marL="342900" indent="-504000">
                <a:lnSpc>
                  <a:spcPct val="150000"/>
                </a:lnSpc>
                <a:buFont typeface="Wingdings" panose="05000000000000000000" pitchFamily="2" charset="2"/>
                <a:buChar char="n"/>
              </a:pPr>
              <a:r>
                <a:rPr lang="zh-CN" altLang="en-US" sz="25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上次我为什么失去理智</a:t>
              </a:r>
              <a:endParaRPr lang="en-US" altLang="zh-CN" sz="25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  <a:p>
              <a:pPr marL="342900" indent="-504000">
                <a:lnSpc>
                  <a:spcPct val="150000"/>
                </a:lnSpc>
                <a:buFont typeface="Wingdings" panose="05000000000000000000" pitchFamily="2" charset="2"/>
                <a:buChar char="n"/>
              </a:pPr>
              <a:r>
                <a:rPr lang="zh-CN" altLang="en-US" sz="25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我上次发怒失去了什么</a:t>
              </a:r>
              <a:endParaRPr lang="en-US" altLang="zh-CN" sz="25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  <a:p>
              <a:pPr marL="342900" indent="-504000">
                <a:lnSpc>
                  <a:spcPct val="150000"/>
                </a:lnSpc>
                <a:buFont typeface="Wingdings" panose="05000000000000000000" pitchFamily="2" charset="2"/>
                <a:buChar char="n"/>
              </a:pPr>
              <a:r>
                <a:rPr lang="zh-CN" altLang="en-US" sz="25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我友善对待他人得到了什么</a:t>
              </a:r>
              <a:endParaRPr lang="en-US" altLang="zh-CN" sz="25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  <a:p>
              <a:pPr marL="342900" indent="-504000">
                <a:lnSpc>
                  <a:spcPct val="150000"/>
                </a:lnSpc>
                <a:buFont typeface="Wingdings" panose="05000000000000000000" pitchFamily="2" charset="2"/>
                <a:buChar char="n"/>
              </a:pPr>
              <a:r>
                <a:rPr lang="zh-CN" altLang="en-US" sz="25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我美好的未来是什么样子</a:t>
              </a:r>
              <a:endParaRPr lang="en-US" altLang="zh-CN" sz="25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  <a:p>
              <a:pPr marL="342900" indent="-504000">
                <a:lnSpc>
                  <a:spcPct val="150000"/>
                </a:lnSpc>
                <a:buFont typeface="Wingdings" panose="05000000000000000000" pitchFamily="2" charset="2"/>
                <a:buChar char="n"/>
              </a:pPr>
              <a:r>
                <a:rPr lang="zh-CN" altLang="en-US" sz="25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距离成功还差什么</a:t>
              </a:r>
              <a:endParaRPr lang="en-US" altLang="zh-CN" sz="25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  <a:p>
              <a:pPr marL="342900" indent="-342900">
                <a:buFont typeface="Wingdings" panose="05000000000000000000" pitchFamily="2" charset="2"/>
                <a:buChar char="n"/>
              </a:pPr>
              <a:endParaRPr lang="zh-CN" altLang="en-US" sz="2500" dirty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953186" y="648027"/>
            <a:ext cx="11313458" cy="1744749"/>
            <a:chOff x="953186" y="648027"/>
            <a:chExt cx="11313458" cy="1744749"/>
          </a:xfrm>
        </p:grpSpPr>
        <p:sp>
          <p:nvSpPr>
            <p:cNvPr id="6" name="文本框 5"/>
            <p:cNvSpPr txBox="1"/>
            <p:nvPr/>
          </p:nvSpPr>
          <p:spPr>
            <a:xfrm>
              <a:off x="953186" y="1808001"/>
              <a:ext cx="113134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你的备忘录</a:t>
              </a:r>
              <a:endParaRPr lang="en-US" altLang="zh-CN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587421" y="838371"/>
              <a:ext cx="7547110" cy="15544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等腰三角形 7"/>
            <p:cNvSpPr/>
            <p:nvPr/>
          </p:nvSpPr>
          <p:spPr>
            <a:xfrm rot="16200000">
              <a:off x="3303200" y="1029635"/>
              <a:ext cx="568442" cy="49003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890053" y="1146281"/>
              <a:ext cx="7057074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dirty="0" smtClean="0">
                  <a:solidFill>
                    <a:srgbClr val="FF3939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设计一份备忘录，时刻提醒你，这将大大提高你“忍得住”的功力。</a:t>
              </a:r>
              <a:endParaRPr lang="zh-CN" altLang="en-US" sz="2800" dirty="0">
                <a:solidFill>
                  <a:srgbClr val="FF3939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953186" y="648027"/>
              <a:ext cx="2236510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000" dirty="0">
                  <a:solidFill>
                    <a:srgbClr val="FFC000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写下</a:t>
              </a:r>
              <a:endParaRPr lang="zh-CN" altLang="en-US" sz="8000" dirty="0">
                <a:solidFill>
                  <a:srgbClr val="FFC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05861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B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31970" y1="10485" x2="31970" y2="10485"/>
                        <a14:foregroundMark x1="24697" y1="16364" x2="24697" y2="16364"/>
                        <a14:foregroundMark x1="85303" y1="91394" x2="85303" y2="91394"/>
                        <a14:foregroundMark x1="34242" y1="91697" x2="34242" y2="916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86" y="2392776"/>
            <a:ext cx="1869638" cy="4674358"/>
          </a:xfrm>
          <a:prstGeom prst="rect">
            <a:avLst/>
          </a:prstGeom>
        </p:spPr>
      </p:pic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5512290" y="5070155"/>
            <a:ext cx="1556676" cy="683577"/>
            <a:chOff x="76" y="1687"/>
            <a:chExt cx="1651" cy="725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231" y="1687"/>
              <a:ext cx="204" cy="20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76" y="1931"/>
              <a:ext cx="522" cy="481"/>
            </a:xfrm>
            <a:custGeom>
              <a:avLst/>
              <a:gdLst>
                <a:gd name="T0" fmla="*/ 108 w 128"/>
                <a:gd name="T1" fmla="*/ 5 h 118"/>
                <a:gd name="T2" fmla="*/ 64 w 128"/>
                <a:gd name="T3" fmla="*/ 1 h 118"/>
                <a:gd name="T4" fmla="*/ 20 w 128"/>
                <a:gd name="T5" fmla="*/ 5 h 118"/>
                <a:gd name="T6" fmla="*/ 0 w 128"/>
                <a:gd name="T7" fmla="*/ 37 h 118"/>
                <a:gd name="T8" fmla="*/ 15 w 128"/>
                <a:gd name="T9" fmla="*/ 114 h 118"/>
                <a:gd name="T10" fmla="*/ 20 w 128"/>
                <a:gd name="T11" fmla="*/ 118 h 118"/>
                <a:gd name="T12" fmla="*/ 108 w 128"/>
                <a:gd name="T13" fmla="*/ 118 h 118"/>
                <a:gd name="T14" fmla="*/ 113 w 128"/>
                <a:gd name="T15" fmla="*/ 114 h 118"/>
                <a:gd name="T16" fmla="*/ 128 w 128"/>
                <a:gd name="T17" fmla="*/ 37 h 118"/>
                <a:gd name="T18" fmla="*/ 108 w 128"/>
                <a:gd name="T19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" h="118">
                  <a:moveTo>
                    <a:pt x="108" y="5"/>
                  </a:moveTo>
                  <a:cubicBezTo>
                    <a:pt x="97" y="2"/>
                    <a:pt x="83" y="0"/>
                    <a:pt x="64" y="1"/>
                  </a:cubicBezTo>
                  <a:cubicBezTo>
                    <a:pt x="45" y="0"/>
                    <a:pt x="31" y="2"/>
                    <a:pt x="20" y="5"/>
                  </a:cubicBezTo>
                  <a:cubicBezTo>
                    <a:pt x="7" y="10"/>
                    <a:pt x="0" y="21"/>
                    <a:pt x="0" y="37"/>
                  </a:cubicBezTo>
                  <a:cubicBezTo>
                    <a:pt x="0" y="52"/>
                    <a:pt x="5" y="78"/>
                    <a:pt x="15" y="114"/>
                  </a:cubicBezTo>
                  <a:cubicBezTo>
                    <a:pt x="15" y="116"/>
                    <a:pt x="18" y="118"/>
                    <a:pt x="20" y="118"/>
                  </a:cubicBezTo>
                  <a:cubicBezTo>
                    <a:pt x="108" y="118"/>
                    <a:pt x="108" y="118"/>
                    <a:pt x="108" y="118"/>
                  </a:cubicBezTo>
                  <a:cubicBezTo>
                    <a:pt x="110" y="118"/>
                    <a:pt x="113" y="116"/>
                    <a:pt x="113" y="114"/>
                  </a:cubicBezTo>
                  <a:cubicBezTo>
                    <a:pt x="123" y="78"/>
                    <a:pt x="128" y="52"/>
                    <a:pt x="128" y="37"/>
                  </a:cubicBezTo>
                  <a:cubicBezTo>
                    <a:pt x="128" y="21"/>
                    <a:pt x="121" y="10"/>
                    <a:pt x="108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793" y="1687"/>
              <a:ext cx="208" cy="20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638" y="1931"/>
              <a:ext cx="526" cy="481"/>
            </a:xfrm>
            <a:custGeom>
              <a:avLst/>
              <a:gdLst>
                <a:gd name="T0" fmla="*/ 109 w 129"/>
                <a:gd name="T1" fmla="*/ 5 h 118"/>
                <a:gd name="T2" fmla="*/ 109 w 129"/>
                <a:gd name="T3" fmla="*/ 5 h 118"/>
                <a:gd name="T4" fmla="*/ 64 w 129"/>
                <a:gd name="T5" fmla="*/ 1 h 118"/>
                <a:gd name="T6" fmla="*/ 20 w 129"/>
                <a:gd name="T7" fmla="*/ 5 h 118"/>
                <a:gd name="T8" fmla="*/ 14 w 129"/>
                <a:gd name="T9" fmla="*/ 8 h 118"/>
                <a:gd name="T10" fmla="*/ 0 w 129"/>
                <a:gd name="T11" fmla="*/ 37 h 118"/>
                <a:gd name="T12" fmla="*/ 15 w 129"/>
                <a:gd name="T13" fmla="*/ 114 h 118"/>
                <a:gd name="T14" fmla="*/ 21 w 129"/>
                <a:gd name="T15" fmla="*/ 118 h 118"/>
                <a:gd name="T16" fmla="*/ 108 w 129"/>
                <a:gd name="T17" fmla="*/ 118 h 118"/>
                <a:gd name="T18" fmla="*/ 114 w 129"/>
                <a:gd name="T19" fmla="*/ 114 h 118"/>
                <a:gd name="T20" fmla="*/ 129 w 129"/>
                <a:gd name="T21" fmla="*/ 37 h 118"/>
                <a:gd name="T22" fmla="*/ 109 w 129"/>
                <a:gd name="T23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9" h="118">
                  <a:moveTo>
                    <a:pt x="109" y="5"/>
                  </a:moveTo>
                  <a:cubicBezTo>
                    <a:pt x="109" y="5"/>
                    <a:pt x="109" y="5"/>
                    <a:pt x="109" y="5"/>
                  </a:cubicBezTo>
                  <a:cubicBezTo>
                    <a:pt x="98" y="2"/>
                    <a:pt x="83" y="0"/>
                    <a:pt x="64" y="1"/>
                  </a:cubicBezTo>
                  <a:cubicBezTo>
                    <a:pt x="45" y="0"/>
                    <a:pt x="31" y="2"/>
                    <a:pt x="20" y="5"/>
                  </a:cubicBezTo>
                  <a:cubicBezTo>
                    <a:pt x="18" y="6"/>
                    <a:pt x="16" y="7"/>
                    <a:pt x="14" y="8"/>
                  </a:cubicBezTo>
                  <a:cubicBezTo>
                    <a:pt x="5" y="13"/>
                    <a:pt x="0" y="24"/>
                    <a:pt x="0" y="37"/>
                  </a:cubicBezTo>
                  <a:cubicBezTo>
                    <a:pt x="0" y="52"/>
                    <a:pt x="5" y="78"/>
                    <a:pt x="15" y="114"/>
                  </a:cubicBezTo>
                  <a:cubicBezTo>
                    <a:pt x="16" y="116"/>
                    <a:pt x="18" y="118"/>
                    <a:pt x="21" y="118"/>
                  </a:cubicBezTo>
                  <a:cubicBezTo>
                    <a:pt x="108" y="118"/>
                    <a:pt x="108" y="118"/>
                    <a:pt x="108" y="118"/>
                  </a:cubicBezTo>
                  <a:cubicBezTo>
                    <a:pt x="111" y="118"/>
                    <a:pt x="113" y="116"/>
                    <a:pt x="114" y="114"/>
                  </a:cubicBezTo>
                  <a:cubicBezTo>
                    <a:pt x="124" y="78"/>
                    <a:pt x="129" y="52"/>
                    <a:pt x="129" y="37"/>
                  </a:cubicBezTo>
                  <a:cubicBezTo>
                    <a:pt x="129" y="21"/>
                    <a:pt x="121" y="10"/>
                    <a:pt x="109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" name="Oval 9"/>
            <p:cNvSpPr>
              <a:spLocks noChangeArrowheads="1"/>
            </p:cNvSpPr>
            <p:nvPr/>
          </p:nvSpPr>
          <p:spPr bwMode="auto">
            <a:xfrm>
              <a:off x="1356" y="1687"/>
              <a:ext cx="208" cy="20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1205" y="1931"/>
              <a:ext cx="522" cy="481"/>
            </a:xfrm>
            <a:custGeom>
              <a:avLst/>
              <a:gdLst>
                <a:gd name="T0" fmla="*/ 108 w 128"/>
                <a:gd name="T1" fmla="*/ 5 h 118"/>
                <a:gd name="T2" fmla="*/ 64 w 128"/>
                <a:gd name="T3" fmla="*/ 1 h 118"/>
                <a:gd name="T4" fmla="*/ 19 w 128"/>
                <a:gd name="T5" fmla="*/ 5 h 118"/>
                <a:gd name="T6" fmla="*/ 0 w 128"/>
                <a:gd name="T7" fmla="*/ 37 h 118"/>
                <a:gd name="T8" fmla="*/ 14 w 128"/>
                <a:gd name="T9" fmla="*/ 114 h 118"/>
                <a:gd name="T10" fmla="*/ 20 w 128"/>
                <a:gd name="T11" fmla="*/ 118 h 118"/>
                <a:gd name="T12" fmla="*/ 107 w 128"/>
                <a:gd name="T13" fmla="*/ 118 h 118"/>
                <a:gd name="T14" fmla="*/ 113 w 128"/>
                <a:gd name="T15" fmla="*/ 114 h 118"/>
                <a:gd name="T16" fmla="*/ 128 w 128"/>
                <a:gd name="T17" fmla="*/ 37 h 118"/>
                <a:gd name="T18" fmla="*/ 108 w 128"/>
                <a:gd name="T19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" h="118">
                  <a:moveTo>
                    <a:pt x="108" y="5"/>
                  </a:moveTo>
                  <a:cubicBezTo>
                    <a:pt x="97" y="2"/>
                    <a:pt x="83" y="0"/>
                    <a:pt x="64" y="1"/>
                  </a:cubicBezTo>
                  <a:cubicBezTo>
                    <a:pt x="45" y="0"/>
                    <a:pt x="30" y="2"/>
                    <a:pt x="19" y="5"/>
                  </a:cubicBezTo>
                  <a:cubicBezTo>
                    <a:pt x="7" y="10"/>
                    <a:pt x="0" y="21"/>
                    <a:pt x="0" y="37"/>
                  </a:cubicBezTo>
                  <a:cubicBezTo>
                    <a:pt x="0" y="52"/>
                    <a:pt x="5" y="78"/>
                    <a:pt x="14" y="114"/>
                  </a:cubicBezTo>
                  <a:cubicBezTo>
                    <a:pt x="15" y="116"/>
                    <a:pt x="17" y="118"/>
                    <a:pt x="20" y="118"/>
                  </a:cubicBezTo>
                  <a:cubicBezTo>
                    <a:pt x="107" y="118"/>
                    <a:pt x="107" y="118"/>
                    <a:pt x="107" y="118"/>
                  </a:cubicBezTo>
                  <a:cubicBezTo>
                    <a:pt x="110" y="118"/>
                    <a:pt x="112" y="116"/>
                    <a:pt x="113" y="114"/>
                  </a:cubicBezTo>
                  <a:cubicBezTo>
                    <a:pt x="123" y="78"/>
                    <a:pt x="128" y="52"/>
                    <a:pt x="128" y="37"/>
                  </a:cubicBezTo>
                  <a:cubicBezTo>
                    <a:pt x="128" y="21"/>
                    <a:pt x="121" y="10"/>
                    <a:pt x="108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3" name="Group 4"/>
          <p:cNvGrpSpPr>
            <a:grpSpLocks noChangeAspect="1"/>
          </p:cNvGrpSpPr>
          <p:nvPr/>
        </p:nvGrpSpPr>
        <p:grpSpPr bwMode="auto">
          <a:xfrm>
            <a:off x="7134943" y="5070155"/>
            <a:ext cx="1556676" cy="683577"/>
            <a:chOff x="76" y="1687"/>
            <a:chExt cx="1651" cy="725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14" name="Oval 5"/>
            <p:cNvSpPr>
              <a:spLocks noChangeArrowheads="1"/>
            </p:cNvSpPr>
            <p:nvPr/>
          </p:nvSpPr>
          <p:spPr bwMode="auto">
            <a:xfrm>
              <a:off x="231" y="1687"/>
              <a:ext cx="204" cy="20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Freeform 6"/>
            <p:cNvSpPr>
              <a:spLocks/>
            </p:cNvSpPr>
            <p:nvPr/>
          </p:nvSpPr>
          <p:spPr bwMode="auto">
            <a:xfrm>
              <a:off x="76" y="1931"/>
              <a:ext cx="522" cy="481"/>
            </a:xfrm>
            <a:custGeom>
              <a:avLst/>
              <a:gdLst>
                <a:gd name="T0" fmla="*/ 108 w 128"/>
                <a:gd name="T1" fmla="*/ 5 h 118"/>
                <a:gd name="T2" fmla="*/ 64 w 128"/>
                <a:gd name="T3" fmla="*/ 1 h 118"/>
                <a:gd name="T4" fmla="*/ 20 w 128"/>
                <a:gd name="T5" fmla="*/ 5 h 118"/>
                <a:gd name="T6" fmla="*/ 0 w 128"/>
                <a:gd name="T7" fmla="*/ 37 h 118"/>
                <a:gd name="T8" fmla="*/ 15 w 128"/>
                <a:gd name="T9" fmla="*/ 114 h 118"/>
                <a:gd name="T10" fmla="*/ 20 w 128"/>
                <a:gd name="T11" fmla="*/ 118 h 118"/>
                <a:gd name="T12" fmla="*/ 108 w 128"/>
                <a:gd name="T13" fmla="*/ 118 h 118"/>
                <a:gd name="T14" fmla="*/ 113 w 128"/>
                <a:gd name="T15" fmla="*/ 114 h 118"/>
                <a:gd name="T16" fmla="*/ 128 w 128"/>
                <a:gd name="T17" fmla="*/ 37 h 118"/>
                <a:gd name="T18" fmla="*/ 108 w 128"/>
                <a:gd name="T19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" h="118">
                  <a:moveTo>
                    <a:pt x="108" y="5"/>
                  </a:moveTo>
                  <a:cubicBezTo>
                    <a:pt x="97" y="2"/>
                    <a:pt x="83" y="0"/>
                    <a:pt x="64" y="1"/>
                  </a:cubicBezTo>
                  <a:cubicBezTo>
                    <a:pt x="45" y="0"/>
                    <a:pt x="31" y="2"/>
                    <a:pt x="20" y="5"/>
                  </a:cubicBezTo>
                  <a:cubicBezTo>
                    <a:pt x="7" y="10"/>
                    <a:pt x="0" y="21"/>
                    <a:pt x="0" y="37"/>
                  </a:cubicBezTo>
                  <a:cubicBezTo>
                    <a:pt x="0" y="52"/>
                    <a:pt x="5" y="78"/>
                    <a:pt x="15" y="114"/>
                  </a:cubicBezTo>
                  <a:cubicBezTo>
                    <a:pt x="15" y="116"/>
                    <a:pt x="18" y="118"/>
                    <a:pt x="20" y="118"/>
                  </a:cubicBezTo>
                  <a:cubicBezTo>
                    <a:pt x="108" y="118"/>
                    <a:pt x="108" y="118"/>
                    <a:pt x="108" y="118"/>
                  </a:cubicBezTo>
                  <a:cubicBezTo>
                    <a:pt x="110" y="118"/>
                    <a:pt x="113" y="116"/>
                    <a:pt x="113" y="114"/>
                  </a:cubicBezTo>
                  <a:cubicBezTo>
                    <a:pt x="123" y="78"/>
                    <a:pt x="128" y="52"/>
                    <a:pt x="128" y="37"/>
                  </a:cubicBezTo>
                  <a:cubicBezTo>
                    <a:pt x="128" y="21"/>
                    <a:pt x="121" y="10"/>
                    <a:pt x="108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Oval 7"/>
            <p:cNvSpPr>
              <a:spLocks noChangeArrowheads="1"/>
            </p:cNvSpPr>
            <p:nvPr/>
          </p:nvSpPr>
          <p:spPr bwMode="auto">
            <a:xfrm>
              <a:off x="793" y="1687"/>
              <a:ext cx="208" cy="20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Freeform 8"/>
            <p:cNvSpPr>
              <a:spLocks/>
            </p:cNvSpPr>
            <p:nvPr/>
          </p:nvSpPr>
          <p:spPr bwMode="auto">
            <a:xfrm>
              <a:off x="638" y="1931"/>
              <a:ext cx="526" cy="481"/>
            </a:xfrm>
            <a:custGeom>
              <a:avLst/>
              <a:gdLst>
                <a:gd name="T0" fmla="*/ 109 w 129"/>
                <a:gd name="T1" fmla="*/ 5 h 118"/>
                <a:gd name="T2" fmla="*/ 109 w 129"/>
                <a:gd name="T3" fmla="*/ 5 h 118"/>
                <a:gd name="T4" fmla="*/ 64 w 129"/>
                <a:gd name="T5" fmla="*/ 1 h 118"/>
                <a:gd name="T6" fmla="*/ 20 w 129"/>
                <a:gd name="T7" fmla="*/ 5 h 118"/>
                <a:gd name="T8" fmla="*/ 14 w 129"/>
                <a:gd name="T9" fmla="*/ 8 h 118"/>
                <a:gd name="T10" fmla="*/ 0 w 129"/>
                <a:gd name="T11" fmla="*/ 37 h 118"/>
                <a:gd name="T12" fmla="*/ 15 w 129"/>
                <a:gd name="T13" fmla="*/ 114 h 118"/>
                <a:gd name="T14" fmla="*/ 21 w 129"/>
                <a:gd name="T15" fmla="*/ 118 h 118"/>
                <a:gd name="T16" fmla="*/ 108 w 129"/>
                <a:gd name="T17" fmla="*/ 118 h 118"/>
                <a:gd name="T18" fmla="*/ 114 w 129"/>
                <a:gd name="T19" fmla="*/ 114 h 118"/>
                <a:gd name="T20" fmla="*/ 129 w 129"/>
                <a:gd name="T21" fmla="*/ 37 h 118"/>
                <a:gd name="T22" fmla="*/ 109 w 129"/>
                <a:gd name="T23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9" h="118">
                  <a:moveTo>
                    <a:pt x="109" y="5"/>
                  </a:moveTo>
                  <a:cubicBezTo>
                    <a:pt x="109" y="5"/>
                    <a:pt x="109" y="5"/>
                    <a:pt x="109" y="5"/>
                  </a:cubicBezTo>
                  <a:cubicBezTo>
                    <a:pt x="98" y="2"/>
                    <a:pt x="83" y="0"/>
                    <a:pt x="64" y="1"/>
                  </a:cubicBezTo>
                  <a:cubicBezTo>
                    <a:pt x="45" y="0"/>
                    <a:pt x="31" y="2"/>
                    <a:pt x="20" y="5"/>
                  </a:cubicBezTo>
                  <a:cubicBezTo>
                    <a:pt x="18" y="6"/>
                    <a:pt x="16" y="7"/>
                    <a:pt x="14" y="8"/>
                  </a:cubicBezTo>
                  <a:cubicBezTo>
                    <a:pt x="5" y="13"/>
                    <a:pt x="0" y="24"/>
                    <a:pt x="0" y="37"/>
                  </a:cubicBezTo>
                  <a:cubicBezTo>
                    <a:pt x="0" y="52"/>
                    <a:pt x="5" y="78"/>
                    <a:pt x="15" y="114"/>
                  </a:cubicBezTo>
                  <a:cubicBezTo>
                    <a:pt x="16" y="116"/>
                    <a:pt x="18" y="118"/>
                    <a:pt x="21" y="118"/>
                  </a:cubicBezTo>
                  <a:cubicBezTo>
                    <a:pt x="108" y="118"/>
                    <a:pt x="108" y="118"/>
                    <a:pt x="108" y="118"/>
                  </a:cubicBezTo>
                  <a:cubicBezTo>
                    <a:pt x="111" y="118"/>
                    <a:pt x="113" y="116"/>
                    <a:pt x="114" y="114"/>
                  </a:cubicBezTo>
                  <a:cubicBezTo>
                    <a:pt x="124" y="78"/>
                    <a:pt x="129" y="52"/>
                    <a:pt x="129" y="37"/>
                  </a:cubicBezTo>
                  <a:cubicBezTo>
                    <a:pt x="129" y="21"/>
                    <a:pt x="121" y="10"/>
                    <a:pt x="109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Oval 9"/>
            <p:cNvSpPr>
              <a:spLocks noChangeArrowheads="1"/>
            </p:cNvSpPr>
            <p:nvPr/>
          </p:nvSpPr>
          <p:spPr bwMode="auto">
            <a:xfrm>
              <a:off x="1356" y="1687"/>
              <a:ext cx="208" cy="20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Freeform 10"/>
            <p:cNvSpPr>
              <a:spLocks/>
            </p:cNvSpPr>
            <p:nvPr/>
          </p:nvSpPr>
          <p:spPr bwMode="auto">
            <a:xfrm>
              <a:off x="1205" y="1931"/>
              <a:ext cx="522" cy="481"/>
            </a:xfrm>
            <a:custGeom>
              <a:avLst/>
              <a:gdLst>
                <a:gd name="T0" fmla="*/ 108 w 128"/>
                <a:gd name="T1" fmla="*/ 5 h 118"/>
                <a:gd name="T2" fmla="*/ 64 w 128"/>
                <a:gd name="T3" fmla="*/ 1 h 118"/>
                <a:gd name="T4" fmla="*/ 19 w 128"/>
                <a:gd name="T5" fmla="*/ 5 h 118"/>
                <a:gd name="T6" fmla="*/ 0 w 128"/>
                <a:gd name="T7" fmla="*/ 37 h 118"/>
                <a:gd name="T8" fmla="*/ 14 w 128"/>
                <a:gd name="T9" fmla="*/ 114 h 118"/>
                <a:gd name="T10" fmla="*/ 20 w 128"/>
                <a:gd name="T11" fmla="*/ 118 h 118"/>
                <a:gd name="T12" fmla="*/ 107 w 128"/>
                <a:gd name="T13" fmla="*/ 118 h 118"/>
                <a:gd name="T14" fmla="*/ 113 w 128"/>
                <a:gd name="T15" fmla="*/ 114 h 118"/>
                <a:gd name="T16" fmla="*/ 128 w 128"/>
                <a:gd name="T17" fmla="*/ 37 h 118"/>
                <a:gd name="T18" fmla="*/ 108 w 128"/>
                <a:gd name="T19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" h="118">
                  <a:moveTo>
                    <a:pt x="108" y="5"/>
                  </a:moveTo>
                  <a:cubicBezTo>
                    <a:pt x="97" y="2"/>
                    <a:pt x="83" y="0"/>
                    <a:pt x="64" y="1"/>
                  </a:cubicBezTo>
                  <a:cubicBezTo>
                    <a:pt x="45" y="0"/>
                    <a:pt x="30" y="2"/>
                    <a:pt x="19" y="5"/>
                  </a:cubicBezTo>
                  <a:cubicBezTo>
                    <a:pt x="7" y="10"/>
                    <a:pt x="0" y="21"/>
                    <a:pt x="0" y="37"/>
                  </a:cubicBezTo>
                  <a:cubicBezTo>
                    <a:pt x="0" y="52"/>
                    <a:pt x="5" y="78"/>
                    <a:pt x="14" y="114"/>
                  </a:cubicBezTo>
                  <a:cubicBezTo>
                    <a:pt x="15" y="116"/>
                    <a:pt x="17" y="118"/>
                    <a:pt x="20" y="118"/>
                  </a:cubicBezTo>
                  <a:cubicBezTo>
                    <a:pt x="107" y="118"/>
                    <a:pt x="107" y="118"/>
                    <a:pt x="107" y="118"/>
                  </a:cubicBezTo>
                  <a:cubicBezTo>
                    <a:pt x="110" y="118"/>
                    <a:pt x="112" y="116"/>
                    <a:pt x="113" y="114"/>
                  </a:cubicBezTo>
                  <a:cubicBezTo>
                    <a:pt x="123" y="78"/>
                    <a:pt x="128" y="52"/>
                    <a:pt x="128" y="37"/>
                  </a:cubicBezTo>
                  <a:cubicBezTo>
                    <a:pt x="128" y="21"/>
                    <a:pt x="121" y="10"/>
                    <a:pt x="108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20" name="Group 4"/>
          <p:cNvGrpSpPr>
            <a:grpSpLocks noChangeAspect="1"/>
          </p:cNvGrpSpPr>
          <p:nvPr/>
        </p:nvGrpSpPr>
        <p:grpSpPr bwMode="auto">
          <a:xfrm>
            <a:off x="8755900" y="5070155"/>
            <a:ext cx="1556676" cy="683577"/>
            <a:chOff x="76" y="1687"/>
            <a:chExt cx="1651" cy="725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1" name="Oval 5"/>
            <p:cNvSpPr>
              <a:spLocks noChangeArrowheads="1"/>
            </p:cNvSpPr>
            <p:nvPr/>
          </p:nvSpPr>
          <p:spPr bwMode="auto">
            <a:xfrm>
              <a:off x="231" y="1687"/>
              <a:ext cx="204" cy="20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6"/>
            <p:cNvSpPr>
              <a:spLocks/>
            </p:cNvSpPr>
            <p:nvPr/>
          </p:nvSpPr>
          <p:spPr bwMode="auto">
            <a:xfrm>
              <a:off x="76" y="1931"/>
              <a:ext cx="522" cy="481"/>
            </a:xfrm>
            <a:custGeom>
              <a:avLst/>
              <a:gdLst>
                <a:gd name="T0" fmla="*/ 108 w 128"/>
                <a:gd name="T1" fmla="*/ 5 h 118"/>
                <a:gd name="T2" fmla="*/ 64 w 128"/>
                <a:gd name="T3" fmla="*/ 1 h 118"/>
                <a:gd name="T4" fmla="*/ 20 w 128"/>
                <a:gd name="T5" fmla="*/ 5 h 118"/>
                <a:gd name="T6" fmla="*/ 0 w 128"/>
                <a:gd name="T7" fmla="*/ 37 h 118"/>
                <a:gd name="T8" fmla="*/ 15 w 128"/>
                <a:gd name="T9" fmla="*/ 114 h 118"/>
                <a:gd name="T10" fmla="*/ 20 w 128"/>
                <a:gd name="T11" fmla="*/ 118 h 118"/>
                <a:gd name="T12" fmla="*/ 108 w 128"/>
                <a:gd name="T13" fmla="*/ 118 h 118"/>
                <a:gd name="T14" fmla="*/ 113 w 128"/>
                <a:gd name="T15" fmla="*/ 114 h 118"/>
                <a:gd name="T16" fmla="*/ 128 w 128"/>
                <a:gd name="T17" fmla="*/ 37 h 118"/>
                <a:gd name="T18" fmla="*/ 108 w 128"/>
                <a:gd name="T19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" h="118">
                  <a:moveTo>
                    <a:pt x="108" y="5"/>
                  </a:moveTo>
                  <a:cubicBezTo>
                    <a:pt x="97" y="2"/>
                    <a:pt x="83" y="0"/>
                    <a:pt x="64" y="1"/>
                  </a:cubicBezTo>
                  <a:cubicBezTo>
                    <a:pt x="45" y="0"/>
                    <a:pt x="31" y="2"/>
                    <a:pt x="20" y="5"/>
                  </a:cubicBezTo>
                  <a:cubicBezTo>
                    <a:pt x="7" y="10"/>
                    <a:pt x="0" y="21"/>
                    <a:pt x="0" y="37"/>
                  </a:cubicBezTo>
                  <a:cubicBezTo>
                    <a:pt x="0" y="52"/>
                    <a:pt x="5" y="78"/>
                    <a:pt x="15" y="114"/>
                  </a:cubicBezTo>
                  <a:cubicBezTo>
                    <a:pt x="15" y="116"/>
                    <a:pt x="18" y="118"/>
                    <a:pt x="20" y="118"/>
                  </a:cubicBezTo>
                  <a:cubicBezTo>
                    <a:pt x="108" y="118"/>
                    <a:pt x="108" y="118"/>
                    <a:pt x="108" y="118"/>
                  </a:cubicBezTo>
                  <a:cubicBezTo>
                    <a:pt x="110" y="118"/>
                    <a:pt x="113" y="116"/>
                    <a:pt x="113" y="114"/>
                  </a:cubicBezTo>
                  <a:cubicBezTo>
                    <a:pt x="123" y="78"/>
                    <a:pt x="128" y="52"/>
                    <a:pt x="128" y="37"/>
                  </a:cubicBezTo>
                  <a:cubicBezTo>
                    <a:pt x="128" y="21"/>
                    <a:pt x="121" y="10"/>
                    <a:pt x="108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Oval 7"/>
            <p:cNvSpPr>
              <a:spLocks noChangeArrowheads="1"/>
            </p:cNvSpPr>
            <p:nvPr/>
          </p:nvSpPr>
          <p:spPr bwMode="auto">
            <a:xfrm>
              <a:off x="793" y="1687"/>
              <a:ext cx="208" cy="20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Freeform 8"/>
            <p:cNvSpPr>
              <a:spLocks/>
            </p:cNvSpPr>
            <p:nvPr/>
          </p:nvSpPr>
          <p:spPr bwMode="auto">
            <a:xfrm>
              <a:off x="638" y="1931"/>
              <a:ext cx="526" cy="481"/>
            </a:xfrm>
            <a:custGeom>
              <a:avLst/>
              <a:gdLst>
                <a:gd name="T0" fmla="*/ 109 w 129"/>
                <a:gd name="T1" fmla="*/ 5 h 118"/>
                <a:gd name="T2" fmla="*/ 109 w 129"/>
                <a:gd name="T3" fmla="*/ 5 h 118"/>
                <a:gd name="T4" fmla="*/ 64 w 129"/>
                <a:gd name="T5" fmla="*/ 1 h 118"/>
                <a:gd name="T6" fmla="*/ 20 w 129"/>
                <a:gd name="T7" fmla="*/ 5 h 118"/>
                <a:gd name="T8" fmla="*/ 14 w 129"/>
                <a:gd name="T9" fmla="*/ 8 h 118"/>
                <a:gd name="T10" fmla="*/ 0 w 129"/>
                <a:gd name="T11" fmla="*/ 37 h 118"/>
                <a:gd name="T12" fmla="*/ 15 w 129"/>
                <a:gd name="T13" fmla="*/ 114 h 118"/>
                <a:gd name="T14" fmla="*/ 21 w 129"/>
                <a:gd name="T15" fmla="*/ 118 h 118"/>
                <a:gd name="T16" fmla="*/ 108 w 129"/>
                <a:gd name="T17" fmla="*/ 118 h 118"/>
                <a:gd name="T18" fmla="*/ 114 w 129"/>
                <a:gd name="T19" fmla="*/ 114 h 118"/>
                <a:gd name="T20" fmla="*/ 129 w 129"/>
                <a:gd name="T21" fmla="*/ 37 h 118"/>
                <a:gd name="T22" fmla="*/ 109 w 129"/>
                <a:gd name="T23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9" h="118">
                  <a:moveTo>
                    <a:pt x="109" y="5"/>
                  </a:moveTo>
                  <a:cubicBezTo>
                    <a:pt x="109" y="5"/>
                    <a:pt x="109" y="5"/>
                    <a:pt x="109" y="5"/>
                  </a:cubicBezTo>
                  <a:cubicBezTo>
                    <a:pt x="98" y="2"/>
                    <a:pt x="83" y="0"/>
                    <a:pt x="64" y="1"/>
                  </a:cubicBezTo>
                  <a:cubicBezTo>
                    <a:pt x="45" y="0"/>
                    <a:pt x="31" y="2"/>
                    <a:pt x="20" y="5"/>
                  </a:cubicBezTo>
                  <a:cubicBezTo>
                    <a:pt x="18" y="6"/>
                    <a:pt x="16" y="7"/>
                    <a:pt x="14" y="8"/>
                  </a:cubicBezTo>
                  <a:cubicBezTo>
                    <a:pt x="5" y="13"/>
                    <a:pt x="0" y="24"/>
                    <a:pt x="0" y="37"/>
                  </a:cubicBezTo>
                  <a:cubicBezTo>
                    <a:pt x="0" y="52"/>
                    <a:pt x="5" y="78"/>
                    <a:pt x="15" y="114"/>
                  </a:cubicBezTo>
                  <a:cubicBezTo>
                    <a:pt x="16" y="116"/>
                    <a:pt x="18" y="118"/>
                    <a:pt x="21" y="118"/>
                  </a:cubicBezTo>
                  <a:cubicBezTo>
                    <a:pt x="108" y="118"/>
                    <a:pt x="108" y="118"/>
                    <a:pt x="108" y="118"/>
                  </a:cubicBezTo>
                  <a:cubicBezTo>
                    <a:pt x="111" y="118"/>
                    <a:pt x="113" y="116"/>
                    <a:pt x="114" y="114"/>
                  </a:cubicBezTo>
                  <a:cubicBezTo>
                    <a:pt x="124" y="78"/>
                    <a:pt x="129" y="52"/>
                    <a:pt x="129" y="37"/>
                  </a:cubicBezTo>
                  <a:cubicBezTo>
                    <a:pt x="129" y="21"/>
                    <a:pt x="121" y="10"/>
                    <a:pt x="109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Oval 9"/>
            <p:cNvSpPr>
              <a:spLocks noChangeArrowheads="1"/>
            </p:cNvSpPr>
            <p:nvPr/>
          </p:nvSpPr>
          <p:spPr bwMode="auto">
            <a:xfrm>
              <a:off x="1356" y="1687"/>
              <a:ext cx="208" cy="20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Freeform 10"/>
            <p:cNvSpPr>
              <a:spLocks/>
            </p:cNvSpPr>
            <p:nvPr/>
          </p:nvSpPr>
          <p:spPr bwMode="auto">
            <a:xfrm>
              <a:off x="1205" y="1931"/>
              <a:ext cx="522" cy="481"/>
            </a:xfrm>
            <a:custGeom>
              <a:avLst/>
              <a:gdLst>
                <a:gd name="T0" fmla="*/ 108 w 128"/>
                <a:gd name="T1" fmla="*/ 5 h 118"/>
                <a:gd name="T2" fmla="*/ 64 w 128"/>
                <a:gd name="T3" fmla="*/ 1 h 118"/>
                <a:gd name="T4" fmla="*/ 19 w 128"/>
                <a:gd name="T5" fmla="*/ 5 h 118"/>
                <a:gd name="T6" fmla="*/ 0 w 128"/>
                <a:gd name="T7" fmla="*/ 37 h 118"/>
                <a:gd name="T8" fmla="*/ 14 w 128"/>
                <a:gd name="T9" fmla="*/ 114 h 118"/>
                <a:gd name="T10" fmla="*/ 20 w 128"/>
                <a:gd name="T11" fmla="*/ 118 h 118"/>
                <a:gd name="T12" fmla="*/ 107 w 128"/>
                <a:gd name="T13" fmla="*/ 118 h 118"/>
                <a:gd name="T14" fmla="*/ 113 w 128"/>
                <a:gd name="T15" fmla="*/ 114 h 118"/>
                <a:gd name="T16" fmla="*/ 128 w 128"/>
                <a:gd name="T17" fmla="*/ 37 h 118"/>
                <a:gd name="T18" fmla="*/ 108 w 128"/>
                <a:gd name="T19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" h="118">
                  <a:moveTo>
                    <a:pt x="108" y="5"/>
                  </a:moveTo>
                  <a:cubicBezTo>
                    <a:pt x="97" y="2"/>
                    <a:pt x="83" y="0"/>
                    <a:pt x="64" y="1"/>
                  </a:cubicBezTo>
                  <a:cubicBezTo>
                    <a:pt x="45" y="0"/>
                    <a:pt x="30" y="2"/>
                    <a:pt x="19" y="5"/>
                  </a:cubicBezTo>
                  <a:cubicBezTo>
                    <a:pt x="7" y="10"/>
                    <a:pt x="0" y="21"/>
                    <a:pt x="0" y="37"/>
                  </a:cubicBezTo>
                  <a:cubicBezTo>
                    <a:pt x="0" y="52"/>
                    <a:pt x="5" y="78"/>
                    <a:pt x="14" y="114"/>
                  </a:cubicBezTo>
                  <a:cubicBezTo>
                    <a:pt x="15" y="116"/>
                    <a:pt x="17" y="118"/>
                    <a:pt x="20" y="118"/>
                  </a:cubicBezTo>
                  <a:cubicBezTo>
                    <a:pt x="107" y="118"/>
                    <a:pt x="107" y="118"/>
                    <a:pt x="107" y="118"/>
                  </a:cubicBezTo>
                  <a:cubicBezTo>
                    <a:pt x="110" y="118"/>
                    <a:pt x="112" y="116"/>
                    <a:pt x="113" y="114"/>
                  </a:cubicBezTo>
                  <a:cubicBezTo>
                    <a:pt x="123" y="78"/>
                    <a:pt x="128" y="52"/>
                    <a:pt x="128" y="37"/>
                  </a:cubicBezTo>
                  <a:cubicBezTo>
                    <a:pt x="128" y="21"/>
                    <a:pt x="121" y="10"/>
                    <a:pt x="108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280746" y="4344484"/>
            <a:ext cx="5256584" cy="749641"/>
            <a:chOff x="1824288" y="4118168"/>
            <a:chExt cx="5256584" cy="749641"/>
          </a:xfrm>
          <a:solidFill>
            <a:srgbClr val="4389FF"/>
          </a:solidFill>
        </p:grpSpPr>
        <p:sp>
          <p:nvSpPr>
            <p:cNvPr id="28" name="等腰三角形 27"/>
            <p:cNvSpPr/>
            <p:nvPr/>
          </p:nvSpPr>
          <p:spPr>
            <a:xfrm rot="12839886">
              <a:off x="2368655" y="4273603"/>
              <a:ext cx="243480" cy="57923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 b="1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9" name="等腰三角形 28"/>
            <p:cNvSpPr/>
            <p:nvPr/>
          </p:nvSpPr>
          <p:spPr>
            <a:xfrm rot="12133887">
              <a:off x="2860871" y="4279569"/>
              <a:ext cx="243480" cy="57923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 b="1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0" name="等腰三角形 29"/>
            <p:cNvSpPr/>
            <p:nvPr/>
          </p:nvSpPr>
          <p:spPr>
            <a:xfrm rot="12133887">
              <a:off x="3337081" y="4267636"/>
              <a:ext cx="243480" cy="57923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 b="1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1" name="等腰三角形 30"/>
            <p:cNvSpPr/>
            <p:nvPr/>
          </p:nvSpPr>
          <p:spPr>
            <a:xfrm rot="12133887">
              <a:off x="3896789" y="4267277"/>
              <a:ext cx="243480" cy="57923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 b="1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2" name="等腰三角形 31"/>
            <p:cNvSpPr/>
            <p:nvPr/>
          </p:nvSpPr>
          <p:spPr>
            <a:xfrm rot="10800000">
              <a:off x="4321999" y="4255038"/>
              <a:ext cx="243480" cy="57923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 b="1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3" name="等腰三角形 32"/>
            <p:cNvSpPr/>
            <p:nvPr/>
          </p:nvSpPr>
          <p:spPr>
            <a:xfrm rot="9785194">
              <a:off x="4743697" y="4288571"/>
              <a:ext cx="243480" cy="57923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 b="1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4" name="等腰三角形 33"/>
            <p:cNvSpPr/>
            <p:nvPr/>
          </p:nvSpPr>
          <p:spPr>
            <a:xfrm rot="9785194">
              <a:off x="5255845" y="4288572"/>
              <a:ext cx="243480" cy="57923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 b="1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5" name="等腰三角形 34"/>
            <p:cNvSpPr/>
            <p:nvPr/>
          </p:nvSpPr>
          <p:spPr>
            <a:xfrm rot="9785194">
              <a:off x="5791296" y="4269087"/>
              <a:ext cx="243480" cy="57923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 b="1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6" name="等腰三角形 35"/>
            <p:cNvSpPr/>
            <p:nvPr/>
          </p:nvSpPr>
          <p:spPr>
            <a:xfrm rot="9785194">
              <a:off x="6372213" y="4255037"/>
              <a:ext cx="243480" cy="57923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 b="1">
                <a:solidFill>
                  <a:sysClr val="windowText" lastClr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7" name="圆角矩形 36"/>
            <p:cNvSpPr/>
            <p:nvPr/>
          </p:nvSpPr>
          <p:spPr>
            <a:xfrm>
              <a:off x="1824288" y="4118168"/>
              <a:ext cx="5256584" cy="55074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一入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‘秋门</a:t>
              </a:r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’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深似海</a:t>
              </a:r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…….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953186" y="648027"/>
            <a:ext cx="11313458" cy="1744749"/>
            <a:chOff x="953186" y="648027"/>
            <a:chExt cx="11313458" cy="1744749"/>
          </a:xfrm>
        </p:grpSpPr>
        <p:sp>
          <p:nvSpPr>
            <p:cNvPr id="40" name="文本框 39"/>
            <p:cNvSpPr txBox="1"/>
            <p:nvPr/>
          </p:nvSpPr>
          <p:spPr>
            <a:xfrm>
              <a:off x="953186" y="1808001"/>
              <a:ext cx="113134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有价值选择</a:t>
              </a:r>
              <a:endParaRPr lang="en-US" altLang="zh-CN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3587421" y="838371"/>
              <a:ext cx="7547110" cy="15544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等腰三角形 41"/>
            <p:cNvSpPr/>
            <p:nvPr/>
          </p:nvSpPr>
          <p:spPr>
            <a:xfrm rot="16200000">
              <a:off x="3303200" y="1029635"/>
              <a:ext cx="568442" cy="49003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3890053" y="1146281"/>
              <a:ext cx="7057074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dirty="0" smtClean="0">
                  <a:solidFill>
                    <a:srgbClr val="FF3939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有价值的人生选择会使你的生活质量有质的飞跃，可以提升你的自我价值。</a:t>
              </a:r>
              <a:endParaRPr lang="zh-CN" altLang="en-US" sz="2800" dirty="0">
                <a:solidFill>
                  <a:srgbClr val="FF3939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953186" y="648027"/>
              <a:ext cx="2236510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000" dirty="0">
                  <a:solidFill>
                    <a:srgbClr val="FFC000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做出</a:t>
              </a:r>
              <a:endParaRPr lang="zh-CN" altLang="en-US" sz="8000" dirty="0">
                <a:solidFill>
                  <a:srgbClr val="FFC000"/>
                </a:solidFill>
              </a:endParaRPr>
            </a:p>
          </p:txBody>
        </p:sp>
      </p:grpSp>
      <p:sp>
        <p:nvSpPr>
          <p:cNvPr id="2" name="圆角矩形标注 1"/>
          <p:cNvSpPr/>
          <p:nvPr/>
        </p:nvSpPr>
        <p:spPr>
          <a:xfrm>
            <a:off x="2660239" y="3054496"/>
            <a:ext cx="2852052" cy="791734"/>
          </a:xfrm>
          <a:prstGeom prst="wedgeRoundRectCallout">
            <a:avLst>
              <a:gd name="adj1" fmla="val -61995"/>
              <a:gd name="adj2" fmla="val 268"/>
              <a:gd name="adj3" fmla="val 16667"/>
            </a:avLst>
          </a:prstGeom>
          <a:solidFill>
            <a:srgbClr val="438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跟我走，你懂的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2523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B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86" y="3070018"/>
            <a:ext cx="1625397" cy="162539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9134" y="4901075"/>
            <a:ext cx="1625397" cy="1625397"/>
          </a:xfrm>
          <a:prstGeom prst="rect">
            <a:avLst/>
          </a:prstGeom>
        </p:spPr>
      </p:pic>
      <p:sp>
        <p:nvSpPr>
          <p:cNvPr id="6" name="圆角矩形标注 5"/>
          <p:cNvSpPr/>
          <p:nvPr/>
        </p:nvSpPr>
        <p:spPr>
          <a:xfrm>
            <a:off x="3698543" y="2429301"/>
            <a:ext cx="3179929" cy="1173708"/>
          </a:xfrm>
          <a:prstGeom prst="wedgeRoundRectCallou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2931577" y="3077498"/>
            <a:ext cx="4708476" cy="1610436"/>
          </a:xfrm>
          <a:prstGeom prst="wedgeRoundRectCallout">
            <a:avLst>
              <a:gd name="adj1" fmla="val -56244"/>
              <a:gd name="adj2" fmla="val 10806"/>
              <a:gd name="adj3" fmla="val 16667"/>
            </a:avLst>
          </a:prstGeom>
          <a:solidFill>
            <a:srgbClr val="438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我完成了对未来人生设想和规划，做出了有价值的人生选择，如今，我</a:t>
            </a:r>
            <a:r>
              <a:rPr lang="zh-CN" altLang="en-US" sz="24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感激和享受这美妙的成就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4365243" y="4901075"/>
            <a:ext cx="4708476" cy="1610436"/>
          </a:xfrm>
          <a:prstGeom prst="wedgeRoundRectCallout">
            <a:avLst>
              <a:gd name="adj1" fmla="val 56510"/>
              <a:gd name="adj2" fmla="val 8264"/>
              <a:gd name="adj3" fmla="val 16667"/>
            </a:avLst>
          </a:prstGeom>
          <a:solidFill>
            <a:srgbClr val="438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我犯了错，走了弯路。我不自怨自艾，</a:t>
            </a:r>
            <a:r>
              <a:rPr lang="zh-CN" altLang="en-US" sz="24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承认并积极改正错误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，最终实现我的梦想。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953186" y="648027"/>
            <a:ext cx="11313458" cy="1744749"/>
            <a:chOff x="953186" y="648027"/>
            <a:chExt cx="11313458" cy="1744749"/>
          </a:xfrm>
        </p:grpSpPr>
        <p:sp>
          <p:nvSpPr>
            <p:cNvPr id="10" name="文本框 9"/>
            <p:cNvSpPr txBox="1"/>
            <p:nvPr/>
          </p:nvSpPr>
          <p:spPr>
            <a:xfrm>
              <a:off x="953186" y="1808001"/>
              <a:ext cx="113134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自己的人生</a:t>
              </a:r>
              <a:endParaRPr lang="en-US" altLang="zh-CN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587421" y="838371"/>
              <a:ext cx="7547110" cy="15544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等腰三角形 11"/>
            <p:cNvSpPr/>
            <p:nvPr/>
          </p:nvSpPr>
          <p:spPr>
            <a:xfrm rot="16200000">
              <a:off x="3303200" y="1029635"/>
              <a:ext cx="568442" cy="49003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3890053" y="1146281"/>
              <a:ext cx="7057074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dirty="0" smtClean="0">
                  <a:solidFill>
                    <a:srgbClr val="FF3939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客观地回顾自己做出的人生选择，如果满意，应该心怀感激；如果不满，应当寻求改变。</a:t>
              </a:r>
              <a:endParaRPr lang="zh-CN" altLang="en-US" sz="2800" dirty="0">
                <a:solidFill>
                  <a:srgbClr val="FF3939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953186" y="648027"/>
              <a:ext cx="2236510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000" dirty="0">
                  <a:solidFill>
                    <a:srgbClr val="FFC000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回顾</a:t>
              </a:r>
              <a:endParaRPr lang="zh-CN" altLang="en-US" sz="8000" dirty="0">
                <a:solidFill>
                  <a:srgbClr val="FFC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94056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8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083576" y="-3265140"/>
            <a:ext cx="6558206" cy="133882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6400" b="1" dirty="0" smtClean="0">
                <a:solidFill>
                  <a:prstClr val="white">
                    <a:alpha val="64000"/>
                  </a:prst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lang="zh-CN" altLang="en-US" sz="86400" b="1" dirty="0">
              <a:solidFill>
                <a:prstClr val="white">
                  <a:alpha val="64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282262" y="1520905"/>
            <a:ext cx="5880538" cy="4031874"/>
            <a:chOff x="1282262" y="1520905"/>
            <a:chExt cx="5880538" cy="4031874"/>
          </a:xfrm>
        </p:grpSpPr>
        <p:sp>
          <p:nvSpPr>
            <p:cNvPr id="4" name="矩形 3"/>
            <p:cNvSpPr/>
            <p:nvPr/>
          </p:nvSpPr>
          <p:spPr>
            <a:xfrm>
              <a:off x="1282262" y="3860008"/>
              <a:ext cx="5880538" cy="169277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0400" b="1" spc="-300" dirty="0" smtClean="0">
                  <a:solidFill>
                    <a:prstClr val="white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THREE</a:t>
              </a:r>
              <a:endParaRPr lang="zh-CN" altLang="en-US" sz="10400" b="1" spc="-300" dirty="0">
                <a:solidFill>
                  <a:prstClr val="white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1282262" y="1520905"/>
              <a:ext cx="480131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800" dirty="0">
                  <a:solidFill>
                    <a:srgbClr val="E7E6E6">
                      <a:lumMod val="10000"/>
                    </a:srgbClr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忍要忍</a:t>
              </a:r>
              <a:r>
                <a:rPr lang="zh-CN" altLang="en-US" sz="4800" dirty="0" smtClean="0">
                  <a:solidFill>
                    <a:srgbClr val="E7E6E6">
                      <a:lumMod val="10000"/>
                    </a:srgbClr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得有</a:t>
              </a:r>
              <a:endParaRPr lang="en-US" altLang="zh-CN" sz="4800" dirty="0" smtClean="0">
                <a:solidFill>
                  <a:srgbClr val="E7E6E6">
                    <a:lumMod val="10000"/>
                  </a:srgb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1282262" y="1936404"/>
              <a:ext cx="4801314" cy="23544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14700" dirty="0" smtClean="0">
                  <a:solidFill>
                    <a:srgbClr val="E7E6E6">
                      <a:lumMod val="10000"/>
                    </a:srgbClr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质量</a:t>
              </a:r>
              <a:endParaRPr lang="zh-CN" altLang="en-US" sz="14700" dirty="0">
                <a:solidFill>
                  <a:srgbClr val="E7E6E6">
                    <a:lumMod val="10000"/>
                  </a:srgb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75260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8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86" y="3435111"/>
            <a:ext cx="1930159" cy="1612698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2883345" y="3641245"/>
            <a:ext cx="66479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汽车都需要定期</a:t>
            </a:r>
            <a:r>
              <a:rPr lang="zh-CN" altLang="en-US" sz="3600" dirty="0" smtClean="0">
                <a:solidFill>
                  <a:srgbClr val="FFC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养护</a:t>
            </a:r>
            <a:r>
              <a:rPr lang="zh-CN" altLang="en-US" sz="36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，</a:t>
            </a:r>
            <a:endParaRPr lang="en-US" altLang="zh-CN" sz="3600" dirty="0" smtClean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  <a:p>
            <a:r>
              <a:rPr lang="zh-CN" altLang="en-US" sz="36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               </a:t>
            </a:r>
            <a:r>
              <a:rPr lang="zh-CN" altLang="en-US" sz="3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何况你的</a:t>
            </a:r>
            <a:r>
              <a:rPr lang="zh-CN" altLang="en-US" sz="3600" dirty="0" smtClean="0">
                <a:solidFill>
                  <a:srgbClr val="FFC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梦想</a:t>
            </a:r>
            <a:r>
              <a:rPr lang="zh-CN" altLang="en-US" sz="3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和</a:t>
            </a:r>
            <a:r>
              <a:rPr lang="zh-CN" altLang="en-US" sz="3600" dirty="0" smtClean="0">
                <a:solidFill>
                  <a:srgbClr val="FFC00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财富</a:t>
            </a:r>
            <a:endParaRPr lang="zh-CN" altLang="en-US" sz="3600" dirty="0">
              <a:solidFill>
                <a:srgbClr val="FFC000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pic>
        <p:nvPicPr>
          <p:cNvPr id="22" name="图片 21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2584" y="3435009"/>
            <a:ext cx="1675346" cy="161280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953186" y="648027"/>
            <a:ext cx="11313458" cy="1744749"/>
            <a:chOff x="953186" y="648027"/>
            <a:chExt cx="11313458" cy="1744749"/>
          </a:xfrm>
        </p:grpSpPr>
        <p:sp>
          <p:nvSpPr>
            <p:cNvPr id="7" name="文本框 6"/>
            <p:cNvSpPr txBox="1"/>
            <p:nvPr/>
          </p:nvSpPr>
          <p:spPr>
            <a:xfrm>
              <a:off x="953186" y="1808001"/>
              <a:ext cx="113134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情感触发器</a:t>
              </a:r>
              <a:endParaRPr lang="en-US" altLang="zh-CN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587421" y="838371"/>
              <a:ext cx="7547110" cy="15544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等腰三角形 8"/>
            <p:cNvSpPr/>
            <p:nvPr/>
          </p:nvSpPr>
          <p:spPr>
            <a:xfrm rot="16200000">
              <a:off x="3303200" y="1029635"/>
              <a:ext cx="568442" cy="49003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890053" y="1146281"/>
              <a:ext cx="7057074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dirty="0" smtClean="0">
                  <a:solidFill>
                    <a:srgbClr val="0070C0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定期挖掘和精确地优先发展你的梦想，评估早前确认的梦想是否仍具有资格。</a:t>
              </a:r>
              <a:endParaRPr lang="zh-CN" altLang="en-US" sz="2800" dirty="0">
                <a:solidFill>
                  <a:srgbClr val="0070C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953186" y="648027"/>
              <a:ext cx="2236510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000" dirty="0">
                  <a:solidFill>
                    <a:srgbClr val="FFC000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保养</a:t>
              </a:r>
              <a:endParaRPr lang="zh-CN" altLang="en-US" sz="8000" dirty="0">
                <a:solidFill>
                  <a:srgbClr val="FFC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84238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8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679210" y="3168584"/>
            <a:ext cx="8833580" cy="3511762"/>
            <a:chOff x="1679210" y="2695608"/>
            <a:chExt cx="8833580" cy="3511762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6000" y="2695608"/>
              <a:ext cx="1800000" cy="180000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9210" y="2695608"/>
              <a:ext cx="1800000" cy="1800000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2790" y="2695608"/>
              <a:ext cx="1800000" cy="1800000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1679210" y="4831307"/>
              <a:ext cx="18000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打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DOTA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196000" y="4831306"/>
              <a:ext cx="18000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看肥皂剧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8712789" y="4831305"/>
              <a:ext cx="18000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学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乘号 10"/>
            <p:cNvSpPr/>
            <p:nvPr/>
          </p:nvSpPr>
          <p:spPr>
            <a:xfrm>
              <a:off x="2122011" y="5292970"/>
              <a:ext cx="914400" cy="914400"/>
            </a:xfrm>
            <a:prstGeom prst="mathMultiply">
              <a:avLst/>
            </a:prstGeom>
            <a:solidFill>
              <a:srgbClr val="DB32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乘号 11"/>
            <p:cNvSpPr/>
            <p:nvPr/>
          </p:nvSpPr>
          <p:spPr>
            <a:xfrm>
              <a:off x="5638800" y="5292970"/>
              <a:ext cx="914400" cy="914400"/>
            </a:xfrm>
            <a:prstGeom prst="mathMultiply">
              <a:avLst/>
            </a:prstGeom>
            <a:solidFill>
              <a:srgbClr val="DB32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55589" y="5292970"/>
              <a:ext cx="914400" cy="914400"/>
            </a:xfrm>
            <a:prstGeom prst="rect">
              <a:avLst/>
            </a:prstGeom>
          </p:spPr>
        </p:pic>
      </p:grpSp>
      <p:grpSp>
        <p:nvGrpSpPr>
          <p:cNvPr id="13" name="组合 12"/>
          <p:cNvGrpSpPr/>
          <p:nvPr/>
        </p:nvGrpSpPr>
        <p:grpSpPr>
          <a:xfrm>
            <a:off x="953186" y="648027"/>
            <a:ext cx="11313458" cy="1744749"/>
            <a:chOff x="953186" y="648027"/>
            <a:chExt cx="11313458" cy="1744749"/>
          </a:xfrm>
        </p:grpSpPr>
        <p:sp>
          <p:nvSpPr>
            <p:cNvPr id="15" name="文本框 14"/>
            <p:cNvSpPr txBox="1"/>
            <p:nvPr/>
          </p:nvSpPr>
          <p:spPr>
            <a:xfrm>
              <a:off x="953186" y="1808001"/>
              <a:ext cx="113134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 smtClean="0">
                  <a:solidFill>
                    <a:schemeClr val="bg1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和延迟满足</a:t>
              </a:r>
              <a:endParaRPr lang="en-US" altLang="zh-CN" sz="32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587421" y="838371"/>
              <a:ext cx="7547110" cy="15544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等腰三角形 16"/>
            <p:cNvSpPr/>
            <p:nvPr/>
          </p:nvSpPr>
          <p:spPr>
            <a:xfrm rot="16200000">
              <a:off x="3303200" y="1029635"/>
              <a:ext cx="568442" cy="49003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3890053" y="1146281"/>
              <a:ext cx="7057074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dirty="0">
                  <a:solidFill>
                    <a:srgbClr val="0070C0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使</a:t>
              </a:r>
              <a:r>
                <a:rPr lang="zh-CN" altLang="en-US" sz="2800" dirty="0" smtClean="0">
                  <a:solidFill>
                    <a:srgbClr val="0070C0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当地使用自律和延迟满足，和促使你做出不利选择的情绪欲望向抗争。</a:t>
              </a:r>
              <a:endParaRPr lang="zh-CN" altLang="en-US" sz="2800" dirty="0">
                <a:solidFill>
                  <a:srgbClr val="0070C0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953186" y="648027"/>
              <a:ext cx="2236510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000" dirty="0">
                  <a:solidFill>
                    <a:srgbClr val="FFC000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rPr>
                <a:t>自律</a:t>
              </a:r>
              <a:endParaRPr lang="zh-CN" altLang="en-US" sz="8000" dirty="0">
                <a:solidFill>
                  <a:srgbClr val="FFC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86736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 rot="10800000">
            <a:off x="-1596618" y="0"/>
            <a:ext cx="15385236" cy="6858000"/>
            <a:chOff x="-1596618" y="0"/>
            <a:chExt cx="15385236" cy="6858000"/>
          </a:xfrm>
        </p:grpSpPr>
        <p:sp>
          <p:nvSpPr>
            <p:cNvPr id="3" name="平行四边形 2"/>
            <p:cNvSpPr/>
            <p:nvPr/>
          </p:nvSpPr>
          <p:spPr>
            <a:xfrm>
              <a:off x="-1596618" y="0"/>
              <a:ext cx="6180084" cy="6858000"/>
            </a:xfrm>
            <a:prstGeom prst="parallelogram">
              <a:avLst/>
            </a:prstGeom>
            <a:solidFill>
              <a:srgbClr val="FFD2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平行四边形 3"/>
            <p:cNvSpPr/>
            <p:nvPr/>
          </p:nvSpPr>
          <p:spPr>
            <a:xfrm>
              <a:off x="3005958" y="0"/>
              <a:ext cx="6180084" cy="6858000"/>
            </a:xfrm>
            <a:prstGeom prst="parallelogram">
              <a:avLst/>
            </a:prstGeom>
            <a:solidFill>
              <a:srgbClr val="FF6B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平行四边形 4"/>
            <p:cNvSpPr/>
            <p:nvPr/>
          </p:nvSpPr>
          <p:spPr>
            <a:xfrm>
              <a:off x="7608534" y="0"/>
              <a:ext cx="6180084" cy="6858000"/>
            </a:xfrm>
            <a:prstGeom prst="parallelogram">
              <a:avLst/>
            </a:prstGeom>
            <a:solidFill>
              <a:srgbClr val="438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7"/>
          <p:cNvSpPr/>
          <p:nvPr/>
        </p:nvSpPr>
        <p:spPr>
          <a:xfrm>
            <a:off x="-1032282" y="2552700"/>
            <a:ext cx="14687550" cy="1695450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49845" y="2725399"/>
            <a:ext cx="1219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忍耐之苦是苦的</a:t>
            </a:r>
            <a:endParaRPr lang="en-US" altLang="zh-CN" sz="4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r>
              <a:rPr lang="zh-CN" altLang="en-US" sz="4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但最终会结出甘甜而柔软的果实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49845" y="4321939"/>
            <a:ext cx="28634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谢谢观赏</a:t>
            </a:r>
            <a:endParaRPr lang="en-US" altLang="zh-CN" sz="28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@Packy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Young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91885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163" y="1092485"/>
            <a:ext cx="7405675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771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098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54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129" y="3987562"/>
            <a:ext cx="7405675" cy="1791196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091" y="4303808"/>
            <a:ext cx="6881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129" y="2291753"/>
            <a:ext cx="1574654" cy="1086373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39" y="2291754"/>
            <a:ext cx="1574654" cy="1279207"/>
            <a:chOff x="107380" y="2024805"/>
            <a:chExt cx="1944270" cy="1579471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5"/>
              <a:ext cx="1728239" cy="12220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90" y="2291753"/>
            <a:ext cx="1574654" cy="1086373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71" y="2291753"/>
            <a:ext cx="1574654" cy="1086373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3542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388" y="3953873"/>
            <a:ext cx="7425926" cy="1301778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1" cy="5450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50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1134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2" y="3613174"/>
              <a:ext cx="594123" cy="575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243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2"/>
              <a:ext cx="3543296" cy="927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6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lang="zh-CN" altLang="en-US" sz="63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37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702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2"/>
              <a:ext cx="757239" cy="760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702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94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07857" cy="34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216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368540" y="1387104"/>
            <a:ext cx="5481623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113</a:t>
            </a: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174511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CBAD3"/>
        </a:solidFill>
        <a:ln>
          <a:noFill/>
        </a:ln>
      </a:spPr>
      <a:bodyPr rtlCol="0" anchor="ctr"/>
      <a:lstStyle>
        <a:defPPr>
          <a:defRPr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1218</TotalTime>
  <Words>1048</Words>
  <Application>Microsoft Office PowerPoint</Application>
  <PresentationFormat>宽屏</PresentationFormat>
  <Paragraphs>149</Paragraphs>
  <Slides>20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Hakuu</vt:lpstr>
      <vt:lpstr>Microsoft JhengHei</vt:lpstr>
      <vt:lpstr>方正正黑简体</vt:lpstr>
      <vt:lpstr>方正正中黑简体</vt:lpstr>
      <vt:lpstr>华康俪金黑W8</vt:lpstr>
      <vt:lpstr>华康俪金黑W8(P)</vt:lpstr>
      <vt:lpstr>宋体</vt:lpstr>
      <vt:lpstr>微软雅黑</vt:lpstr>
      <vt:lpstr>Arial</vt:lpstr>
      <vt:lpstr>Calibri</vt:lpstr>
      <vt:lpstr>Calibri Light</vt:lpstr>
      <vt:lpstr>Segoe UI</vt:lpstr>
      <vt:lpstr>Wingdings</vt:lpstr>
      <vt:lpstr>Office 主题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packy</dc:creator>
  <cp:lastModifiedBy>小巴</cp:lastModifiedBy>
  <cp:revision>112</cp:revision>
  <dcterms:created xsi:type="dcterms:W3CDTF">2014-04-21T13:30:39Z</dcterms:created>
  <dcterms:modified xsi:type="dcterms:W3CDTF">2014-05-27T03:57:36Z</dcterms:modified>
</cp:coreProperties>
</file>