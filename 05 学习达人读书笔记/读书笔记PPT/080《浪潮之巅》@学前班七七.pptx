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1"/>
  </p:notesMasterIdLst>
  <p:sldIdLst>
    <p:sldId id="259" r:id="rId3"/>
    <p:sldId id="261" r:id="rId4"/>
    <p:sldId id="267" r:id="rId5"/>
    <p:sldId id="262" r:id="rId6"/>
    <p:sldId id="264" r:id="rId7"/>
    <p:sldId id="263" r:id="rId8"/>
    <p:sldId id="265" r:id="rId9"/>
    <p:sldId id="268" r:id="rId10"/>
    <p:sldId id="266" r:id="rId11"/>
    <p:sldId id="269" r:id="rId12"/>
    <p:sldId id="270" r:id="rId13"/>
    <p:sldId id="271" r:id="rId14"/>
    <p:sldId id="273" r:id="rId15"/>
    <p:sldId id="272" r:id="rId16"/>
    <p:sldId id="274" r:id="rId17"/>
    <p:sldId id="275" r:id="rId18"/>
    <p:sldId id="276" r:id="rId19"/>
    <p:sldId id="277" r:id="rId20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11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4D1A"/>
    <a:srgbClr val="010103"/>
    <a:srgbClr val="A83410"/>
    <a:srgbClr val="E1E0E2"/>
    <a:srgbClr val="666469"/>
    <a:srgbClr val="5E5C60"/>
    <a:srgbClr val="6C6A6F"/>
    <a:srgbClr val="605E63"/>
    <a:srgbClr val="7324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3" d="100"/>
          <a:sy n="83" d="100"/>
        </p:scale>
        <p:origin x="1026" y="90"/>
      </p:cViewPr>
      <p:guideLst>
        <p:guide orient="horz" pos="1800"/>
        <p:guide pos="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8CEE3-839B-4F99-96F2-21BC09439874}" type="datetimeFigureOut">
              <a:rPr lang="zh-CN" altLang="en-US" smtClean="0"/>
              <a:pPr/>
              <a:t>2014/4/14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81E33-E6AD-42D5-9DB4-8C073D5C1E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44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81E33-E6AD-42D5-9DB4-8C073D5C1E7C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706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81E33-E6AD-42D5-9DB4-8C073D5C1E7C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60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22030" y="1143000"/>
            <a:ext cx="8229600" cy="15240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CB8CC-4F6A-4354-B139-59FD76F26A53}" type="datetimeFigureOut">
              <a:rPr lang="zh-CN" altLang="en-US" smtClean="0"/>
              <a:pPr/>
              <a:t>2014/4/14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64B9-EB8C-441D-A785-291079C7C15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371600" y="2776415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CB8CC-4F6A-4354-B139-59FD76F26A53}" type="datetimeFigureOut">
              <a:rPr lang="zh-CN" altLang="en-US" smtClean="0"/>
              <a:pPr/>
              <a:t>2014/4/14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64B9-EB8C-441D-A785-291079C7C15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508000"/>
            <a:ext cx="7086600" cy="15240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600200" y="2089822"/>
            <a:ext cx="7086600" cy="1258093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CB8CC-4F6A-4354-B139-59FD76F26A53}" type="datetimeFigureOut">
              <a:rPr lang="zh-CN" altLang="en-US" smtClean="0"/>
              <a:pPr/>
              <a:t>2014/4/14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924800" y="5347230"/>
            <a:ext cx="762000" cy="304271"/>
          </a:xfrm>
        </p:spPr>
        <p:txBody>
          <a:bodyPr/>
          <a:lstStyle/>
          <a:p>
            <a:fld id="{BE1F64B9-EB8C-441D-A785-291079C7C15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CB8CC-4F6A-4354-B139-59FD76F26A53}" type="datetimeFigureOut">
              <a:rPr lang="zh-CN" altLang="en-US" smtClean="0"/>
              <a:pPr/>
              <a:t>2014/4/14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64B9-EB8C-441D-A785-291079C7C15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7542"/>
            <a:ext cx="8229600" cy="9525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625739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1279261"/>
            <a:ext cx="4041775" cy="625739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968500"/>
            <a:ext cx="4040188" cy="3136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968500"/>
            <a:ext cx="4041775" cy="3136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CB8CC-4F6A-4354-B139-59FD76F26A53}" type="datetimeFigureOut">
              <a:rPr lang="zh-CN" altLang="en-US" smtClean="0"/>
              <a:pPr/>
              <a:t>2014/4/14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64B9-EB8C-441D-A785-291079C7C15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CB8CC-4F6A-4354-B139-59FD76F26A53}" type="datetimeFigureOut">
              <a:rPr lang="zh-CN" altLang="en-US" smtClean="0"/>
              <a:pPr/>
              <a:t>2014/4/14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64B9-EB8C-441D-A785-291079C7C15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CB8CC-4F6A-4354-B139-59FD76F26A53}" type="datetimeFigureOut">
              <a:rPr lang="zh-CN" altLang="en-US" smtClean="0"/>
              <a:pPr/>
              <a:t>2014/4/14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64B9-EB8C-441D-A785-291079C7C15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1" y="1270000"/>
            <a:ext cx="3008313" cy="3835136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CB8CC-4F6A-4354-B139-59FD76F26A53}" type="datetimeFigureOut">
              <a:rPr lang="zh-CN" altLang="en-US" smtClean="0"/>
              <a:pPr/>
              <a:t>2014/4/14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64B9-EB8C-441D-A785-291079C7C15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508000"/>
            <a:ext cx="5486400" cy="435240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828800" y="1526646"/>
            <a:ext cx="5486400" cy="33020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zh-CN" alt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单击图标添加图片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828800" y="972323"/>
            <a:ext cx="5486400" cy="441960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CB8CC-4F6A-4354-B139-59FD76F26A53}" type="datetimeFigureOut">
              <a:rPr lang="zh-CN" altLang="en-US" smtClean="0"/>
              <a:pPr/>
              <a:t>2014/4/14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64B9-EB8C-441D-A785-291079C7C15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CB8CC-4F6A-4354-B139-59FD76F26A53}" type="datetimeFigureOut">
              <a:rPr lang="zh-CN" altLang="en-US" smtClean="0"/>
              <a:pPr/>
              <a:t>2014/4/14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64B9-EB8C-441D-A785-291079C7C15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CB8CC-4F6A-4354-B139-59FD76F26A53}" type="datetimeFigureOut">
              <a:rPr lang="zh-CN" altLang="en-US" smtClean="0"/>
              <a:pPr/>
              <a:t>2014/4/14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64B9-EB8C-441D-A785-291079C7C15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6931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094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379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6671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024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594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4483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5332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6992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048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9243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457200" y="5347230"/>
            <a:ext cx="2133600" cy="304271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F7CB8CC-4F6A-4354-B139-59FD76F26A53}" type="datetimeFigureOut">
              <a:rPr lang="zh-CN" altLang="en-US" smtClean="0"/>
              <a:pPr/>
              <a:t>2014/4/14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24200" y="5347230"/>
            <a:ext cx="2895600" cy="304271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7924800" y="5347230"/>
            <a:ext cx="762000" cy="304271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E1F64B9-EB8C-441D-A785-291079C7C15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20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473370" y="3021416"/>
            <a:ext cx="1035609" cy="1034719"/>
          </a:xfrm>
          <a:prstGeom prst="rect">
            <a:avLst/>
          </a:prstGeom>
          <a:solidFill>
            <a:srgbClr val="E94D1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772675" y="3439540"/>
            <a:ext cx="2277417" cy="2275460"/>
          </a:xfrm>
          <a:prstGeom prst="rect">
            <a:avLst/>
          </a:prstGeom>
          <a:solidFill>
            <a:srgbClr val="E94D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923928" y="1408215"/>
            <a:ext cx="477085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sz="60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界生存法则</a:t>
            </a:r>
            <a:endParaRPr lang="zh-CN" altLang="en-US" sz="6000" b="1" dirty="0">
              <a:solidFill>
                <a:srgbClr val="E94D1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6671" y="3633439"/>
            <a:ext cx="2441694" cy="13665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内容来自：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浪潮之巅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pPr>
              <a:lnSpc>
                <a:spcPct val="12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原作者：吴军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PPT  By @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学前班七七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093304"/>
            <a:ext cx="2822389" cy="3488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直接连接符 2"/>
          <p:cNvCxnSpPr/>
          <p:nvPr/>
        </p:nvCxnSpPr>
        <p:spPr>
          <a:xfrm>
            <a:off x="4031940" y="2423878"/>
            <a:ext cx="453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031940" y="1408215"/>
            <a:ext cx="453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808923" y="4418269"/>
            <a:ext cx="219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415237" y="3891385"/>
            <a:ext cx="433127" cy="432755"/>
          </a:xfrm>
          <a:prstGeom prst="rect">
            <a:avLst/>
          </a:prstGeom>
          <a:solidFill>
            <a:srgbClr val="E94D1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124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0" y="1417340"/>
            <a:ext cx="9144000" cy="3560058"/>
          </a:xfrm>
          <a:prstGeom prst="rect">
            <a:avLst/>
          </a:prstGeom>
          <a:solidFill>
            <a:srgbClr val="E1E0E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2000" rtlCol="0" anchor="t"/>
          <a:lstStyle/>
          <a:p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850090" y="2065412"/>
            <a:ext cx="1656184" cy="1656184"/>
          </a:xfrm>
          <a:prstGeom prst="ellipse">
            <a:avLst/>
          </a:prstGeom>
          <a:solidFill>
            <a:srgbClr val="E94D1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 smtClean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itchFamily="34" charset="0"/>
              </a:rPr>
              <a:t>01</a:t>
            </a:r>
            <a:endParaRPr lang="zh-CN" altLang="en-US" sz="540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 Black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1935" y="4045632"/>
            <a:ext cx="12474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 smtClean="0"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sz="2800" b="1" dirty="0" smtClean="0">
                <a:latin typeface="微软雅黑" pitchFamily="34" charset="-122"/>
                <a:ea typeface="微软雅黑" pitchFamily="34" charset="-122"/>
              </a:rPr>
              <a:t>定律</a:t>
            </a:r>
            <a:endParaRPr lang="zh-CN" altLang="en-US" sz="28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3743909" y="2065412"/>
            <a:ext cx="1656184" cy="1656184"/>
          </a:xfrm>
          <a:prstGeom prst="ellipse">
            <a:avLst/>
          </a:prstGeom>
          <a:solidFill>
            <a:srgbClr val="E94D1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 smtClean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itchFamily="34" charset="0"/>
              </a:rPr>
              <a:t>02</a:t>
            </a:r>
            <a:endParaRPr lang="zh-CN" altLang="en-US" sz="540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 Black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43131" y="4045632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itchFamily="34" charset="-122"/>
                <a:ea typeface="微软雅黑" pitchFamily="34" charset="-122"/>
              </a:rPr>
              <a:t>成功要素</a:t>
            </a:r>
            <a:endParaRPr lang="zh-CN" altLang="en-US" sz="28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6637727" y="2065412"/>
            <a:ext cx="1656184" cy="1656184"/>
          </a:xfrm>
          <a:prstGeom prst="ellipse">
            <a:avLst/>
          </a:prstGeom>
          <a:solidFill>
            <a:srgbClr val="E94D1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 smtClean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itchFamily="34" charset="0"/>
              </a:rPr>
              <a:t>03</a:t>
            </a:r>
            <a:endParaRPr lang="zh-CN" altLang="en-US" sz="540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 Black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602821" y="4045632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itchFamily="34" charset="-122"/>
                <a:ea typeface="微软雅黑" pitchFamily="34" charset="-122"/>
              </a:rPr>
              <a:t>风险投资</a:t>
            </a:r>
            <a:endParaRPr lang="zh-CN" altLang="en-US" sz="28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850090" y="4045632"/>
            <a:ext cx="1525666" cy="0"/>
          </a:xfrm>
          <a:prstGeom prst="line">
            <a:avLst/>
          </a:prstGeom>
          <a:ln>
            <a:solidFill>
              <a:srgbClr val="E94D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850090" y="4577590"/>
            <a:ext cx="1525666" cy="0"/>
          </a:xfrm>
          <a:prstGeom prst="line">
            <a:avLst/>
          </a:prstGeom>
          <a:ln>
            <a:solidFill>
              <a:srgbClr val="E94D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804294" y="4053734"/>
            <a:ext cx="1525666" cy="0"/>
          </a:xfrm>
          <a:prstGeom prst="line">
            <a:avLst/>
          </a:prstGeom>
          <a:ln>
            <a:solidFill>
              <a:srgbClr val="E94D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3804294" y="4585692"/>
            <a:ext cx="1525666" cy="0"/>
          </a:xfrm>
          <a:prstGeom prst="line">
            <a:avLst/>
          </a:prstGeom>
          <a:ln>
            <a:solidFill>
              <a:srgbClr val="E94D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660232" y="4053734"/>
            <a:ext cx="1525666" cy="0"/>
          </a:xfrm>
          <a:prstGeom prst="line">
            <a:avLst/>
          </a:prstGeom>
          <a:ln>
            <a:solidFill>
              <a:srgbClr val="E94D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660232" y="4585692"/>
            <a:ext cx="1525666" cy="0"/>
          </a:xfrm>
          <a:prstGeom prst="line">
            <a:avLst/>
          </a:prstGeom>
          <a:ln>
            <a:solidFill>
              <a:srgbClr val="E94D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1799692" y="-130832"/>
            <a:ext cx="5976663" cy="1656184"/>
          </a:xfrm>
          <a:prstGeom prst="ellipse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 smtClean="0">
                <a:solidFill>
                  <a:srgbClr val="E94D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r>
              <a:rPr lang="en-US" altLang="zh-CN" sz="4400" b="1" dirty="0" smtClean="0">
                <a:solidFill>
                  <a:srgbClr val="E94D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4400" b="1" dirty="0" smtClean="0">
                <a:solidFill>
                  <a:srgbClr val="E94D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400" dirty="0" smtClean="0">
                <a:solidFill>
                  <a:srgbClr val="E94D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CONTENTS</a:t>
            </a:r>
            <a:endParaRPr lang="zh-CN" altLang="en-US" sz="4400" dirty="0">
              <a:solidFill>
                <a:srgbClr val="E94D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62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0" y="2705100"/>
            <a:ext cx="4536000" cy="152400"/>
            <a:chOff x="0" y="2497460"/>
            <a:chExt cx="5436096" cy="152400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0" y="2497460"/>
              <a:ext cx="54360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/>
            <p:cNvCxnSpPr/>
            <p:nvPr/>
          </p:nvCxnSpPr>
          <p:spPr>
            <a:xfrm>
              <a:off x="0" y="2649860"/>
              <a:ext cx="54360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 5"/>
          <p:cNvSpPr/>
          <p:nvPr/>
        </p:nvSpPr>
        <p:spPr>
          <a:xfrm>
            <a:off x="791580" y="1674076"/>
            <a:ext cx="386997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 b="1" dirty="0" smtClean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01  IT</a:t>
            </a:r>
            <a:r>
              <a:rPr lang="zh-CN" altLang="en-US" sz="6000" b="1" dirty="0" smtClean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定律</a:t>
            </a:r>
            <a:endParaRPr lang="zh-CN" altLang="en-US" sz="6000" b="1" dirty="0">
              <a:solidFill>
                <a:srgbClr val="E94D1A"/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44803" y="3021416"/>
            <a:ext cx="1035609" cy="1034719"/>
          </a:xfrm>
          <a:prstGeom prst="rect">
            <a:avLst/>
          </a:prstGeom>
          <a:solidFill>
            <a:srgbClr val="E94D1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544108" y="3439540"/>
            <a:ext cx="2277417" cy="2275460"/>
          </a:xfrm>
          <a:prstGeom prst="rect">
            <a:avLst/>
          </a:prstGeom>
          <a:solidFill>
            <a:srgbClr val="E94D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186670" y="3891385"/>
            <a:ext cx="433127" cy="432755"/>
          </a:xfrm>
          <a:prstGeom prst="rect">
            <a:avLst/>
          </a:prstGeom>
          <a:solidFill>
            <a:srgbClr val="E94D1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662071" y="3579081"/>
            <a:ext cx="203132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浪潮之巅</a:t>
            </a:r>
            <a:r>
              <a:rPr lang="en-US" altLang="zh-CN" sz="2400" b="1" dirty="0" smtClean="0"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读书笔记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111" y="4473721"/>
            <a:ext cx="1183243" cy="1177636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5580112" y="4418269"/>
            <a:ext cx="219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759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417340"/>
            <a:ext cx="9144000" cy="3888432"/>
          </a:xfrm>
          <a:prstGeom prst="rect">
            <a:avLst/>
          </a:prstGeom>
          <a:solidFill>
            <a:srgbClr val="E1E0E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2000" rtlCol="0" anchor="t"/>
          <a:lstStyle/>
          <a:p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单圆角矩形 2"/>
          <p:cNvSpPr/>
          <p:nvPr/>
        </p:nvSpPr>
        <p:spPr>
          <a:xfrm>
            <a:off x="5434209" y="697260"/>
            <a:ext cx="1798313" cy="720080"/>
          </a:xfrm>
          <a:prstGeom prst="snipRoundRect">
            <a:avLst/>
          </a:prstGeom>
          <a:solidFill>
            <a:srgbClr val="E1E0E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安迪</a:t>
            </a:r>
            <a:r>
              <a:rPr lang="en-US" altLang="zh-CN" sz="2000" dirty="0" smtClean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比尔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定律</a:t>
            </a:r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单圆角矩形 3"/>
          <p:cNvSpPr/>
          <p:nvPr/>
        </p:nvSpPr>
        <p:spPr>
          <a:xfrm>
            <a:off x="7304530" y="702858"/>
            <a:ext cx="1798313" cy="720080"/>
          </a:xfrm>
          <a:prstGeom prst="snipRoundRect">
            <a:avLst/>
          </a:prstGeom>
          <a:solidFill>
            <a:srgbClr val="E1E0E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反摩尔定律</a:t>
            </a:r>
          </a:p>
        </p:txBody>
      </p:sp>
      <p:sp>
        <p:nvSpPr>
          <p:cNvPr id="5" name="单圆角矩形 4"/>
          <p:cNvSpPr/>
          <p:nvPr/>
        </p:nvSpPr>
        <p:spPr>
          <a:xfrm>
            <a:off x="3563888" y="697260"/>
            <a:ext cx="1798313" cy="720080"/>
          </a:xfrm>
          <a:prstGeom prst="snipRoundRect">
            <a:avLst/>
          </a:prstGeom>
          <a:solidFill>
            <a:srgbClr val="E1E0E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摩尔定律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4994" y="697260"/>
            <a:ext cx="17027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sz="4000" b="1" dirty="0" smtClean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定律</a:t>
            </a:r>
            <a:endParaRPr lang="zh-CN" altLang="en-US" sz="4000" b="1" dirty="0">
              <a:solidFill>
                <a:srgbClr val="E94D1A"/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1520" y="1647880"/>
            <a:ext cx="3960440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47788" indent="-1347788" algn="ctr"/>
            <a:r>
              <a:rPr lang="zh-CN" altLang="en-US" sz="2800" b="1" dirty="0" smtClean="0">
                <a:solidFill>
                  <a:srgbClr val="E94D1A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定义</a:t>
            </a:r>
            <a:endParaRPr lang="en-US" altLang="zh-CN" sz="2800" b="1" dirty="0" smtClean="0">
              <a:solidFill>
                <a:srgbClr val="E94D1A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800"/>
              </a:spcBef>
            </a:pPr>
            <a:r>
              <a:rPr lang="zh-CN" altLang="en-US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每</a:t>
            </a:r>
            <a:r>
              <a:rPr lang="en-US" altLang="zh-CN" sz="2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18</a:t>
            </a:r>
            <a:r>
              <a:rPr lang="zh-CN" altLang="en-US" sz="2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个月，计算机等</a:t>
            </a:r>
            <a:r>
              <a:rPr lang="en-US" altLang="zh-CN" sz="2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sz="2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产品的性能会翻一番</a:t>
            </a:r>
            <a:r>
              <a:rPr lang="zh-CN" altLang="en-US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sz="2400" dirty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1347788">
              <a:spcBef>
                <a:spcPts val="1800"/>
              </a:spcBef>
            </a:pPr>
            <a:r>
              <a:rPr lang="zh-CN" altLang="en-US" sz="2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或者说相同性能的计算机等</a:t>
            </a:r>
            <a:r>
              <a:rPr lang="en-US" altLang="zh-CN" sz="2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sz="2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产品，每</a:t>
            </a:r>
            <a:r>
              <a:rPr lang="en-US" altLang="zh-CN" sz="2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18</a:t>
            </a:r>
            <a:r>
              <a:rPr lang="zh-CN" altLang="en-US" sz="2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个月价钱会降</a:t>
            </a:r>
            <a:r>
              <a:rPr lang="zh-CN" altLang="en-US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一半</a:t>
            </a:r>
            <a:endParaRPr lang="en-US" altLang="zh-CN" sz="2400" dirty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97481" y="1633364"/>
            <a:ext cx="4176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47788" indent="-1347788" algn="ctr"/>
            <a:r>
              <a:rPr lang="zh-CN" altLang="en-US" sz="2400" b="1" dirty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适用范围</a:t>
            </a:r>
            <a:endParaRPr lang="en-US" altLang="zh-CN" sz="2400" b="1" dirty="0">
              <a:solidFill>
                <a:srgbClr val="E94D1A"/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  <a:latin typeface="微软雅黑" pitchFamily="34" charset="-122"/>
              <a:ea typeface="微软雅黑" pitchFamily="34" charset="-122"/>
            </a:endParaRPr>
          </a:p>
          <a:p>
            <a:pPr indent="-1347788">
              <a:spcBef>
                <a:spcPts val="1800"/>
              </a:spcBef>
            </a:pPr>
            <a:r>
              <a:rPr lang="zh-CN" altLang="en-US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             </a:t>
            </a:r>
            <a:r>
              <a:rPr lang="zh-CN" altLang="en-US" sz="2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芯片</a:t>
            </a:r>
            <a:endParaRPr lang="en-US" altLang="zh-CN" sz="2400" dirty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1347788">
              <a:spcBef>
                <a:spcPts val="1800"/>
              </a:spcBef>
            </a:pPr>
            <a:r>
              <a:rPr lang="en-US" altLang="zh-CN" sz="2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             </a:t>
            </a:r>
            <a:r>
              <a:rPr lang="zh-CN" altLang="en-US" sz="2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存储量</a:t>
            </a:r>
            <a:endParaRPr lang="en-US" altLang="zh-CN" sz="2400" dirty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1347788">
              <a:spcBef>
                <a:spcPts val="1800"/>
              </a:spcBef>
            </a:pPr>
            <a:r>
              <a:rPr lang="en-US" altLang="zh-CN" sz="2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             </a:t>
            </a:r>
            <a:r>
              <a:rPr lang="zh-CN" altLang="en-US" sz="2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网络传输速率</a:t>
            </a:r>
            <a:endParaRPr lang="en-US" altLang="zh-CN" sz="2400" dirty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1347788">
              <a:spcBef>
                <a:spcPts val="1800"/>
              </a:spcBef>
            </a:pPr>
            <a:r>
              <a:rPr lang="en-US" altLang="zh-CN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             ……</a:t>
            </a:r>
            <a:endParaRPr lang="zh-CN" altLang="en-US" sz="2400" dirty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8571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417340"/>
            <a:ext cx="9144000" cy="3888432"/>
          </a:xfrm>
          <a:prstGeom prst="rect">
            <a:avLst/>
          </a:prstGeom>
          <a:solidFill>
            <a:srgbClr val="E1E0E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2000" rtlCol="0" anchor="t"/>
          <a:lstStyle/>
          <a:p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单圆角矩形 2"/>
          <p:cNvSpPr/>
          <p:nvPr/>
        </p:nvSpPr>
        <p:spPr>
          <a:xfrm>
            <a:off x="5434209" y="697260"/>
            <a:ext cx="1798313" cy="720080"/>
          </a:xfrm>
          <a:prstGeom prst="snipRoundRect">
            <a:avLst/>
          </a:prstGeom>
          <a:solidFill>
            <a:srgbClr val="E1E0E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安迪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比尔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定律</a:t>
            </a:r>
          </a:p>
        </p:txBody>
      </p:sp>
      <p:sp>
        <p:nvSpPr>
          <p:cNvPr id="4" name="单圆角矩形 3"/>
          <p:cNvSpPr/>
          <p:nvPr/>
        </p:nvSpPr>
        <p:spPr>
          <a:xfrm>
            <a:off x="7304530" y="702858"/>
            <a:ext cx="1798313" cy="720080"/>
          </a:xfrm>
          <a:prstGeom prst="snipRoundRect">
            <a:avLst/>
          </a:prstGeom>
          <a:solidFill>
            <a:srgbClr val="E1E0E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反摩尔定律</a:t>
            </a:r>
          </a:p>
        </p:txBody>
      </p:sp>
      <p:sp>
        <p:nvSpPr>
          <p:cNvPr id="5" name="单圆角矩形 4"/>
          <p:cNvSpPr/>
          <p:nvPr/>
        </p:nvSpPr>
        <p:spPr>
          <a:xfrm>
            <a:off x="3563888" y="697260"/>
            <a:ext cx="1798313" cy="720080"/>
          </a:xfrm>
          <a:prstGeom prst="snipRoundRect">
            <a:avLst/>
          </a:prstGeom>
          <a:solidFill>
            <a:srgbClr val="E1E0E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摩尔定律</a:t>
            </a:r>
          </a:p>
        </p:txBody>
      </p:sp>
      <p:sp>
        <p:nvSpPr>
          <p:cNvPr id="6" name="矩形 5"/>
          <p:cNvSpPr/>
          <p:nvPr/>
        </p:nvSpPr>
        <p:spPr>
          <a:xfrm>
            <a:off x="204994" y="697260"/>
            <a:ext cx="17027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sz="4000" b="1" dirty="0" smtClean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定律</a:t>
            </a:r>
            <a:endParaRPr lang="zh-CN" altLang="en-US" sz="4000" b="1" dirty="0">
              <a:solidFill>
                <a:srgbClr val="E94D1A"/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1520" y="1647880"/>
            <a:ext cx="396044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47788" indent="-1347788" algn="ctr"/>
            <a:r>
              <a:rPr lang="zh-CN" altLang="en-US" sz="2800" b="1" dirty="0">
                <a:solidFill>
                  <a:srgbClr val="E94D1A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定义</a:t>
            </a:r>
            <a:endParaRPr lang="en-US" altLang="zh-CN" sz="2800" b="1" dirty="0">
              <a:solidFill>
                <a:srgbClr val="E94D1A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800"/>
              </a:spcBef>
            </a:pPr>
            <a:r>
              <a:rPr lang="zh-CN" altLang="en-US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比尔要拿走安迪所给的；</a:t>
            </a:r>
            <a:endParaRPr lang="en-US" altLang="zh-CN" sz="2400" dirty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1347788">
              <a:spcBef>
                <a:spcPts val="1800"/>
              </a:spcBef>
            </a:pPr>
            <a:r>
              <a:rPr lang="zh-CN" altLang="en-US" sz="2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或者</a:t>
            </a:r>
            <a:r>
              <a:rPr lang="zh-CN" altLang="en-US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说硬件商靠软件开发商用光自己提供的硬件资源得以生存</a:t>
            </a:r>
            <a:endParaRPr lang="en-US" altLang="zh-CN" sz="2400" dirty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97481" y="1633364"/>
            <a:ext cx="4176000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47788" indent="-1347788" algn="ctr"/>
            <a:r>
              <a:rPr lang="zh-CN" altLang="en-US" sz="2800" b="1" dirty="0">
                <a:solidFill>
                  <a:srgbClr val="E94D1A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适用范围</a:t>
            </a:r>
            <a:endParaRPr lang="en-US" altLang="zh-CN" sz="2800" b="1" dirty="0">
              <a:solidFill>
                <a:srgbClr val="E94D1A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indent="-1347788">
              <a:spcBef>
                <a:spcPts val="1800"/>
              </a:spcBef>
            </a:pPr>
            <a:r>
              <a:rPr lang="zh-CN" altLang="en-US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             </a:t>
            </a:r>
            <a:r>
              <a:rPr lang="en-US" altLang="zh-CN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PC</a:t>
            </a:r>
            <a:endParaRPr lang="en-US" altLang="zh-CN" sz="2400" dirty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1347788">
              <a:spcBef>
                <a:spcPts val="1800"/>
              </a:spcBef>
            </a:pPr>
            <a:r>
              <a:rPr lang="en-US" altLang="zh-CN" sz="2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             </a:t>
            </a:r>
            <a:r>
              <a:rPr lang="zh-CN" altLang="en-US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手机</a:t>
            </a:r>
            <a:endParaRPr lang="en-US" altLang="zh-CN" sz="2400" dirty="0" smtClean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1347788">
              <a:spcBef>
                <a:spcPts val="1800"/>
              </a:spcBef>
            </a:pPr>
            <a:r>
              <a:rPr lang="en-US" altLang="zh-CN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             ……</a:t>
            </a:r>
            <a:endParaRPr lang="zh-CN" altLang="en-US" sz="2400" dirty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0721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417340"/>
            <a:ext cx="9144000" cy="3888432"/>
          </a:xfrm>
          <a:prstGeom prst="rect">
            <a:avLst/>
          </a:prstGeom>
          <a:solidFill>
            <a:srgbClr val="E1E0E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2000" rtlCol="0" anchor="t"/>
          <a:lstStyle/>
          <a:p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单圆角矩形 2"/>
          <p:cNvSpPr/>
          <p:nvPr/>
        </p:nvSpPr>
        <p:spPr>
          <a:xfrm>
            <a:off x="5434209" y="697260"/>
            <a:ext cx="1798313" cy="720080"/>
          </a:xfrm>
          <a:prstGeom prst="snipRoundRect">
            <a:avLst/>
          </a:prstGeom>
          <a:solidFill>
            <a:srgbClr val="E1E0E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安迪</a:t>
            </a:r>
            <a:r>
              <a:rPr lang="en-US" altLang="zh-CN" sz="2000" dirty="0" smtClean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比尔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定律</a:t>
            </a:r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单圆角矩形 3"/>
          <p:cNvSpPr/>
          <p:nvPr/>
        </p:nvSpPr>
        <p:spPr>
          <a:xfrm>
            <a:off x="7304530" y="702858"/>
            <a:ext cx="1798313" cy="720080"/>
          </a:xfrm>
          <a:prstGeom prst="snipRoundRect">
            <a:avLst/>
          </a:prstGeom>
          <a:solidFill>
            <a:srgbClr val="E1E0E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反摩尔定律</a:t>
            </a:r>
          </a:p>
        </p:txBody>
      </p:sp>
      <p:sp>
        <p:nvSpPr>
          <p:cNvPr id="5" name="单圆角矩形 4"/>
          <p:cNvSpPr/>
          <p:nvPr/>
        </p:nvSpPr>
        <p:spPr>
          <a:xfrm>
            <a:off x="3563888" y="697260"/>
            <a:ext cx="1798313" cy="720080"/>
          </a:xfrm>
          <a:prstGeom prst="snipRoundRect">
            <a:avLst/>
          </a:prstGeom>
          <a:solidFill>
            <a:srgbClr val="E1E0E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摩尔定律</a:t>
            </a:r>
          </a:p>
        </p:txBody>
      </p:sp>
      <p:sp>
        <p:nvSpPr>
          <p:cNvPr id="6" name="矩形 5"/>
          <p:cNvSpPr/>
          <p:nvPr/>
        </p:nvSpPr>
        <p:spPr>
          <a:xfrm>
            <a:off x="204994" y="697260"/>
            <a:ext cx="17027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sz="4000" b="1" dirty="0" smtClean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定律</a:t>
            </a:r>
            <a:endParaRPr lang="zh-CN" altLang="en-US" sz="4000" b="1" dirty="0">
              <a:solidFill>
                <a:srgbClr val="E94D1A"/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1520" y="1647880"/>
            <a:ext cx="4211524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47788" indent="-1347788" algn="ctr"/>
            <a:r>
              <a:rPr lang="zh-CN" altLang="en-US" sz="2800" b="1" dirty="0">
                <a:solidFill>
                  <a:srgbClr val="E94D1A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定义</a:t>
            </a:r>
            <a:endParaRPr lang="en-US" altLang="zh-CN" sz="2800" b="1" dirty="0">
              <a:solidFill>
                <a:srgbClr val="E94D1A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800"/>
              </a:spcBef>
            </a:pPr>
            <a:r>
              <a:rPr lang="zh-CN" altLang="en-US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一个</a:t>
            </a:r>
            <a:r>
              <a:rPr lang="en-US" altLang="zh-CN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公司如果今天和</a:t>
            </a:r>
            <a:r>
              <a:rPr lang="en-US" altLang="zh-CN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18</a:t>
            </a:r>
            <a:r>
              <a:rPr lang="zh-CN" altLang="en-US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个月前卖掉同样多的、同样的产品，它的营业额就要降一半</a:t>
            </a:r>
            <a:endParaRPr lang="en-US" altLang="zh-CN" sz="2400" dirty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16015" y="1633364"/>
            <a:ext cx="4057465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47788" indent="-1347788" algn="ctr"/>
            <a:r>
              <a:rPr lang="zh-CN" altLang="en-US" sz="2800" b="1" dirty="0">
                <a:solidFill>
                  <a:srgbClr val="E94D1A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积极作用</a:t>
            </a:r>
            <a:endParaRPr lang="en-US" altLang="zh-CN" sz="2800" b="1" dirty="0">
              <a:solidFill>
                <a:srgbClr val="E94D1A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indent="-1347788">
              <a:spcBef>
                <a:spcPts val="1800"/>
              </a:spcBef>
            </a:pPr>
            <a:r>
              <a:rPr lang="zh-CN" altLang="en-US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促成科技领域质的进步，并为新兴公司提供生存和发展的可能</a:t>
            </a:r>
            <a:endParaRPr lang="en-US" altLang="zh-CN" sz="2400" dirty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0721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0" y="2705100"/>
            <a:ext cx="5292000" cy="152400"/>
            <a:chOff x="0" y="2497460"/>
            <a:chExt cx="5436096" cy="152400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0" y="2497460"/>
              <a:ext cx="54360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/>
            <p:cNvCxnSpPr/>
            <p:nvPr/>
          </p:nvCxnSpPr>
          <p:spPr>
            <a:xfrm>
              <a:off x="0" y="2649860"/>
              <a:ext cx="54360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 5"/>
          <p:cNvSpPr/>
          <p:nvPr/>
        </p:nvSpPr>
        <p:spPr>
          <a:xfrm>
            <a:off x="766228" y="1553805"/>
            <a:ext cx="466986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 b="1" dirty="0" smtClean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02  </a:t>
            </a:r>
            <a:r>
              <a:rPr lang="zh-CN" altLang="en-US" sz="6000" b="1" dirty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成功要素</a:t>
            </a:r>
          </a:p>
        </p:txBody>
      </p:sp>
      <p:sp>
        <p:nvSpPr>
          <p:cNvPr id="7" name="矩形 6"/>
          <p:cNvSpPr/>
          <p:nvPr/>
        </p:nvSpPr>
        <p:spPr>
          <a:xfrm>
            <a:off x="7244803" y="3021416"/>
            <a:ext cx="1035609" cy="1034719"/>
          </a:xfrm>
          <a:prstGeom prst="rect">
            <a:avLst/>
          </a:prstGeom>
          <a:solidFill>
            <a:srgbClr val="E94D1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544108" y="3439540"/>
            <a:ext cx="2277417" cy="2275460"/>
          </a:xfrm>
          <a:prstGeom prst="rect">
            <a:avLst/>
          </a:prstGeom>
          <a:solidFill>
            <a:srgbClr val="E94D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186670" y="3891385"/>
            <a:ext cx="433127" cy="432755"/>
          </a:xfrm>
          <a:prstGeom prst="rect">
            <a:avLst/>
          </a:prstGeom>
          <a:solidFill>
            <a:srgbClr val="E94D1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662071" y="3579081"/>
            <a:ext cx="203132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浪潮之巅</a:t>
            </a:r>
            <a:r>
              <a:rPr lang="en-US" altLang="zh-CN" sz="2400" b="1" dirty="0" smtClean="0"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读书笔记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111" y="4473721"/>
            <a:ext cx="1183243" cy="1177636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5580112" y="4418269"/>
            <a:ext cx="219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88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417340"/>
            <a:ext cx="9144000" cy="3888432"/>
          </a:xfrm>
          <a:prstGeom prst="rect">
            <a:avLst/>
          </a:prstGeom>
          <a:solidFill>
            <a:srgbClr val="E1E0E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2000" rtlCol="0" anchor="t"/>
          <a:lstStyle/>
          <a:p>
            <a:pPr marL="176213">
              <a:spcBef>
                <a:spcPts val="1200"/>
              </a:spcBef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、创始人是精力过人的多面手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marL="176213">
              <a:spcBef>
                <a:spcPts val="1200"/>
              </a:spcBef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、有个小而精的团队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marL="176213">
              <a:spcBef>
                <a:spcPts val="1200"/>
              </a:spcBef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、有不易被别人学会和模仿的技术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marL="176213">
              <a:spcBef>
                <a:spcPts val="1200"/>
              </a:spcBef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、找到能盈利的商业模式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marL="176213">
              <a:spcBef>
                <a:spcPts val="1200"/>
              </a:spcBef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、有良好的判断力和执行力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marL="176213">
              <a:spcBef>
                <a:spcPts val="1200"/>
              </a:spcBef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、良好的外部环境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marL="176213">
              <a:spcBef>
                <a:spcPts val="1200"/>
              </a:spcBef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、好运气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单圆角矩形 2"/>
          <p:cNvSpPr/>
          <p:nvPr/>
        </p:nvSpPr>
        <p:spPr>
          <a:xfrm>
            <a:off x="7304530" y="702858"/>
            <a:ext cx="1798313" cy="720080"/>
          </a:xfrm>
          <a:prstGeom prst="snipRoundRect">
            <a:avLst/>
          </a:prstGeom>
          <a:solidFill>
            <a:srgbClr val="E1E0E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小公司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成功要素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5250" y="697260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成功要素</a:t>
            </a:r>
            <a:endParaRPr lang="zh-CN" altLang="en-US" sz="4000" b="1" dirty="0">
              <a:solidFill>
                <a:srgbClr val="E94D1A"/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FilmGrai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32918">
            <a:off x="5004048" y="3145532"/>
            <a:ext cx="3364714" cy="115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7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0" y="2705100"/>
            <a:ext cx="5292000" cy="152400"/>
            <a:chOff x="0" y="2497460"/>
            <a:chExt cx="5436096" cy="152400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0" y="2497460"/>
              <a:ext cx="54360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/>
            <p:cNvCxnSpPr/>
            <p:nvPr/>
          </p:nvCxnSpPr>
          <p:spPr>
            <a:xfrm>
              <a:off x="0" y="2649860"/>
              <a:ext cx="54360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 5"/>
          <p:cNvSpPr/>
          <p:nvPr/>
        </p:nvSpPr>
        <p:spPr>
          <a:xfrm>
            <a:off x="766226" y="1553805"/>
            <a:ext cx="466986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 b="1" dirty="0" smtClean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03  </a:t>
            </a:r>
            <a:r>
              <a:rPr lang="zh-CN" altLang="en-US" sz="6000" b="1" dirty="0" smtClean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风险投资</a:t>
            </a:r>
            <a:endParaRPr lang="zh-CN" altLang="en-US" sz="6000" b="1" dirty="0">
              <a:solidFill>
                <a:srgbClr val="E94D1A"/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44803" y="3021416"/>
            <a:ext cx="1035609" cy="1034719"/>
          </a:xfrm>
          <a:prstGeom prst="rect">
            <a:avLst/>
          </a:prstGeom>
          <a:solidFill>
            <a:srgbClr val="E94D1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544108" y="3439540"/>
            <a:ext cx="2277417" cy="2275460"/>
          </a:xfrm>
          <a:prstGeom prst="rect">
            <a:avLst/>
          </a:prstGeom>
          <a:solidFill>
            <a:srgbClr val="E94D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186670" y="3891385"/>
            <a:ext cx="433127" cy="432755"/>
          </a:xfrm>
          <a:prstGeom prst="rect">
            <a:avLst/>
          </a:prstGeom>
          <a:solidFill>
            <a:srgbClr val="E94D1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662071" y="3579081"/>
            <a:ext cx="203132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浪潮之巅</a:t>
            </a:r>
            <a:r>
              <a:rPr lang="en-US" altLang="zh-CN" sz="2400" b="1" dirty="0" smtClean="0"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读书笔记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111" y="4473721"/>
            <a:ext cx="1183243" cy="1177636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5580112" y="4418269"/>
            <a:ext cx="219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05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08" y="1417340"/>
            <a:ext cx="9144000" cy="3888432"/>
          </a:xfrm>
          <a:prstGeom prst="rect">
            <a:avLst/>
          </a:prstGeom>
          <a:solidFill>
            <a:srgbClr val="E1E0E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2000" rtlCol="0" anchor="t"/>
          <a:lstStyle/>
          <a:p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单圆角矩形 2"/>
          <p:cNvSpPr/>
          <p:nvPr/>
        </p:nvSpPr>
        <p:spPr>
          <a:xfrm>
            <a:off x="5434209" y="697260"/>
            <a:ext cx="1798313" cy="720080"/>
          </a:xfrm>
          <a:prstGeom prst="snipRoundRect">
            <a:avLst/>
          </a:prstGeom>
          <a:solidFill>
            <a:srgbClr val="E1E0E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风投结构</a:t>
            </a:r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单圆角矩形 3"/>
          <p:cNvSpPr/>
          <p:nvPr/>
        </p:nvSpPr>
        <p:spPr>
          <a:xfrm>
            <a:off x="7304530" y="702858"/>
            <a:ext cx="1798313" cy="720080"/>
          </a:xfrm>
          <a:prstGeom prst="snipRoundRect">
            <a:avLst/>
          </a:prstGeom>
          <a:solidFill>
            <a:srgbClr val="E1E0E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投资决策</a:t>
            </a:r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单圆角矩形 4"/>
          <p:cNvSpPr/>
          <p:nvPr/>
        </p:nvSpPr>
        <p:spPr>
          <a:xfrm>
            <a:off x="3563888" y="697260"/>
            <a:ext cx="1798313" cy="720080"/>
          </a:xfrm>
          <a:prstGeom prst="snipRoundRect">
            <a:avLst/>
          </a:prstGeom>
          <a:solidFill>
            <a:srgbClr val="E1E0E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风投对象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7114" y="2809137"/>
            <a:ext cx="808053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zh-CN" altLang="en-US" sz="2400" b="1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新的小技术公司，</a:t>
            </a:r>
            <a:endParaRPr lang="en-US" altLang="zh-CN" sz="2400" b="1" dirty="0" smtClean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800"/>
              </a:spcBef>
            </a:pPr>
            <a:r>
              <a:rPr lang="zh-CN" altLang="en-US" sz="2400" b="1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将其做大上市或被其他公司收购</a:t>
            </a:r>
            <a:endParaRPr lang="en-US" altLang="zh-CN" sz="2400" b="1" dirty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5250" y="697260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风险投资</a:t>
            </a:r>
            <a:endParaRPr lang="zh-CN" altLang="en-US" sz="4000" b="1" dirty="0">
              <a:solidFill>
                <a:srgbClr val="E94D1A"/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098" name="Picture 2" descr="http://api.biodiscover.com/storages/clppakdkppcljlpleljldkdlplgkflckbodoeogoaofoaojobofoopboeocofocohoboopklakh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16081" y="2288755"/>
            <a:ext cx="3600000" cy="21456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84915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417340"/>
            <a:ext cx="9144000" cy="3888432"/>
          </a:xfrm>
          <a:prstGeom prst="rect">
            <a:avLst/>
          </a:prstGeom>
          <a:solidFill>
            <a:srgbClr val="E1E0E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2000" rtlCol="0" anchor="t"/>
          <a:lstStyle/>
          <a:p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单圆角矩形 2"/>
          <p:cNvSpPr/>
          <p:nvPr/>
        </p:nvSpPr>
        <p:spPr>
          <a:xfrm>
            <a:off x="5434209" y="697260"/>
            <a:ext cx="1798313" cy="720080"/>
          </a:xfrm>
          <a:prstGeom prst="snipRoundRect">
            <a:avLst/>
          </a:prstGeom>
          <a:solidFill>
            <a:srgbClr val="E1E0E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风投结构</a:t>
            </a:r>
          </a:p>
        </p:txBody>
      </p:sp>
      <p:sp>
        <p:nvSpPr>
          <p:cNvPr id="4" name="单圆角矩形 3"/>
          <p:cNvSpPr/>
          <p:nvPr/>
        </p:nvSpPr>
        <p:spPr>
          <a:xfrm>
            <a:off x="7304530" y="702858"/>
            <a:ext cx="1798313" cy="720080"/>
          </a:xfrm>
          <a:prstGeom prst="snipRoundRect">
            <a:avLst/>
          </a:prstGeom>
          <a:solidFill>
            <a:srgbClr val="E1E0E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投资决策</a:t>
            </a:r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单圆角矩形 4"/>
          <p:cNvSpPr/>
          <p:nvPr/>
        </p:nvSpPr>
        <p:spPr>
          <a:xfrm>
            <a:off x="3563888" y="697260"/>
            <a:ext cx="1798313" cy="720080"/>
          </a:xfrm>
          <a:prstGeom prst="snipRoundRect">
            <a:avLst/>
          </a:prstGeom>
          <a:solidFill>
            <a:srgbClr val="E1E0E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风投对象</a:t>
            </a:r>
          </a:p>
        </p:txBody>
      </p:sp>
      <p:sp>
        <p:nvSpPr>
          <p:cNvPr id="6" name="矩形 5"/>
          <p:cNvSpPr/>
          <p:nvPr/>
        </p:nvSpPr>
        <p:spPr>
          <a:xfrm>
            <a:off x="1619672" y="1647880"/>
            <a:ext cx="2808312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347788" algn="ctr"/>
            <a:r>
              <a:rPr lang="zh-CN" altLang="en-US" sz="2800" b="1" dirty="0">
                <a:solidFill>
                  <a:srgbClr val="E94D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天使投资</a:t>
            </a:r>
            <a:endParaRPr lang="en-US" altLang="zh-CN" sz="2800" b="1" dirty="0">
              <a:solidFill>
                <a:srgbClr val="E94D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indent="-1347788">
              <a:spcBef>
                <a:spcPts val="1800"/>
              </a:spcBef>
            </a:pPr>
            <a:r>
              <a:rPr lang="zh-CN" altLang="en-US" sz="2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种子孵化期的公司</a:t>
            </a:r>
            <a:endParaRPr lang="en-US" altLang="zh-CN" sz="2400" dirty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1347788">
              <a:spcBef>
                <a:spcPts val="1800"/>
              </a:spcBef>
            </a:pPr>
            <a:endParaRPr lang="en-US" altLang="zh-CN" sz="2400" dirty="0" smtClean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1347788">
              <a:spcBef>
                <a:spcPts val="1800"/>
              </a:spcBef>
            </a:pPr>
            <a:endParaRPr lang="en-US" altLang="zh-CN" sz="2400" dirty="0" smtClean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1347788">
              <a:spcBef>
                <a:spcPts val="1800"/>
              </a:spcBef>
            </a:pPr>
            <a:r>
              <a:rPr lang="en-US" altLang="zh-CN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10W-100W</a:t>
            </a:r>
            <a:endParaRPr lang="en-US" altLang="zh-CN" sz="2400" dirty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932040" y="1633364"/>
            <a:ext cx="384144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47788" indent="-1347788" algn="ctr"/>
            <a:r>
              <a:rPr lang="zh-CN" altLang="en-US" sz="2400" b="1" dirty="0" smtClean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风险投资</a:t>
            </a:r>
            <a:endParaRPr lang="en-US" altLang="zh-CN" sz="2400" b="1" dirty="0">
              <a:solidFill>
                <a:srgbClr val="E94D1A"/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  <a:latin typeface="微软雅黑" pitchFamily="34" charset="-122"/>
              <a:ea typeface="微软雅黑" pitchFamily="34" charset="-122"/>
            </a:endParaRPr>
          </a:p>
          <a:p>
            <a:pPr indent="-1347788" algn="ctr">
              <a:spcBef>
                <a:spcPts val="1800"/>
              </a:spcBef>
            </a:pPr>
            <a:r>
              <a:rPr lang="zh-CN" altLang="en-US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早期阶段的公司</a:t>
            </a:r>
            <a:endParaRPr lang="en-US" altLang="zh-CN" sz="2400" dirty="0" smtClean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1347788" algn="ctr">
              <a:spcBef>
                <a:spcPts val="1800"/>
              </a:spcBef>
            </a:pPr>
            <a:r>
              <a:rPr lang="zh-CN" altLang="en-US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发展阶段的公司</a:t>
            </a:r>
            <a:endParaRPr lang="en-US" altLang="zh-CN" sz="2400" dirty="0" smtClean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1347788" algn="ctr">
              <a:spcBef>
                <a:spcPts val="1800"/>
              </a:spcBef>
            </a:pPr>
            <a:endParaRPr lang="en-US" altLang="zh-CN" sz="2400" dirty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1347788" algn="ctr">
              <a:spcBef>
                <a:spcPts val="1800"/>
              </a:spcBef>
            </a:pPr>
            <a:r>
              <a:rPr lang="en-US" altLang="zh-CN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100W</a:t>
            </a:r>
            <a:r>
              <a:rPr lang="zh-CN" altLang="en-US" sz="2400" dirty="0" smtClean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rPr>
              <a:t>以上</a:t>
            </a:r>
            <a:endParaRPr lang="en-US" altLang="zh-CN" sz="2400" dirty="0" smtClean="0">
              <a:solidFill>
                <a:schemeClr val="l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5250" y="697260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风险投资</a:t>
            </a:r>
            <a:endParaRPr lang="zh-CN" altLang="en-US" sz="4000" b="1" dirty="0">
              <a:solidFill>
                <a:srgbClr val="E94D1A"/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5516" y="228143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E94D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投资对象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15516" y="4068862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E94D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投资金额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281723" y="3514734"/>
            <a:ext cx="7848000" cy="0"/>
          </a:xfrm>
          <a:prstGeom prst="line">
            <a:avLst/>
          </a:prstGeom>
          <a:ln w="19050">
            <a:solidFill>
              <a:srgbClr val="E94D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752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417340"/>
            <a:ext cx="9144000" cy="3888432"/>
          </a:xfrm>
          <a:prstGeom prst="rect">
            <a:avLst/>
          </a:prstGeom>
          <a:solidFill>
            <a:srgbClr val="E1E0E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2000" rtlCol="0" anchor="t"/>
          <a:lstStyle/>
          <a:p>
            <a:pPr indent="176213">
              <a:spcBef>
                <a:spcPts val="1800"/>
              </a:spcBef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、有革命性的技术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indent="176213">
              <a:spcBef>
                <a:spcPts val="1800"/>
              </a:spcBef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、有现成的市场，易横向扩展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indent="176213">
              <a:spcBef>
                <a:spcPts val="1800"/>
              </a:spcBef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、在今后较长时间能以几何级数增长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单圆角矩形 2"/>
          <p:cNvSpPr/>
          <p:nvPr/>
        </p:nvSpPr>
        <p:spPr>
          <a:xfrm>
            <a:off x="5434209" y="697260"/>
            <a:ext cx="1798313" cy="720080"/>
          </a:xfrm>
          <a:prstGeom prst="snipRoundRect">
            <a:avLst/>
          </a:prstGeom>
          <a:solidFill>
            <a:srgbClr val="E1E0E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风投结构</a:t>
            </a:r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单圆角矩形 3"/>
          <p:cNvSpPr/>
          <p:nvPr/>
        </p:nvSpPr>
        <p:spPr>
          <a:xfrm>
            <a:off x="7304530" y="702858"/>
            <a:ext cx="1798313" cy="720080"/>
          </a:xfrm>
          <a:prstGeom prst="snipRoundRect">
            <a:avLst/>
          </a:prstGeom>
          <a:solidFill>
            <a:srgbClr val="E1E0E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投资决策</a:t>
            </a:r>
          </a:p>
        </p:txBody>
      </p:sp>
      <p:sp>
        <p:nvSpPr>
          <p:cNvPr id="5" name="单圆角矩形 4"/>
          <p:cNvSpPr/>
          <p:nvPr/>
        </p:nvSpPr>
        <p:spPr>
          <a:xfrm>
            <a:off x="3563888" y="697260"/>
            <a:ext cx="1798313" cy="720080"/>
          </a:xfrm>
          <a:prstGeom prst="snipRoundRect">
            <a:avLst/>
          </a:prstGeom>
          <a:solidFill>
            <a:srgbClr val="E1E0E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风投对象</a:t>
            </a:r>
          </a:p>
        </p:txBody>
      </p:sp>
      <p:sp>
        <p:nvSpPr>
          <p:cNvPr id="8" name="矩形 7"/>
          <p:cNvSpPr/>
          <p:nvPr/>
        </p:nvSpPr>
        <p:spPr>
          <a:xfrm>
            <a:off x="175250" y="697260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风险投资</a:t>
            </a:r>
            <a:endParaRPr lang="zh-CN" altLang="en-US" sz="4000" b="1" dirty="0">
              <a:solidFill>
                <a:srgbClr val="E94D1A"/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6105546" y="4573611"/>
            <a:ext cx="2628936" cy="0"/>
          </a:xfrm>
          <a:prstGeom prst="straightConnector1">
            <a:avLst/>
          </a:prstGeom>
          <a:ln>
            <a:solidFill>
              <a:srgbClr val="A8341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rot="16200000" flipV="1">
            <a:off x="4791078" y="3259143"/>
            <a:ext cx="2628936" cy="0"/>
          </a:xfrm>
          <a:prstGeom prst="straightConnector1">
            <a:avLst/>
          </a:prstGeom>
          <a:ln>
            <a:solidFill>
              <a:srgbClr val="A8341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任意多边形 12"/>
          <p:cNvSpPr/>
          <p:nvPr/>
        </p:nvSpPr>
        <p:spPr>
          <a:xfrm>
            <a:off x="6115665" y="2202426"/>
            <a:ext cx="1986116" cy="2359742"/>
          </a:xfrm>
          <a:custGeom>
            <a:avLst/>
            <a:gdLst>
              <a:gd name="connsiteX0" fmla="*/ 0 w 1986116"/>
              <a:gd name="connsiteY0" fmla="*/ 2359742 h 2359742"/>
              <a:gd name="connsiteX1" fmla="*/ 658761 w 1986116"/>
              <a:gd name="connsiteY1" fmla="*/ 2261419 h 2359742"/>
              <a:gd name="connsiteX2" fmla="*/ 1229032 w 1986116"/>
              <a:gd name="connsiteY2" fmla="*/ 1868129 h 2359742"/>
              <a:gd name="connsiteX3" fmla="*/ 1986116 w 1986116"/>
              <a:gd name="connsiteY3" fmla="*/ 0 h 2359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6116" h="2359742">
                <a:moveTo>
                  <a:pt x="0" y="2359742"/>
                </a:moveTo>
                <a:cubicBezTo>
                  <a:pt x="226961" y="2351548"/>
                  <a:pt x="453922" y="2343354"/>
                  <a:pt x="658761" y="2261419"/>
                </a:cubicBezTo>
                <a:cubicBezTo>
                  <a:pt x="863600" y="2179484"/>
                  <a:pt x="1007806" y="2245032"/>
                  <a:pt x="1229032" y="1868129"/>
                </a:cubicBezTo>
                <a:cubicBezTo>
                  <a:pt x="1450258" y="1491226"/>
                  <a:pt x="1718187" y="745613"/>
                  <a:pt x="1986116" y="0"/>
                </a:cubicBezTo>
              </a:path>
            </a:pathLst>
          </a:custGeom>
          <a:ln>
            <a:solidFill>
              <a:srgbClr val="A83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442378" y="4683150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时间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703903" y="1579545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营收额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752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417340"/>
            <a:ext cx="9144000" cy="3888432"/>
          </a:xfrm>
          <a:prstGeom prst="rect">
            <a:avLst/>
          </a:prstGeom>
          <a:solidFill>
            <a:srgbClr val="E1E0E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2000" rtlCol="0" anchor="t"/>
          <a:lstStyle/>
          <a:p>
            <a:pPr indent="176213">
              <a:spcBef>
                <a:spcPts val="1800"/>
              </a:spcBef>
            </a:pP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单圆角矩形 3"/>
          <p:cNvSpPr/>
          <p:nvPr/>
        </p:nvSpPr>
        <p:spPr>
          <a:xfrm>
            <a:off x="7304530" y="702858"/>
            <a:ext cx="1798313" cy="720080"/>
          </a:xfrm>
          <a:prstGeom prst="snipRoundRect">
            <a:avLst/>
          </a:prstGeom>
          <a:solidFill>
            <a:srgbClr val="E1E0E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风投过程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5250" y="697260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E94D1A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风投过程</a:t>
            </a:r>
            <a:endParaRPr lang="zh-CN" altLang="en-US" sz="4000" b="1" dirty="0">
              <a:solidFill>
                <a:srgbClr val="E94D1A"/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76410" y="1470006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发明新技术</a:t>
            </a:r>
            <a:endParaRPr lang="zh-CN" altLang="en-US" sz="1600" dirty="0">
              <a:solidFill>
                <a:srgbClr val="E94D1A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973818" y="2113962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取得技术专利</a:t>
            </a:r>
            <a:endParaRPr lang="zh-CN" altLang="en-US" sz="1600" dirty="0">
              <a:solidFill>
                <a:srgbClr val="E94D1A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563449" y="1791984"/>
            <a:ext cx="22365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证明新技术具有革命性</a:t>
            </a:r>
            <a:endParaRPr lang="zh-CN" altLang="en-US" sz="1600" dirty="0">
              <a:solidFill>
                <a:srgbClr val="E94D1A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18052" y="1911029"/>
            <a:ext cx="8771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创始人</a:t>
            </a:r>
            <a:endParaRPr lang="zh-CN" altLang="en-US" dirty="0">
              <a:solidFill>
                <a:srgbClr val="E94D1A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871226" y="2757918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寻找天使投资人</a:t>
            </a:r>
            <a:endParaRPr lang="zh-CN" altLang="en-US" sz="1600" dirty="0">
              <a:solidFill>
                <a:srgbClr val="E94D1A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18052" y="3186117"/>
            <a:ext cx="13874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天使投资人</a:t>
            </a:r>
            <a:endParaRPr lang="zh-CN" altLang="en-US" dirty="0">
              <a:solidFill>
                <a:srgbClr val="E94D1A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973818" y="2435940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制定商业计划</a:t>
            </a:r>
            <a:endParaRPr lang="zh-CN" altLang="en-US" sz="1600" dirty="0">
              <a:solidFill>
                <a:srgbClr val="E94D1A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179003" y="3079896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评估项目</a:t>
            </a:r>
            <a:endParaRPr lang="zh-CN" altLang="en-US" sz="1600" dirty="0">
              <a:solidFill>
                <a:srgbClr val="E94D1A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179003" y="3401874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投资决策</a:t>
            </a:r>
            <a:endParaRPr lang="zh-CN" altLang="en-US" sz="1600" dirty="0">
              <a:solidFill>
                <a:srgbClr val="E94D1A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179003" y="3723852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全职创业</a:t>
            </a:r>
            <a:endParaRPr lang="zh-CN" altLang="en-US" sz="1600" dirty="0">
              <a:solidFill>
                <a:srgbClr val="E94D1A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179003" y="436780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评估项目</a:t>
            </a:r>
            <a:endParaRPr lang="zh-CN" altLang="en-US" sz="1600" dirty="0">
              <a:solidFill>
                <a:srgbClr val="E94D1A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179003" y="4689786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投资决策</a:t>
            </a:r>
            <a:endParaRPr lang="zh-CN" altLang="en-US" sz="1600" dirty="0">
              <a:solidFill>
                <a:srgbClr val="E94D1A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18052" y="4464072"/>
            <a:ext cx="13874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风投公司</a:t>
            </a:r>
            <a:endParaRPr lang="zh-CN" altLang="en-US" dirty="0">
              <a:solidFill>
                <a:srgbClr val="E94D1A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18052" y="3916377"/>
            <a:ext cx="8771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创始人</a:t>
            </a:r>
            <a:endParaRPr lang="zh-CN" altLang="en-US" dirty="0">
              <a:solidFill>
                <a:srgbClr val="E94D1A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179003" y="4045830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再次融资</a:t>
            </a:r>
            <a:endParaRPr lang="zh-CN" altLang="en-US" sz="1600" dirty="0">
              <a:solidFill>
                <a:srgbClr val="E94D1A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18052" y="4975254"/>
            <a:ext cx="13874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投资银行</a:t>
            </a:r>
            <a:endParaRPr lang="zh-CN" altLang="en-US" dirty="0">
              <a:solidFill>
                <a:srgbClr val="E94D1A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179003" y="501176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公司上市</a:t>
            </a:r>
            <a:endParaRPr lang="zh-CN" altLang="en-US" sz="1600" dirty="0">
              <a:solidFill>
                <a:srgbClr val="E94D1A"/>
              </a:solidFill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218052" y="3076578"/>
            <a:ext cx="4716000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218052" y="3733812"/>
            <a:ext cx="4716000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218052" y="4354533"/>
            <a:ext cx="4716000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218052" y="5011767"/>
            <a:ext cx="4716000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线形标注 1(带边框和强调线) 37"/>
          <p:cNvSpPr/>
          <p:nvPr/>
        </p:nvSpPr>
        <p:spPr>
          <a:xfrm>
            <a:off x="5411798" y="3149604"/>
            <a:ext cx="3614788" cy="547695"/>
          </a:xfrm>
          <a:prstGeom prst="accentBorderCallout1">
            <a:avLst>
              <a:gd name="adj1" fmla="val 18750"/>
              <a:gd name="adj2" fmla="val -8333"/>
              <a:gd name="adj3" fmla="val 65988"/>
              <a:gd name="adj4" fmla="val -2301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天使投资人在公司孵化期进行投资，一般不是一家而是几家天使投资人共同投资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线形标注 1(带边框和强调线) 39"/>
          <p:cNvSpPr/>
          <p:nvPr/>
        </p:nvSpPr>
        <p:spPr>
          <a:xfrm>
            <a:off x="5375285" y="4427559"/>
            <a:ext cx="3614788" cy="547695"/>
          </a:xfrm>
          <a:prstGeom prst="accentBorderCallout1">
            <a:avLst>
              <a:gd name="adj1" fmla="val 18750"/>
              <a:gd name="adj2" fmla="val -8333"/>
              <a:gd name="adj3" fmla="val 65988"/>
              <a:gd name="adj4" fmla="val -2301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随着公司的发展，进行数轮融资，在公司早期阶段或发展阶段，由不同风投公司投资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7752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885392"/>
            <a:ext cx="9144000" cy="1944216"/>
          </a:xfrm>
          <a:prstGeom prst="rect">
            <a:avLst/>
          </a:prstGeom>
          <a:solidFill>
            <a:srgbClr val="E94D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00104" y="2528494"/>
            <a:ext cx="300595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 smtClean="0">
                <a:latin typeface="微软雅黑" pitchFamily="34" charset="-122"/>
                <a:ea typeface="微软雅黑" pitchFamily="34" charset="-122"/>
              </a:rPr>
              <a:t>谢谢观看！</a:t>
            </a:r>
            <a:endParaRPr lang="zh-CN" altLang="en-US" sz="4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64188" y="4117640"/>
            <a:ext cx="1035609" cy="1034719"/>
          </a:xfrm>
          <a:prstGeom prst="rect">
            <a:avLst/>
          </a:prstGeom>
          <a:solidFill>
            <a:srgbClr val="E94D1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206055" y="4987609"/>
            <a:ext cx="433127" cy="432755"/>
          </a:xfrm>
          <a:prstGeom prst="rect">
            <a:avLst/>
          </a:prstGeom>
          <a:solidFill>
            <a:srgbClr val="E94D1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798" y="2210898"/>
            <a:ext cx="1183243" cy="1177636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3995936" y="2255928"/>
            <a:ext cx="0" cy="11776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342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1360467"/>
            <a:ext cx="9144000" cy="1588"/>
          </a:xfrm>
          <a:prstGeom prst="line">
            <a:avLst/>
          </a:prstGeom>
          <a:ln w="19050">
            <a:solidFill>
              <a:srgbClr val="E94D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9016" y="2017701"/>
            <a:ext cx="3600000" cy="225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34985" y="2017701"/>
            <a:ext cx="3600000" cy="225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1650960" y="447642"/>
            <a:ext cx="58420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我在网易云课堂等你</a:t>
            </a:r>
            <a:endParaRPr lang="en-US" altLang="zh-CN" sz="2400" b="1" dirty="0" smtClean="0">
              <a:solidFill>
                <a:srgbClr val="E94D1A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感谢</a:t>
            </a:r>
            <a:r>
              <a:rPr lang="en-US" altLang="zh-CN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小巴</a:t>
            </a:r>
            <a:r>
              <a:rPr lang="en-US" altLang="zh-CN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_1990</a:t>
            </a:r>
            <a:r>
              <a:rPr lang="zh-CN" altLang="en-US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耐心指导</a:t>
            </a:r>
            <a:endParaRPr lang="zh-CN" altLang="en-US" sz="2400" b="1" dirty="0">
              <a:solidFill>
                <a:srgbClr val="E94D1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14448" y="4719663"/>
            <a:ext cx="1789137" cy="438156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修改前</a:t>
            </a:r>
            <a:endParaRPr lang="zh-CN" altLang="en-US" b="1" dirty="0">
              <a:solidFill>
                <a:srgbClr val="E94D1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740417" y="4719663"/>
            <a:ext cx="1789137" cy="438156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修改后</a:t>
            </a:r>
            <a:endParaRPr lang="zh-CN" altLang="en-US" b="1" dirty="0">
              <a:solidFill>
                <a:srgbClr val="E94D1A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1360467"/>
            <a:ext cx="9144000" cy="1588"/>
          </a:xfrm>
          <a:prstGeom prst="line">
            <a:avLst/>
          </a:prstGeom>
          <a:ln w="19050">
            <a:solidFill>
              <a:srgbClr val="E94D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650960" y="447642"/>
            <a:ext cx="58420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我在网易云课堂等你</a:t>
            </a:r>
            <a:endParaRPr lang="en-US" altLang="zh-CN" sz="2400" b="1" dirty="0" smtClean="0">
              <a:solidFill>
                <a:srgbClr val="E94D1A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感谢</a:t>
            </a:r>
            <a:r>
              <a:rPr lang="en-US" altLang="zh-CN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小巴</a:t>
            </a:r>
            <a:r>
              <a:rPr lang="en-US" altLang="zh-CN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_1990</a:t>
            </a:r>
            <a:r>
              <a:rPr lang="zh-CN" altLang="en-US" sz="2400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耐心指导</a:t>
            </a:r>
            <a:endParaRPr lang="zh-CN" altLang="en-US" sz="2400" b="1" dirty="0">
              <a:solidFill>
                <a:srgbClr val="E94D1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14448" y="4719663"/>
            <a:ext cx="1789137" cy="438156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修改前</a:t>
            </a:r>
            <a:endParaRPr lang="zh-CN" altLang="en-US" b="1" dirty="0">
              <a:solidFill>
                <a:srgbClr val="E94D1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740417" y="4719663"/>
            <a:ext cx="1789137" cy="438156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rgbClr val="E94D1A"/>
                </a:solidFill>
                <a:latin typeface="微软雅黑" pitchFamily="34" charset="-122"/>
                <a:ea typeface="微软雅黑" pitchFamily="34" charset="-122"/>
              </a:rPr>
              <a:t>修改后</a:t>
            </a:r>
            <a:endParaRPr lang="zh-CN" altLang="en-US" b="1" dirty="0">
              <a:solidFill>
                <a:srgbClr val="E94D1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27591" y="2017701"/>
            <a:ext cx="3600000" cy="225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6409" y="2017701"/>
            <a:ext cx="3600000" cy="225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86302" y="902720"/>
            <a:ext cx="6171396" cy="3416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3025974" y="2372156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516247" y="2372156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071460" y="2372156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8774" y="3324864"/>
            <a:ext cx="6171396" cy="148886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215"/>
              </a:spcBef>
            </a:pP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215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704576" y="3586507"/>
            <a:ext cx="5734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558774" y="1909793"/>
            <a:ext cx="1312212" cy="90531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093366" y="1909795"/>
            <a:ext cx="1312212" cy="1081438"/>
            <a:chOff x="107380" y="2024805"/>
            <a:chExt cx="1944270" cy="1602337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6"/>
              <a:ext cx="1728239" cy="12449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02825" y="1909793"/>
            <a:ext cx="1312212" cy="90531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120059" y="1909793"/>
            <a:ext cx="1312212" cy="90531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4980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488989" y="3294894"/>
            <a:ext cx="6188272" cy="1088017"/>
            <a:chOff x="0" y="3359571"/>
            <a:chExt cx="9169004" cy="1612087"/>
          </a:xfrm>
        </p:grpSpPr>
        <p:sp>
          <p:nvSpPr>
            <p:cNvPr id="5" name="矩形 4"/>
            <p:cNvSpPr/>
            <p:nvPr/>
          </p:nvSpPr>
          <p:spPr>
            <a:xfrm>
              <a:off x="1245140" y="3973769"/>
              <a:ext cx="4572000" cy="56775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62087">
                <a:defRPr/>
              </a:pPr>
              <a:r>
                <a:rPr lang="en-US" altLang="zh-CN" sz="945" kern="0" dirty="0">
                  <a:solidFill>
                    <a:prstClr val="black"/>
                  </a:solidFill>
                </a:rPr>
                <a:t/>
              </a:r>
              <a:br>
                <a:rPr lang="en-US" altLang="zh-CN" sz="945" kern="0" dirty="0">
                  <a:solidFill>
                    <a:prstClr val="black"/>
                  </a:solidFill>
                </a:rPr>
              </a:br>
              <a:endParaRPr lang="en-US" altLang="zh-CN" sz="945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46286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6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98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025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04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91671" cy="9508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038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62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46286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532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4" y="4188246"/>
              <a:ext cx="1596629" cy="783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418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6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783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418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6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12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59396" cy="367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013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409260" y="1156534"/>
            <a:ext cx="4325484" cy="1976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025"/>
              </a:spcBef>
            </a:pPr>
            <a:r>
              <a:rPr lang="zh-CN" altLang="en-US" sz="297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297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080</a:t>
            </a:r>
            <a:r>
              <a:rPr lang="zh-CN" altLang="en-US" sz="297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97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025"/>
              </a:spcBef>
            </a:pP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189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00452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顶峰">
  <a:themeElements>
    <a:clrScheme name="顶峰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顶峰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顶峰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693</TotalTime>
  <Words>722</Words>
  <Application>Microsoft Office PowerPoint</Application>
  <PresentationFormat>全屏显示(16:10)</PresentationFormat>
  <Paragraphs>156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方正正黑简体</vt:lpstr>
      <vt:lpstr>方正正中黑简体</vt:lpstr>
      <vt:lpstr>黑体</vt:lpstr>
      <vt:lpstr>宋体</vt:lpstr>
      <vt:lpstr>微软雅黑</vt:lpstr>
      <vt:lpstr>Arial</vt:lpstr>
      <vt:lpstr>Arial Black</vt:lpstr>
      <vt:lpstr>Book Antiqua</vt:lpstr>
      <vt:lpstr>Calibri</vt:lpstr>
      <vt:lpstr>Calibri Light</vt:lpstr>
      <vt:lpstr>Impact</vt:lpstr>
      <vt:lpstr>Lucida Sans</vt:lpstr>
      <vt:lpstr>Wingdings</vt:lpstr>
      <vt:lpstr>Wingdings 2</vt:lpstr>
      <vt:lpstr>Wingdings 3</vt:lpstr>
      <vt:lpstr>顶峰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微软中国</dc:creator>
  <cp:lastModifiedBy>小巴</cp:lastModifiedBy>
  <cp:revision>48</cp:revision>
  <dcterms:created xsi:type="dcterms:W3CDTF">2014-03-18T12:44:23Z</dcterms:created>
  <dcterms:modified xsi:type="dcterms:W3CDTF">2014-04-14T05:10:19Z</dcterms:modified>
</cp:coreProperties>
</file>