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9" r:id="rId4"/>
    <p:sldId id="267" r:id="rId5"/>
    <p:sldId id="260" r:id="rId6"/>
    <p:sldId id="268" r:id="rId7"/>
    <p:sldId id="261" r:id="rId8"/>
    <p:sldId id="262" r:id="rId9"/>
    <p:sldId id="264" r:id="rId10"/>
    <p:sldId id="263" r:id="rId11"/>
    <p:sldId id="266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710" userDrawn="1">
          <p15:clr>
            <a:srgbClr val="A4A3A4"/>
          </p15:clr>
        </p15:guide>
        <p15:guide id="3" pos="6970" userDrawn="1">
          <p15:clr>
            <a:srgbClr val="A4A3A4"/>
          </p15:clr>
        </p15:guide>
        <p15:guide id="4" orient="horz" pos="1026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3543" userDrawn="1">
          <p15:clr>
            <a:srgbClr val="A4A3A4"/>
          </p15:clr>
        </p15:guide>
        <p15:guide id="7" orient="horz" pos="4133" userDrawn="1">
          <p15:clr>
            <a:srgbClr val="A4A3A4"/>
          </p15:clr>
        </p15:guide>
        <p15:guide id="8" pos="5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501"/>
    <a:srgbClr val="6A6A6A"/>
    <a:srgbClr val="CB5E59"/>
    <a:srgbClr val="B08F7C"/>
    <a:srgbClr val="A1A1A1"/>
    <a:srgbClr val="F1D301"/>
    <a:srgbClr val="D95400"/>
    <a:srgbClr val="F2F2F0"/>
    <a:srgbClr val="FAF7ED"/>
    <a:srgbClr val="B2A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13" autoAdjust="0"/>
  </p:normalViewPr>
  <p:slideViewPr>
    <p:cSldViewPr snapToGrid="0">
      <p:cViewPr varScale="1">
        <p:scale>
          <a:sx n="74" d="100"/>
          <a:sy n="74" d="100"/>
        </p:scale>
        <p:origin x="552" y="66"/>
      </p:cViewPr>
      <p:guideLst>
        <p:guide orient="horz" pos="618"/>
        <p:guide pos="710"/>
        <p:guide pos="6970"/>
        <p:guide orient="horz" pos="1026"/>
        <p:guide orient="horz" pos="2387"/>
        <p:guide orient="horz" pos="3543"/>
        <p:guide orient="horz" pos="4133"/>
        <p:guide pos="51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0368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9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06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5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86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67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01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01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85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01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085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612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81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30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201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27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5375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168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328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208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089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3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A39CE-9F09-4151-947A-02FFD83DD4CC}" type="datetimeFigureOut">
              <a:rPr lang="zh-CN" altLang="en-US" smtClean="0"/>
              <a:t>2014/9/29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FFBD5-555B-4918-AAE6-490436EAB5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7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157827" y="-8131"/>
            <a:ext cx="1657350" cy="1026637"/>
          </a:xfrm>
          <a:prstGeom prst="rect">
            <a:avLst/>
          </a:prstGeom>
          <a:solidFill>
            <a:srgbClr val="F1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282947" y="4223047"/>
            <a:ext cx="3445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从零开始做运营</a:t>
            </a:r>
            <a:endParaRPr lang="zh-CN" altLang="en-US" sz="3600" b="1" dirty="0">
              <a:solidFill>
                <a:srgbClr val="32050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7370" y="4859853"/>
            <a:ext cx="50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拥有九年运营经验的知乎大神手把手教你做互联网运营</a:t>
            </a:r>
            <a:endParaRPr lang="zh-CN" altLang="en-US" sz="1600" dirty="0">
              <a:solidFill>
                <a:srgbClr val="32050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41189" y="5720323"/>
            <a:ext cx="5929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作者</a:t>
            </a:r>
            <a:r>
              <a:rPr lang="zh-CN" altLang="en-US" sz="2000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  <a:r>
              <a:rPr lang="en-US" altLang="zh-CN" sz="2000" b="1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@</a:t>
            </a:r>
            <a:r>
              <a:rPr lang="zh-CN" altLang="en-US" sz="2000" b="1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张亮</a:t>
            </a:r>
            <a:r>
              <a:rPr lang="en-US" altLang="zh-CN" sz="2000" b="1" dirty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-zhangleo</a:t>
            </a:r>
            <a:r>
              <a:rPr lang="zh-CN" altLang="en-US" sz="2000" b="1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        </a:t>
            </a:r>
            <a:r>
              <a:rPr lang="zh-CN" altLang="en-US" sz="2000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读书笔记：</a:t>
            </a:r>
            <a:r>
              <a:rPr lang="en-US" altLang="zh-CN" sz="2000" b="1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@</a:t>
            </a:r>
            <a:r>
              <a:rPr lang="zh-CN" altLang="en-US" sz="2000" b="1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沈晓马</a:t>
            </a:r>
            <a:endParaRPr lang="zh-CN" altLang="en-US" sz="2000" b="1" dirty="0">
              <a:solidFill>
                <a:srgbClr val="32050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6375399" y="573171"/>
            <a:ext cx="6108701" cy="3911711"/>
          </a:xfrm>
          <a:prstGeom prst="line">
            <a:avLst/>
          </a:prstGeom>
          <a:ln w="8255">
            <a:solidFill>
              <a:srgbClr val="B2A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911600" y="-86025"/>
            <a:ext cx="8379654" cy="5368580"/>
          </a:xfrm>
          <a:prstGeom prst="line">
            <a:avLst/>
          </a:prstGeom>
          <a:ln w="8255">
            <a:solidFill>
              <a:srgbClr val="B2A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7698693" y="351350"/>
            <a:ext cx="2436480" cy="3735936"/>
            <a:chOff x="6756400" y="543154"/>
            <a:chExt cx="3886200" cy="595884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2" t="3491" r="27117" b="7064"/>
            <a:stretch/>
          </p:blipFill>
          <p:spPr>
            <a:xfrm>
              <a:off x="6756400" y="543154"/>
              <a:ext cx="3886200" cy="5958841"/>
            </a:xfrm>
            <a:prstGeom prst="rect">
              <a:avLst/>
            </a:prstGeom>
          </p:spPr>
        </p:pic>
        <p:sp>
          <p:nvSpPr>
            <p:cNvPr id="8" name="剪去单角的矩形 7"/>
            <p:cNvSpPr/>
            <p:nvPr/>
          </p:nvSpPr>
          <p:spPr>
            <a:xfrm>
              <a:off x="7543800" y="1856837"/>
              <a:ext cx="1422400" cy="505363"/>
            </a:xfrm>
            <a:prstGeom prst="snip1Rect">
              <a:avLst>
                <a:gd name="adj" fmla="val 32409"/>
              </a:avLst>
            </a:prstGeom>
            <a:solidFill>
              <a:srgbClr val="F1D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 flipV="1">
            <a:off x="9775511" y="2189308"/>
            <a:ext cx="3027348" cy="1938564"/>
          </a:xfrm>
          <a:prstGeom prst="line">
            <a:avLst/>
          </a:prstGeom>
          <a:ln w="8255">
            <a:solidFill>
              <a:srgbClr val="B2A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0109773" y="3874966"/>
            <a:ext cx="50800" cy="50800"/>
          </a:xfrm>
          <a:prstGeom prst="ellipse">
            <a:avLst/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2A54C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317229" y="1041400"/>
            <a:ext cx="4637956" cy="2971392"/>
          </a:xfrm>
          <a:prstGeom prst="line">
            <a:avLst/>
          </a:prstGeom>
          <a:ln w="8255">
            <a:solidFill>
              <a:srgbClr val="B2A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7417548" y="3633436"/>
            <a:ext cx="215900" cy="215900"/>
          </a:xfrm>
          <a:prstGeom prst="ellipse">
            <a:avLst/>
          </a:prstGeom>
          <a:noFill/>
          <a:ln>
            <a:solidFill>
              <a:srgbClr val="B2A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7509614" y="3723289"/>
            <a:ext cx="45720" cy="45720"/>
          </a:xfrm>
          <a:prstGeom prst="ellipse">
            <a:avLst/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2A54C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11638224" y="1529700"/>
            <a:ext cx="749453" cy="479913"/>
          </a:xfrm>
          <a:prstGeom prst="line">
            <a:avLst/>
          </a:prstGeom>
          <a:ln w="8255">
            <a:solidFill>
              <a:srgbClr val="B2A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11422743" y="1788249"/>
            <a:ext cx="435724" cy="417922"/>
          </a:xfrm>
          <a:prstGeom prst="ellipse">
            <a:avLst/>
          </a:prstGeom>
          <a:noFill/>
          <a:ln>
            <a:solidFill>
              <a:srgbClr val="B2A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1613585" y="1967977"/>
            <a:ext cx="67992" cy="67992"/>
          </a:xfrm>
          <a:prstGeom prst="ellipse">
            <a:avLst/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2A54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620916" y="940612"/>
            <a:ext cx="435724" cy="417922"/>
          </a:xfrm>
          <a:prstGeom prst="ellipse">
            <a:avLst/>
          </a:prstGeom>
          <a:noFill/>
          <a:ln>
            <a:solidFill>
              <a:srgbClr val="B2A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811758" y="1120340"/>
            <a:ext cx="67992" cy="67992"/>
          </a:xfrm>
          <a:prstGeom prst="ellipse">
            <a:avLst/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2A54C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"/>
          <a:stretch/>
        </p:blipFill>
        <p:spPr>
          <a:xfrm rot="21132599">
            <a:off x="745430" y="787606"/>
            <a:ext cx="3935290" cy="52815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5179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93433" y="966478"/>
            <a:ext cx="7429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一</a:t>
            </a:r>
            <a:r>
              <a:rPr lang="zh-CN" altLang="en-US" sz="36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入运营深似海 ，从此休假是路人 </a:t>
            </a:r>
            <a:r>
              <a:rPr lang="en-US" altLang="zh-CN" sz="36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!</a:t>
            </a:r>
            <a:endParaRPr lang="zh-CN" altLang="en-US" sz="36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2086316" y="2451100"/>
            <a:ext cx="1328050" cy="1782632"/>
            <a:chOff x="3606800" y="2590800"/>
            <a:chExt cx="965200" cy="1295581"/>
          </a:xfrm>
        </p:grpSpPr>
        <p:sp>
          <p:nvSpPr>
            <p:cNvPr id="8" name="椭圆 7"/>
            <p:cNvSpPr/>
            <p:nvPr/>
          </p:nvSpPr>
          <p:spPr>
            <a:xfrm>
              <a:off x="3822700" y="2590800"/>
              <a:ext cx="749300" cy="749300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3606800" y="3258002"/>
              <a:ext cx="965200" cy="628379"/>
            </a:xfrm>
            <a:custGeom>
              <a:avLst/>
              <a:gdLst>
                <a:gd name="connsiteX0" fmla="*/ 358562 w 965200"/>
                <a:gd name="connsiteY0" fmla="*/ 0 h 628379"/>
                <a:gd name="connsiteX1" fmla="*/ 606638 w 965200"/>
                <a:gd name="connsiteY1" fmla="*/ 0 h 628379"/>
                <a:gd name="connsiteX2" fmla="*/ 965200 w 965200"/>
                <a:gd name="connsiteY2" fmla="*/ 358562 h 628379"/>
                <a:gd name="connsiteX3" fmla="*/ 965200 w 965200"/>
                <a:gd name="connsiteY3" fmla="*/ 628379 h 628379"/>
                <a:gd name="connsiteX4" fmla="*/ 0 w 965200"/>
                <a:gd name="connsiteY4" fmla="*/ 628379 h 628379"/>
                <a:gd name="connsiteX5" fmla="*/ 0 w 965200"/>
                <a:gd name="connsiteY5" fmla="*/ 358562 h 628379"/>
                <a:gd name="connsiteX6" fmla="*/ 358562 w 965200"/>
                <a:gd name="connsiteY6" fmla="*/ 0 h 62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5200" h="628379">
                  <a:moveTo>
                    <a:pt x="358562" y="0"/>
                  </a:moveTo>
                  <a:lnTo>
                    <a:pt x="606638" y="0"/>
                  </a:lnTo>
                  <a:cubicBezTo>
                    <a:pt x="804666" y="0"/>
                    <a:pt x="965200" y="160534"/>
                    <a:pt x="965200" y="358562"/>
                  </a:cubicBezTo>
                  <a:lnTo>
                    <a:pt x="965200" y="628379"/>
                  </a:lnTo>
                  <a:lnTo>
                    <a:pt x="0" y="628379"/>
                  </a:lnTo>
                  <a:lnTo>
                    <a:pt x="0" y="358562"/>
                  </a:lnTo>
                  <a:cubicBezTo>
                    <a:pt x="0" y="160534"/>
                    <a:pt x="160534" y="0"/>
                    <a:pt x="358562" y="0"/>
                  </a:cubicBezTo>
                  <a:close/>
                </a:path>
              </a:pathLst>
            </a:cu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弦形 17"/>
            <p:cNvSpPr/>
            <p:nvPr/>
          </p:nvSpPr>
          <p:spPr>
            <a:xfrm rot="6272674">
              <a:off x="3948058" y="2840649"/>
              <a:ext cx="154859" cy="154859"/>
            </a:xfrm>
            <a:prstGeom prst="chord">
              <a:avLst>
                <a:gd name="adj1" fmla="val 2700000"/>
                <a:gd name="adj2" fmla="val 1719922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弦形 21"/>
            <p:cNvSpPr/>
            <p:nvPr/>
          </p:nvSpPr>
          <p:spPr>
            <a:xfrm rot="6272674">
              <a:off x="4245238" y="2840649"/>
              <a:ext cx="154859" cy="154859"/>
            </a:xfrm>
            <a:prstGeom prst="chord">
              <a:avLst>
                <a:gd name="adj1" fmla="val 2700000"/>
                <a:gd name="adj2" fmla="val 1719922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弧形 24"/>
            <p:cNvSpPr/>
            <p:nvPr/>
          </p:nvSpPr>
          <p:spPr>
            <a:xfrm rot="8100000">
              <a:off x="3921619" y="2712380"/>
              <a:ext cx="506139" cy="506139"/>
            </a:xfrm>
            <a:prstGeom prst="arc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4180059" y="2179638"/>
            <a:ext cx="1328050" cy="2051299"/>
            <a:chOff x="7363460" y="2395538"/>
            <a:chExt cx="965200" cy="1490843"/>
          </a:xfrm>
        </p:grpSpPr>
        <p:sp>
          <p:nvSpPr>
            <p:cNvPr id="28" name="椭圆 27"/>
            <p:cNvSpPr/>
            <p:nvPr/>
          </p:nvSpPr>
          <p:spPr>
            <a:xfrm>
              <a:off x="7579360" y="2590800"/>
              <a:ext cx="749300" cy="749300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7363460" y="3258002"/>
              <a:ext cx="965200" cy="628379"/>
            </a:xfrm>
            <a:custGeom>
              <a:avLst/>
              <a:gdLst>
                <a:gd name="connsiteX0" fmla="*/ 358562 w 965200"/>
                <a:gd name="connsiteY0" fmla="*/ 0 h 628379"/>
                <a:gd name="connsiteX1" fmla="*/ 606638 w 965200"/>
                <a:gd name="connsiteY1" fmla="*/ 0 h 628379"/>
                <a:gd name="connsiteX2" fmla="*/ 965200 w 965200"/>
                <a:gd name="connsiteY2" fmla="*/ 358562 h 628379"/>
                <a:gd name="connsiteX3" fmla="*/ 965200 w 965200"/>
                <a:gd name="connsiteY3" fmla="*/ 628379 h 628379"/>
                <a:gd name="connsiteX4" fmla="*/ 0 w 965200"/>
                <a:gd name="connsiteY4" fmla="*/ 628379 h 628379"/>
                <a:gd name="connsiteX5" fmla="*/ 0 w 965200"/>
                <a:gd name="connsiteY5" fmla="*/ 358562 h 628379"/>
                <a:gd name="connsiteX6" fmla="*/ 358562 w 965200"/>
                <a:gd name="connsiteY6" fmla="*/ 0 h 62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5200" h="628379">
                  <a:moveTo>
                    <a:pt x="358562" y="0"/>
                  </a:moveTo>
                  <a:lnTo>
                    <a:pt x="606638" y="0"/>
                  </a:lnTo>
                  <a:cubicBezTo>
                    <a:pt x="804666" y="0"/>
                    <a:pt x="965200" y="160534"/>
                    <a:pt x="965200" y="358562"/>
                  </a:cubicBezTo>
                  <a:lnTo>
                    <a:pt x="965200" y="628379"/>
                  </a:lnTo>
                  <a:lnTo>
                    <a:pt x="0" y="628379"/>
                  </a:lnTo>
                  <a:lnTo>
                    <a:pt x="0" y="358562"/>
                  </a:lnTo>
                  <a:cubicBezTo>
                    <a:pt x="0" y="160534"/>
                    <a:pt x="160534" y="0"/>
                    <a:pt x="358562" y="0"/>
                  </a:cubicBezTo>
                  <a:close/>
                </a:path>
              </a:pathLst>
            </a:cu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弦形 29"/>
            <p:cNvSpPr/>
            <p:nvPr/>
          </p:nvSpPr>
          <p:spPr>
            <a:xfrm rot="6272674">
              <a:off x="7678380" y="2822793"/>
              <a:ext cx="128964" cy="128964"/>
            </a:xfrm>
            <a:prstGeom prst="chord">
              <a:avLst>
                <a:gd name="adj1" fmla="val 2700000"/>
                <a:gd name="adj2" fmla="val 192385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弦形 34"/>
            <p:cNvSpPr/>
            <p:nvPr/>
          </p:nvSpPr>
          <p:spPr>
            <a:xfrm rot="6272674">
              <a:off x="7932381" y="2695834"/>
              <a:ext cx="128964" cy="128964"/>
            </a:xfrm>
            <a:prstGeom prst="chord">
              <a:avLst>
                <a:gd name="adj1" fmla="val 2700000"/>
                <a:gd name="adj2" fmla="val 192385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7730172" y="2395538"/>
              <a:ext cx="447675" cy="151445"/>
            </a:xfrm>
            <a:prstGeom prst="ellipse">
              <a:avLst/>
            </a:prstGeom>
            <a:noFill/>
            <a:ln w="19050">
              <a:solidFill>
                <a:srgbClr val="3205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7645400" y="2411413"/>
              <a:ext cx="198932" cy="75722"/>
            </a:xfrm>
            <a:prstGeom prst="line">
              <a:avLst/>
            </a:prstGeom>
            <a:ln w="38100">
              <a:solidFill>
                <a:srgbClr val="F1D3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V="1">
              <a:off x="8055767" y="2410101"/>
              <a:ext cx="206852" cy="81678"/>
            </a:xfrm>
            <a:prstGeom prst="line">
              <a:avLst/>
            </a:prstGeom>
            <a:ln w="38100">
              <a:solidFill>
                <a:srgbClr val="F1D3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8309686" y="2400297"/>
            <a:ext cx="1761414" cy="2720903"/>
            <a:chOff x="9516186" y="2590797"/>
            <a:chExt cx="1280160" cy="1977497"/>
          </a:xfrm>
        </p:grpSpPr>
        <p:sp>
          <p:nvSpPr>
            <p:cNvPr id="41" name="弦形 40"/>
            <p:cNvSpPr/>
            <p:nvPr/>
          </p:nvSpPr>
          <p:spPr>
            <a:xfrm rot="5565910">
              <a:off x="9516186" y="3288134"/>
              <a:ext cx="1280160" cy="1280160"/>
            </a:xfrm>
            <a:prstGeom prst="chord">
              <a:avLst>
                <a:gd name="adj1" fmla="val 5287421"/>
                <a:gd name="adj2" fmla="val 15995262"/>
              </a:avLst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9841883" y="2590797"/>
              <a:ext cx="888076" cy="888076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弦形 42"/>
            <p:cNvSpPr/>
            <p:nvPr/>
          </p:nvSpPr>
          <p:spPr>
            <a:xfrm rot="18214938">
              <a:off x="10001404" y="2828114"/>
              <a:ext cx="191546" cy="179926"/>
            </a:xfrm>
            <a:prstGeom prst="chord">
              <a:avLst>
                <a:gd name="adj1" fmla="val 2700000"/>
                <a:gd name="adj2" fmla="val 132529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弦形 43"/>
            <p:cNvSpPr/>
            <p:nvPr/>
          </p:nvSpPr>
          <p:spPr>
            <a:xfrm rot="437963">
              <a:off x="10475002" y="2935402"/>
              <a:ext cx="191546" cy="179926"/>
            </a:xfrm>
            <a:prstGeom prst="chord">
              <a:avLst>
                <a:gd name="adj1" fmla="val 2700000"/>
                <a:gd name="adj2" fmla="val 132529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弦形 44"/>
            <p:cNvSpPr/>
            <p:nvPr/>
          </p:nvSpPr>
          <p:spPr>
            <a:xfrm rot="21017420">
              <a:off x="10076080" y="3145311"/>
              <a:ext cx="191546" cy="179926"/>
            </a:xfrm>
            <a:prstGeom prst="chord">
              <a:avLst>
                <a:gd name="adj1" fmla="val 2700000"/>
                <a:gd name="adj2" fmla="val 132529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273802" y="2422522"/>
            <a:ext cx="1333692" cy="1821950"/>
            <a:chOff x="5548764" y="2562222"/>
            <a:chExt cx="969300" cy="1324156"/>
          </a:xfrm>
        </p:grpSpPr>
        <p:sp>
          <p:nvSpPr>
            <p:cNvPr id="47" name="椭圆 46"/>
            <p:cNvSpPr/>
            <p:nvPr/>
          </p:nvSpPr>
          <p:spPr>
            <a:xfrm>
              <a:off x="5548764" y="2562222"/>
              <a:ext cx="835104" cy="835104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5552864" y="3257999"/>
              <a:ext cx="965200" cy="628379"/>
            </a:xfrm>
            <a:custGeom>
              <a:avLst/>
              <a:gdLst>
                <a:gd name="connsiteX0" fmla="*/ 358562 w 965200"/>
                <a:gd name="connsiteY0" fmla="*/ 0 h 628379"/>
                <a:gd name="connsiteX1" fmla="*/ 606638 w 965200"/>
                <a:gd name="connsiteY1" fmla="*/ 0 h 628379"/>
                <a:gd name="connsiteX2" fmla="*/ 965200 w 965200"/>
                <a:gd name="connsiteY2" fmla="*/ 358562 h 628379"/>
                <a:gd name="connsiteX3" fmla="*/ 965200 w 965200"/>
                <a:gd name="connsiteY3" fmla="*/ 628379 h 628379"/>
                <a:gd name="connsiteX4" fmla="*/ 0 w 965200"/>
                <a:gd name="connsiteY4" fmla="*/ 628379 h 628379"/>
                <a:gd name="connsiteX5" fmla="*/ 0 w 965200"/>
                <a:gd name="connsiteY5" fmla="*/ 358562 h 628379"/>
                <a:gd name="connsiteX6" fmla="*/ 358562 w 965200"/>
                <a:gd name="connsiteY6" fmla="*/ 0 h 62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5200" h="628379">
                  <a:moveTo>
                    <a:pt x="358562" y="0"/>
                  </a:moveTo>
                  <a:lnTo>
                    <a:pt x="606638" y="0"/>
                  </a:lnTo>
                  <a:cubicBezTo>
                    <a:pt x="804666" y="0"/>
                    <a:pt x="965200" y="160534"/>
                    <a:pt x="965200" y="358562"/>
                  </a:cubicBezTo>
                  <a:lnTo>
                    <a:pt x="965200" y="628379"/>
                  </a:lnTo>
                  <a:lnTo>
                    <a:pt x="0" y="628379"/>
                  </a:lnTo>
                  <a:lnTo>
                    <a:pt x="0" y="358562"/>
                  </a:lnTo>
                  <a:cubicBezTo>
                    <a:pt x="0" y="160534"/>
                    <a:pt x="160534" y="0"/>
                    <a:pt x="358562" y="0"/>
                  </a:cubicBezTo>
                  <a:close/>
                </a:path>
              </a:pathLst>
            </a:cu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5646258" y="2714766"/>
              <a:ext cx="323812" cy="3238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5970070" y="2863459"/>
              <a:ext cx="323812" cy="3238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5682164" y="2750672"/>
              <a:ext cx="252000" cy="252000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6005976" y="2899365"/>
              <a:ext cx="252000" cy="252000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5718164" y="2786672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6041976" y="2935365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5754164" y="2822672"/>
              <a:ext cx="108000" cy="108000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6077976" y="2971365"/>
              <a:ext cx="108000" cy="108000"/>
            </a:xfrm>
            <a:prstGeom prst="ellipse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5781164" y="2849672"/>
              <a:ext cx="54000" cy="5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6104976" y="2998365"/>
              <a:ext cx="54000" cy="5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直角三角形 58"/>
            <p:cNvSpPr/>
            <p:nvPr/>
          </p:nvSpPr>
          <p:spPr>
            <a:xfrm rot="9849247">
              <a:off x="5773416" y="3150698"/>
              <a:ext cx="142789" cy="142789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4" name="直接连接符 63"/>
          <p:cNvCxnSpPr/>
          <p:nvPr/>
        </p:nvCxnSpPr>
        <p:spPr>
          <a:xfrm>
            <a:off x="1911292" y="5053688"/>
            <a:ext cx="1586997" cy="0"/>
          </a:xfrm>
          <a:prstGeom prst="line">
            <a:avLst/>
          </a:prstGeom>
          <a:ln w="12700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2056696" y="4571565"/>
            <a:ext cx="1357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入职</a:t>
            </a:r>
            <a:r>
              <a:rPr lang="en-US" altLang="zh-CN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</a:t>
            </a:r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周</a:t>
            </a:r>
            <a:endParaRPr lang="zh-CN" altLang="en-US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4080885" y="5053688"/>
            <a:ext cx="1586997" cy="0"/>
          </a:xfrm>
          <a:prstGeom prst="line">
            <a:avLst/>
          </a:prstGeom>
          <a:ln w="12700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4226289" y="4571565"/>
            <a:ext cx="1357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入职</a:t>
            </a:r>
            <a:r>
              <a:rPr lang="en-US" altLang="zh-CN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</a:t>
            </a:r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周</a:t>
            </a:r>
            <a:endParaRPr lang="zh-CN" altLang="en-US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6186978" y="5053688"/>
            <a:ext cx="1586997" cy="0"/>
          </a:xfrm>
          <a:prstGeom prst="line">
            <a:avLst/>
          </a:prstGeom>
          <a:ln w="12700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332382" y="4571565"/>
            <a:ext cx="1357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入职</a:t>
            </a:r>
            <a:r>
              <a:rPr lang="en-US" altLang="zh-CN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</a:t>
            </a:r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周</a:t>
            </a:r>
            <a:endParaRPr lang="zh-CN" altLang="en-US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8420071" y="5053688"/>
            <a:ext cx="1586997" cy="0"/>
          </a:xfrm>
          <a:prstGeom prst="line">
            <a:avLst/>
          </a:prstGeom>
          <a:ln w="12700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8565475" y="4571565"/>
            <a:ext cx="1357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入职</a:t>
            </a:r>
            <a:r>
              <a:rPr lang="en-US" altLang="zh-CN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4</a:t>
            </a:r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周</a:t>
            </a:r>
            <a:endParaRPr lang="zh-CN" altLang="en-US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107495" y="6251698"/>
            <a:ext cx="8055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D954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一张图告诉你如何快速入门产品运营</a:t>
            </a:r>
            <a:endParaRPr lang="zh-CN" altLang="en-US" sz="3600" b="1" dirty="0">
              <a:solidFill>
                <a:srgbClr val="D954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-44994" y="6552288"/>
            <a:ext cx="1911292" cy="0"/>
          </a:xfrm>
          <a:prstGeom prst="line">
            <a:avLst/>
          </a:prstGeom>
          <a:ln w="12700">
            <a:solidFill>
              <a:srgbClr val="D954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0316903" y="6552288"/>
            <a:ext cx="1911292" cy="0"/>
          </a:xfrm>
          <a:prstGeom prst="line">
            <a:avLst/>
          </a:prstGeom>
          <a:ln w="12700">
            <a:solidFill>
              <a:srgbClr val="D954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64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43794" y="1767473"/>
            <a:ext cx="10946720" cy="1994584"/>
            <a:chOff x="243794" y="402150"/>
            <a:chExt cx="10946720" cy="1994584"/>
          </a:xfrm>
        </p:grpSpPr>
        <p:grpSp>
          <p:nvGrpSpPr>
            <p:cNvPr id="2" name="组合 1"/>
            <p:cNvGrpSpPr/>
            <p:nvPr/>
          </p:nvGrpSpPr>
          <p:grpSpPr>
            <a:xfrm>
              <a:off x="243794" y="402150"/>
              <a:ext cx="582554" cy="893250"/>
              <a:chOff x="6756400" y="543154"/>
              <a:chExt cx="3886200" cy="5958841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512" t="3491" r="27117" b="7064"/>
              <a:stretch/>
            </p:blipFill>
            <p:spPr>
              <a:xfrm>
                <a:off x="6756400" y="543154"/>
                <a:ext cx="3886200" cy="5958841"/>
              </a:xfrm>
              <a:prstGeom prst="rect">
                <a:avLst/>
              </a:prstGeom>
            </p:spPr>
          </p:pic>
          <p:sp>
            <p:nvSpPr>
              <p:cNvPr id="4" name="剪去单角的矩形 3"/>
              <p:cNvSpPr/>
              <p:nvPr/>
            </p:nvSpPr>
            <p:spPr>
              <a:xfrm>
                <a:off x="7543800" y="1856837"/>
                <a:ext cx="1422400" cy="505363"/>
              </a:xfrm>
              <a:prstGeom prst="snip1Rect">
                <a:avLst>
                  <a:gd name="adj" fmla="val 32409"/>
                </a:avLst>
              </a:prstGeom>
              <a:solidFill>
                <a:srgbClr val="F1D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1041400" y="464054"/>
              <a:ext cx="4267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 smtClean="0"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运营的重要性</a:t>
              </a:r>
              <a:endParaRPr lang="zh-CN" altLang="en-US" sz="44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41400" y="1418005"/>
              <a:ext cx="10149114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如果把产品当做一个婴儿，那么产品与运营的职责划分就是：产品负责生孩子，运营负责养孩子。</a:t>
              </a:r>
              <a:r>
                <a:rPr lang="zh-CN" altLang="en-US" sz="2400" b="1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要是只把孩子生出来，不知道怎么养有个毛用？！</a:t>
              </a:r>
              <a:endParaRPr lang="zh-CN" altLang="en-US" sz="2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3794" y="5310770"/>
            <a:ext cx="10946720" cy="1471030"/>
            <a:chOff x="243794" y="3965407"/>
            <a:chExt cx="10946720" cy="1471030"/>
          </a:xfrm>
        </p:grpSpPr>
        <p:grpSp>
          <p:nvGrpSpPr>
            <p:cNvPr id="9" name="组合 8"/>
            <p:cNvGrpSpPr/>
            <p:nvPr/>
          </p:nvGrpSpPr>
          <p:grpSpPr>
            <a:xfrm>
              <a:off x="243794" y="3965407"/>
              <a:ext cx="582554" cy="893250"/>
              <a:chOff x="6756400" y="543154"/>
              <a:chExt cx="3886200" cy="5958841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512" t="3491" r="27117" b="7064"/>
              <a:stretch/>
            </p:blipFill>
            <p:spPr>
              <a:xfrm>
                <a:off x="6756400" y="543154"/>
                <a:ext cx="3886200" cy="5958841"/>
              </a:xfrm>
              <a:prstGeom prst="rect">
                <a:avLst/>
              </a:prstGeom>
            </p:spPr>
          </p:pic>
          <p:sp>
            <p:nvSpPr>
              <p:cNvPr id="11" name="剪去单角的矩形 10"/>
              <p:cNvSpPr/>
              <p:nvPr/>
            </p:nvSpPr>
            <p:spPr>
              <a:xfrm>
                <a:off x="7543800" y="1856837"/>
                <a:ext cx="1422400" cy="505363"/>
              </a:xfrm>
              <a:prstGeom prst="snip1Rect">
                <a:avLst>
                  <a:gd name="adj" fmla="val 32409"/>
                </a:avLst>
              </a:prstGeom>
              <a:solidFill>
                <a:srgbClr val="F1D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1041400" y="4027311"/>
              <a:ext cx="4267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 smtClean="0"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运营的定义</a:t>
              </a:r>
              <a:endParaRPr lang="zh-CN" altLang="en-US" sz="44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41400" y="4974772"/>
              <a:ext cx="101491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2400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一切能够帮助产品进行推广、促进用户使用、提高用户认知的手段。</a:t>
              </a:r>
              <a:endPara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543300" y="2638042"/>
            <a:ext cx="42700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43300" y="6195312"/>
            <a:ext cx="37493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946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43794" y="1628775"/>
            <a:ext cx="10946720" cy="1477520"/>
            <a:chOff x="243794" y="402150"/>
            <a:chExt cx="10946720" cy="1477520"/>
          </a:xfrm>
        </p:grpSpPr>
        <p:grpSp>
          <p:nvGrpSpPr>
            <p:cNvPr id="9" name="组合 8"/>
            <p:cNvGrpSpPr/>
            <p:nvPr/>
          </p:nvGrpSpPr>
          <p:grpSpPr>
            <a:xfrm>
              <a:off x="243794" y="402150"/>
              <a:ext cx="582554" cy="893250"/>
              <a:chOff x="6756400" y="543154"/>
              <a:chExt cx="3886200" cy="5958841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512" t="3491" r="27117" b="7064"/>
              <a:stretch/>
            </p:blipFill>
            <p:spPr>
              <a:xfrm>
                <a:off x="6756400" y="543154"/>
                <a:ext cx="3886200" cy="5958841"/>
              </a:xfrm>
              <a:prstGeom prst="rect">
                <a:avLst/>
              </a:prstGeom>
            </p:spPr>
          </p:pic>
          <p:sp>
            <p:nvSpPr>
              <p:cNvPr id="13" name="剪去单角的矩形 12"/>
              <p:cNvSpPr/>
              <p:nvPr/>
            </p:nvSpPr>
            <p:spPr>
              <a:xfrm>
                <a:off x="7543800" y="1856837"/>
                <a:ext cx="1422400" cy="505363"/>
              </a:xfrm>
              <a:prstGeom prst="snip1Rect">
                <a:avLst>
                  <a:gd name="adj" fmla="val 32409"/>
                </a:avLst>
              </a:prstGeom>
              <a:solidFill>
                <a:srgbClr val="F1D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041400" y="460591"/>
              <a:ext cx="4267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 smtClean="0"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运营的目标</a:t>
              </a:r>
              <a:endParaRPr lang="zh-CN" altLang="en-US" sz="44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41400" y="1418005"/>
              <a:ext cx="101491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2400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让产品活的更好、更久！这和抚养婴儿的目标是一样的，对不对？</a:t>
              </a:r>
              <a:endPara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543300" y="2507958"/>
            <a:ext cx="38382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2320996" y="4111955"/>
            <a:ext cx="1758100" cy="2746045"/>
            <a:chOff x="3174074" y="3903827"/>
            <a:chExt cx="1758100" cy="2746045"/>
          </a:xfrm>
          <a:solidFill>
            <a:srgbClr val="320501"/>
          </a:solidFill>
        </p:grpSpPr>
        <p:sp>
          <p:nvSpPr>
            <p:cNvPr id="23" name="矩形 22"/>
            <p:cNvSpPr/>
            <p:nvPr/>
          </p:nvSpPr>
          <p:spPr>
            <a:xfrm>
              <a:off x="3250319" y="3903827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719846" y="3908754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 rot="18900000">
              <a:off x="3530616" y="4420701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3810913" y="5105399"/>
              <a:ext cx="136083" cy="3429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 rot="2700000" flipV="1">
              <a:off x="4439549" y="4420700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 rot="10800000">
              <a:off x="4719846" y="5952670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 rot="10800000">
              <a:off x="3250319" y="5947743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 rot="8100000">
              <a:off x="4439549" y="5283831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0800000">
              <a:off x="4159252" y="5105399"/>
              <a:ext cx="136083" cy="3429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 rot="13500000" flipV="1">
              <a:off x="3530616" y="5283832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2601092" y="3420648"/>
            <a:ext cx="1136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运营前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8120863" y="4111955"/>
            <a:ext cx="1758100" cy="2746045"/>
            <a:chOff x="3174074" y="3903827"/>
            <a:chExt cx="1758100" cy="2746045"/>
          </a:xfrm>
          <a:solidFill>
            <a:srgbClr val="320501"/>
          </a:solidFill>
        </p:grpSpPr>
        <p:sp>
          <p:nvSpPr>
            <p:cNvPr id="35" name="矩形 34"/>
            <p:cNvSpPr/>
            <p:nvPr/>
          </p:nvSpPr>
          <p:spPr>
            <a:xfrm>
              <a:off x="3250319" y="3903827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719846" y="3908754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 rot="18900000">
              <a:off x="3530616" y="4420701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3810913" y="5105399"/>
              <a:ext cx="136083" cy="3429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 rot="2700000" flipV="1">
              <a:off x="4439549" y="4420700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 rot="10800000">
              <a:off x="4719846" y="5952670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 rot="10800000">
              <a:off x="3250319" y="5947743"/>
              <a:ext cx="136083" cy="69720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 rot="8100000">
              <a:off x="4439549" y="5283831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 rot="10800000">
              <a:off x="4159252" y="5105399"/>
              <a:ext cx="136083" cy="3429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 rot="13500000" flipV="1">
              <a:off x="3530616" y="5283832"/>
              <a:ext cx="136083" cy="8491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8400959" y="3420648"/>
            <a:ext cx="1136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运营后</a:t>
            </a:r>
            <a:endParaRPr lang="zh-CN" altLang="en-US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6" name="直角三角形 45"/>
          <p:cNvSpPr/>
          <p:nvPr/>
        </p:nvSpPr>
        <p:spPr>
          <a:xfrm rot="18900000">
            <a:off x="2829608" y="4428247"/>
            <a:ext cx="690890" cy="690890"/>
          </a:xfrm>
          <a:prstGeom prst="rtTriangle">
            <a:avLst/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五边形 46"/>
          <p:cNvSpPr/>
          <p:nvPr/>
        </p:nvSpPr>
        <p:spPr>
          <a:xfrm rot="16200000">
            <a:off x="2708418" y="5785049"/>
            <a:ext cx="961698" cy="1177200"/>
          </a:xfrm>
          <a:prstGeom prst="homePlate">
            <a:avLst>
              <a:gd name="adj" fmla="val 42103"/>
            </a:avLst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2857558" y="4762054"/>
            <a:ext cx="92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20%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857558" y="6287002"/>
            <a:ext cx="92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80%</a:t>
            </a:r>
          </a:p>
        </p:txBody>
      </p:sp>
      <p:cxnSp>
        <p:nvCxnSpPr>
          <p:cNvPr id="50" name="直接连接符 49"/>
          <p:cNvCxnSpPr/>
          <p:nvPr/>
        </p:nvCxnSpPr>
        <p:spPr>
          <a:xfrm>
            <a:off x="4257658" y="4809157"/>
            <a:ext cx="1244612" cy="0"/>
          </a:xfrm>
          <a:prstGeom prst="line">
            <a:avLst/>
          </a:prstGeom>
          <a:ln>
            <a:solidFill>
              <a:srgbClr val="320501">
                <a:alpha val="70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5531615" y="4642546"/>
            <a:ext cx="113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使用</a:t>
            </a:r>
            <a:r>
              <a:rPr lang="zh-CN" altLang="en-US" dirty="0" smtClean="0">
                <a:solidFill>
                  <a:schemeClr val="tx1">
                    <a:alpha val="70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用户</a:t>
            </a:r>
            <a:endParaRPr lang="zh-CN" altLang="en-US" dirty="0">
              <a:solidFill>
                <a:schemeClr val="tx1">
                  <a:alpha val="70000"/>
                </a:scheme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6642080" y="4809157"/>
            <a:ext cx="1244612" cy="0"/>
          </a:xfrm>
          <a:prstGeom prst="line">
            <a:avLst/>
          </a:prstGeom>
          <a:ln>
            <a:solidFill>
              <a:srgbClr val="320501">
                <a:alpha val="70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4257658" y="6182782"/>
            <a:ext cx="1244612" cy="0"/>
          </a:xfrm>
          <a:prstGeom prst="line">
            <a:avLst/>
          </a:prstGeom>
          <a:ln>
            <a:solidFill>
              <a:srgbClr val="320501">
                <a:alpha val="70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5531615" y="6016171"/>
            <a:ext cx="113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流失</a:t>
            </a:r>
            <a:r>
              <a:rPr lang="zh-CN" altLang="en-US" dirty="0" smtClean="0">
                <a:solidFill>
                  <a:schemeClr val="tx1">
                    <a:alpha val="70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用户</a:t>
            </a:r>
            <a:endParaRPr lang="zh-CN" altLang="en-US" dirty="0">
              <a:solidFill>
                <a:schemeClr val="tx1">
                  <a:alpha val="70000"/>
                </a:scheme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6642080" y="6182782"/>
            <a:ext cx="1244612" cy="0"/>
          </a:xfrm>
          <a:prstGeom prst="line">
            <a:avLst/>
          </a:prstGeom>
          <a:ln>
            <a:solidFill>
              <a:srgbClr val="320501">
                <a:alpha val="70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五边形 55"/>
          <p:cNvSpPr/>
          <p:nvPr/>
        </p:nvSpPr>
        <p:spPr>
          <a:xfrm rot="5400000">
            <a:off x="8532963" y="4086507"/>
            <a:ext cx="961698" cy="1177200"/>
          </a:xfrm>
          <a:prstGeom prst="homePlate">
            <a:avLst>
              <a:gd name="adj" fmla="val 42103"/>
            </a:avLst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8709234" y="4400088"/>
            <a:ext cx="92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80%</a:t>
            </a:r>
          </a:p>
        </p:txBody>
      </p:sp>
      <p:sp>
        <p:nvSpPr>
          <p:cNvPr id="58" name="直角三角形 57"/>
          <p:cNvSpPr/>
          <p:nvPr/>
        </p:nvSpPr>
        <p:spPr>
          <a:xfrm rot="8100000">
            <a:off x="8647470" y="6512784"/>
            <a:ext cx="690890" cy="690890"/>
          </a:xfrm>
          <a:prstGeom prst="rtTriangle">
            <a:avLst/>
          </a:prstGeom>
          <a:solidFill>
            <a:srgbClr val="320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659542" y="6535738"/>
            <a:ext cx="92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20%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553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6896088" y="3797300"/>
            <a:ext cx="2641600" cy="1981200"/>
            <a:chOff x="6896088" y="1003300"/>
            <a:chExt cx="2641600" cy="1981200"/>
          </a:xfrm>
        </p:grpSpPr>
        <p:grpSp>
          <p:nvGrpSpPr>
            <p:cNvPr id="25" name="组合 24"/>
            <p:cNvGrpSpPr/>
            <p:nvPr/>
          </p:nvGrpSpPr>
          <p:grpSpPr>
            <a:xfrm>
              <a:off x="6896088" y="1003300"/>
              <a:ext cx="2641600" cy="1981200"/>
              <a:chOff x="1866900" y="1270000"/>
              <a:chExt cx="2641600" cy="19812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2197100" y="1270000"/>
                <a:ext cx="1981200" cy="1981200"/>
              </a:xfrm>
              <a:prstGeom prst="ellipse">
                <a:avLst/>
              </a:prstGeom>
              <a:noFill/>
              <a:ln w="38100">
                <a:solidFill>
                  <a:srgbClr val="3205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866900" y="2060575"/>
                <a:ext cx="2641600" cy="400050"/>
              </a:xfrm>
              <a:prstGeom prst="rect">
                <a:avLst/>
              </a:prstGeom>
              <a:solidFill>
                <a:srgbClr val="F1D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2105024" y="1930400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2105023" y="2460625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4140202" y="1930400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4140201" y="2460625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476500" y="1628775"/>
                <a:ext cx="15081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维系用户</a:t>
                </a: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7698390" y="1839986"/>
              <a:ext cx="1036995" cy="806401"/>
              <a:chOff x="4349438" y="2413434"/>
              <a:chExt cx="1179222" cy="917001"/>
            </a:xfrm>
          </p:grpSpPr>
          <p:sp>
            <p:nvSpPr>
              <p:cNvPr id="39" name="任意多边形 38"/>
              <p:cNvSpPr/>
              <p:nvPr/>
            </p:nvSpPr>
            <p:spPr>
              <a:xfrm>
                <a:off x="4349438" y="2413434"/>
                <a:ext cx="625595" cy="863461"/>
              </a:xfrm>
              <a:custGeom>
                <a:avLst/>
                <a:gdLst>
                  <a:gd name="connsiteX0" fmla="*/ 347380 w 625595"/>
                  <a:gd name="connsiteY0" fmla="*/ 1154 h 863461"/>
                  <a:gd name="connsiteX1" fmla="*/ 511686 w 625595"/>
                  <a:gd name="connsiteY1" fmla="*/ 55924 h 863461"/>
                  <a:gd name="connsiteX2" fmla="*/ 571218 w 625595"/>
                  <a:gd name="connsiteY2" fmla="*/ 229754 h 863461"/>
                  <a:gd name="connsiteX3" fmla="*/ 516449 w 625595"/>
                  <a:gd name="connsiteY3" fmla="*/ 389297 h 863461"/>
                  <a:gd name="connsiteX4" fmla="*/ 464062 w 625595"/>
                  <a:gd name="connsiteY4" fmla="*/ 482167 h 863461"/>
                  <a:gd name="connsiteX5" fmla="*/ 490255 w 625595"/>
                  <a:gd name="connsiteY5" fmla="*/ 529792 h 863461"/>
                  <a:gd name="connsiteX6" fmla="*/ 614080 w 625595"/>
                  <a:gd name="connsiteY6" fmla="*/ 579798 h 863461"/>
                  <a:gd name="connsiteX7" fmla="*/ 625595 w 625595"/>
                  <a:gd name="connsiteY7" fmla="*/ 587632 h 863461"/>
                  <a:gd name="connsiteX8" fmla="*/ 622268 w 625595"/>
                  <a:gd name="connsiteY8" fmla="*/ 589274 h 863461"/>
                  <a:gd name="connsiteX9" fmla="*/ 560801 w 625595"/>
                  <a:gd name="connsiteY9" fmla="*/ 619486 h 863461"/>
                  <a:gd name="connsiteX10" fmla="*/ 432213 w 625595"/>
                  <a:gd name="connsiteY10" fmla="*/ 712354 h 863461"/>
                  <a:gd name="connsiteX11" fmla="*/ 427451 w 625595"/>
                  <a:gd name="connsiteY11" fmla="*/ 821892 h 863461"/>
                  <a:gd name="connsiteX12" fmla="*/ 460044 w 625595"/>
                  <a:gd name="connsiteY12" fmla="*/ 854635 h 863461"/>
                  <a:gd name="connsiteX13" fmla="*/ 470095 w 625595"/>
                  <a:gd name="connsiteY13" fmla="*/ 859298 h 863461"/>
                  <a:gd name="connsiteX14" fmla="*/ 468527 w 625595"/>
                  <a:gd name="connsiteY14" fmla="*/ 859446 h 863461"/>
                  <a:gd name="connsiteX15" fmla="*/ 342618 w 625595"/>
                  <a:gd name="connsiteY15" fmla="*/ 863167 h 863461"/>
                  <a:gd name="connsiteX16" fmla="*/ 106874 w 625595"/>
                  <a:gd name="connsiteY16" fmla="*/ 834592 h 863461"/>
                  <a:gd name="connsiteX17" fmla="*/ 11624 w 625595"/>
                  <a:gd name="connsiteY17" fmla="*/ 777442 h 863461"/>
                  <a:gd name="connsiteX18" fmla="*/ 16386 w 625595"/>
                  <a:gd name="connsiteY18" fmla="*/ 667904 h 863461"/>
                  <a:gd name="connsiteX19" fmla="*/ 144974 w 625595"/>
                  <a:gd name="connsiteY19" fmla="*/ 575036 h 863461"/>
                  <a:gd name="connsiteX20" fmla="*/ 254512 w 625595"/>
                  <a:gd name="connsiteY20" fmla="*/ 517886 h 863461"/>
                  <a:gd name="connsiteX21" fmla="*/ 275943 w 625595"/>
                  <a:gd name="connsiteY21" fmla="*/ 465498 h 863461"/>
                  <a:gd name="connsiteX22" fmla="*/ 194980 w 625595"/>
                  <a:gd name="connsiteY22" fmla="*/ 341673 h 863461"/>
                  <a:gd name="connsiteX23" fmla="*/ 194981 w 625595"/>
                  <a:gd name="connsiteY23" fmla="*/ 96405 h 863461"/>
                  <a:gd name="connsiteX24" fmla="*/ 347380 w 625595"/>
                  <a:gd name="connsiteY24" fmla="*/ 1154 h 863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5595" h="863461">
                    <a:moveTo>
                      <a:pt x="347380" y="1154"/>
                    </a:moveTo>
                    <a:cubicBezTo>
                      <a:pt x="400164" y="-5593"/>
                      <a:pt x="474380" y="17824"/>
                      <a:pt x="511686" y="55924"/>
                    </a:cubicBezTo>
                    <a:cubicBezTo>
                      <a:pt x="548992" y="94024"/>
                      <a:pt x="572805" y="174192"/>
                      <a:pt x="571218" y="229754"/>
                    </a:cubicBezTo>
                    <a:cubicBezTo>
                      <a:pt x="569631" y="285316"/>
                      <a:pt x="527165" y="373422"/>
                      <a:pt x="516449" y="389297"/>
                    </a:cubicBezTo>
                    <a:cubicBezTo>
                      <a:pt x="505733" y="405172"/>
                      <a:pt x="461283" y="449226"/>
                      <a:pt x="464062" y="482167"/>
                    </a:cubicBezTo>
                    <a:cubicBezTo>
                      <a:pt x="466841" y="515108"/>
                      <a:pt x="465252" y="513520"/>
                      <a:pt x="490255" y="529792"/>
                    </a:cubicBezTo>
                    <a:cubicBezTo>
                      <a:pt x="515258" y="546064"/>
                      <a:pt x="573599" y="554398"/>
                      <a:pt x="614080" y="579798"/>
                    </a:cubicBezTo>
                    <a:lnTo>
                      <a:pt x="625595" y="587632"/>
                    </a:lnTo>
                    <a:lnTo>
                      <a:pt x="622268" y="589274"/>
                    </a:lnTo>
                    <a:cubicBezTo>
                      <a:pt x="602573" y="598452"/>
                      <a:pt x="580645" y="608175"/>
                      <a:pt x="560801" y="619486"/>
                    </a:cubicBezTo>
                    <a:cubicBezTo>
                      <a:pt x="521113" y="642108"/>
                      <a:pt x="454438" y="678620"/>
                      <a:pt x="432213" y="712354"/>
                    </a:cubicBezTo>
                    <a:cubicBezTo>
                      <a:pt x="409988" y="746088"/>
                      <a:pt x="412370" y="794111"/>
                      <a:pt x="427451" y="821892"/>
                    </a:cubicBezTo>
                    <a:cubicBezTo>
                      <a:pt x="434992" y="835783"/>
                      <a:pt x="445013" y="845903"/>
                      <a:pt x="460044" y="854635"/>
                    </a:cubicBezTo>
                    <a:lnTo>
                      <a:pt x="470095" y="859298"/>
                    </a:lnTo>
                    <a:lnTo>
                      <a:pt x="468527" y="859446"/>
                    </a:lnTo>
                    <a:cubicBezTo>
                      <a:pt x="426458" y="862572"/>
                      <a:pt x="382107" y="864159"/>
                      <a:pt x="342618" y="863167"/>
                    </a:cubicBezTo>
                    <a:cubicBezTo>
                      <a:pt x="263640" y="861183"/>
                      <a:pt x="162040" y="851260"/>
                      <a:pt x="106874" y="834592"/>
                    </a:cubicBezTo>
                    <a:cubicBezTo>
                      <a:pt x="51708" y="817924"/>
                      <a:pt x="26705" y="805223"/>
                      <a:pt x="11624" y="777442"/>
                    </a:cubicBezTo>
                    <a:cubicBezTo>
                      <a:pt x="-3457" y="749661"/>
                      <a:pt x="-5839" y="701638"/>
                      <a:pt x="16386" y="667904"/>
                    </a:cubicBezTo>
                    <a:cubicBezTo>
                      <a:pt x="38611" y="634170"/>
                      <a:pt x="105286" y="597658"/>
                      <a:pt x="144974" y="575036"/>
                    </a:cubicBezTo>
                    <a:cubicBezTo>
                      <a:pt x="184662" y="552414"/>
                      <a:pt x="232684" y="536142"/>
                      <a:pt x="254512" y="517886"/>
                    </a:cubicBezTo>
                    <a:cubicBezTo>
                      <a:pt x="276340" y="499630"/>
                      <a:pt x="283484" y="490105"/>
                      <a:pt x="275943" y="465498"/>
                    </a:cubicBezTo>
                    <a:cubicBezTo>
                      <a:pt x="268402" y="440891"/>
                      <a:pt x="225143" y="405570"/>
                      <a:pt x="194980" y="341673"/>
                    </a:cubicBezTo>
                    <a:cubicBezTo>
                      <a:pt x="164817" y="277776"/>
                      <a:pt x="164819" y="150777"/>
                      <a:pt x="194981" y="96405"/>
                    </a:cubicBezTo>
                    <a:cubicBezTo>
                      <a:pt x="220381" y="39652"/>
                      <a:pt x="294596" y="7901"/>
                      <a:pt x="347380" y="1154"/>
                    </a:cubicBezTo>
                    <a:close/>
                  </a:path>
                </a:pathLst>
              </a:cu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>
                <a:off x="4789082" y="2466975"/>
                <a:ext cx="739578" cy="863460"/>
              </a:xfrm>
              <a:custGeom>
                <a:avLst/>
                <a:gdLst>
                  <a:gd name="connsiteX0" fmla="*/ 481110 w 741942"/>
                  <a:gd name="connsiteY0" fmla="*/ 35498 h 864535"/>
                  <a:gd name="connsiteX1" fmla="*/ 573979 w 741942"/>
                  <a:gd name="connsiteY1" fmla="*/ 233141 h 864535"/>
                  <a:gd name="connsiteX2" fmla="*/ 476348 w 741942"/>
                  <a:gd name="connsiteY2" fmla="*/ 437929 h 864535"/>
                  <a:gd name="connsiteX3" fmla="*/ 466823 w 741942"/>
                  <a:gd name="connsiteY3" fmla="*/ 485554 h 864535"/>
                  <a:gd name="connsiteX4" fmla="*/ 478729 w 741942"/>
                  <a:gd name="connsiteY4" fmla="*/ 535560 h 864535"/>
                  <a:gd name="connsiteX5" fmla="*/ 616841 w 741942"/>
                  <a:gd name="connsiteY5" fmla="*/ 583185 h 864535"/>
                  <a:gd name="connsiteX6" fmla="*/ 735904 w 741942"/>
                  <a:gd name="connsiteY6" fmla="*/ 685579 h 864535"/>
                  <a:gd name="connsiteX7" fmla="*/ 709710 w 741942"/>
                  <a:gd name="connsiteY7" fmla="*/ 804641 h 864535"/>
                  <a:gd name="connsiteX8" fmla="*/ 583504 w 741942"/>
                  <a:gd name="connsiteY8" fmla="*/ 849885 h 864535"/>
                  <a:gd name="connsiteX9" fmla="*/ 333473 w 741942"/>
                  <a:gd name="connsiteY9" fmla="*/ 864173 h 864535"/>
                  <a:gd name="connsiteX10" fmla="*/ 109635 w 741942"/>
                  <a:gd name="connsiteY10" fmla="*/ 837979 h 864535"/>
                  <a:gd name="connsiteX11" fmla="*/ 14385 w 741942"/>
                  <a:gd name="connsiteY11" fmla="*/ 780829 h 864535"/>
                  <a:gd name="connsiteX12" fmla="*/ 14385 w 741942"/>
                  <a:gd name="connsiteY12" fmla="*/ 668910 h 864535"/>
                  <a:gd name="connsiteX13" fmla="*/ 147735 w 741942"/>
                  <a:gd name="connsiteY13" fmla="*/ 578423 h 864535"/>
                  <a:gd name="connsiteX14" fmla="*/ 257273 w 741942"/>
                  <a:gd name="connsiteY14" fmla="*/ 521273 h 864535"/>
                  <a:gd name="connsiteX15" fmla="*/ 278704 w 741942"/>
                  <a:gd name="connsiteY15" fmla="*/ 468885 h 864535"/>
                  <a:gd name="connsiteX16" fmla="*/ 197741 w 741942"/>
                  <a:gd name="connsiteY16" fmla="*/ 345060 h 864535"/>
                  <a:gd name="connsiteX17" fmla="*/ 192979 w 741942"/>
                  <a:gd name="connsiteY17" fmla="*/ 95029 h 864535"/>
                  <a:gd name="connsiteX18" fmla="*/ 350141 w 741942"/>
                  <a:gd name="connsiteY18" fmla="*/ 4541 h 864535"/>
                  <a:gd name="connsiteX19" fmla="*/ 481110 w 741942"/>
                  <a:gd name="connsiteY19" fmla="*/ 35498 h 864535"/>
                  <a:gd name="connsiteX0" fmla="*/ 514447 w 741942"/>
                  <a:gd name="connsiteY0" fmla="*/ 55716 h 860940"/>
                  <a:gd name="connsiteX1" fmla="*/ 573979 w 741942"/>
                  <a:gd name="connsiteY1" fmla="*/ 229546 h 860940"/>
                  <a:gd name="connsiteX2" fmla="*/ 476348 w 741942"/>
                  <a:gd name="connsiteY2" fmla="*/ 434334 h 860940"/>
                  <a:gd name="connsiteX3" fmla="*/ 466823 w 741942"/>
                  <a:gd name="connsiteY3" fmla="*/ 481959 h 860940"/>
                  <a:gd name="connsiteX4" fmla="*/ 478729 w 741942"/>
                  <a:gd name="connsiteY4" fmla="*/ 531965 h 860940"/>
                  <a:gd name="connsiteX5" fmla="*/ 616841 w 741942"/>
                  <a:gd name="connsiteY5" fmla="*/ 579590 h 860940"/>
                  <a:gd name="connsiteX6" fmla="*/ 735904 w 741942"/>
                  <a:gd name="connsiteY6" fmla="*/ 681984 h 860940"/>
                  <a:gd name="connsiteX7" fmla="*/ 709710 w 741942"/>
                  <a:gd name="connsiteY7" fmla="*/ 801046 h 860940"/>
                  <a:gd name="connsiteX8" fmla="*/ 583504 w 741942"/>
                  <a:gd name="connsiteY8" fmla="*/ 846290 h 860940"/>
                  <a:gd name="connsiteX9" fmla="*/ 333473 w 741942"/>
                  <a:gd name="connsiteY9" fmla="*/ 860578 h 860940"/>
                  <a:gd name="connsiteX10" fmla="*/ 109635 w 741942"/>
                  <a:gd name="connsiteY10" fmla="*/ 834384 h 860940"/>
                  <a:gd name="connsiteX11" fmla="*/ 14385 w 741942"/>
                  <a:gd name="connsiteY11" fmla="*/ 777234 h 860940"/>
                  <a:gd name="connsiteX12" fmla="*/ 14385 w 741942"/>
                  <a:gd name="connsiteY12" fmla="*/ 665315 h 860940"/>
                  <a:gd name="connsiteX13" fmla="*/ 147735 w 741942"/>
                  <a:gd name="connsiteY13" fmla="*/ 574828 h 860940"/>
                  <a:gd name="connsiteX14" fmla="*/ 257273 w 741942"/>
                  <a:gd name="connsiteY14" fmla="*/ 517678 h 860940"/>
                  <a:gd name="connsiteX15" fmla="*/ 278704 w 741942"/>
                  <a:gd name="connsiteY15" fmla="*/ 465290 h 860940"/>
                  <a:gd name="connsiteX16" fmla="*/ 197741 w 741942"/>
                  <a:gd name="connsiteY16" fmla="*/ 341465 h 860940"/>
                  <a:gd name="connsiteX17" fmla="*/ 192979 w 741942"/>
                  <a:gd name="connsiteY17" fmla="*/ 91434 h 860940"/>
                  <a:gd name="connsiteX18" fmla="*/ 350141 w 741942"/>
                  <a:gd name="connsiteY18" fmla="*/ 946 h 860940"/>
                  <a:gd name="connsiteX19" fmla="*/ 514447 w 741942"/>
                  <a:gd name="connsiteY19" fmla="*/ 55716 h 860940"/>
                  <a:gd name="connsiteX0" fmla="*/ 514447 w 741942"/>
                  <a:gd name="connsiteY0" fmla="*/ 55716 h 863252"/>
                  <a:gd name="connsiteX1" fmla="*/ 573979 w 741942"/>
                  <a:gd name="connsiteY1" fmla="*/ 229546 h 863252"/>
                  <a:gd name="connsiteX2" fmla="*/ 476348 w 741942"/>
                  <a:gd name="connsiteY2" fmla="*/ 434334 h 863252"/>
                  <a:gd name="connsiteX3" fmla="*/ 466823 w 741942"/>
                  <a:gd name="connsiteY3" fmla="*/ 481959 h 863252"/>
                  <a:gd name="connsiteX4" fmla="*/ 478729 w 741942"/>
                  <a:gd name="connsiteY4" fmla="*/ 531965 h 863252"/>
                  <a:gd name="connsiteX5" fmla="*/ 616841 w 741942"/>
                  <a:gd name="connsiteY5" fmla="*/ 579590 h 863252"/>
                  <a:gd name="connsiteX6" fmla="*/ 735904 w 741942"/>
                  <a:gd name="connsiteY6" fmla="*/ 681984 h 863252"/>
                  <a:gd name="connsiteX7" fmla="*/ 709710 w 741942"/>
                  <a:gd name="connsiteY7" fmla="*/ 801046 h 863252"/>
                  <a:gd name="connsiteX8" fmla="*/ 583504 w 741942"/>
                  <a:gd name="connsiteY8" fmla="*/ 846290 h 863252"/>
                  <a:gd name="connsiteX9" fmla="*/ 345379 w 741942"/>
                  <a:gd name="connsiteY9" fmla="*/ 862959 h 863252"/>
                  <a:gd name="connsiteX10" fmla="*/ 109635 w 741942"/>
                  <a:gd name="connsiteY10" fmla="*/ 834384 h 863252"/>
                  <a:gd name="connsiteX11" fmla="*/ 14385 w 741942"/>
                  <a:gd name="connsiteY11" fmla="*/ 777234 h 863252"/>
                  <a:gd name="connsiteX12" fmla="*/ 14385 w 741942"/>
                  <a:gd name="connsiteY12" fmla="*/ 665315 h 863252"/>
                  <a:gd name="connsiteX13" fmla="*/ 147735 w 741942"/>
                  <a:gd name="connsiteY13" fmla="*/ 574828 h 863252"/>
                  <a:gd name="connsiteX14" fmla="*/ 257273 w 741942"/>
                  <a:gd name="connsiteY14" fmla="*/ 517678 h 863252"/>
                  <a:gd name="connsiteX15" fmla="*/ 278704 w 741942"/>
                  <a:gd name="connsiteY15" fmla="*/ 465290 h 863252"/>
                  <a:gd name="connsiteX16" fmla="*/ 197741 w 741942"/>
                  <a:gd name="connsiteY16" fmla="*/ 341465 h 863252"/>
                  <a:gd name="connsiteX17" fmla="*/ 192979 w 741942"/>
                  <a:gd name="connsiteY17" fmla="*/ 91434 h 863252"/>
                  <a:gd name="connsiteX18" fmla="*/ 350141 w 741942"/>
                  <a:gd name="connsiteY18" fmla="*/ 946 h 863252"/>
                  <a:gd name="connsiteX19" fmla="*/ 514447 w 741942"/>
                  <a:gd name="connsiteY19" fmla="*/ 55716 h 863252"/>
                  <a:gd name="connsiteX0" fmla="*/ 514447 w 741942"/>
                  <a:gd name="connsiteY0" fmla="*/ 55716 h 863252"/>
                  <a:gd name="connsiteX1" fmla="*/ 573979 w 741942"/>
                  <a:gd name="connsiteY1" fmla="*/ 229546 h 863252"/>
                  <a:gd name="connsiteX2" fmla="*/ 476348 w 741942"/>
                  <a:gd name="connsiteY2" fmla="*/ 434334 h 863252"/>
                  <a:gd name="connsiteX3" fmla="*/ 466823 w 741942"/>
                  <a:gd name="connsiteY3" fmla="*/ 481959 h 863252"/>
                  <a:gd name="connsiteX4" fmla="*/ 478729 w 741942"/>
                  <a:gd name="connsiteY4" fmla="*/ 531965 h 863252"/>
                  <a:gd name="connsiteX5" fmla="*/ 616841 w 741942"/>
                  <a:gd name="connsiteY5" fmla="*/ 579590 h 863252"/>
                  <a:gd name="connsiteX6" fmla="*/ 735904 w 741942"/>
                  <a:gd name="connsiteY6" fmla="*/ 681984 h 863252"/>
                  <a:gd name="connsiteX7" fmla="*/ 709710 w 741942"/>
                  <a:gd name="connsiteY7" fmla="*/ 801046 h 863252"/>
                  <a:gd name="connsiteX8" fmla="*/ 583504 w 741942"/>
                  <a:gd name="connsiteY8" fmla="*/ 846290 h 863252"/>
                  <a:gd name="connsiteX9" fmla="*/ 345379 w 741942"/>
                  <a:gd name="connsiteY9" fmla="*/ 862959 h 863252"/>
                  <a:gd name="connsiteX10" fmla="*/ 109635 w 741942"/>
                  <a:gd name="connsiteY10" fmla="*/ 834384 h 863252"/>
                  <a:gd name="connsiteX11" fmla="*/ 14385 w 741942"/>
                  <a:gd name="connsiteY11" fmla="*/ 777234 h 863252"/>
                  <a:gd name="connsiteX12" fmla="*/ 14385 w 741942"/>
                  <a:gd name="connsiteY12" fmla="*/ 665315 h 863252"/>
                  <a:gd name="connsiteX13" fmla="*/ 147735 w 741942"/>
                  <a:gd name="connsiteY13" fmla="*/ 574828 h 863252"/>
                  <a:gd name="connsiteX14" fmla="*/ 257273 w 741942"/>
                  <a:gd name="connsiteY14" fmla="*/ 517678 h 863252"/>
                  <a:gd name="connsiteX15" fmla="*/ 278704 w 741942"/>
                  <a:gd name="connsiteY15" fmla="*/ 465290 h 863252"/>
                  <a:gd name="connsiteX16" fmla="*/ 197741 w 741942"/>
                  <a:gd name="connsiteY16" fmla="*/ 341465 h 863252"/>
                  <a:gd name="connsiteX17" fmla="*/ 192979 w 741942"/>
                  <a:gd name="connsiteY17" fmla="*/ 91434 h 863252"/>
                  <a:gd name="connsiteX18" fmla="*/ 350141 w 741942"/>
                  <a:gd name="connsiteY18" fmla="*/ 946 h 863252"/>
                  <a:gd name="connsiteX19" fmla="*/ 514447 w 741942"/>
                  <a:gd name="connsiteY19" fmla="*/ 55716 h 863252"/>
                  <a:gd name="connsiteX0" fmla="*/ 514447 w 742339"/>
                  <a:gd name="connsiteY0" fmla="*/ 55716 h 863252"/>
                  <a:gd name="connsiteX1" fmla="*/ 573979 w 742339"/>
                  <a:gd name="connsiteY1" fmla="*/ 229546 h 863252"/>
                  <a:gd name="connsiteX2" fmla="*/ 476348 w 742339"/>
                  <a:gd name="connsiteY2" fmla="*/ 434334 h 863252"/>
                  <a:gd name="connsiteX3" fmla="*/ 466823 w 742339"/>
                  <a:gd name="connsiteY3" fmla="*/ 481959 h 863252"/>
                  <a:gd name="connsiteX4" fmla="*/ 478729 w 742339"/>
                  <a:gd name="connsiteY4" fmla="*/ 531965 h 863252"/>
                  <a:gd name="connsiteX5" fmla="*/ 616841 w 742339"/>
                  <a:gd name="connsiteY5" fmla="*/ 579590 h 863252"/>
                  <a:gd name="connsiteX6" fmla="*/ 735904 w 742339"/>
                  <a:gd name="connsiteY6" fmla="*/ 681984 h 863252"/>
                  <a:gd name="connsiteX7" fmla="*/ 709710 w 742339"/>
                  <a:gd name="connsiteY7" fmla="*/ 801046 h 863252"/>
                  <a:gd name="connsiteX8" fmla="*/ 583504 w 742339"/>
                  <a:gd name="connsiteY8" fmla="*/ 846290 h 863252"/>
                  <a:gd name="connsiteX9" fmla="*/ 345379 w 742339"/>
                  <a:gd name="connsiteY9" fmla="*/ 862959 h 863252"/>
                  <a:gd name="connsiteX10" fmla="*/ 109635 w 742339"/>
                  <a:gd name="connsiteY10" fmla="*/ 834384 h 863252"/>
                  <a:gd name="connsiteX11" fmla="*/ 14385 w 742339"/>
                  <a:gd name="connsiteY11" fmla="*/ 777234 h 863252"/>
                  <a:gd name="connsiteX12" fmla="*/ 14385 w 742339"/>
                  <a:gd name="connsiteY12" fmla="*/ 665315 h 863252"/>
                  <a:gd name="connsiteX13" fmla="*/ 147735 w 742339"/>
                  <a:gd name="connsiteY13" fmla="*/ 574828 h 863252"/>
                  <a:gd name="connsiteX14" fmla="*/ 257273 w 742339"/>
                  <a:gd name="connsiteY14" fmla="*/ 517678 h 863252"/>
                  <a:gd name="connsiteX15" fmla="*/ 278704 w 742339"/>
                  <a:gd name="connsiteY15" fmla="*/ 465290 h 863252"/>
                  <a:gd name="connsiteX16" fmla="*/ 197741 w 742339"/>
                  <a:gd name="connsiteY16" fmla="*/ 341465 h 863252"/>
                  <a:gd name="connsiteX17" fmla="*/ 192979 w 742339"/>
                  <a:gd name="connsiteY17" fmla="*/ 91434 h 863252"/>
                  <a:gd name="connsiteX18" fmla="*/ 350141 w 742339"/>
                  <a:gd name="connsiteY18" fmla="*/ 946 h 863252"/>
                  <a:gd name="connsiteX19" fmla="*/ 514447 w 742339"/>
                  <a:gd name="connsiteY19" fmla="*/ 55716 h 863252"/>
                  <a:gd name="connsiteX0" fmla="*/ 514447 w 742339"/>
                  <a:gd name="connsiteY0" fmla="*/ 55716 h 863252"/>
                  <a:gd name="connsiteX1" fmla="*/ 573979 w 742339"/>
                  <a:gd name="connsiteY1" fmla="*/ 229546 h 863252"/>
                  <a:gd name="connsiteX2" fmla="*/ 476348 w 742339"/>
                  <a:gd name="connsiteY2" fmla="*/ 434334 h 863252"/>
                  <a:gd name="connsiteX3" fmla="*/ 466823 w 742339"/>
                  <a:gd name="connsiteY3" fmla="*/ 481959 h 863252"/>
                  <a:gd name="connsiteX4" fmla="*/ 478729 w 742339"/>
                  <a:gd name="connsiteY4" fmla="*/ 531965 h 863252"/>
                  <a:gd name="connsiteX5" fmla="*/ 616841 w 742339"/>
                  <a:gd name="connsiteY5" fmla="*/ 579590 h 863252"/>
                  <a:gd name="connsiteX6" fmla="*/ 735904 w 742339"/>
                  <a:gd name="connsiteY6" fmla="*/ 681984 h 863252"/>
                  <a:gd name="connsiteX7" fmla="*/ 709710 w 742339"/>
                  <a:gd name="connsiteY7" fmla="*/ 801046 h 863252"/>
                  <a:gd name="connsiteX8" fmla="*/ 583504 w 742339"/>
                  <a:gd name="connsiteY8" fmla="*/ 846290 h 863252"/>
                  <a:gd name="connsiteX9" fmla="*/ 345379 w 742339"/>
                  <a:gd name="connsiteY9" fmla="*/ 862959 h 863252"/>
                  <a:gd name="connsiteX10" fmla="*/ 109635 w 742339"/>
                  <a:gd name="connsiteY10" fmla="*/ 834384 h 863252"/>
                  <a:gd name="connsiteX11" fmla="*/ 14385 w 742339"/>
                  <a:gd name="connsiteY11" fmla="*/ 777234 h 863252"/>
                  <a:gd name="connsiteX12" fmla="*/ 14385 w 742339"/>
                  <a:gd name="connsiteY12" fmla="*/ 665315 h 863252"/>
                  <a:gd name="connsiteX13" fmla="*/ 147735 w 742339"/>
                  <a:gd name="connsiteY13" fmla="*/ 574828 h 863252"/>
                  <a:gd name="connsiteX14" fmla="*/ 257273 w 742339"/>
                  <a:gd name="connsiteY14" fmla="*/ 517678 h 863252"/>
                  <a:gd name="connsiteX15" fmla="*/ 278704 w 742339"/>
                  <a:gd name="connsiteY15" fmla="*/ 465290 h 863252"/>
                  <a:gd name="connsiteX16" fmla="*/ 197741 w 742339"/>
                  <a:gd name="connsiteY16" fmla="*/ 341465 h 863252"/>
                  <a:gd name="connsiteX17" fmla="*/ 192979 w 742339"/>
                  <a:gd name="connsiteY17" fmla="*/ 91434 h 863252"/>
                  <a:gd name="connsiteX18" fmla="*/ 350141 w 742339"/>
                  <a:gd name="connsiteY18" fmla="*/ 946 h 863252"/>
                  <a:gd name="connsiteX19" fmla="*/ 514447 w 742339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75968 w 739578"/>
                  <a:gd name="connsiteY4" fmla="*/ 531965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90255 w 739578"/>
                  <a:gd name="connsiteY4" fmla="*/ 529584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90255 w 739578"/>
                  <a:gd name="connsiteY4" fmla="*/ 529584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90255 w 739578"/>
                  <a:gd name="connsiteY4" fmla="*/ 529584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90255 w 739578"/>
                  <a:gd name="connsiteY4" fmla="*/ 529584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90255 w 739578"/>
                  <a:gd name="connsiteY4" fmla="*/ 529584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90255 w 739578"/>
                  <a:gd name="connsiteY4" fmla="*/ 529584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716 h 863252"/>
                  <a:gd name="connsiteX1" fmla="*/ 571218 w 739578"/>
                  <a:gd name="connsiteY1" fmla="*/ 229546 h 863252"/>
                  <a:gd name="connsiteX2" fmla="*/ 473587 w 739578"/>
                  <a:gd name="connsiteY2" fmla="*/ 434334 h 863252"/>
                  <a:gd name="connsiteX3" fmla="*/ 464062 w 739578"/>
                  <a:gd name="connsiteY3" fmla="*/ 481959 h 863252"/>
                  <a:gd name="connsiteX4" fmla="*/ 490255 w 739578"/>
                  <a:gd name="connsiteY4" fmla="*/ 529584 h 863252"/>
                  <a:gd name="connsiteX5" fmla="*/ 614080 w 739578"/>
                  <a:gd name="connsiteY5" fmla="*/ 579590 h 863252"/>
                  <a:gd name="connsiteX6" fmla="*/ 733143 w 739578"/>
                  <a:gd name="connsiteY6" fmla="*/ 681984 h 863252"/>
                  <a:gd name="connsiteX7" fmla="*/ 706949 w 739578"/>
                  <a:gd name="connsiteY7" fmla="*/ 801046 h 863252"/>
                  <a:gd name="connsiteX8" fmla="*/ 580743 w 739578"/>
                  <a:gd name="connsiteY8" fmla="*/ 846290 h 863252"/>
                  <a:gd name="connsiteX9" fmla="*/ 342618 w 739578"/>
                  <a:gd name="connsiteY9" fmla="*/ 862959 h 863252"/>
                  <a:gd name="connsiteX10" fmla="*/ 106874 w 739578"/>
                  <a:gd name="connsiteY10" fmla="*/ 834384 h 863252"/>
                  <a:gd name="connsiteX11" fmla="*/ 11624 w 739578"/>
                  <a:gd name="connsiteY11" fmla="*/ 777234 h 863252"/>
                  <a:gd name="connsiteX12" fmla="*/ 16386 w 739578"/>
                  <a:gd name="connsiteY12" fmla="*/ 667696 h 863252"/>
                  <a:gd name="connsiteX13" fmla="*/ 144974 w 739578"/>
                  <a:gd name="connsiteY13" fmla="*/ 574828 h 863252"/>
                  <a:gd name="connsiteX14" fmla="*/ 254512 w 739578"/>
                  <a:gd name="connsiteY14" fmla="*/ 517678 h 863252"/>
                  <a:gd name="connsiteX15" fmla="*/ 275943 w 739578"/>
                  <a:gd name="connsiteY15" fmla="*/ 465290 h 863252"/>
                  <a:gd name="connsiteX16" fmla="*/ 194980 w 739578"/>
                  <a:gd name="connsiteY16" fmla="*/ 341465 h 863252"/>
                  <a:gd name="connsiteX17" fmla="*/ 190218 w 739578"/>
                  <a:gd name="connsiteY17" fmla="*/ 91434 h 863252"/>
                  <a:gd name="connsiteX18" fmla="*/ 347380 w 739578"/>
                  <a:gd name="connsiteY18" fmla="*/ 946 h 863252"/>
                  <a:gd name="connsiteX19" fmla="*/ 511686 w 739578"/>
                  <a:gd name="connsiteY19" fmla="*/ 55716 h 863252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473587 w 739578"/>
                  <a:gd name="connsiteY2" fmla="*/ 434542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473587 w 739578"/>
                  <a:gd name="connsiteY2" fmla="*/ 434542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06924 w 739578"/>
                  <a:gd name="connsiteY2" fmla="*/ 382154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06924 w 739578"/>
                  <a:gd name="connsiteY2" fmla="*/ 382154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  <a:gd name="connsiteX0" fmla="*/ 511686 w 739578"/>
                  <a:gd name="connsiteY0" fmla="*/ 55924 h 863460"/>
                  <a:gd name="connsiteX1" fmla="*/ 571218 w 739578"/>
                  <a:gd name="connsiteY1" fmla="*/ 229754 h 863460"/>
                  <a:gd name="connsiteX2" fmla="*/ 516449 w 739578"/>
                  <a:gd name="connsiteY2" fmla="*/ 389297 h 863460"/>
                  <a:gd name="connsiteX3" fmla="*/ 464062 w 739578"/>
                  <a:gd name="connsiteY3" fmla="*/ 482167 h 863460"/>
                  <a:gd name="connsiteX4" fmla="*/ 490255 w 739578"/>
                  <a:gd name="connsiteY4" fmla="*/ 529792 h 863460"/>
                  <a:gd name="connsiteX5" fmla="*/ 614080 w 739578"/>
                  <a:gd name="connsiteY5" fmla="*/ 579798 h 863460"/>
                  <a:gd name="connsiteX6" fmla="*/ 733143 w 739578"/>
                  <a:gd name="connsiteY6" fmla="*/ 682192 h 863460"/>
                  <a:gd name="connsiteX7" fmla="*/ 706949 w 739578"/>
                  <a:gd name="connsiteY7" fmla="*/ 801254 h 863460"/>
                  <a:gd name="connsiteX8" fmla="*/ 580743 w 739578"/>
                  <a:gd name="connsiteY8" fmla="*/ 846498 h 863460"/>
                  <a:gd name="connsiteX9" fmla="*/ 342618 w 739578"/>
                  <a:gd name="connsiteY9" fmla="*/ 863167 h 863460"/>
                  <a:gd name="connsiteX10" fmla="*/ 106874 w 739578"/>
                  <a:gd name="connsiteY10" fmla="*/ 834592 h 863460"/>
                  <a:gd name="connsiteX11" fmla="*/ 11624 w 739578"/>
                  <a:gd name="connsiteY11" fmla="*/ 777442 h 863460"/>
                  <a:gd name="connsiteX12" fmla="*/ 16386 w 739578"/>
                  <a:gd name="connsiteY12" fmla="*/ 667904 h 863460"/>
                  <a:gd name="connsiteX13" fmla="*/ 144974 w 739578"/>
                  <a:gd name="connsiteY13" fmla="*/ 575036 h 863460"/>
                  <a:gd name="connsiteX14" fmla="*/ 254512 w 739578"/>
                  <a:gd name="connsiteY14" fmla="*/ 517886 h 863460"/>
                  <a:gd name="connsiteX15" fmla="*/ 275943 w 739578"/>
                  <a:gd name="connsiteY15" fmla="*/ 465498 h 863460"/>
                  <a:gd name="connsiteX16" fmla="*/ 194980 w 739578"/>
                  <a:gd name="connsiteY16" fmla="*/ 341673 h 863460"/>
                  <a:gd name="connsiteX17" fmla="*/ 194981 w 739578"/>
                  <a:gd name="connsiteY17" fmla="*/ 96405 h 863460"/>
                  <a:gd name="connsiteX18" fmla="*/ 347380 w 739578"/>
                  <a:gd name="connsiteY18" fmla="*/ 1154 h 863460"/>
                  <a:gd name="connsiteX19" fmla="*/ 511686 w 739578"/>
                  <a:gd name="connsiteY19" fmla="*/ 55924 h 863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9578" h="863460">
                    <a:moveTo>
                      <a:pt x="511686" y="55924"/>
                    </a:moveTo>
                    <a:cubicBezTo>
                      <a:pt x="548992" y="94024"/>
                      <a:pt x="572805" y="174192"/>
                      <a:pt x="571218" y="229754"/>
                    </a:cubicBezTo>
                    <a:cubicBezTo>
                      <a:pt x="569631" y="285316"/>
                      <a:pt x="527165" y="373422"/>
                      <a:pt x="516449" y="389297"/>
                    </a:cubicBezTo>
                    <a:cubicBezTo>
                      <a:pt x="505733" y="405172"/>
                      <a:pt x="461283" y="449226"/>
                      <a:pt x="464062" y="482167"/>
                    </a:cubicBezTo>
                    <a:cubicBezTo>
                      <a:pt x="466841" y="515108"/>
                      <a:pt x="465252" y="513520"/>
                      <a:pt x="490255" y="529792"/>
                    </a:cubicBezTo>
                    <a:cubicBezTo>
                      <a:pt x="515258" y="546064"/>
                      <a:pt x="573599" y="554398"/>
                      <a:pt x="614080" y="579798"/>
                    </a:cubicBezTo>
                    <a:cubicBezTo>
                      <a:pt x="654561" y="605198"/>
                      <a:pt x="717665" y="645283"/>
                      <a:pt x="733143" y="682192"/>
                    </a:cubicBezTo>
                    <a:cubicBezTo>
                      <a:pt x="748621" y="719101"/>
                      <a:pt x="734731" y="776251"/>
                      <a:pt x="706949" y="801254"/>
                    </a:cubicBezTo>
                    <a:cubicBezTo>
                      <a:pt x="679167" y="826257"/>
                      <a:pt x="641465" y="836179"/>
                      <a:pt x="580743" y="846498"/>
                    </a:cubicBezTo>
                    <a:cubicBezTo>
                      <a:pt x="520021" y="856817"/>
                      <a:pt x="421596" y="865151"/>
                      <a:pt x="342618" y="863167"/>
                    </a:cubicBezTo>
                    <a:cubicBezTo>
                      <a:pt x="263640" y="861183"/>
                      <a:pt x="162040" y="851260"/>
                      <a:pt x="106874" y="834592"/>
                    </a:cubicBezTo>
                    <a:cubicBezTo>
                      <a:pt x="51708" y="817924"/>
                      <a:pt x="26705" y="805223"/>
                      <a:pt x="11624" y="777442"/>
                    </a:cubicBezTo>
                    <a:cubicBezTo>
                      <a:pt x="-3457" y="749661"/>
                      <a:pt x="-5839" y="701638"/>
                      <a:pt x="16386" y="667904"/>
                    </a:cubicBezTo>
                    <a:cubicBezTo>
                      <a:pt x="38611" y="634170"/>
                      <a:pt x="105286" y="597658"/>
                      <a:pt x="144974" y="575036"/>
                    </a:cubicBezTo>
                    <a:cubicBezTo>
                      <a:pt x="184662" y="552414"/>
                      <a:pt x="232684" y="536142"/>
                      <a:pt x="254512" y="517886"/>
                    </a:cubicBezTo>
                    <a:cubicBezTo>
                      <a:pt x="276340" y="499630"/>
                      <a:pt x="283484" y="490105"/>
                      <a:pt x="275943" y="465498"/>
                    </a:cubicBezTo>
                    <a:cubicBezTo>
                      <a:pt x="268402" y="440891"/>
                      <a:pt x="225143" y="405570"/>
                      <a:pt x="194980" y="341673"/>
                    </a:cubicBezTo>
                    <a:cubicBezTo>
                      <a:pt x="164817" y="277776"/>
                      <a:pt x="164819" y="150777"/>
                      <a:pt x="194981" y="96405"/>
                    </a:cubicBezTo>
                    <a:cubicBezTo>
                      <a:pt x="220381" y="39652"/>
                      <a:pt x="294596" y="7901"/>
                      <a:pt x="347380" y="1154"/>
                    </a:cubicBezTo>
                    <a:cubicBezTo>
                      <a:pt x="400164" y="-5593"/>
                      <a:pt x="474380" y="17824"/>
                      <a:pt x="511686" y="55924"/>
                    </a:cubicBezTo>
                    <a:close/>
                  </a:path>
                </a:pathLst>
              </a:cu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2" name="组合 71"/>
          <p:cNvGrpSpPr/>
          <p:nvPr/>
        </p:nvGrpSpPr>
        <p:grpSpPr>
          <a:xfrm>
            <a:off x="2476488" y="3797300"/>
            <a:ext cx="2641600" cy="1981200"/>
            <a:chOff x="2476488" y="1003300"/>
            <a:chExt cx="2641600" cy="1981200"/>
          </a:xfrm>
        </p:grpSpPr>
        <p:grpSp>
          <p:nvGrpSpPr>
            <p:cNvPr id="6" name="组合 5"/>
            <p:cNvGrpSpPr/>
            <p:nvPr/>
          </p:nvGrpSpPr>
          <p:grpSpPr>
            <a:xfrm>
              <a:off x="2476488" y="1003300"/>
              <a:ext cx="2641600" cy="1981200"/>
              <a:chOff x="1866900" y="1270000"/>
              <a:chExt cx="2641600" cy="1981200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2197100" y="1270000"/>
                <a:ext cx="1981200" cy="1981200"/>
              </a:xfrm>
              <a:prstGeom prst="ellipse">
                <a:avLst/>
              </a:prstGeom>
              <a:noFill/>
              <a:ln w="38100">
                <a:solidFill>
                  <a:srgbClr val="3205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1866900" y="2060575"/>
                <a:ext cx="2641600" cy="400050"/>
              </a:xfrm>
              <a:prstGeom prst="rect">
                <a:avLst/>
              </a:prstGeom>
              <a:solidFill>
                <a:srgbClr val="F1D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2105024" y="1930400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2105023" y="2460625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4140202" y="1930400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4140201" y="2460625"/>
                <a:ext cx="130175" cy="130175"/>
              </a:xfrm>
              <a:prstGeom prst="rect">
                <a:avLst/>
              </a:prstGeom>
              <a:solidFill>
                <a:srgbClr val="3205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2476500" y="1628775"/>
                <a:ext cx="15081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增大流量</a:t>
                </a:r>
                <a:endParaRPr lang="zh-CN" altLang="en-US" sz="2400" dirty="0"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</p:grpSp>
        <p:sp>
          <p:nvSpPr>
            <p:cNvPr id="41" name="上箭头 40"/>
            <p:cNvSpPr/>
            <p:nvPr/>
          </p:nvSpPr>
          <p:spPr>
            <a:xfrm>
              <a:off x="3413971" y="1942505"/>
              <a:ext cx="323850" cy="653810"/>
            </a:xfrm>
            <a:prstGeom prst="upArrow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上箭头 43"/>
            <p:cNvSpPr/>
            <p:nvPr/>
          </p:nvSpPr>
          <p:spPr>
            <a:xfrm rot="10800000">
              <a:off x="3814019" y="1953915"/>
              <a:ext cx="323850" cy="653810"/>
            </a:xfrm>
            <a:prstGeom prst="upArrow">
              <a:avLst/>
            </a:prstGeom>
            <a:solidFill>
              <a:srgbClr val="320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243794" y="2276475"/>
            <a:ext cx="5061631" cy="893250"/>
            <a:chOff x="243794" y="3965407"/>
            <a:chExt cx="5061631" cy="893250"/>
          </a:xfrm>
        </p:grpSpPr>
        <p:grpSp>
          <p:nvGrpSpPr>
            <p:cNvPr id="106" name="组合 105"/>
            <p:cNvGrpSpPr/>
            <p:nvPr/>
          </p:nvGrpSpPr>
          <p:grpSpPr>
            <a:xfrm>
              <a:off x="243794" y="3965407"/>
              <a:ext cx="582554" cy="893250"/>
              <a:chOff x="6756400" y="543154"/>
              <a:chExt cx="3886200" cy="5958841"/>
            </a:xfrm>
          </p:grpSpPr>
          <p:pic>
            <p:nvPicPr>
              <p:cNvPr id="108" name="图片 10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512" t="3491" r="27117" b="7064"/>
              <a:stretch/>
            </p:blipFill>
            <p:spPr>
              <a:xfrm>
                <a:off x="6756400" y="543154"/>
                <a:ext cx="3886200" cy="5958841"/>
              </a:xfrm>
              <a:prstGeom prst="rect">
                <a:avLst/>
              </a:prstGeom>
            </p:spPr>
          </p:pic>
          <p:sp>
            <p:nvSpPr>
              <p:cNvPr id="109" name="剪去单角的矩形 108"/>
              <p:cNvSpPr/>
              <p:nvPr/>
            </p:nvSpPr>
            <p:spPr>
              <a:xfrm>
                <a:off x="7543800" y="1856837"/>
                <a:ext cx="1422400" cy="505363"/>
              </a:xfrm>
              <a:prstGeom prst="snip1Rect">
                <a:avLst>
                  <a:gd name="adj" fmla="val 32409"/>
                </a:avLst>
              </a:prstGeom>
              <a:solidFill>
                <a:srgbClr val="F1D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1038225" y="4034697"/>
              <a:ext cx="4267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 smtClean="0"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运营的核心任务</a:t>
              </a:r>
              <a:endParaRPr lang="zh-CN" altLang="en-US" sz="44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cxnSp>
        <p:nvCxnSpPr>
          <p:cNvPr id="110" name="直接连接符 109"/>
          <p:cNvCxnSpPr/>
          <p:nvPr/>
        </p:nvCxnSpPr>
        <p:spPr>
          <a:xfrm>
            <a:off x="556000" y="3157025"/>
            <a:ext cx="49812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2857488" y="5875982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推广、扩散、营销、活动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7368796" y="5875982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活跃与</a:t>
            </a:r>
            <a:r>
              <a:rPr lang="zh-CN" altLang="en-US" dirty="0" smtClean="0">
                <a:solidFill>
                  <a:schemeClr val="tx1">
                    <a:alpha val="70000"/>
                  </a:scheme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留存，发现高价值用户</a:t>
            </a:r>
            <a:endParaRPr lang="zh-CN" altLang="en-US" dirty="0">
              <a:solidFill>
                <a:schemeClr val="tx1">
                  <a:alpha val="70000"/>
                </a:scheme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2286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43794" y="1824543"/>
            <a:ext cx="10946720" cy="1477520"/>
            <a:chOff x="243794" y="402150"/>
            <a:chExt cx="10946720" cy="1477520"/>
          </a:xfrm>
        </p:grpSpPr>
        <p:grpSp>
          <p:nvGrpSpPr>
            <p:cNvPr id="3" name="组合 2"/>
            <p:cNvGrpSpPr/>
            <p:nvPr/>
          </p:nvGrpSpPr>
          <p:grpSpPr>
            <a:xfrm>
              <a:off x="243794" y="402150"/>
              <a:ext cx="582554" cy="893250"/>
              <a:chOff x="6756400" y="543154"/>
              <a:chExt cx="3886200" cy="5958841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512" t="3491" r="27117" b="7064"/>
              <a:stretch/>
            </p:blipFill>
            <p:spPr>
              <a:xfrm>
                <a:off x="6756400" y="543154"/>
                <a:ext cx="3886200" cy="5958841"/>
              </a:xfrm>
              <a:prstGeom prst="rect">
                <a:avLst/>
              </a:prstGeom>
            </p:spPr>
          </p:pic>
          <p:sp>
            <p:nvSpPr>
              <p:cNvPr id="7" name="剪去单角的矩形 6"/>
              <p:cNvSpPr/>
              <p:nvPr/>
            </p:nvSpPr>
            <p:spPr>
              <a:xfrm>
                <a:off x="7543800" y="1856837"/>
                <a:ext cx="1422400" cy="505363"/>
              </a:xfrm>
              <a:prstGeom prst="snip1Rect">
                <a:avLst>
                  <a:gd name="adj" fmla="val 32409"/>
                </a:avLst>
              </a:prstGeom>
              <a:solidFill>
                <a:srgbClr val="F1D3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1041400" y="462626"/>
              <a:ext cx="4267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 smtClean="0"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运营工作的分类</a:t>
              </a:r>
              <a:endParaRPr lang="zh-CN" altLang="en-US" sz="44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41400" y="1418005"/>
              <a:ext cx="101491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2400" dirty="0" smtClean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运营工作会涉及到三个层面，分别是：内容运营，活动运营，用户运营。</a:t>
              </a:r>
              <a:endPara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041071" y="4107531"/>
            <a:ext cx="1817913" cy="1669143"/>
            <a:chOff x="2206171" y="3033485"/>
            <a:chExt cx="1817913" cy="1669143"/>
          </a:xfrm>
        </p:grpSpPr>
        <p:sp>
          <p:nvSpPr>
            <p:cNvPr id="8" name="椭圆 7"/>
            <p:cNvSpPr/>
            <p:nvPr/>
          </p:nvSpPr>
          <p:spPr>
            <a:xfrm>
              <a:off x="2206171" y="3033485"/>
              <a:ext cx="1669143" cy="1669143"/>
            </a:xfrm>
            <a:prstGeom prst="ellipse">
              <a:avLst/>
            </a:prstGeom>
            <a:solidFill>
              <a:srgbClr val="D95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412999" y="3206336"/>
              <a:ext cx="161108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300" dirty="0" smtClean="0">
                  <a:solidFill>
                    <a:srgbClr val="F1D30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内容运营</a:t>
              </a:r>
              <a:endParaRPr lang="zh-CN" altLang="en-US" sz="4000" spc="300" dirty="0">
                <a:solidFill>
                  <a:srgbClr val="F1D3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492671" y="4107531"/>
            <a:ext cx="1817913" cy="1669143"/>
            <a:chOff x="2206171" y="3033485"/>
            <a:chExt cx="1817913" cy="1669143"/>
          </a:xfrm>
        </p:grpSpPr>
        <p:sp>
          <p:nvSpPr>
            <p:cNvPr id="12" name="椭圆 11"/>
            <p:cNvSpPr/>
            <p:nvPr/>
          </p:nvSpPr>
          <p:spPr>
            <a:xfrm>
              <a:off x="2206171" y="3033485"/>
              <a:ext cx="1669143" cy="1669143"/>
            </a:xfrm>
            <a:prstGeom prst="ellipse">
              <a:avLst/>
            </a:prstGeom>
            <a:solidFill>
              <a:srgbClr val="D95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412999" y="3206336"/>
              <a:ext cx="161108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300" dirty="0">
                  <a:solidFill>
                    <a:srgbClr val="F1D30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活动</a:t>
              </a:r>
              <a:r>
                <a:rPr lang="zh-CN" altLang="en-US" sz="4000" spc="300" dirty="0" smtClean="0">
                  <a:solidFill>
                    <a:srgbClr val="F1D30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运营</a:t>
              </a:r>
              <a:endParaRPr lang="zh-CN" altLang="en-US" sz="4000" spc="300" dirty="0">
                <a:solidFill>
                  <a:srgbClr val="F1D3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266871" y="4107531"/>
            <a:ext cx="1817913" cy="1669143"/>
            <a:chOff x="2206171" y="3033485"/>
            <a:chExt cx="1817913" cy="1669143"/>
          </a:xfrm>
        </p:grpSpPr>
        <p:sp>
          <p:nvSpPr>
            <p:cNvPr id="15" name="椭圆 14"/>
            <p:cNvSpPr/>
            <p:nvPr/>
          </p:nvSpPr>
          <p:spPr>
            <a:xfrm>
              <a:off x="2206171" y="3033485"/>
              <a:ext cx="1669143" cy="1669143"/>
            </a:xfrm>
            <a:prstGeom prst="ellipse">
              <a:avLst/>
            </a:prstGeom>
            <a:solidFill>
              <a:srgbClr val="D95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412999" y="3206336"/>
              <a:ext cx="161108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300" dirty="0">
                  <a:solidFill>
                    <a:srgbClr val="F1D30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用户</a:t>
              </a:r>
              <a:r>
                <a:rPr lang="zh-CN" altLang="en-US" sz="4000" spc="300" dirty="0" smtClean="0">
                  <a:solidFill>
                    <a:srgbClr val="F1D30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运营</a:t>
              </a:r>
              <a:endParaRPr lang="zh-CN" altLang="en-US" sz="4000" spc="300" dirty="0">
                <a:solidFill>
                  <a:srgbClr val="F1D3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556000" y="2690487"/>
            <a:ext cx="50955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9793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43794" y="981075"/>
            <a:ext cx="582554" cy="893250"/>
            <a:chOff x="6756400" y="543154"/>
            <a:chExt cx="3886200" cy="595884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2" t="3491" r="27117" b="7064"/>
            <a:stretch/>
          </p:blipFill>
          <p:spPr>
            <a:xfrm>
              <a:off x="6756400" y="543154"/>
              <a:ext cx="3886200" cy="5958841"/>
            </a:xfrm>
            <a:prstGeom prst="rect">
              <a:avLst/>
            </a:prstGeom>
          </p:spPr>
        </p:pic>
        <p:sp>
          <p:nvSpPr>
            <p:cNvPr id="7" name="剪去单角的矩形 6"/>
            <p:cNvSpPr/>
            <p:nvPr/>
          </p:nvSpPr>
          <p:spPr>
            <a:xfrm>
              <a:off x="7543800" y="1856837"/>
              <a:ext cx="1422400" cy="505363"/>
            </a:xfrm>
            <a:prstGeom prst="snip1Rect">
              <a:avLst>
                <a:gd name="adj" fmla="val 32409"/>
              </a:avLst>
            </a:prstGeom>
            <a:solidFill>
              <a:srgbClr val="F1D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41399" y="1042979"/>
            <a:ext cx="5295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运营工作之</a:t>
            </a:r>
            <a:r>
              <a:rPr lang="zh-CN" altLang="en-US" sz="4400" dirty="0" smtClean="0">
                <a:solidFill>
                  <a:srgbClr val="D954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内容运营</a:t>
            </a:r>
            <a:endParaRPr lang="zh-CN" altLang="en-US" sz="4400" dirty="0">
              <a:solidFill>
                <a:srgbClr val="D954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1400" y="1996930"/>
            <a:ext cx="10149114" cy="404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定义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：内容运营是指通过创造、编辑、组织、呈现产品内容，从而提高互联网产品的内容价值，制造出对用户的黏着、活跃产生一定促进作用的运营内容。</a:t>
            </a:r>
            <a:endParaRPr lang="en-US" altLang="zh-CN" sz="2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核心目标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：持续制作对用户有价值的内容；根据</a:t>
            </a:r>
            <a:r>
              <a:rPr lang="en-US" altLang="zh-CN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KPI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降低或提高用户获取内容的成本；协助产品获利</a:t>
            </a:r>
            <a:endParaRPr lang="en-US" altLang="zh-CN" sz="2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具体工作内容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：①采集或原创内容；②编辑审核与推荐；③专题制作；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④寻找目标用户；⑤根据数据和用户反馈，进行调整与优化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56000" y="1857997"/>
            <a:ext cx="60353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256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43794" y="981075"/>
            <a:ext cx="582554" cy="893250"/>
            <a:chOff x="6756400" y="543154"/>
            <a:chExt cx="3886200" cy="595884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2" t="3491" r="27117" b="7064"/>
            <a:stretch/>
          </p:blipFill>
          <p:spPr>
            <a:xfrm>
              <a:off x="6756400" y="543154"/>
              <a:ext cx="3886200" cy="5958841"/>
            </a:xfrm>
            <a:prstGeom prst="rect">
              <a:avLst/>
            </a:prstGeom>
          </p:spPr>
        </p:pic>
        <p:sp>
          <p:nvSpPr>
            <p:cNvPr id="7" name="剪去单角的矩形 6"/>
            <p:cNvSpPr/>
            <p:nvPr/>
          </p:nvSpPr>
          <p:spPr>
            <a:xfrm>
              <a:off x="7543800" y="1856837"/>
              <a:ext cx="1422400" cy="505363"/>
            </a:xfrm>
            <a:prstGeom prst="snip1Rect">
              <a:avLst>
                <a:gd name="adj" fmla="val 32409"/>
              </a:avLst>
            </a:prstGeom>
            <a:solidFill>
              <a:srgbClr val="F1D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41399" y="1042979"/>
            <a:ext cx="52832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运营工作之</a:t>
            </a:r>
            <a:r>
              <a:rPr lang="zh-CN" altLang="en-US" sz="4400" dirty="0" smtClean="0">
                <a:solidFill>
                  <a:srgbClr val="D954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用户运营</a:t>
            </a:r>
            <a:endParaRPr lang="zh-CN" altLang="en-US" sz="4400" dirty="0">
              <a:solidFill>
                <a:srgbClr val="D954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1400" y="1996930"/>
            <a:ext cx="101491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定义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：用户运营是指以产品的用户活跃、留存、付费为目标，依据用户需求，制定运营方案甚至是运营机制。</a:t>
            </a:r>
            <a:endParaRPr lang="en-US" altLang="zh-CN" sz="2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核心目标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：开源（新用户拉动），节流（防止流失与流失挽回），维持（已有用户的留存），刺激（促进用户活跃甚至向付费转化）</a:t>
            </a:r>
            <a:endParaRPr lang="en-US" altLang="zh-CN" sz="2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具体工作内容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①掌握已有用户的用户结构；②了解用户的规模以及增长或衰退情况，并进行适当的用户分级，新用户多少、老用户多少、每日增长规模多少；③掌握产品的用户行为数据，知道用户为什么来，为什么走，为什么活跃，为什么付费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6000" y="1857997"/>
            <a:ext cx="61369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4494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43794" y="981075"/>
            <a:ext cx="582554" cy="893250"/>
            <a:chOff x="6756400" y="543154"/>
            <a:chExt cx="3886200" cy="595884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2" t="3491" r="27117" b="7064"/>
            <a:stretch/>
          </p:blipFill>
          <p:spPr>
            <a:xfrm>
              <a:off x="6756400" y="543154"/>
              <a:ext cx="3886200" cy="5958841"/>
            </a:xfrm>
            <a:prstGeom prst="rect">
              <a:avLst/>
            </a:prstGeom>
          </p:spPr>
        </p:pic>
        <p:sp>
          <p:nvSpPr>
            <p:cNvPr id="7" name="剪去单角的矩形 6"/>
            <p:cNvSpPr/>
            <p:nvPr/>
          </p:nvSpPr>
          <p:spPr>
            <a:xfrm>
              <a:off x="7543800" y="1856837"/>
              <a:ext cx="1422400" cy="505363"/>
            </a:xfrm>
            <a:prstGeom prst="snip1Rect">
              <a:avLst>
                <a:gd name="adj" fmla="val 32409"/>
              </a:avLst>
            </a:prstGeom>
            <a:solidFill>
              <a:srgbClr val="F1D3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41399" y="1042979"/>
            <a:ext cx="53467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运营工作之</a:t>
            </a:r>
            <a:r>
              <a:rPr lang="zh-CN" altLang="en-US" sz="4400" dirty="0">
                <a:solidFill>
                  <a:srgbClr val="D954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活动运营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41400" y="1996930"/>
            <a:ext cx="10149114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定义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：活动运营是指通过开展独立活动、联合活动，拉动某一个或多个指标的短期提升。</a:t>
            </a:r>
            <a:endParaRPr lang="en-US" altLang="zh-CN" sz="2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核心目标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：花少钱办大事儿</a:t>
            </a:r>
            <a:endParaRPr lang="en-US" altLang="zh-CN" sz="2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D954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具体工作内容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：策划活动。包括：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①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撰写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活动文案；②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设计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活动流程；③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制定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活动规则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；</a:t>
            </a:r>
            <a:r>
              <a:rPr lang="zh-CN" altLang="en-US" sz="2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④预估活动成本；⑤预期活动收益；⑥统计活动效果；⑦提出改进措施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6000" y="1857997"/>
            <a:ext cx="6136900" cy="0"/>
          </a:xfrm>
          <a:prstGeom prst="line">
            <a:avLst/>
          </a:prstGeom>
          <a:ln w="28575">
            <a:solidFill>
              <a:srgbClr val="3205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8530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52700" y="654518"/>
            <a:ext cx="695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还没看够？「百度阅读」搜索一下吧</a:t>
            </a:r>
            <a:r>
              <a:rPr lang="zh-CN" altLang="en-US" sz="3200" dirty="0">
                <a:solidFill>
                  <a:srgbClr val="32050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！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380180" y="1689099"/>
            <a:ext cx="9657708" cy="4708526"/>
            <a:chOff x="1164280" y="1689099"/>
            <a:chExt cx="9657708" cy="470852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4280" y="1689100"/>
              <a:ext cx="9657708" cy="4708525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9918700" y="2389189"/>
              <a:ext cx="876300" cy="469900"/>
            </a:xfrm>
            <a:prstGeom prst="rect">
              <a:avLst/>
            </a:prstGeom>
            <a:solidFill>
              <a:srgbClr val="F2F2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2599" b="87862"/>
            <a:stretch/>
          </p:blipFill>
          <p:spPr>
            <a:xfrm>
              <a:off x="1164280" y="1689099"/>
              <a:ext cx="1680520" cy="571501"/>
            </a:xfrm>
            <a:prstGeom prst="rect">
              <a:avLst/>
            </a:prstGeom>
          </p:spPr>
        </p:pic>
      </p:grpSp>
      <p:sp>
        <p:nvSpPr>
          <p:cNvPr id="13" name="圆角矩形 12"/>
          <p:cNvSpPr/>
          <p:nvPr/>
        </p:nvSpPr>
        <p:spPr>
          <a:xfrm>
            <a:off x="1028700" y="1531681"/>
            <a:ext cx="9956800" cy="4996120"/>
          </a:xfrm>
          <a:prstGeom prst="roundRect">
            <a:avLst>
              <a:gd name="adj" fmla="val 11075"/>
            </a:avLst>
          </a:prstGeom>
          <a:noFill/>
          <a:ln w="330200">
            <a:solidFill>
              <a:srgbClr val="F1D3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7750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900" y="1349789"/>
            <a:ext cx="3522416" cy="350572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67608" y="5994400"/>
            <a:ext cx="8106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每天一个精品读书笔记</a:t>
            </a:r>
            <a:r>
              <a:rPr lang="en-US" altLang="zh-CN" sz="3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PPT  </a:t>
            </a:r>
            <a:r>
              <a:rPr lang="zh-CN" altLang="en-US" sz="3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让</a:t>
            </a:r>
            <a:r>
              <a:rPr lang="zh-CN" altLang="en-US" sz="3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你爱上阅读</a:t>
            </a:r>
            <a:r>
              <a:rPr lang="zh-CN" altLang="en-US" sz="32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！</a:t>
            </a:r>
            <a:endParaRPr lang="zh-CN" altLang="en-US" sz="3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74817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656078" cy="1086375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</a:t>
              </a: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博</a:t>
              </a:r>
              <a:endParaRPr lang="en-US" altLang="zh-CN" sz="1458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369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</a:t>
            </a: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79688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803</Words>
  <Application>Microsoft Office PowerPoint</Application>
  <PresentationFormat>宽屏</PresentationFormat>
  <Paragraphs>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方正兰亭黑简体</vt:lpstr>
      <vt:lpstr>方正正黑简体</vt:lpstr>
      <vt:lpstr>方正正中黑简体</vt:lpstr>
      <vt:lpstr>宋体</vt:lpstr>
      <vt:lpstr>微软雅黑</vt:lpstr>
      <vt:lpstr>微软雅黑 Light</vt:lpstr>
      <vt:lpstr>Arial</vt:lpstr>
      <vt:lpstr>Calibri</vt:lpstr>
      <vt:lpstr>Calibri Light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沈晓马</dc:creator>
  <cp:lastModifiedBy>小巴</cp:lastModifiedBy>
  <cp:revision>103</cp:revision>
  <dcterms:created xsi:type="dcterms:W3CDTF">2014-09-13T00:56:20Z</dcterms:created>
  <dcterms:modified xsi:type="dcterms:W3CDTF">2014-09-28T23:12:06Z</dcterms:modified>
</cp:coreProperties>
</file>