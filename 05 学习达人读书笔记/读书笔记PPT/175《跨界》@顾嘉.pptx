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5" r:id="rId7"/>
    <p:sldId id="266" r:id="rId8"/>
    <p:sldId id="261" r:id="rId9"/>
    <p:sldId id="267" r:id="rId10"/>
    <p:sldId id="268" r:id="rId11"/>
    <p:sldId id="269" r:id="rId12"/>
    <p:sldId id="270" r:id="rId13"/>
    <p:sldId id="262" r:id="rId14"/>
    <p:sldId id="271" r:id="rId15"/>
    <p:sldId id="264" r:id="rId16"/>
    <p:sldId id="263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3" autoAdjust="0"/>
    <p:restoredTop sz="82014" autoAdjust="0"/>
  </p:normalViewPr>
  <p:slideViewPr>
    <p:cSldViewPr>
      <p:cViewPr varScale="1">
        <p:scale>
          <a:sx n="80" d="100"/>
          <a:sy n="80" d="100"/>
        </p:scale>
        <p:origin x="97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AA0AF-30A0-4FC5-B29C-D7C50877542D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353A9-D91E-498D-B917-B5D9D1986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405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PPT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312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同的行业，不同的方式，不同的速度。相同的却是双向的渗透和改变。无论是租车打车、培训教育，还是餐饮服务，都已深深地打上移动互联网的烙印。传统行业与互联网行业的企业家们来到界线两边，焦急而谨慎地伸出脚去试探。</a:t>
            </a:r>
            <a:endParaRPr lang="en-US" altLang="zh-CN" dirty="0" smtClean="0"/>
          </a:p>
          <a:p>
            <a:r>
              <a:rPr lang="en-US" altLang="zh-CN" dirty="0" smtClean="0"/>
              <a:t>TRANSBOUNDARY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849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全书架构</a:t>
            </a:r>
            <a:endParaRPr lang="en-US" altLang="zh-C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第一章　跨界爆发的条件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第一节　人与设备是基石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第二节　中国互联网的商业发展是动力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第三节　移动互联网是引爆点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第二章　跨界带来的整合与重塑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第一节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Offline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的逆袭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第二节　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O2O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之初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第三节　起步的在线教育业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第四节　发端于支付的互联网金融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第五节　世纪之赌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第六节　即将迎来风口的在线旅游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第七节　视频：播与制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第八节　三大运营商？不止吧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第九节　人的外部化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第十节　汽车业：销售与制造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第三章　跨界的趋势与未来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第一节　智能手机及其他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第二节　移动服务刚刚开启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第三节　入口入口入口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第四节　隐藏在互联网思维之下的碰撞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第五节　巨头们的理想生意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第六节　正确地认识泡沫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第七节　满足需求还是满足解决方案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后记　给创业者的话：勿忘初心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19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第一章　跨界爆发的条件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第一节　人与设备是基石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第二节　中国互联网的商业发展是动力 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第三节　移动互联网是引爆点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8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商业形态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589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商业形态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160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O2O</a:t>
            </a:r>
            <a:r>
              <a:rPr lang="zh-CN" altLang="en-US" dirty="0" smtClean="0"/>
              <a:t>，在线教育，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互联网金融，制造业，在线旅游，视频业，通信业，智能硬件，汽车业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80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行业</a:t>
            </a:r>
            <a:r>
              <a:rPr lang="en-US" altLang="zh-CN" dirty="0" smtClean="0"/>
              <a:t>2.0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908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194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780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874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边界消失</a:t>
            </a:r>
            <a:r>
              <a:rPr lang="zh-CN" altLang="en-US" sz="1200" baseline="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 融合创新</a:t>
            </a:r>
            <a:endParaRPr lang="en-US" altLang="zh-CN" sz="12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3.1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智能手机及其他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3.2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移动服务刚刚开启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3.3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入口入口入口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3.4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隐藏在互联网思维之下的碰撞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3.5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巨头们的理想生意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3.6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正确地认识泡沫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3.7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满足需求还是满足解决方案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后记　给创业者的话：勿忘初心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工具</a:t>
            </a:r>
            <a:r>
              <a:rPr lang="zh-CN" altLang="en-US" baseline="0" dirty="0" smtClean="0"/>
              <a:t> 渠道 平台 入口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680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社交</a:t>
            </a:r>
            <a:endParaRPr lang="en-US" altLang="zh-CN" dirty="0" smtClean="0"/>
          </a:p>
          <a:p>
            <a:r>
              <a:rPr lang="zh-CN" altLang="en-US" dirty="0" smtClean="0"/>
              <a:t>信息重组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4353A9-D91E-498D-B917-B5D9D1986F5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784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69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70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91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00125"/>
            <a:ext cx="4038600" cy="2828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2828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84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78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9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509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6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7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66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71450"/>
            <a:ext cx="2057400" cy="3657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71450"/>
            <a:ext cx="6019800" cy="3657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683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3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30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7" indent="0" algn="ctr">
              <a:buNone/>
              <a:defRPr sz="1500"/>
            </a:lvl2pPr>
            <a:lvl3pPr marL="685753" indent="0" algn="ctr">
              <a:buNone/>
              <a:defRPr sz="1350"/>
            </a:lvl3pPr>
            <a:lvl4pPr marL="1028630" indent="0" algn="ctr">
              <a:buNone/>
              <a:defRPr sz="1200"/>
            </a:lvl4pPr>
            <a:lvl5pPr marL="1371507" indent="0" algn="ctr">
              <a:buNone/>
              <a:defRPr sz="1200"/>
            </a:lvl5pPr>
            <a:lvl6pPr marL="1714382" indent="0" algn="ctr">
              <a:buNone/>
              <a:defRPr sz="1200"/>
            </a:lvl6pPr>
            <a:lvl7pPr marL="2057258" indent="0" algn="ctr">
              <a:buNone/>
              <a:defRPr sz="1200"/>
            </a:lvl7pPr>
            <a:lvl8pPr marL="2400135" indent="0" algn="ctr">
              <a:buNone/>
              <a:defRPr sz="1200"/>
            </a:lvl8pPr>
            <a:lvl9pPr marL="2743012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2921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277872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5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0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8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5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1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656630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7212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6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3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7" indent="0">
              <a:buNone/>
              <a:defRPr sz="1500" b="1"/>
            </a:lvl2pPr>
            <a:lvl3pPr marL="685753" indent="0">
              <a:buNone/>
              <a:defRPr sz="1350" b="1"/>
            </a:lvl3pPr>
            <a:lvl4pPr marL="1028630" indent="0">
              <a:buNone/>
              <a:defRPr sz="1200" b="1"/>
            </a:lvl4pPr>
            <a:lvl5pPr marL="1371507" indent="0">
              <a:buNone/>
              <a:defRPr sz="1200" b="1"/>
            </a:lvl5pPr>
            <a:lvl6pPr marL="1714382" indent="0">
              <a:buNone/>
              <a:defRPr sz="1200" b="1"/>
            </a:lvl6pPr>
            <a:lvl7pPr marL="2057258" indent="0">
              <a:buNone/>
              <a:defRPr sz="1200" b="1"/>
            </a:lvl7pPr>
            <a:lvl8pPr marL="2400135" indent="0">
              <a:buNone/>
              <a:defRPr sz="1200" b="1"/>
            </a:lvl8pPr>
            <a:lvl9pPr marL="2743012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8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3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7" indent="0">
              <a:buNone/>
              <a:defRPr sz="1500" b="1"/>
            </a:lvl2pPr>
            <a:lvl3pPr marL="685753" indent="0">
              <a:buNone/>
              <a:defRPr sz="1350" b="1"/>
            </a:lvl3pPr>
            <a:lvl4pPr marL="1028630" indent="0">
              <a:buNone/>
              <a:defRPr sz="1200" b="1"/>
            </a:lvl4pPr>
            <a:lvl5pPr marL="1371507" indent="0">
              <a:buNone/>
              <a:defRPr sz="1200" b="1"/>
            </a:lvl5pPr>
            <a:lvl6pPr marL="1714382" indent="0">
              <a:buNone/>
              <a:defRPr sz="1200" b="1"/>
            </a:lvl6pPr>
            <a:lvl7pPr marL="2057258" indent="0">
              <a:buNone/>
              <a:defRPr sz="1200" b="1"/>
            </a:lvl7pPr>
            <a:lvl8pPr marL="2400135" indent="0">
              <a:buNone/>
              <a:defRPr sz="1200" b="1"/>
            </a:lvl8pPr>
            <a:lvl9pPr marL="2743012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8"/>
            <a:ext cx="3887392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00481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251967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220736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3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7" indent="0">
              <a:buNone/>
              <a:defRPr sz="1050"/>
            </a:lvl2pPr>
            <a:lvl3pPr marL="685753" indent="0">
              <a:buNone/>
              <a:defRPr sz="900"/>
            </a:lvl3pPr>
            <a:lvl4pPr marL="1028630" indent="0">
              <a:buNone/>
              <a:defRPr sz="751"/>
            </a:lvl4pPr>
            <a:lvl5pPr marL="1371507" indent="0">
              <a:buNone/>
              <a:defRPr sz="751"/>
            </a:lvl5pPr>
            <a:lvl6pPr marL="1714382" indent="0">
              <a:buNone/>
              <a:defRPr sz="751"/>
            </a:lvl6pPr>
            <a:lvl7pPr marL="2057258" indent="0">
              <a:buNone/>
              <a:defRPr sz="751"/>
            </a:lvl7pPr>
            <a:lvl8pPr marL="2400135" indent="0">
              <a:buNone/>
              <a:defRPr sz="751"/>
            </a:lvl8pPr>
            <a:lvl9pPr marL="2743012" indent="0">
              <a:buNone/>
              <a:defRPr sz="75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001356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77" indent="0">
              <a:buNone/>
              <a:defRPr sz="2101"/>
            </a:lvl2pPr>
            <a:lvl3pPr marL="685753" indent="0">
              <a:buNone/>
              <a:defRPr sz="1800"/>
            </a:lvl3pPr>
            <a:lvl4pPr marL="1028630" indent="0">
              <a:buNone/>
              <a:defRPr sz="1500"/>
            </a:lvl4pPr>
            <a:lvl5pPr marL="1371507" indent="0">
              <a:buNone/>
              <a:defRPr sz="1500"/>
            </a:lvl5pPr>
            <a:lvl6pPr marL="1714382" indent="0">
              <a:buNone/>
              <a:defRPr sz="1500"/>
            </a:lvl6pPr>
            <a:lvl7pPr marL="2057258" indent="0">
              <a:buNone/>
              <a:defRPr sz="1500"/>
            </a:lvl7pPr>
            <a:lvl8pPr marL="2400135" indent="0">
              <a:buNone/>
              <a:defRPr sz="1500"/>
            </a:lvl8pPr>
            <a:lvl9pPr marL="2743012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3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7" indent="0">
              <a:buNone/>
              <a:defRPr sz="1050"/>
            </a:lvl2pPr>
            <a:lvl3pPr marL="685753" indent="0">
              <a:buNone/>
              <a:defRPr sz="900"/>
            </a:lvl3pPr>
            <a:lvl4pPr marL="1028630" indent="0">
              <a:buNone/>
              <a:defRPr sz="751"/>
            </a:lvl4pPr>
            <a:lvl5pPr marL="1371507" indent="0">
              <a:buNone/>
              <a:defRPr sz="751"/>
            </a:lvl5pPr>
            <a:lvl6pPr marL="1714382" indent="0">
              <a:buNone/>
              <a:defRPr sz="751"/>
            </a:lvl6pPr>
            <a:lvl7pPr marL="2057258" indent="0">
              <a:buNone/>
              <a:defRPr sz="751"/>
            </a:lvl7pPr>
            <a:lvl8pPr marL="2400135" indent="0">
              <a:buNone/>
              <a:defRPr sz="751"/>
            </a:lvl8pPr>
            <a:lvl9pPr marL="2743012" indent="0">
              <a:buNone/>
              <a:defRPr sz="75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08075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425060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89902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FE8A7-2025-4572-8BA8-5D47D73CDC6E}" type="datetimeFigureOut">
              <a:rPr lang="zh-CN" altLang="en-US" smtClean="0"/>
              <a:t>2014/11/26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16F47-445F-4E74-91C1-CEF29D7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4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1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68575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9" indent="-171439" algn="l" defTabSz="68575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1" kern="1200">
          <a:solidFill>
            <a:schemeClr val="tx1"/>
          </a:solidFill>
          <a:latin typeface="+mn-lt"/>
          <a:ea typeface="+mn-ea"/>
          <a:cs typeface="+mn-cs"/>
        </a:defRPr>
      </a:lvl1pPr>
      <a:lvl2pPr marL="514316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92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8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44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21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97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74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51" indent="-171439" algn="l" defTabSz="68575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7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3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0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07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82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58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35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12" algn="l" defTabSz="68575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weibo.com/keepwalkingo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img35.ddimg.cn/37/28/23576095-1_w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43558"/>
            <a:ext cx="324036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3882050" y="3746636"/>
            <a:ext cx="33009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腾讯科技频道</a:t>
            </a:r>
            <a:r>
              <a:rPr lang="en-US" altLang="zh-CN" sz="160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/</a:t>
            </a:r>
            <a:r>
              <a:rPr lang="zh-CN" altLang="en-US" sz="160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著 </a:t>
            </a:r>
            <a:r>
              <a:rPr lang="zh-CN" altLang="en-US" sz="1600" dirty="0" smtClean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机械</a:t>
            </a:r>
            <a:r>
              <a:rPr lang="zh-CN" altLang="en-US" sz="1600" dirty="0">
                <a:solidFill>
                  <a:srgbClr val="0070C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工业出版社</a:t>
            </a:r>
          </a:p>
        </p:txBody>
      </p:sp>
      <p:sp>
        <p:nvSpPr>
          <p:cNvPr id="15" name="矩形 14"/>
          <p:cNvSpPr/>
          <p:nvPr/>
        </p:nvSpPr>
        <p:spPr>
          <a:xfrm>
            <a:off x="3842278" y="3098564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开启互联网与传统行业融合新趋势</a:t>
            </a:r>
            <a:endParaRPr lang="zh-CN" altLang="en-US" sz="2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3882050" y="3098564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882050" y="3602620"/>
            <a:ext cx="4680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51920" y="4227934"/>
            <a:ext cx="3458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 by 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顾嘉（新浪微博：</a:t>
            </a:r>
            <a:r>
              <a:rPr lang="en-US" altLang="zh-CN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@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  <a:hlinkClick r:id="rId4"/>
              </a:rPr>
              <a:t>永远的嘉年华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）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915566"/>
            <a:ext cx="4687887" cy="307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3928" y="915566"/>
            <a:ext cx="2808312" cy="62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8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555526"/>
            <a:ext cx="8460432" cy="39830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79912" y="1563638"/>
            <a:ext cx="51125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不同的行业，不同的方式，不同的速度。相同的却是双向的渗透和改变。</a:t>
            </a:r>
            <a:endParaRPr lang="en-US" altLang="zh-CN" sz="1600" dirty="0" smtClean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无论是租车打车、培训教育，还是餐饮服务，都已深深地打上移动互联网的烙印。传统行业与互联网行业的企业家们来到界线两边，焦急而谨慎地伸出脚去试探。</a:t>
            </a:r>
            <a:endParaRPr lang="zh-CN" altLang="en-US" sz="16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063" y="3483645"/>
            <a:ext cx="5432425" cy="11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梯形 3"/>
          <p:cNvSpPr/>
          <p:nvPr/>
        </p:nvSpPr>
        <p:spPr>
          <a:xfrm rot="5400000">
            <a:off x="-288541" y="663539"/>
            <a:ext cx="3600400" cy="3672406"/>
          </a:xfrm>
          <a:prstGeom prst="trapezoid">
            <a:avLst>
              <a:gd name="adj" fmla="val 17574"/>
            </a:avLst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7614"/>
            <a:ext cx="3700906" cy="243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51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539552" y="1669521"/>
            <a:ext cx="2483768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67544" y="1570741"/>
            <a:ext cx="0" cy="72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323528" y="1381489"/>
            <a:ext cx="0" cy="324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395536" y="1570741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79512" y="1570741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51520" y="1431235"/>
            <a:ext cx="0" cy="21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7504" y="1570741"/>
            <a:ext cx="0" cy="180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491880" y="1656397"/>
            <a:ext cx="0" cy="72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47864" y="1467145"/>
            <a:ext cx="0" cy="324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419872" y="1656397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203848" y="1656397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275856" y="1516891"/>
            <a:ext cx="0" cy="21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3131840" y="1656397"/>
            <a:ext cx="0" cy="180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563888" y="1669521"/>
            <a:ext cx="2483768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516216" y="1651903"/>
            <a:ext cx="0" cy="72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372200" y="1462651"/>
            <a:ext cx="0" cy="324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6444208" y="1651903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6228184" y="1651903"/>
            <a:ext cx="0" cy="108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300192" y="1512397"/>
            <a:ext cx="0" cy="21600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156176" y="1651903"/>
            <a:ext cx="0" cy="18000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588224" y="1669521"/>
            <a:ext cx="2483768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34400" y="1347614"/>
            <a:ext cx="1947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章  爆发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的条件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91880" y="1347614"/>
            <a:ext cx="1947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  整合与重塑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16216" y="1347614"/>
            <a:ext cx="19479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  趋势与未来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9552" y="1779662"/>
            <a:ext cx="3259285" cy="889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1.1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人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与设备是基石 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/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1.2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中国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互联网的商业发展是动力 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/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1.3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移动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互联网是引爆点 </a:t>
            </a:r>
          </a:p>
        </p:txBody>
      </p:sp>
      <p:sp>
        <p:nvSpPr>
          <p:cNvPr id="27" name="矩形 26"/>
          <p:cNvSpPr/>
          <p:nvPr/>
        </p:nvSpPr>
        <p:spPr>
          <a:xfrm>
            <a:off x="3530460" y="1779662"/>
            <a:ext cx="2952328" cy="2828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2.1  Offline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的逆袭</a:t>
            </a:r>
            <a:endParaRPr lang="en-US" altLang="zh-CN" sz="1200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2.2  O2O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之初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2.3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起步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的在线教育业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2.4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发端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于支付的互联网金融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2.5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世纪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之赌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2.6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即将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迎来风口的在线旅游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2.7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视频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：播与制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2.8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三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大运营商？不止吧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2.9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人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的外部化 </a:t>
            </a:r>
            <a:b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2.10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汽车业</a:t>
            </a:r>
            <a:r>
              <a:rPr lang="zh-CN" altLang="en-US" sz="1200" dirty="0">
                <a:latin typeface="华文细黑" panose="02010600040101010101" pitchFamily="2" charset="-122"/>
                <a:ea typeface="华文细黑" panose="02010600040101010101" pitchFamily="2" charset="-122"/>
              </a:rPr>
              <a:t>：销售与制造</a:t>
            </a:r>
          </a:p>
        </p:txBody>
      </p:sp>
      <p:sp>
        <p:nvSpPr>
          <p:cNvPr id="28" name="矩形 27"/>
          <p:cNvSpPr/>
          <p:nvPr/>
        </p:nvSpPr>
        <p:spPr>
          <a:xfrm>
            <a:off x="6588224" y="1779662"/>
            <a:ext cx="2952328" cy="2274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3.1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智能手机及其他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3.2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移动服务刚刚开启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3.3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入口入口入口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3.4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隐藏在互联网思维之下的碰撞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3.5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巨头们的理想生意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3.6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正确地认识泡沫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en-US" altLang="zh-CN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3.7  </a:t>
            </a: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满足需求还是满足解决方案 </a:t>
            </a:r>
            <a:b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sz="1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后记　给创业者的话：勿忘初心</a:t>
            </a:r>
          </a:p>
        </p:txBody>
      </p:sp>
      <p:sp>
        <p:nvSpPr>
          <p:cNvPr id="33" name="矩形 32"/>
          <p:cNvSpPr/>
          <p:nvPr/>
        </p:nvSpPr>
        <p:spPr>
          <a:xfrm>
            <a:off x="1691680" y="341243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全书架构</a:t>
            </a:r>
            <a:endParaRPr lang="en-US" altLang="zh-CN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167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第一章  爆发的条件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2" y="4045793"/>
            <a:ext cx="9143998" cy="1107539"/>
            <a:chOff x="532" y="4045793"/>
            <a:chExt cx="9143998" cy="1107539"/>
          </a:xfrm>
        </p:grpSpPr>
        <p:sp>
          <p:nvSpPr>
            <p:cNvPr id="7" name="矩形 18"/>
            <p:cNvSpPr/>
            <p:nvPr/>
          </p:nvSpPr>
          <p:spPr>
            <a:xfrm rot="10800000">
              <a:off x="532" y="4045793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8"/>
            <p:cNvSpPr/>
            <p:nvPr/>
          </p:nvSpPr>
          <p:spPr>
            <a:xfrm rot="10800000">
              <a:off x="4572531" y="4047770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00192" y="1347614"/>
            <a:ext cx="2367498" cy="1728192"/>
            <a:chOff x="6782906" y="1347614"/>
            <a:chExt cx="2367498" cy="1728192"/>
          </a:xfrm>
        </p:grpSpPr>
        <p:sp>
          <p:nvSpPr>
            <p:cNvPr id="19" name="椭圆 18"/>
            <p:cNvSpPr/>
            <p:nvPr/>
          </p:nvSpPr>
          <p:spPr>
            <a:xfrm>
              <a:off x="6782906" y="1347614"/>
              <a:ext cx="1728192" cy="172819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782906" y="204670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移动互联网</a:t>
              </a:r>
            </a:p>
          </p:txBody>
        </p:sp>
        <p:pic>
          <p:nvPicPr>
            <p:cNvPr id="4098" name="Picture 2" descr="火箭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6616" y="1692974"/>
              <a:ext cx="1093788" cy="109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组合 16"/>
          <p:cNvGrpSpPr/>
          <p:nvPr/>
        </p:nvGrpSpPr>
        <p:grpSpPr>
          <a:xfrm>
            <a:off x="3405838" y="1347614"/>
            <a:ext cx="2273792" cy="1728192"/>
            <a:chOff x="3635896" y="1347614"/>
            <a:chExt cx="2273792" cy="1728192"/>
          </a:xfrm>
        </p:grpSpPr>
        <p:sp>
          <p:nvSpPr>
            <p:cNvPr id="11" name="椭圆 10"/>
            <p:cNvSpPr/>
            <p:nvPr/>
          </p:nvSpPr>
          <p:spPr>
            <a:xfrm>
              <a:off x="3635896" y="1347614"/>
              <a:ext cx="1728192" cy="172819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3752036" y="2027044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商业发展</a:t>
              </a:r>
            </a:p>
          </p:txBody>
        </p:sp>
        <p:pic>
          <p:nvPicPr>
            <p:cNvPr id="4100" name="Picture 4" descr="IOS8箭头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5900" y="1629674"/>
              <a:ext cx="1093788" cy="109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467544" y="1347614"/>
            <a:ext cx="2317732" cy="1728192"/>
            <a:chOff x="683568" y="1347614"/>
            <a:chExt cx="2317732" cy="1728192"/>
          </a:xfrm>
        </p:grpSpPr>
        <p:sp>
          <p:nvSpPr>
            <p:cNvPr id="10" name="椭圆 9"/>
            <p:cNvSpPr/>
            <p:nvPr/>
          </p:nvSpPr>
          <p:spPr>
            <a:xfrm>
              <a:off x="683568" y="1347614"/>
              <a:ext cx="1728192" cy="172819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833398" y="2048307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i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人与设备</a:t>
              </a:r>
            </a:p>
          </p:txBody>
        </p:sp>
        <p:pic>
          <p:nvPicPr>
            <p:cNvPr id="4102" name="Picture 6" descr="ios-8-contacts-icon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7512" y="1664816"/>
              <a:ext cx="1093788" cy="109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894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第一章  爆发的条件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6947" y="1362130"/>
            <a:ext cx="51571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/>
              <a:t>（         ）</a:t>
            </a:r>
            <a:endParaRPr lang="zh-CN" altLang="en-US" sz="96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1647387" y="1707654"/>
            <a:ext cx="2880000" cy="857166"/>
            <a:chOff x="150749" y="1842378"/>
            <a:chExt cx="2880000" cy="857166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50749" y="2247714"/>
              <a:ext cx="288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043608" y="1842378"/>
              <a:ext cx="10486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26006" y="2330212"/>
              <a:ext cx="272382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互联网接入成本持续降低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719395" y="3226752"/>
            <a:ext cx="2880000" cy="857166"/>
            <a:chOff x="150749" y="1842378"/>
            <a:chExt cx="2880000" cy="857166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50749" y="2247714"/>
              <a:ext cx="288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1158541" y="1842378"/>
              <a:ext cx="6270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C2C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00933" y="2330212"/>
              <a:ext cx="16097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Glocalization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66947" y="2874298"/>
            <a:ext cx="51571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/>
              <a:t>（         ）</a:t>
            </a:r>
            <a:endParaRPr lang="zh-CN" altLang="en-US" sz="9600" dirty="0"/>
          </a:p>
        </p:txBody>
      </p:sp>
      <p:sp>
        <p:nvSpPr>
          <p:cNvPr id="23" name="矩形 22"/>
          <p:cNvSpPr/>
          <p:nvPr/>
        </p:nvSpPr>
        <p:spPr>
          <a:xfrm>
            <a:off x="5299851" y="195796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人的状态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43863" y="338646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商业形态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右大括号 24"/>
          <p:cNvSpPr/>
          <p:nvPr/>
        </p:nvSpPr>
        <p:spPr>
          <a:xfrm>
            <a:off x="6948264" y="2076986"/>
            <a:ext cx="720080" cy="1637600"/>
          </a:xfrm>
          <a:prstGeom prst="rightBrace">
            <a:avLst>
              <a:gd name="adj1" fmla="val 44922"/>
              <a:gd name="adj2" fmla="val 4810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7330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第一章  爆发的条件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59632" y="2173984"/>
            <a:ext cx="51571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dirty="0" smtClean="0"/>
              <a:t>（         ）</a:t>
            </a:r>
            <a:endParaRPr lang="zh-CN" altLang="en-US" sz="96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2340072" y="2519508"/>
            <a:ext cx="2880000" cy="857166"/>
            <a:chOff x="150749" y="1842378"/>
            <a:chExt cx="2880000" cy="857166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50749" y="2247714"/>
              <a:ext cx="288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1043608" y="184237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移动互联网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5456" y="2330212"/>
              <a:ext cx="25458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娱乐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广告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商务</a:t>
              </a:r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社交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923568" y="2694011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移动互联网业态</a:t>
            </a:r>
            <a:endParaRPr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696318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梯形 27"/>
          <p:cNvSpPr/>
          <p:nvPr/>
        </p:nvSpPr>
        <p:spPr>
          <a:xfrm rot="10800000">
            <a:off x="1025341" y="1409523"/>
            <a:ext cx="7062862" cy="3322871"/>
          </a:xfrm>
          <a:custGeom>
            <a:avLst/>
            <a:gdLst>
              <a:gd name="connsiteX0" fmla="*/ 0 w 6581081"/>
              <a:gd name="connsiteY0" fmla="*/ 3096729 h 3096729"/>
              <a:gd name="connsiteX1" fmla="*/ 892168 w 6581081"/>
              <a:gd name="connsiteY1" fmla="*/ 0 h 3096729"/>
              <a:gd name="connsiteX2" fmla="*/ 5688913 w 6581081"/>
              <a:gd name="connsiteY2" fmla="*/ 0 h 3096729"/>
              <a:gd name="connsiteX3" fmla="*/ 6581081 w 6581081"/>
              <a:gd name="connsiteY3" fmla="*/ 3096729 h 3096729"/>
              <a:gd name="connsiteX4" fmla="*/ 0 w 6581081"/>
              <a:gd name="connsiteY4" fmla="*/ 3096729 h 3096729"/>
              <a:gd name="connsiteX0" fmla="*/ 0 w 6581081"/>
              <a:gd name="connsiteY0" fmla="*/ 3136058 h 3136058"/>
              <a:gd name="connsiteX1" fmla="*/ 489046 w 6581081"/>
              <a:gd name="connsiteY1" fmla="*/ 0 h 3136058"/>
              <a:gd name="connsiteX2" fmla="*/ 5688913 w 6581081"/>
              <a:gd name="connsiteY2" fmla="*/ 39329 h 3136058"/>
              <a:gd name="connsiteX3" fmla="*/ 6581081 w 6581081"/>
              <a:gd name="connsiteY3" fmla="*/ 3136058 h 3136058"/>
              <a:gd name="connsiteX4" fmla="*/ 0 w 6581081"/>
              <a:gd name="connsiteY4" fmla="*/ 3136058 h 3136058"/>
              <a:gd name="connsiteX0" fmla="*/ 0 w 6581081"/>
              <a:gd name="connsiteY0" fmla="*/ 3322871 h 3322871"/>
              <a:gd name="connsiteX1" fmla="*/ 331729 w 6581081"/>
              <a:gd name="connsiteY1" fmla="*/ 0 h 3322871"/>
              <a:gd name="connsiteX2" fmla="*/ 5688913 w 6581081"/>
              <a:gd name="connsiteY2" fmla="*/ 226142 h 3322871"/>
              <a:gd name="connsiteX3" fmla="*/ 6581081 w 6581081"/>
              <a:gd name="connsiteY3" fmla="*/ 3322871 h 3322871"/>
              <a:gd name="connsiteX4" fmla="*/ 0 w 6581081"/>
              <a:gd name="connsiteY4" fmla="*/ 3322871 h 3322871"/>
              <a:gd name="connsiteX0" fmla="*/ 0 w 6581081"/>
              <a:gd name="connsiteY0" fmla="*/ 3322871 h 3322871"/>
              <a:gd name="connsiteX1" fmla="*/ 331729 w 6581081"/>
              <a:gd name="connsiteY1" fmla="*/ 0 h 3322871"/>
              <a:gd name="connsiteX2" fmla="*/ 5659416 w 6581081"/>
              <a:gd name="connsiteY2" fmla="*/ 68826 h 3322871"/>
              <a:gd name="connsiteX3" fmla="*/ 6581081 w 6581081"/>
              <a:gd name="connsiteY3" fmla="*/ 3322871 h 3322871"/>
              <a:gd name="connsiteX4" fmla="*/ 0 w 6581081"/>
              <a:gd name="connsiteY4" fmla="*/ 3322871 h 3322871"/>
              <a:gd name="connsiteX0" fmla="*/ 0 w 7062862"/>
              <a:gd name="connsiteY0" fmla="*/ 2978742 h 3322871"/>
              <a:gd name="connsiteX1" fmla="*/ 813510 w 7062862"/>
              <a:gd name="connsiteY1" fmla="*/ 0 h 3322871"/>
              <a:gd name="connsiteX2" fmla="*/ 6141197 w 7062862"/>
              <a:gd name="connsiteY2" fmla="*/ 68826 h 3322871"/>
              <a:gd name="connsiteX3" fmla="*/ 7062862 w 7062862"/>
              <a:gd name="connsiteY3" fmla="*/ 3322871 h 3322871"/>
              <a:gd name="connsiteX4" fmla="*/ 0 w 7062862"/>
              <a:gd name="connsiteY4" fmla="*/ 2978742 h 3322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2862" h="3322871">
                <a:moveTo>
                  <a:pt x="0" y="2978742"/>
                </a:moveTo>
                <a:lnTo>
                  <a:pt x="813510" y="0"/>
                </a:lnTo>
                <a:lnTo>
                  <a:pt x="6141197" y="68826"/>
                </a:lnTo>
                <a:lnTo>
                  <a:pt x="7062862" y="3322871"/>
                </a:lnTo>
                <a:lnTo>
                  <a:pt x="0" y="2978742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第二章  整合与重塑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2" y="4045793"/>
            <a:ext cx="9143998" cy="1107539"/>
            <a:chOff x="532" y="4045793"/>
            <a:chExt cx="9143998" cy="1107539"/>
          </a:xfrm>
        </p:grpSpPr>
        <p:sp>
          <p:nvSpPr>
            <p:cNvPr id="7" name="矩形 18"/>
            <p:cNvSpPr/>
            <p:nvPr/>
          </p:nvSpPr>
          <p:spPr>
            <a:xfrm rot="10800000">
              <a:off x="532" y="4045793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8"/>
            <p:cNvSpPr/>
            <p:nvPr/>
          </p:nvSpPr>
          <p:spPr>
            <a:xfrm rot="10800000">
              <a:off x="4572531" y="4047770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/>
          <p:cNvSpPr/>
          <p:nvPr/>
        </p:nvSpPr>
        <p:spPr>
          <a:xfrm>
            <a:off x="2820653" y="1916954"/>
            <a:ext cx="992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O2O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83890" y="26284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在线教育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47533" y="320468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互联网金融</a:t>
            </a:r>
          </a:p>
        </p:txBody>
      </p:sp>
      <p:sp>
        <p:nvSpPr>
          <p:cNvPr id="22" name="矩形 21"/>
          <p:cNvSpPr/>
          <p:nvPr/>
        </p:nvSpPr>
        <p:spPr>
          <a:xfrm>
            <a:off x="3679609" y="225913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制造业</a:t>
            </a:r>
          </a:p>
        </p:txBody>
      </p:sp>
      <p:sp>
        <p:nvSpPr>
          <p:cNvPr id="23" name="矩形 22"/>
          <p:cNvSpPr/>
          <p:nvPr/>
        </p:nvSpPr>
        <p:spPr>
          <a:xfrm>
            <a:off x="4405737" y="285929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在线旅游</a:t>
            </a:r>
          </a:p>
        </p:txBody>
      </p:sp>
      <p:sp>
        <p:nvSpPr>
          <p:cNvPr id="24" name="矩形 23"/>
          <p:cNvSpPr/>
          <p:nvPr/>
        </p:nvSpPr>
        <p:spPr>
          <a:xfrm>
            <a:off x="4977207" y="244017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视频业</a:t>
            </a:r>
          </a:p>
        </p:txBody>
      </p:sp>
      <p:sp>
        <p:nvSpPr>
          <p:cNvPr id="25" name="矩形 24"/>
          <p:cNvSpPr/>
          <p:nvPr/>
        </p:nvSpPr>
        <p:spPr>
          <a:xfrm>
            <a:off x="5928391" y="2686396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通信业</a:t>
            </a:r>
          </a:p>
        </p:txBody>
      </p:sp>
      <p:sp>
        <p:nvSpPr>
          <p:cNvPr id="26" name="矩形 25"/>
          <p:cNvSpPr/>
          <p:nvPr/>
        </p:nvSpPr>
        <p:spPr>
          <a:xfrm>
            <a:off x="5159307" y="332096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智能硬件</a:t>
            </a:r>
          </a:p>
        </p:txBody>
      </p:sp>
      <p:sp>
        <p:nvSpPr>
          <p:cNvPr id="27" name="矩形 26"/>
          <p:cNvSpPr/>
          <p:nvPr/>
        </p:nvSpPr>
        <p:spPr>
          <a:xfrm>
            <a:off x="5415788" y="1978509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汽车业</a:t>
            </a:r>
          </a:p>
        </p:txBody>
      </p:sp>
      <p:sp>
        <p:nvSpPr>
          <p:cNvPr id="29" name="椭圆 28"/>
          <p:cNvSpPr/>
          <p:nvPr/>
        </p:nvSpPr>
        <p:spPr>
          <a:xfrm>
            <a:off x="1629853" y="1726453"/>
            <a:ext cx="612000" cy="612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云形标注 30"/>
          <p:cNvSpPr/>
          <p:nvPr/>
        </p:nvSpPr>
        <p:spPr>
          <a:xfrm>
            <a:off x="7068296" y="180726"/>
            <a:ext cx="936104" cy="483682"/>
          </a:xfrm>
          <a:prstGeom prst="cloud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梯形 31"/>
          <p:cNvSpPr/>
          <p:nvPr/>
        </p:nvSpPr>
        <p:spPr>
          <a:xfrm>
            <a:off x="6780264" y="942777"/>
            <a:ext cx="576064" cy="865979"/>
          </a:xfrm>
          <a:prstGeom prst="trapezoid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579206" y="1755724"/>
            <a:ext cx="1152128" cy="3698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9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第二章  整合与重塑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r="25777"/>
          <a:stretch/>
        </p:blipFill>
        <p:spPr>
          <a:xfrm>
            <a:off x="682213" y="3216920"/>
            <a:ext cx="1296144" cy="95957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27584" y="1923678"/>
            <a:ext cx="100540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</a:t>
            </a:r>
            <a:endParaRPr lang="en-US" altLang="zh-CN" sz="32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ttp://www.guancha.cn/pic/2012/11/30/634898801724689146%CE%A2%D0%C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229" y="3352368"/>
            <a:ext cx="625774" cy="62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十字形 6"/>
          <p:cNvSpPr/>
          <p:nvPr/>
        </p:nvSpPr>
        <p:spPr>
          <a:xfrm>
            <a:off x="2301446" y="2518288"/>
            <a:ext cx="1080120" cy="965215"/>
          </a:xfrm>
          <a:prstGeom prst="plus">
            <a:avLst>
              <a:gd name="adj" fmla="val 2894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707997" y="1923678"/>
            <a:ext cx="223651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服务组件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右大括号 9"/>
          <p:cNvSpPr/>
          <p:nvPr/>
        </p:nvSpPr>
        <p:spPr>
          <a:xfrm flipH="1">
            <a:off x="6040522" y="2109911"/>
            <a:ext cx="720080" cy="1637600"/>
          </a:xfrm>
          <a:prstGeom prst="rightBrace">
            <a:avLst>
              <a:gd name="adj1" fmla="val 44922"/>
              <a:gd name="adj2" fmla="val 4810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69069" y="1832356"/>
            <a:ext cx="16055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</a:p>
          <a:p>
            <a:pPr algn="ctr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更好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的服务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更低的成本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更高的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效率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9764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第二章  整合与重塑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43998" y="1198533"/>
            <a:ext cx="4660250" cy="3168352"/>
            <a:chOff x="2267744" y="1563638"/>
            <a:chExt cx="4660250" cy="3168352"/>
          </a:xfrm>
        </p:grpSpPr>
        <p:sp>
          <p:nvSpPr>
            <p:cNvPr id="7" name="椭圆 6"/>
            <p:cNvSpPr/>
            <p:nvPr/>
          </p:nvSpPr>
          <p:spPr>
            <a:xfrm>
              <a:off x="2843808" y="1563638"/>
              <a:ext cx="3384376" cy="316835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67744" y="1851670"/>
              <a:ext cx="4660250" cy="183600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16100" dirty="0">
                  <a:solidFill>
                    <a:srgbClr val="00B0F0"/>
                  </a:solidFill>
                  <a:latin typeface="HanWangGSolid06cut1" panose="02020500000000000000" pitchFamily="18" charset="-120"/>
                  <a:ea typeface="HanWangGSolid06cut1" panose="02020500000000000000" pitchFamily="18" charset="-120"/>
                </a:rPr>
                <a:t>O</a:t>
              </a:r>
              <a:r>
                <a:rPr lang="en-US" altLang="zh-CN" sz="16100" dirty="0">
                  <a:solidFill>
                    <a:srgbClr val="FFC000"/>
                  </a:solidFill>
                  <a:latin typeface="HanWangGSolid06cut1" panose="02020500000000000000" pitchFamily="18" charset="-120"/>
                  <a:ea typeface="HanWangGSolid06cut1" panose="02020500000000000000" pitchFamily="18" charset="-120"/>
                </a:rPr>
                <a:t>2</a:t>
              </a:r>
              <a:r>
                <a:rPr lang="en-US" altLang="zh-CN" sz="16100" dirty="0">
                  <a:solidFill>
                    <a:srgbClr val="0070C0"/>
                  </a:solidFill>
                  <a:latin typeface="HanWangGSolid06cut1" panose="02020500000000000000" pitchFamily="18" charset="-120"/>
                  <a:ea typeface="HanWangGSolid06cut1" panose="02020500000000000000" pitchFamily="18" charset="-120"/>
                </a:rPr>
                <a:t>O</a:t>
              </a:r>
              <a:endParaRPr lang="zh-CN" altLang="en-US" sz="16100" dirty="0">
                <a:solidFill>
                  <a:srgbClr val="0070C0"/>
                </a:solidFill>
                <a:latin typeface="HanWangGSolid06cut1" panose="02020500000000000000" pitchFamily="18" charset="-120"/>
                <a:ea typeface="HanWangGSolid06cut1" panose="02020500000000000000" pitchFamily="18" charset="-12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0" y="2162820"/>
            <a:ext cx="4572000" cy="87440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线上引流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广告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线上支付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预付费</a:t>
            </a:r>
          </a:p>
        </p:txBody>
      </p:sp>
      <p:sp>
        <p:nvSpPr>
          <p:cNvPr id="6" name="矩形 5"/>
          <p:cNvSpPr/>
          <p:nvPr/>
        </p:nvSpPr>
        <p:spPr>
          <a:xfrm>
            <a:off x="6624736" y="221171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线下消费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商品交付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上体验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服务交付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96587" y="449781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商家征信体系建立</a:t>
            </a:r>
          </a:p>
        </p:txBody>
      </p:sp>
      <p:sp>
        <p:nvSpPr>
          <p:cNvPr id="10" name="矩形 9"/>
          <p:cNvSpPr/>
          <p:nvPr/>
        </p:nvSpPr>
        <p:spPr>
          <a:xfrm>
            <a:off x="3834188" y="146480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闭环管理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6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第二章  整合与重塑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763688" y="1465373"/>
            <a:ext cx="6163364" cy="3050593"/>
            <a:chOff x="1763688" y="1465373"/>
            <a:chExt cx="6163364" cy="3050593"/>
          </a:xfrm>
        </p:grpSpPr>
        <p:sp>
          <p:nvSpPr>
            <p:cNvPr id="11" name="矩形 10"/>
            <p:cNvSpPr/>
            <p:nvPr/>
          </p:nvSpPr>
          <p:spPr>
            <a:xfrm>
              <a:off x="1763688" y="2821454"/>
              <a:ext cx="394851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互联网消费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交易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交付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4139952" y="2120538"/>
              <a:ext cx="0" cy="72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5194672" y="3291830"/>
              <a:ext cx="0" cy="72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3470538" y="1635924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互联网支付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4644008" y="4146634"/>
              <a:ext cx="23102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O2O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模式（体验店）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 rot="16200000">
              <a:off x="5267910" y="1038033"/>
              <a:ext cx="655165" cy="1509846"/>
            </a:xfrm>
            <a:prstGeom prst="trapezoi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588224" y="1635924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u="sng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互联网金融</a:t>
              </a:r>
              <a:endParaRPr lang="en-US" altLang="zh-CN" b="1" u="sng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线形标注 1(带强调线) 21"/>
          <p:cNvSpPr/>
          <p:nvPr/>
        </p:nvSpPr>
        <p:spPr>
          <a:xfrm flipH="1">
            <a:off x="539552" y="3855015"/>
            <a:ext cx="1440160" cy="952569"/>
          </a:xfrm>
          <a:prstGeom prst="accentCallout1">
            <a:avLst>
              <a:gd name="adj1" fmla="val 56081"/>
              <a:gd name="adj2" fmla="val -8333"/>
              <a:gd name="adj3" fmla="val -48821"/>
              <a:gd name="adj4" fmla="val -4715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00932" y="3942224"/>
            <a:ext cx="12227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信息流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资金流</a:t>
            </a:r>
            <a:endParaRPr lang="en-US" altLang="zh-CN" sz="1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肘形连接符 23"/>
          <p:cNvCxnSpPr>
            <a:endCxn id="19" idx="2"/>
          </p:cNvCxnSpPr>
          <p:nvPr/>
        </p:nvCxnSpPr>
        <p:spPr>
          <a:xfrm flipV="1">
            <a:off x="2123728" y="2005256"/>
            <a:ext cx="5133910" cy="26547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071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第二章  整合与重塑</a:t>
            </a:r>
            <a:endParaRPr lang="zh-CN" altLang="en-US" sz="3600" b="1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63888" y="1424375"/>
            <a:ext cx="4572000" cy="33658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在线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教育业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传统制造业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在线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旅游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视频业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通信业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智能硬件</a:t>
            </a:r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 </a:t>
            </a:r>
            <a:b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</a:br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汽车业</a:t>
            </a:r>
            <a:endParaRPr lang="en-US" altLang="zh-CN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华文细黑" panose="02010600040101010101" pitchFamily="2" charset="-122"/>
                <a:ea typeface="华文细黑" panose="02010600040101010101" pitchFamily="2" charset="-122"/>
              </a:rPr>
              <a:t>……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552" y="2499742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</a:t>
            </a:r>
            <a:endParaRPr lang="en-US" altLang="zh-CN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十字形 5"/>
          <p:cNvSpPr/>
          <p:nvPr/>
        </p:nvSpPr>
        <p:spPr>
          <a:xfrm>
            <a:off x="2595498" y="2557016"/>
            <a:ext cx="720080" cy="697433"/>
          </a:xfrm>
          <a:prstGeom prst="plus">
            <a:avLst>
              <a:gd name="adj" fmla="val 2864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516216" y="242773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6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不是</a:t>
            </a:r>
            <a:r>
              <a:rPr lang="zh-CN" altLang="en-US" sz="3600" dirty="0">
                <a:solidFill>
                  <a:srgbClr val="C00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颠覆</a:t>
            </a:r>
            <a:endParaRPr lang="en-US" altLang="zh-CN" sz="3600" dirty="0">
              <a:solidFill>
                <a:srgbClr val="C00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  <a:p>
            <a:r>
              <a:rPr lang="zh-CN" altLang="en-US" sz="3600" dirty="0">
                <a:latin typeface="文鼎习字体" panose="020B0602010101010101" pitchFamily="33" charset="-122"/>
                <a:ea typeface="文鼎习字体" panose="020B0602010101010101" pitchFamily="33" charset="-122"/>
              </a:rPr>
              <a:t>而是</a:t>
            </a:r>
            <a:r>
              <a:rPr lang="zh-CN" altLang="en-US" sz="3600" dirty="0">
                <a:solidFill>
                  <a:srgbClr val="0070C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升级</a:t>
            </a:r>
            <a:endParaRPr lang="en-US" altLang="zh-CN" sz="3600" dirty="0">
              <a:solidFill>
                <a:srgbClr val="0070C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3" name="右大括号 22"/>
          <p:cNvSpPr/>
          <p:nvPr/>
        </p:nvSpPr>
        <p:spPr>
          <a:xfrm>
            <a:off x="5684114" y="1649152"/>
            <a:ext cx="720080" cy="2916303"/>
          </a:xfrm>
          <a:prstGeom prst="rightBrace">
            <a:avLst>
              <a:gd name="adj1" fmla="val 44922"/>
              <a:gd name="adj2" fmla="val 4810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1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1547664" y="1275606"/>
            <a:ext cx="4153547" cy="410445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第三章  趋势与未来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32" y="4045793"/>
            <a:ext cx="9143998" cy="1107539"/>
            <a:chOff x="532" y="4045793"/>
            <a:chExt cx="9143998" cy="1107539"/>
          </a:xfrm>
        </p:grpSpPr>
        <p:sp>
          <p:nvSpPr>
            <p:cNvPr id="7" name="矩形 18"/>
            <p:cNvSpPr/>
            <p:nvPr/>
          </p:nvSpPr>
          <p:spPr>
            <a:xfrm rot="10800000">
              <a:off x="532" y="4045793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8"/>
            <p:cNvSpPr/>
            <p:nvPr/>
          </p:nvSpPr>
          <p:spPr>
            <a:xfrm rot="10800000">
              <a:off x="4572531" y="4047770"/>
              <a:ext cx="4571999" cy="1105562"/>
            </a:xfrm>
            <a:custGeom>
              <a:avLst/>
              <a:gdLst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315630 w 1512167"/>
                <a:gd name="connsiteY5" fmla="*/ 2801567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01567"/>
                <a:gd name="connsiteX1" fmla="*/ 1512167 w 1512167"/>
                <a:gd name="connsiteY1" fmla="*/ 0 h 2801567"/>
                <a:gd name="connsiteX2" fmla="*/ 1512167 w 1512167"/>
                <a:gd name="connsiteY2" fmla="*/ 2801567 h 2801567"/>
                <a:gd name="connsiteX3" fmla="*/ 1480244 w 1512167"/>
                <a:gd name="connsiteY3" fmla="*/ 2801567 h 2801567"/>
                <a:gd name="connsiteX4" fmla="*/ 1368669 w 1512167"/>
                <a:gd name="connsiteY4" fmla="*/ 1772291 h 2801567"/>
                <a:gd name="connsiteX5" fmla="*/ 1270102 w 1512167"/>
                <a:gd name="connsiteY5" fmla="*/ 2271613 h 2801567"/>
                <a:gd name="connsiteX6" fmla="*/ 1263876 w 1512167"/>
                <a:gd name="connsiteY6" fmla="*/ 2801567 h 2801567"/>
                <a:gd name="connsiteX7" fmla="*/ 1181569 w 1512167"/>
                <a:gd name="connsiteY7" fmla="*/ 2636953 h 2801567"/>
                <a:gd name="connsiteX8" fmla="*/ 1099262 w 1512167"/>
                <a:gd name="connsiteY8" fmla="*/ 2801567 h 2801567"/>
                <a:gd name="connsiteX9" fmla="*/ 1047507 w 1512167"/>
                <a:gd name="connsiteY9" fmla="*/ 2801567 h 2801567"/>
                <a:gd name="connsiteX10" fmla="*/ 965200 w 1512167"/>
                <a:gd name="connsiteY10" fmla="*/ 2636953 h 2801567"/>
                <a:gd name="connsiteX11" fmla="*/ 882893 w 1512167"/>
                <a:gd name="connsiteY11" fmla="*/ 2801567 h 2801567"/>
                <a:gd name="connsiteX12" fmla="*/ 831138 w 1512167"/>
                <a:gd name="connsiteY12" fmla="*/ 2801567 h 2801567"/>
                <a:gd name="connsiteX13" fmla="*/ 748831 w 1512167"/>
                <a:gd name="connsiteY13" fmla="*/ 2636953 h 2801567"/>
                <a:gd name="connsiteX14" fmla="*/ 666524 w 1512167"/>
                <a:gd name="connsiteY14" fmla="*/ 2801567 h 2801567"/>
                <a:gd name="connsiteX15" fmla="*/ 614769 w 1512167"/>
                <a:gd name="connsiteY15" fmla="*/ 2801567 h 2801567"/>
                <a:gd name="connsiteX16" fmla="*/ 532462 w 1512167"/>
                <a:gd name="connsiteY16" fmla="*/ 2636953 h 2801567"/>
                <a:gd name="connsiteX17" fmla="*/ 450155 w 1512167"/>
                <a:gd name="connsiteY17" fmla="*/ 2801567 h 2801567"/>
                <a:gd name="connsiteX18" fmla="*/ 398400 w 1512167"/>
                <a:gd name="connsiteY18" fmla="*/ 2801567 h 2801567"/>
                <a:gd name="connsiteX19" fmla="*/ 316093 w 1512167"/>
                <a:gd name="connsiteY19" fmla="*/ 2636953 h 2801567"/>
                <a:gd name="connsiteX20" fmla="*/ 233786 w 1512167"/>
                <a:gd name="connsiteY20" fmla="*/ 2801567 h 2801567"/>
                <a:gd name="connsiteX21" fmla="*/ 182031 w 1512167"/>
                <a:gd name="connsiteY21" fmla="*/ 2801567 h 2801567"/>
                <a:gd name="connsiteX22" fmla="*/ 99724 w 1512167"/>
                <a:gd name="connsiteY22" fmla="*/ 2636953 h 2801567"/>
                <a:gd name="connsiteX23" fmla="*/ 17417 w 1512167"/>
                <a:gd name="connsiteY23" fmla="*/ 2801567 h 2801567"/>
                <a:gd name="connsiteX24" fmla="*/ 0 w 1512167"/>
                <a:gd name="connsiteY24" fmla="*/ 2801567 h 2801567"/>
                <a:gd name="connsiteX25" fmla="*/ 0 w 1512167"/>
                <a:gd name="connsiteY25" fmla="*/ 0 h 2801567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81569 w 1512167"/>
                <a:gd name="connsiteY7" fmla="*/ 2636953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9262 w 1512167"/>
                <a:gd name="connsiteY8" fmla="*/ 2801567 h 2885245"/>
                <a:gd name="connsiteX9" fmla="*/ 1047507 w 1512167"/>
                <a:gd name="connsiteY9" fmla="*/ 2801567 h 2885245"/>
                <a:gd name="connsiteX10" fmla="*/ 965200 w 1512167"/>
                <a:gd name="connsiteY10" fmla="*/ 2636953 h 2885245"/>
                <a:gd name="connsiteX11" fmla="*/ 882893 w 1512167"/>
                <a:gd name="connsiteY11" fmla="*/ 2801567 h 2885245"/>
                <a:gd name="connsiteX12" fmla="*/ 831138 w 1512167"/>
                <a:gd name="connsiteY12" fmla="*/ 2801567 h 2885245"/>
                <a:gd name="connsiteX13" fmla="*/ 748831 w 1512167"/>
                <a:gd name="connsiteY13" fmla="*/ 2636953 h 2885245"/>
                <a:gd name="connsiteX14" fmla="*/ 666524 w 1512167"/>
                <a:gd name="connsiteY14" fmla="*/ 2801567 h 2885245"/>
                <a:gd name="connsiteX15" fmla="*/ 614769 w 1512167"/>
                <a:gd name="connsiteY15" fmla="*/ 2801567 h 2885245"/>
                <a:gd name="connsiteX16" fmla="*/ 532462 w 1512167"/>
                <a:gd name="connsiteY16" fmla="*/ 2636953 h 2885245"/>
                <a:gd name="connsiteX17" fmla="*/ 450155 w 1512167"/>
                <a:gd name="connsiteY17" fmla="*/ 2801567 h 2885245"/>
                <a:gd name="connsiteX18" fmla="*/ 398400 w 1512167"/>
                <a:gd name="connsiteY18" fmla="*/ 2801567 h 2885245"/>
                <a:gd name="connsiteX19" fmla="*/ 316093 w 1512167"/>
                <a:gd name="connsiteY19" fmla="*/ 2636953 h 2885245"/>
                <a:gd name="connsiteX20" fmla="*/ 233786 w 1512167"/>
                <a:gd name="connsiteY20" fmla="*/ 2801567 h 2885245"/>
                <a:gd name="connsiteX21" fmla="*/ 182031 w 1512167"/>
                <a:gd name="connsiteY21" fmla="*/ 2801567 h 2885245"/>
                <a:gd name="connsiteX22" fmla="*/ 99724 w 1512167"/>
                <a:gd name="connsiteY22" fmla="*/ 2636953 h 2885245"/>
                <a:gd name="connsiteX23" fmla="*/ 17417 w 1512167"/>
                <a:gd name="connsiteY23" fmla="*/ 2801567 h 2885245"/>
                <a:gd name="connsiteX24" fmla="*/ 0 w 1512167"/>
                <a:gd name="connsiteY24" fmla="*/ 2801567 h 2885245"/>
                <a:gd name="connsiteX25" fmla="*/ 0 w 1512167"/>
                <a:gd name="connsiteY25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65200 w 1512167"/>
                <a:gd name="connsiteY11" fmla="*/ 2636953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2893 w 1512167"/>
                <a:gd name="connsiteY12" fmla="*/ 2801567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31138 w 1512167"/>
                <a:gd name="connsiteY13" fmla="*/ 2801567 h 2885245"/>
                <a:gd name="connsiteX14" fmla="*/ 748831 w 1512167"/>
                <a:gd name="connsiteY14" fmla="*/ 2636953 h 2885245"/>
                <a:gd name="connsiteX15" fmla="*/ 666524 w 1512167"/>
                <a:gd name="connsiteY15" fmla="*/ 2801567 h 2885245"/>
                <a:gd name="connsiteX16" fmla="*/ 614769 w 1512167"/>
                <a:gd name="connsiteY16" fmla="*/ 2801567 h 2885245"/>
                <a:gd name="connsiteX17" fmla="*/ 532462 w 1512167"/>
                <a:gd name="connsiteY17" fmla="*/ 2636953 h 2885245"/>
                <a:gd name="connsiteX18" fmla="*/ 450155 w 1512167"/>
                <a:gd name="connsiteY18" fmla="*/ 2801567 h 2885245"/>
                <a:gd name="connsiteX19" fmla="*/ 398400 w 1512167"/>
                <a:gd name="connsiteY19" fmla="*/ 2801567 h 2885245"/>
                <a:gd name="connsiteX20" fmla="*/ 316093 w 1512167"/>
                <a:gd name="connsiteY20" fmla="*/ 2636953 h 2885245"/>
                <a:gd name="connsiteX21" fmla="*/ 233786 w 1512167"/>
                <a:gd name="connsiteY21" fmla="*/ 2801567 h 2885245"/>
                <a:gd name="connsiteX22" fmla="*/ 182031 w 1512167"/>
                <a:gd name="connsiteY22" fmla="*/ 2801567 h 2885245"/>
                <a:gd name="connsiteX23" fmla="*/ 99724 w 1512167"/>
                <a:gd name="connsiteY23" fmla="*/ 2636953 h 2885245"/>
                <a:gd name="connsiteX24" fmla="*/ 17417 w 1512167"/>
                <a:gd name="connsiteY24" fmla="*/ 2801567 h 2885245"/>
                <a:gd name="connsiteX25" fmla="*/ 0 w 1512167"/>
                <a:gd name="connsiteY25" fmla="*/ 2801567 h 2885245"/>
                <a:gd name="connsiteX26" fmla="*/ 0 w 1512167"/>
                <a:gd name="connsiteY26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43869 w 1512167"/>
                <a:gd name="connsiteY12" fmla="*/ 2215830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8831 w 1512167"/>
                <a:gd name="connsiteY15" fmla="*/ 2636953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66524 w 1512167"/>
                <a:gd name="connsiteY16" fmla="*/ 2801567 h 2885245"/>
                <a:gd name="connsiteX17" fmla="*/ 614769 w 1512167"/>
                <a:gd name="connsiteY17" fmla="*/ 2801567 h 2885245"/>
                <a:gd name="connsiteX18" fmla="*/ 532462 w 1512167"/>
                <a:gd name="connsiteY18" fmla="*/ 2636953 h 2885245"/>
                <a:gd name="connsiteX19" fmla="*/ 450155 w 1512167"/>
                <a:gd name="connsiteY19" fmla="*/ 2801567 h 2885245"/>
                <a:gd name="connsiteX20" fmla="*/ 398400 w 1512167"/>
                <a:gd name="connsiteY20" fmla="*/ 2801567 h 2885245"/>
                <a:gd name="connsiteX21" fmla="*/ 316093 w 1512167"/>
                <a:gd name="connsiteY21" fmla="*/ 2636953 h 2885245"/>
                <a:gd name="connsiteX22" fmla="*/ 233786 w 1512167"/>
                <a:gd name="connsiteY22" fmla="*/ 2801567 h 2885245"/>
                <a:gd name="connsiteX23" fmla="*/ 182031 w 1512167"/>
                <a:gd name="connsiteY23" fmla="*/ 2801567 h 2885245"/>
                <a:gd name="connsiteX24" fmla="*/ 99724 w 1512167"/>
                <a:gd name="connsiteY24" fmla="*/ 2636953 h 2885245"/>
                <a:gd name="connsiteX25" fmla="*/ 17417 w 1512167"/>
                <a:gd name="connsiteY25" fmla="*/ 2801567 h 2885245"/>
                <a:gd name="connsiteX26" fmla="*/ 0 w 1512167"/>
                <a:gd name="connsiteY26" fmla="*/ 2801567 h 2885245"/>
                <a:gd name="connsiteX27" fmla="*/ 0 w 1512167"/>
                <a:gd name="connsiteY27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614769 w 1512167"/>
                <a:gd name="connsiteY18" fmla="*/ 2801567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2462 w 1512167"/>
                <a:gd name="connsiteY19" fmla="*/ 263695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50155 w 1512167"/>
                <a:gd name="connsiteY20" fmla="*/ 2801567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2885245"/>
                <a:gd name="connsiteX1" fmla="*/ 1512167 w 1512167"/>
                <a:gd name="connsiteY1" fmla="*/ 0 h 2885245"/>
                <a:gd name="connsiteX2" fmla="*/ 1512167 w 1512167"/>
                <a:gd name="connsiteY2" fmla="*/ 2801567 h 2885245"/>
                <a:gd name="connsiteX3" fmla="*/ 1480244 w 1512167"/>
                <a:gd name="connsiteY3" fmla="*/ 2801567 h 2885245"/>
                <a:gd name="connsiteX4" fmla="*/ 1368669 w 1512167"/>
                <a:gd name="connsiteY4" fmla="*/ 1772291 h 2885245"/>
                <a:gd name="connsiteX5" fmla="*/ 1270102 w 1512167"/>
                <a:gd name="connsiteY5" fmla="*/ 2271613 h 2885245"/>
                <a:gd name="connsiteX6" fmla="*/ 1263876 w 1512167"/>
                <a:gd name="connsiteY6" fmla="*/ 2885245 h 2885245"/>
                <a:gd name="connsiteX7" fmla="*/ 1175065 w 1512167"/>
                <a:gd name="connsiteY7" fmla="*/ 2190676 h 2885245"/>
                <a:gd name="connsiteX8" fmla="*/ 1093324 w 1512167"/>
                <a:gd name="connsiteY8" fmla="*/ 2399299 h 2885245"/>
                <a:gd name="connsiteX9" fmla="*/ 1099262 w 1512167"/>
                <a:gd name="connsiteY9" fmla="*/ 2801567 h 2885245"/>
                <a:gd name="connsiteX10" fmla="*/ 1047507 w 1512167"/>
                <a:gd name="connsiteY10" fmla="*/ 2801567 h 2885245"/>
                <a:gd name="connsiteX11" fmla="*/ 948940 w 1512167"/>
                <a:gd name="connsiteY11" fmla="*/ 2106999 h 2885245"/>
                <a:gd name="connsiteX12" fmla="*/ 886145 w 1512167"/>
                <a:gd name="connsiteY12" fmla="*/ 2522646 h 2885245"/>
                <a:gd name="connsiteX13" fmla="*/ 852678 w 1512167"/>
                <a:gd name="connsiteY13" fmla="*/ 2845575 h 2885245"/>
                <a:gd name="connsiteX14" fmla="*/ 831138 w 1512167"/>
                <a:gd name="connsiteY14" fmla="*/ 2801567 h 2885245"/>
                <a:gd name="connsiteX15" fmla="*/ 745579 w 1512167"/>
                <a:gd name="connsiteY15" fmla="*/ 2274351 h 2885245"/>
                <a:gd name="connsiteX16" fmla="*/ 680323 w 1512167"/>
                <a:gd name="connsiteY16" fmla="*/ 2343515 h 2885245"/>
                <a:gd name="connsiteX17" fmla="*/ 666524 w 1512167"/>
                <a:gd name="connsiteY17" fmla="*/ 2801567 h 2885245"/>
                <a:gd name="connsiteX18" fmla="*/ 595257 w 1512167"/>
                <a:gd name="connsiteY18" fmla="*/ 2494752 h 2885245"/>
                <a:gd name="connsiteX19" fmla="*/ 535714 w 1512167"/>
                <a:gd name="connsiteY19" fmla="*/ 2776413 h 2885245"/>
                <a:gd name="connsiteX20" fmla="*/ 446903 w 1512167"/>
                <a:gd name="connsiteY20" fmla="*/ 2466860 h 2885245"/>
                <a:gd name="connsiteX21" fmla="*/ 398400 w 1512167"/>
                <a:gd name="connsiteY21" fmla="*/ 2801567 h 2885245"/>
                <a:gd name="connsiteX22" fmla="*/ 316093 w 1512167"/>
                <a:gd name="connsiteY22" fmla="*/ 2636953 h 2885245"/>
                <a:gd name="connsiteX23" fmla="*/ 233786 w 1512167"/>
                <a:gd name="connsiteY23" fmla="*/ 2801567 h 2885245"/>
                <a:gd name="connsiteX24" fmla="*/ 182031 w 1512167"/>
                <a:gd name="connsiteY24" fmla="*/ 2801567 h 2885245"/>
                <a:gd name="connsiteX25" fmla="*/ 99724 w 1512167"/>
                <a:gd name="connsiteY25" fmla="*/ 2636953 h 2885245"/>
                <a:gd name="connsiteX26" fmla="*/ 17417 w 1512167"/>
                <a:gd name="connsiteY26" fmla="*/ 2801567 h 2885245"/>
                <a:gd name="connsiteX27" fmla="*/ 0 w 1512167"/>
                <a:gd name="connsiteY27" fmla="*/ 2801567 h 2885245"/>
                <a:gd name="connsiteX28" fmla="*/ 0 w 1512167"/>
                <a:gd name="connsiteY28" fmla="*/ 0 h 288524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82031 w 1512167"/>
                <a:gd name="connsiteY24" fmla="*/ 2801567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636953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  <a:gd name="connsiteX0" fmla="*/ 0 w 1512167"/>
                <a:gd name="connsiteY0" fmla="*/ 0 h 3136275"/>
                <a:gd name="connsiteX1" fmla="*/ 1512167 w 1512167"/>
                <a:gd name="connsiteY1" fmla="*/ 0 h 3136275"/>
                <a:gd name="connsiteX2" fmla="*/ 1512167 w 1512167"/>
                <a:gd name="connsiteY2" fmla="*/ 2801567 h 3136275"/>
                <a:gd name="connsiteX3" fmla="*/ 1480244 w 1512167"/>
                <a:gd name="connsiteY3" fmla="*/ 2801567 h 3136275"/>
                <a:gd name="connsiteX4" fmla="*/ 1368669 w 1512167"/>
                <a:gd name="connsiteY4" fmla="*/ 1772291 h 3136275"/>
                <a:gd name="connsiteX5" fmla="*/ 1270102 w 1512167"/>
                <a:gd name="connsiteY5" fmla="*/ 2271613 h 3136275"/>
                <a:gd name="connsiteX6" fmla="*/ 1263876 w 1512167"/>
                <a:gd name="connsiteY6" fmla="*/ 2885245 h 3136275"/>
                <a:gd name="connsiteX7" fmla="*/ 1175065 w 1512167"/>
                <a:gd name="connsiteY7" fmla="*/ 2190676 h 3136275"/>
                <a:gd name="connsiteX8" fmla="*/ 1093324 w 1512167"/>
                <a:gd name="connsiteY8" fmla="*/ 2399299 h 3136275"/>
                <a:gd name="connsiteX9" fmla="*/ 1099262 w 1512167"/>
                <a:gd name="connsiteY9" fmla="*/ 2801567 h 3136275"/>
                <a:gd name="connsiteX10" fmla="*/ 1047507 w 1512167"/>
                <a:gd name="connsiteY10" fmla="*/ 2801567 h 3136275"/>
                <a:gd name="connsiteX11" fmla="*/ 948940 w 1512167"/>
                <a:gd name="connsiteY11" fmla="*/ 2106999 h 3136275"/>
                <a:gd name="connsiteX12" fmla="*/ 886145 w 1512167"/>
                <a:gd name="connsiteY12" fmla="*/ 2522646 h 3136275"/>
                <a:gd name="connsiteX13" fmla="*/ 852678 w 1512167"/>
                <a:gd name="connsiteY13" fmla="*/ 2845575 h 3136275"/>
                <a:gd name="connsiteX14" fmla="*/ 831138 w 1512167"/>
                <a:gd name="connsiteY14" fmla="*/ 2801567 h 3136275"/>
                <a:gd name="connsiteX15" fmla="*/ 745579 w 1512167"/>
                <a:gd name="connsiteY15" fmla="*/ 2274351 h 3136275"/>
                <a:gd name="connsiteX16" fmla="*/ 680323 w 1512167"/>
                <a:gd name="connsiteY16" fmla="*/ 2343515 h 3136275"/>
                <a:gd name="connsiteX17" fmla="*/ 666524 w 1512167"/>
                <a:gd name="connsiteY17" fmla="*/ 2801567 h 3136275"/>
                <a:gd name="connsiteX18" fmla="*/ 595257 w 1512167"/>
                <a:gd name="connsiteY18" fmla="*/ 2494752 h 3136275"/>
                <a:gd name="connsiteX19" fmla="*/ 535714 w 1512167"/>
                <a:gd name="connsiteY19" fmla="*/ 2776413 h 3136275"/>
                <a:gd name="connsiteX20" fmla="*/ 446903 w 1512167"/>
                <a:gd name="connsiteY20" fmla="*/ 2466860 h 3136275"/>
                <a:gd name="connsiteX21" fmla="*/ 382140 w 1512167"/>
                <a:gd name="connsiteY21" fmla="*/ 3136275 h 3136275"/>
                <a:gd name="connsiteX22" fmla="*/ 316093 w 1512167"/>
                <a:gd name="connsiteY22" fmla="*/ 2636953 h 3136275"/>
                <a:gd name="connsiteX23" fmla="*/ 233786 w 1512167"/>
                <a:gd name="connsiteY23" fmla="*/ 2801567 h 3136275"/>
                <a:gd name="connsiteX24" fmla="*/ 175527 w 1512167"/>
                <a:gd name="connsiteY24" fmla="*/ 2522644 h 3136275"/>
                <a:gd name="connsiteX25" fmla="*/ 99724 w 1512167"/>
                <a:gd name="connsiteY25" fmla="*/ 2915877 h 3136275"/>
                <a:gd name="connsiteX26" fmla="*/ 17417 w 1512167"/>
                <a:gd name="connsiteY26" fmla="*/ 2801567 h 3136275"/>
                <a:gd name="connsiteX27" fmla="*/ 0 w 1512167"/>
                <a:gd name="connsiteY27" fmla="*/ 2801567 h 3136275"/>
                <a:gd name="connsiteX28" fmla="*/ 0 w 1512167"/>
                <a:gd name="connsiteY28" fmla="*/ 0 h 313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2167" h="3136275">
                  <a:moveTo>
                    <a:pt x="0" y="0"/>
                  </a:moveTo>
                  <a:lnTo>
                    <a:pt x="1512167" y="0"/>
                  </a:lnTo>
                  <a:lnTo>
                    <a:pt x="1512167" y="2801567"/>
                  </a:lnTo>
                  <a:lnTo>
                    <a:pt x="1480244" y="2801567"/>
                  </a:lnTo>
                  <a:lnTo>
                    <a:pt x="1368669" y="1772291"/>
                  </a:lnTo>
                  <a:lnTo>
                    <a:pt x="1270102" y="2271613"/>
                  </a:lnTo>
                  <a:cubicBezTo>
                    <a:pt x="1268027" y="2448264"/>
                    <a:pt x="1265951" y="2708594"/>
                    <a:pt x="1263876" y="2885245"/>
                  </a:cubicBezTo>
                  <a:lnTo>
                    <a:pt x="1175065" y="2190676"/>
                  </a:lnTo>
                  <a:cubicBezTo>
                    <a:pt x="1154322" y="2371786"/>
                    <a:pt x="1114067" y="2218189"/>
                    <a:pt x="1093324" y="2399299"/>
                  </a:cubicBezTo>
                  <a:cubicBezTo>
                    <a:pt x="1095303" y="2533388"/>
                    <a:pt x="1097283" y="2667478"/>
                    <a:pt x="1099262" y="2801567"/>
                  </a:cubicBezTo>
                  <a:lnTo>
                    <a:pt x="1047507" y="2801567"/>
                  </a:lnTo>
                  <a:cubicBezTo>
                    <a:pt x="1007063" y="2244633"/>
                    <a:pt x="976376" y="2161870"/>
                    <a:pt x="948940" y="2106999"/>
                  </a:cubicBezTo>
                  <a:lnTo>
                    <a:pt x="886145" y="2522646"/>
                  </a:lnTo>
                  <a:cubicBezTo>
                    <a:pt x="883661" y="2676777"/>
                    <a:pt x="855162" y="2691444"/>
                    <a:pt x="852678" y="2845575"/>
                  </a:cubicBezTo>
                  <a:lnTo>
                    <a:pt x="831138" y="2801567"/>
                  </a:lnTo>
                  <a:lnTo>
                    <a:pt x="745579" y="2274351"/>
                  </a:lnTo>
                  <a:cubicBezTo>
                    <a:pt x="731415" y="2362488"/>
                    <a:pt x="694487" y="2255378"/>
                    <a:pt x="680323" y="2343515"/>
                  </a:cubicBezTo>
                  <a:lnTo>
                    <a:pt x="666524" y="2801567"/>
                  </a:lnTo>
                  <a:lnTo>
                    <a:pt x="595257" y="2494752"/>
                  </a:lnTo>
                  <a:lnTo>
                    <a:pt x="535714" y="2776413"/>
                  </a:lnTo>
                  <a:lnTo>
                    <a:pt x="446903" y="2466860"/>
                  </a:lnTo>
                  <a:lnTo>
                    <a:pt x="382140" y="3136275"/>
                  </a:lnTo>
                  <a:lnTo>
                    <a:pt x="316093" y="2636953"/>
                  </a:lnTo>
                  <a:lnTo>
                    <a:pt x="233786" y="2801567"/>
                  </a:lnTo>
                  <a:lnTo>
                    <a:pt x="175527" y="2522644"/>
                  </a:lnTo>
                  <a:lnTo>
                    <a:pt x="99724" y="2915877"/>
                  </a:lnTo>
                  <a:lnTo>
                    <a:pt x="17417" y="2801567"/>
                  </a:lnTo>
                  <a:lnTo>
                    <a:pt x="0" y="2801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22" name="Picture 2" descr="气球 礼物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664" y="1275606"/>
            <a:ext cx="4375150" cy="437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egg鸟蛋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92896" y="2283718"/>
            <a:ext cx="2187575" cy="218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1816032" y="2869436"/>
            <a:ext cx="235688" cy="12241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152069" y="2765438"/>
            <a:ext cx="235688" cy="13281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488106" y="2616918"/>
            <a:ext cx="235688" cy="147665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824143" y="2499742"/>
            <a:ext cx="235688" cy="15938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60180" y="2660408"/>
            <a:ext cx="235688" cy="14331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496217" y="2842060"/>
            <a:ext cx="235688" cy="12515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832254" y="2660408"/>
            <a:ext cx="235688" cy="14331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4168291" y="2499742"/>
            <a:ext cx="235688" cy="15938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504328" y="1995686"/>
            <a:ext cx="235688" cy="209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840368" y="2537926"/>
            <a:ext cx="235688" cy="15556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200408" y="3075806"/>
            <a:ext cx="235688" cy="10177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702900" y="3120270"/>
            <a:ext cx="31646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边界消失 融合创新</a:t>
            </a:r>
            <a:endParaRPr lang="en-US" altLang="zh-CN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169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91680" y="341243"/>
            <a:ext cx="43524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第三章  趋势与未来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5340"/>
            <a:ext cx="1957387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475656" y="3003798"/>
            <a:ext cx="61606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工具  →  渠道  →  平台  →  入口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3545505" y="2592130"/>
            <a:ext cx="344043" cy="4320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5246885" y="2592130"/>
            <a:ext cx="344043" cy="4320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948264" y="2592130"/>
            <a:ext cx="344043" cy="4320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3717526" y="1980391"/>
            <a:ext cx="908864" cy="519351"/>
          </a:xfrm>
          <a:prstGeom prst="ellipse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288928" y="1980391"/>
            <a:ext cx="908864" cy="519351"/>
          </a:xfrm>
          <a:prstGeom prst="ellipse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6860330" y="1980391"/>
            <a:ext cx="1558052" cy="519351"/>
          </a:xfrm>
          <a:prstGeom prst="ellipse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信息重组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583667" y="3674104"/>
            <a:ext cx="6156685" cy="504056"/>
          </a:xfrm>
          <a:prstGeom prst="homePlat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互联网进化论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5193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互联网跨界时代的洞察读本 万亿美元商机在这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44016"/>
            <a:ext cx="9070109" cy="487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74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《跨界》书摘三：餐饮O2O的崛起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478"/>
            <a:ext cx="9149152" cy="487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79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</p:spPr>
      </p:pic>
      <p:pic>
        <p:nvPicPr>
          <p:cNvPr id="3" name="Picture 6" descr="http://img35.ddimg.cn/37/28/23576095-1_w_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275606"/>
            <a:ext cx="259228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846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4942" y="807879"/>
            <a:ext cx="5554121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180614" y="213495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1827" y="213495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921485" y="2134953"/>
            <a:ext cx="87479" cy="16276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60165" y="2990044"/>
            <a:ext cx="5554121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094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729"/>
              </a:spcBef>
              <a:spcAft>
                <a:spcPct val="0"/>
              </a:spcAft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1383" y="3227840"/>
            <a:ext cx="5161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860164" y="1718838"/>
            <a:ext cx="1180962" cy="814760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41262" y="1718839"/>
            <a:ext cx="1242029" cy="814763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4" y="2382194"/>
              <a:ext cx="1896183" cy="983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69" cy="429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9742" y="1718838"/>
            <a:ext cx="1180962" cy="814760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65220" y="1718838"/>
            <a:ext cx="1180962" cy="814760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2" y="2382197"/>
              <a:ext cx="1728238" cy="983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69" cy="4292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63206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7359" y="2965399"/>
            <a:ext cx="5569308" cy="985838"/>
            <a:chOff x="0" y="3359571"/>
            <a:chExt cx="9169004" cy="1623030"/>
          </a:xfrm>
        </p:grpSpPr>
        <p:sp>
          <p:nvSpPr>
            <p:cNvPr id="5" name="矩形 4"/>
            <p:cNvSpPr/>
            <p:nvPr/>
          </p:nvSpPr>
          <p:spPr>
            <a:xfrm>
              <a:off x="1245141" y="3973770"/>
              <a:ext cx="4572003" cy="58313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851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4" y="3613174"/>
              <a:ext cx="594123" cy="613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4"/>
              <a:ext cx="3618730" cy="966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60777" y="4188246"/>
              <a:ext cx="1961457" cy="475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40" cy="799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5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54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93836" cy="383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54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913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526456" y="1040366"/>
            <a:ext cx="4111118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175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823"/>
              </a:spcBef>
              <a:spcAft>
                <a:spcPct val="0"/>
              </a:spcAft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437584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691</Words>
  <Application>Microsoft Office PowerPoint</Application>
  <PresentationFormat>全屏显示(16:9)</PresentationFormat>
  <Paragraphs>140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HanWangGSolid06cut1</vt:lpstr>
      <vt:lpstr>方正风雅宋简体</vt:lpstr>
      <vt:lpstr>方正正黑简体</vt:lpstr>
      <vt:lpstr>方正正中黑简体</vt:lpstr>
      <vt:lpstr>华文细黑</vt:lpstr>
      <vt:lpstr>宋体</vt:lpstr>
      <vt:lpstr>微软雅黑</vt:lpstr>
      <vt:lpstr>文鼎习字体</vt:lpstr>
      <vt:lpstr>Arial</vt:lpstr>
      <vt:lpstr>Calibri</vt:lpstr>
      <vt:lpstr>Calibri Light</vt:lpstr>
      <vt:lpstr>Office 主题​​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小巴</cp:lastModifiedBy>
  <cp:revision>28</cp:revision>
  <dcterms:created xsi:type="dcterms:W3CDTF">2014-11-11T20:14:06Z</dcterms:created>
  <dcterms:modified xsi:type="dcterms:W3CDTF">2014-11-26T13:06:31Z</dcterms:modified>
</cp:coreProperties>
</file>