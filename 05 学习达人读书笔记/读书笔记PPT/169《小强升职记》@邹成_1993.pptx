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3" r:id="rId2"/>
  </p:sldMasterIdLst>
  <p:sldIdLst>
    <p:sldId id="256" r:id="rId3"/>
    <p:sldId id="257" r:id="rId4"/>
    <p:sldId id="300" r:id="rId5"/>
    <p:sldId id="313" r:id="rId6"/>
    <p:sldId id="311" r:id="rId7"/>
    <p:sldId id="260" r:id="rId8"/>
    <p:sldId id="301" r:id="rId9"/>
    <p:sldId id="261" r:id="rId10"/>
    <p:sldId id="264" r:id="rId11"/>
    <p:sldId id="263" r:id="rId12"/>
    <p:sldId id="266" r:id="rId13"/>
    <p:sldId id="267" r:id="rId14"/>
    <p:sldId id="269" r:id="rId15"/>
    <p:sldId id="303" r:id="rId16"/>
    <p:sldId id="304" r:id="rId17"/>
    <p:sldId id="305" r:id="rId18"/>
    <p:sldId id="306" r:id="rId19"/>
    <p:sldId id="307" r:id="rId20"/>
    <p:sldId id="276" r:id="rId21"/>
    <p:sldId id="308" r:id="rId22"/>
    <p:sldId id="295" r:id="rId23"/>
    <p:sldId id="279" r:id="rId24"/>
    <p:sldId id="280" r:id="rId25"/>
    <p:sldId id="309" r:id="rId26"/>
    <p:sldId id="282" r:id="rId27"/>
    <p:sldId id="283" r:id="rId28"/>
    <p:sldId id="284" r:id="rId29"/>
    <p:sldId id="302" r:id="rId30"/>
    <p:sldId id="286" r:id="rId31"/>
    <p:sldId id="294" r:id="rId32"/>
    <p:sldId id="310" r:id="rId33"/>
    <p:sldId id="314" r:id="rId34"/>
    <p:sldId id="315" r:id="rId35"/>
  </p:sldIdLst>
  <p:sldSz cx="12192000" cy="6858000"/>
  <p:notesSz cx="6858000" cy="9144000"/>
  <p:embeddedFontLst>
    <p:embeddedFont>
      <p:font typeface="Arial Unicode MS" panose="020B0604020202020204" pitchFamily="34" charset="-122"/>
      <p:regular r:id="rId36"/>
    </p:embeddedFont>
    <p:embeddedFont>
      <p:font typeface="华康俪金黑W8" panose="020B0809000000000000" pitchFamily="49" charset="-122"/>
      <p:regular r:id="rId37"/>
    </p:embeddedFont>
    <p:embeddedFont>
      <p:font typeface="方正粗宋繁体" panose="02010600030101010101" charset="-122"/>
      <p:regular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方正正中黑简体" panose="02000000000000000000" pitchFamily="2" charset="-122"/>
      <p:regular r:id="rId43"/>
    </p:embeddedFont>
    <p:embeddedFont>
      <p:font typeface="微软雅黑" panose="020B0503020204020204" pitchFamily="34" charset="-122"/>
      <p:regular r:id="rId44"/>
      <p:bold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方正正黑简体" panose="02000000000000000000" pitchFamily="2" charset="-122"/>
      <p:regular r:id="rId4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2" pos="6176" userDrawn="1">
          <p15:clr>
            <a:srgbClr val="A4A3A4"/>
          </p15:clr>
        </p15:guide>
        <p15:guide id="3" pos="574" userDrawn="1">
          <p15:clr>
            <a:srgbClr val="A4A3A4"/>
          </p15:clr>
        </p15:guide>
        <p15:guide id="4" orient="horz" pos="3067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2683" userDrawn="1">
          <p15:clr>
            <a:srgbClr val="A4A3A4"/>
          </p15:clr>
        </p15:guide>
        <p15:guide id="7" orient="horz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242C"/>
    <a:srgbClr val="FFE699"/>
    <a:srgbClr val="3B342D"/>
    <a:srgbClr val="F4B61E"/>
    <a:srgbClr val="DDD421"/>
    <a:srgbClr val="F4B618"/>
    <a:srgbClr val="FAB80A"/>
    <a:srgbClr val="F8C73F"/>
    <a:srgbClr val="6D090E"/>
    <a:srgbClr val="FF3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5" autoAdjust="0"/>
    <p:restoredTop sz="94424" autoAdjust="0"/>
  </p:normalViewPr>
  <p:slideViewPr>
    <p:cSldViewPr snapToGrid="0" showGuides="1">
      <p:cViewPr varScale="1">
        <p:scale>
          <a:sx n="70" d="100"/>
          <a:sy n="70" d="100"/>
        </p:scale>
        <p:origin x="768" y="66"/>
      </p:cViewPr>
      <p:guideLst>
        <p:guide orient="horz" pos="4088"/>
        <p:guide pos="6176"/>
        <p:guide pos="574"/>
        <p:guide orient="horz" pos="3067"/>
        <p:guide pos="3840"/>
        <p:guide pos="2683"/>
        <p:guide orient="horz" pos="38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1D6B3D-4B48-4D4D-92D9-CBCF8D1418E9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605C138-FB61-4E63-A29C-B24D42CB62D2}">
      <dgm:prSet custT="1"/>
      <dgm:spPr/>
      <dgm:t>
        <a:bodyPr/>
        <a:lstStyle/>
        <a:p>
          <a:pPr rtl="0"/>
          <a:r>
            <a: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下一步行动</a:t>
          </a:r>
          <a:endParaRPr lang="zh-CN" altLang="en-US" sz="2000" dirty="0">
            <a:solidFill>
              <a:schemeClr val="tx1">
                <a:lumMod val="85000"/>
                <a:lumOff val="1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6FC2E0-F07B-4287-85AA-2FC9FF38073F}" type="sibTrans" cxnId="{143EA2A2-8251-444F-B194-6E74F188E7C5}">
      <dgm:prSet/>
      <dgm:spPr/>
      <dgm:t>
        <a:bodyPr/>
        <a:lstStyle/>
        <a:p>
          <a:endParaRPr lang="zh-CN" altLang="en-US"/>
        </a:p>
      </dgm:t>
    </dgm:pt>
    <dgm:pt modelId="{AC45DE2C-8FF3-467A-83C7-D55B1521D1CE}" type="parTrans" cxnId="{143EA2A2-8251-444F-B194-6E74F188E7C5}">
      <dgm:prSet/>
      <dgm:spPr/>
      <dgm:t>
        <a:bodyPr/>
        <a:lstStyle/>
        <a:p>
          <a:endParaRPr lang="zh-CN" altLang="en-US"/>
        </a:p>
      </dgm:t>
    </dgm:pt>
    <dgm:pt modelId="{6170C9C7-0275-49BF-8B18-14CFC909F8F6}">
      <dgm:prSet custT="1"/>
      <dgm:spPr/>
      <dgm:t>
        <a:bodyPr/>
        <a:lstStyle/>
        <a:p>
          <a:pPr rtl="0"/>
          <a:r>
            <a: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原则</a:t>
          </a:r>
          <a:endParaRPr lang="zh-CN" altLang="en-US" sz="2000" dirty="0">
            <a:solidFill>
              <a:schemeClr val="tx1">
                <a:lumMod val="85000"/>
                <a:lumOff val="1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051C306-9A8F-4B42-9419-6128EF4D70F2}" type="parTrans" cxnId="{95DC16B5-7028-4354-AE72-265C0DD3D016}">
      <dgm:prSet/>
      <dgm:spPr/>
      <dgm:t>
        <a:bodyPr/>
        <a:lstStyle/>
        <a:p>
          <a:endParaRPr lang="zh-CN" altLang="en-US"/>
        </a:p>
      </dgm:t>
    </dgm:pt>
    <dgm:pt modelId="{9F2F251B-A833-453D-B62A-5D0F58EA1D25}" type="sibTrans" cxnId="{95DC16B5-7028-4354-AE72-265C0DD3D016}">
      <dgm:prSet/>
      <dgm:spPr/>
      <dgm:t>
        <a:bodyPr/>
        <a:lstStyle/>
        <a:p>
          <a:endParaRPr lang="zh-CN" altLang="en-US"/>
        </a:p>
      </dgm:t>
    </dgm:pt>
    <dgm:pt modelId="{0C97F78D-7479-4265-8F74-8D486382CC94}">
      <dgm:prSet custT="1"/>
      <dgm:spPr/>
      <dgm:t>
        <a:bodyPr/>
        <a:lstStyle/>
        <a:p>
          <a:pPr rtl="0"/>
          <a:r>
            <a: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愿景</a:t>
          </a:r>
          <a:endParaRPr lang="zh-CN" altLang="en-US" sz="2000" dirty="0">
            <a:solidFill>
              <a:schemeClr val="tx1">
                <a:lumMod val="85000"/>
                <a:lumOff val="1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5D0F475-3E0A-46F2-A3DA-3C9EACBEF493}" type="parTrans" cxnId="{4F3BB525-FDB1-4012-9DDB-0E88526C0CFB}">
      <dgm:prSet/>
      <dgm:spPr/>
      <dgm:t>
        <a:bodyPr/>
        <a:lstStyle/>
        <a:p>
          <a:endParaRPr lang="zh-CN" altLang="en-US"/>
        </a:p>
      </dgm:t>
    </dgm:pt>
    <dgm:pt modelId="{7C46B9D4-CFF7-4889-821F-E4F6AF5528DC}" type="sibTrans" cxnId="{4F3BB525-FDB1-4012-9DDB-0E88526C0CFB}">
      <dgm:prSet/>
      <dgm:spPr/>
      <dgm:t>
        <a:bodyPr/>
        <a:lstStyle/>
        <a:p>
          <a:endParaRPr lang="zh-CN" altLang="en-US"/>
        </a:p>
      </dgm:t>
    </dgm:pt>
    <dgm:pt modelId="{2DD9AEB7-B755-4E8B-8122-78CF14B43907}">
      <dgm:prSet custT="1"/>
      <dgm:spPr/>
      <dgm:t>
        <a:bodyPr/>
        <a:lstStyle/>
        <a:p>
          <a:pPr rtl="0"/>
          <a:r>
            <a: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目标</a:t>
          </a:r>
          <a:endParaRPr lang="zh-CN" altLang="en-US" sz="2000" dirty="0">
            <a:solidFill>
              <a:schemeClr val="tx1">
                <a:lumMod val="85000"/>
                <a:lumOff val="1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22582A-8B28-43CE-A6BD-00C7284C3422}" type="parTrans" cxnId="{93F64119-A8C8-496A-88F2-C24D02D2C61F}">
      <dgm:prSet/>
      <dgm:spPr/>
      <dgm:t>
        <a:bodyPr/>
        <a:lstStyle/>
        <a:p>
          <a:endParaRPr lang="zh-CN" altLang="en-US"/>
        </a:p>
      </dgm:t>
    </dgm:pt>
    <dgm:pt modelId="{C272D62D-631C-46D9-BF6A-5A861982DDF9}" type="sibTrans" cxnId="{93F64119-A8C8-496A-88F2-C24D02D2C61F}">
      <dgm:prSet/>
      <dgm:spPr/>
      <dgm:t>
        <a:bodyPr/>
        <a:lstStyle/>
        <a:p>
          <a:endParaRPr lang="zh-CN" altLang="en-US"/>
        </a:p>
      </dgm:t>
    </dgm:pt>
    <dgm:pt modelId="{D0DB5EC7-F644-4C96-9CB4-94B2B9A20D7B}">
      <dgm:prSet custT="1"/>
      <dgm:spPr/>
      <dgm:t>
        <a:bodyPr/>
        <a:lstStyle/>
        <a:p>
          <a:pPr rtl="0"/>
          <a:r>
            <a: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任务</a:t>
          </a:r>
          <a:endParaRPr lang="zh-CN" altLang="en-US" sz="2000" dirty="0">
            <a:solidFill>
              <a:schemeClr val="tx1">
                <a:lumMod val="85000"/>
                <a:lumOff val="1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F565A4-0CE8-4460-BCED-F01FEBEA72D7}" type="parTrans" cxnId="{37737656-E9C2-4716-9EE2-30112335E3F0}">
      <dgm:prSet/>
      <dgm:spPr/>
      <dgm:t>
        <a:bodyPr/>
        <a:lstStyle/>
        <a:p>
          <a:endParaRPr lang="zh-CN" altLang="en-US"/>
        </a:p>
      </dgm:t>
    </dgm:pt>
    <dgm:pt modelId="{E4FA4093-4866-4107-9F94-CAB3944D745C}" type="sibTrans" cxnId="{37737656-E9C2-4716-9EE2-30112335E3F0}">
      <dgm:prSet/>
      <dgm:spPr/>
      <dgm:t>
        <a:bodyPr/>
        <a:lstStyle/>
        <a:p>
          <a:endParaRPr lang="zh-CN" altLang="en-US"/>
        </a:p>
      </dgm:t>
    </dgm:pt>
    <dgm:pt modelId="{366D9623-FE3B-494E-AAB7-5A54E08B0D1B}">
      <dgm:prSet custT="1"/>
      <dgm:spPr/>
      <dgm:t>
        <a:bodyPr/>
        <a:lstStyle/>
        <a:p>
          <a:pPr rtl="0"/>
          <a:r>
            <a:rPr lang="zh-CN" altLang="en-US" sz="20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责任范围</a:t>
          </a:r>
          <a:endParaRPr lang="zh-CN" altLang="en-US" sz="2000" dirty="0">
            <a:solidFill>
              <a:schemeClr val="tx1">
                <a:lumMod val="85000"/>
                <a:lumOff val="1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B92C9E-3ED4-47F2-9238-7A2F208A988E}" type="parTrans" cxnId="{1B47A1CF-0FDD-40B4-976D-035CE40E335E}">
      <dgm:prSet/>
      <dgm:spPr/>
      <dgm:t>
        <a:bodyPr/>
        <a:lstStyle/>
        <a:p>
          <a:endParaRPr lang="zh-CN" altLang="en-US"/>
        </a:p>
      </dgm:t>
    </dgm:pt>
    <dgm:pt modelId="{CA3FF0FF-5F39-4E34-9855-B5B8CE4C4720}" type="sibTrans" cxnId="{1B47A1CF-0FDD-40B4-976D-035CE40E335E}">
      <dgm:prSet/>
      <dgm:spPr/>
      <dgm:t>
        <a:bodyPr/>
        <a:lstStyle/>
        <a:p>
          <a:endParaRPr lang="zh-CN" altLang="en-US"/>
        </a:p>
      </dgm:t>
    </dgm:pt>
    <dgm:pt modelId="{7FBDA57B-A392-4839-8D88-693DA5AB36CB}" type="pres">
      <dgm:prSet presAssocID="{771D6B3D-4B48-4D4D-92D9-CBCF8D1418E9}" presName="rootnode" presStyleCnt="0">
        <dgm:presLayoutVars>
          <dgm:chMax/>
          <dgm:chPref/>
          <dgm:dir val="rev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852983F2-D156-4B31-930F-1F3CCB0BC8C3}" type="pres">
      <dgm:prSet presAssocID="{2605C138-FB61-4E63-A29C-B24D42CB62D2}" presName="composite" presStyleCnt="0"/>
      <dgm:spPr/>
    </dgm:pt>
    <dgm:pt modelId="{9515425D-BD67-47B5-B963-4A9D83267533}" type="pres">
      <dgm:prSet presAssocID="{2605C138-FB61-4E63-A29C-B24D42CB62D2}" presName="LShape" presStyleLbl="alignNode1" presStyleIdx="0" presStyleCnt="11"/>
      <dgm:spPr>
        <a:solidFill>
          <a:srgbClr val="ED242C"/>
        </a:solidFill>
        <a:ln>
          <a:noFill/>
        </a:ln>
      </dgm:spPr>
    </dgm:pt>
    <dgm:pt modelId="{DA8D80C8-B538-410B-B020-B4C013266B52}" type="pres">
      <dgm:prSet presAssocID="{2605C138-FB61-4E63-A29C-B24D42CB62D2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C72B4C1-109A-42B3-903B-4D50ACF96D73}" type="pres">
      <dgm:prSet presAssocID="{2605C138-FB61-4E63-A29C-B24D42CB62D2}" presName="Triangle" presStyleLbl="alignNode1" presStyleIdx="1" presStyleCnt="11"/>
      <dgm:spPr>
        <a:solidFill>
          <a:srgbClr val="ED242C"/>
        </a:solidFill>
        <a:ln>
          <a:noFill/>
        </a:ln>
      </dgm:spPr>
    </dgm:pt>
    <dgm:pt modelId="{F523DD18-75EB-4C68-A4C2-0F9646E52527}" type="pres">
      <dgm:prSet presAssocID="{C26FC2E0-F07B-4287-85AA-2FC9FF38073F}" presName="sibTrans" presStyleCnt="0"/>
      <dgm:spPr/>
    </dgm:pt>
    <dgm:pt modelId="{FBD8F491-A8EF-43EF-BA3D-1DF6B1BA8B66}" type="pres">
      <dgm:prSet presAssocID="{C26FC2E0-F07B-4287-85AA-2FC9FF38073F}" presName="space" presStyleCnt="0"/>
      <dgm:spPr/>
    </dgm:pt>
    <dgm:pt modelId="{159747F0-2129-42F4-A2D3-DDA55F12EDFD}" type="pres">
      <dgm:prSet presAssocID="{D0DB5EC7-F644-4C96-9CB4-94B2B9A20D7B}" presName="composite" presStyleCnt="0"/>
      <dgm:spPr/>
    </dgm:pt>
    <dgm:pt modelId="{F8DE8852-1271-4C55-9376-696EB69EA956}" type="pres">
      <dgm:prSet presAssocID="{D0DB5EC7-F644-4C96-9CB4-94B2B9A20D7B}" presName="LShape" presStyleLbl="alignNode1" presStyleIdx="2" presStyleCnt="11"/>
      <dgm:spPr>
        <a:solidFill>
          <a:srgbClr val="ED242C"/>
        </a:solidFill>
        <a:ln>
          <a:noFill/>
        </a:ln>
      </dgm:spPr>
    </dgm:pt>
    <dgm:pt modelId="{3D965FF9-072C-406B-B1FE-A72FBF63881C}" type="pres">
      <dgm:prSet presAssocID="{D0DB5EC7-F644-4C96-9CB4-94B2B9A20D7B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8817512-7FD0-4842-858D-BCDC6B699C5B}" type="pres">
      <dgm:prSet presAssocID="{D0DB5EC7-F644-4C96-9CB4-94B2B9A20D7B}" presName="Triangle" presStyleLbl="alignNode1" presStyleIdx="3" presStyleCnt="11"/>
      <dgm:spPr>
        <a:solidFill>
          <a:srgbClr val="ED242C"/>
        </a:solidFill>
        <a:ln>
          <a:noFill/>
        </a:ln>
      </dgm:spPr>
    </dgm:pt>
    <dgm:pt modelId="{F5C848BE-83CD-4059-A0D6-BA635ED1E811}" type="pres">
      <dgm:prSet presAssocID="{E4FA4093-4866-4107-9F94-CAB3944D745C}" presName="sibTrans" presStyleCnt="0"/>
      <dgm:spPr/>
    </dgm:pt>
    <dgm:pt modelId="{06A2F3DA-AF17-445E-A056-08E956F21C2F}" type="pres">
      <dgm:prSet presAssocID="{E4FA4093-4866-4107-9F94-CAB3944D745C}" presName="space" presStyleCnt="0"/>
      <dgm:spPr/>
    </dgm:pt>
    <dgm:pt modelId="{BC870390-B9C1-4455-8EF3-7088CE77FB39}" type="pres">
      <dgm:prSet presAssocID="{366D9623-FE3B-494E-AAB7-5A54E08B0D1B}" presName="composite" presStyleCnt="0"/>
      <dgm:spPr/>
    </dgm:pt>
    <dgm:pt modelId="{1A623F7C-1D00-4E50-92F7-5641334F5BB8}" type="pres">
      <dgm:prSet presAssocID="{366D9623-FE3B-494E-AAB7-5A54E08B0D1B}" presName="LShape" presStyleLbl="alignNode1" presStyleIdx="4" presStyleCnt="11"/>
      <dgm:spPr>
        <a:solidFill>
          <a:srgbClr val="ED242C"/>
        </a:solidFill>
        <a:ln>
          <a:noFill/>
        </a:ln>
      </dgm:spPr>
    </dgm:pt>
    <dgm:pt modelId="{91B1AF16-DB63-4C18-8014-C02A67ECE0C1}" type="pres">
      <dgm:prSet presAssocID="{366D9623-FE3B-494E-AAB7-5A54E08B0D1B}" presName="ParentText" presStyleLbl="revTx" presStyleIdx="2" presStyleCnt="6" custScaleX="129657" custLinFactNeighborX="3454" custLinFactNeighborY="52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41804D1-7046-4874-B408-708F3811EE01}" type="pres">
      <dgm:prSet presAssocID="{366D9623-FE3B-494E-AAB7-5A54E08B0D1B}" presName="Triangle" presStyleLbl="alignNode1" presStyleIdx="5" presStyleCnt="11"/>
      <dgm:spPr>
        <a:solidFill>
          <a:srgbClr val="ED242C"/>
        </a:solidFill>
        <a:ln>
          <a:noFill/>
        </a:ln>
      </dgm:spPr>
    </dgm:pt>
    <dgm:pt modelId="{2DFF0A8B-4C48-48B1-9903-C76CF0438783}" type="pres">
      <dgm:prSet presAssocID="{CA3FF0FF-5F39-4E34-9855-B5B8CE4C4720}" presName="sibTrans" presStyleCnt="0"/>
      <dgm:spPr/>
    </dgm:pt>
    <dgm:pt modelId="{99B8656C-CE87-4CD8-B590-D4C2A1E85D46}" type="pres">
      <dgm:prSet presAssocID="{CA3FF0FF-5F39-4E34-9855-B5B8CE4C4720}" presName="space" presStyleCnt="0"/>
      <dgm:spPr/>
    </dgm:pt>
    <dgm:pt modelId="{36776B86-B204-4066-837B-FCD1F7B2E15F}" type="pres">
      <dgm:prSet presAssocID="{2DD9AEB7-B755-4E8B-8122-78CF14B43907}" presName="composite" presStyleCnt="0"/>
      <dgm:spPr/>
    </dgm:pt>
    <dgm:pt modelId="{8274B3A3-0F07-42DF-9F91-0B4E681F6E8B}" type="pres">
      <dgm:prSet presAssocID="{2DD9AEB7-B755-4E8B-8122-78CF14B43907}" presName="LShape" presStyleLbl="alignNode1" presStyleIdx="6" presStyleCnt="11"/>
      <dgm:spPr>
        <a:solidFill>
          <a:srgbClr val="ED242C"/>
        </a:solidFill>
        <a:ln>
          <a:noFill/>
        </a:ln>
      </dgm:spPr>
    </dgm:pt>
    <dgm:pt modelId="{7CE9A672-B412-419B-85EB-545A5A17FA9B}" type="pres">
      <dgm:prSet presAssocID="{2DD9AEB7-B755-4E8B-8122-78CF14B43907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692889-6E07-4B98-AEFB-405D8687D50F}" type="pres">
      <dgm:prSet presAssocID="{2DD9AEB7-B755-4E8B-8122-78CF14B43907}" presName="Triangle" presStyleLbl="alignNode1" presStyleIdx="7" presStyleCnt="11"/>
      <dgm:spPr>
        <a:solidFill>
          <a:srgbClr val="ED242C"/>
        </a:solidFill>
        <a:ln>
          <a:noFill/>
        </a:ln>
      </dgm:spPr>
    </dgm:pt>
    <dgm:pt modelId="{01FB6A05-E48E-4F6E-8A22-919CB9098BB6}" type="pres">
      <dgm:prSet presAssocID="{C272D62D-631C-46D9-BF6A-5A861982DDF9}" presName="sibTrans" presStyleCnt="0"/>
      <dgm:spPr/>
    </dgm:pt>
    <dgm:pt modelId="{2DD67A64-C683-49D9-AE79-A5996B540626}" type="pres">
      <dgm:prSet presAssocID="{C272D62D-631C-46D9-BF6A-5A861982DDF9}" presName="space" presStyleCnt="0"/>
      <dgm:spPr/>
    </dgm:pt>
    <dgm:pt modelId="{A8DD8374-E113-474D-87B1-A329680B00E6}" type="pres">
      <dgm:prSet presAssocID="{0C97F78D-7479-4265-8F74-8D486382CC94}" presName="composite" presStyleCnt="0"/>
      <dgm:spPr/>
    </dgm:pt>
    <dgm:pt modelId="{438DF170-0333-4A1C-9720-B38F7C6D897B}" type="pres">
      <dgm:prSet presAssocID="{0C97F78D-7479-4265-8F74-8D486382CC94}" presName="LShape" presStyleLbl="alignNode1" presStyleIdx="8" presStyleCnt="11"/>
      <dgm:spPr>
        <a:solidFill>
          <a:srgbClr val="ED242C"/>
        </a:solidFill>
        <a:ln>
          <a:noFill/>
        </a:ln>
      </dgm:spPr>
    </dgm:pt>
    <dgm:pt modelId="{D17FF870-9A01-463A-8FF9-AE1F38DBE6E5}" type="pres">
      <dgm:prSet presAssocID="{0C97F78D-7479-4265-8F74-8D486382CC94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199F4A-26D7-454E-82FC-4364939B63E0}" type="pres">
      <dgm:prSet presAssocID="{0C97F78D-7479-4265-8F74-8D486382CC94}" presName="Triangle" presStyleLbl="alignNode1" presStyleIdx="9" presStyleCnt="11"/>
      <dgm:spPr>
        <a:solidFill>
          <a:srgbClr val="ED242C"/>
        </a:solidFill>
        <a:ln>
          <a:noFill/>
        </a:ln>
      </dgm:spPr>
    </dgm:pt>
    <dgm:pt modelId="{6BC43EEE-373D-4B84-8AA0-E5A7E94E44D3}" type="pres">
      <dgm:prSet presAssocID="{7C46B9D4-CFF7-4889-821F-E4F6AF5528DC}" presName="sibTrans" presStyleCnt="0"/>
      <dgm:spPr/>
    </dgm:pt>
    <dgm:pt modelId="{47285B03-B8D1-4F09-92D6-BE96A6768657}" type="pres">
      <dgm:prSet presAssocID="{7C46B9D4-CFF7-4889-821F-E4F6AF5528DC}" presName="space" presStyleCnt="0"/>
      <dgm:spPr/>
    </dgm:pt>
    <dgm:pt modelId="{25ABC72B-DA53-42B0-9654-B8AD249B22BA}" type="pres">
      <dgm:prSet presAssocID="{6170C9C7-0275-49BF-8B18-14CFC909F8F6}" presName="composite" presStyleCnt="0"/>
      <dgm:spPr/>
    </dgm:pt>
    <dgm:pt modelId="{6CCCEAD3-FC2E-41E7-B834-6CA73E956560}" type="pres">
      <dgm:prSet presAssocID="{6170C9C7-0275-49BF-8B18-14CFC909F8F6}" presName="LShape" presStyleLbl="alignNode1" presStyleIdx="10" presStyleCnt="11"/>
      <dgm:spPr>
        <a:solidFill>
          <a:srgbClr val="ED242C"/>
        </a:solidFill>
        <a:ln>
          <a:noFill/>
        </a:ln>
      </dgm:spPr>
    </dgm:pt>
    <dgm:pt modelId="{B3DC03B2-B315-4ACB-A829-AD0A5A634BCA}" type="pres">
      <dgm:prSet presAssocID="{6170C9C7-0275-49BF-8B18-14CFC909F8F6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F3BB525-FDB1-4012-9DDB-0E88526C0CFB}" srcId="{771D6B3D-4B48-4D4D-92D9-CBCF8D1418E9}" destId="{0C97F78D-7479-4265-8F74-8D486382CC94}" srcOrd="4" destOrd="0" parTransId="{B5D0F475-3E0A-46F2-A3DA-3C9EACBEF493}" sibTransId="{7C46B9D4-CFF7-4889-821F-E4F6AF5528DC}"/>
    <dgm:cxn modelId="{93F64119-A8C8-496A-88F2-C24D02D2C61F}" srcId="{771D6B3D-4B48-4D4D-92D9-CBCF8D1418E9}" destId="{2DD9AEB7-B755-4E8B-8122-78CF14B43907}" srcOrd="3" destOrd="0" parTransId="{E622582A-8B28-43CE-A6BD-00C7284C3422}" sibTransId="{C272D62D-631C-46D9-BF6A-5A861982DDF9}"/>
    <dgm:cxn modelId="{143EA2A2-8251-444F-B194-6E74F188E7C5}" srcId="{771D6B3D-4B48-4D4D-92D9-CBCF8D1418E9}" destId="{2605C138-FB61-4E63-A29C-B24D42CB62D2}" srcOrd="0" destOrd="0" parTransId="{AC45DE2C-8FF3-467A-83C7-D55B1521D1CE}" sibTransId="{C26FC2E0-F07B-4287-85AA-2FC9FF38073F}"/>
    <dgm:cxn modelId="{AEB462E8-4BBC-4E4E-BF32-38FFF5F916BD}" type="presOf" srcId="{366D9623-FE3B-494E-AAB7-5A54E08B0D1B}" destId="{91B1AF16-DB63-4C18-8014-C02A67ECE0C1}" srcOrd="0" destOrd="0" presId="urn:microsoft.com/office/officeart/2009/3/layout/StepUpProcess"/>
    <dgm:cxn modelId="{663487DD-FA95-47AD-873C-82E06191489D}" type="presOf" srcId="{D0DB5EC7-F644-4C96-9CB4-94B2B9A20D7B}" destId="{3D965FF9-072C-406B-B1FE-A72FBF63881C}" srcOrd="0" destOrd="0" presId="urn:microsoft.com/office/officeart/2009/3/layout/StepUpProcess"/>
    <dgm:cxn modelId="{37737656-E9C2-4716-9EE2-30112335E3F0}" srcId="{771D6B3D-4B48-4D4D-92D9-CBCF8D1418E9}" destId="{D0DB5EC7-F644-4C96-9CB4-94B2B9A20D7B}" srcOrd="1" destOrd="0" parTransId="{79F565A4-0CE8-4460-BCED-F01FEBEA72D7}" sibTransId="{E4FA4093-4866-4107-9F94-CAB3944D745C}"/>
    <dgm:cxn modelId="{7499EC17-162F-46AD-B456-5398736FBADC}" type="presOf" srcId="{771D6B3D-4B48-4D4D-92D9-CBCF8D1418E9}" destId="{7FBDA57B-A392-4839-8D88-693DA5AB36CB}" srcOrd="0" destOrd="0" presId="urn:microsoft.com/office/officeart/2009/3/layout/StepUpProcess"/>
    <dgm:cxn modelId="{1B47A1CF-0FDD-40B4-976D-035CE40E335E}" srcId="{771D6B3D-4B48-4D4D-92D9-CBCF8D1418E9}" destId="{366D9623-FE3B-494E-AAB7-5A54E08B0D1B}" srcOrd="2" destOrd="0" parTransId="{98B92C9E-3ED4-47F2-9238-7A2F208A988E}" sibTransId="{CA3FF0FF-5F39-4E34-9855-B5B8CE4C4720}"/>
    <dgm:cxn modelId="{8022D1D3-CC00-4FD3-B0EE-5362B5BEBCF0}" type="presOf" srcId="{6170C9C7-0275-49BF-8B18-14CFC909F8F6}" destId="{B3DC03B2-B315-4ACB-A829-AD0A5A634BCA}" srcOrd="0" destOrd="0" presId="urn:microsoft.com/office/officeart/2009/3/layout/StepUpProcess"/>
    <dgm:cxn modelId="{63A514C2-43CC-4E24-B327-941563DD5FB9}" type="presOf" srcId="{2605C138-FB61-4E63-A29C-B24D42CB62D2}" destId="{DA8D80C8-B538-410B-B020-B4C013266B52}" srcOrd="0" destOrd="0" presId="urn:microsoft.com/office/officeart/2009/3/layout/StepUpProcess"/>
    <dgm:cxn modelId="{E39D5552-E3D3-4D9B-A8CC-E649F664EDE7}" type="presOf" srcId="{2DD9AEB7-B755-4E8B-8122-78CF14B43907}" destId="{7CE9A672-B412-419B-85EB-545A5A17FA9B}" srcOrd="0" destOrd="0" presId="urn:microsoft.com/office/officeart/2009/3/layout/StepUpProcess"/>
    <dgm:cxn modelId="{AB7E88EF-52CE-42A0-A429-AD9B65C546CB}" type="presOf" srcId="{0C97F78D-7479-4265-8F74-8D486382CC94}" destId="{D17FF870-9A01-463A-8FF9-AE1F38DBE6E5}" srcOrd="0" destOrd="0" presId="urn:microsoft.com/office/officeart/2009/3/layout/StepUpProcess"/>
    <dgm:cxn modelId="{95DC16B5-7028-4354-AE72-265C0DD3D016}" srcId="{771D6B3D-4B48-4D4D-92D9-CBCF8D1418E9}" destId="{6170C9C7-0275-49BF-8B18-14CFC909F8F6}" srcOrd="5" destOrd="0" parTransId="{E051C306-9A8F-4B42-9419-6128EF4D70F2}" sibTransId="{9F2F251B-A833-453D-B62A-5D0F58EA1D25}"/>
    <dgm:cxn modelId="{4EDC5C61-D8C6-4E77-BC5A-84B7BEF4B06E}" type="presParOf" srcId="{7FBDA57B-A392-4839-8D88-693DA5AB36CB}" destId="{852983F2-D156-4B31-930F-1F3CCB0BC8C3}" srcOrd="0" destOrd="0" presId="urn:microsoft.com/office/officeart/2009/3/layout/StepUpProcess"/>
    <dgm:cxn modelId="{2E1B34FF-EBED-4E68-91A7-DA20819DD0B0}" type="presParOf" srcId="{852983F2-D156-4B31-930F-1F3CCB0BC8C3}" destId="{9515425D-BD67-47B5-B963-4A9D83267533}" srcOrd="0" destOrd="0" presId="urn:microsoft.com/office/officeart/2009/3/layout/StepUpProcess"/>
    <dgm:cxn modelId="{12AA5B71-AD5A-4649-AD13-22B1D7491CE5}" type="presParOf" srcId="{852983F2-D156-4B31-930F-1F3CCB0BC8C3}" destId="{DA8D80C8-B538-410B-B020-B4C013266B52}" srcOrd="1" destOrd="0" presId="urn:microsoft.com/office/officeart/2009/3/layout/StepUpProcess"/>
    <dgm:cxn modelId="{FD185231-B409-423A-BD83-60AA1F2C08FA}" type="presParOf" srcId="{852983F2-D156-4B31-930F-1F3CCB0BC8C3}" destId="{3C72B4C1-109A-42B3-903B-4D50ACF96D73}" srcOrd="2" destOrd="0" presId="urn:microsoft.com/office/officeart/2009/3/layout/StepUpProcess"/>
    <dgm:cxn modelId="{23EB365A-FB44-4E87-B2E3-4A51E182131C}" type="presParOf" srcId="{7FBDA57B-A392-4839-8D88-693DA5AB36CB}" destId="{F523DD18-75EB-4C68-A4C2-0F9646E52527}" srcOrd="1" destOrd="0" presId="urn:microsoft.com/office/officeart/2009/3/layout/StepUpProcess"/>
    <dgm:cxn modelId="{8EE2A057-D95B-4B66-AED6-9C30780B6F45}" type="presParOf" srcId="{F523DD18-75EB-4C68-A4C2-0F9646E52527}" destId="{FBD8F491-A8EF-43EF-BA3D-1DF6B1BA8B66}" srcOrd="0" destOrd="0" presId="urn:microsoft.com/office/officeart/2009/3/layout/StepUpProcess"/>
    <dgm:cxn modelId="{7572D09C-146E-4F27-8703-E7228CD6F637}" type="presParOf" srcId="{7FBDA57B-A392-4839-8D88-693DA5AB36CB}" destId="{159747F0-2129-42F4-A2D3-DDA55F12EDFD}" srcOrd="2" destOrd="0" presId="urn:microsoft.com/office/officeart/2009/3/layout/StepUpProcess"/>
    <dgm:cxn modelId="{7833FC31-B1EE-4B26-895E-845F741D6C94}" type="presParOf" srcId="{159747F0-2129-42F4-A2D3-DDA55F12EDFD}" destId="{F8DE8852-1271-4C55-9376-696EB69EA956}" srcOrd="0" destOrd="0" presId="urn:microsoft.com/office/officeart/2009/3/layout/StepUpProcess"/>
    <dgm:cxn modelId="{C96BAB2F-3456-47AA-A9CE-0D59CDA58A97}" type="presParOf" srcId="{159747F0-2129-42F4-A2D3-DDA55F12EDFD}" destId="{3D965FF9-072C-406B-B1FE-A72FBF63881C}" srcOrd="1" destOrd="0" presId="urn:microsoft.com/office/officeart/2009/3/layout/StepUpProcess"/>
    <dgm:cxn modelId="{D70E6A14-BDB4-4CA8-A4AC-A19C34DC093D}" type="presParOf" srcId="{159747F0-2129-42F4-A2D3-DDA55F12EDFD}" destId="{38817512-7FD0-4842-858D-BCDC6B699C5B}" srcOrd="2" destOrd="0" presId="urn:microsoft.com/office/officeart/2009/3/layout/StepUpProcess"/>
    <dgm:cxn modelId="{658096D9-28A8-4E07-909B-88D10AC77950}" type="presParOf" srcId="{7FBDA57B-A392-4839-8D88-693DA5AB36CB}" destId="{F5C848BE-83CD-4059-A0D6-BA635ED1E811}" srcOrd="3" destOrd="0" presId="urn:microsoft.com/office/officeart/2009/3/layout/StepUpProcess"/>
    <dgm:cxn modelId="{EAC0C749-177E-4F13-A048-008D75AAC818}" type="presParOf" srcId="{F5C848BE-83CD-4059-A0D6-BA635ED1E811}" destId="{06A2F3DA-AF17-445E-A056-08E956F21C2F}" srcOrd="0" destOrd="0" presId="urn:microsoft.com/office/officeart/2009/3/layout/StepUpProcess"/>
    <dgm:cxn modelId="{570EC1AC-0E8B-4C90-A8DA-35C2A534C37D}" type="presParOf" srcId="{7FBDA57B-A392-4839-8D88-693DA5AB36CB}" destId="{BC870390-B9C1-4455-8EF3-7088CE77FB39}" srcOrd="4" destOrd="0" presId="urn:microsoft.com/office/officeart/2009/3/layout/StepUpProcess"/>
    <dgm:cxn modelId="{17585F64-89EB-4F68-A254-BF0F3FE1DCD7}" type="presParOf" srcId="{BC870390-B9C1-4455-8EF3-7088CE77FB39}" destId="{1A623F7C-1D00-4E50-92F7-5641334F5BB8}" srcOrd="0" destOrd="0" presId="urn:microsoft.com/office/officeart/2009/3/layout/StepUpProcess"/>
    <dgm:cxn modelId="{2D103884-38B9-4E08-ABC3-FB868B44A1BB}" type="presParOf" srcId="{BC870390-B9C1-4455-8EF3-7088CE77FB39}" destId="{91B1AF16-DB63-4C18-8014-C02A67ECE0C1}" srcOrd="1" destOrd="0" presId="urn:microsoft.com/office/officeart/2009/3/layout/StepUpProcess"/>
    <dgm:cxn modelId="{18A7F95E-D060-4A9A-AF05-9EF70C2D68E9}" type="presParOf" srcId="{BC870390-B9C1-4455-8EF3-7088CE77FB39}" destId="{141804D1-7046-4874-B408-708F3811EE01}" srcOrd="2" destOrd="0" presId="urn:microsoft.com/office/officeart/2009/3/layout/StepUpProcess"/>
    <dgm:cxn modelId="{719503B0-CDBD-4683-9345-17FF325B4DA7}" type="presParOf" srcId="{7FBDA57B-A392-4839-8D88-693DA5AB36CB}" destId="{2DFF0A8B-4C48-48B1-9903-C76CF0438783}" srcOrd="5" destOrd="0" presId="urn:microsoft.com/office/officeart/2009/3/layout/StepUpProcess"/>
    <dgm:cxn modelId="{1CC6AA91-44E1-4EBC-A487-DB985BCAB2B4}" type="presParOf" srcId="{2DFF0A8B-4C48-48B1-9903-C76CF0438783}" destId="{99B8656C-CE87-4CD8-B590-D4C2A1E85D46}" srcOrd="0" destOrd="0" presId="urn:microsoft.com/office/officeart/2009/3/layout/StepUpProcess"/>
    <dgm:cxn modelId="{F97E4B12-BAEF-4F08-A724-D673F41B8085}" type="presParOf" srcId="{7FBDA57B-A392-4839-8D88-693DA5AB36CB}" destId="{36776B86-B204-4066-837B-FCD1F7B2E15F}" srcOrd="6" destOrd="0" presId="urn:microsoft.com/office/officeart/2009/3/layout/StepUpProcess"/>
    <dgm:cxn modelId="{44E78E9F-C082-4F78-B289-1749D9399D70}" type="presParOf" srcId="{36776B86-B204-4066-837B-FCD1F7B2E15F}" destId="{8274B3A3-0F07-42DF-9F91-0B4E681F6E8B}" srcOrd="0" destOrd="0" presId="urn:microsoft.com/office/officeart/2009/3/layout/StepUpProcess"/>
    <dgm:cxn modelId="{1D266B9D-BC16-4F0A-95A3-FAB27C00D8B6}" type="presParOf" srcId="{36776B86-B204-4066-837B-FCD1F7B2E15F}" destId="{7CE9A672-B412-419B-85EB-545A5A17FA9B}" srcOrd="1" destOrd="0" presId="urn:microsoft.com/office/officeart/2009/3/layout/StepUpProcess"/>
    <dgm:cxn modelId="{1C7C166E-77F9-404E-8062-A0A40991B251}" type="presParOf" srcId="{36776B86-B204-4066-837B-FCD1F7B2E15F}" destId="{E1692889-6E07-4B98-AEFB-405D8687D50F}" srcOrd="2" destOrd="0" presId="urn:microsoft.com/office/officeart/2009/3/layout/StepUpProcess"/>
    <dgm:cxn modelId="{A4EE4EF5-BFC4-407A-ADBA-7A2286449A42}" type="presParOf" srcId="{7FBDA57B-A392-4839-8D88-693DA5AB36CB}" destId="{01FB6A05-E48E-4F6E-8A22-919CB9098BB6}" srcOrd="7" destOrd="0" presId="urn:microsoft.com/office/officeart/2009/3/layout/StepUpProcess"/>
    <dgm:cxn modelId="{173967A1-C9CB-449B-BAEF-2BA65D1D576D}" type="presParOf" srcId="{01FB6A05-E48E-4F6E-8A22-919CB9098BB6}" destId="{2DD67A64-C683-49D9-AE79-A5996B540626}" srcOrd="0" destOrd="0" presId="urn:microsoft.com/office/officeart/2009/3/layout/StepUpProcess"/>
    <dgm:cxn modelId="{0292A130-EF63-42AD-B280-AC4A814C3414}" type="presParOf" srcId="{7FBDA57B-A392-4839-8D88-693DA5AB36CB}" destId="{A8DD8374-E113-474D-87B1-A329680B00E6}" srcOrd="8" destOrd="0" presId="urn:microsoft.com/office/officeart/2009/3/layout/StepUpProcess"/>
    <dgm:cxn modelId="{91867A44-50B4-4F0F-8E44-6860A55D9D1E}" type="presParOf" srcId="{A8DD8374-E113-474D-87B1-A329680B00E6}" destId="{438DF170-0333-4A1C-9720-B38F7C6D897B}" srcOrd="0" destOrd="0" presId="urn:microsoft.com/office/officeart/2009/3/layout/StepUpProcess"/>
    <dgm:cxn modelId="{6746FDE1-FA86-4801-8B60-B0279709A457}" type="presParOf" srcId="{A8DD8374-E113-474D-87B1-A329680B00E6}" destId="{D17FF870-9A01-463A-8FF9-AE1F38DBE6E5}" srcOrd="1" destOrd="0" presId="urn:microsoft.com/office/officeart/2009/3/layout/StepUpProcess"/>
    <dgm:cxn modelId="{51B52BF0-4282-467D-B241-5B38601591E5}" type="presParOf" srcId="{A8DD8374-E113-474D-87B1-A329680B00E6}" destId="{C1199F4A-26D7-454E-82FC-4364939B63E0}" srcOrd="2" destOrd="0" presId="urn:microsoft.com/office/officeart/2009/3/layout/StepUpProcess"/>
    <dgm:cxn modelId="{690786A4-DA78-4BCE-B86D-4E611C6E3372}" type="presParOf" srcId="{7FBDA57B-A392-4839-8D88-693DA5AB36CB}" destId="{6BC43EEE-373D-4B84-8AA0-E5A7E94E44D3}" srcOrd="9" destOrd="0" presId="urn:microsoft.com/office/officeart/2009/3/layout/StepUpProcess"/>
    <dgm:cxn modelId="{A8031D69-01F9-48F3-B4A8-029D33B3601A}" type="presParOf" srcId="{6BC43EEE-373D-4B84-8AA0-E5A7E94E44D3}" destId="{47285B03-B8D1-4F09-92D6-BE96A6768657}" srcOrd="0" destOrd="0" presId="urn:microsoft.com/office/officeart/2009/3/layout/StepUpProcess"/>
    <dgm:cxn modelId="{BC506D53-C6BA-4D77-8D6C-9112E342CDA0}" type="presParOf" srcId="{7FBDA57B-A392-4839-8D88-693DA5AB36CB}" destId="{25ABC72B-DA53-42B0-9654-B8AD249B22BA}" srcOrd="10" destOrd="0" presId="urn:microsoft.com/office/officeart/2009/3/layout/StepUpProcess"/>
    <dgm:cxn modelId="{617545DD-7E6D-4222-8329-5C0CD2F73771}" type="presParOf" srcId="{25ABC72B-DA53-42B0-9654-B8AD249B22BA}" destId="{6CCCEAD3-FC2E-41E7-B834-6CA73E956560}" srcOrd="0" destOrd="0" presId="urn:microsoft.com/office/officeart/2009/3/layout/StepUpProcess"/>
    <dgm:cxn modelId="{E67D99C5-B543-4CFD-A84B-80C5450CD782}" type="presParOf" srcId="{25ABC72B-DA53-42B0-9654-B8AD249B22BA}" destId="{B3DC03B2-B315-4ACB-A829-AD0A5A634BCA}" srcOrd="1" destOrd="0" presId="urn:microsoft.com/office/officeart/2009/3/layout/StepUp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37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65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3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8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8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12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967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520507"/>
            <a:ext cx="12192000" cy="900330"/>
            <a:chOff x="0" y="520507"/>
            <a:chExt cx="12192000" cy="900330"/>
          </a:xfrm>
        </p:grpSpPr>
        <p:sp>
          <p:nvSpPr>
            <p:cNvPr id="6" name="矩形 5"/>
            <p:cNvSpPr/>
            <p:nvPr/>
          </p:nvSpPr>
          <p:spPr>
            <a:xfrm>
              <a:off x="0" y="1280160"/>
              <a:ext cx="12192000" cy="14067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0" y="520507"/>
              <a:ext cx="2743200" cy="815926"/>
            </a:xfrm>
            <a:custGeom>
              <a:avLst/>
              <a:gdLst>
                <a:gd name="connsiteX0" fmla="*/ 0 w 2181375"/>
                <a:gd name="connsiteY0" fmla="*/ 0 h 759651"/>
                <a:gd name="connsiteX1" fmla="*/ 1421181 w 2181375"/>
                <a:gd name="connsiteY1" fmla="*/ 0 h 759651"/>
                <a:gd name="connsiteX2" fmla="*/ 2046011 w 2181375"/>
                <a:gd name="connsiteY2" fmla="*/ 464236 h 759651"/>
                <a:gd name="connsiteX3" fmla="*/ 2163669 w 2181375"/>
                <a:gd name="connsiteY3" fmla="*/ 692890 h 759651"/>
                <a:gd name="connsiteX4" fmla="*/ 2181375 w 2181375"/>
                <a:gd name="connsiteY4" fmla="*/ 759651 h 759651"/>
                <a:gd name="connsiteX5" fmla="*/ 0 w 2181375"/>
                <a:gd name="connsiteY5" fmla="*/ 759651 h 75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81375" h="759651">
                  <a:moveTo>
                    <a:pt x="0" y="0"/>
                  </a:moveTo>
                  <a:lnTo>
                    <a:pt x="1421181" y="0"/>
                  </a:lnTo>
                  <a:cubicBezTo>
                    <a:pt x="1723386" y="75028"/>
                    <a:pt x="1968418" y="271979"/>
                    <a:pt x="2046011" y="464236"/>
                  </a:cubicBezTo>
                  <a:cubicBezTo>
                    <a:pt x="2075109" y="536332"/>
                    <a:pt x="2133495" y="618980"/>
                    <a:pt x="2163669" y="692890"/>
                  </a:cubicBezTo>
                  <a:lnTo>
                    <a:pt x="2181375" y="759651"/>
                  </a:lnTo>
                  <a:lnTo>
                    <a:pt x="0" y="759651"/>
                  </a:lnTo>
                  <a:close/>
                </a:path>
              </a:pathLst>
            </a:cu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84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677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4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714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379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9" indent="0" algn="ctr">
              <a:buNone/>
              <a:defRPr sz="2000"/>
            </a:lvl2pPr>
            <a:lvl3pPr marL="914337" indent="0" algn="ctr">
              <a:buNone/>
              <a:defRPr sz="1800"/>
            </a:lvl3pPr>
            <a:lvl4pPr marL="1371506" indent="0" algn="ctr">
              <a:buNone/>
              <a:defRPr sz="1600"/>
            </a:lvl4pPr>
            <a:lvl5pPr marL="1828676" indent="0" algn="ctr">
              <a:buNone/>
              <a:defRPr sz="1600"/>
            </a:lvl5pPr>
            <a:lvl6pPr marL="2285843" indent="0" algn="ctr">
              <a:buNone/>
              <a:defRPr sz="1600"/>
            </a:lvl6pPr>
            <a:lvl7pPr marL="2743011" indent="0" algn="ctr">
              <a:buNone/>
              <a:defRPr sz="1600"/>
            </a:lvl7pPr>
            <a:lvl8pPr marL="3200180" indent="0" algn="ctr">
              <a:buNone/>
              <a:defRPr sz="1600"/>
            </a:lvl8pPr>
            <a:lvl9pPr marL="3657349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986424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18042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52535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00674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9" indent="0">
              <a:buNone/>
              <a:defRPr sz="2000" b="1"/>
            </a:lvl2pPr>
            <a:lvl3pPr marL="914337" indent="0">
              <a:buNone/>
              <a:defRPr sz="1800" b="1"/>
            </a:lvl3pPr>
            <a:lvl4pPr marL="1371506" indent="0">
              <a:buNone/>
              <a:defRPr sz="1600" b="1"/>
            </a:lvl4pPr>
            <a:lvl5pPr marL="1828676" indent="0">
              <a:buNone/>
              <a:defRPr sz="1600" b="1"/>
            </a:lvl5pPr>
            <a:lvl6pPr marL="2285843" indent="0">
              <a:buNone/>
              <a:defRPr sz="1600" b="1"/>
            </a:lvl6pPr>
            <a:lvl7pPr marL="2743011" indent="0">
              <a:buNone/>
              <a:defRPr sz="1600" b="1"/>
            </a:lvl7pPr>
            <a:lvl8pPr marL="3200180" indent="0">
              <a:buNone/>
              <a:defRPr sz="1600" b="1"/>
            </a:lvl8pPr>
            <a:lvl9pPr marL="365734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9" indent="0">
              <a:buNone/>
              <a:defRPr sz="2000" b="1"/>
            </a:lvl2pPr>
            <a:lvl3pPr marL="914337" indent="0">
              <a:buNone/>
              <a:defRPr sz="1800" b="1"/>
            </a:lvl3pPr>
            <a:lvl4pPr marL="1371506" indent="0">
              <a:buNone/>
              <a:defRPr sz="1600" b="1"/>
            </a:lvl4pPr>
            <a:lvl5pPr marL="1828676" indent="0">
              <a:buNone/>
              <a:defRPr sz="1600" b="1"/>
            </a:lvl5pPr>
            <a:lvl6pPr marL="2285843" indent="0">
              <a:buNone/>
              <a:defRPr sz="1600" b="1"/>
            </a:lvl6pPr>
            <a:lvl7pPr marL="2743011" indent="0">
              <a:buNone/>
              <a:defRPr sz="1600" b="1"/>
            </a:lvl7pPr>
            <a:lvl8pPr marL="3200180" indent="0">
              <a:buNone/>
              <a:defRPr sz="1600" b="1"/>
            </a:lvl8pPr>
            <a:lvl9pPr marL="365734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7"/>
            <a:ext cx="51831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24524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127455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84365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9" indent="0">
              <a:buNone/>
              <a:defRPr sz="1400"/>
            </a:lvl2pPr>
            <a:lvl3pPr marL="914337" indent="0">
              <a:buNone/>
              <a:defRPr sz="1200"/>
            </a:lvl3pPr>
            <a:lvl4pPr marL="1371506" indent="0">
              <a:buNone/>
              <a:defRPr sz="1001"/>
            </a:lvl4pPr>
            <a:lvl5pPr marL="1828676" indent="0">
              <a:buNone/>
              <a:defRPr sz="1001"/>
            </a:lvl5pPr>
            <a:lvl6pPr marL="2285843" indent="0">
              <a:buNone/>
              <a:defRPr sz="1001"/>
            </a:lvl6pPr>
            <a:lvl7pPr marL="2743011" indent="0">
              <a:buNone/>
              <a:defRPr sz="1001"/>
            </a:lvl7pPr>
            <a:lvl8pPr marL="3200180" indent="0">
              <a:buNone/>
              <a:defRPr sz="1001"/>
            </a:lvl8pPr>
            <a:lvl9pPr marL="3657349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367654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9" indent="0">
              <a:buNone/>
              <a:defRPr sz="2801"/>
            </a:lvl2pPr>
            <a:lvl3pPr marL="914337" indent="0">
              <a:buNone/>
              <a:defRPr sz="2400"/>
            </a:lvl3pPr>
            <a:lvl4pPr marL="1371506" indent="0">
              <a:buNone/>
              <a:defRPr sz="2000"/>
            </a:lvl4pPr>
            <a:lvl5pPr marL="1828676" indent="0">
              <a:buNone/>
              <a:defRPr sz="2000"/>
            </a:lvl5pPr>
            <a:lvl6pPr marL="2285843" indent="0">
              <a:buNone/>
              <a:defRPr sz="2000"/>
            </a:lvl6pPr>
            <a:lvl7pPr marL="2743011" indent="0">
              <a:buNone/>
              <a:defRPr sz="2000"/>
            </a:lvl7pPr>
            <a:lvl8pPr marL="3200180" indent="0">
              <a:buNone/>
              <a:defRPr sz="2000"/>
            </a:lvl8pPr>
            <a:lvl9pPr marL="365734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9" indent="0">
              <a:buNone/>
              <a:defRPr sz="1400"/>
            </a:lvl2pPr>
            <a:lvl3pPr marL="914337" indent="0">
              <a:buNone/>
              <a:defRPr sz="1200"/>
            </a:lvl3pPr>
            <a:lvl4pPr marL="1371506" indent="0">
              <a:buNone/>
              <a:defRPr sz="1001"/>
            </a:lvl4pPr>
            <a:lvl5pPr marL="1828676" indent="0">
              <a:buNone/>
              <a:defRPr sz="1001"/>
            </a:lvl5pPr>
            <a:lvl6pPr marL="2285843" indent="0">
              <a:buNone/>
              <a:defRPr sz="1001"/>
            </a:lvl6pPr>
            <a:lvl7pPr marL="2743011" indent="0">
              <a:buNone/>
              <a:defRPr sz="1001"/>
            </a:lvl7pPr>
            <a:lvl8pPr marL="3200180" indent="0">
              <a:buNone/>
              <a:defRPr sz="1001"/>
            </a:lvl8pPr>
            <a:lvl9pPr marL="3657349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4779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998840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52053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pattFill prst="solidDmnd">
          <a:fgClr>
            <a:srgbClr val="F4B61E"/>
          </a:fgClr>
          <a:bgClr>
            <a:srgbClr val="F8C73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678AD-150E-4BC7-8F21-46EE16401A46}" type="datetimeFigureOut">
              <a:rPr lang="zh-CN" altLang="en-US" smtClean="0"/>
              <a:t>2014/11/4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07613-E62F-4300-A5EA-E6C4C0A0E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34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2014/11/4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63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 spd="slow">
    <p:push dir="u"/>
  </p:transition>
  <p:txStyles>
    <p:titleStyle>
      <a:lvl1pPr algn="l" defTabSz="91433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5" indent="-228585" algn="l" defTabSz="91433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754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2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1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59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28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96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65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34" indent="-228585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9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7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3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1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49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770" y="2439765"/>
            <a:ext cx="6407451" cy="320677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3768436"/>
            <a:ext cx="12192000" cy="3089564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形标注 14"/>
          <p:cNvSpPr/>
          <p:nvPr/>
        </p:nvSpPr>
        <p:spPr>
          <a:xfrm>
            <a:off x="9865697" y="2141058"/>
            <a:ext cx="1373944" cy="618979"/>
          </a:xfrm>
          <a:prstGeom prst="wedgeEllipseCallou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升级版</a:t>
            </a:r>
            <a:endParaRPr lang="zh-CN" altLang="en-US" sz="2000" dirty="0">
              <a:solidFill>
                <a:schemeClr val="tx1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583493" y="5048853"/>
            <a:ext cx="3474721" cy="978604"/>
            <a:chOff x="4925309" y="5386164"/>
            <a:chExt cx="3474721" cy="978604"/>
          </a:xfrm>
        </p:grpSpPr>
        <p:sp>
          <p:nvSpPr>
            <p:cNvPr id="16" name="文本框 15"/>
            <p:cNvSpPr txBox="1"/>
            <p:nvPr/>
          </p:nvSpPr>
          <p:spPr>
            <a:xfrm>
              <a:off x="4925309" y="5386164"/>
              <a:ext cx="18710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作者：邹鑫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925309" y="5903103"/>
              <a:ext cx="34747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制作：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邹成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_1993</a:t>
              </a:r>
              <a:endPara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705184" y="5366275"/>
            <a:ext cx="5420082" cy="661182"/>
            <a:chOff x="6217918" y="4615195"/>
            <a:chExt cx="5420082" cy="661182"/>
          </a:xfrm>
        </p:grpSpPr>
        <p:sp>
          <p:nvSpPr>
            <p:cNvPr id="20" name="椭圆 19"/>
            <p:cNvSpPr/>
            <p:nvPr/>
          </p:nvSpPr>
          <p:spPr>
            <a:xfrm>
              <a:off x="621791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时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701106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间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780421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管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859736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理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939051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故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018366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事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0976818" y="4615195"/>
              <a:ext cx="661182" cy="661182"/>
            </a:xfrm>
            <a:prstGeom prst="ellipse">
              <a:avLst/>
            </a:prstGeom>
            <a:solidFill>
              <a:srgbClr val="C0F1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 smtClean="0">
                  <a:solidFill>
                    <a:schemeClr val="tx1"/>
                  </a:solidFill>
                  <a:latin typeface="华康俪金黑W8" panose="020B0809000000000000" pitchFamily="49" charset="-122"/>
                  <a:ea typeface="华康俪金黑W8" panose="020B0809000000000000" pitchFamily="49" charset="-122"/>
                </a:rPr>
                <a:t>书</a:t>
              </a:r>
              <a:endParaRPr lang="zh-CN" altLang="en-US" sz="2800" dirty="0">
                <a:solidFill>
                  <a:schemeClr val="tx1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7429" y="-343436"/>
            <a:ext cx="7276190" cy="526984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902670" y="297558"/>
            <a:ext cx="1524820" cy="15175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/>
          <a:srcRect t="42512" b="15812"/>
          <a:stretch/>
        </p:blipFill>
        <p:spPr>
          <a:xfrm>
            <a:off x="5658912" y="3794496"/>
            <a:ext cx="6407451" cy="13364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3577" y="1140326"/>
            <a:ext cx="4133446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03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 flipV="1">
            <a:off x="5833967" y="5443006"/>
            <a:ext cx="871632" cy="871632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878957" y="2663085"/>
            <a:ext cx="2975716" cy="2975716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713874"/>
            <a:ext cx="12192000" cy="107881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标题 1"/>
          <p:cNvSpPr txBox="1">
            <a:spLocks/>
          </p:cNvSpPr>
          <p:nvPr/>
        </p:nvSpPr>
        <p:spPr>
          <a:xfrm>
            <a:off x="744838" y="752510"/>
            <a:ext cx="8340233" cy="9930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kern="2200" dirty="0" smtClean="0">
                <a:solidFill>
                  <a:srgbClr val="FAB8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你是否经常有这样的情况？</a:t>
            </a:r>
            <a:endParaRPr lang="zh-CN" altLang="en-US" sz="5400" b="1" kern="2200" dirty="0" smtClean="0">
              <a:solidFill>
                <a:srgbClr val="FAB80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44838" y="2102168"/>
            <a:ext cx="5549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总觉得一天什么事都没干很快就过去了</a:t>
            </a:r>
          </a:p>
        </p:txBody>
      </p:sp>
      <p:sp>
        <p:nvSpPr>
          <p:cNvPr id="22" name="矩形 21"/>
          <p:cNvSpPr/>
          <p:nvPr/>
        </p:nvSpPr>
        <p:spPr>
          <a:xfrm>
            <a:off x="744838" y="4277818"/>
            <a:ext cx="5549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熬夜加班，没时间休息</a:t>
            </a:r>
          </a:p>
        </p:txBody>
      </p:sp>
      <p:sp>
        <p:nvSpPr>
          <p:cNvPr id="27" name="矩形 26"/>
          <p:cNvSpPr/>
          <p:nvPr/>
        </p:nvSpPr>
        <p:spPr>
          <a:xfrm>
            <a:off x="744838" y="2827385"/>
            <a:ext cx="5549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经常被突如其来的事情打断</a:t>
            </a:r>
          </a:p>
        </p:txBody>
      </p:sp>
      <p:sp>
        <p:nvSpPr>
          <p:cNvPr id="33" name="矩形 32"/>
          <p:cNvSpPr/>
          <p:nvPr/>
        </p:nvSpPr>
        <p:spPr>
          <a:xfrm>
            <a:off x="744838" y="3552602"/>
            <a:ext cx="5549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不由自主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的陷入很糟糕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的工作状态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71" b="4475"/>
          <a:stretch/>
        </p:blipFill>
        <p:spPr>
          <a:xfrm>
            <a:off x="6241774" y="3651418"/>
            <a:ext cx="5151340" cy="2419197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 flipV="1">
            <a:off x="8588013" y="2439604"/>
            <a:ext cx="583698" cy="583698"/>
          </a:xfrm>
          <a:prstGeom prst="rect">
            <a:avLst/>
          </a:prstGeom>
          <a:solidFill>
            <a:srgbClr val="FFDC8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 flipV="1">
            <a:off x="11112550" y="3424575"/>
            <a:ext cx="525268" cy="525268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28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6096000" y="5536691"/>
            <a:ext cx="1020043" cy="935799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273817" y="2488763"/>
            <a:ext cx="2595851" cy="2595851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6"/>
          <a:stretch/>
        </p:blipFill>
        <p:spPr>
          <a:xfrm>
            <a:off x="6497781" y="3111237"/>
            <a:ext cx="4849089" cy="31053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190687" y="2474909"/>
            <a:ext cx="2595851" cy="2595851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713874"/>
            <a:ext cx="12192000" cy="107881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标题 1"/>
          <p:cNvSpPr txBox="1">
            <a:spLocks/>
          </p:cNvSpPr>
          <p:nvPr/>
        </p:nvSpPr>
        <p:spPr>
          <a:xfrm>
            <a:off x="716600" y="713874"/>
            <a:ext cx="9175545" cy="9930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5400" b="1" kern="2200" dirty="0" smtClean="0">
                <a:solidFill>
                  <a:srgbClr val="F4B6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但你其实希望自己是这样</a:t>
            </a:r>
            <a:r>
              <a:rPr lang="zh-CN" altLang="en-US" sz="5400" b="1" kern="2200" dirty="0">
                <a:solidFill>
                  <a:srgbClr val="F4B6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的？</a:t>
            </a:r>
            <a:endParaRPr lang="zh-CN" altLang="en-US" sz="5400" b="1" kern="2200" dirty="0">
              <a:solidFill>
                <a:srgbClr val="F4B6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6600" y="2011432"/>
            <a:ext cx="585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时间完成别人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时间完成的事情</a:t>
            </a:r>
          </a:p>
        </p:txBody>
      </p:sp>
      <p:sp>
        <p:nvSpPr>
          <p:cNvPr id="22" name="矩形 21"/>
          <p:cNvSpPr/>
          <p:nvPr/>
        </p:nvSpPr>
        <p:spPr>
          <a:xfrm>
            <a:off x="716600" y="4295634"/>
            <a:ext cx="5601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能够及时下班，好好休息，享受生活</a:t>
            </a:r>
          </a:p>
        </p:txBody>
      </p:sp>
      <p:sp>
        <p:nvSpPr>
          <p:cNvPr id="27" name="矩形 26"/>
          <p:cNvSpPr/>
          <p:nvPr/>
        </p:nvSpPr>
        <p:spPr>
          <a:xfrm>
            <a:off x="716600" y="2772833"/>
            <a:ext cx="5601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有条不紊的处理突如其来的事情</a:t>
            </a:r>
          </a:p>
        </p:txBody>
      </p:sp>
      <p:sp>
        <p:nvSpPr>
          <p:cNvPr id="33" name="矩形 32"/>
          <p:cNvSpPr/>
          <p:nvPr/>
        </p:nvSpPr>
        <p:spPr>
          <a:xfrm>
            <a:off x="716600" y="3534234"/>
            <a:ext cx="5601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能够快速进入积极的状态认真工作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6"/>
          <a:stretch/>
        </p:blipFill>
        <p:spPr>
          <a:xfrm>
            <a:off x="6497781" y="3097383"/>
            <a:ext cx="4849089" cy="31053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0917382" y="2951014"/>
            <a:ext cx="540327" cy="540327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936182" y="2244433"/>
            <a:ext cx="540327" cy="540327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9019312" y="2258287"/>
            <a:ext cx="540327" cy="540327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68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8894739" y="2526958"/>
            <a:ext cx="2975716" cy="2975716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0" y="754382"/>
            <a:ext cx="12192000" cy="1122218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038110" y="6028035"/>
            <a:ext cx="4936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带你进入高效率，慢生活的状态</a:t>
            </a:r>
            <a:endParaRPr lang="zh-CN" altLang="en-US" sz="2400" b="1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9179" y="844844"/>
            <a:ext cx="4791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F4B61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其实你需要</a:t>
            </a:r>
            <a:endParaRPr lang="zh-CN" altLang="en-US" sz="5400" b="1" dirty="0">
              <a:solidFill>
                <a:srgbClr val="F4B61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 flipV="1">
            <a:off x="5833967" y="5538542"/>
            <a:ext cx="871632" cy="871632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 flipV="1">
            <a:off x="8590425" y="2278777"/>
            <a:ext cx="583698" cy="583698"/>
          </a:xfrm>
          <a:prstGeom prst="rect">
            <a:avLst/>
          </a:prstGeom>
          <a:solidFill>
            <a:srgbClr val="FFDC8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0" b="23297"/>
          <a:stretch/>
        </p:blipFill>
        <p:spPr>
          <a:xfrm>
            <a:off x="6194910" y="3345685"/>
            <a:ext cx="5353878" cy="264492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 flipV="1">
            <a:off x="11192066" y="3146279"/>
            <a:ext cx="525268" cy="525268"/>
          </a:xfrm>
          <a:prstGeom prst="rect">
            <a:avLst/>
          </a:prstGeom>
          <a:solidFill>
            <a:srgbClr val="FFDC8A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02749" y="2519699"/>
            <a:ext cx="3670922" cy="3612416"/>
            <a:chOff x="810421" y="2460873"/>
            <a:chExt cx="3393088" cy="333901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3"/>
            <a:srcRect l="21966" t="17753" r="24021" b="26964"/>
            <a:stretch/>
          </p:blipFill>
          <p:spPr>
            <a:xfrm>
              <a:off x="2715904" y="2506093"/>
              <a:ext cx="1487605" cy="1451758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4"/>
            <a:srcRect l="23123" t="15021" r="20261" b="28331"/>
            <a:stretch/>
          </p:blipFill>
          <p:spPr>
            <a:xfrm>
              <a:off x="810421" y="4272490"/>
              <a:ext cx="1569493" cy="1497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5"/>
            <a:srcRect l="22081" t="15704" r="23906" b="28330"/>
            <a:stretch/>
          </p:blipFill>
          <p:spPr>
            <a:xfrm>
              <a:off x="836637" y="2460873"/>
              <a:ext cx="1487605" cy="146968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6"/>
            <a:srcRect l="23831" t="13657" r="22961" b="28330"/>
            <a:stretch/>
          </p:blipFill>
          <p:spPr>
            <a:xfrm>
              <a:off x="2763620" y="4276430"/>
              <a:ext cx="1421370" cy="15234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620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7927" y="554182"/>
            <a:ext cx="16598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目录</a:t>
            </a:r>
            <a:endParaRPr lang="zh-CN" altLang="en-US" sz="44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62808" y="715874"/>
            <a:ext cx="2327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小强升职记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7577" y="2095722"/>
            <a:ext cx="4107424" cy="799298"/>
            <a:chOff x="1127577" y="2222334"/>
            <a:chExt cx="4107424" cy="799298"/>
          </a:xfrm>
        </p:grpSpPr>
        <p:sp>
          <p:nvSpPr>
            <p:cNvPr id="2" name="剪去单角的矩形 1"/>
            <p:cNvSpPr/>
            <p:nvPr/>
          </p:nvSpPr>
          <p:spPr>
            <a:xfrm>
              <a:off x="1128433" y="2403658"/>
              <a:ext cx="4106568" cy="617974"/>
            </a:xfrm>
            <a:prstGeom prst="snip1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E699"/>
                </a:solidFill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220684" y="2375987"/>
              <a:ext cx="2836225" cy="62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你的时间去哪儿了</a:t>
              </a:r>
              <a:endParaRPr lang="en-US" altLang="zh-CN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剪去单角的矩形 3"/>
            <p:cNvSpPr/>
            <p:nvPr/>
          </p:nvSpPr>
          <p:spPr>
            <a:xfrm>
              <a:off x="1127577" y="2222334"/>
              <a:ext cx="1103086" cy="348343"/>
            </a:xfrm>
            <a:prstGeom prst="snip1Rect">
              <a:avLst>
                <a:gd name="adj" fmla="val 50000"/>
              </a:avLst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170444" y="3553588"/>
            <a:ext cx="4108100" cy="792814"/>
            <a:chOff x="1170444" y="3530766"/>
            <a:chExt cx="4108100" cy="792814"/>
          </a:xfrm>
        </p:grpSpPr>
        <p:sp>
          <p:nvSpPr>
            <p:cNvPr id="27" name="剪去单角的矩形 26"/>
            <p:cNvSpPr/>
            <p:nvPr/>
          </p:nvSpPr>
          <p:spPr>
            <a:xfrm>
              <a:off x="1171976" y="3702687"/>
              <a:ext cx="4106568" cy="617974"/>
            </a:xfrm>
            <a:prstGeom prst="snip1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20684" y="3701807"/>
              <a:ext cx="2735348" cy="62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遇到问题怎么办</a:t>
              </a:r>
            </a:p>
          </p:txBody>
        </p:sp>
        <p:sp>
          <p:nvSpPr>
            <p:cNvPr id="57" name="剪去单角的矩形 56"/>
            <p:cNvSpPr/>
            <p:nvPr/>
          </p:nvSpPr>
          <p:spPr>
            <a:xfrm>
              <a:off x="1170444" y="3530766"/>
              <a:ext cx="1103086" cy="348343"/>
            </a:xfrm>
            <a:prstGeom prst="snip1Rect">
              <a:avLst>
                <a:gd name="adj" fmla="val 50000"/>
              </a:avLst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170444" y="5101955"/>
            <a:ext cx="4108100" cy="789711"/>
            <a:chOff x="1170444" y="4905008"/>
            <a:chExt cx="4108100" cy="789711"/>
          </a:xfrm>
        </p:grpSpPr>
        <p:sp>
          <p:nvSpPr>
            <p:cNvPr id="29" name="剪去单角的矩形 28"/>
            <p:cNvSpPr/>
            <p:nvPr/>
          </p:nvSpPr>
          <p:spPr>
            <a:xfrm>
              <a:off x="1171976" y="5074287"/>
              <a:ext cx="4106568" cy="617974"/>
            </a:xfrm>
            <a:prstGeom prst="snip1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220684" y="5072946"/>
              <a:ext cx="2782731" cy="62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如何让想法落地</a:t>
              </a:r>
              <a:endParaRPr lang="en-US" altLang="zh-CN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剪去单角的矩形 57"/>
            <p:cNvSpPr/>
            <p:nvPr/>
          </p:nvSpPr>
          <p:spPr>
            <a:xfrm>
              <a:off x="1170444" y="4905008"/>
              <a:ext cx="1103086" cy="348343"/>
            </a:xfrm>
            <a:prstGeom prst="snip1Rect">
              <a:avLst>
                <a:gd name="adj" fmla="val 50000"/>
              </a:avLst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67009" y="2029912"/>
            <a:ext cx="4403034" cy="848033"/>
            <a:chOff x="6367009" y="2156524"/>
            <a:chExt cx="4403034" cy="848033"/>
          </a:xfrm>
        </p:grpSpPr>
        <p:sp>
          <p:nvSpPr>
            <p:cNvPr id="26" name="剪去单角的矩形 25"/>
            <p:cNvSpPr/>
            <p:nvPr/>
          </p:nvSpPr>
          <p:spPr>
            <a:xfrm>
              <a:off x="6369624" y="2329500"/>
              <a:ext cx="4400419" cy="617973"/>
            </a:xfrm>
            <a:prstGeom prst="snip1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407484" y="2375987"/>
              <a:ext cx="2119086" cy="628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altLang="zh-CN" sz="2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r>
                <a:rPr lang="zh-CN" altLang="en-US" sz="2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压工作</a:t>
              </a:r>
              <a:r>
                <a:rPr lang="zh-CN" altLang="en-US" sz="26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术</a:t>
              </a:r>
              <a:endParaRPr lang="zh-CN" altLang="en-US" sz="2600" dirty="0"/>
            </a:p>
          </p:txBody>
        </p:sp>
        <p:sp>
          <p:nvSpPr>
            <p:cNvPr id="59" name="剪去单角的矩形 58"/>
            <p:cNvSpPr/>
            <p:nvPr/>
          </p:nvSpPr>
          <p:spPr>
            <a:xfrm>
              <a:off x="6367009" y="2156524"/>
              <a:ext cx="1103086" cy="348343"/>
            </a:xfrm>
            <a:prstGeom prst="snip1Rect">
              <a:avLst>
                <a:gd name="adj" fmla="val 50000"/>
              </a:avLst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67009" y="5074245"/>
            <a:ext cx="4403034" cy="817421"/>
            <a:chOff x="6367009" y="4877298"/>
            <a:chExt cx="4403034" cy="817421"/>
          </a:xfrm>
        </p:grpSpPr>
        <p:sp>
          <p:nvSpPr>
            <p:cNvPr id="30" name="剪去单角的矩形 29"/>
            <p:cNvSpPr/>
            <p:nvPr/>
          </p:nvSpPr>
          <p:spPr>
            <a:xfrm>
              <a:off x="6369624" y="5053650"/>
              <a:ext cx="4400419" cy="617973"/>
            </a:xfrm>
            <a:prstGeom prst="snip1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489372" y="5072946"/>
              <a:ext cx="2898928" cy="62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建立高效办公区</a:t>
              </a:r>
            </a:p>
          </p:txBody>
        </p:sp>
        <p:sp>
          <p:nvSpPr>
            <p:cNvPr id="60" name="剪去单角的矩形 59"/>
            <p:cNvSpPr/>
            <p:nvPr/>
          </p:nvSpPr>
          <p:spPr>
            <a:xfrm>
              <a:off x="6367009" y="4877298"/>
              <a:ext cx="1103086" cy="348343"/>
            </a:xfrm>
            <a:prstGeom prst="snip1Rect">
              <a:avLst>
                <a:gd name="adj" fmla="val 50000"/>
              </a:avLst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67009" y="3518726"/>
            <a:ext cx="4403034" cy="819139"/>
            <a:chOff x="6367009" y="3504441"/>
            <a:chExt cx="4403034" cy="819139"/>
          </a:xfrm>
        </p:grpSpPr>
        <p:sp>
          <p:nvSpPr>
            <p:cNvPr id="39" name="剪去单角的矩形 38"/>
            <p:cNvSpPr/>
            <p:nvPr/>
          </p:nvSpPr>
          <p:spPr>
            <a:xfrm>
              <a:off x="6369624" y="3691575"/>
              <a:ext cx="4400419" cy="617973"/>
            </a:xfrm>
            <a:prstGeom prst="snip1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489372" y="3701807"/>
              <a:ext cx="3251199" cy="6217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zh-CN" altLang="en-US" sz="26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如何养成一个好习惯</a:t>
              </a:r>
              <a:endParaRPr lang="en-US" altLang="zh-CN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剪去单角的矩形 60"/>
            <p:cNvSpPr/>
            <p:nvPr/>
          </p:nvSpPr>
          <p:spPr>
            <a:xfrm>
              <a:off x="6367009" y="3504441"/>
              <a:ext cx="1103086" cy="348343"/>
            </a:xfrm>
            <a:prstGeom prst="snip1Rect">
              <a:avLst>
                <a:gd name="adj" fmla="val 50000"/>
              </a:avLst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797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ED242C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3396" y="5221261"/>
            <a:ext cx="10446995" cy="138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Z"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世界上由两类人组成：一种是确实很忙的人，另一种是假装很忙的人。而确实很忙的人，一种会自我管理，另一种不会，前者用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的时间完成了后者用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的时间完成的事情。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12192000" cy="1927273"/>
          </a:xfrm>
          <a:prstGeom prst="rect">
            <a:avLst/>
          </a:prstGeom>
          <a:solidFill>
            <a:srgbClr val="ED242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502856" y="4243098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502856" y="3088355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348112" y="3114647"/>
            <a:ext cx="5486397" cy="1200955"/>
          </a:xfrm>
          <a:solidFill>
            <a:srgbClr val="F4B61E"/>
          </a:solidFill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你的时间去哪儿了</a:t>
            </a:r>
            <a:endParaRPr lang="zh-CN" altLang="en-US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23228" y="2139674"/>
            <a:ext cx="2745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rgbClr val="FF3F3A"/>
                </a:solidFill>
                <a:latin typeface="方正粗宋繁体" panose="03000509000000000000" pitchFamily="65" charset="-122"/>
                <a:ea typeface="方正粗宋繁体" panose="03000509000000000000" pitchFamily="65" charset="-122"/>
              </a:rPr>
              <a:t>PART 1</a:t>
            </a:r>
            <a:endParaRPr lang="zh-CN" altLang="en-US" sz="5400" dirty="0">
              <a:solidFill>
                <a:srgbClr val="FF3F3A"/>
              </a:solidFill>
              <a:latin typeface="方正粗宋繁体" panose="03000509000000000000" pitchFamily="65" charset="-122"/>
              <a:ea typeface="方正粗宋繁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330449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550724" y="641061"/>
            <a:ext cx="182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</a:t>
            </a:r>
            <a:r>
              <a:rPr lang="en-US" altLang="zh-CN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5999" y="699134"/>
            <a:ext cx="2795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认识时间黑洞</a:t>
            </a:r>
            <a:endParaRPr lang="zh-CN" altLang="en-US" sz="32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2055" y="4189348"/>
            <a:ext cx="1845971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lvl="0" indent="-342900">
              <a:buFont typeface="Wingdings" panose="05000000000000000000" pitchFamily="2" charset="2"/>
              <a:buChar char="u"/>
              <a:defRPr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rgbClr val="ED242C"/>
                </a:solidFill>
              </a:rPr>
              <a:t>产生原因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7541" y="2428951"/>
            <a:ext cx="5297474" cy="1326105"/>
          </a:xfrm>
          <a:prstGeom prst="rect">
            <a:avLst/>
          </a:prstGeom>
          <a:solidFill>
            <a:srgbClr val="FFE699"/>
          </a:solidFill>
        </p:spPr>
        <p:txBody>
          <a:bodyPr wrap="square" lIns="108000" tIns="108000" rIns="108000" bIns="72000" rtlCol="0">
            <a:spAutoFit/>
          </a:bodyPr>
          <a:lstStyle/>
          <a:p>
            <a:pPr marL="342900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做事情之前没有预期，或不追求预期的结果就是被动时间，被动时间的集合就是时间黑洞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7540" y="4948044"/>
            <a:ext cx="5340759" cy="1366698"/>
          </a:xfrm>
          <a:prstGeom prst="rect">
            <a:avLst/>
          </a:prstGeom>
          <a:solidFill>
            <a:srgbClr val="FFE699"/>
          </a:solidFill>
        </p:spPr>
        <p:txBody>
          <a:bodyPr wrap="square" lIns="108000" tIns="108000" rIns="108000" bIns="72000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大脑喜欢做简单事情的特点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很多相互关联的信息吸引我们的注意力，使时间不知不觉被消耗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07541" y="1756229"/>
            <a:ext cx="18288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黑洞</a:t>
            </a:r>
            <a:endParaRPr lang="zh-CN" altLang="en-US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066925" y="7215673"/>
            <a:ext cx="4593646" cy="715071"/>
          </a:xfrm>
          <a:prstGeom prst="rect">
            <a:avLst/>
          </a:prstGeom>
          <a:noFill/>
          <a:ln w="19050">
            <a:solidFill>
              <a:srgbClr val="C0F1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7377072" y="2895009"/>
            <a:ext cx="3438659" cy="606836"/>
          </a:xfrm>
          <a:prstGeom prst="round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超市时间黑洞</a:t>
            </a:r>
            <a:endParaRPr lang="zh-CN" altLang="en-US" sz="2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7377072" y="4148205"/>
            <a:ext cx="3438659" cy="606836"/>
          </a:xfrm>
          <a:prstGeom prst="round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网络时间黑洞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7377072" y="5401402"/>
            <a:ext cx="3438659" cy="606836"/>
          </a:xfrm>
          <a:prstGeom prst="round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电视时间黑洞</a:t>
            </a:r>
            <a:endParaRPr lang="zh-CN" altLang="en-US" sz="2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038102" y="2428951"/>
            <a:ext cx="4184073" cy="3861013"/>
          </a:xfrm>
          <a:prstGeom prst="rect">
            <a:avLst/>
          </a:prstGeom>
          <a:noFill/>
          <a:ln w="19050">
            <a:solidFill>
              <a:srgbClr val="FFE699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019778" y="1756229"/>
            <a:ext cx="122389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3654" y="2525042"/>
            <a:ext cx="5145206" cy="1132558"/>
          </a:xfrm>
          <a:prstGeom prst="rect">
            <a:avLst/>
          </a:prstGeom>
          <a:noFill/>
          <a:ln>
            <a:solidFill>
              <a:srgbClr val="ED242C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3654" y="5060424"/>
            <a:ext cx="5145206" cy="1132558"/>
          </a:xfrm>
          <a:prstGeom prst="rect">
            <a:avLst/>
          </a:prstGeom>
          <a:noFill/>
          <a:ln>
            <a:solidFill>
              <a:srgbClr val="ED242C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9108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4508" y="5270790"/>
            <a:ext cx="10474037" cy="1232765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75421" y="1770549"/>
            <a:ext cx="472180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记录和分析时间日志的好处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34108" y="692868"/>
            <a:ext cx="3452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时间日志，价值观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48640" y="661182"/>
            <a:ext cx="182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</a:t>
            </a:r>
            <a:r>
              <a:rPr lang="en-US" altLang="zh-CN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1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75421" y="4583022"/>
            <a:ext cx="5574768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通过价值观来判断是否是重要的事情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163784" y="5388191"/>
            <a:ext cx="10293926" cy="972574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txBody>
          <a:bodyPr wrap="square" rIns="72000" rtlCol="0">
            <a:spAutoFit/>
          </a:bodyPr>
          <a:lstStyle/>
          <a:p>
            <a:pPr marL="342900" indent="-342900">
              <a:lnSpc>
                <a:spcPct val="13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价值观是指一个人对周围的客观事物（包括人，事，物）的意义，重要性的总评价和总看法。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43261" y="6858000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记住：把重要的事放在高效时段内完成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141489" y="2617921"/>
            <a:ext cx="2301221" cy="606836"/>
          </a:xfrm>
          <a:prstGeom prst="round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提醒你珍惜时间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141489" y="3463048"/>
            <a:ext cx="4835236" cy="606836"/>
          </a:xfrm>
          <a:prstGeom prst="round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分析自己时间的投入与产出比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648075" y="2631775"/>
            <a:ext cx="2301221" cy="606836"/>
          </a:xfrm>
          <a:prstGeom prst="round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找到高效时段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967516" y="1815032"/>
            <a:ext cx="4668984" cy="2415883"/>
            <a:chOff x="6968175" y="1771489"/>
            <a:chExt cx="4668984" cy="241588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b="58813"/>
            <a:stretch/>
          </p:blipFill>
          <p:spPr>
            <a:xfrm>
              <a:off x="6968175" y="1771489"/>
              <a:ext cx="4668984" cy="241588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" name="矩形 7"/>
            <p:cNvSpPr/>
            <p:nvPr/>
          </p:nvSpPr>
          <p:spPr>
            <a:xfrm>
              <a:off x="7039428" y="1828799"/>
              <a:ext cx="4528457" cy="2264229"/>
            </a:xfrm>
            <a:prstGeom prst="rect">
              <a:avLst/>
            </a:prstGeom>
            <a:noFill/>
            <a:ln w="69850">
              <a:solidFill>
                <a:srgbClr val="ED24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41202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02856" y="4243098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02856" y="3088355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8112" y="3114647"/>
            <a:ext cx="5486397" cy="1200955"/>
          </a:xfrm>
          <a:solidFill>
            <a:srgbClr val="F4B61E"/>
          </a:solidFill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无压工作术</a:t>
            </a:r>
            <a:endParaRPr lang="zh-CN" altLang="en-US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228" y="2139674"/>
            <a:ext cx="2745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rgbClr val="FF3F3A"/>
                </a:solidFill>
                <a:latin typeface="方正粗宋繁体" panose="03000509000000000000" pitchFamily="65" charset="-122"/>
                <a:ea typeface="方正粗宋繁体" panose="03000509000000000000" pitchFamily="65" charset="-122"/>
              </a:rPr>
              <a:t>PART 2</a:t>
            </a:r>
            <a:endParaRPr lang="zh-CN" altLang="en-US" sz="5400" dirty="0">
              <a:solidFill>
                <a:srgbClr val="FF3F3A"/>
              </a:solidFill>
              <a:latin typeface="方正粗宋繁体" panose="03000509000000000000" pitchFamily="65" charset="-122"/>
              <a:ea typeface="方正粗宋繁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648976" y="5353055"/>
            <a:ext cx="2894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四象限法则</a:t>
            </a:r>
            <a:endParaRPr lang="en-US" altLang="zh-CN" sz="28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91464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5236" y="1690255"/>
            <a:ext cx="5140037" cy="651163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48640" y="661182"/>
            <a:ext cx="182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</a:t>
            </a:r>
            <a:r>
              <a:rPr lang="en-US" altLang="zh-CN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62833" y="683572"/>
            <a:ext cx="2312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altLang="en-US" sz="32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象限法则</a:t>
            </a:r>
            <a:endParaRPr lang="zh-CN" altLang="en-US" sz="32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90934" y="1769305"/>
            <a:ext cx="4949652" cy="464166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把事情按先轻重后缓急，放入四个象限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525356" y="2552657"/>
            <a:ext cx="5787441" cy="4105622"/>
            <a:chOff x="5894288" y="2089528"/>
            <a:chExt cx="5787441" cy="4105622"/>
          </a:xfrm>
        </p:grpSpPr>
        <p:cxnSp>
          <p:nvCxnSpPr>
            <p:cNvPr id="8" name="直接箭头连接符 7"/>
            <p:cNvCxnSpPr/>
            <p:nvPr/>
          </p:nvCxnSpPr>
          <p:spPr>
            <a:xfrm flipV="1">
              <a:off x="6487635" y="2089528"/>
              <a:ext cx="17370" cy="3474071"/>
            </a:xfrm>
            <a:prstGeom prst="straightConnector1">
              <a:avLst/>
            </a:prstGeom>
            <a:ln w="50800">
              <a:solidFill>
                <a:srgbClr val="FF3F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>
              <a:off x="6491816" y="5535847"/>
              <a:ext cx="4968000" cy="20268"/>
            </a:xfrm>
            <a:prstGeom prst="straightConnector1">
              <a:avLst/>
            </a:prstGeom>
            <a:ln w="50800">
              <a:solidFill>
                <a:srgbClr val="FF3F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0190553" y="5795040"/>
              <a:ext cx="14911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紧迫程度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894288" y="2176020"/>
              <a:ext cx="492443" cy="1055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重要性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6541472" y="3758203"/>
              <a:ext cx="4824000" cy="0"/>
            </a:xfrm>
            <a:prstGeom prst="line">
              <a:avLst/>
            </a:prstGeom>
            <a:ln>
              <a:solidFill>
                <a:srgbClr val="FF3F3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9101796" y="2418616"/>
              <a:ext cx="0" cy="3144982"/>
            </a:xfrm>
            <a:prstGeom prst="line">
              <a:avLst/>
            </a:prstGeom>
            <a:ln>
              <a:solidFill>
                <a:srgbClr val="FF3F3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9200267" y="2321171"/>
              <a:ext cx="23071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一，重要而且紧急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69397" y="2321171"/>
              <a:ext cx="23071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二，重要但不紧急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569397" y="4028042"/>
              <a:ext cx="24899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四，不重要也不紧急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200267" y="4028042"/>
              <a:ext cx="24337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r>
                <a:rPr lang="zh-CN" altLang="en-US" sz="20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，不重要但紧急</a:t>
              </a:r>
              <a:endPara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9200267" y="3012574"/>
              <a:ext cx="23071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举例：陪客户逛大街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569397" y="3012574"/>
              <a:ext cx="25462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举例：陪女朋友逛大街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569397" y="4679429"/>
              <a:ext cx="2307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举例：陪老婆逛大街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200267" y="4679429"/>
              <a:ext cx="2278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举例：陪岳母逛大街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7367482" y="1769305"/>
            <a:ext cx="1931832" cy="461665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en-US" sz="2400" dirty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</a:p>
        </p:txBody>
      </p:sp>
      <p:sp>
        <p:nvSpPr>
          <p:cNvPr id="31" name="矩形 30"/>
          <p:cNvSpPr/>
          <p:nvPr/>
        </p:nvSpPr>
        <p:spPr>
          <a:xfrm>
            <a:off x="772732" y="7744691"/>
            <a:ext cx="4710546" cy="1801097"/>
          </a:xfrm>
          <a:prstGeom prst="rect">
            <a:avLst/>
          </a:prstGeom>
          <a:noFill/>
          <a:ln w="19050">
            <a:solidFill>
              <a:srgbClr val="C0F1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7492175" y="2438396"/>
            <a:ext cx="3657624" cy="3769103"/>
            <a:chOff x="7533841" y="2630659"/>
            <a:chExt cx="3118795" cy="3213853"/>
          </a:xfrm>
        </p:grpSpPr>
        <p:sp>
          <p:nvSpPr>
            <p:cNvPr id="35" name="菱形 34"/>
            <p:cNvSpPr/>
            <p:nvPr/>
          </p:nvSpPr>
          <p:spPr>
            <a:xfrm>
              <a:off x="7533842" y="2630659"/>
              <a:ext cx="1483611" cy="1483611"/>
            </a:xfrm>
            <a:prstGeom prst="diamond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357" tIns="160357" rIns="160357" bIns="160357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</a:p>
          </p:txBody>
        </p:sp>
        <p:sp>
          <p:nvSpPr>
            <p:cNvPr id="36" name="菱形 35"/>
            <p:cNvSpPr/>
            <p:nvPr/>
          </p:nvSpPr>
          <p:spPr>
            <a:xfrm>
              <a:off x="9140891" y="2630659"/>
              <a:ext cx="1483611" cy="1483611"/>
            </a:xfrm>
            <a:prstGeom prst="diamond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357" tIns="160357" rIns="160357" bIns="160357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菱形 36"/>
            <p:cNvSpPr/>
            <p:nvPr/>
          </p:nvSpPr>
          <p:spPr>
            <a:xfrm>
              <a:off x="7533841" y="4360901"/>
              <a:ext cx="1483611" cy="1483611"/>
            </a:xfrm>
            <a:prstGeom prst="diamond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357" tIns="160357" rIns="160357" bIns="160357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菱形 37"/>
            <p:cNvSpPr/>
            <p:nvPr/>
          </p:nvSpPr>
          <p:spPr>
            <a:xfrm>
              <a:off x="9169025" y="4346838"/>
              <a:ext cx="1483611" cy="1483611"/>
            </a:xfrm>
            <a:prstGeom prst="diamond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0357" tIns="160357" rIns="160357" bIns="160357" numCol="1" spcCol="1270" anchor="ctr" anchorCtr="0">
              <a:no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767000" y="3057741"/>
              <a:ext cx="1102192" cy="603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</a:t>
              </a:r>
              <a:r>
                <a:rPr lang="zh-CN" altLang="en-US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象限</a:t>
              </a:r>
              <a:endParaRPr lang="en-US" altLang="zh-CN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000" dirty="0" smtClean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立即</a:t>
              </a:r>
              <a:r>
                <a:rPr lang="zh-CN" altLang="en-US" sz="2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去做</a:t>
              </a:r>
              <a:endParaRPr lang="zh-CN" altLang="en-US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179473" y="3046104"/>
              <a:ext cx="13581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象限</a:t>
              </a:r>
              <a:endPara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有计划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去做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590326" y="4748119"/>
              <a:ext cx="13407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象限</a:t>
              </a:r>
              <a:endPara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交给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别人做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9273978" y="4748119"/>
              <a:ext cx="12640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</a:t>
              </a: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象限</a:t>
              </a:r>
              <a:endPara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尽量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别去做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6788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8640" y="661182"/>
            <a:ext cx="182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</a:t>
            </a:r>
            <a:r>
              <a:rPr lang="en-US" altLang="zh-CN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7963" y="701015"/>
            <a:ext cx="5066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猴子法则与第二象限工作法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9754" y="1964061"/>
            <a:ext cx="31791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如何摆脱第三象限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2727" y="2577543"/>
            <a:ext cx="10534874" cy="994288"/>
          </a:xfrm>
          <a:prstGeom prst="rect">
            <a:avLst/>
          </a:prstGeom>
          <a:solidFill>
            <a:srgbClr val="FFE699"/>
          </a:solidFill>
        </p:spPr>
        <p:txBody>
          <a:bodyPr wrap="square" lIns="108000" tIns="108000" bIns="72000" rtlCol="0">
            <a:spAutoFit/>
          </a:bodyPr>
          <a:lstStyle/>
          <a:p>
            <a:pPr marL="342900" indent="-342900">
              <a:lnSpc>
                <a:spcPct val="12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运用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猴子法则，明确职责，确定这只猴子不是你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的，注意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沟通方式，明确，坚决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，但不生硬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63348" y="4155058"/>
            <a:ext cx="3010365" cy="461665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如何进入第二象限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35673" y="4155058"/>
            <a:ext cx="5360321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第二象限的事进行目标描述和任务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59980" y="5085934"/>
            <a:ext cx="1240093" cy="461665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好处</a:t>
            </a:r>
            <a:endParaRPr lang="zh-CN" altLang="en-US" dirty="0">
              <a:solidFill>
                <a:srgbClr val="ED242C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39788" y="5805714"/>
            <a:ext cx="3556000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分成小任务有利于进度控制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04893" y="5085934"/>
            <a:ext cx="3869191" cy="447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迫使我们将精力花在第二象限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111332" y="5805714"/>
            <a:ext cx="4383313" cy="489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将项目做细，有计划，更有行动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力</a:t>
            </a:r>
            <a:endParaRPr lang="en-US" altLang="zh-CN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75305" y="5085934"/>
            <a:ext cx="2786743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明确任务完成的标准</a:t>
            </a:r>
            <a:endParaRPr lang="en-US" altLang="zh-CN" sz="21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370792" y="5085934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491354" y="5805714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321966" y="5085934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962896" y="5805714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0" y="3860799"/>
            <a:ext cx="12192000" cy="0"/>
          </a:xfrm>
          <a:prstGeom prst="line">
            <a:avLst/>
          </a:prstGeom>
          <a:ln>
            <a:solidFill>
              <a:srgbClr val="ED24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5721917" y="4155058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19072" y="2677445"/>
            <a:ext cx="10361546" cy="813900"/>
          </a:xfrm>
          <a:prstGeom prst="rect">
            <a:avLst/>
          </a:prstGeom>
          <a:noFill/>
          <a:ln>
            <a:solidFill>
              <a:srgbClr val="ED242C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87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47963" y="691201"/>
            <a:ext cx="2249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22031" y="3277774"/>
            <a:ext cx="11563642" cy="2785401"/>
            <a:chOff x="422031" y="3052690"/>
            <a:chExt cx="11563642" cy="2785401"/>
          </a:xfrm>
        </p:grpSpPr>
        <p:sp>
          <p:nvSpPr>
            <p:cNvPr id="5" name="燕尾形箭头 4"/>
            <p:cNvSpPr/>
            <p:nvPr/>
          </p:nvSpPr>
          <p:spPr>
            <a:xfrm>
              <a:off x="422031" y="3888310"/>
              <a:ext cx="11563642" cy="1114160"/>
            </a:xfrm>
            <a:prstGeom prst="notchedRightArrow">
              <a:avLst/>
            </a:prstGeom>
            <a:solidFill>
              <a:srgbClr val="ED242C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任意多边形 5"/>
            <p:cNvSpPr/>
            <p:nvPr/>
          </p:nvSpPr>
          <p:spPr>
            <a:xfrm>
              <a:off x="426604" y="3052690"/>
              <a:ext cx="1999640" cy="1114160"/>
            </a:xfrm>
            <a:custGeom>
              <a:avLst/>
              <a:gdLst>
                <a:gd name="connsiteX0" fmla="*/ 0 w 1999640"/>
                <a:gd name="connsiteY0" fmla="*/ 0 h 1114160"/>
                <a:gd name="connsiteX1" fmla="*/ 1999640 w 1999640"/>
                <a:gd name="connsiteY1" fmla="*/ 0 h 1114160"/>
                <a:gd name="connsiteX2" fmla="*/ 1999640 w 1999640"/>
                <a:gd name="connsiteY2" fmla="*/ 1114160 h 1114160"/>
                <a:gd name="connsiteX3" fmla="*/ 0 w 1999640"/>
                <a:gd name="connsiteY3" fmla="*/ 1114160 h 1114160"/>
                <a:gd name="connsiteX4" fmla="*/ 0 w 1999640"/>
                <a:gd name="connsiteY4" fmla="*/ 0 h 111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9640" h="1114160">
                  <a:moveTo>
                    <a:pt x="0" y="0"/>
                  </a:moveTo>
                  <a:lnTo>
                    <a:pt x="1999640" y="0"/>
                  </a:lnTo>
                  <a:lnTo>
                    <a:pt x="1999640" y="1114160"/>
                  </a:lnTo>
                  <a:lnTo>
                    <a:pt x="0" y="11141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b" anchorCtr="0">
              <a:noAutofit/>
            </a:bodyPr>
            <a:lstStyle/>
            <a:p>
              <a:pPr lvl="0" algn="ctr" defTabSz="1333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3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  <a:endParaRPr lang="zh-CN" sz="3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287154" y="4306120"/>
              <a:ext cx="278540" cy="278540"/>
            </a:xfrm>
            <a:prstGeom prst="ellipse">
              <a:avLst/>
            </a:prstGeom>
            <a:solidFill>
              <a:srgbClr val="FFE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任意多边形 7"/>
            <p:cNvSpPr/>
            <p:nvPr/>
          </p:nvSpPr>
          <p:spPr>
            <a:xfrm>
              <a:off x="2526227" y="4723931"/>
              <a:ext cx="1999640" cy="1114160"/>
            </a:xfrm>
            <a:custGeom>
              <a:avLst/>
              <a:gdLst>
                <a:gd name="connsiteX0" fmla="*/ 0 w 1999640"/>
                <a:gd name="connsiteY0" fmla="*/ 0 h 1114160"/>
                <a:gd name="connsiteX1" fmla="*/ 1999640 w 1999640"/>
                <a:gd name="connsiteY1" fmla="*/ 0 h 1114160"/>
                <a:gd name="connsiteX2" fmla="*/ 1999640 w 1999640"/>
                <a:gd name="connsiteY2" fmla="*/ 1114160 h 1114160"/>
                <a:gd name="connsiteX3" fmla="*/ 0 w 1999640"/>
                <a:gd name="connsiteY3" fmla="*/ 1114160 h 1114160"/>
                <a:gd name="connsiteX4" fmla="*/ 0 w 1999640"/>
                <a:gd name="connsiteY4" fmla="*/ 0 h 111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9640" h="1114160">
                  <a:moveTo>
                    <a:pt x="0" y="0"/>
                  </a:moveTo>
                  <a:lnTo>
                    <a:pt x="1999640" y="0"/>
                  </a:lnTo>
                  <a:lnTo>
                    <a:pt x="1999640" y="1114160"/>
                  </a:lnTo>
                  <a:lnTo>
                    <a:pt x="0" y="11141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t" anchorCtr="0">
              <a:noAutofit/>
            </a:bodyPr>
            <a:lstStyle/>
            <a:p>
              <a:pPr lvl="0" algn="ctr" defTabSz="1333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3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明确意义</a:t>
              </a:r>
              <a:endParaRPr lang="zh-CN" sz="3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386777" y="4306120"/>
              <a:ext cx="278540" cy="278540"/>
            </a:xfrm>
            <a:prstGeom prst="ellipse">
              <a:avLst/>
            </a:prstGeom>
            <a:solidFill>
              <a:srgbClr val="FFE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任意多边形 9"/>
            <p:cNvSpPr/>
            <p:nvPr/>
          </p:nvSpPr>
          <p:spPr>
            <a:xfrm>
              <a:off x="4625849" y="3052690"/>
              <a:ext cx="1999640" cy="1114160"/>
            </a:xfrm>
            <a:custGeom>
              <a:avLst/>
              <a:gdLst>
                <a:gd name="connsiteX0" fmla="*/ 0 w 1999640"/>
                <a:gd name="connsiteY0" fmla="*/ 0 h 1114160"/>
                <a:gd name="connsiteX1" fmla="*/ 1999640 w 1999640"/>
                <a:gd name="connsiteY1" fmla="*/ 0 h 1114160"/>
                <a:gd name="connsiteX2" fmla="*/ 1999640 w 1999640"/>
                <a:gd name="connsiteY2" fmla="*/ 1114160 h 1114160"/>
                <a:gd name="connsiteX3" fmla="*/ 0 w 1999640"/>
                <a:gd name="connsiteY3" fmla="*/ 1114160 h 1114160"/>
                <a:gd name="connsiteX4" fmla="*/ 0 w 1999640"/>
                <a:gd name="connsiteY4" fmla="*/ 0 h 111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9640" h="1114160">
                  <a:moveTo>
                    <a:pt x="0" y="0"/>
                  </a:moveTo>
                  <a:lnTo>
                    <a:pt x="1999640" y="0"/>
                  </a:lnTo>
                  <a:lnTo>
                    <a:pt x="1999640" y="1114160"/>
                  </a:lnTo>
                  <a:lnTo>
                    <a:pt x="0" y="11141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b" anchorCtr="0">
              <a:noAutofit/>
            </a:bodyPr>
            <a:lstStyle/>
            <a:p>
              <a:pPr lvl="0" algn="ctr" defTabSz="1333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3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组织整理</a:t>
              </a:r>
              <a:endParaRPr lang="zh-CN" sz="3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486400" y="4306120"/>
              <a:ext cx="278540" cy="278540"/>
            </a:xfrm>
            <a:prstGeom prst="ellipse">
              <a:avLst/>
            </a:prstGeom>
            <a:solidFill>
              <a:srgbClr val="FFE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任意多边形 11"/>
            <p:cNvSpPr/>
            <p:nvPr/>
          </p:nvSpPr>
          <p:spPr>
            <a:xfrm>
              <a:off x="6725472" y="4723931"/>
              <a:ext cx="1999640" cy="1114160"/>
            </a:xfrm>
            <a:custGeom>
              <a:avLst/>
              <a:gdLst>
                <a:gd name="connsiteX0" fmla="*/ 0 w 1999640"/>
                <a:gd name="connsiteY0" fmla="*/ 0 h 1114160"/>
                <a:gd name="connsiteX1" fmla="*/ 1999640 w 1999640"/>
                <a:gd name="connsiteY1" fmla="*/ 0 h 1114160"/>
                <a:gd name="connsiteX2" fmla="*/ 1999640 w 1999640"/>
                <a:gd name="connsiteY2" fmla="*/ 1114160 h 1114160"/>
                <a:gd name="connsiteX3" fmla="*/ 0 w 1999640"/>
                <a:gd name="connsiteY3" fmla="*/ 1114160 h 1114160"/>
                <a:gd name="connsiteX4" fmla="*/ 0 w 1999640"/>
                <a:gd name="connsiteY4" fmla="*/ 0 h 111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9640" h="1114160">
                  <a:moveTo>
                    <a:pt x="0" y="0"/>
                  </a:moveTo>
                  <a:lnTo>
                    <a:pt x="1999640" y="0"/>
                  </a:lnTo>
                  <a:lnTo>
                    <a:pt x="1999640" y="1114160"/>
                  </a:lnTo>
                  <a:lnTo>
                    <a:pt x="0" y="11141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t" anchorCtr="0">
              <a:noAutofit/>
            </a:bodyPr>
            <a:lstStyle/>
            <a:p>
              <a:pPr lvl="0" algn="ctr" defTabSz="1333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3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深思</a:t>
              </a:r>
              <a:endParaRPr lang="zh-CN" sz="3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586022" y="4306120"/>
              <a:ext cx="278540" cy="278540"/>
            </a:xfrm>
            <a:prstGeom prst="ellipse">
              <a:avLst/>
            </a:prstGeom>
            <a:solidFill>
              <a:srgbClr val="FFE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任意多边形 13"/>
            <p:cNvSpPr/>
            <p:nvPr/>
          </p:nvSpPr>
          <p:spPr>
            <a:xfrm>
              <a:off x="8825095" y="3052690"/>
              <a:ext cx="1999640" cy="1114160"/>
            </a:xfrm>
            <a:custGeom>
              <a:avLst/>
              <a:gdLst>
                <a:gd name="connsiteX0" fmla="*/ 0 w 1999640"/>
                <a:gd name="connsiteY0" fmla="*/ 0 h 1114160"/>
                <a:gd name="connsiteX1" fmla="*/ 1999640 w 1999640"/>
                <a:gd name="connsiteY1" fmla="*/ 0 h 1114160"/>
                <a:gd name="connsiteX2" fmla="*/ 1999640 w 1999640"/>
                <a:gd name="connsiteY2" fmla="*/ 1114160 h 1114160"/>
                <a:gd name="connsiteX3" fmla="*/ 0 w 1999640"/>
                <a:gd name="connsiteY3" fmla="*/ 1114160 h 1114160"/>
                <a:gd name="connsiteX4" fmla="*/ 0 w 1999640"/>
                <a:gd name="connsiteY4" fmla="*/ 0 h 1114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9640" h="1114160">
                  <a:moveTo>
                    <a:pt x="0" y="0"/>
                  </a:moveTo>
                  <a:lnTo>
                    <a:pt x="1999640" y="0"/>
                  </a:lnTo>
                  <a:lnTo>
                    <a:pt x="1999640" y="1114160"/>
                  </a:lnTo>
                  <a:lnTo>
                    <a:pt x="0" y="111416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13360" tIns="213360" rIns="213360" bIns="213360" numCol="1" spcCol="1270" anchor="b" anchorCtr="0">
              <a:noAutofit/>
            </a:bodyPr>
            <a:lstStyle/>
            <a:p>
              <a:pPr lvl="0" algn="ctr" defTabSz="13335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30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lang="zh-CN" sz="3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9685645" y="4306120"/>
              <a:ext cx="278540" cy="278540"/>
            </a:xfrm>
            <a:prstGeom prst="ellipse">
              <a:avLst/>
            </a:prstGeom>
            <a:solidFill>
              <a:srgbClr val="FFE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6" name="文本框 15"/>
          <p:cNvSpPr txBox="1"/>
          <p:nvPr/>
        </p:nvSpPr>
        <p:spPr>
          <a:xfrm>
            <a:off x="548640" y="661182"/>
            <a:ext cx="1828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</a:t>
            </a:r>
            <a:r>
              <a:rPr lang="en-US" altLang="zh-CN" sz="3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2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19990" y="2318415"/>
            <a:ext cx="6425045" cy="523220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</a:t>
            </a:r>
            <a:r>
              <a:rPr lang="zh-CN" altLang="en-US" sz="28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法对应时间管理的五个流程</a:t>
            </a:r>
            <a:endParaRPr lang="zh-CN" altLang="en-US" sz="28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4574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762000"/>
            <a:ext cx="12192000" cy="641797"/>
          </a:xfrm>
          <a:prstGeom prst="rect">
            <a:avLst/>
          </a:prstGeom>
          <a:solidFill>
            <a:schemeClr val="accent3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59871" y="2479969"/>
            <a:ext cx="10120745" cy="39901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722451" y="2897368"/>
            <a:ext cx="1533367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捕捉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22451" y="4013365"/>
            <a:ext cx="1457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捕捉工具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020988" y="3346130"/>
            <a:ext cx="5686100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将一切引起我们注意的事记下来放在收集蓝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020988" y="5673716"/>
            <a:ext cx="1494559" cy="461665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数码工具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3554777" y="5647465"/>
            <a:ext cx="7308185" cy="532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比如锤子便签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和为知笔记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，日程管理软件比如高效</a:t>
            </a:r>
            <a:r>
              <a:rPr lang="en-US" altLang="zh-CN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DO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3554777" y="4702437"/>
            <a:ext cx="5512270" cy="48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比如方便小巧可随身携带的纸质笔记本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2020988" y="4756822"/>
            <a:ext cx="1508125" cy="461665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纸质工具</a:t>
            </a:r>
          </a:p>
        </p:txBody>
      </p:sp>
      <p:sp>
        <p:nvSpPr>
          <p:cNvPr id="10" name="任意多边形 9"/>
          <p:cNvSpPr/>
          <p:nvPr/>
        </p:nvSpPr>
        <p:spPr>
          <a:xfrm rot="10800000" flipH="1">
            <a:off x="760695" y="435120"/>
            <a:ext cx="253252" cy="318654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3976" y="429492"/>
            <a:ext cx="2585584" cy="1219201"/>
          </a:xfrm>
          <a:prstGeom prst="rect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3673" y="754775"/>
            <a:ext cx="23084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b="1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3273" y="2881763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1593273" y="3976265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89093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组 织 整 理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8011901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明 确 意 义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769233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深  思</a:t>
            </a:r>
            <a:endParaRPr lang="zh-CN" altLang="en-US" sz="2000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1064750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行  动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132863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   捕  捉 </a:t>
            </a:r>
            <a:endParaRPr lang="zh-CN" altLang="en-US" sz="2000" b="1" dirty="0"/>
          </a:p>
        </p:txBody>
      </p:sp>
      <p:sp>
        <p:nvSpPr>
          <p:cNvPr id="72" name="任意多边形 71"/>
          <p:cNvSpPr/>
          <p:nvPr/>
        </p:nvSpPr>
        <p:spPr>
          <a:xfrm rot="10800000" flipH="1">
            <a:off x="6985000" y="2984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7864475" y="30162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10800000" flipH="1">
            <a:off x="8743950" y="30480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 flipH="1">
            <a:off x="9623425" y="30797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10502900" y="3111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7136246" y="2050471"/>
            <a:ext cx="514280" cy="443345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rot="5400000" flipH="1">
            <a:off x="771697" y="1400493"/>
            <a:ext cx="243381" cy="247505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17600" y="653143"/>
            <a:ext cx="2365829" cy="827315"/>
          </a:xfrm>
          <a:prstGeom prst="rect">
            <a:avLst/>
          </a:prstGeom>
          <a:noFill/>
          <a:ln w="15875">
            <a:solidFill>
              <a:srgbClr val="FFE6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2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762000"/>
            <a:ext cx="12192000" cy="641797"/>
          </a:xfrm>
          <a:prstGeom prst="rect">
            <a:avLst/>
          </a:prstGeom>
          <a:solidFill>
            <a:schemeClr val="accent3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59871" y="2479969"/>
            <a:ext cx="10120745" cy="39901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10800000" flipH="1">
            <a:off x="760695" y="435120"/>
            <a:ext cx="253252" cy="318654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3976" y="429492"/>
            <a:ext cx="2585584" cy="1219201"/>
          </a:xfrm>
          <a:prstGeom prst="rect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3673" y="754775"/>
            <a:ext cx="23084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b="1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3273" y="2881763"/>
            <a:ext cx="177470" cy="746808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1593273" y="3976265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89093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组 织 整 理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8011901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明 确 意 义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769233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深  思</a:t>
            </a:r>
            <a:endParaRPr lang="zh-CN" altLang="en-US" sz="2000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1064750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行  动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132863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   捕  捉 </a:t>
            </a:r>
            <a:endParaRPr lang="zh-CN" altLang="en-US" sz="2000" b="1" dirty="0"/>
          </a:p>
        </p:txBody>
      </p:sp>
      <p:sp>
        <p:nvSpPr>
          <p:cNvPr id="72" name="任意多边形 71"/>
          <p:cNvSpPr/>
          <p:nvPr/>
        </p:nvSpPr>
        <p:spPr>
          <a:xfrm rot="10800000" flipH="1">
            <a:off x="6985000" y="2984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7864475" y="30162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10800000" flipH="1">
            <a:off x="8743950" y="30480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 flipH="1">
            <a:off x="9623425" y="30797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10502900" y="3111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7992588" y="2050471"/>
            <a:ext cx="514280" cy="443345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rot="5400000" flipH="1">
            <a:off x="771697" y="1400493"/>
            <a:ext cx="243381" cy="247505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17600" y="653143"/>
            <a:ext cx="2365829" cy="827315"/>
          </a:xfrm>
          <a:prstGeom prst="rect">
            <a:avLst/>
          </a:prstGeom>
          <a:noFill/>
          <a:ln w="15875">
            <a:solidFill>
              <a:srgbClr val="FFE6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856470" y="2804336"/>
            <a:ext cx="9101816" cy="929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清空收集篮的事情，明确每件事情的意义，辨别哪些是可以行动的，哪些是不可以行动的，行动就是可以直接去做的事。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828801" y="4014242"/>
            <a:ext cx="1843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可以行动的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649029" y="4014242"/>
            <a:ext cx="2119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不可以行动的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104572" y="4855026"/>
            <a:ext cx="1770742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两分钟行动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6149293" y="4855026"/>
            <a:ext cx="1020763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4059282" y="4855026"/>
            <a:ext cx="817518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2104572" y="5532456"/>
            <a:ext cx="2212155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指派他人的事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789713" y="5532456"/>
            <a:ext cx="2249715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特定时间做的事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129488" y="5532456"/>
            <a:ext cx="1519289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参考资料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8039291" y="4855026"/>
            <a:ext cx="1453056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将来某事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5152570" y="4855026"/>
            <a:ext cx="812795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7997376" y="5532456"/>
            <a:ext cx="931965" cy="48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</a:t>
            </a:r>
          </a:p>
        </p:txBody>
      </p:sp>
      <p:sp>
        <p:nvSpPr>
          <p:cNvPr id="84" name="矩形 83"/>
          <p:cNvSpPr/>
          <p:nvPr/>
        </p:nvSpPr>
        <p:spPr>
          <a:xfrm>
            <a:off x="7398987" y="3976265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>
            <a:off x="1611086" y="4738912"/>
            <a:ext cx="5399314" cy="1473200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/>
          <p:cNvSpPr/>
          <p:nvPr/>
        </p:nvSpPr>
        <p:spPr>
          <a:xfrm>
            <a:off x="7416800" y="4709883"/>
            <a:ext cx="3280229" cy="1473200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762000"/>
            <a:ext cx="12192000" cy="641797"/>
          </a:xfrm>
          <a:prstGeom prst="rect">
            <a:avLst/>
          </a:prstGeom>
          <a:solidFill>
            <a:schemeClr val="accent3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59871" y="2479969"/>
            <a:ext cx="10120745" cy="39901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10800000" flipH="1">
            <a:off x="760695" y="435120"/>
            <a:ext cx="253252" cy="318654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3976" y="429492"/>
            <a:ext cx="2585584" cy="1219201"/>
          </a:xfrm>
          <a:prstGeom prst="rect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3673" y="754775"/>
            <a:ext cx="23084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b="1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3273" y="2881763"/>
            <a:ext cx="162956" cy="500066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1593273" y="3976265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89093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组 织 整 理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8011901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明 确 意 义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769233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深  思</a:t>
            </a:r>
            <a:endParaRPr lang="zh-CN" altLang="en-US" sz="2000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1064750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行  动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132863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   捕  捉 </a:t>
            </a:r>
            <a:endParaRPr lang="zh-CN" altLang="en-US" sz="2000" b="1" dirty="0"/>
          </a:p>
        </p:txBody>
      </p:sp>
      <p:sp>
        <p:nvSpPr>
          <p:cNvPr id="72" name="任意多边形 71"/>
          <p:cNvSpPr/>
          <p:nvPr/>
        </p:nvSpPr>
        <p:spPr>
          <a:xfrm rot="10800000" flipH="1">
            <a:off x="6985000" y="2984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7864475" y="30162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10800000" flipH="1">
            <a:off x="8743950" y="30480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 flipH="1">
            <a:off x="9623425" y="30797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10502900" y="3111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7992588" y="2050471"/>
            <a:ext cx="514280" cy="443345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rot="5400000" flipH="1">
            <a:off x="771697" y="1400493"/>
            <a:ext cx="243381" cy="247505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17600" y="653143"/>
            <a:ext cx="2365829" cy="827315"/>
          </a:xfrm>
          <a:prstGeom prst="rect">
            <a:avLst/>
          </a:prstGeom>
          <a:noFill/>
          <a:ln w="15875">
            <a:solidFill>
              <a:srgbClr val="FFE6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757081" y="4056743"/>
            <a:ext cx="2369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只装下一步行动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793459" y="5139243"/>
            <a:ext cx="3083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571500" indent="-571500">
              <a:buFont typeface="Wingdings" panose="05000000000000000000" pitchFamily="2" charset="2"/>
              <a:buChar char="u"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写下一步行动的技巧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766174" y="2910292"/>
            <a:ext cx="2950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脑袋一次只装一件事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169464" y="3453608"/>
            <a:ext cx="1642194" cy="464743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更好的结果</a:t>
            </a:r>
            <a:endParaRPr lang="zh-CN" altLang="en-US" sz="22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231521" y="3453608"/>
            <a:ext cx="801965" cy="400110"/>
          </a:xfrm>
          <a:prstGeom prst="rect">
            <a:avLst/>
          </a:prstGeom>
          <a:solidFill>
            <a:srgbClr val="ED242C"/>
          </a:solidFill>
          <a:ln w="15875"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专注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3935356" y="3453608"/>
            <a:ext cx="1102010" cy="430887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成就感</a:t>
            </a:r>
            <a:endParaRPr lang="zh-CN" altLang="en-US" sz="2200" dirty="0">
              <a:solidFill>
                <a:srgbClr val="FFE699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939236" y="3453608"/>
            <a:ext cx="1328359" cy="430887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摆脱压力</a:t>
            </a:r>
            <a:endParaRPr lang="zh-CN" altLang="en-US" sz="2200" dirty="0">
              <a:solidFill>
                <a:srgbClr val="FFE699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852230" y="5713479"/>
            <a:ext cx="1959428" cy="464743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设立开始时间</a:t>
            </a:r>
            <a:endParaRPr lang="zh-CN" altLang="en-US" sz="22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231521" y="5713479"/>
            <a:ext cx="1338993" cy="430887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动词开头</a:t>
            </a:r>
            <a:endParaRPr lang="zh-CN" altLang="en-US" sz="22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107675" y="5713479"/>
            <a:ext cx="1337367" cy="430887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内容清晰</a:t>
            </a:r>
            <a:endParaRPr lang="zh-CN" altLang="en-US" sz="22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982203" y="5713479"/>
            <a:ext cx="1332867" cy="430887"/>
          </a:xfrm>
          <a:prstGeom prst="rect">
            <a:avLst/>
          </a:prstGeom>
          <a:solidFill>
            <a:srgbClr val="ED242C"/>
          </a:solidFill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描述结果</a:t>
            </a:r>
            <a:endParaRPr lang="zh-CN" altLang="en-US" sz="22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231521" y="4589152"/>
            <a:ext cx="683743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微软雅黑" panose="020B0503020204020204" pitchFamily="34" charset="-122"/>
              <a:buChar char="-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下一步行动就是某件事情下一个可以直接去做的事情</a:t>
            </a:r>
          </a:p>
        </p:txBody>
      </p:sp>
      <p:sp>
        <p:nvSpPr>
          <p:cNvPr id="96" name="矩形 95"/>
          <p:cNvSpPr/>
          <p:nvPr/>
        </p:nvSpPr>
        <p:spPr>
          <a:xfrm>
            <a:off x="1607787" y="5118191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588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762000"/>
            <a:ext cx="12192000" cy="641797"/>
          </a:xfrm>
          <a:prstGeom prst="rect">
            <a:avLst/>
          </a:prstGeom>
          <a:solidFill>
            <a:schemeClr val="accent3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59871" y="2479969"/>
            <a:ext cx="10120745" cy="41095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10800000" flipH="1">
            <a:off x="760695" y="435120"/>
            <a:ext cx="253252" cy="318654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3976" y="429492"/>
            <a:ext cx="2585584" cy="1219201"/>
          </a:xfrm>
          <a:prstGeom prst="rect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3673" y="754775"/>
            <a:ext cx="23084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b="1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3273" y="2881763"/>
            <a:ext cx="184728" cy="500066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89093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组 织 整 理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8011901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明 确 意 义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769233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深  思</a:t>
            </a:r>
            <a:endParaRPr lang="zh-CN" altLang="en-US" sz="2000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1064750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行  动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132863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   捕  捉 </a:t>
            </a:r>
            <a:endParaRPr lang="zh-CN" altLang="en-US" sz="2000" b="1" dirty="0"/>
          </a:p>
        </p:txBody>
      </p:sp>
      <p:sp>
        <p:nvSpPr>
          <p:cNvPr id="72" name="任意多边形 71"/>
          <p:cNvSpPr/>
          <p:nvPr/>
        </p:nvSpPr>
        <p:spPr>
          <a:xfrm rot="10800000" flipH="1">
            <a:off x="6985000" y="2984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7864475" y="30162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10800000" flipH="1">
            <a:off x="8743950" y="30480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 flipH="1">
            <a:off x="9623425" y="30797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10502900" y="3111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8877958" y="2050471"/>
            <a:ext cx="514280" cy="443345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rot="5400000" flipH="1">
            <a:off x="771697" y="1400493"/>
            <a:ext cx="243381" cy="247505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17600" y="653143"/>
            <a:ext cx="2365829" cy="827315"/>
          </a:xfrm>
          <a:prstGeom prst="rect">
            <a:avLst/>
          </a:prstGeom>
          <a:noFill/>
          <a:ln w="15875">
            <a:solidFill>
              <a:srgbClr val="FFE6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1607787" y="3613414"/>
            <a:ext cx="166255" cy="457200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1828802" y="2939449"/>
            <a:ext cx="6284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将明确意义的事情整理成“</a:t>
            </a:r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3+1”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清单系统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759197" y="4162885"/>
            <a:ext cx="29899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存放特定时间做的事情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3759197" y="4782690"/>
            <a:ext cx="6691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记录可能要很长时间才会执行的事情，需定期翻看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2354816" y="4148373"/>
            <a:ext cx="1293260" cy="400110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/>
              <a:t>日程表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1814285" y="3599547"/>
            <a:ext cx="278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3+1”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清单系统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2354815" y="4773016"/>
            <a:ext cx="1293260" cy="400110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/>
              <a:t>将来清单</a:t>
            </a:r>
            <a:endParaRPr lang="zh-CN" altLang="en-US" sz="2200" dirty="0"/>
          </a:p>
        </p:txBody>
      </p:sp>
      <p:sp>
        <p:nvSpPr>
          <p:cNvPr id="112" name="文本框 111"/>
          <p:cNvSpPr txBox="1"/>
          <p:nvPr/>
        </p:nvSpPr>
        <p:spPr>
          <a:xfrm>
            <a:off x="2354815" y="5397659"/>
            <a:ext cx="1293260" cy="400110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/>
              <a:t>行动清单</a:t>
            </a:r>
            <a:endParaRPr lang="zh-CN" altLang="en-US" sz="2000" dirty="0"/>
          </a:p>
        </p:txBody>
      </p:sp>
      <p:sp>
        <p:nvSpPr>
          <p:cNvPr id="113" name="文本框 112"/>
          <p:cNvSpPr txBox="1"/>
          <p:nvPr/>
        </p:nvSpPr>
        <p:spPr>
          <a:xfrm>
            <a:off x="2354816" y="6022301"/>
            <a:ext cx="1293260" cy="400110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dirty="0" smtClean="0"/>
              <a:t>项目清单</a:t>
            </a:r>
            <a:endParaRPr lang="zh-CN" altLang="en-US" sz="2000" dirty="0"/>
          </a:p>
        </p:txBody>
      </p:sp>
      <p:sp>
        <p:nvSpPr>
          <p:cNvPr id="114" name="文本框 113"/>
          <p:cNvSpPr txBox="1"/>
          <p:nvPr/>
        </p:nvSpPr>
        <p:spPr>
          <a:xfrm>
            <a:off x="3759197" y="5402495"/>
            <a:ext cx="4325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这是每天主要的清单，排在最前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759197" y="6022301"/>
            <a:ext cx="650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这个清单一般较复杂，有时还需补充相关资料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0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59871" y="2479969"/>
            <a:ext cx="10120745" cy="41095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762000"/>
            <a:ext cx="12192000" cy="641797"/>
          </a:xfrm>
          <a:prstGeom prst="rect">
            <a:avLst/>
          </a:prstGeom>
          <a:solidFill>
            <a:schemeClr val="accent3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10800000" flipH="1">
            <a:off x="760695" y="435120"/>
            <a:ext cx="253252" cy="318654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3976" y="429492"/>
            <a:ext cx="2585584" cy="1219201"/>
          </a:xfrm>
          <a:prstGeom prst="rect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3673" y="754775"/>
            <a:ext cx="23084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b="1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3273" y="2881763"/>
            <a:ext cx="184728" cy="500066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89093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组 织 整 理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8011901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明 确 意 义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769233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深  思</a:t>
            </a:r>
            <a:endParaRPr lang="zh-CN" altLang="en-US" sz="2000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1064750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行  动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132863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   捕  捉 </a:t>
            </a:r>
            <a:endParaRPr lang="zh-CN" altLang="en-US" sz="2000" b="1" dirty="0"/>
          </a:p>
        </p:txBody>
      </p:sp>
      <p:sp>
        <p:nvSpPr>
          <p:cNvPr id="72" name="任意多边形 71"/>
          <p:cNvSpPr/>
          <p:nvPr/>
        </p:nvSpPr>
        <p:spPr>
          <a:xfrm rot="10800000" flipH="1">
            <a:off x="6985000" y="2984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7864475" y="30162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10800000" flipH="1">
            <a:off x="8743950" y="30480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 flipH="1">
            <a:off x="9623425" y="30797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10502900" y="3111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9792360" y="2050471"/>
            <a:ext cx="514280" cy="443345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rot="5400000" flipH="1">
            <a:off x="771697" y="1400493"/>
            <a:ext cx="243381" cy="247505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17600" y="653143"/>
            <a:ext cx="2365829" cy="827315"/>
          </a:xfrm>
          <a:prstGeom prst="rect">
            <a:avLst/>
          </a:prstGeom>
          <a:noFill/>
          <a:ln w="15875">
            <a:solidFill>
              <a:srgbClr val="FFE6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799599" y="2942516"/>
            <a:ext cx="2743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深思的时间及内容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765140" y="3684790"/>
            <a:ext cx="87089" cy="350181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7906608" y="4213115"/>
            <a:ext cx="24475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明天的规划是什么</a:t>
            </a:r>
            <a:endParaRPr lang="en-US" altLang="zh-CN" sz="2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590707" y="3655762"/>
            <a:ext cx="22034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今天做了些什么</a:t>
            </a:r>
            <a:endParaRPr lang="en-US" altLang="zh-CN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922154" y="4242143"/>
            <a:ext cx="38172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对哪些比较满意，哪些不满意</a:t>
            </a:r>
            <a:endParaRPr lang="en-US" altLang="zh-CN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881421" y="3655762"/>
            <a:ext cx="25888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推进哪些重要的</a:t>
            </a: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884033" y="3655762"/>
            <a:ext cx="1474700" cy="461665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每天回顾</a:t>
            </a:r>
            <a:endParaRPr lang="zh-CN" altLang="en-US" sz="24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602514" y="5165248"/>
            <a:ext cx="16422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清空收集蓝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397141" y="5165248"/>
            <a:ext cx="1427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检视清单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561447" y="5780544"/>
            <a:ext cx="18868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回顾年度目标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873738" y="5165248"/>
            <a:ext cx="15965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检视日程表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5658011" y="5818737"/>
            <a:ext cx="2720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回顾最近收集的内容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869519" y="5165248"/>
            <a:ext cx="1474700" cy="461665"/>
          </a:xfrm>
          <a:prstGeom prst="rect">
            <a:avLst/>
          </a:prstGeom>
          <a:solidFill>
            <a:srgbClr val="ED242C"/>
          </a:solidFill>
          <a:effectLst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每月回顾</a:t>
            </a:r>
            <a:endParaRPr lang="zh-CN" altLang="en-US" sz="2400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7765799" y="4236333"/>
            <a:ext cx="87089" cy="350181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7257140" y="5208790"/>
            <a:ext cx="87089" cy="350181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8752111" y="5208790"/>
            <a:ext cx="87089" cy="350181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8411686" y="5834224"/>
            <a:ext cx="87089" cy="350181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75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59871" y="2479969"/>
            <a:ext cx="10120745" cy="397321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762000"/>
            <a:ext cx="12192000" cy="641797"/>
          </a:xfrm>
          <a:prstGeom prst="rect">
            <a:avLst/>
          </a:prstGeom>
          <a:solidFill>
            <a:schemeClr val="accent3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10800000" flipH="1">
            <a:off x="760695" y="435120"/>
            <a:ext cx="253252" cy="318654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13976" y="429492"/>
            <a:ext cx="2585584" cy="1219201"/>
          </a:xfrm>
          <a:prstGeom prst="rect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73673" y="754775"/>
            <a:ext cx="2308433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衣柜整理法</a:t>
            </a:r>
            <a:endParaRPr lang="zh-CN" altLang="en-US" sz="3200" b="1" dirty="0">
              <a:solidFill>
                <a:srgbClr val="FFE6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93273" y="2881763"/>
            <a:ext cx="184728" cy="500066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889093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组 织 整 理</a:t>
            </a:r>
            <a:endParaRPr lang="zh-CN" altLang="en-US" sz="2000" b="1" dirty="0"/>
          </a:p>
        </p:txBody>
      </p:sp>
      <p:sp>
        <p:nvSpPr>
          <p:cNvPr id="65" name="文本框 64"/>
          <p:cNvSpPr txBox="1"/>
          <p:nvPr/>
        </p:nvSpPr>
        <p:spPr>
          <a:xfrm>
            <a:off x="8011901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明 确 意 义</a:t>
            </a:r>
            <a:endParaRPr lang="zh-CN" altLang="en-US" sz="2000" b="1" dirty="0"/>
          </a:p>
        </p:txBody>
      </p:sp>
      <p:sp>
        <p:nvSpPr>
          <p:cNvPr id="68" name="文本框 67"/>
          <p:cNvSpPr txBox="1"/>
          <p:nvPr/>
        </p:nvSpPr>
        <p:spPr>
          <a:xfrm>
            <a:off x="9769233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深  思</a:t>
            </a:r>
            <a:endParaRPr lang="zh-CN" altLang="en-US" sz="2000" b="1" dirty="0"/>
          </a:p>
        </p:txBody>
      </p:sp>
      <p:sp>
        <p:nvSpPr>
          <p:cNvPr id="69" name="文本框 68"/>
          <p:cNvSpPr txBox="1"/>
          <p:nvPr/>
        </p:nvSpPr>
        <p:spPr>
          <a:xfrm>
            <a:off x="10647509" y="294320"/>
            <a:ext cx="492443" cy="1519965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000" b="1" dirty="0" smtClean="0"/>
              <a:t>   行  动</a:t>
            </a:r>
            <a:endParaRPr lang="zh-CN" altLang="en-US" sz="2000" b="1" dirty="0"/>
          </a:p>
        </p:txBody>
      </p:sp>
      <p:sp>
        <p:nvSpPr>
          <p:cNvPr id="70" name="文本框 69"/>
          <p:cNvSpPr txBox="1"/>
          <p:nvPr/>
        </p:nvSpPr>
        <p:spPr>
          <a:xfrm>
            <a:off x="7132863" y="294320"/>
            <a:ext cx="493200" cy="1519200"/>
          </a:xfrm>
          <a:prstGeom prst="rect">
            <a:avLst/>
          </a:prstGeom>
          <a:solidFill>
            <a:srgbClr val="ED242C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eaVert" wrap="square" tIns="90000" bIns="90000">
            <a:noAutofit/>
          </a:bodyPr>
          <a:lstStyle>
            <a:defPPr>
              <a:defRPr lang="zh-CN"/>
            </a:defPPr>
            <a:lvl1pPr>
              <a:defRPr sz="240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zh-CN" altLang="en-US" sz="2000" b="1" dirty="0" smtClean="0"/>
              <a:t>   捕  捉 </a:t>
            </a:r>
            <a:endParaRPr lang="zh-CN" altLang="en-US" sz="2000" b="1" dirty="0"/>
          </a:p>
        </p:txBody>
      </p:sp>
      <p:sp>
        <p:nvSpPr>
          <p:cNvPr id="72" name="任意多边形 71"/>
          <p:cNvSpPr/>
          <p:nvPr/>
        </p:nvSpPr>
        <p:spPr>
          <a:xfrm rot="10800000" flipH="1">
            <a:off x="6985000" y="2984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/>
        </p:nvSpPr>
        <p:spPr>
          <a:xfrm rot="10800000" flipH="1">
            <a:off x="7864475" y="30162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/>
        </p:nvSpPr>
        <p:spPr>
          <a:xfrm rot="10800000" flipH="1">
            <a:off x="8743950" y="30480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/>
        </p:nvSpPr>
        <p:spPr>
          <a:xfrm rot="10800000" flipH="1">
            <a:off x="9623425" y="307975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 rot="10800000" flipH="1">
            <a:off x="10502900" y="311150"/>
            <a:ext cx="148986" cy="463550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/>
        </p:nvSpPr>
        <p:spPr>
          <a:xfrm>
            <a:off x="10648703" y="2050471"/>
            <a:ext cx="514280" cy="443345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/>
        </p:nvSpPr>
        <p:spPr>
          <a:xfrm rot="5400000" flipH="1">
            <a:off x="771697" y="1400493"/>
            <a:ext cx="243381" cy="247505"/>
          </a:xfrm>
          <a:custGeom>
            <a:avLst/>
            <a:gdLst>
              <a:gd name="connsiteX0" fmla="*/ 0 w 365200"/>
              <a:gd name="connsiteY0" fmla="*/ 0 h 398133"/>
              <a:gd name="connsiteX1" fmla="*/ 365200 w 365200"/>
              <a:gd name="connsiteY1" fmla="*/ 0 h 398133"/>
              <a:gd name="connsiteX2" fmla="*/ 365200 w 365200"/>
              <a:gd name="connsiteY2" fmla="*/ 398133 h 3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200" h="398133">
                <a:moveTo>
                  <a:pt x="0" y="0"/>
                </a:moveTo>
                <a:lnTo>
                  <a:pt x="365200" y="0"/>
                </a:lnTo>
                <a:lnTo>
                  <a:pt x="365200" y="398133"/>
                </a:lnTo>
                <a:close/>
              </a:path>
            </a:pathLst>
          </a:custGeom>
          <a:solidFill>
            <a:srgbClr val="3B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117600" y="653143"/>
            <a:ext cx="2365829" cy="827315"/>
          </a:xfrm>
          <a:prstGeom prst="rect">
            <a:avLst/>
          </a:prstGeom>
          <a:noFill/>
          <a:ln w="15875">
            <a:solidFill>
              <a:srgbClr val="FFE6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 rot="10800000">
            <a:off x="10328410" y="7611817"/>
            <a:ext cx="149225" cy="144462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rgbClr val="FF3F3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5" name="任意多边形 54"/>
          <p:cNvSpPr/>
          <p:nvPr/>
        </p:nvSpPr>
        <p:spPr>
          <a:xfrm rot="10800000">
            <a:off x="10328411" y="7810597"/>
            <a:ext cx="149225" cy="144463"/>
          </a:xfrm>
          <a:custGeom>
            <a:avLst/>
            <a:gdLst>
              <a:gd name="connsiteX0" fmla="*/ 609542 w 1219083"/>
              <a:gd name="connsiteY0" fmla="*/ 0 h 1050934"/>
              <a:gd name="connsiteX1" fmla="*/ 1219083 w 1219083"/>
              <a:gd name="connsiteY1" fmla="*/ 1050934 h 1050934"/>
              <a:gd name="connsiteX2" fmla="*/ 1209320 w 1219083"/>
              <a:gd name="connsiteY2" fmla="*/ 1050934 h 1050934"/>
              <a:gd name="connsiteX3" fmla="*/ 1180955 w 1219083"/>
              <a:gd name="connsiteY3" fmla="*/ 1005239 h 1050934"/>
              <a:gd name="connsiteX4" fmla="*/ 609541 w 1219083"/>
              <a:gd name="connsiteY4" fmla="*/ 739583 h 1050934"/>
              <a:gd name="connsiteX5" fmla="*/ 38128 w 1219083"/>
              <a:gd name="connsiteY5" fmla="*/ 1005239 h 1050934"/>
              <a:gd name="connsiteX6" fmla="*/ 9762 w 1219083"/>
              <a:gd name="connsiteY6" fmla="*/ 1050934 h 1050934"/>
              <a:gd name="connsiteX7" fmla="*/ 0 w 1219083"/>
              <a:gd name="connsiteY7" fmla="*/ 1050934 h 1050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083" h="1050934">
                <a:moveTo>
                  <a:pt x="609542" y="0"/>
                </a:moveTo>
                <a:lnTo>
                  <a:pt x="1219083" y="1050934"/>
                </a:lnTo>
                <a:lnTo>
                  <a:pt x="1209320" y="1050934"/>
                </a:lnTo>
                <a:lnTo>
                  <a:pt x="1180955" y="1005239"/>
                </a:lnTo>
                <a:cubicBezTo>
                  <a:pt x="1057118" y="844961"/>
                  <a:pt x="847404" y="739583"/>
                  <a:pt x="609541" y="739583"/>
                </a:cubicBezTo>
                <a:cubicBezTo>
                  <a:pt x="371679" y="739583"/>
                  <a:pt x="161964" y="844961"/>
                  <a:pt x="38128" y="1005239"/>
                </a:cubicBezTo>
                <a:lnTo>
                  <a:pt x="9762" y="1050934"/>
                </a:lnTo>
                <a:lnTo>
                  <a:pt x="0" y="1050934"/>
                </a:lnTo>
                <a:close/>
              </a:path>
            </a:pathLst>
          </a:custGeom>
          <a:solidFill>
            <a:srgbClr val="FF3F3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40" name="图示 39"/>
          <p:cNvGraphicFramePr/>
          <p:nvPr>
            <p:extLst>
              <p:ext uri="{D42A27DB-BD31-4B8C-83A1-F6EECF244321}">
                <p14:modId xmlns:p14="http://schemas.microsoft.com/office/powerpoint/2010/main" val="297824923"/>
              </p:ext>
            </p:extLst>
          </p:nvPr>
        </p:nvGraphicFramePr>
        <p:xfrm>
          <a:off x="2284867" y="3048000"/>
          <a:ext cx="8101012" cy="3991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814286" y="2960914"/>
            <a:ext cx="447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通过六个高度进行检视和规划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738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02856" y="4243098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02856" y="3088355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8112" y="3114647"/>
            <a:ext cx="5486397" cy="1200955"/>
          </a:xfrm>
          <a:solidFill>
            <a:srgbClr val="F4B61E"/>
          </a:solidFill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遇到问题怎么办</a:t>
            </a:r>
            <a:endParaRPr lang="zh-CN" altLang="en-US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228" y="2139674"/>
            <a:ext cx="2745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rgbClr val="FF3F3A"/>
                </a:solidFill>
                <a:latin typeface="方正粗宋繁体" panose="03000509000000000000" pitchFamily="65" charset="-122"/>
                <a:ea typeface="方正粗宋繁体" panose="03000509000000000000" pitchFamily="65" charset="-122"/>
              </a:rPr>
              <a:t>PART 3</a:t>
            </a:r>
            <a:endParaRPr lang="zh-CN" altLang="en-US" sz="5400" dirty="0">
              <a:solidFill>
                <a:srgbClr val="FF3F3A"/>
              </a:solidFill>
              <a:latin typeface="方正粗宋繁体" panose="03000509000000000000" pitchFamily="65" charset="-122"/>
              <a:ea typeface="方正粗宋繁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171523" y="5262904"/>
            <a:ext cx="42512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臣服与拖延</a:t>
            </a:r>
          </a:p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如何做到要事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如何应对临时突发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384362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52946" y="4334084"/>
            <a:ext cx="581892" cy="1938992"/>
          </a:xfrm>
          <a:prstGeom prst="ribbon">
            <a:avLst>
              <a:gd name="adj1" fmla="val 0"/>
              <a:gd name="adj2" fmla="val 75000"/>
            </a:avLst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如何解决拖延</a:t>
            </a:r>
            <a:endParaRPr lang="zh-CN" altLang="en-US" sz="2000" b="1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3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05915" y="2070253"/>
            <a:ext cx="1335314" cy="954107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番茄工作法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747963" y="703831"/>
            <a:ext cx="25500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臣服与拖延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59028" y="2070253"/>
            <a:ext cx="1088427" cy="954107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</a:t>
            </a:r>
            <a:r>
              <a:rPr lang="zh-CN" altLang="en-US" sz="2800" dirty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841324" y="2070253"/>
            <a:ext cx="1062037" cy="954107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</a:t>
            </a:r>
            <a:r>
              <a:rPr lang="zh-CN" altLang="en-US" sz="28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天性</a:t>
            </a:r>
            <a:endParaRPr lang="zh-CN" altLang="en-US" sz="28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23620" y="2070253"/>
            <a:ext cx="1062037" cy="954107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臣服</a:t>
            </a:r>
            <a:r>
              <a:rPr lang="zh-CN" altLang="en-US" sz="28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精力</a:t>
            </a:r>
            <a:endParaRPr lang="zh-CN" altLang="en-US" sz="28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75339" y="4394769"/>
            <a:ext cx="1732973" cy="1826281"/>
            <a:chOff x="1066967" y="4574881"/>
            <a:chExt cx="1732973" cy="1826281"/>
          </a:xfrm>
        </p:grpSpPr>
        <p:sp>
          <p:nvSpPr>
            <p:cNvPr id="35" name="矩形 34"/>
            <p:cNvSpPr/>
            <p:nvPr/>
          </p:nvSpPr>
          <p:spPr>
            <a:xfrm>
              <a:off x="1072888" y="4853162"/>
              <a:ext cx="1727052" cy="1548000"/>
            </a:xfrm>
            <a:prstGeom prst="rect">
              <a:avLst/>
            </a:prstGeom>
            <a:solidFill>
              <a:srgbClr val="FFE699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128547" y="4861267"/>
              <a:ext cx="162916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明确记下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来，分成若干小目标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1066967" y="4574881"/>
              <a:ext cx="1728000" cy="256599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 smtClean="0">
                  <a:solidFill>
                    <a:srgbClr val="FFE699"/>
                  </a:solidFill>
                  <a:latin typeface="微软雅黑" pitchFamily="34" charset="-122"/>
                  <a:ea typeface="微软雅黑" pitchFamily="34" charset="-122"/>
                </a:rPr>
                <a:t>目标</a:t>
              </a:r>
              <a:endParaRPr lang="zh-CN" altLang="en-US" sz="2000" b="1" dirty="0">
                <a:solidFill>
                  <a:srgbClr val="FFE6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780557" y="4394770"/>
            <a:ext cx="1785010" cy="1810863"/>
            <a:chOff x="6445911" y="4574882"/>
            <a:chExt cx="1785010" cy="1810863"/>
          </a:xfrm>
        </p:grpSpPr>
        <p:sp>
          <p:nvSpPr>
            <p:cNvPr id="43" name="矩形 42"/>
            <p:cNvSpPr/>
            <p:nvPr/>
          </p:nvSpPr>
          <p:spPr>
            <a:xfrm>
              <a:off x="6445911" y="4837745"/>
              <a:ext cx="1728000" cy="1548000"/>
            </a:xfrm>
            <a:prstGeom prst="rect">
              <a:avLst/>
            </a:prstGeom>
            <a:solidFill>
              <a:srgbClr val="FFE699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6457539" y="4861267"/>
              <a:ext cx="1773382" cy="96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写成功日志，给自己小奖励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6447671" y="4574882"/>
              <a:ext cx="1728000" cy="25113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 smtClean="0">
                  <a:solidFill>
                    <a:srgbClr val="FFE699"/>
                  </a:solidFill>
                  <a:latin typeface="微软雅黑" pitchFamily="34" charset="-122"/>
                  <a:ea typeface="微软雅黑" pitchFamily="34" charset="-122"/>
                </a:rPr>
                <a:t>及时反馈</a:t>
              </a:r>
              <a:endParaRPr lang="zh-CN" altLang="en-US" sz="2000" b="1" dirty="0">
                <a:solidFill>
                  <a:srgbClr val="FFE6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137272" y="4394770"/>
            <a:ext cx="1729702" cy="1797984"/>
            <a:chOff x="9081852" y="4574882"/>
            <a:chExt cx="1729702" cy="1797984"/>
          </a:xfrm>
        </p:grpSpPr>
        <p:sp>
          <p:nvSpPr>
            <p:cNvPr id="54" name="矩形 53"/>
            <p:cNvSpPr/>
            <p:nvPr/>
          </p:nvSpPr>
          <p:spPr>
            <a:xfrm>
              <a:off x="9081852" y="4824866"/>
              <a:ext cx="1728000" cy="1548000"/>
            </a:xfrm>
            <a:prstGeom prst="rect">
              <a:avLst/>
            </a:prstGeom>
            <a:solidFill>
              <a:srgbClr val="FFE699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9114405" y="4861267"/>
              <a:ext cx="166575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调整心态，从“要我做”到我要做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9083554" y="4574882"/>
              <a:ext cx="1728000" cy="25113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 smtClean="0">
                  <a:solidFill>
                    <a:srgbClr val="FFE699"/>
                  </a:solidFill>
                  <a:latin typeface="微软雅黑" pitchFamily="34" charset="-122"/>
                  <a:ea typeface="微软雅黑" pitchFamily="34" charset="-122"/>
                </a:rPr>
                <a:t>自愿参与</a:t>
              </a:r>
              <a:endParaRPr lang="zh-CN" altLang="en-US" sz="2000" b="1" dirty="0">
                <a:solidFill>
                  <a:srgbClr val="FFE6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480016" y="4394770"/>
            <a:ext cx="1728837" cy="1763713"/>
            <a:chOff x="3733996" y="4574882"/>
            <a:chExt cx="1728837" cy="1763713"/>
          </a:xfrm>
        </p:grpSpPr>
        <p:sp>
          <p:nvSpPr>
            <p:cNvPr id="39" name="矩形 38"/>
            <p:cNvSpPr/>
            <p:nvPr/>
          </p:nvSpPr>
          <p:spPr>
            <a:xfrm>
              <a:off x="3733996" y="4775888"/>
              <a:ext cx="1728000" cy="1548000"/>
            </a:xfrm>
            <a:prstGeom prst="rect">
              <a:avLst/>
            </a:prstGeom>
            <a:solidFill>
              <a:srgbClr val="FFE699"/>
            </a:solidFill>
            <a:ln w="19050"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3734833" y="4574882"/>
              <a:ext cx="1728000" cy="25113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 smtClean="0">
                  <a:solidFill>
                    <a:srgbClr val="FFE699"/>
                  </a:solidFill>
                  <a:latin typeface="微软雅黑" pitchFamily="34" charset="-122"/>
                  <a:ea typeface="微软雅黑" pitchFamily="34" charset="-122"/>
                </a:rPr>
                <a:t>规则</a:t>
              </a:r>
              <a:endParaRPr lang="zh-CN" altLang="en-US" sz="2000" b="1" dirty="0">
                <a:solidFill>
                  <a:srgbClr val="FFE6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775560" y="4861267"/>
              <a:ext cx="167059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建立小系统并变成仪式，养成习惯</a:t>
              </a:r>
            </a:p>
          </p:txBody>
        </p:sp>
      </p:grpSp>
      <p:sp>
        <p:nvSpPr>
          <p:cNvPr id="2" name="右箭头 1"/>
          <p:cNvSpPr/>
          <p:nvPr/>
        </p:nvSpPr>
        <p:spPr>
          <a:xfrm>
            <a:off x="4003300" y="4997067"/>
            <a:ext cx="420914" cy="362857"/>
          </a:xfrm>
          <a:prstGeom prst="rightArrow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6323279" y="4997067"/>
            <a:ext cx="420914" cy="362857"/>
          </a:xfrm>
          <a:prstGeom prst="rightArrow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8643258" y="4997067"/>
            <a:ext cx="420914" cy="362857"/>
          </a:xfrm>
          <a:prstGeom prst="rightArrow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加号 6"/>
          <p:cNvSpPr/>
          <p:nvPr/>
        </p:nvSpPr>
        <p:spPr>
          <a:xfrm>
            <a:off x="8244772" y="2192986"/>
            <a:ext cx="827314" cy="827314"/>
          </a:xfrm>
          <a:prstGeom prst="mathPlus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加号 28"/>
          <p:cNvSpPr/>
          <p:nvPr/>
        </p:nvSpPr>
        <p:spPr>
          <a:xfrm>
            <a:off x="5414486" y="2192986"/>
            <a:ext cx="827314" cy="827314"/>
          </a:xfrm>
          <a:prstGeom prst="mathPlus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加号 29"/>
          <p:cNvSpPr/>
          <p:nvPr/>
        </p:nvSpPr>
        <p:spPr>
          <a:xfrm>
            <a:off x="2584201" y="2192986"/>
            <a:ext cx="827314" cy="827314"/>
          </a:xfrm>
          <a:prstGeom prst="mathPlus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0" y="3780415"/>
            <a:ext cx="12192000" cy="0"/>
          </a:xfrm>
          <a:prstGeom prst="line">
            <a:avLst/>
          </a:prstGeom>
          <a:ln w="28575">
            <a:solidFill>
              <a:srgbClr val="ED24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1908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2964874" y="5832473"/>
            <a:ext cx="5957455" cy="657227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103649" y="4530438"/>
            <a:ext cx="4758315" cy="657227"/>
          </a:xfrm>
          <a:prstGeom prst="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747963" y="504700"/>
            <a:ext cx="3600883" cy="755650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如何做到要事第一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1462" y="1754402"/>
            <a:ext cx="3009169" cy="461665"/>
          </a:xfrm>
          <a:prstGeom prst="rect">
            <a:avLst/>
          </a:prstGeom>
          <a:noFill/>
          <a:effectLst/>
        </p:spPr>
        <p:txBody>
          <a:bodyPr vert="horz"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为什么会琐事优先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8075" y="2629803"/>
            <a:ext cx="2520839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大脑喜欢简单的事情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57600" y="2629803"/>
            <a:ext cx="2627087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总是倾向于即时满足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328226" y="2629803"/>
            <a:ext cx="38462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没有理性到不顾沉没成本的地步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617248" y="4502726"/>
            <a:ext cx="5257078" cy="657227"/>
            <a:chOff x="617248" y="4627419"/>
            <a:chExt cx="5257078" cy="657227"/>
          </a:xfrm>
        </p:grpSpPr>
        <p:sp>
          <p:nvSpPr>
            <p:cNvPr id="11" name="矩形 10"/>
            <p:cNvSpPr/>
            <p:nvPr/>
          </p:nvSpPr>
          <p:spPr>
            <a:xfrm>
              <a:off x="617248" y="4627419"/>
              <a:ext cx="5257078" cy="657227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09696" y="4696505"/>
              <a:ext cx="5081507" cy="492443"/>
            </a:xfrm>
            <a:prstGeom prst="rect">
              <a:avLst/>
            </a:prstGeom>
            <a:noFill/>
            <a:ln w="12700">
              <a:solidFill>
                <a:srgbClr val="ED242C"/>
              </a:solidFill>
              <a:prstDash val="lgDashDot"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谋定而后动，让事情简单和明确，易于执行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047696" y="5913382"/>
            <a:ext cx="5777297" cy="453457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找准事件核心，将其分解执行，做到“断点续传”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183090" y="4612716"/>
            <a:ext cx="4571996" cy="453457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用番茄工作法将重要不紧急的事情搬走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3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3406" y="3663427"/>
            <a:ext cx="3123851" cy="461665"/>
          </a:xfrm>
          <a:prstGeom prst="rect">
            <a:avLst/>
          </a:prstGeom>
          <a:noFill/>
          <a:effectLst/>
        </p:spPr>
        <p:txBody>
          <a:bodyPr vert="horz"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如何避免琐事优先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17100" y="2662514"/>
            <a:ext cx="125639" cy="566057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723331" y="5509048"/>
            <a:ext cx="10176900" cy="0"/>
          </a:xfrm>
          <a:prstGeom prst="straightConnector1">
            <a:avLst/>
          </a:prstGeom>
          <a:ln w="76200">
            <a:solidFill>
              <a:srgbClr val="ED242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等腰三角形 28"/>
          <p:cNvSpPr/>
          <p:nvPr/>
        </p:nvSpPr>
        <p:spPr>
          <a:xfrm flipV="1">
            <a:off x="3102100" y="5110388"/>
            <a:ext cx="263237" cy="346364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flipV="1">
            <a:off x="8416308" y="5110388"/>
            <a:ext cx="263237" cy="346364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等腰三角形 31"/>
          <p:cNvSpPr/>
          <p:nvPr/>
        </p:nvSpPr>
        <p:spPr>
          <a:xfrm flipH="1">
            <a:off x="5937003" y="5538560"/>
            <a:ext cx="263237" cy="346364"/>
          </a:xfrm>
          <a:prstGeom prst="triangle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3531957" y="2662514"/>
            <a:ext cx="125639" cy="566057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8" name="矩形 37"/>
          <p:cNvSpPr/>
          <p:nvPr/>
        </p:nvSpPr>
        <p:spPr>
          <a:xfrm>
            <a:off x="803274" y="2662514"/>
            <a:ext cx="125639" cy="566057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2945919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2747963" y="560821"/>
            <a:ext cx="4354513" cy="730250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如何应对临时突发事件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089300" y="3135083"/>
            <a:ext cx="2830180" cy="3207659"/>
            <a:chOff x="1727925" y="2917370"/>
            <a:chExt cx="2830180" cy="3207659"/>
          </a:xfrm>
        </p:grpSpPr>
        <p:sp>
          <p:nvSpPr>
            <p:cNvPr id="12" name="矩形 11"/>
            <p:cNvSpPr/>
            <p:nvPr/>
          </p:nvSpPr>
          <p:spPr>
            <a:xfrm>
              <a:off x="1730134" y="2918688"/>
              <a:ext cx="2741270" cy="3206341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1727925" y="2917370"/>
              <a:ext cx="2743200" cy="478972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会前</a:t>
              </a:r>
              <a:endParaRPr lang="zh-CN" altLang="en-US" sz="20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733544" y="3084122"/>
              <a:ext cx="2824561" cy="2834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lang="en-US" altLang="zh-CN" b="1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为什么开这次会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主题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确定相关人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确定会议记录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预约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会议室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发送会议邀请、通知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设置行事历，提前到场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70409" y="3135083"/>
            <a:ext cx="2746347" cy="3222172"/>
            <a:chOff x="5157768" y="2917371"/>
            <a:chExt cx="2746347" cy="3222172"/>
          </a:xfrm>
        </p:grpSpPr>
        <p:sp>
          <p:nvSpPr>
            <p:cNvPr id="15" name="矩形 14"/>
            <p:cNvSpPr/>
            <p:nvPr/>
          </p:nvSpPr>
          <p:spPr>
            <a:xfrm>
              <a:off x="5157768" y="2918688"/>
              <a:ext cx="2741270" cy="3220855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160915" y="2917371"/>
              <a:ext cx="2743200" cy="478972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会中</a:t>
              </a:r>
              <a:endParaRPr lang="zh-CN" altLang="en-US" sz="20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240441" y="3235652"/>
              <a:ext cx="2599647" cy="2834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b="1" dirty="0" smtClean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组织者控制会议节奏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设置番茄时间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会议不超过</a:t>
              </a:r>
              <a:r>
                <a:rPr lang="en-US" altLang="zh-CN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小时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站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着开会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342900" indent="-342900">
                <a:lnSpc>
                  <a:spcPct val="120000"/>
                </a:lnSpc>
                <a:buFont typeface="+mj-ea"/>
                <a:buAutoNum type="circleNumDbPlain"/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最后用</a:t>
              </a:r>
              <a:r>
                <a:rPr lang="en-US" altLang="zh-CN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分钟来总结，确定每个议题行动计划以及负责人</a:t>
              </a:r>
              <a:endPara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3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01377" y="1719730"/>
            <a:ext cx="5789245" cy="461665"/>
          </a:xfrm>
          <a:prstGeom prst="ribbon">
            <a:avLst>
              <a:gd name="adj1" fmla="val 0"/>
              <a:gd name="adj2" fmla="val 64891"/>
            </a:avLst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做事靠系统，而不是感觉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367686" y="3135083"/>
            <a:ext cx="2744814" cy="3278912"/>
            <a:chOff x="8367686" y="2918689"/>
            <a:chExt cx="2744814" cy="3278912"/>
          </a:xfrm>
        </p:grpSpPr>
        <p:sp>
          <p:nvSpPr>
            <p:cNvPr id="18" name="矩形 17"/>
            <p:cNvSpPr/>
            <p:nvPr/>
          </p:nvSpPr>
          <p:spPr>
            <a:xfrm>
              <a:off x="8367686" y="2918689"/>
              <a:ext cx="2741270" cy="3278912"/>
            </a:xfrm>
            <a:prstGeom prst="rect">
              <a:avLst/>
            </a:prstGeom>
            <a:solidFill>
              <a:srgbClr val="FFE69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470039" y="3177014"/>
              <a:ext cx="2599647" cy="300082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b="1" dirty="0" smtClean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会议记录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员发送会议纪要给与会成员，会议纪要要符合金字塔原理：先写行动计划、负责人、时间底线，在写讨论过程。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8369300" y="2923540"/>
              <a:ext cx="2743200" cy="478972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会后</a:t>
              </a:r>
              <a:endParaRPr lang="zh-CN" altLang="en-US" sz="20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右箭头 30"/>
          <p:cNvSpPr/>
          <p:nvPr/>
        </p:nvSpPr>
        <p:spPr>
          <a:xfrm>
            <a:off x="4136574" y="4449763"/>
            <a:ext cx="420914" cy="362857"/>
          </a:xfrm>
          <a:prstGeom prst="rightArrow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>
            <a:off x="7852231" y="4449763"/>
            <a:ext cx="420914" cy="362857"/>
          </a:xfrm>
          <a:prstGeom prst="rightArrow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956628" y="2448909"/>
            <a:ext cx="2278743" cy="461665"/>
          </a:xfrm>
          <a:prstGeom prst="ribbon">
            <a:avLst>
              <a:gd name="adj1" fmla="val 0"/>
              <a:gd name="adj2" fmla="val 64891"/>
            </a:avLst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举个例子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64191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02856" y="4243098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02856" y="3088176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8112" y="3114647"/>
            <a:ext cx="5486397" cy="1200955"/>
          </a:xfrm>
          <a:solidFill>
            <a:srgbClr val="F4B61E"/>
          </a:solidFill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如何养成一个好习惯</a:t>
            </a:r>
            <a:endParaRPr lang="zh-CN" altLang="en-US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228" y="2139674"/>
            <a:ext cx="2745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rgbClr val="FF3F3A"/>
                </a:solidFill>
                <a:latin typeface="方正粗宋繁体" panose="03000509000000000000" pitchFamily="65" charset="-122"/>
                <a:ea typeface="方正粗宋繁体" panose="03000509000000000000" pitchFamily="65" charset="-122"/>
              </a:rPr>
              <a:t>PART 4</a:t>
            </a:r>
            <a:endParaRPr lang="zh-CN" altLang="en-US" sz="5400" dirty="0">
              <a:solidFill>
                <a:srgbClr val="FF3F3A"/>
              </a:solidFill>
              <a:latin typeface="方正粗宋繁体" panose="03000509000000000000" pitchFamily="65" charset="-122"/>
              <a:ea typeface="方正粗宋繁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549400" y="5571998"/>
            <a:ext cx="7093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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首先我们养成习惯，然后习惯改变我们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437878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40885" y="683168"/>
            <a:ext cx="39370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如何养成一个好习惯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4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38517" y="2588269"/>
            <a:ext cx="2481658" cy="1068154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tIns="90000" bIns="90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培养习惯首先要找到驱动力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68368" y="2588269"/>
            <a:ext cx="2481658" cy="1068154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tIns="90000" bIns="90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再微不足道的成就都要大肆庆祝</a:t>
            </a:r>
            <a:endParaRPr lang="en-US" altLang="zh-CN" sz="24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98219" y="2588269"/>
            <a:ext cx="2481658" cy="1068154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tIns="90000" bIns="90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培养习惯不是一个人的事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336473" y="2334590"/>
            <a:ext cx="0" cy="3616037"/>
          </a:xfrm>
          <a:prstGeom prst="line">
            <a:avLst/>
          </a:prstGeom>
          <a:ln w="12700">
            <a:solidFill>
              <a:srgbClr val="ED24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7813964" y="2334590"/>
            <a:ext cx="0" cy="3629892"/>
          </a:xfrm>
          <a:prstGeom prst="line">
            <a:avLst/>
          </a:prstGeom>
          <a:ln w="12700">
            <a:solidFill>
              <a:srgbClr val="ED24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546133" y="2329906"/>
            <a:ext cx="2481943" cy="246743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870268" y="2334590"/>
            <a:ext cx="2481943" cy="246743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200571" y="2337526"/>
            <a:ext cx="2481943" cy="246743"/>
          </a:xfrm>
          <a:prstGeom prst="rect">
            <a:avLst/>
          </a:prstGeom>
          <a:solidFill>
            <a:srgbClr val="ED24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465" y="4050439"/>
            <a:ext cx="1774090" cy="17740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470" y="4050439"/>
            <a:ext cx="1603387" cy="160338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  <a14:imgEffect>
                      <a14:saturation sat="85000"/>
                    </a14:imgEffect>
                    <a14:imgEffect>
                      <a14:brightnessContrast bright="9000" contras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803" y="4050439"/>
            <a:ext cx="1749704" cy="174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49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02856" y="4243098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02856" y="3089331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8112" y="3114647"/>
            <a:ext cx="5486397" cy="1200955"/>
          </a:xfrm>
          <a:solidFill>
            <a:srgbClr val="F4B61E"/>
          </a:solidFill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如何让想法落地</a:t>
            </a:r>
            <a:endParaRPr lang="zh-CN" altLang="en-US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228" y="2139674"/>
            <a:ext cx="2745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rgbClr val="FF3F3A"/>
                </a:solidFill>
                <a:latin typeface="方正粗宋繁体" panose="03000509000000000000" pitchFamily="65" charset="-122"/>
                <a:ea typeface="方正粗宋繁体" panose="03000509000000000000" pitchFamily="65" charset="-122"/>
              </a:rPr>
              <a:t>PART 5</a:t>
            </a:r>
            <a:endParaRPr lang="zh-CN" altLang="en-US" sz="5400" dirty="0">
              <a:solidFill>
                <a:srgbClr val="FF3F3A"/>
              </a:solidFill>
              <a:latin typeface="方正粗宋繁体" panose="03000509000000000000" pitchFamily="65" charset="-122"/>
              <a:ea typeface="方正粗宋繁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88187" y="5005324"/>
            <a:ext cx="4441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法则厘清目标</a:t>
            </a:r>
            <a:endParaRPr lang="en-US" altLang="zh-CN" sz="28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用思维导图梳理计划</a:t>
            </a:r>
            <a:endParaRPr lang="en-US" altLang="zh-CN" sz="28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用甘特图掌控进度</a:t>
            </a:r>
            <a:endParaRPr lang="en-US" altLang="zh-CN" sz="2800" b="1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Wingdings" panose="05000000000000000000" pitchFamily="2" charset="2"/>
              <a:buChar char=""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用九宫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格平衡人生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333524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1156435" y="2127192"/>
            <a:ext cx="9879130" cy="1068947"/>
            <a:chOff x="1158858" y="1549508"/>
            <a:chExt cx="9879130" cy="1068947"/>
          </a:xfrm>
        </p:grpSpPr>
        <p:sp>
          <p:nvSpPr>
            <p:cNvPr id="2" name="矩形 1"/>
            <p:cNvSpPr/>
            <p:nvPr/>
          </p:nvSpPr>
          <p:spPr>
            <a:xfrm rot="2700000">
              <a:off x="1158858" y="1549508"/>
              <a:ext cx="1068947" cy="106894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/>
            <p:cNvSpPr/>
            <p:nvPr/>
          </p:nvSpPr>
          <p:spPr>
            <a:xfrm rot="2700000">
              <a:off x="3361404" y="1549508"/>
              <a:ext cx="1068947" cy="106894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 rot="2700000">
              <a:off x="5563950" y="1549508"/>
              <a:ext cx="1068947" cy="106894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 rot="2700000">
              <a:off x="7766496" y="1549508"/>
              <a:ext cx="1068947" cy="106894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2700000">
              <a:off x="9969041" y="1549508"/>
              <a:ext cx="1068947" cy="1068947"/>
            </a:xfrm>
            <a:prstGeom prst="rect">
              <a:avLst/>
            </a:prstGeom>
            <a:solidFill>
              <a:srgbClr val="ED242C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  <a:reflection blurRad="6350" stA="50000" endA="300" endPos="3850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78887" y="1659624"/>
              <a:ext cx="6752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lang="zh-CN" altLang="en-US" sz="44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94411" y="1659624"/>
              <a:ext cx="6752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endParaRPr lang="zh-CN" altLang="en-US" sz="44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809935" y="1659624"/>
              <a:ext cx="6752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zh-CN" altLang="en-US" sz="44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025459" y="1659624"/>
              <a:ext cx="6752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zh-CN" altLang="en-US" sz="44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240981" y="1659624"/>
              <a:ext cx="67525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400" b="1" dirty="0" smtClean="0">
                  <a:solidFill>
                    <a:srgbClr val="FFE6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zh-CN" altLang="en-US" sz="4400" b="1" dirty="0">
                <a:solidFill>
                  <a:srgbClr val="FFE6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775527" y="695367"/>
            <a:ext cx="4059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SMART</a:t>
            </a:r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法则厘清目标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5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45130" y="3963552"/>
            <a:ext cx="10501744" cy="2367063"/>
            <a:chOff x="845130" y="3772480"/>
            <a:chExt cx="10501744" cy="2367063"/>
          </a:xfrm>
        </p:grpSpPr>
        <p:grpSp>
          <p:nvGrpSpPr>
            <p:cNvPr id="19" name="组合 18"/>
            <p:cNvGrpSpPr/>
            <p:nvPr/>
          </p:nvGrpSpPr>
          <p:grpSpPr>
            <a:xfrm>
              <a:off x="845130" y="3772480"/>
              <a:ext cx="10501744" cy="2367063"/>
              <a:chOff x="817420" y="3370694"/>
              <a:chExt cx="10501744" cy="2367063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914612" y="3763960"/>
                <a:ext cx="1551497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zh-CN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目标一定要明确，不能够模糊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5257799" y="3763960"/>
                <a:ext cx="160712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目标的可衡量性，是否有一个实现目标的标准</a:t>
                </a: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3135336" y="3763960"/>
                <a:ext cx="145323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zh-CN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目标的可实现性</a:t>
                </a:r>
                <a:endParaRPr lang="en-US" altLang="zh-CN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7534152" y="3763960"/>
                <a:ext cx="1508655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目标必须和其他目标具有相关性</a:t>
                </a:r>
                <a:endParaRPr lang="en-US" altLang="zh-CN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712035" y="3716338"/>
                <a:ext cx="1510145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2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目标必须有明确的截止期限</a:t>
                </a:r>
                <a:endParaRPr lang="en-US" altLang="zh-CN" sz="2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817420" y="3370694"/>
                <a:ext cx="1745672" cy="2367063"/>
              </a:xfrm>
              <a:prstGeom prst="rect">
                <a:avLst/>
              </a:prstGeom>
              <a:noFill/>
              <a:ln w="12700">
                <a:solidFill>
                  <a:srgbClr val="ED242C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006438" y="3370695"/>
                <a:ext cx="1745672" cy="2323520"/>
              </a:xfrm>
              <a:prstGeom prst="rect">
                <a:avLst/>
              </a:prstGeom>
              <a:noFill/>
              <a:ln w="12700">
                <a:solidFill>
                  <a:srgbClr val="ED242C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5195456" y="3370695"/>
                <a:ext cx="1745672" cy="2323520"/>
              </a:xfrm>
              <a:prstGeom prst="rect">
                <a:avLst/>
              </a:prstGeom>
              <a:noFill/>
              <a:ln w="12700">
                <a:solidFill>
                  <a:srgbClr val="ED242C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7384474" y="3370695"/>
                <a:ext cx="1745672" cy="2323520"/>
              </a:xfrm>
              <a:prstGeom prst="rect">
                <a:avLst/>
              </a:prstGeom>
              <a:noFill/>
              <a:ln w="12700">
                <a:solidFill>
                  <a:srgbClr val="ED242C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9573492" y="3370695"/>
                <a:ext cx="1745672" cy="2323520"/>
              </a:xfrm>
              <a:prstGeom prst="rect">
                <a:avLst/>
              </a:prstGeom>
              <a:noFill/>
              <a:ln w="12700">
                <a:solidFill>
                  <a:srgbClr val="ED242C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955962" y="5648697"/>
              <a:ext cx="1413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Specific</a:t>
              </a:r>
              <a:endParaRPr lang="zh-CN" altLang="en-US" dirty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142022" y="5648697"/>
              <a:ext cx="1517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Measurable</a:t>
              </a:r>
              <a:endParaRPr lang="zh-CN" altLang="en-US" dirty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328082" y="5648697"/>
              <a:ext cx="1413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Attainable</a:t>
              </a:r>
              <a:endParaRPr lang="zh-CN" altLang="en-US" dirty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514142" y="5648697"/>
              <a:ext cx="14131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Relevant</a:t>
              </a:r>
              <a:endParaRPr lang="zh-CN" altLang="en-US" dirty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700201" y="5648697"/>
              <a:ext cx="16189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FF3F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Time-bound</a:t>
              </a:r>
              <a:endParaRPr lang="zh-CN" altLang="en-US" dirty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3244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299120" y="5104530"/>
            <a:ext cx="474171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项目的里程碑和任务</a:t>
            </a:r>
            <a:endParaRPr lang="en-US" altLang="zh-CN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标明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每个里程碑和任务的时间期限</a:t>
            </a:r>
            <a:endParaRPr lang="en-US" altLang="zh-CN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标明</a:t>
            </a: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289321" y="1670133"/>
            <a:ext cx="3449766" cy="461665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思维导</a:t>
            </a: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图：</a:t>
            </a:r>
            <a:r>
              <a:rPr lang="zh-CN" altLang="en-US" sz="2400" dirty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梳理</a:t>
            </a: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89320" y="4441223"/>
            <a:ext cx="3203023" cy="461665"/>
          </a:xfrm>
          <a:prstGeom prst="rect">
            <a:avLst/>
          </a:prstGeom>
          <a:solidFill>
            <a:srgbClr val="FFE699"/>
          </a:solidFill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甘特图：掌握进度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2975" y="2342084"/>
            <a:ext cx="434117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建立框架</a:t>
            </a:r>
            <a:endParaRPr lang="en-US" altLang="zh-CN" sz="2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对每个要素进行发散思维</a:t>
            </a:r>
            <a:endParaRPr lang="en-US" altLang="zh-CN" sz="2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微软雅黑" panose="020B0503020204020204" pitchFamily="34" charset="-122"/>
              <a:buChar char="-"/>
            </a:pPr>
            <a:r>
              <a:rPr lang="zh-CN" altLang="en-US" sz="2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删减及精简</a:t>
            </a: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512" y="4176840"/>
            <a:ext cx="12128011" cy="0"/>
          </a:xfrm>
          <a:prstGeom prst="line">
            <a:avLst/>
          </a:prstGeom>
          <a:ln w="25400">
            <a:solidFill>
              <a:srgbClr val="FF3F3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5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61963" y="692096"/>
            <a:ext cx="3435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思维导图，甘特图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96016" y="2359363"/>
            <a:ext cx="4731375" cy="1487948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296016" y="5098036"/>
            <a:ext cx="4745023" cy="1590979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89716" y="1569489"/>
            <a:ext cx="3891396" cy="2395431"/>
            <a:chOff x="789716" y="1733265"/>
            <a:chExt cx="3891396" cy="239543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716" y="1733265"/>
              <a:ext cx="3891396" cy="239543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" name="矩形 6"/>
            <p:cNvSpPr/>
            <p:nvPr/>
          </p:nvSpPr>
          <p:spPr>
            <a:xfrm>
              <a:off x="887104" y="1842448"/>
              <a:ext cx="3712190" cy="2251880"/>
            </a:xfrm>
            <a:prstGeom prst="rect">
              <a:avLst/>
            </a:prstGeom>
            <a:noFill/>
            <a:ln w="38100">
              <a:solidFill>
                <a:srgbClr val="ED24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89716" y="4252100"/>
            <a:ext cx="3885315" cy="2490501"/>
            <a:chOff x="789716" y="4252100"/>
            <a:chExt cx="3885315" cy="2490501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9716" y="4252100"/>
              <a:ext cx="3885315" cy="249050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7" name="矩形 16"/>
            <p:cNvSpPr/>
            <p:nvPr/>
          </p:nvSpPr>
          <p:spPr>
            <a:xfrm>
              <a:off x="887103" y="4380928"/>
              <a:ext cx="3712190" cy="2272351"/>
            </a:xfrm>
            <a:prstGeom prst="rect">
              <a:avLst/>
            </a:prstGeom>
            <a:noFill/>
            <a:ln w="38100">
              <a:solidFill>
                <a:srgbClr val="ED242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9720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7980219" y="2272145"/>
            <a:ext cx="3117272" cy="2957080"/>
          </a:xfrm>
          <a:prstGeom prst="rect">
            <a:avLst/>
          </a:prstGeom>
          <a:solidFill>
            <a:srgbClr val="FFE699"/>
          </a:solidFill>
          <a:ln>
            <a:noFill/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762432" y="681195"/>
            <a:ext cx="3292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九宫格平衡人生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19427" y="2441040"/>
            <a:ext cx="2797953" cy="2602045"/>
          </a:xfrm>
          <a:prstGeom prst="rect">
            <a:avLst/>
          </a:prstGeom>
          <a:noFill/>
          <a:ln w="12700">
            <a:solidFill>
              <a:srgbClr val="ED242C"/>
            </a:solidFill>
            <a:prstDash val="lgDashDot"/>
          </a:ln>
          <a:effectLst/>
        </p:spPr>
        <p:txBody>
          <a:bodyPr wrap="square" lIns="72000" tIns="0" rIns="108000" bIns="108000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在动态平衡的状态是最舒服的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最基本的就是工作和生活的平衡。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不仅需要认真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地工作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还需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认真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生活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5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244432" y="2648760"/>
            <a:ext cx="347730" cy="347730"/>
          </a:xfrm>
          <a:prstGeom prst="ellipse">
            <a:avLst/>
          </a:prstGeom>
          <a:solidFill>
            <a:srgbClr val="ED24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>
            <a:off x="5183338" y="6141460"/>
            <a:ext cx="2036618" cy="623456"/>
          </a:xfrm>
          <a:prstGeom prst="triangle">
            <a:avLst/>
          </a:prstGeom>
          <a:solidFill>
            <a:srgbClr val="FF3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2987395" y="5638805"/>
            <a:ext cx="6594764" cy="277090"/>
          </a:xfrm>
          <a:prstGeom prst="rect">
            <a:avLst/>
          </a:prstGeom>
          <a:solidFill>
            <a:srgbClr val="FF3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2"/>
          <a:srcRect t="69740" b="6738"/>
          <a:stretch/>
        </p:blipFill>
        <p:spPr>
          <a:xfrm>
            <a:off x="2362477" y="5134991"/>
            <a:ext cx="1408298" cy="725486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2"/>
          <a:srcRect t="69740" b="6738"/>
          <a:stretch/>
        </p:blipFill>
        <p:spPr>
          <a:xfrm>
            <a:off x="8804840" y="5134991"/>
            <a:ext cx="1408298" cy="725486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5910701" y="5763490"/>
            <a:ext cx="581891" cy="457200"/>
          </a:xfrm>
          <a:prstGeom prst="rect">
            <a:avLst/>
          </a:prstGeom>
          <a:solidFill>
            <a:srgbClr val="FF3F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697" y="2191657"/>
            <a:ext cx="3085256" cy="307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980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02856" y="4243098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02856" y="3088176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8112" y="3114647"/>
            <a:ext cx="5486397" cy="1200955"/>
          </a:xfrm>
          <a:solidFill>
            <a:srgbClr val="F4B61E"/>
          </a:solidFill>
        </p:spPr>
        <p:txBody>
          <a:bodyPr/>
          <a:lstStyle/>
          <a:p>
            <a:pPr algn="ctr"/>
            <a:r>
              <a:rPr lang="zh-CN" altLang="en-US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建立高效办公区</a:t>
            </a:r>
            <a:endParaRPr lang="zh-CN" altLang="en-US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228" y="2139674"/>
            <a:ext cx="2745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 smtClean="0">
                <a:solidFill>
                  <a:srgbClr val="FF3F3A"/>
                </a:solidFill>
                <a:latin typeface="方正粗宋繁体" panose="03000509000000000000" pitchFamily="65" charset="-122"/>
                <a:ea typeface="方正粗宋繁体" panose="03000509000000000000" pitchFamily="65" charset="-122"/>
              </a:rPr>
              <a:t>PART 6</a:t>
            </a:r>
            <a:endParaRPr lang="zh-CN" altLang="en-US" sz="5400" dirty="0">
              <a:solidFill>
                <a:srgbClr val="FF3F3A"/>
              </a:solidFill>
              <a:latin typeface="方正粗宋繁体" panose="03000509000000000000" pitchFamily="65" charset="-122"/>
              <a:ea typeface="方正粗宋繁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604731" y="5588779"/>
            <a:ext cx="6968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Z"/>
            </a:pP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或许，身边的环境才是自己成功的根源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38597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264198" y="2543313"/>
            <a:ext cx="1417816" cy="1292088"/>
            <a:chOff x="3139327" y="2543313"/>
            <a:chExt cx="1417816" cy="1292088"/>
          </a:xfrm>
        </p:grpSpPr>
        <p:sp>
          <p:nvSpPr>
            <p:cNvPr id="35" name="任意多边形 34"/>
            <p:cNvSpPr/>
            <p:nvPr/>
          </p:nvSpPr>
          <p:spPr>
            <a:xfrm>
              <a:off x="3265055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3F3A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3139327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E699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待处理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461484" y="2543313"/>
            <a:ext cx="1413079" cy="1292088"/>
            <a:chOff x="5355027" y="2543313"/>
            <a:chExt cx="1413079" cy="1292088"/>
          </a:xfrm>
        </p:grpSpPr>
        <p:sp>
          <p:nvSpPr>
            <p:cNvPr id="36" name="任意多边形 35"/>
            <p:cNvSpPr/>
            <p:nvPr/>
          </p:nvSpPr>
          <p:spPr>
            <a:xfrm>
              <a:off x="5476018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3F3A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5355027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E699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整理归档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654033" y="2543313"/>
            <a:ext cx="1408342" cy="1292088"/>
            <a:chOff x="7570727" y="2543313"/>
            <a:chExt cx="1408342" cy="1292088"/>
          </a:xfrm>
        </p:grpSpPr>
        <p:sp>
          <p:nvSpPr>
            <p:cNvPr id="37" name="任意多边形 36"/>
            <p:cNvSpPr/>
            <p:nvPr/>
          </p:nvSpPr>
          <p:spPr>
            <a:xfrm>
              <a:off x="7686981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3F3A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7570727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E699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扔进废纸篓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076030" y="2543313"/>
            <a:ext cx="1408698" cy="1292088"/>
            <a:chOff x="937482" y="2543313"/>
            <a:chExt cx="1408698" cy="1292088"/>
          </a:xfrm>
        </p:grpSpPr>
        <p:sp>
          <p:nvSpPr>
            <p:cNvPr id="34" name="任意多边形 33"/>
            <p:cNvSpPr/>
            <p:nvPr/>
          </p:nvSpPr>
          <p:spPr>
            <a:xfrm>
              <a:off x="1054092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3F3A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937482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E699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交给他人处理</a:t>
              </a:r>
              <a:endParaRPr lang="zh-CN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347729" y="579550"/>
            <a:ext cx="17901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PART 6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7963" y="679533"/>
            <a:ext cx="3879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FF3F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资料分类，桌面整理</a:t>
            </a:r>
            <a:endParaRPr lang="zh-CN" altLang="en-US" sz="3200" dirty="0">
              <a:solidFill>
                <a:srgbClr val="FF3F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7482" y="1731815"/>
            <a:ext cx="2037947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资料分类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37482" y="4211774"/>
            <a:ext cx="199440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olidFill>
                  <a:srgbClr val="ED242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桌面整理</a:t>
            </a:r>
            <a:endParaRPr lang="zh-CN" altLang="en-US" sz="2400" dirty="0">
              <a:solidFill>
                <a:srgbClr val="ED242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841845" y="2543313"/>
            <a:ext cx="1417460" cy="1292088"/>
            <a:chOff x="9703297" y="2543313"/>
            <a:chExt cx="1417460" cy="1292088"/>
          </a:xfrm>
        </p:grpSpPr>
        <p:sp>
          <p:nvSpPr>
            <p:cNvPr id="38" name="任意多边形 37"/>
            <p:cNvSpPr/>
            <p:nvPr/>
          </p:nvSpPr>
          <p:spPr>
            <a:xfrm>
              <a:off x="9828669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3F3A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4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>
              <a:off x="9703297" y="2543313"/>
              <a:ext cx="1292088" cy="1292088"/>
            </a:xfrm>
            <a:custGeom>
              <a:avLst/>
              <a:gdLst>
                <a:gd name="connsiteX0" fmla="*/ 0 w 1292088"/>
                <a:gd name="connsiteY0" fmla="*/ 646044 h 1292088"/>
                <a:gd name="connsiteX1" fmla="*/ 646044 w 1292088"/>
                <a:gd name="connsiteY1" fmla="*/ 0 h 1292088"/>
                <a:gd name="connsiteX2" fmla="*/ 1292088 w 1292088"/>
                <a:gd name="connsiteY2" fmla="*/ 646044 h 1292088"/>
                <a:gd name="connsiteX3" fmla="*/ 646044 w 1292088"/>
                <a:gd name="connsiteY3" fmla="*/ 1292088 h 1292088"/>
                <a:gd name="connsiteX4" fmla="*/ 0 w 1292088"/>
                <a:gd name="connsiteY4" fmla="*/ 646044 h 1292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2088" h="1292088">
                  <a:moveTo>
                    <a:pt x="0" y="646044"/>
                  </a:moveTo>
                  <a:cubicBezTo>
                    <a:pt x="0" y="289244"/>
                    <a:pt x="289244" y="0"/>
                    <a:pt x="646044" y="0"/>
                  </a:cubicBezTo>
                  <a:cubicBezTo>
                    <a:pt x="1002844" y="0"/>
                    <a:pt x="1292088" y="289244"/>
                    <a:pt x="1292088" y="646044"/>
                  </a:cubicBezTo>
                  <a:cubicBezTo>
                    <a:pt x="1292088" y="1002844"/>
                    <a:pt x="1002844" y="1292088"/>
                    <a:pt x="646044" y="1292088"/>
                  </a:cubicBezTo>
                  <a:cubicBezTo>
                    <a:pt x="289244" y="1292088"/>
                    <a:pt x="0" y="1002844"/>
                    <a:pt x="0" y="646044"/>
                  </a:cubicBezTo>
                  <a:close/>
                </a:path>
              </a:pathLst>
            </a:custGeom>
            <a:solidFill>
              <a:srgbClr val="FFE699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9702" tIns="219702" rIns="219702" bIns="21970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放入“大胃王”</a:t>
              </a:r>
              <a:endParaRPr lang="zh-CN" altLang="en-US" sz="2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089883" y="5026926"/>
            <a:ext cx="10146154" cy="1025238"/>
            <a:chOff x="937482" y="5026926"/>
            <a:chExt cx="10146154" cy="1025238"/>
          </a:xfrm>
        </p:grpSpPr>
        <p:sp>
          <p:nvSpPr>
            <p:cNvPr id="27" name="矩形 26"/>
            <p:cNvSpPr/>
            <p:nvPr/>
          </p:nvSpPr>
          <p:spPr>
            <a:xfrm>
              <a:off x="937482" y="5026926"/>
              <a:ext cx="10146154" cy="1025238"/>
            </a:xfrm>
            <a:prstGeom prst="rect">
              <a:avLst/>
            </a:prstGeom>
            <a:solidFill>
              <a:srgbClr val="FFE699"/>
            </a:solidFill>
            <a:ln w="285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55688" y="5179565"/>
              <a:ext cx="9906000" cy="769441"/>
            </a:xfrm>
            <a:prstGeom prst="rect">
              <a:avLst/>
            </a:prstGeom>
            <a:noFill/>
            <a:ln w="12700">
              <a:solidFill>
                <a:srgbClr val="ED242C"/>
              </a:solidFill>
              <a:prstDash val="lgDashDot"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微软雅黑" panose="020B0503020204020204" pitchFamily="34" charset="-122"/>
                <a:buChar char="-"/>
              </a:pPr>
              <a:r>
                <a:rPr lang="zh-CN" altLang="en-US" sz="2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电话放左侧，桌面正前方保持空，净，前方左右两侧放当天处理的资料，文档，待办事项，常用文具放右边，总之一切适合自己就好</a:t>
              </a:r>
              <a:r>
                <a:rPr lang="zh-CN" altLang="en-US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20098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6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502856" y="3909271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02856" y="2754349"/>
            <a:ext cx="5308077" cy="98473"/>
          </a:xfrm>
          <a:prstGeom prst="ellipse">
            <a:avLst/>
          </a:prstGeom>
          <a:gradFill>
            <a:gsLst>
              <a:gs pos="0">
                <a:srgbClr val="FF3F3A">
                  <a:alpha val="35000"/>
                </a:srgbClr>
              </a:gs>
              <a:gs pos="53000">
                <a:srgbClr val="FF3F3A"/>
              </a:gs>
              <a:gs pos="100000">
                <a:srgbClr val="FF3F3A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48112" y="2780820"/>
            <a:ext cx="5486397" cy="1200955"/>
          </a:xfrm>
          <a:solidFill>
            <a:srgbClr val="F4B61E"/>
          </a:solidFill>
        </p:spPr>
        <p:txBody>
          <a:bodyPr>
            <a:normAutofit/>
          </a:bodyPr>
          <a:lstStyle/>
          <a:p>
            <a:pPr algn="ctr"/>
            <a:r>
              <a:rPr lang="en-US" altLang="zh-CN" sz="5400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Thank</a:t>
            </a:r>
            <a:r>
              <a:rPr lang="zh-CN" altLang="en-US" sz="5400" dirty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 </a:t>
            </a:r>
            <a:r>
              <a:rPr lang="en-US" altLang="zh-CN" sz="5400" dirty="0" smtClean="0">
                <a:solidFill>
                  <a:srgbClr val="FF3F3A"/>
                </a:solidFill>
                <a:latin typeface="华康俪金黑W8" panose="020B0809000000000000" pitchFamily="49" charset="-122"/>
                <a:ea typeface="华康俪金黑W8" panose="020B0809000000000000" pitchFamily="49" charset="-122"/>
              </a:rPr>
              <a:t>you</a:t>
            </a:r>
            <a:endParaRPr lang="zh-CN" altLang="en-US" sz="5400" dirty="0">
              <a:solidFill>
                <a:srgbClr val="FF3F3A"/>
              </a:solidFill>
              <a:latin typeface="华康俪金黑W8" panose="020B0809000000000000" pitchFamily="49" charset="-122"/>
              <a:ea typeface="华康俪金黑W8" panose="020B0809000000000000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4930726"/>
            <a:ext cx="12192000" cy="1927274"/>
          </a:xfrm>
          <a:prstGeom prst="rect">
            <a:avLst/>
          </a:prstGeom>
          <a:solidFill>
            <a:srgbClr val="FF3F3A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358639" y="5676911"/>
            <a:ext cx="3474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制作：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邹成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_1993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428039" y="387700"/>
            <a:ext cx="1335922" cy="132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2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255" y="1092540"/>
            <a:ext cx="740549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818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102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13" y="2846604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219" y="3987046"/>
            <a:ext cx="740549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9"/>
              </a:spcBef>
              <a:spcAft>
                <a:spcPct val="0"/>
              </a:spcAft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9"/>
              </a:spcBef>
              <a:spcAft>
                <a:spcPct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177" y="4303787"/>
            <a:ext cx="6881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219" y="2291783"/>
            <a:ext cx="1574616" cy="1086347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2" y="2382197"/>
              <a:ext cx="1728238" cy="9457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69" cy="391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82" y="2291785"/>
            <a:ext cx="1656039" cy="1086350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4" y="2382194"/>
              <a:ext cx="1896183" cy="9457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69" cy="3912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89" y="2291783"/>
            <a:ext cx="1574616" cy="1086347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2" y="2382197"/>
              <a:ext cx="1728238" cy="9457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69" cy="391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27" y="2291783"/>
            <a:ext cx="1574616" cy="1086347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2" y="2382197"/>
              <a:ext cx="1728238" cy="9457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69" cy="391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4012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479" y="3953865"/>
            <a:ext cx="7425744" cy="1301747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1" y="3973770"/>
              <a:ext cx="4572002" cy="5453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49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5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4" y="3613175"/>
              <a:ext cx="594123" cy="575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4"/>
              <a:ext cx="3543383" cy="928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60778" y="4188246"/>
              <a:ext cx="1961457" cy="4375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1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933" cy="345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17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607" y="1387155"/>
            <a:ext cx="548149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1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169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1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9316747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2916</TotalTime>
  <Words>1760</Words>
  <Application>Microsoft Office PowerPoint</Application>
  <PresentationFormat>宽屏</PresentationFormat>
  <Paragraphs>341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 Unicode MS</vt:lpstr>
      <vt:lpstr>华康俪金黑W8</vt:lpstr>
      <vt:lpstr>方正粗宋繁体</vt:lpstr>
      <vt:lpstr>Calibri</vt:lpstr>
      <vt:lpstr>Wingdings</vt:lpstr>
      <vt:lpstr>Arial</vt:lpstr>
      <vt:lpstr>方正正中黑简体</vt:lpstr>
      <vt:lpstr>微软雅黑</vt:lpstr>
      <vt:lpstr>Calibri Light</vt:lpstr>
      <vt:lpstr>宋体</vt:lpstr>
      <vt:lpstr>方正正黑简体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你的时间去哪儿了</vt:lpstr>
      <vt:lpstr>PowerPoint 演示文稿</vt:lpstr>
      <vt:lpstr>PowerPoint 演示文稿</vt:lpstr>
      <vt:lpstr>无压工作术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遇到问题怎么办</vt:lpstr>
      <vt:lpstr>PowerPoint 演示文稿</vt:lpstr>
      <vt:lpstr>如何做到要事第一</vt:lpstr>
      <vt:lpstr>如何应对临时突发事件</vt:lpstr>
      <vt:lpstr>如何养成一个好习惯</vt:lpstr>
      <vt:lpstr>PowerPoint 演示文稿</vt:lpstr>
      <vt:lpstr>如何让想法落地</vt:lpstr>
      <vt:lpstr>PowerPoint 演示文稿</vt:lpstr>
      <vt:lpstr>PowerPoint 演示文稿</vt:lpstr>
      <vt:lpstr>PowerPoint 演示文稿</vt:lpstr>
      <vt:lpstr>建立高效办公区</vt:lpstr>
      <vt:lpstr>PowerPoint 演示文稿</vt:lpstr>
      <vt:lpstr>Thank you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小强升职记</dc:title>
  <dc:creator>邹成_1993</dc:creator>
  <cp:lastModifiedBy>小巴</cp:lastModifiedBy>
  <cp:revision>328</cp:revision>
  <dcterms:created xsi:type="dcterms:W3CDTF">2014-08-28T08:37:57Z</dcterms:created>
  <dcterms:modified xsi:type="dcterms:W3CDTF">2014-11-04T01:48:36Z</dcterms:modified>
  <cp:contentStatus/>
</cp:coreProperties>
</file>