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  <p:sldMasterId id="2147483709" r:id="rId3"/>
    <p:sldMasterId id="2147483721" r:id="rId4"/>
  </p:sldMasterIdLst>
  <p:notesMasterIdLst>
    <p:notesMasterId r:id="rId33"/>
  </p:notesMasterIdLst>
  <p:sldIdLst>
    <p:sldId id="282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19"/>
    <p:sldId id="269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3" r:id="rId31"/>
    <p:sldId id="284" r:id="rId32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pos="663">
          <p15:clr>
            <a:srgbClr val="A4A3A4"/>
          </p15:clr>
        </p15:guide>
        <p15:guide id="5" pos="50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B001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24" autoAdjust="0"/>
  </p:normalViewPr>
  <p:slideViewPr>
    <p:cSldViewPr snapToGrid="0">
      <p:cViewPr varScale="1">
        <p:scale>
          <a:sx n="70" d="100"/>
          <a:sy n="70" d="100"/>
        </p:scale>
        <p:origin x="1410" y="66"/>
      </p:cViewPr>
      <p:guideLst>
        <p:guide orient="horz" pos="2160"/>
        <p:guide pos="2880"/>
        <p:guide orient="horz" pos="2917"/>
        <p:guide pos="663"/>
        <p:guide pos="50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4D7D8-126B-4F11-ACE1-E6CFFD71F19F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39D6B-2E96-42F6-82C7-BB44F766A8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89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39D6B-2E96-42F6-82C7-BB44F766A8B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833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39D6B-2E96-42F6-82C7-BB44F766A8B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838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39D6B-2E96-42F6-82C7-BB44F766A8B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289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39D6B-2E96-42F6-82C7-BB44F766A8B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776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39D6B-2E96-42F6-82C7-BB44F766A8B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310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39D6B-2E96-42F6-82C7-BB44F766A8B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903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81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27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271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62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031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295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3172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74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01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506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208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21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579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80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868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295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800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278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6" y="-51325"/>
            <a:ext cx="9140054" cy="706827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0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681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259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4705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9903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6312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CF77FA-927F-47BE-9657-0B35BBFE60F1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1335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941B99-67D5-4E06-A73E-7A5D4651971D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0974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66B6F0-CF22-4087-8E46-9C9032A03274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7665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5B26F0-872F-447A-A6FB-6247331B5E7E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7515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11EC07-D10C-4069-AFAA-4D2DF02FDC21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8139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DC7256-13C5-4557-AD5C-68B05989E298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2219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82FABA-9D9B-4D6E-9B95-84A3F9A50936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6903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12EF73-7560-4941-A9E9-DEBF48F39B14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6104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C50ED6-157C-4D36-9180-609C1B67D955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1425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93E45-9D44-4BA8-AA79-B5EACAECC418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1683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A01-4D5A-4518-87B4-FE35402B52A0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752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1078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794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4721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834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323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2952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2053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3197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68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3244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89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7FFB2-C701-4066-8E5D-08A09054442D}" type="datetimeFigureOut">
              <a:rPr lang="zh-CN" altLang="en-US" smtClean="0"/>
              <a:t>2014/1/14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EBDFD-78AD-4280-8B76-28F17BE67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11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7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0454DAA0-6D13-49F9-BE14-162B94357E04}" type="slidenum">
              <a:rPr lang="zh-CN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87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70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9" y="4077072"/>
            <a:ext cx="9169004" cy="1607344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989"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400" kern="0" dirty="0">
                  <a:solidFill>
                    <a:prstClr val="black"/>
                  </a:solidFill>
                </a:rPr>
              </a:br>
              <a:endParaRPr lang="en-US" altLang="zh-CN" sz="140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0" y="3613173"/>
              <a:ext cx="59412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30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60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496470" cy="906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5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40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8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2" y="4353742"/>
              <a:ext cx="307007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50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7521" y="908720"/>
            <a:ext cx="640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3000"/>
              </a:spcBef>
            </a:pPr>
            <a:r>
              <a:rPr lang="zh-CN" altLang="en-US" sz="4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440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003</a:t>
            </a:r>
            <a:r>
              <a:rPr lang="zh-CN" altLang="en-US" sz="440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4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3000"/>
              </a:spcBef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71786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剪去对角的矩形 5"/>
          <p:cNvSpPr/>
          <p:nvPr/>
        </p:nvSpPr>
        <p:spPr>
          <a:xfrm>
            <a:off x="0" y="2112939"/>
            <a:ext cx="9144000" cy="2047741"/>
          </a:xfrm>
          <a:prstGeom prst="snip2Diag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46" y="1014321"/>
            <a:ext cx="3996000" cy="3996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377903" y="2130521"/>
            <a:ext cx="6080792" cy="2763718"/>
            <a:chOff x="4540266" y="1916063"/>
            <a:chExt cx="8107721" cy="3684957"/>
          </a:xfrm>
        </p:grpSpPr>
        <p:sp>
          <p:nvSpPr>
            <p:cNvPr id="5" name="文本框 4"/>
            <p:cNvSpPr txBox="1"/>
            <p:nvPr/>
          </p:nvSpPr>
          <p:spPr>
            <a:xfrm>
              <a:off x="6018055" y="2070739"/>
              <a:ext cx="5572385" cy="2749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活出</a:t>
              </a:r>
              <a:r>
                <a:rPr lang="zh-CN" altLang="en-US" sz="54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本色</a:t>
              </a:r>
              <a:endParaRPr lang="en-US" altLang="zh-CN" sz="5400" dirty="0"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</a:t>
              </a:r>
              <a:r>
                <a:rPr lang="zh-CN" altLang="en-US" sz="36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活</a:t>
              </a:r>
              <a:r>
                <a:rPr lang="zh-CN" altLang="en-US" sz="36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出</a:t>
              </a:r>
              <a:r>
                <a:rPr lang="zh-CN" altLang="en-US" sz="5400" dirty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真我</a:t>
              </a:r>
              <a:endParaRPr lang="en-US" altLang="zh-CN" sz="14900" dirty="0"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540266" y="1916063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rgbClr val="A5A5A5">
                      <a:lumMod val="20000"/>
                      <a:lumOff val="80000"/>
                    </a:srgbClr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/>
            </a:p>
          </p:txBody>
        </p:sp>
        <p:sp>
          <p:nvSpPr>
            <p:cNvPr id="3" name="矩形 2"/>
            <p:cNvSpPr/>
            <p:nvPr/>
          </p:nvSpPr>
          <p:spPr>
            <a:xfrm>
              <a:off x="10927003" y="3708195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rgbClr val="A5A5A5">
                      <a:lumMod val="20000"/>
                      <a:lumOff val="80000"/>
                    </a:srgbClr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047556" y="5734290"/>
            <a:ext cx="2769532" cy="439201"/>
            <a:chOff x="1047556" y="5734290"/>
            <a:chExt cx="2769532" cy="439201"/>
          </a:xfrm>
        </p:grpSpPr>
        <p:sp>
          <p:nvSpPr>
            <p:cNvPr id="22" name="矩形 21"/>
            <p:cNvSpPr/>
            <p:nvPr/>
          </p:nvSpPr>
          <p:spPr>
            <a:xfrm>
              <a:off x="1047556" y="5734290"/>
              <a:ext cx="1342590" cy="43920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189133" y="5777328"/>
              <a:ext cx="11657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kern="0" dirty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原文作者 </a:t>
              </a:r>
              <a:endParaRPr lang="zh-CN" altLang="en-US" sz="1350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408183" y="5734909"/>
              <a:ext cx="1408905" cy="43858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500" dirty="0" smtClean="0">
                  <a:solidFill>
                    <a:schemeClr val="bg1"/>
                  </a:solidFill>
                  <a:latin typeface="方正粗宋简体" panose="02010600030101010101" charset="-122"/>
                  <a:ea typeface="方正粗宋简体" panose="02010600030101010101" charset="-122"/>
                </a:rPr>
                <a:t>乐      </a:t>
              </a:r>
              <a:r>
                <a:rPr lang="zh-CN" altLang="en-US" sz="1500" dirty="0">
                  <a:solidFill>
                    <a:schemeClr val="bg1"/>
                  </a:solidFill>
                  <a:latin typeface="方正粗宋简体" panose="02010600030101010101" charset="-122"/>
                  <a:ea typeface="方正粗宋简体" panose="02010600030101010101" charset="-122"/>
                </a:rPr>
                <a:t>嘉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901196" y="5734286"/>
            <a:ext cx="3912130" cy="439201"/>
            <a:chOff x="1047556" y="5734290"/>
            <a:chExt cx="3912130" cy="439201"/>
          </a:xfrm>
        </p:grpSpPr>
        <p:sp>
          <p:nvSpPr>
            <p:cNvPr id="20" name="矩形 19"/>
            <p:cNvSpPr/>
            <p:nvPr/>
          </p:nvSpPr>
          <p:spPr>
            <a:xfrm>
              <a:off x="1047556" y="5734290"/>
              <a:ext cx="1342590" cy="43920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178247" y="5777328"/>
              <a:ext cx="11063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kern="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PPT</a:t>
              </a:r>
              <a:r>
                <a:rPr lang="zh-CN" altLang="en-US" b="1" kern="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书摘</a:t>
              </a:r>
              <a:endParaRPr lang="zh-CN" altLang="en-US" sz="1350" dirty="0">
                <a:solidFill>
                  <a:schemeClr val="bg1"/>
                </a:solidFill>
              </a:endParaRPr>
            </a:p>
          </p:txBody>
        </p:sp>
        <p:sp>
          <p:nvSpPr>
            <p:cNvPr id="33" name="文本框 27"/>
            <p:cNvSpPr txBox="1"/>
            <p:nvPr/>
          </p:nvSpPr>
          <p:spPr>
            <a:xfrm>
              <a:off x="2408183" y="5734909"/>
              <a:ext cx="2551503" cy="438582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500" dirty="0">
                  <a:solidFill>
                    <a:schemeClr val="bg1"/>
                  </a:solidFill>
                  <a:latin typeface="方正粗宋简体" panose="02010600030101010101" charset="-122"/>
                  <a:ea typeface="方正粗宋简体" panose="02010600030101010101" charset="-122"/>
                </a:rPr>
                <a:t>@Charles</a:t>
              </a:r>
              <a:r>
                <a:rPr lang="zh-CN" altLang="en-US" sz="1500" dirty="0">
                  <a:solidFill>
                    <a:schemeClr val="bg1"/>
                  </a:solidFill>
                  <a:latin typeface="方正粗宋简体" panose="02010600030101010101" charset="-122"/>
                  <a:ea typeface="方正粗宋简体" panose="02010600030101010101" charset="-122"/>
                </a:rPr>
                <a:t>远仁要做</a:t>
              </a:r>
              <a:r>
                <a:rPr lang="en-US" altLang="zh-CN" sz="1500" dirty="0">
                  <a:solidFill>
                    <a:schemeClr val="bg1"/>
                  </a:solidFill>
                  <a:latin typeface="方正粗宋简体" panose="02010600030101010101" charset="-122"/>
                  <a:ea typeface="方正粗宋简体" panose="02010600030101010101" charset="-122"/>
                </a:rPr>
                <a:t>PPTer</a:t>
              </a:r>
              <a:endParaRPr lang="zh-CN" altLang="en-US" sz="1500" dirty="0">
                <a:solidFill>
                  <a:schemeClr val="bg1"/>
                </a:solidFill>
                <a:latin typeface="方正粗宋简体" panose="02010600030101010101" charset="-122"/>
                <a:ea typeface="方正粗宋简体" panose="02010600030101010101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882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79" y="2637856"/>
            <a:ext cx="3263724" cy="3399360"/>
          </a:xfrm>
          <a:prstGeom prst="rect">
            <a:avLst/>
          </a:prstGeom>
          <a:effectLst>
            <a:softEdge rad="12700"/>
          </a:effectLst>
        </p:spPr>
      </p:pic>
      <p:grpSp>
        <p:nvGrpSpPr>
          <p:cNvPr id="24" name="组合 23"/>
          <p:cNvGrpSpPr/>
          <p:nvPr/>
        </p:nvGrpSpPr>
        <p:grpSpPr>
          <a:xfrm>
            <a:off x="4838197" y="713949"/>
            <a:ext cx="1794486" cy="982078"/>
            <a:chOff x="4387384" y="3416756"/>
            <a:chExt cx="2392648" cy="130943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7482" y="3582204"/>
              <a:ext cx="1008000" cy="1008000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5503188" y="3837199"/>
              <a:ext cx="127684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主持人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4387384" y="3416756"/>
              <a:ext cx="2371200" cy="1309437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783616" y="713949"/>
            <a:ext cx="1779537" cy="982078"/>
            <a:chOff x="3908736" y="2099255"/>
            <a:chExt cx="2372716" cy="1309437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7008" y="2170688"/>
              <a:ext cx="1080000" cy="108000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5215316" y="2555462"/>
              <a:ext cx="100684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作家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3908736" y="2099255"/>
              <a:ext cx="2372716" cy="1309437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 rot="18521268">
              <a:off x="4316761" y="2643669"/>
              <a:ext cx="323027" cy="446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88" dirty="0"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3868195" y="3544226"/>
            <a:ext cx="4848218" cy="249299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Arial Unicode MS" panose="020B0604020202020204" pitchFamily="34" charset="-122"/>
              </a:rPr>
              <a:t>乐嘉</a:t>
            </a:r>
            <a:endParaRPr lang="en-US" altLang="zh-CN" sz="2400" dirty="0" smtClean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</a:t>
            </a:r>
            <a:r>
              <a:rPr lang="zh-CN" altLang="en-US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祖籍</a:t>
            </a:r>
            <a:r>
              <a:rPr lang="zh-CN" altLang="en-US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宁波北仑白峰乡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，为唐朝尚书乐氏兄弟（乐仁规、乐仁厚）后裔，与北京同仁堂乐氏同族。出生于上海，成长于陕西渭南。宁波电大</a:t>
            </a:r>
            <a:r>
              <a:rPr lang="zh-CN" altLang="en-US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金融专业毕业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，后又于哈姆斯顿大学（</a:t>
            </a:r>
            <a:r>
              <a:rPr lang="en-US" altLang="zh-CN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Armstrong University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）取得工商管理学士学位。出版有性色彩分析畅销书多部，</a:t>
            </a:r>
            <a:r>
              <a:rPr lang="en-US" altLang="zh-CN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FPA</a:t>
            </a:r>
            <a:r>
              <a:rPr lang="zh-CN" altLang="en-US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性格色彩创始人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907728" y="724996"/>
            <a:ext cx="1808685" cy="982078"/>
            <a:chOff x="6415523" y="678167"/>
            <a:chExt cx="1808685" cy="982078"/>
          </a:xfrm>
        </p:grpSpPr>
        <p:grpSp>
          <p:nvGrpSpPr>
            <p:cNvPr id="25" name="组合 24"/>
            <p:cNvGrpSpPr/>
            <p:nvPr/>
          </p:nvGrpSpPr>
          <p:grpSpPr>
            <a:xfrm>
              <a:off x="6415523" y="678167"/>
              <a:ext cx="1808685" cy="982078"/>
              <a:chOff x="4921482" y="4732708"/>
              <a:chExt cx="2411580" cy="1309437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6078974" y="5188915"/>
                <a:ext cx="125408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  <a:latin typeface="方正综艺简体" panose="03000509000000000000" pitchFamily="65" charset="-122"/>
                    <a:ea typeface="方正综艺简体" panose="03000509000000000000" pitchFamily="65" charset="-122"/>
                  </a:rPr>
                  <a:t>创始人</a:t>
                </a:r>
                <a:endParaRPr lang="en-US" altLang="zh-CN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4921482" y="4732708"/>
                <a:ext cx="2371200" cy="1309437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232" y="834965"/>
              <a:ext cx="694413" cy="6905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056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" name="矩形 1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自  序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11" name="矩形 1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358488" y="1216207"/>
            <a:ext cx="5492357" cy="2642363"/>
            <a:chOff x="4551829" y="1789558"/>
            <a:chExt cx="7323143" cy="3523150"/>
          </a:xfrm>
        </p:grpSpPr>
        <p:sp>
          <p:nvSpPr>
            <p:cNvPr id="16" name="文本框 15"/>
            <p:cNvSpPr txBox="1"/>
            <p:nvPr/>
          </p:nvSpPr>
          <p:spPr>
            <a:xfrm>
              <a:off x="6018055" y="2070739"/>
              <a:ext cx="5193453" cy="2339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写的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是</a:t>
              </a:r>
              <a:r>
                <a:rPr lang="zh-CN" altLang="en-US" sz="4500" dirty="0" smtClean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我</a:t>
              </a:r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</a:t>
              </a:r>
              <a:endParaRPr lang="en-US" altLang="zh-CN" sz="3300" dirty="0" smtClean="0"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说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是你</a:t>
              </a:r>
              <a:endParaRPr lang="en-US" altLang="zh-CN" sz="4500" dirty="0">
                <a:solidFill>
                  <a:schemeClr val="accent4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551829" y="178955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153988" y="3419883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988824" y="2184482"/>
            <a:ext cx="3861861" cy="4493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因为我很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清楚</a:t>
            </a: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如果我不下狠手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先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剖自己</a:t>
            </a:r>
            <a:endParaRPr lang="en-US" altLang="zh-CN" sz="2800" dirty="0">
              <a:solidFill>
                <a:srgbClr val="FFC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你是断然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不肯自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剖</a:t>
            </a:r>
            <a:endParaRPr lang="en-US" altLang="zh-CN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因为有些事你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忘了</a:t>
            </a:r>
            <a:endParaRPr lang="en-US" altLang="zh-CN" sz="2800" dirty="0">
              <a:solidFill>
                <a:srgbClr val="FFC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有些你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不愿回忆</a:t>
            </a:r>
            <a:endParaRPr lang="en-US" altLang="zh-CN" sz="2800" dirty="0">
              <a:solidFill>
                <a:srgbClr val="FFC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有些事就算你回忆了也未必肯下手</a:t>
            </a:r>
            <a:endParaRPr lang="en-US" altLang="zh-CN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有些事回忆了肯下手却不知如何下手</a:t>
            </a:r>
            <a:endParaRPr lang="en-US" altLang="zh-CN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2800" dirty="0" smtClean="0">
              <a:solidFill>
                <a:srgbClr val="FFC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36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自剖 </a:t>
            </a:r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这事</a:t>
            </a:r>
            <a:endParaRPr lang="en-US" altLang="zh-CN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实在是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极痛</a:t>
            </a:r>
            <a:r>
              <a:rPr lang="zh-CN" altLang="en-US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  <a:endParaRPr lang="zh-CN" altLang="en-US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4101">
            <a:off x="4341004" y="4800747"/>
            <a:ext cx="1764000" cy="17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92332" y="1589156"/>
            <a:ext cx="8256153" cy="2682230"/>
            <a:chOff x="4126957" y="1733579"/>
            <a:chExt cx="11008198" cy="3576308"/>
          </a:xfrm>
        </p:grpSpPr>
        <p:sp>
          <p:nvSpPr>
            <p:cNvPr id="16" name="文本框 15"/>
            <p:cNvSpPr txBox="1"/>
            <p:nvPr/>
          </p:nvSpPr>
          <p:spPr>
            <a:xfrm>
              <a:off x="5680044" y="2070739"/>
              <a:ext cx="8276893" cy="2339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把</a:t>
              </a:r>
              <a:r>
                <a:rPr lang="zh-CN" altLang="en-US" sz="4500" dirty="0" smtClean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梦想</a:t>
              </a:r>
              <a:r>
                <a:rPr lang="zh-CN" altLang="en-US" sz="33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</a:t>
              </a:r>
              <a:endParaRPr lang="en-US" altLang="zh-CN" sz="3300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 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当成你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恋爱</a:t>
              </a:r>
              <a:r>
                <a:rPr lang="zh-CN" altLang="en-US" sz="4500" dirty="0" smtClean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的对象</a:t>
              </a:r>
              <a:endParaRPr lang="en-US" altLang="zh-CN" sz="4500" dirty="0">
                <a:solidFill>
                  <a:schemeClr val="accent4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126957" y="1733579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3414172" y="3417061"/>
              <a:ext cx="1720983" cy="18928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37702" y="4646548"/>
            <a:ext cx="6951672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哪个梦想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已实现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，哪个梦想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没实现</a:t>
            </a:r>
            <a:endParaRPr lang="en-US" altLang="zh-CN" sz="2800" dirty="0">
              <a:solidFill>
                <a:srgbClr val="FFC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归根到底都是，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自身欲望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问题。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梦  想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98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目</a:t>
            </a:r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标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97431" y="1550989"/>
            <a:ext cx="8207513" cy="2614377"/>
            <a:chOff x="4551829" y="1789558"/>
            <a:chExt cx="9715705" cy="3485835"/>
          </a:xfrm>
        </p:grpSpPr>
        <p:sp>
          <p:nvSpPr>
            <p:cNvPr id="23" name="文本框 22"/>
            <p:cNvSpPr txBox="1"/>
            <p:nvPr/>
          </p:nvSpPr>
          <p:spPr>
            <a:xfrm>
              <a:off x="6018056" y="2070739"/>
              <a:ext cx="7515763" cy="23391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目标</a:t>
              </a:r>
              <a:endParaRPr lang="en-US" altLang="zh-CN" sz="3300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 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是你一直坚持的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动力</a:t>
              </a:r>
              <a:endParaRPr lang="en-US" altLang="zh-CN" sz="4500" dirty="0">
                <a:solidFill>
                  <a:schemeClr val="accent4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551829" y="1789558"/>
              <a:ext cx="1527920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2739613" y="3382568"/>
              <a:ext cx="1527921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916131" y="4165366"/>
            <a:ext cx="5068994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对于目标，首先必须要热爱它</a:t>
            </a:r>
            <a:endParaRPr lang="en-US" altLang="zh-CN" sz="2400" dirty="0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/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因为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热爱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，才会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行动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/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因为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热爱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，才会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投入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r"/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因为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热爱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，才会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坚持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360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欲  望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84668" y="1403053"/>
            <a:ext cx="8259581" cy="2612888"/>
            <a:chOff x="3148501" y="1756078"/>
            <a:chExt cx="11012775" cy="3483849"/>
          </a:xfrm>
        </p:grpSpPr>
        <p:sp>
          <p:nvSpPr>
            <p:cNvPr id="15" name="文本框 14"/>
            <p:cNvSpPr txBox="1"/>
            <p:nvPr/>
          </p:nvSpPr>
          <p:spPr>
            <a:xfrm>
              <a:off x="4509296" y="2070739"/>
              <a:ext cx="9113289" cy="2339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一切</a:t>
              </a:r>
              <a:endParaRPr lang="en-US" altLang="zh-CN" sz="3300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没有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欲望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的梦想就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是个屁</a:t>
              </a:r>
              <a:endParaRPr lang="en-US" altLang="zh-CN" sz="4500" dirty="0">
                <a:solidFill>
                  <a:schemeClr val="accent4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148501" y="1756078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2440292" y="3347104"/>
              <a:ext cx="1720984" cy="18928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037953" y="4522408"/>
            <a:ext cx="6947172" cy="16927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欲望不是他人给我的目标，不是应该怎么样。凡是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欲望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，都是生活中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真正让自己激动的事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，想把它变为现实的一种强烈渴求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如果得不到就会有想死的念头。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489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热</a:t>
            </a:r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爱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81552" y="1606018"/>
            <a:ext cx="8265680" cy="2675554"/>
            <a:chOff x="3332802" y="1756078"/>
            <a:chExt cx="11020914" cy="3567403"/>
          </a:xfrm>
        </p:grpSpPr>
        <p:sp>
          <p:nvSpPr>
            <p:cNvPr id="23" name="文本框 22"/>
            <p:cNvSpPr txBox="1"/>
            <p:nvPr/>
          </p:nvSpPr>
          <p:spPr>
            <a:xfrm>
              <a:off x="4551828" y="2070739"/>
              <a:ext cx="9038217" cy="2339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热爱</a:t>
              </a:r>
              <a:endParaRPr lang="en-US" altLang="zh-CN" sz="3300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是人生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成功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最核心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的要素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332802" y="1756078"/>
              <a:ext cx="1720985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2632731" y="3430657"/>
              <a:ext cx="1720985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052513" y="4623643"/>
            <a:ext cx="693261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有了热爱，才有强烈的欲望；有了热爱，激情会自然而生；</a:t>
            </a:r>
            <a:endParaRPr lang="en-US" altLang="zh-CN" sz="20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有了热爱，就会让自己开心，有了热爱，自然会全神专注。</a:t>
            </a:r>
            <a:endParaRPr lang="en-US" altLang="zh-CN" sz="20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154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证  明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4360" y="1655228"/>
            <a:ext cx="8217953" cy="2625270"/>
            <a:chOff x="2666483" y="1756078"/>
            <a:chExt cx="10957252" cy="3500358"/>
          </a:xfrm>
        </p:grpSpPr>
        <p:sp>
          <p:nvSpPr>
            <p:cNvPr id="15" name="文本框 14"/>
            <p:cNvSpPr txBox="1"/>
            <p:nvPr/>
          </p:nvSpPr>
          <p:spPr>
            <a:xfrm>
              <a:off x="4169041" y="2070739"/>
              <a:ext cx="8591784" cy="2339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信任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我的，我为你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死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；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不信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我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的，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我让你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悔</a:t>
              </a:r>
              <a:endParaRPr lang="en-US" altLang="zh-CN" sz="3300" dirty="0"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666483" y="1756078"/>
              <a:ext cx="1720982" cy="18928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902752" y="3363612"/>
              <a:ext cx="1720983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052513" y="4639304"/>
            <a:ext cx="693261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证明者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证明成功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后应该：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不再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愤怒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回报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信任你的人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感谢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不信你的人；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不执迷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于道歉和说法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；把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敌人变成你的朋友。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171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自  卑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92747" y="1414073"/>
            <a:ext cx="8251102" cy="2868176"/>
            <a:chOff x="1929279" y="1756078"/>
            <a:chExt cx="11001435" cy="3824220"/>
          </a:xfrm>
        </p:grpSpPr>
        <p:sp>
          <p:nvSpPr>
            <p:cNvPr id="23" name="文本框 22"/>
            <p:cNvSpPr txBox="1"/>
            <p:nvPr/>
          </p:nvSpPr>
          <p:spPr>
            <a:xfrm>
              <a:off x="3773104" y="2070739"/>
              <a:ext cx="8859984" cy="2708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自卑</a:t>
              </a:r>
              <a:endParaRPr lang="en-US" altLang="zh-CN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     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来源于</a:t>
              </a:r>
              <a:r>
                <a:rPr lang="zh-CN" altLang="en-US" sz="80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对比</a:t>
              </a:r>
              <a:endParaRPr lang="en-US" altLang="zh-CN" sz="6000" dirty="0"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929279" y="1756078"/>
              <a:ext cx="1720981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1209730" y="3687466"/>
              <a:ext cx="1720984" cy="1892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038118" y="4639454"/>
            <a:ext cx="6927630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如何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安慰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在豪门面前内心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自卑的男性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：</a:t>
            </a:r>
            <a:endParaRPr lang="en-US" altLang="zh-CN" sz="2400" dirty="0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不断地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鼓励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避免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在经济和物质上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刺激到他们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适当花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点他们的钱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；永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说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“我的钱就是你的钱”；</a:t>
            </a:r>
            <a:endParaRPr lang="en-US" altLang="zh-CN" sz="2400" dirty="0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支持并鼓励他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完成他的梦想。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3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自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尊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93676" y="1546171"/>
            <a:ext cx="8246183" cy="2688756"/>
            <a:chOff x="3091793" y="1756078"/>
            <a:chExt cx="10994886" cy="3585005"/>
          </a:xfrm>
        </p:grpSpPr>
        <p:sp>
          <p:nvSpPr>
            <p:cNvPr id="15" name="文本框 14"/>
            <p:cNvSpPr txBox="1"/>
            <p:nvPr/>
          </p:nvSpPr>
          <p:spPr>
            <a:xfrm>
              <a:off x="4624617" y="2206112"/>
              <a:ext cx="8589108" cy="2339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 smtClean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自尊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的本质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   就是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你有多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爱自己</a:t>
              </a:r>
              <a:endParaRPr lang="en-US" altLang="zh-CN" sz="4500" dirty="0">
                <a:solidFill>
                  <a:schemeClr val="accent4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091793" y="175607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2365699" y="3448259"/>
              <a:ext cx="1720980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052513" y="4631555"/>
            <a:ext cx="6932612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真正从本质上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提升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自尊的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途径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就是：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ctr"/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接纳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自己，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爱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自己。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901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育  女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99693" y="1593125"/>
            <a:ext cx="8264188" cy="2661906"/>
            <a:chOff x="3091793" y="1756078"/>
            <a:chExt cx="11018918" cy="3549206"/>
          </a:xfrm>
        </p:grpSpPr>
        <p:sp>
          <p:nvSpPr>
            <p:cNvPr id="23" name="文本框 22"/>
            <p:cNvSpPr txBox="1"/>
            <p:nvPr/>
          </p:nvSpPr>
          <p:spPr>
            <a:xfrm>
              <a:off x="4551829" y="2070739"/>
              <a:ext cx="8771919" cy="2339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无论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发生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什么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</a:t>
              </a:r>
              <a:r>
                <a:rPr lang="zh-CN" altLang="en-US" sz="45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我</a:t>
              </a:r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会是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你坚强的</a:t>
              </a:r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后盾</a:t>
              </a:r>
              <a:endParaRPr lang="en-US" altLang="zh-CN" sz="45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091793" y="175607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2389727" y="3412460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045063" y="3915872"/>
            <a:ext cx="6940062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写给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15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岁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女儿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：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  学习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勿荒废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时间</a:t>
            </a:r>
            <a:endParaRPr lang="en-US" altLang="zh-CN" sz="2400" dirty="0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  阅读</a:t>
            </a:r>
            <a:r>
              <a:rPr lang="en-US" altLang="zh-CN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须尽量广博</a:t>
            </a:r>
            <a:endParaRPr lang="en-US" altLang="zh-CN" sz="2400" dirty="0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  业余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贵在于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坚持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  恋爱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当积极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健康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  做人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有很多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原则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915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养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儿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91895" y="1285181"/>
            <a:ext cx="8236028" cy="2962130"/>
            <a:chOff x="3091793" y="1756078"/>
            <a:chExt cx="10981369" cy="3798176"/>
          </a:xfrm>
        </p:grpSpPr>
        <p:sp>
          <p:nvSpPr>
            <p:cNvPr id="15" name="文本框 14"/>
            <p:cNvSpPr txBox="1"/>
            <p:nvPr/>
          </p:nvSpPr>
          <p:spPr>
            <a:xfrm>
              <a:off x="4551829" y="2294076"/>
              <a:ext cx="8660841" cy="1657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在我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心中你要</a:t>
              </a:r>
              <a:r>
                <a:rPr lang="zh-CN" altLang="en-US" sz="45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承载</a:t>
              </a:r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的使命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远比你妹妹要重。</a:t>
              </a:r>
              <a:endParaRPr lang="zh-CN" altLang="en-US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091793" y="175607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2352178" y="3661430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52513" y="4153228"/>
            <a:ext cx="6932612" cy="22467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写给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18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岁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儿子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：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未来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当做发挥自己潜能的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事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梦想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别让人偷走自己的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梦想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朋友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与比自己强大的人为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友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真实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学会尊重自己的真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内心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210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野</a:t>
            </a:r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史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09942" y="1285181"/>
            <a:ext cx="8225222" cy="2997431"/>
            <a:chOff x="2382943" y="1756078"/>
            <a:chExt cx="10966926" cy="3996559"/>
          </a:xfrm>
        </p:grpSpPr>
        <p:sp>
          <p:nvSpPr>
            <p:cNvPr id="15" name="文本框 14"/>
            <p:cNvSpPr txBox="1"/>
            <p:nvPr/>
          </p:nvSpPr>
          <p:spPr>
            <a:xfrm>
              <a:off x="4551829" y="2070739"/>
              <a:ext cx="8081260" cy="1723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关于</a:t>
              </a:r>
              <a:r>
                <a:rPr lang="zh-CN" altLang="en-US" sz="45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性格色彩</a:t>
              </a:r>
              <a:endParaRPr lang="en-US" altLang="zh-CN" sz="3300" dirty="0" smtClean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        的前世今生</a:t>
              </a:r>
              <a:endParaRPr lang="zh-CN" altLang="en-US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382943" y="1756078"/>
              <a:ext cx="1720981" cy="18928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628888" y="3859819"/>
              <a:ext cx="1720981" cy="189281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055312" y="4610688"/>
            <a:ext cx="6929813" cy="16927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无论你关心什么，都不如关心你自己的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生命意义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更重要。请为自己打开一扇小门，在怪魔横舞、心乱如麻的世上，让自己进入别样的心情，体验不曾有的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心灵幸福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549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传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道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368207" y="1536686"/>
            <a:ext cx="7155972" cy="2562268"/>
            <a:chOff x="3091793" y="1756078"/>
            <a:chExt cx="9541296" cy="3416355"/>
          </a:xfrm>
        </p:grpSpPr>
        <p:sp>
          <p:nvSpPr>
            <p:cNvPr id="23" name="文本框 22"/>
            <p:cNvSpPr txBox="1"/>
            <p:nvPr/>
          </p:nvSpPr>
          <p:spPr>
            <a:xfrm>
              <a:off x="4551829" y="2070739"/>
              <a:ext cx="8081260" cy="1969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我是</a:t>
              </a:r>
              <a:endParaRPr lang="en-US" altLang="zh-CN" sz="45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一名</a:t>
              </a:r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送奶工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3091793" y="175607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9670022" y="3279609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692321" y="4722542"/>
            <a:ext cx="5830929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传道者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的使命是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传播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性格色彩学，帮助人们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认识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真正的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自我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他我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化解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人生中的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痛苦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烦恼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，从而获得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幸福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快乐。</a:t>
            </a:r>
            <a:endParaRPr lang="en-US" altLang="zh-CN" sz="2800" dirty="0">
              <a:solidFill>
                <a:srgbClr val="FFC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771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内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幕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121342" y="1238202"/>
            <a:ext cx="7155972" cy="2659129"/>
            <a:chOff x="3091793" y="1756078"/>
            <a:chExt cx="9541296" cy="3545503"/>
          </a:xfrm>
        </p:grpSpPr>
        <p:sp>
          <p:nvSpPr>
            <p:cNvPr id="34" name="文本框 33"/>
            <p:cNvSpPr txBox="1"/>
            <p:nvPr/>
          </p:nvSpPr>
          <p:spPr>
            <a:xfrm>
              <a:off x="4551829" y="2070739"/>
              <a:ext cx="8081260" cy="1969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有</a:t>
              </a:r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开幕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之时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  必有</a:t>
              </a:r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谢幕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之刻</a:t>
              </a:r>
              <a:endParaRPr lang="zh-CN" altLang="en-US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091793" y="175607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0644300" y="3408757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1692321" y="4723095"/>
            <a:ext cx="5636868" cy="12618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离开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《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非诚勿扰</a:t>
            </a:r>
            <a:r>
              <a:rPr lang="en-US" altLang="zh-CN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》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是我的选择，我只是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跟随内心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的声音去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追逐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自己的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梦想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。请相信，时间会让一切不习惯慢慢习惯。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478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跨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行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85165" y="1635502"/>
            <a:ext cx="8247162" cy="2625270"/>
            <a:chOff x="2907492" y="1756078"/>
            <a:chExt cx="10996211" cy="3500358"/>
          </a:xfrm>
        </p:grpSpPr>
        <p:sp>
          <p:nvSpPr>
            <p:cNvPr id="15" name="文本框 14"/>
            <p:cNvSpPr txBox="1"/>
            <p:nvPr/>
          </p:nvSpPr>
          <p:spPr>
            <a:xfrm>
              <a:off x="4551829" y="2070739"/>
              <a:ext cx="8081260" cy="1723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如果你选择用</a:t>
              </a:r>
              <a:r>
                <a:rPr lang="zh-CN" altLang="en-US" sz="45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电视发声</a:t>
              </a:r>
              <a:endParaRPr lang="en-US" altLang="zh-CN" sz="3300" dirty="0" smtClean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也许在这可以找到你要的</a:t>
              </a:r>
              <a:endParaRPr lang="zh-CN" altLang="en-US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907492" y="1756078"/>
              <a:ext cx="1720983" cy="18928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2182719" y="3363612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052513" y="4154885"/>
            <a:ext cx="6934445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上电视说话须知</a:t>
            </a:r>
            <a:r>
              <a:rPr lang="zh-CN" altLang="en-US" sz="24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：</a:t>
            </a:r>
            <a:endParaRPr lang="en-US" altLang="zh-CN" sz="2400" dirty="0" smtClean="0">
              <a:solidFill>
                <a:srgbClr val="FFC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电视本身的确很难表达深刻，过度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沉溺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于并且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享受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电视带来的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声色犬马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，必然会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失去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自己的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方向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，会让人在学问的研究上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停滞不前。</a:t>
            </a:r>
            <a:endParaRPr lang="en-US" altLang="zh-CN" sz="2800" dirty="0">
              <a:solidFill>
                <a:srgbClr val="FFC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107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写</a:t>
            </a:r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作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96326" y="1327894"/>
            <a:ext cx="8230673" cy="2962109"/>
            <a:chOff x="2638129" y="1217352"/>
            <a:chExt cx="10974223" cy="3949464"/>
          </a:xfrm>
        </p:grpSpPr>
        <p:sp>
          <p:nvSpPr>
            <p:cNvPr id="23" name="文本框 22"/>
            <p:cNvSpPr txBox="1"/>
            <p:nvPr/>
          </p:nvSpPr>
          <p:spPr>
            <a:xfrm>
              <a:off x="4220091" y="1928967"/>
              <a:ext cx="8412998" cy="1723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你做什么不重要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重要的是</a:t>
              </a:r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你为什么</a:t>
              </a:r>
              <a:r>
                <a:rPr lang="zh-CN" altLang="en-US" sz="45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做</a:t>
              </a:r>
              <a:endParaRPr lang="zh-CN" altLang="en-US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2638129" y="1217352"/>
              <a:ext cx="1720981" cy="18928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1891368" y="3273992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608110" y="4720831"/>
            <a:ext cx="5936777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我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坚信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的是，如果一个人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喜欢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一件事，在做这件事的过程中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享受快乐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，并且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持之以恒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的练习，终有一日，必将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有所作为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566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崇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拜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964725" y="1428832"/>
            <a:ext cx="7189760" cy="2761015"/>
            <a:chOff x="3046742" y="1674899"/>
            <a:chExt cx="9586347" cy="3681351"/>
          </a:xfrm>
        </p:grpSpPr>
        <p:sp>
          <p:nvSpPr>
            <p:cNvPr id="15" name="文本框 14"/>
            <p:cNvSpPr txBox="1"/>
            <p:nvPr/>
          </p:nvSpPr>
          <p:spPr>
            <a:xfrm>
              <a:off x="4551829" y="2070739"/>
              <a:ext cx="8081260" cy="2339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教你</a:t>
              </a:r>
              <a:endParaRPr lang="en-US" altLang="zh-CN" sz="3300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做一个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聪明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的粉丝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046742" y="1674899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912105" y="3463426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052513" y="4626929"/>
            <a:ext cx="6932612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为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偶像付出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，本身就是莫大的荣耀和快乐，其实你只是在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做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自我感动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的事情而已！那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怎么样才赚到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？就是从你追的偶像那里，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汲取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你要的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营养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成长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292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人</a:t>
            </a:r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性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99865" y="1579888"/>
            <a:ext cx="8260633" cy="2708437"/>
            <a:chOff x="2720332" y="1756078"/>
            <a:chExt cx="11014178" cy="3611244"/>
          </a:xfrm>
        </p:grpSpPr>
        <p:sp>
          <p:nvSpPr>
            <p:cNvPr id="23" name="文本框 22"/>
            <p:cNvSpPr txBox="1"/>
            <p:nvPr/>
          </p:nvSpPr>
          <p:spPr>
            <a:xfrm>
              <a:off x="4297575" y="2070739"/>
              <a:ext cx="8335513" cy="196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微博</a:t>
              </a:r>
              <a:endParaRPr lang="en-US" altLang="zh-CN" sz="3300" dirty="0" smtClean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是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一个</a:t>
              </a:r>
              <a:r>
                <a:rPr lang="zh-CN" altLang="en-US" sz="45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血雨腥风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的江湖</a:t>
              </a:r>
              <a:endParaRPr lang="zh-CN" altLang="en-US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2720332" y="1756078"/>
              <a:ext cx="1720983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2013526" y="3474500"/>
              <a:ext cx="1720984" cy="189282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045234" y="4622609"/>
            <a:ext cx="6939891" cy="218521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希望在微博的世界里，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感性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的人可以遇事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多点理智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，少点冲动和口号。在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避免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永远做围观的看客，让这个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社会变得冷漠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，也要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避免自己怀善心做坏事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887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情</a:t>
            </a:r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爱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03218" y="1606282"/>
            <a:ext cx="8237294" cy="2668876"/>
            <a:chOff x="2573381" y="1737881"/>
            <a:chExt cx="10983044" cy="3558492"/>
          </a:xfrm>
        </p:grpSpPr>
        <p:sp>
          <p:nvSpPr>
            <p:cNvPr id="15" name="文本框 14"/>
            <p:cNvSpPr txBox="1"/>
            <p:nvPr/>
          </p:nvSpPr>
          <p:spPr>
            <a:xfrm>
              <a:off x="4146154" y="2269221"/>
              <a:ext cx="8486937" cy="1723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网上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所谓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的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爱情格言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都是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鸟话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2573381" y="1737881"/>
              <a:ext cx="1720982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835442" y="3403553"/>
              <a:ext cx="1720983" cy="18928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048587" y="4633259"/>
            <a:ext cx="6936538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看待事情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要能看到背后的种种，多训练自己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立体思考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分辨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的能力，我们可以把事物看得更透彻。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带着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批判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的目光审视这个世界，一切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不要盲从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67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修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行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75145" y="1501358"/>
            <a:ext cx="8285129" cy="2795401"/>
            <a:chOff x="3091793" y="1756078"/>
            <a:chExt cx="11046840" cy="3727193"/>
          </a:xfrm>
        </p:grpSpPr>
        <p:sp>
          <p:nvSpPr>
            <p:cNvPr id="23" name="文本框 22"/>
            <p:cNvSpPr txBox="1"/>
            <p:nvPr/>
          </p:nvSpPr>
          <p:spPr>
            <a:xfrm>
              <a:off x="4551829" y="2070739"/>
              <a:ext cx="8686603" cy="1723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闭关</a:t>
              </a:r>
              <a:endParaRPr lang="en-US" altLang="zh-CN" sz="4500" dirty="0">
                <a:solidFill>
                  <a:schemeClr val="accent4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请先弄清楚自己要的是什么</a:t>
              </a:r>
              <a:endParaRPr lang="zh-CN" altLang="en-US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091793" y="175607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2417649" y="3590450"/>
              <a:ext cx="1720984" cy="18928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020514" y="4631689"/>
            <a:ext cx="689564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如果只是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把闭关当做是体验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一种感觉，就像是你可以当成我在写的是游记，觉得很好玩，自己也想去，条件心情具备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随时可去。</a:t>
            </a:r>
            <a:endParaRPr lang="en-US" altLang="zh-CN" sz="2800" dirty="0">
              <a:solidFill>
                <a:srgbClr val="FFC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882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断</a:t>
            </a:r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食</a:t>
            </a:r>
            <a:endParaRPr lang="zh-CN" altLang="en-US" sz="36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134990" y="1470248"/>
            <a:ext cx="7210563" cy="2788126"/>
            <a:chOff x="3091793" y="1756078"/>
            <a:chExt cx="9614084" cy="3717496"/>
          </a:xfrm>
        </p:grpSpPr>
        <p:sp>
          <p:nvSpPr>
            <p:cNvPr id="15" name="文本框 14"/>
            <p:cNvSpPr txBox="1"/>
            <p:nvPr/>
          </p:nvSpPr>
          <p:spPr>
            <a:xfrm>
              <a:off x="4624617" y="2138412"/>
              <a:ext cx="8081260" cy="1969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飞仙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不成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      </a:t>
              </a:r>
              <a:r>
                <a:rPr lang="zh-CN" altLang="en-US" sz="4500" dirty="0" smtClean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排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毒瘦身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091793" y="175607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763980" y="3580751"/>
              <a:ext cx="1720984" cy="18928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052513" y="4637444"/>
            <a:ext cx="6932612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如果你也想断食，先试试看，每周有一天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只食果汁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，每天有一顿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只食素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，能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坚持一月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的话，再说其他的，这个做不到就莫想了，赶紧找个东西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修炼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修炼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吧。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389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独</a:t>
            </a:r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行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201446" y="1391464"/>
            <a:ext cx="7224211" cy="2625270"/>
            <a:chOff x="3091793" y="1756078"/>
            <a:chExt cx="9632281" cy="3500358"/>
          </a:xfrm>
        </p:grpSpPr>
        <p:sp>
          <p:nvSpPr>
            <p:cNvPr id="23" name="文本框 22"/>
            <p:cNvSpPr txBox="1"/>
            <p:nvPr/>
          </p:nvSpPr>
          <p:spPr>
            <a:xfrm>
              <a:off x="4642814" y="2092660"/>
              <a:ext cx="8081260" cy="2339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坐而思</a:t>
              </a:r>
              <a:endParaRPr lang="en-US" altLang="zh-CN" sz="3300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   </a:t>
              </a:r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不如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起而行</a:t>
              </a:r>
              <a:endParaRPr lang="en-US" altLang="zh-CN" sz="3300" dirty="0"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endParaRPr lang="zh-CN" alt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091793" y="175607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0461735" y="3363612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052514" y="4630738"/>
            <a:ext cx="6932612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如果你总在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行走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中寻找生命意义，也许你需要</a:t>
            </a:r>
            <a:r>
              <a:rPr lang="zh-CN" altLang="en-US" sz="2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一段时间的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静止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；如果你一直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原地不动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，也许你需要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出去走走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，毕竟并非人人都是康德，足不出户通古达今。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02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1" y="-1"/>
            <a:ext cx="9153000" cy="878510"/>
            <a:chOff x="-1" y="566071"/>
            <a:chExt cx="9153000" cy="878510"/>
          </a:xfrm>
        </p:grpSpPr>
        <p:sp>
          <p:nvSpPr>
            <p:cNvPr id="20" name="矩形 19"/>
            <p:cNvSpPr/>
            <p:nvPr/>
          </p:nvSpPr>
          <p:spPr>
            <a:xfrm>
              <a:off x="-1" y="1398862"/>
              <a:ext cx="9153000" cy="45719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0" y="566071"/>
              <a:ext cx="1692321" cy="839871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srgbClr val="0089F0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3"/>
          <p:cNvSpPr txBox="1"/>
          <p:nvPr/>
        </p:nvSpPr>
        <p:spPr>
          <a:xfrm>
            <a:off x="109522" y="114003"/>
            <a:ext cx="147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后</a:t>
            </a:r>
            <a:r>
              <a:rPr lang="zh-CN" altLang="en-US" sz="3600" dirty="0" smtClean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记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62802" y="36892"/>
            <a:ext cx="1581203" cy="750247"/>
            <a:chOff x="9874476" y="78711"/>
            <a:chExt cx="2108269" cy="1000329"/>
          </a:xfrm>
        </p:grpSpPr>
        <p:sp>
          <p:nvSpPr>
            <p:cNvPr id="31" name="矩形 30"/>
            <p:cNvSpPr/>
            <p:nvPr/>
          </p:nvSpPr>
          <p:spPr>
            <a:xfrm>
              <a:off x="9874476" y="78711"/>
              <a:ext cx="1426032" cy="553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活出</a:t>
              </a:r>
              <a:r>
                <a:rPr lang="zh-CN" altLang="en-US" sz="2100" dirty="0" smtClean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本色</a:t>
              </a:r>
              <a:endParaRPr lang="en-US" altLang="zh-CN" sz="2100" dirty="0">
                <a:solidFill>
                  <a:srgbClr val="FFC000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0556714" y="525043"/>
              <a:ext cx="1426031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135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活</a:t>
              </a:r>
              <a:r>
                <a:rPr lang="zh-CN" altLang="en-US" sz="135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出</a:t>
              </a:r>
              <a:r>
                <a:rPr lang="zh-CN" altLang="en-US" sz="2100" dirty="0">
                  <a:solidFill>
                    <a:srgbClr val="FFC000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</a:rPr>
                <a:t>真我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143872" y="1285181"/>
            <a:ext cx="7155972" cy="2659130"/>
            <a:chOff x="3091793" y="1756078"/>
            <a:chExt cx="9541296" cy="3545504"/>
          </a:xfrm>
        </p:grpSpPr>
        <p:sp>
          <p:nvSpPr>
            <p:cNvPr id="15" name="文本框 14"/>
            <p:cNvSpPr txBox="1"/>
            <p:nvPr/>
          </p:nvSpPr>
          <p:spPr>
            <a:xfrm>
              <a:off x="4551829" y="2070739"/>
              <a:ext cx="8081260" cy="1969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dirty="0" smtClean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自剖</a:t>
              </a:r>
              <a:r>
                <a:rPr lang="zh-CN" altLang="en-US" sz="3300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越深</a:t>
              </a:r>
              <a:endParaRPr lang="en-US" altLang="zh-CN" sz="33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  <a:cs typeface="方正喵鸣" panose="02010609010101010101" pitchFamily="49" charset="-122"/>
              </a:endParaRPr>
            </a:p>
            <a:p>
              <a:r>
                <a:rPr lang="zh-CN" altLang="en-US" sz="3300" dirty="0" smtClean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                  活得</a:t>
              </a:r>
              <a:r>
                <a:rPr lang="zh-CN" altLang="en-US" sz="4500" dirty="0">
                  <a:solidFill>
                    <a:schemeClr val="accent4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越真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091793" y="1756078"/>
              <a:ext cx="1720984" cy="18928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“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032870" y="3408758"/>
              <a:ext cx="1720984" cy="1892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625" dirty="0">
                  <a:solidFill>
                    <a:schemeClr val="bg1"/>
                  </a:solidFill>
                  <a:latin typeface="方正综艺简体" panose="03000509000000000000" pitchFamily="65" charset="-122"/>
                  <a:ea typeface="方正综艺简体" panose="03000509000000000000" pitchFamily="65" charset="-122"/>
                  <a:cs typeface="方正喵鸣" panose="02010609010101010101" pitchFamily="49" charset="-122"/>
                </a:rPr>
                <a:t>”</a:t>
              </a:r>
              <a:endParaRPr lang="zh-CN" alt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575358" y="4637602"/>
            <a:ext cx="605762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我们无力改变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环境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时，只能改变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自己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，而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自剖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就是最有效帮我们达成</a:t>
            </a:r>
            <a:r>
              <a:rPr lang="zh-CN" altLang="en-US" sz="2800" dirty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真实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的途径。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真实是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目标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，自剖就是达成真实的</a:t>
            </a:r>
            <a:r>
              <a:rPr lang="zh-CN" altLang="en-US" sz="2800" dirty="0" smtClean="0">
                <a:solidFill>
                  <a:srgbClr val="FFC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手段</a:t>
            </a:r>
            <a:r>
              <a: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  <a:endParaRPr lang="en-US" altLang="zh-CN" sz="2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851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166593" y="1270892"/>
            <a:ext cx="281081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950" dirty="0">
                <a:solidFill>
                  <a:schemeClr val="bg1"/>
                </a:solidFill>
                <a:latin typeface="迷你简平和" panose="03000509000000000000" pitchFamily="65" charset="-122"/>
                <a:ea typeface="迷你简平和" panose="03000509000000000000" pitchFamily="65" charset="-122"/>
              </a:rPr>
              <a:t>谢谢欣赏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0" y="5086428"/>
            <a:ext cx="9144000" cy="46166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Designed by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Charles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远仁要做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567" y="2430942"/>
            <a:ext cx="1862865" cy="2052000"/>
          </a:xfrm>
          <a:prstGeom prst="rect">
            <a:avLst/>
          </a:prstGeom>
          <a:solidFill>
            <a:srgbClr val="FFC000"/>
          </a:solidFill>
          <a:ln w="228600" cap="sq" cmpd="thickThin">
            <a:solidFill>
              <a:srgbClr val="FFC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5197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2768600"/>
            <a:ext cx="3673475" cy="2749550"/>
          </a:xfrm>
          <a:prstGeom prst="rect">
            <a:avLst/>
          </a:prstGeom>
          <a:noFill/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矩形 12"/>
          <p:cNvSpPr>
            <a:spLocks noChangeArrowheads="1"/>
          </p:cNvSpPr>
          <p:nvPr/>
        </p:nvSpPr>
        <p:spPr bwMode="auto">
          <a:xfrm>
            <a:off x="539750" y="620713"/>
            <a:ext cx="7993063" cy="14398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8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4" name="圆角矩形 6"/>
          <p:cNvSpPr>
            <a:spLocks noChangeArrowheads="1"/>
          </p:cNvSpPr>
          <p:nvPr/>
        </p:nvSpPr>
        <p:spPr bwMode="auto">
          <a:xfrm>
            <a:off x="539750" y="5589588"/>
            <a:ext cx="3671888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15365" name="圆角矩形 9"/>
          <p:cNvSpPr>
            <a:spLocks noChangeArrowheads="1"/>
          </p:cNvSpPr>
          <p:nvPr/>
        </p:nvSpPr>
        <p:spPr bwMode="auto">
          <a:xfrm>
            <a:off x="4860925" y="5589588"/>
            <a:ext cx="3671888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538163" y="736600"/>
            <a:ext cx="79946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 大叔，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_199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反复指导</a:t>
            </a:r>
            <a:endParaRPr lang="en-US" altLang="zh-CN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我在网易云课堂等你</a:t>
            </a:r>
          </a:p>
        </p:txBody>
      </p:sp>
      <p:pic>
        <p:nvPicPr>
          <p:cNvPr id="15367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925" y="2770188"/>
            <a:ext cx="3651250" cy="2747962"/>
          </a:xfrm>
          <a:prstGeom prst="rect">
            <a:avLst/>
          </a:prstGeom>
          <a:noFill/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156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54912"/>
            <a:ext cx="9144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2812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893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79370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380" y="4139575"/>
            <a:ext cx="9144000" cy="216982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1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2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3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4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23410" y="4509150"/>
            <a:ext cx="84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7380" y="2024805"/>
            <a:ext cx="1944270" cy="13413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81146" y="2024805"/>
            <a:ext cx="1944270" cy="1341376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17672" y="2024805"/>
            <a:ext cx="1944270" cy="13413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浪微博晒作业被老师肯定奖励内部选书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65719" y="2024805"/>
            <a:ext cx="1944270" cy="13413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14094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246e8dcbbcbeff248dcd4983e9b98e5939bb23"/>
  <p:tag name="ARTICULATE_PROJECT_OPEN" val="0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1432</TotalTime>
  <Words>1688</Words>
  <Application>Microsoft Office PowerPoint</Application>
  <PresentationFormat>全屏显示(4:3)</PresentationFormat>
  <Paragraphs>261</Paragraphs>
  <Slides>28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 Unicode MS</vt:lpstr>
      <vt:lpstr>方正粗宋简体</vt:lpstr>
      <vt:lpstr>方正喵鸣</vt:lpstr>
      <vt:lpstr>方正正黑简体</vt:lpstr>
      <vt:lpstr>方正正中黑简体</vt:lpstr>
      <vt:lpstr>方正综艺简体</vt:lpstr>
      <vt:lpstr>迷你简平和</vt:lpstr>
      <vt:lpstr>宋体</vt:lpstr>
      <vt:lpstr>微软雅黑</vt:lpstr>
      <vt:lpstr>Arial</vt:lpstr>
      <vt:lpstr>Calibri</vt:lpstr>
      <vt:lpstr>Calibri Light</vt:lpstr>
      <vt:lpstr>Office 主题</vt:lpstr>
      <vt:lpstr>Office 主题​​</vt:lpstr>
      <vt:lpstr>默认设计模板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朱远仁</dc:creator>
  <cp:lastModifiedBy>xiaoba ba</cp:lastModifiedBy>
  <cp:revision>570</cp:revision>
  <dcterms:created xsi:type="dcterms:W3CDTF">2014-01-01T08:46:27Z</dcterms:created>
  <dcterms:modified xsi:type="dcterms:W3CDTF">2014-01-14T05:48:16Z</dcterms:modified>
</cp:coreProperties>
</file>