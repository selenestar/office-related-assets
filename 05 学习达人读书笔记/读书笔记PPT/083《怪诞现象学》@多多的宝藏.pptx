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29"/>
  </p:notesMasterIdLst>
  <p:sldIdLst>
    <p:sldId id="259" r:id="rId3"/>
    <p:sldId id="256" r:id="rId4"/>
    <p:sldId id="257" r:id="rId5"/>
    <p:sldId id="258" r:id="rId6"/>
    <p:sldId id="260" r:id="rId7"/>
    <p:sldId id="261" r:id="rId8"/>
    <p:sldId id="262" r:id="rId9"/>
    <p:sldId id="263" r:id="rId10"/>
    <p:sldId id="264" r:id="rId11"/>
    <p:sldId id="265" r:id="rId12"/>
    <p:sldId id="266" r:id="rId13"/>
    <p:sldId id="267" r:id="rId14"/>
    <p:sldId id="271" r:id="rId15"/>
    <p:sldId id="269" r:id="rId16"/>
    <p:sldId id="270"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embeddedFontLst>
    <p:embeddedFont>
      <p:font typeface="Calibri" panose="020F0502020204030204" pitchFamily="34" charset="0"/>
      <p:regular r:id="rId30"/>
      <p:bold r:id="rId31"/>
      <p:italic r:id="rId32"/>
      <p:boldItalic r:id="rId33"/>
    </p:embeddedFont>
    <p:embeddedFont>
      <p:font typeface="微软雅黑" panose="020B0503020204020204" pitchFamily="34" charset="-122"/>
      <p:regular r:id="rId34"/>
      <p:bold r:id="rId35"/>
    </p:embeddedFont>
    <p:embeddedFont>
      <p:font typeface="Calibri Light" panose="020F0302020204030204" pitchFamily="34" charset="0"/>
      <p:regular r:id="rId36"/>
      <p:italic r:id="rId37"/>
    </p:embeddedFont>
    <p:embeddedFont>
      <p:font typeface="方正正中黑简体" panose="02000000000000000000" pitchFamily="2" charset="-122"/>
      <p:regular r:id="rId38"/>
    </p:embeddedFont>
    <p:embeddedFont>
      <p:font typeface="方正正黑简体" panose="02000000000000000000" pitchFamily="2" charset="-122"/>
      <p:regular r:id="rId39"/>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29">
          <p15:clr>
            <a:srgbClr val="A4A3A4"/>
          </p15:clr>
        </p15:guide>
        <p15:guide id="2" pos="292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ACDE"/>
    <a:srgbClr val="0E24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2" d="100"/>
          <a:sy n="92" d="100"/>
        </p:scale>
        <p:origin x="756" y="90"/>
      </p:cViewPr>
      <p:guideLst>
        <p:guide orient="horz" pos="1529"/>
        <p:guide pos="292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0.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5.fntdata"/><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font" Target="fonts/font9.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7.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E499ED-B9B8-482B-A925-FB8380B8D804}" type="datetimeFigureOut">
              <a:rPr lang="zh-CN" altLang="en-US" smtClean="0"/>
              <a:t>2014/4/18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CF060F-E27F-4420-94F7-8B20766ADC40}" type="slidenum">
              <a:rPr lang="zh-CN" altLang="en-US" smtClean="0"/>
              <a:t>‹#›</a:t>
            </a:fld>
            <a:endParaRPr lang="zh-CN" altLang="en-US"/>
          </a:p>
        </p:txBody>
      </p:sp>
    </p:spTree>
    <p:extLst>
      <p:ext uri="{BB962C8B-B14F-4D97-AF65-F5344CB8AC3E}">
        <p14:creationId xmlns:p14="http://schemas.microsoft.com/office/powerpoint/2010/main" val="441490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3CF060F-E27F-4420-94F7-8B20766ADC40}" type="slidenum">
              <a:rPr lang="zh-CN" altLang="en-US" smtClean="0"/>
              <a:t>16</a:t>
            </a:fld>
            <a:endParaRPr lang="zh-CN" altLang="en-US"/>
          </a:p>
        </p:txBody>
      </p:sp>
    </p:spTree>
    <p:extLst>
      <p:ext uri="{BB962C8B-B14F-4D97-AF65-F5344CB8AC3E}">
        <p14:creationId xmlns:p14="http://schemas.microsoft.com/office/powerpoint/2010/main" val="3028506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02F5C4E0-4D5D-4278-A0DF-5AFBC90405EA}" type="datetimeFigureOut">
              <a:rPr lang="zh-CN" altLang="en-US" smtClean="0"/>
              <a:t>2014/4/18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8A7978-E3D6-405B-B46A-DF7859DB0BFA}" type="slidenum">
              <a:rPr lang="zh-CN" altLang="en-US" smtClean="0"/>
              <a:t>‹#›</a:t>
            </a:fld>
            <a:endParaRPr lang="zh-CN" altLang="en-US"/>
          </a:p>
        </p:txBody>
      </p:sp>
    </p:spTree>
    <p:extLst>
      <p:ext uri="{BB962C8B-B14F-4D97-AF65-F5344CB8AC3E}">
        <p14:creationId xmlns:p14="http://schemas.microsoft.com/office/powerpoint/2010/main" val="3663216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2F5C4E0-4D5D-4278-A0DF-5AFBC90405EA}" type="datetimeFigureOut">
              <a:rPr lang="zh-CN" altLang="en-US" smtClean="0"/>
              <a:t>2014/4/18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8A7978-E3D6-405B-B46A-DF7859DB0BFA}" type="slidenum">
              <a:rPr lang="zh-CN" altLang="en-US" smtClean="0"/>
              <a:t>‹#›</a:t>
            </a:fld>
            <a:endParaRPr lang="zh-CN" altLang="en-US"/>
          </a:p>
        </p:txBody>
      </p:sp>
    </p:spTree>
    <p:extLst>
      <p:ext uri="{BB962C8B-B14F-4D97-AF65-F5344CB8AC3E}">
        <p14:creationId xmlns:p14="http://schemas.microsoft.com/office/powerpoint/2010/main" val="364979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02F5C4E0-4D5D-4278-A0DF-5AFBC90405EA}" type="datetimeFigureOut">
              <a:rPr lang="zh-CN" altLang="en-US" smtClean="0"/>
              <a:t>2014/4/18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8A7978-E3D6-405B-B46A-DF7859DB0BFA}" type="slidenum">
              <a:rPr lang="zh-CN" altLang="en-US" smtClean="0"/>
              <a:t>‹#›</a:t>
            </a:fld>
            <a:endParaRPr lang="zh-CN" altLang="en-US"/>
          </a:p>
        </p:txBody>
      </p:sp>
    </p:spTree>
    <p:extLst>
      <p:ext uri="{BB962C8B-B14F-4D97-AF65-F5344CB8AC3E}">
        <p14:creationId xmlns:p14="http://schemas.microsoft.com/office/powerpoint/2010/main" val="4233427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2F5C4E0-4D5D-4278-A0DF-5AFBC90405EA}" type="datetimeFigureOut">
              <a:rPr lang="zh-CN" altLang="en-US" smtClean="0"/>
              <a:t>2014/4/18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D8A7978-E3D6-405B-B46A-DF7859DB0BFA}" type="slidenum">
              <a:rPr lang="zh-CN" altLang="en-US" smtClean="0"/>
              <a:t>‹#›</a:t>
            </a:fld>
            <a:endParaRPr lang="zh-CN" altLang="en-US"/>
          </a:p>
        </p:txBody>
      </p:sp>
    </p:spTree>
    <p:extLst>
      <p:ext uri="{BB962C8B-B14F-4D97-AF65-F5344CB8AC3E}">
        <p14:creationId xmlns:p14="http://schemas.microsoft.com/office/powerpoint/2010/main" val="3261380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2F5C4E0-4D5D-4278-A0DF-5AFBC90405EA}" type="datetimeFigureOut">
              <a:rPr lang="zh-CN" altLang="en-US" smtClean="0"/>
              <a:t>2014/4/18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D8A7978-E3D6-405B-B46A-DF7859DB0BFA}" type="slidenum">
              <a:rPr lang="zh-CN" altLang="en-US" smtClean="0"/>
              <a:t>‹#›</a:t>
            </a:fld>
            <a:endParaRPr lang="zh-CN" altLang="en-US"/>
          </a:p>
        </p:txBody>
      </p:sp>
    </p:spTree>
    <p:extLst>
      <p:ext uri="{BB962C8B-B14F-4D97-AF65-F5344CB8AC3E}">
        <p14:creationId xmlns:p14="http://schemas.microsoft.com/office/powerpoint/2010/main" val="2237904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2F5C4E0-4D5D-4278-A0DF-5AFBC90405EA}" type="datetimeFigureOut">
              <a:rPr lang="zh-CN" altLang="en-US" smtClean="0"/>
              <a:t>2014/4/18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D8A7978-E3D6-405B-B46A-DF7859DB0BFA}" type="slidenum">
              <a:rPr lang="zh-CN" altLang="en-US" smtClean="0"/>
              <a:t>‹#›</a:t>
            </a:fld>
            <a:endParaRPr lang="zh-CN" altLang="en-US"/>
          </a:p>
        </p:txBody>
      </p:sp>
    </p:spTree>
    <p:extLst>
      <p:ext uri="{BB962C8B-B14F-4D97-AF65-F5344CB8AC3E}">
        <p14:creationId xmlns:p14="http://schemas.microsoft.com/office/powerpoint/2010/main" val="4153525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F5C4E0-4D5D-4278-A0DF-5AFBC90405EA}" type="datetimeFigureOut">
              <a:rPr lang="zh-CN" altLang="en-US" smtClean="0"/>
              <a:t>2014/4/18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D8A7978-E3D6-405B-B46A-DF7859DB0BFA}" type="slidenum">
              <a:rPr lang="zh-CN" altLang="en-US" smtClean="0"/>
              <a:t>‹#›</a:t>
            </a:fld>
            <a:endParaRPr lang="zh-CN" altLang="en-US"/>
          </a:p>
        </p:txBody>
      </p:sp>
    </p:spTree>
    <p:extLst>
      <p:ext uri="{BB962C8B-B14F-4D97-AF65-F5344CB8AC3E}">
        <p14:creationId xmlns:p14="http://schemas.microsoft.com/office/powerpoint/2010/main" val="1374548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2F5C4E0-4D5D-4278-A0DF-5AFBC90405EA}" type="datetimeFigureOut">
              <a:rPr lang="zh-CN" altLang="en-US" smtClean="0"/>
              <a:t>2014/4/18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D8A7978-E3D6-405B-B46A-DF7859DB0BFA}" type="slidenum">
              <a:rPr lang="zh-CN" altLang="en-US" smtClean="0"/>
              <a:t>‹#›</a:t>
            </a:fld>
            <a:endParaRPr lang="zh-CN" altLang="en-US"/>
          </a:p>
        </p:txBody>
      </p:sp>
    </p:spTree>
    <p:extLst>
      <p:ext uri="{BB962C8B-B14F-4D97-AF65-F5344CB8AC3E}">
        <p14:creationId xmlns:p14="http://schemas.microsoft.com/office/powerpoint/2010/main" val="1181886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2F5C4E0-4D5D-4278-A0DF-5AFBC90405EA}" type="datetimeFigureOut">
              <a:rPr lang="zh-CN" altLang="en-US" smtClean="0"/>
              <a:t>2014/4/18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D8A7978-E3D6-405B-B46A-DF7859DB0BFA}" type="slidenum">
              <a:rPr lang="zh-CN" altLang="en-US" smtClean="0"/>
              <a:t>‹#›</a:t>
            </a:fld>
            <a:endParaRPr lang="zh-CN" altLang="en-US"/>
          </a:p>
        </p:txBody>
      </p:sp>
    </p:spTree>
    <p:extLst>
      <p:ext uri="{BB962C8B-B14F-4D97-AF65-F5344CB8AC3E}">
        <p14:creationId xmlns:p14="http://schemas.microsoft.com/office/powerpoint/2010/main" val="1707101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2F5C4E0-4D5D-4278-A0DF-5AFBC90405EA}" type="datetimeFigureOut">
              <a:rPr lang="zh-CN" altLang="en-US" smtClean="0"/>
              <a:t>2014/4/18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8A7978-E3D6-405B-B46A-DF7859DB0BFA}" type="slidenum">
              <a:rPr lang="zh-CN" altLang="en-US" smtClean="0"/>
              <a:t>‹#›</a:t>
            </a:fld>
            <a:endParaRPr lang="zh-CN" altLang="en-US"/>
          </a:p>
        </p:txBody>
      </p:sp>
    </p:spTree>
    <p:extLst>
      <p:ext uri="{BB962C8B-B14F-4D97-AF65-F5344CB8AC3E}">
        <p14:creationId xmlns:p14="http://schemas.microsoft.com/office/powerpoint/2010/main" val="1164824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2F5C4E0-4D5D-4278-A0DF-5AFBC90405EA}" type="datetimeFigureOut">
              <a:rPr lang="zh-CN" altLang="en-US" smtClean="0"/>
              <a:t>2014/4/18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8A7978-E3D6-405B-B46A-DF7859DB0BFA}" type="slidenum">
              <a:rPr lang="zh-CN" altLang="en-US" smtClean="0"/>
              <a:t>‹#›</a:t>
            </a:fld>
            <a:endParaRPr lang="zh-CN" altLang="en-US"/>
          </a:p>
        </p:txBody>
      </p:sp>
    </p:spTree>
    <p:extLst>
      <p:ext uri="{BB962C8B-B14F-4D97-AF65-F5344CB8AC3E}">
        <p14:creationId xmlns:p14="http://schemas.microsoft.com/office/powerpoint/2010/main" val="1469427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05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2701528"/>
            <a:ext cx="6858000" cy="1241822"/>
          </a:xfrm>
        </p:spPr>
        <p:txBody>
          <a:bodyPr/>
          <a:lstStyle>
            <a:lvl1pPr marL="0" indent="0" algn="ctr">
              <a:buNone/>
              <a:defRPr sz="1620"/>
            </a:lvl1pPr>
            <a:lvl2pPr marL="308610" indent="0" algn="ctr">
              <a:buNone/>
              <a:defRPr sz="1350"/>
            </a:lvl2pPr>
            <a:lvl3pPr marL="617220" indent="0" algn="ctr">
              <a:buNone/>
              <a:defRPr sz="1215"/>
            </a:lvl3pPr>
            <a:lvl4pPr marL="925830" indent="0" algn="ctr">
              <a:buNone/>
              <a:defRPr sz="1080"/>
            </a:lvl4pPr>
            <a:lvl5pPr marL="1234440" indent="0" algn="ctr">
              <a:buNone/>
              <a:defRPr sz="1080"/>
            </a:lvl5pPr>
            <a:lvl6pPr marL="1543050" indent="0" algn="ctr">
              <a:buNone/>
              <a:defRPr sz="1080"/>
            </a:lvl6pPr>
            <a:lvl7pPr marL="1851660" indent="0" algn="ctr">
              <a:buNone/>
              <a:defRPr sz="1080"/>
            </a:lvl7pPr>
            <a:lvl8pPr marL="2160270" indent="0" algn="ctr">
              <a:buNone/>
              <a:defRPr sz="1080"/>
            </a:lvl8pPr>
            <a:lvl9pPr marL="2468880" indent="0" algn="ctr">
              <a:buNone/>
              <a:defRPr sz="108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444845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60718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5"/>
            <a:ext cx="7886700" cy="2139553"/>
          </a:xfrm>
        </p:spPr>
        <p:txBody>
          <a:bodyPr anchor="b"/>
          <a:lstStyle>
            <a:lvl1pPr>
              <a:defRPr sz="405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3442099"/>
            <a:ext cx="7886700" cy="1125140"/>
          </a:xfrm>
        </p:spPr>
        <p:txBody>
          <a:bodyPr/>
          <a:lstStyle>
            <a:lvl1pPr marL="0" indent="0">
              <a:buNone/>
              <a:defRPr sz="1620">
                <a:solidFill>
                  <a:schemeClr val="tx1">
                    <a:tint val="75000"/>
                  </a:schemeClr>
                </a:solidFill>
              </a:defRPr>
            </a:lvl1pPr>
            <a:lvl2pPr marL="308610" indent="0">
              <a:buNone/>
              <a:defRPr sz="1350">
                <a:solidFill>
                  <a:schemeClr val="tx1">
                    <a:tint val="75000"/>
                  </a:schemeClr>
                </a:solidFill>
              </a:defRPr>
            </a:lvl2pPr>
            <a:lvl3pPr marL="617220" indent="0">
              <a:buNone/>
              <a:defRPr sz="1215">
                <a:solidFill>
                  <a:schemeClr val="tx1">
                    <a:tint val="75000"/>
                  </a:schemeClr>
                </a:solidFill>
              </a:defRPr>
            </a:lvl3pPr>
            <a:lvl4pPr marL="925830" indent="0">
              <a:buNone/>
              <a:defRPr sz="1080">
                <a:solidFill>
                  <a:schemeClr val="tx1">
                    <a:tint val="75000"/>
                  </a:schemeClr>
                </a:solidFill>
              </a:defRPr>
            </a:lvl4pPr>
            <a:lvl5pPr marL="1234440" indent="0">
              <a:buNone/>
              <a:defRPr sz="1080">
                <a:solidFill>
                  <a:schemeClr val="tx1">
                    <a:tint val="75000"/>
                  </a:schemeClr>
                </a:solidFill>
              </a:defRPr>
            </a:lvl5pPr>
            <a:lvl6pPr marL="1543050" indent="0">
              <a:buNone/>
              <a:defRPr sz="1080">
                <a:solidFill>
                  <a:schemeClr val="tx1">
                    <a:tint val="75000"/>
                  </a:schemeClr>
                </a:solidFill>
              </a:defRPr>
            </a:lvl6pPr>
            <a:lvl7pPr marL="1851660" indent="0">
              <a:buNone/>
              <a:defRPr sz="1080">
                <a:solidFill>
                  <a:schemeClr val="tx1">
                    <a:tint val="75000"/>
                  </a:schemeClr>
                </a:solidFill>
              </a:defRPr>
            </a:lvl7pPr>
            <a:lvl8pPr marL="2160270" indent="0">
              <a:buNone/>
              <a:defRPr sz="1080">
                <a:solidFill>
                  <a:schemeClr val="tx1">
                    <a:tint val="75000"/>
                  </a:schemeClr>
                </a:solidFill>
              </a:defRPr>
            </a:lvl8pPr>
            <a:lvl9pPr marL="2468880" indent="0">
              <a:buNone/>
              <a:defRPr sz="108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96319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369219"/>
            <a:ext cx="3886200" cy="326350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369219"/>
            <a:ext cx="3886200" cy="326350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2014/4/18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61305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260872"/>
            <a:ext cx="3868340" cy="617934"/>
          </a:xfrm>
        </p:spPr>
        <p:txBody>
          <a:bodyPr anchor="b"/>
          <a:lstStyle>
            <a:lvl1pPr marL="0" indent="0">
              <a:buNone/>
              <a:defRPr sz="1620" b="1"/>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zh-CN" altLang="en-US" smtClean="0"/>
              <a:t>单击此处编辑母版文本样式</a:t>
            </a:r>
          </a:p>
        </p:txBody>
      </p:sp>
      <p:sp>
        <p:nvSpPr>
          <p:cNvPr id="4" name="内容占位符 3"/>
          <p:cNvSpPr>
            <a:spLocks noGrp="1"/>
          </p:cNvSpPr>
          <p:nvPr>
            <p:ph sz="half" idx="2"/>
          </p:nvPr>
        </p:nvSpPr>
        <p:spPr>
          <a:xfrm>
            <a:off x="629842" y="1878807"/>
            <a:ext cx="3868340" cy="27634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1" y="1260872"/>
            <a:ext cx="3887391" cy="617934"/>
          </a:xfrm>
        </p:spPr>
        <p:txBody>
          <a:bodyPr anchor="b"/>
          <a:lstStyle>
            <a:lvl1pPr marL="0" indent="0">
              <a:buNone/>
              <a:defRPr sz="1620" b="1"/>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zh-CN" altLang="en-US" smtClean="0"/>
              <a:t>单击此处编辑母版文本样式</a:t>
            </a:r>
          </a:p>
        </p:txBody>
      </p:sp>
      <p:sp>
        <p:nvSpPr>
          <p:cNvPr id="6" name="内容占位符 5"/>
          <p:cNvSpPr>
            <a:spLocks noGrp="1"/>
          </p:cNvSpPr>
          <p:nvPr>
            <p:ph sz="quarter" idx="4"/>
          </p:nvPr>
        </p:nvSpPr>
        <p:spPr>
          <a:xfrm>
            <a:off x="4629151" y="1878807"/>
            <a:ext cx="3887391" cy="27634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2014/4/18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29099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2014/4/18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8806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2014/4/18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89709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16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740570"/>
            <a:ext cx="4629150" cy="3655219"/>
          </a:xfrm>
        </p:spPr>
        <p:txBody>
          <a:bodyPr/>
          <a:lstStyle>
            <a:lvl1pPr>
              <a:defRPr sz="2160"/>
            </a:lvl1pPr>
            <a:lvl2pPr>
              <a:defRPr sz="1890"/>
            </a:lvl2pPr>
            <a:lvl3pPr>
              <a:defRPr sz="162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080"/>
            </a:lvl1pPr>
            <a:lvl2pPr marL="308610" indent="0">
              <a:buNone/>
              <a:defRPr sz="945"/>
            </a:lvl2pPr>
            <a:lvl3pPr marL="617220" indent="0">
              <a:buNone/>
              <a:defRPr sz="810"/>
            </a:lvl3pPr>
            <a:lvl4pPr marL="925830" indent="0">
              <a:buNone/>
              <a:defRPr sz="675"/>
            </a:lvl4pPr>
            <a:lvl5pPr marL="1234440" indent="0">
              <a:buNone/>
              <a:defRPr sz="675"/>
            </a:lvl5pPr>
            <a:lvl6pPr marL="1543050" indent="0">
              <a:buNone/>
              <a:defRPr sz="675"/>
            </a:lvl6pPr>
            <a:lvl7pPr marL="1851660" indent="0">
              <a:buNone/>
              <a:defRPr sz="675"/>
            </a:lvl7pPr>
            <a:lvl8pPr marL="2160270" indent="0">
              <a:buNone/>
              <a:defRPr sz="675"/>
            </a:lvl8pPr>
            <a:lvl9pPr marL="246888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2014/4/18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088931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16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740570"/>
            <a:ext cx="4629150" cy="3655219"/>
          </a:xfrm>
        </p:spPr>
        <p:txBody>
          <a:bodyPr/>
          <a:lstStyle>
            <a:lvl1pPr marL="0" indent="0">
              <a:buNone/>
              <a:defRPr sz="2160"/>
            </a:lvl1pPr>
            <a:lvl2pPr marL="308610" indent="0">
              <a:buNone/>
              <a:defRPr sz="1890"/>
            </a:lvl2pPr>
            <a:lvl3pPr marL="617220" indent="0">
              <a:buNone/>
              <a:defRPr sz="1620"/>
            </a:lvl3pPr>
            <a:lvl4pPr marL="925830" indent="0">
              <a:buNone/>
              <a:defRPr sz="1350"/>
            </a:lvl4pPr>
            <a:lvl5pPr marL="1234440" indent="0">
              <a:buNone/>
              <a:defRPr sz="1350"/>
            </a:lvl5pPr>
            <a:lvl6pPr marL="1543050" indent="0">
              <a:buNone/>
              <a:defRPr sz="1350"/>
            </a:lvl6pPr>
            <a:lvl7pPr marL="1851660" indent="0">
              <a:buNone/>
              <a:defRPr sz="1350"/>
            </a:lvl7pPr>
            <a:lvl8pPr marL="2160270" indent="0">
              <a:buNone/>
              <a:defRPr sz="1350"/>
            </a:lvl8pPr>
            <a:lvl9pPr marL="2468880" indent="0">
              <a:buNone/>
              <a:defRPr sz="1350"/>
            </a:lvl9pPr>
          </a:lstStyle>
          <a:p>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080"/>
            </a:lvl1pPr>
            <a:lvl2pPr marL="308610" indent="0">
              <a:buNone/>
              <a:defRPr sz="945"/>
            </a:lvl2pPr>
            <a:lvl3pPr marL="617220" indent="0">
              <a:buNone/>
              <a:defRPr sz="810"/>
            </a:lvl3pPr>
            <a:lvl4pPr marL="925830" indent="0">
              <a:buNone/>
              <a:defRPr sz="675"/>
            </a:lvl4pPr>
            <a:lvl5pPr marL="1234440" indent="0">
              <a:buNone/>
              <a:defRPr sz="675"/>
            </a:lvl5pPr>
            <a:lvl6pPr marL="1543050" indent="0">
              <a:buNone/>
              <a:defRPr sz="675"/>
            </a:lvl6pPr>
            <a:lvl7pPr marL="1851660" indent="0">
              <a:buNone/>
              <a:defRPr sz="675"/>
            </a:lvl7pPr>
            <a:lvl8pPr marL="2160270" indent="0">
              <a:buNone/>
              <a:defRPr sz="675"/>
            </a:lvl8pPr>
            <a:lvl9pPr marL="246888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2014/4/18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896459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603203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273844"/>
            <a:ext cx="1971675" cy="435887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1" y="273844"/>
            <a:ext cx="5800725" cy="4358879"/>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77522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02F5C4E0-4D5D-4278-A0DF-5AFBC90405EA}" type="datetimeFigureOut">
              <a:rPr lang="zh-CN" altLang="en-US" smtClean="0"/>
              <a:t>2014/4/18</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D8A7978-E3D6-405B-B46A-DF7859DB0BFA}" type="slidenum">
              <a:rPr lang="zh-CN" altLang="en-US" smtClean="0"/>
              <a:t>‹#›</a:t>
            </a:fld>
            <a:endParaRPr lang="zh-CN" altLang="en-US"/>
          </a:p>
        </p:txBody>
      </p:sp>
      <p:sp>
        <p:nvSpPr>
          <p:cNvPr id="7" name="矩形 6"/>
          <p:cNvSpPr/>
          <p:nvPr userDrawn="1"/>
        </p:nvSpPr>
        <p:spPr>
          <a:xfrm>
            <a:off x="0" y="368662"/>
            <a:ext cx="9396536" cy="648072"/>
          </a:xfrm>
          <a:prstGeom prst="rect">
            <a:avLst/>
          </a:prstGeom>
          <a:solidFill>
            <a:srgbClr val="06ABD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userDrawn="1"/>
        </p:nvGrpSpPr>
        <p:grpSpPr>
          <a:xfrm>
            <a:off x="611560" y="555526"/>
            <a:ext cx="900100" cy="353492"/>
            <a:chOff x="683568" y="36003"/>
            <a:chExt cx="900100" cy="432046"/>
          </a:xfrm>
        </p:grpSpPr>
        <p:sp>
          <p:nvSpPr>
            <p:cNvPr id="9" name="等腰三角形 8"/>
            <p:cNvSpPr/>
            <p:nvPr userDrawn="1"/>
          </p:nvSpPr>
          <p:spPr>
            <a:xfrm rot="5400000">
              <a:off x="593559" y="126012"/>
              <a:ext cx="432046" cy="252028"/>
            </a:xfrm>
            <a:prstGeom prst="triangle">
              <a:avLst/>
            </a:prstGeom>
            <a:solidFill>
              <a:srgbClr val="F1FDA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5400000">
              <a:off x="1241631" y="126012"/>
              <a:ext cx="432046" cy="252028"/>
            </a:xfrm>
            <a:prstGeom prst="triangle">
              <a:avLst/>
            </a:prstGeom>
            <a:solidFill>
              <a:srgbClr val="F1FDA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rot="5400000">
              <a:off x="917595" y="126012"/>
              <a:ext cx="432046" cy="252028"/>
            </a:xfrm>
            <a:prstGeom prst="triangle">
              <a:avLst/>
            </a:prstGeom>
            <a:solidFill>
              <a:srgbClr val="F1FDA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8564239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810">
                <a:solidFill>
                  <a:schemeClr val="tx1">
                    <a:tint val="75000"/>
                  </a:schemeClr>
                </a:solidFill>
              </a:defRPr>
            </a:lvl1pPr>
          </a:lstStyle>
          <a:p>
            <a:fld id="{16602BEF-D029-4B59-852F-F491FA8C1ABB}" type="datetimeFigureOut">
              <a:rPr lang="zh-CN" altLang="en-US" smtClean="0">
                <a:solidFill>
                  <a:prstClr val="black">
                    <a:tint val="75000"/>
                  </a:prstClr>
                </a:solidFill>
              </a:rPr>
              <a:pPr/>
              <a:t>2014/4/18</a:t>
            </a:fld>
            <a:endParaRPr lang="zh-CN" altLang="en-US">
              <a:solidFill>
                <a:prstClr val="black">
                  <a:tint val="75000"/>
                </a:prstClr>
              </a:solidFill>
            </a:endParaRPr>
          </a:p>
        </p:txBody>
      </p:sp>
      <p:sp>
        <p:nvSpPr>
          <p:cNvPr id="5" name="页脚占位符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81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810">
                <a:solidFill>
                  <a:schemeClr val="tx1">
                    <a:tint val="75000"/>
                  </a:schemeClr>
                </a:solidFill>
              </a:defRPr>
            </a:lvl1p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285218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17220" rtl="0" eaLnBrk="1" latinLnBrk="0" hangingPunct="1">
        <a:lnSpc>
          <a:spcPct val="90000"/>
        </a:lnSpc>
        <a:spcBef>
          <a:spcPct val="0"/>
        </a:spcBef>
        <a:buNone/>
        <a:defRPr sz="2970" kern="1200">
          <a:solidFill>
            <a:schemeClr val="tx1"/>
          </a:solidFill>
          <a:latin typeface="+mj-lt"/>
          <a:ea typeface="+mj-ea"/>
          <a:cs typeface="+mj-cs"/>
        </a:defRPr>
      </a:lvl1pPr>
    </p:titleStyle>
    <p:bodyStyle>
      <a:lvl1pPr marL="154305" indent="-154305" algn="l" defTabSz="617220" rtl="0" eaLnBrk="1" latinLnBrk="0" hangingPunct="1">
        <a:lnSpc>
          <a:spcPct val="90000"/>
        </a:lnSpc>
        <a:spcBef>
          <a:spcPts val="675"/>
        </a:spcBef>
        <a:buFont typeface="Arial" panose="020B0604020202020204" pitchFamily="34" charset="0"/>
        <a:buChar char="•"/>
        <a:defRPr sz="1890" kern="1200">
          <a:solidFill>
            <a:schemeClr val="tx1"/>
          </a:solidFill>
          <a:latin typeface="+mn-lt"/>
          <a:ea typeface="+mn-ea"/>
          <a:cs typeface="+mn-cs"/>
        </a:defRPr>
      </a:lvl1pPr>
      <a:lvl2pPr marL="462915" indent="-154305" algn="l" defTabSz="617220" rtl="0" eaLnBrk="1" latinLnBrk="0" hangingPunct="1">
        <a:lnSpc>
          <a:spcPct val="90000"/>
        </a:lnSpc>
        <a:spcBef>
          <a:spcPts val="338"/>
        </a:spcBef>
        <a:buFont typeface="Arial" panose="020B0604020202020204" pitchFamily="34" charset="0"/>
        <a:buChar char="•"/>
        <a:defRPr sz="1620" kern="1200">
          <a:solidFill>
            <a:schemeClr val="tx1"/>
          </a:solidFill>
          <a:latin typeface="+mn-lt"/>
          <a:ea typeface="+mn-ea"/>
          <a:cs typeface="+mn-cs"/>
        </a:defRPr>
      </a:lvl2pPr>
      <a:lvl3pPr marL="771525" indent="-154305" algn="l" defTabSz="617220" rtl="0" eaLnBrk="1" latinLnBrk="0" hangingPunct="1">
        <a:lnSpc>
          <a:spcPct val="90000"/>
        </a:lnSpc>
        <a:spcBef>
          <a:spcPts val="338"/>
        </a:spcBef>
        <a:buFont typeface="Arial" panose="020B0604020202020204" pitchFamily="34" charset="0"/>
        <a:buChar char="•"/>
        <a:defRPr sz="1350" kern="1200">
          <a:solidFill>
            <a:schemeClr val="tx1"/>
          </a:solidFill>
          <a:latin typeface="+mn-lt"/>
          <a:ea typeface="+mn-ea"/>
          <a:cs typeface="+mn-cs"/>
        </a:defRPr>
      </a:lvl3pPr>
      <a:lvl4pPr marL="1080135" indent="-154305" algn="l" defTabSz="617220" rtl="0" eaLnBrk="1" latinLnBrk="0" hangingPunct="1">
        <a:lnSpc>
          <a:spcPct val="90000"/>
        </a:lnSpc>
        <a:spcBef>
          <a:spcPts val="338"/>
        </a:spcBef>
        <a:buFont typeface="Arial" panose="020B0604020202020204" pitchFamily="34" charset="0"/>
        <a:buChar char="•"/>
        <a:defRPr sz="1215" kern="1200">
          <a:solidFill>
            <a:schemeClr val="tx1"/>
          </a:solidFill>
          <a:latin typeface="+mn-lt"/>
          <a:ea typeface="+mn-ea"/>
          <a:cs typeface="+mn-cs"/>
        </a:defRPr>
      </a:lvl4pPr>
      <a:lvl5pPr marL="1388745" indent="-154305" algn="l" defTabSz="617220" rtl="0" eaLnBrk="1" latinLnBrk="0" hangingPunct="1">
        <a:lnSpc>
          <a:spcPct val="90000"/>
        </a:lnSpc>
        <a:spcBef>
          <a:spcPts val="338"/>
        </a:spcBef>
        <a:buFont typeface="Arial" panose="020B0604020202020204" pitchFamily="34" charset="0"/>
        <a:buChar char="•"/>
        <a:defRPr sz="1215" kern="1200">
          <a:solidFill>
            <a:schemeClr val="tx1"/>
          </a:solidFill>
          <a:latin typeface="+mn-lt"/>
          <a:ea typeface="+mn-ea"/>
          <a:cs typeface="+mn-cs"/>
        </a:defRPr>
      </a:lvl5pPr>
      <a:lvl6pPr marL="1697355" indent="-154305" algn="l" defTabSz="617220" rtl="0" eaLnBrk="1" latinLnBrk="0" hangingPunct="1">
        <a:lnSpc>
          <a:spcPct val="90000"/>
        </a:lnSpc>
        <a:spcBef>
          <a:spcPts val="338"/>
        </a:spcBef>
        <a:buFont typeface="Arial" panose="020B0604020202020204" pitchFamily="34" charset="0"/>
        <a:buChar char="•"/>
        <a:defRPr sz="1215" kern="1200">
          <a:solidFill>
            <a:schemeClr val="tx1"/>
          </a:solidFill>
          <a:latin typeface="+mn-lt"/>
          <a:ea typeface="+mn-ea"/>
          <a:cs typeface="+mn-cs"/>
        </a:defRPr>
      </a:lvl6pPr>
      <a:lvl7pPr marL="2005965" indent="-154305" algn="l" defTabSz="617220" rtl="0" eaLnBrk="1" latinLnBrk="0" hangingPunct="1">
        <a:lnSpc>
          <a:spcPct val="90000"/>
        </a:lnSpc>
        <a:spcBef>
          <a:spcPts val="338"/>
        </a:spcBef>
        <a:buFont typeface="Arial" panose="020B0604020202020204" pitchFamily="34" charset="0"/>
        <a:buChar char="•"/>
        <a:defRPr sz="1215" kern="1200">
          <a:solidFill>
            <a:schemeClr val="tx1"/>
          </a:solidFill>
          <a:latin typeface="+mn-lt"/>
          <a:ea typeface="+mn-ea"/>
          <a:cs typeface="+mn-cs"/>
        </a:defRPr>
      </a:lvl7pPr>
      <a:lvl8pPr marL="2314575" indent="-154305" algn="l" defTabSz="617220" rtl="0" eaLnBrk="1" latinLnBrk="0" hangingPunct="1">
        <a:lnSpc>
          <a:spcPct val="90000"/>
        </a:lnSpc>
        <a:spcBef>
          <a:spcPts val="338"/>
        </a:spcBef>
        <a:buFont typeface="Arial" panose="020B0604020202020204" pitchFamily="34" charset="0"/>
        <a:buChar char="•"/>
        <a:defRPr sz="1215" kern="1200">
          <a:solidFill>
            <a:schemeClr val="tx1"/>
          </a:solidFill>
          <a:latin typeface="+mn-lt"/>
          <a:ea typeface="+mn-ea"/>
          <a:cs typeface="+mn-cs"/>
        </a:defRPr>
      </a:lvl8pPr>
      <a:lvl9pPr marL="2623185" indent="-154305" algn="l" defTabSz="617220" rtl="0" eaLnBrk="1" latinLnBrk="0" hangingPunct="1">
        <a:lnSpc>
          <a:spcPct val="90000"/>
        </a:lnSpc>
        <a:spcBef>
          <a:spcPts val="338"/>
        </a:spcBef>
        <a:buFont typeface="Arial" panose="020B0604020202020204" pitchFamily="34" charset="0"/>
        <a:buChar char="•"/>
        <a:defRPr sz="1215" kern="1200">
          <a:solidFill>
            <a:schemeClr val="tx1"/>
          </a:solidFill>
          <a:latin typeface="+mn-lt"/>
          <a:ea typeface="+mn-ea"/>
          <a:cs typeface="+mn-cs"/>
        </a:defRPr>
      </a:lvl9pPr>
    </p:bodyStyle>
    <p:otherStyle>
      <a:defPPr>
        <a:defRPr lang="zh-CN"/>
      </a:defPPr>
      <a:lvl1pPr marL="0" algn="l" defTabSz="617220" rtl="0" eaLnBrk="1" latinLnBrk="0" hangingPunct="1">
        <a:defRPr sz="1215" kern="1200">
          <a:solidFill>
            <a:schemeClr val="tx1"/>
          </a:solidFill>
          <a:latin typeface="+mn-lt"/>
          <a:ea typeface="+mn-ea"/>
          <a:cs typeface="+mn-cs"/>
        </a:defRPr>
      </a:lvl1pPr>
      <a:lvl2pPr marL="308610" algn="l" defTabSz="617220" rtl="0" eaLnBrk="1" latinLnBrk="0" hangingPunct="1">
        <a:defRPr sz="1215" kern="1200">
          <a:solidFill>
            <a:schemeClr val="tx1"/>
          </a:solidFill>
          <a:latin typeface="+mn-lt"/>
          <a:ea typeface="+mn-ea"/>
          <a:cs typeface="+mn-cs"/>
        </a:defRPr>
      </a:lvl2pPr>
      <a:lvl3pPr marL="617220" algn="l" defTabSz="617220" rtl="0" eaLnBrk="1" latinLnBrk="0" hangingPunct="1">
        <a:defRPr sz="1215" kern="1200">
          <a:solidFill>
            <a:schemeClr val="tx1"/>
          </a:solidFill>
          <a:latin typeface="+mn-lt"/>
          <a:ea typeface="+mn-ea"/>
          <a:cs typeface="+mn-cs"/>
        </a:defRPr>
      </a:lvl3pPr>
      <a:lvl4pPr marL="925830" algn="l" defTabSz="617220" rtl="0" eaLnBrk="1" latinLnBrk="0" hangingPunct="1">
        <a:defRPr sz="1215" kern="1200">
          <a:solidFill>
            <a:schemeClr val="tx1"/>
          </a:solidFill>
          <a:latin typeface="+mn-lt"/>
          <a:ea typeface="+mn-ea"/>
          <a:cs typeface="+mn-cs"/>
        </a:defRPr>
      </a:lvl4pPr>
      <a:lvl5pPr marL="1234440" algn="l" defTabSz="617220" rtl="0" eaLnBrk="1" latinLnBrk="0" hangingPunct="1">
        <a:defRPr sz="1215" kern="1200">
          <a:solidFill>
            <a:schemeClr val="tx1"/>
          </a:solidFill>
          <a:latin typeface="+mn-lt"/>
          <a:ea typeface="+mn-ea"/>
          <a:cs typeface="+mn-cs"/>
        </a:defRPr>
      </a:lvl5pPr>
      <a:lvl6pPr marL="1543050" algn="l" defTabSz="617220" rtl="0" eaLnBrk="1" latinLnBrk="0" hangingPunct="1">
        <a:defRPr sz="1215" kern="1200">
          <a:solidFill>
            <a:schemeClr val="tx1"/>
          </a:solidFill>
          <a:latin typeface="+mn-lt"/>
          <a:ea typeface="+mn-ea"/>
          <a:cs typeface="+mn-cs"/>
        </a:defRPr>
      </a:lvl6pPr>
      <a:lvl7pPr marL="1851660" algn="l" defTabSz="617220" rtl="0" eaLnBrk="1" latinLnBrk="0" hangingPunct="1">
        <a:defRPr sz="1215" kern="1200">
          <a:solidFill>
            <a:schemeClr val="tx1"/>
          </a:solidFill>
          <a:latin typeface="+mn-lt"/>
          <a:ea typeface="+mn-ea"/>
          <a:cs typeface="+mn-cs"/>
        </a:defRPr>
      </a:lvl7pPr>
      <a:lvl8pPr marL="2160270" algn="l" defTabSz="617220" rtl="0" eaLnBrk="1" latinLnBrk="0" hangingPunct="1">
        <a:defRPr sz="1215" kern="1200">
          <a:solidFill>
            <a:schemeClr val="tx1"/>
          </a:solidFill>
          <a:latin typeface="+mn-lt"/>
          <a:ea typeface="+mn-ea"/>
          <a:cs typeface="+mn-cs"/>
        </a:defRPr>
      </a:lvl8pPr>
      <a:lvl9pPr marL="2468880" algn="l" defTabSz="61722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3.jpe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6.jpeg"/><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8.jpeg"/><Relationship Id="rId1" Type="http://schemas.openxmlformats.org/officeDocument/2006/relationships/slideLayout" Target="../slideLayouts/slideLayout7.xml"/><Relationship Id="rId5" Type="http://schemas.openxmlformats.org/officeDocument/2006/relationships/image" Target="../media/image17.jpeg"/><Relationship Id="rId4" Type="http://schemas.microsoft.com/office/2007/relationships/hdphoto" Target="../media/hdphoto3.wdp"/></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6.jpeg"/><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7.xml"/><Relationship Id="rId5" Type="http://schemas.microsoft.com/office/2007/relationships/hdphoto" Target="../media/hdphoto4.wdp"/><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7.xml"/><Relationship Id="rId4" Type="http://schemas.openxmlformats.org/officeDocument/2006/relationships/image" Target="../media/image33.jpeg"/></Relationships>
</file>

<file path=ppt/slides/_rels/slide2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1089187579"/>
              </p:ext>
            </p:extLst>
          </p:nvPr>
        </p:nvGraphicFramePr>
        <p:xfrm>
          <a:off x="1115616" y="789552"/>
          <a:ext cx="7056784" cy="2574286"/>
        </p:xfrm>
        <a:graphic>
          <a:graphicData uri="http://schemas.openxmlformats.org/drawingml/2006/table">
            <a:tbl>
              <a:tblPr firstRow="1" bandRow="1">
                <a:tableStyleId>{5C22544A-7EE6-4342-B048-85BDC9FD1C3A}</a:tableStyleId>
              </a:tblPr>
              <a:tblGrid>
                <a:gridCol w="3268405"/>
                <a:gridCol w="3788379"/>
              </a:tblGrid>
              <a:tr h="2574286">
                <a:tc>
                  <a:txBody>
                    <a:bodyPr/>
                    <a:lstStyle/>
                    <a:p>
                      <a:endParaRPr lang="zh-CN" altLang="en-US" sz="1400" dirty="0"/>
                    </a:p>
                  </a:txBody>
                  <a:tcPr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zh-CN" altLang="en-US" sz="1400" dirty="0"/>
                    </a:p>
                  </a:txBody>
                  <a:tcPr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p:pic>
        <p:nvPicPr>
          <p:cNvPr id="2" name="Picture 2" descr="F:\秋叶ppt教程\素材\u=3224474273,222108832&amp;fm=11&amp;gp=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4849" y="933568"/>
            <a:ext cx="1800200" cy="2232248"/>
          </a:xfrm>
          <a:prstGeom prst="rect">
            <a:avLst/>
          </a:prstGeom>
          <a:ln w="76200">
            <a:solidFill>
              <a:schemeClr val="tx1"/>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6" name="Picture 2" descr="E:\PPT\暴走漫画全部素材\暴走漫画全部素材\]O90L~B$Y0E1@9I~G4SLAMC.jpg"/>
          <p:cNvPicPr>
            <a:picLocks noChangeAspect="1" noChangeArrowheads="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154935" y="1959682"/>
            <a:ext cx="1451487" cy="140415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E:\PPT\暴走漫画全部素材\暴走漫画全部素材\X5[WN}BRXF%G`A]1W0JZ{JK.jpg"/>
          <p:cNvPicPr>
            <a:picLocks noChangeAspect="1" noChangeArrowheads="1"/>
          </p:cNvPicPr>
          <p:nvPr/>
        </p:nvPicPr>
        <p:blipFill rotWithShape="1">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Effect>
                      <a14:saturation sat="200000"/>
                    </a14:imgEffect>
                    <a14:imgEffect>
                      <a14:brightnessContrast contrast="40000"/>
                    </a14:imgEffect>
                  </a14:imgLayer>
                </a14:imgProps>
              </a:ext>
              <a:ext uri="{28A0092B-C50C-407E-A947-70E740481C1C}">
                <a14:useLocalDpi xmlns:a14="http://schemas.microsoft.com/office/drawing/2010/main" val="0"/>
              </a:ext>
            </a:extLst>
          </a:blip>
          <a:srcRect r="7258"/>
          <a:stretch/>
        </p:blipFill>
        <p:spPr bwMode="auto">
          <a:xfrm flipH="1">
            <a:off x="6757843" y="2413646"/>
            <a:ext cx="1465398" cy="95019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287915" y="1444708"/>
            <a:ext cx="2055791" cy="954107"/>
          </a:xfrm>
          <a:prstGeom prst="rect">
            <a:avLst/>
          </a:prstGeom>
          <a:noFill/>
        </p:spPr>
        <p:txBody>
          <a:bodyPr wrap="square" rtlCol="0">
            <a:spAutoFit/>
          </a:bodyPr>
          <a:lstStyle/>
          <a:p>
            <a:pPr algn="ctr"/>
            <a:r>
              <a:rPr lang="zh-CN" altLang="en-US" sz="2800" b="1" dirty="0" smtClean="0">
                <a:latin typeface="方正卡通简体" pitchFamily="65" charset="-122"/>
                <a:ea typeface="方正卡通简体" pitchFamily="65" charset="-122"/>
              </a:rPr>
              <a:t>防止受骗</a:t>
            </a:r>
            <a:endParaRPr lang="en-US" altLang="zh-CN" sz="2800" b="1" dirty="0" smtClean="0">
              <a:latin typeface="方正卡通简体" pitchFamily="65" charset="-122"/>
              <a:ea typeface="方正卡通简体" pitchFamily="65" charset="-122"/>
            </a:endParaRPr>
          </a:p>
          <a:p>
            <a:pPr algn="ctr"/>
            <a:r>
              <a:rPr lang="zh-CN" altLang="en-US" sz="2800" b="1" dirty="0" smtClean="0">
                <a:latin typeface="方正卡通简体" pitchFamily="65" charset="-122"/>
                <a:ea typeface="方正卡通简体" pitchFamily="65" charset="-122"/>
              </a:rPr>
              <a:t>哪家强？</a:t>
            </a:r>
            <a:endParaRPr lang="zh-CN" altLang="en-US" sz="2800" b="1" dirty="0">
              <a:latin typeface="方正卡通简体" pitchFamily="65" charset="-122"/>
              <a:ea typeface="方正卡通简体" pitchFamily="65" charset="-122"/>
            </a:endParaRPr>
          </a:p>
        </p:txBody>
      </p:sp>
      <p:sp>
        <p:nvSpPr>
          <p:cNvPr id="7" name="TextBox 6"/>
          <p:cNvSpPr txBox="1"/>
          <p:nvPr/>
        </p:nvSpPr>
        <p:spPr>
          <a:xfrm>
            <a:off x="1742521" y="3795886"/>
            <a:ext cx="6480720" cy="1114151"/>
          </a:xfrm>
          <a:prstGeom prst="rect">
            <a:avLst/>
          </a:prstGeom>
          <a:noFill/>
        </p:spPr>
        <p:txBody>
          <a:bodyPr wrap="square" rtlCol="0">
            <a:spAutoFit/>
          </a:bodyPr>
          <a:lstStyle/>
          <a:p>
            <a:pPr algn="r">
              <a:lnSpc>
                <a:spcPct val="120000"/>
              </a:lnSpc>
            </a:pPr>
            <a:r>
              <a:rPr lang="en-US" altLang="zh-CN" sz="1400" b="1" dirty="0">
                <a:solidFill>
                  <a:schemeClr val="bg1">
                    <a:lumMod val="50000"/>
                  </a:schemeClr>
                </a:solidFill>
                <a:latin typeface="微软雅黑" pitchFamily="34" charset="-122"/>
                <a:ea typeface="微软雅黑" pitchFamily="34" charset="-122"/>
              </a:rPr>
              <a:t> </a:t>
            </a:r>
            <a:r>
              <a:rPr lang="en-US" altLang="zh-CN" sz="1400" b="1" dirty="0" smtClean="0">
                <a:solidFill>
                  <a:schemeClr val="bg1">
                    <a:lumMod val="50000"/>
                  </a:schemeClr>
                </a:solidFill>
                <a:latin typeface="微软雅黑" pitchFamily="34" charset="-122"/>
                <a:ea typeface="微软雅黑" pitchFamily="34" charset="-122"/>
              </a:rPr>
              <a:t>       </a:t>
            </a:r>
            <a:r>
              <a:rPr lang="en-US" altLang="zh-CN" sz="1400" dirty="0" err="1" smtClean="0">
                <a:solidFill>
                  <a:schemeClr val="bg1">
                    <a:lumMod val="50000"/>
                  </a:schemeClr>
                </a:solidFill>
                <a:latin typeface="微软雅黑" pitchFamily="34" charset="-122"/>
                <a:ea typeface="微软雅黑" pitchFamily="34" charset="-122"/>
              </a:rPr>
              <a:t>Authoer</a:t>
            </a:r>
            <a:r>
              <a:rPr lang="en-US" altLang="zh-CN" sz="1400" dirty="0" smtClean="0">
                <a:solidFill>
                  <a:schemeClr val="bg1">
                    <a:lumMod val="50000"/>
                  </a:schemeClr>
                </a:solidFill>
                <a:latin typeface="微软雅黑" pitchFamily="34" charset="-122"/>
                <a:ea typeface="微软雅黑" pitchFamily="34" charset="-122"/>
              </a:rPr>
              <a:t>:</a:t>
            </a:r>
            <a:r>
              <a:rPr lang="zh-CN" altLang="en-US" sz="1400" dirty="0" smtClean="0">
                <a:solidFill>
                  <a:schemeClr val="bg1">
                    <a:lumMod val="50000"/>
                  </a:schemeClr>
                </a:solidFill>
                <a:latin typeface="微软雅黑" pitchFamily="34" charset="-122"/>
                <a:ea typeface="微软雅黑" pitchFamily="34" charset="-122"/>
              </a:rPr>
              <a:t>（美）小西奥多</a:t>
            </a:r>
            <a:r>
              <a:rPr lang="en-US" altLang="zh-CN" sz="1400" dirty="0">
                <a:solidFill>
                  <a:schemeClr val="bg1">
                    <a:lumMod val="50000"/>
                  </a:schemeClr>
                </a:solidFill>
                <a:latin typeface="微软雅黑" pitchFamily="34" charset="-122"/>
                <a:ea typeface="微软雅黑" pitchFamily="34" charset="-122"/>
              </a:rPr>
              <a:t>·</a:t>
            </a:r>
            <a:r>
              <a:rPr lang="zh-CN" altLang="en-US" sz="1400" dirty="0" smtClean="0">
                <a:solidFill>
                  <a:schemeClr val="bg1">
                    <a:lumMod val="50000"/>
                  </a:schemeClr>
                </a:solidFill>
                <a:latin typeface="微软雅黑" pitchFamily="34" charset="-122"/>
                <a:ea typeface="微软雅黑" pitchFamily="34" charset="-122"/>
              </a:rPr>
              <a:t>席克</a:t>
            </a:r>
            <a:r>
              <a:rPr lang="en-US" altLang="zh-CN" sz="1400" dirty="0" smtClean="0">
                <a:solidFill>
                  <a:schemeClr val="bg1">
                    <a:lumMod val="50000"/>
                  </a:schemeClr>
                </a:solidFill>
                <a:latin typeface="微软雅黑" pitchFamily="34" charset="-122"/>
                <a:ea typeface="微软雅黑" pitchFamily="34" charset="-122"/>
              </a:rPr>
              <a:t>   </a:t>
            </a:r>
            <a:r>
              <a:rPr lang="zh-CN" altLang="en-US" sz="1400" dirty="0" smtClean="0">
                <a:solidFill>
                  <a:schemeClr val="bg1">
                    <a:lumMod val="50000"/>
                  </a:schemeClr>
                </a:solidFill>
                <a:latin typeface="微软雅黑" pitchFamily="34" charset="-122"/>
                <a:ea typeface="微软雅黑" pitchFamily="34" charset="-122"/>
              </a:rPr>
              <a:t>刘易斯</a:t>
            </a:r>
            <a:r>
              <a:rPr lang="en-US" altLang="zh-CN" sz="1400" dirty="0" smtClean="0">
                <a:solidFill>
                  <a:schemeClr val="bg1">
                    <a:lumMod val="50000"/>
                  </a:schemeClr>
                </a:solidFill>
                <a:latin typeface="微软雅黑" pitchFamily="34" charset="-122"/>
                <a:ea typeface="微软雅黑" pitchFamily="34" charset="-122"/>
              </a:rPr>
              <a:t>·</a:t>
            </a:r>
            <a:r>
              <a:rPr lang="zh-CN" altLang="en-US" sz="1400" dirty="0" smtClean="0">
                <a:solidFill>
                  <a:schemeClr val="bg1">
                    <a:lumMod val="50000"/>
                  </a:schemeClr>
                </a:solidFill>
                <a:latin typeface="微软雅黑" pitchFamily="34" charset="-122"/>
                <a:ea typeface="微软雅黑" pitchFamily="34" charset="-122"/>
              </a:rPr>
              <a:t>沃恩</a:t>
            </a:r>
            <a:endParaRPr lang="en-US" altLang="zh-CN" sz="1400" dirty="0" smtClean="0">
              <a:solidFill>
                <a:schemeClr val="bg1">
                  <a:lumMod val="50000"/>
                </a:schemeClr>
              </a:solidFill>
              <a:latin typeface="微软雅黑" pitchFamily="34" charset="-122"/>
              <a:ea typeface="微软雅黑" pitchFamily="34" charset="-122"/>
            </a:endParaRPr>
          </a:p>
          <a:p>
            <a:pPr algn="r">
              <a:lnSpc>
                <a:spcPct val="120000"/>
              </a:lnSpc>
            </a:pPr>
            <a:r>
              <a:rPr lang="en-US" altLang="zh-CN" sz="1400" dirty="0" smtClean="0">
                <a:solidFill>
                  <a:schemeClr val="bg1">
                    <a:lumMod val="50000"/>
                  </a:schemeClr>
                </a:solidFill>
                <a:latin typeface="微软雅黑" pitchFamily="34" charset="-122"/>
                <a:ea typeface="微软雅黑" pitchFamily="34" charset="-122"/>
              </a:rPr>
              <a:t>     Translator:</a:t>
            </a:r>
            <a:r>
              <a:rPr lang="zh-CN" altLang="en-US" sz="1400" dirty="0" smtClean="0">
                <a:solidFill>
                  <a:schemeClr val="bg1">
                    <a:lumMod val="50000"/>
                  </a:schemeClr>
                </a:solidFill>
                <a:latin typeface="微软雅黑" pitchFamily="34" charset="-122"/>
                <a:ea typeface="微软雅黑" pitchFamily="34" charset="-122"/>
              </a:rPr>
              <a:t>（中）张志敏、武晓蓓 </a:t>
            </a:r>
            <a:endParaRPr lang="en-US" altLang="zh-CN" sz="1400" dirty="0" smtClean="0">
              <a:solidFill>
                <a:schemeClr val="bg1">
                  <a:lumMod val="50000"/>
                </a:schemeClr>
              </a:solidFill>
              <a:latin typeface="微软雅黑" pitchFamily="34" charset="-122"/>
              <a:ea typeface="微软雅黑" pitchFamily="34" charset="-122"/>
            </a:endParaRPr>
          </a:p>
          <a:p>
            <a:pPr algn="r">
              <a:lnSpc>
                <a:spcPct val="120000"/>
              </a:lnSpc>
            </a:pPr>
            <a:r>
              <a:rPr lang="en-US" altLang="zh-CN" sz="1400" dirty="0">
                <a:solidFill>
                  <a:schemeClr val="bg1">
                    <a:lumMod val="50000"/>
                  </a:schemeClr>
                </a:solidFill>
                <a:latin typeface="微软雅黑" pitchFamily="34" charset="-122"/>
                <a:ea typeface="微软雅黑" pitchFamily="34" charset="-122"/>
              </a:rPr>
              <a:t> </a:t>
            </a:r>
            <a:r>
              <a:rPr lang="en-US" altLang="zh-CN" sz="1400" dirty="0" smtClean="0">
                <a:solidFill>
                  <a:schemeClr val="bg1">
                    <a:lumMod val="50000"/>
                  </a:schemeClr>
                </a:solidFill>
                <a:latin typeface="微软雅黑" pitchFamily="34" charset="-122"/>
                <a:ea typeface="微软雅黑" pitchFamily="34" charset="-122"/>
              </a:rPr>
              <a:t>           </a:t>
            </a:r>
            <a:r>
              <a:rPr lang="en-US" altLang="zh-CN" sz="1400" dirty="0" err="1" smtClean="0">
                <a:solidFill>
                  <a:schemeClr val="bg1">
                    <a:lumMod val="50000"/>
                  </a:schemeClr>
                </a:solidFill>
                <a:latin typeface="微软雅黑" pitchFamily="34" charset="-122"/>
                <a:ea typeface="微软雅黑" pitchFamily="34" charset="-122"/>
              </a:rPr>
              <a:t>PPTer</a:t>
            </a:r>
            <a:r>
              <a:rPr lang="en-US" altLang="zh-CN" sz="1400" dirty="0" smtClean="0">
                <a:solidFill>
                  <a:schemeClr val="bg1">
                    <a:lumMod val="50000"/>
                  </a:schemeClr>
                </a:solidFill>
                <a:latin typeface="微软雅黑" pitchFamily="34" charset="-122"/>
                <a:ea typeface="微软雅黑" pitchFamily="34" charset="-122"/>
              </a:rPr>
              <a:t>:   @</a:t>
            </a:r>
            <a:r>
              <a:rPr lang="zh-CN" altLang="en-US" sz="1400" dirty="0" smtClean="0">
                <a:solidFill>
                  <a:schemeClr val="bg1">
                    <a:lumMod val="50000"/>
                  </a:schemeClr>
                </a:solidFill>
                <a:latin typeface="微软雅黑" pitchFamily="34" charset="-122"/>
                <a:ea typeface="微软雅黑" pitchFamily="34" charset="-122"/>
              </a:rPr>
              <a:t>多多的宝藏</a:t>
            </a:r>
            <a:endParaRPr lang="en-US" altLang="zh-CN" sz="1400" dirty="0" smtClean="0">
              <a:solidFill>
                <a:schemeClr val="bg1">
                  <a:lumMod val="50000"/>
                </a:schemeClr>
              </a:solidFill>
              <a:latin typeface="微软雅黑" pitchFamily="34" charset="-122"/>
              <a:ea typeface="微软雅黑" pitchFamily="34" charset="-122"/>
            </a:endParaRPr>
          </a:p>
          <a:p>
            <a:pPr algn="r"/>
            <a:endParaRPr lang="zh-CN" altLang="en-US" sz="1600" dirty="0">
              <a:solidFill>
                <a:schemeClr val="bg1">
                  <a:lumMod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0556038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4" descr="E:\PPT\暴走漫画全部素材\暴走漫画全部素材\3P~90WTT{Z(30S2S4H(Z1@F.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3267317"/>
            <a:ext cx="1008112" cy="110463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表格 3"/>
          <p:cNvGraphicFramePr>
            <a:graphicFrameLocks noGrp="1"/>
          </p:cNvGraphicFramePr>
          <p:nvPr>
            <p:extLst>
              <p:ext uri="{D42A27DB-BD31-4B8C-83A1-F6EECF244321}">
                <p14:modId xmlns:p14="http://schemas.microsoft.com/office/powerpoint/2010/main" val="2604636435"/>
              </p:ext>
            </p:extLst>
          </p:nvPr>
        </p:nvGraphicFramePr>
        <p:xfrm>
          <a:off x="431541" y="1491630"/>
          <a:ext cx="8280918" cy="2880320"/>
        </p:xfrm>
        <a:graphic>
          <a:graphicData uri="http://schemas.openxmlformats.org/drawingml/2006/table">
            <a:tbl>
              <a:tblPr firstRow="1" bandRow="1">
                <a:tableStyleId>{5C22544A-7EE6-4342-B048-85BDC9FD1C3A}</a:tableStyleId>
              </a:tblPr>
              <a:tblGrid>
                <a:gridCol w="2760306"/>
                <a:gridCol w="2760306"/>
                <a:gridCol w="2760306"/>
              </a:tblGrid>
              <a:tr h="2880320">
                <a:tc>
                  <a:txBody>
                    <a:bodyPr/>
                    <a:lstStyle/>
                    <a:p>
                      <a:r>
                        <a:rPr lang="zh-CN" altLang="en-US" sz="1400" dirty="0" smtClean="0">
                          <a:solidFill>
                            <a:srgbClr val="0E2453"/>
                          </a:solidFill>
                        </a:rPr>
                        <a:t>               </a:t>
                      </a:r>
                      <a:endParaRPr lang="zh-CN" altLang="en-US" sz="1400" dirty="0">
                        <a:solidFill>
                          <a:srgbClr val="0E2453"/>
                        </a:solidFill>
                      </a:endParaRPr>
                    </a:p>
                  </a:txBody>
                  <a:tcPr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zh-CN" altLang="en-US" sz="1400" dirty="0"/>
                    </a:p>
                  </a:txBody>
                  <a:tcPr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zh-CN" altLang="en-US" sz="1400" dirty="0"/>
                    </a:p>
                  </a:txBody>
                  <a:tcPr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p:sp>
        <p:nvSpPr>
          <p:cNvPr id="10" name="矩形 9"/>
          <p:cNvSpPr/>
          <p:nvPr/>
        </p:nvSpPr>
        <p:spPr>
          <a:xfrm>
            <a:off x="0" y="368662"/>
            <a:ext cx="9396536" cy="648072"/>
          </a:xfrm>
          <a:prstGeom prst="rect">
            <a:avLst/>
          </a:prstGeom>
          <a:solidFill>
            <a:srgbClr val="06ABD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611560" y="555526"/>
            <a:ext cx="900100" cy="353492"/>
            <a:chOff x="683568" y="36003"/>
            <a:chExt cx="900100" cy="432046"/>
          </a:xfrm>
        </p:grpSpPr>
        <p:sp>
          <p:nvSpPr>
            <p:cNvPr id="12" name="等腰三角形 11"/>
            <p:cNvSpPr/>
            <p:nvPr userDrawn="1"/>
          </p:nvSpPr>
          <p:spPr>
            <a:xfrm rot="5400000">
              <a:off x="593559" y="126012"/>
              <a:ext cx="432046" cy="252028"/>
            </a:xfrm>
            <a:prstGeom prst="triangle">
              <a:avLst/>
            </a:prstGeom>
            <a:solidFill>
              <a:srgbClr val="F1FDA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nvSpPr>
          <p:spPr>
            <a:xfrm rot="5400000">
              <a:off x="1241631" y="126012"/>
              <a:ext cx="432046" cy="252028"/>
            </a:xfrm>
            <a:prstGeom prst="triangle">
              <a:avLst/>
            </a:prstGeom>
            <a:solidFill>
              <a:srgbClr val="F1FDA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nvSpPr>
          <p:spPr>
            <a:xfrm rot="5400000">
              <a:off x="917595" y="126012"/>
              <a:ext cx="432046" cy="252028"/>
            </a:xfrm>
            <a:prstGeom prst="triangle">
              <a:avLst/>
            </a:prstGeom>
            <a:solidFill>
              <a:srgbClr val="F1FDA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TextBox 2"/>
          <p:cNvSpPr txBox="1"/>
          <p:nvPr/>
        </p:nvSpPr>
        <p:spPr>
          <a:xfrm>
            <a:off x="1619672" y="483518"/>
            <a:ext cx="4464496" cy="523220"/>
          </a:xfrm>
          <a:prstGeom prst="rect">
            <a:avLst/>
          </a:prstGeom>
          <a:noFill/>
        </p:spPr>
        <p:txBody>
          <a:bodyPr wrap="square" rtlCol="0">
            <a:spAutoFit/>
          </a:bodyPr>
          <a:lstStyle/>
          <a:p>
            <a:r>
              <a:rPr lang="zh-CN" altLang="en-US" sz="2800" b="1" spc="150" dirty="0">
                <a:solidFill>
                  <a:schemeClr val="bg1"/>
                </a:solidFill>
                <a:latin typeface="微软雅黑" pitchFamily="34" charset="-122"/>
                <a:ea typeface="微软雅黑" pitchFamily="34" charset="-122"/>
              </a:rPr>
              <a:t>本书适合这样的</a:t>
            </a:r>
            <a:r>
              <a:rPr lang="zh-CN" altLang="en-US" sz="2800" b="1" spc="150" dirty="0" smtClean="0">
                <a:solidFill>
                  <a:schemeClr val="bg1"/>
                </a:solidFill>
                <a:latin typeface="微软雅黑" pitchFamily="34" charset="-122"/>
                <a:ea typeface="微软雅黑" pitchFamily="34" charset="-122"/>
              </a:rPr>
              <a:t>读者：</a:t>
            </a:r>
            <a:endParaRPr lang="zh-CN" altLang="en-US" sz="2800" b="1" spc="150" dirty="0">
              <a:solidFill>
                <a:schemeClr val="bg1"/>
              </a:solidFill>
              <a:latin typeface="微软雅黑" pitchFamily="34" charset="-122"/>
              <a:ea typeface="微软雅黑" pitchFamily="34" charset="-122"/>
            </a:endParaRPr>
          </a:p>
        </p:txBody>
      </p:sp>
      <p:sp>
        <p:nvSpPr>
          <p:cNvPr id="2" name="矩形 1"/>
          <p:cNvSpPr/>
          <p:nvPr/>
        </p:nvSpPr>
        <p:spPr>
          <a:xfrm>
            <a:off x="1475656" y="1664529"/>
            <a:ext cx="1548172" cy="1902059"/>
          </a:xfrm>
          <a:prstGeom prst="rect">
            <a:avLst/>
          </a:prstGeom>
        </p:spPr>
        <p:txBody>
          <a:bodyPr wrap="square">
            <a:spAutoFit/>
          </a:bodyPr>
          <a:lstStyle/>
          <a:p>
            <a:pPr lvl="0" algn="just">
              <a:lnSpc>
                <a:spcPct val="120000"/>
              </a:lnSpc>
            </a:pPr>
            <a:r>
              <a:rPr lang="zh-CN" altLang="en-US" sz="1400" dirty="0" smtClean="0">
                <a:latin typeface="微软雅黑" pitchFamily="34" charset="-122"/>
                <a:ea typeface="微软雅黑" pitchFamily="34" charset="-122"/>
              </a:rPr>
              <a:t>他们</a:t>
            </a:r>
            <a:r>
              <a:rPr lang="zh-CN" altLang="en-US" sz="1400" dirty="0">
                <a:latin typeface="微软雅黑" pitchFamily="34" charset="-122"/>
                <a:ea typeface="微软雅黑" pitchFamily="34" charset="-122"/>
              </a:rPr>
              <a:t>凝视夜空或者房间的幽暗处，毛骨悚然，对一种不能解释但从未停止好奇的体验发出疑问：“它是真的吗？</a:t>
            </a:r>
          </a:p>
        </p:txBody>
      </p:sp>
      <p:pic>
        <p:nvPicPr>
          <p:cNvPr id="2051" name="Picture 3" descr="E:\PPT\暴走漫画全部素材\暴走漫画全部素材\}K8MNK9XZV4A_$HGJWTB@B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2501" y="3199963"/>
            <a:ext cx="1133475" cy="112395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4211960" y="1664529"/>
            <a:ext cx="1692188" cy="2160591"/>
          </a:xfrm>
          <a:prstGeom prst="rect">
            <a:avLst/>
          </a:prstGeom>
        </p:spPr>
        <p:txBody>
          <a:bodyPr wrap="square">
            <a:spAutoFit/>
          </a:bodyPr>
          <a:lstStyle/>
          <a:p>
            <a:pPr algn="just">
              <a:lnSpc>
                <a:spcPct val="120000"/>
              </a:lnSpc>
            </a:pPr>
            <a:r>
              <a:rPr lang="zh-CN" altLang="en-US" sz="1400" dirty="0" smtClean="0">
                <a:latin typeface="微软雅黑" pitchFamily="34" charset="-122"/>
                <a:ea typeface="微软雅黑" pitchFamily="34" charset="-122"/>
              </a:rPr>
              <a:t>他们</a:t>
            </a:r>
            <a:r>
              <a:rPr lang="zh-CN" altLang="en-US" sz="1400" dirty="0">
                <a:latin typeface="微软雅黑" pitchFamily="34" charset="-122"/>
                <a:ea typeface="微软雅黑" pitchFamily="34" charset="-122"/>
              </a:rPr>
              <a:t>已经阅读和听说了 </a:t>
            </a:r>
            <a:r>
              <a:rPr lang="en-US" altLang="zh-CN" sz="1400" dirty="0">
                <a:latin typeface="微软雅黑" pitchFamily="34" charset="-122"/>
                <a:ea typeface="微软雅黑" pitchFamily="34" charset="-122"/>
              </a:rPr>
              <a:t>UFO</a:t>
            </a:r>
            <a:r>
              <a:rPr lang="zh-CN" altLang="en-US" sz="1400" dirty="0">
                <a:latin typeface="微软雅黑" pitchFamily="34" charset="-122"/>
                <a:ea typeface="微软雅黑" pitchFamily="34" charset="-122"/>
              </a:rPr>
              <a:t>、通灵现象、时空穿梭、幽灵、转世轮回、神秘主意，以及成千上万的其他奇异的事情，并且问：“它是真的吗？”</a:t>
            </a:r>
          </a:p>
        </p:txBody>
      </p:sp>
      <p:pic>
        <p:nvPicPr>
          <p:cNvPr id="2052" name="Picture 4" descr="E:\PPT\暴走漫画全部素材\暴走漫画全部素材\3P~90WTT{Z(30S2S4H(Z1@F.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5120" y="3251196"/>
            <a:ext cx="1008112" cy="1104633"/>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7020272" y="1672638"/>
            <a:ext cx="1656184" cy="2160591"/>
          </a:xfrm>
          <a:prstGeom prst="rect">
            <a:avLst/>
          </a:prstGeom>
        </p:spPr>
        <p:txBody>
          <a:bodyPr wrap="square">
            <a:spAutoFit/>
          </a:bodyPr>
          <a:lstStyle/>
          <a:p>
            <a:pPr algn="just">
              <a:lnSpc>
                <a:spcPct val="120000"/>
              </a:lnSpc>
            </a:pPr>
            <a:r>
              <a:rPr lang="zh-CN" altLang="en-US" sz="1400" dirty="0" smtClean="0">
                <a:latin typeface="微软雅黑" pitchFamily="34" charset="-122"/>
                <a:ea typeface="微软雅黑" pitchFamily="34" charset="-122"/>
              </a:rPr>
              <a:t>这</a:t>
            </a:r>
            <a:r>
              <a:rPr lang="zh-CN" altLang="en-US" sz="1400" dirty="0">
                <a:latin typeface="微软雅黑" pitchFamily="34" charset="-122"/>
                <a:ea typeface="微软雅黑" pitchFamily="34" charset="-122"/>
              </a:rPr>
              <a:t>本书更适合这样的读者</a:t>
            </a:r>
            <a:r>
              <a:rPr lang="en-US" altLang="zh-CN" sz="1400" dirty="0">
                <a:latin typeface="微软雅黑" pitchFamily="34" charset="-122"/>
                <a:ea typeface="微软雅黑" pitchFamily="34" charset="-122"/>
              </a:rPr>
              <a:t>---</a:t>
            </a:r>
            <a:r>
              <a:rPr lang="zh-CN" altLang="en-US" sz="1400" dirty="0">
                <a:latin typeface="微软雅黑" pitchFamily="34" charset="-122"/>
                <a:ea typeface="微软雅黑" pitchFamily="34" charset="-122"/>
              </a:rPr>
              <a:t>他们就像爱因斯坦一样相信最美的体验是神秘的，也像爱因斯坦一样有勇气不断发问，直到得到有关神秘事物的答案。</a:t>
            </a:r>
          </a:p>
        </p:txBody>
      </p:sp>
    </p:spTree>
    <p:extLst>
      <p:ext uri="{BB962C8B-B14F-4D97-AF65-F5344CB8AC3E}">
        <p14:creationId xmlns:p14="http://schemas.microsoft.com/office/powerpoint/2010/main" val="18160748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19672" y="483518"/>
            <a:ext cx="5328592" cy="523220"/>
          </a:xfrm>
          <a:prstGeom prst="rect">
            <a:avLst/>
          </a:prstGeom>
          <a:noFill/>
        </p:spPr>
        <p:txBody>
          <a:bodyPr wrap="square" rtlCol="0">
            <a:spAutoFit/>
          </a:bodyPr>
          <a:lstStyle/>
          <a:p>
            <a:r>
              <a:rPr lang="zh-CN" altLang="en-US" sz="2800" b="1" spc="150" dirty="0">
                <a:solidFill>
                  <a:schemeClr val="bg1"/>
                </a:solidFill>
                <a:latin typeface="微软雅黑" pitchFamily="34" charset="-122"/>
                <a:ea typeface="微软雅黑" pitchFamily="34" charset="-122"/>
              </a:rPr>
              <a:t>你是否接触过这些信息？</a:t>
            </a:r>
          </a:p>
        </p:txBody>
      </p:sp>
      <p:grpSp>
        <p:nvGrpSpPr>
          <p:cNvPr id="5" name="组合 4"/>
          <p:cNvGrpSpPr/>
          <p:nvPr/>
        </p:nvGrpSpPr>
        <p:grpSpPr>
          <a:xfrm>
            <a:off x="629420" y="1492007"/>
            <a:ext cx="8251346" cy="3404121"/>
            <a:chOff x="596188" y="1907540"/>
            <a:chExt cx="8251346" cy="3404121"/>
          </a:xfrm>
        </p:grpSpPr>
        <p:sp>
          <p:nvSpPr>
            <p:cNvPr id="6" name="TextBox 5"/>
            <p:cNvSpPr txBox="1"/>
            <p:nvPr/>
          </p:nvSpPr>
          <p:spPr>
            <a:xfrm>
              <a:off x="2162504" y="2411219"/>
              <a:ext cx="3168352" cy="400110"/>
            </a:xfrm>
            <a:prstGeom prst="rect">
              <a:avLst/>
            </a:prstGeom>
            <a:noFill/>
          </p:spPr>
          <p:txBody>
            <a:bodyPr wrap="square" rtlCol="0">
              <a:spAutoFit/>
            </a:bodyPr>
            <a:lstStyle/>
            <a:p>
              <a:r>
                <a:rPr lang="zh-CN" altLang="en-US" sz="2000" b="1" dirty="0" smtClean="0">
                  <a:solidFill>
                    <a:schemeClr val="tx1">
                      <a:lumMod val="65000"/>
                      <a:lumOff val="35000"/>
                    </a:schemeClr>
                  </a:solidFill>
                  <a:latin typeface="微软雅黑" pitchFamily="34" charset="-122"/>
                  <a:ea typeface="微软雅黑" pitchFamily="34" charset="-122"/>
                </a:rPr>
                <a:t>宇航员登月是骗局</a:t>
              </a:r>
              <a:endParaRPr lang="zh-CN" altLang="en-US" sz="2000" b="1" dirty="0">
                <a:solidFill>
                  <a:schemeClr val="tx1">
                    <a:lumMod val="65000"/>
                    <a:lumOff val="35000"/>
                  </a:schemeClr>
                </a:solidFill>
                <a:latin typeface="微软雅黑" pitchFamily="34" charset="-122"/>
                <a:ea typeface="微软雅黑" pitchFamily="34" charset="-122"/>
              </a:endParaRPr>
            </a:p>
          </p:txBody>
        </p:sp>
        <p:sp>
          <p:nvSpPr>
            <p:cNvPr id="8" name="TextBox 7"/>
            <p:cNvSpPr txBox="1"/>
            <p:nvPr/>
          </p:nvSpPr>
          <p:spPr>
            <a:xfrm>
              <a:off x="596188" y="4571836"/>
              <a:ext cx="4479867" cy="369332"/>
            </a:xfrm>
            <a:prstGeom prst="rect">
              <a:avLst/>
            </a:prstGeom>
            <a:noFill/>
          </p:spPr>
          <p:txBody>
            <a:bodyPr wrap="square" rtlCol="0">
              <a:spAutoFit/>
            </a:bodyPr>
            <a:lstStyle/>
            <a:p>
              <a:r>
                <a:rPr lang="zh-CN" altLang="en-US" dirty="0" smtClean="0">
                  <a:solidFill>
                    <a:schemeClr val="tx1">
                      <a:lumMod val="65000"/>
                      <a:lumOff val="35000"/>
                    </a:schemeClr>
                  </a:solidFill>
                  <a:latin typeface="微软雅黑" pitchFamily="34" charset="-122"/>
                  <a:ea typeface="微软雅黑" pitchFamily="34" charset="-122"/>
                </a:rPr>
                <a:t>你的前世是中世纪的马童</a:t>
              </a:r>
              <a:endParaRPr lang="zh-CN" altLang="en-US" dirty="0">
                <a:solidFill>
                  <a:schemeClr val="tx1">
                    <a:lumMod val="65000"/>
                    <a:lumOff val="35000"/>
                  </a:schemeClr>
                </a:solidFill>
                <a:latin typeface="微软雅黑" pitchFamily="34" charset="-122"/>
                <a:ea typeface="微软雅黑" pitchFamily="34" charset="-122"/>
              </a:endParaRPr>
            </a:p>
          </p:txBody>
        </p:sp>
        <p:sp>
          <p:nvSpPr>
            <p:cNvPr id="9" name="TextBox 8"/>
            <p:cNvSpPr txBox="1"/>
            <p:nvPr/>
          </p:nvSpPr>
          <p:spPr>
            <a:xfrm>
              <a:off x="903362" y="1907540"/>
              <a:ext cx="3744416" cy="369332"/>
            </a:xfrm>
            <a:prstGeom prst="rect">
              <a:avLst/>
            </a:prstGeom>
            <a:noFill/>
          </p:spPr>
          <p:txBody>
            <a:bodyPr wrap="square" rtlCol="0">
              <a:spAutoFit/>
            </a:bodyPr>
            <a:lstStyle/>
            <a:p>
              <a:r>
                <a:rPr lang="zh-CN" altLang="en-US" dirty="0" smtClean="0">
                  <a:solidFill>
                    <a:schemeClr val="tx1">
                      <a:lumMod val="65000"/>
                      <a:lumOff val="35000"/>
                    </a:schemeClr>
                  </a:solidFill>
                  <a:latin typeface="微软雅黑" pitchFamily="34" charset="-122"/>
                  <a:ea typeface="微软雅黑" pitchFamily="34" charset="-122"/>
                </a:rPr>
                <a:t>人或物的悬浮是可能的</a:t>
              </a:r>
              <a:endParaRPr lang="zh-CN" altLang="en-US" dirty="0">
                <a:solidFill>
                  <a:schemeClr val="tx1">
                    <a:lumMod val="65000"/>
                    <a:lumOff val="35000"/>
                  </a:schemeClr>
                </a:solidFill>
                <a:latin typeface="微软雅黑" pitchFamily="34" charset="-122"/>
                <a:ea typeface="微软雅黑" pitchFamily="34" charset="-122"/>
              </a:endParaRPr>
            </a:p>
          </p:txBody>
        </p:sp>
        <p:sp>
          <p:nvSpPr>
            <p:cNvPr id="10" name="TextBox 9"/>
            <p:cNvSpPr txBox="1"/>
            <p:nvPr/>
          </p:nvSpPr>
          <p:spPr>
            <a:xfrm>
              <a:off x="2243476" y="4911551"/>
              <a:ext cx="6047518" cy="400110"/>
            </a:xfrm>
            <a:prstGeom prst="rect">
              <a:avLst/>
            </a:prstGeom>
            <a:noFill/>
          </p:spPr>
          <p:txBody>
            <a:bodyPr wrap="square" rtlCol="0">
              <a:spAutoFit/>
            </a:bodyPr>
            <a:lstStyle/>
            <a:p>
              <a:r>
                <a:rPr lang="zh-CN" altLang="en-US" sz="2000" dirty="0" smtClean="0">
                  <a:solidFill>
                    <a:schemeClr val="tx1">
                      <a:lumMod val="65000"/>
                      <a:lumOff val="35000"/>
                    </a:schemeClr>
                  </a:solidFill>
                  <a:latin typeface="微软雅黑" pitchFamily="34" charset="-122"/>
                  <a:ea typeface="微软雅黑" pitchFamily="34" charset="-122"/>
                </a:rPr>
                <a:t>外星人在过去的某个时候造访过地球</a:t>
              </a:r>
              <a:endParaRPr lang="zh-CN" altLang="en-US" sz="2000" dirty="0">
                <a:solidFill>
                  <a:schemeClr val="tx1">
                    <a:lumMod val="65000"/>
                    <a:lumOff val="35000"/>
                  </a:schemeClr>
                </a:solidFill>
                <a:latin typeface="微软雅黑" pitchFamily="34" charset="-122"/>
                <a:ea typeface="微软雅黑" pitchFamily="34" charset="-122"/>
              </a:endParaRPr>
            </a:p>
          </p:txBody>
        </p:sp>
        <p:sp>
          <p:nvSpPr>
            <p:cNvPr id="11" name="TextBox 10"/>
            <p:cNvSpPr txBox="1"/>
            <p:nvPr/>
          </p:nvSpPr>
          <p:spPr>
            <a:xfrm>
              <a:off x="3602664" y="4316323"/>
              <a:ext cx="4176464" cy="523220"/>
            </a:xfrm>
            <a:prstGeom prst="rect">
              <a:avLst/>
            </a:prstGeom>
            <a:noFill/>
          </p:spPr>
          <p:txBody>
            <a:bodyPr wrap="square" rtlCol="0">
              <a:spAutoFit/>
            </a:bodyPr>
            <a:lstStyle/>
            <a:p>
              <a:r>
                <a:rPr lang="zh-CN" altLang="en-US" sz="2800" dirty="0" smtClean="0">
                  <a:solidFill>
                    <a:schemeClr val="tx1">
                      <a:lumMod val="65000"/>
                      <a:lumOff val="35000"/>
                    </a:schemeClr>
                  </a:solidFill>
                  <a:latin typeface="微软雅黑" pitchFamily="34" charset="-122"/>
                  <a:ea typeface="微软雅黑" pitchFamily="34" charset="-122"/>
                </a:rPr>
                <a:t>地球人有时会被魔鬼附体</a:t>
              </a:r>
              <a:endParaRPr lang="zh-CN" altLang="en-US" sz="2800" dirty="0">
                <a:solidFill>
                  <a:schemeClr val="tx1">
                    <a:lumMod val="65000"/>
                    <a:lumOff val="35000"/>
                  </a:schemeClr>
                </a:solidFill>
                <a:latin typeface="微软雅黑" pitchFamily="34" charset="-122"/>
                <a:ea typeface="微软雅黑" pitchFamily="34" charset="-122"/>
              </a:endParaRPr>
            </a:p>
          </p:txBody>
        </p:sp>
        <p:sp>
          <p:nvSpPr>
            <p:cNvPr id="12" name="TextBox 11"/>
            <p:cNvSpPr txBox="1"/>
            <p:nvPr/>
          </p:nvSpPr>
          <p:spPr>
            <a:xfrm>
              <a:off x="3683895" y="1907540"/>
              <a:ext cx="4619836" cy="523220"/>
            </a:xfrm>
            <a:prstGeom prst="rect">
              <a:avLst/>
            </a:prstGeom>
            <a:noFill/>
          </p:spPr>
          <p:txBody>
            <a:bodyPr wrap="square" rtlCol="0">
              <a:spAutoFit/>
            </a:bodyPr>
            <a:lstStyle/>
            <a:p>
              <a:r>
                <a:rPr lang="zh-CN" altLang="en-US" sz="2800" dirty="0" smtClean="0">
                  <a:solidFill>
                    <a:schemeClr val="tx1">
                      <a:lumMod val="50000"/>
                      <a:lumOff val="50000"/>
                    </a:schemeClr>
                  </a:solidFill>
                  <a:latin typeface="微软雅黑" pitchFamily="34" charset="-122"/>
                  <a:ea typeface="微软雅黑" pitchFamily="34" charset="-122"/>
                </a:rPr>
                <a:t>麦田怪圈是由神秘力量制作</a:t>
              </a:r>
              <a:endParaRPr lang="zh-CN" altLang="en-US" sz="2800" dirty="0">
                <a:solidFill>
                  <a:schemeClr val="tx1">
                    <a:lumMod val="50000"/>
                    <a:lumOff val="50000"/>
                  </a:schemeClr>
                </a:solidFill>
                <a:latin typeface="微软雅黑" pitchFamily="34" charset="-122"/>
                <a:ea typeface="微软雅黑" pitchFamily="34" charset="-122"/>
              </a:endParaRPr>
            </a:p>
          </p:txBody>
        </p:sp>
        <p:sp>
          <p:nvSpPr>
            <p:cNvPr id="13" name="TextBox 12"/>
            <p:cNvSpPr txBox="1"/>
            <p:nvPr/>
          </p:nvSpPr>
          <p:spPr>
            <a:xfrm>
              <a:off x="827584" y="2969441"/>
              <a:ext cx="3949116" cy="523220"/>
            </a:xfrm>
            <a:prstGeom prst="rect">
              <a:avLst/>
            </a:prstGeom>
            <a:noFill/>
          </p:spPr>
          <p:txBody>
            <a:bodyPr wrap="square" rtlCol="0">
              <a:spAutoFit/>
            </a:bodyPr>
            <a:lstStyle/>
            <a:p>
              <a:r>
                <a:rPr lang="en-US" altLang="zh-CN" sz="2800" dirty="0" smtClean="0">
                  <a:solidFill>
                    <a:schemeClr val="tx1">
                      <a:lumMod val="50000"/>
                      <a:lumOff val="50000"/>
                    </a:schemeClr>
                  </a:solidFill>
                  <a:latin typeface="微软雅黑" pitchFamily="34" charset="-122"/>
                  <a:ea typeface="微软雅黑" pitchFamily="34" charset="-122"/>
                </a:rPr>
                <a:t>2012</a:t>
              </a:r>
              <a:r>
                <a:rPr lang="zh-CN" altLang="en-US" sz="2800" dirty="0" smtClean="0">
                  <a:solidFill>
                    <a:schemeClr val="tx1">
                      <a:lumMod val="50000"/>
                      <a:lumOff val="50000"/>
                    </a:schemeClr>
                  </a:solidFill>
                  <a:latin typeface="微软雅黑" pitchFamily="34" charset="-122"/>
                  <a:ea typeface="微软雅黑" pitchFamily="34" charset="-122"/>
                </a:rPr>
                <a:t>年是世界末日</a:t>
              </a:r>
              <a:endParaRPr lang="zh-CN" altLang="en-US" sz="2800" dirty="0">
                <a:solidFill>
                  <a:schemeClr val="tx1">
                    <a:lumMod val="50000"/>
                    <a:lumOff val="50000"/>
                  </a:schemeClr>
                </a:solidFill>
                <a:latin typeface="微软雅黑" pitchFamily="34" charset="-122"/>
                <a:ea typeface="微软雅黑" pitchFamily="34" charset="-122"/>
              </a:endParaRPr>
            </a:p>
          </p:txBody>
        </p:sp>
        <p:sp>
          <p:nvSpPr>
            <p:cNvPr id="14" name="TextBox 13"/>
            <p:cNvSpPr txBox="1"/>
            <p:nvPr/>
          </p:nvSpPr>
          <p:spPr>
            <a:xfrm>
              <a:off x="971600" y="3831431"/>
              <a:ext cx="3888432" cy="461665"/>
            </a:xfrm>
            <a:prstGeom prst="rect">
              <a:avLst/>
            </a:prstGeom>
            <a:noFill/>
          </p:spPr>
          <p:txBody>
            <a:bodyPr wrap="square" rtlCol="0">
              <a:spAutoFit/>
            </a:bodyPr>
            <a:lstStyle/>
            <a:p>
              <a:r>
                <a:rPr lang="zh-CN" altLang="en-US" sz="2400" b="1" dirty="0" smtClean="0">
                  <a:solidFill>
                    <a:schemeClr val="tx1">
                      <a:lumMod val="65000"/>
                      <a:lumOff val="35000"/>
                    </a:schemeClr>
                  </a:solidFill>
                  <a:latin typeface="微软雅黑" pitchFamily="34" charset="-122"/>
                  <a:ea typeface="微软雅黑" pitchFamily="34" charset="-122"/>
                </a:rPr>
                <a:t>处女座注定孤老终生</a:t>
              </a:r>
              <a:endParaRPr lang="zh-CN" altLang="en-US" sz="2400" b="1" dirty="0">
                <a:solidFill>
                  <a:schemeClr val="tx1">
                    <a:lumMod val="65000"/>
                    <a:lumOff val="35000"/>
                  </a:schemeClr>
                </a:solidFill>
                <a:latin typeface="微软雅黑" pitchFamily="34" charset="-122"/>
                <a:ea typeface="微软雅黑" pitchFamily="34" charset="-122"/>
              </a:endParaRPr>
            </a:p>
          </p:txBody>
        </p:sp>
        <p:sp>
          <p:nvSpPr>
            <p:cNvPr id="15" name="TextBox 14"/>
            <p:cNvSpPr txBox="1"/>
            <p:nvPr/>
          </p:nvSpPr>
          <p:spPr>
            <a:xfrm>
              <a:off x="3530656" y="3338612"/>
              <a:ext cx="5112568" cy="584775"/>
            </a:xfrm>
            <a:prstGeom prst="rect">
              <a:avLst/>
            </a:prstGeom>
            <a:noFill/>
          </p:spPr>
          <p:txBody>
            <a:bodyPr wrap="square" rtlCol="0">
              <a:spAutoFit/>
            </a:bodyPr>
            <a:lstStyle/>
            <a:p>
              <a:r>
                <a:rPr lang="en-US" altLang="zh-CN" sz="3200" b="1" dirty="0" smtClean="0">
                  <a:solidFill>
                    <a:schemeClr val="tx1">
                      <a:lumMod val="65000"/>
                      <a:lumOff val="35000"/>
                    </a:schemeClr>
                  </a:solidFill>
                  <a:latin typeface="微软雅黑" pitchFamily="34" charset="-122"/>
                  <a:ea typeface="微软雅黑" pitchFamily="34" charset="-122"/>
                </a:rPr>
                <a:t>911</a:t>
              </a:r>
              <a:r>
                <a:rPr lang="zh-CN" altLang="en-US" sz="3200" b="1" dirty="0" smtClean="0">
                  <a:solidFill>
                    <a:schemeClr val="tx1">
                      <a:lumMod val="65000"/>
                      <a:lumOff val="35000"/>
                    </a:schemeClr>
                  </a:solidFill>
                  <a:latin typeface="微软雅黑" pitchFamily="34" charset="-122"/>
                  <a:ea typeface="微软雅黑" pitchFamily="34" charset="-122"/>
                </a:rPr>
                <a:t>事件是美国政府策划的</a:t>
              </a:r>
              <a:endParaRPr lang="zh-CN" altLang="en-US" sz="3200" b="1" dirty="0">
                <a:solidFill>
                  <a:schemeClr val="tx1">
                    <a:lumMod val="65000"/>
                    <a:lumOff val="35000"/>
                  </a:schemeClr>
                </a:solidFill>
                <a:latin typeface="微软雅黑" pitchFamily="34" charset="-122"/>
                <a:ea typeface="微软雅黑" pitchFamily="34" charset="-122"/>
              </a:endParaRPr>
            </a:p>
          </p:txBody>
        </p:sp>
        <p:sp>
          <p:nvSpPr>
            <p:cNvPr id="16" name="TextBox 15"/>
            <p:cNvSpPr txBox="1"/>
            <p:nvPr/>
          </p:nvSpPr>
          <p:spPr>
            <a:xfrm>
              <a:off x="4599062" y="2823319"/>
              <a:ext cx="4248472" cy="461665"/>
            </a:xfrm>
            <a:prstGeom prst="rect">
              <a:avLst/>
            </a:prstGeom>
            <a:noFill/>
          </p:spPr>
          <p:txBody>
            <a:bodyPr wrap="square" rtlCol="0">
              <a:spAutoFit/>
            </a:bodyPr>
            <a:lstStyle/>
            <a:p>
              <a:r>
                <a:rPr lang="zh-CN" altLang="en-US" sz="2400" dirty="0" smtClean="0">
                  <a:solidFill>
                    <a:schemeClr val="tx1">
                      <a:lumMod val="65000"/>
                      <a:lumOff val="35000"/>
                    </a:schemeClr>
                  </a:solidFill>
                  <a:latin typeface="微软雅黑" pitchFamily="34" charset="-122"/>
                  <a:ea typeface="微软雅黑" pitchFamily="34" charset="-122"/>
                </a:rPr>
                <a:t>吸血鬼是真是存在的</a:t>
              </a:r>
              <a:endParaRPr lang="zh-CN" altLang="en-US" sz="2400" dirty="0">
                <a:solidFill>
                  <a:schemeClr val="tx1">
                    <a:lumMod val="65000"/>
                    <a:lumOff val="35000"/>
                  </a:schemeClr>
                </a:solidFill>
                <a:latin typeface="微软雅黑" pitchFamily="34" charset="-122"/>
                <a:ea typeface="微软雅黑" pitchFamily="34" charset="-122"/>
              </a:endParaRPr>
            </a:p>
          </p:txBody>
        </p:sp>
      </p:grpSp>
      <p:grpSp>
        <p:nvGrpSpPr>
          <p:cNvPr id="17" name="组合 16"/>
          <p:cNvGrpSpPr/>
          <p:nvPr/>
        </p:nvGrpSpPr>
        <p:grpSpPr>
          <a:xfrm>
            <a:off x="524457" y="1159319"/>
            <a:ext cx="8728571" cy="3433968"/>
            <a:chOff x="127905" y="2006900"/>
            <a:chExt cx="8728571" cy="3433968"/>
          </a:xfrm>
        </p:grpSpPr>
        <p:sp>
          <p:nvSpPr>
            <p:cNvPr id="18" name="TextBox 17"/>
            <p:cNvSpPr txBox="1"/>
            <p:nvPr/>
          </p:nvSpPr>
          <p:spPr>
            <a:xfrm>
              <a:off x="3743400" y="5102314"/>
              <a:ext cx="3168352" cy="338554"/>
            </a:xfrm>
            <a:prstGeom prst="rect">
              <a:avLst/>
            </a:prstGeom>
            <a:noFill/>
          </p:spPr>
          <p:txBody>
            <a:bodyPr wrap="square" rtlCol="0">
              <a:spAutoFit/>
            </a:bodyPr>
            <a:lstStyle/>
            <a:p>
              <a:r>
                <a:rPr lang="zh-CN" altLang="en-US" sz="1600" b="1" dirty="0" smtClean="0">
                  <a:solidFill>
                    <a:schemeClr val="bg1">
                      <a:lumMod val="85000"/>
                    </a:schemeClr>
                  </a:solidFill>
                  <a:latin typeface="微软雅黑" pitchFamily="34" charset="-122"/>
                  <a:ea typeface="微软雅黑" pitchFamily="34" charset="-122"/>
                </a:rPr>
                <a:t>宇航员登月是骗局</a:t>
              </a:r>
              <a:endParaRPr lang="zh-CN" altLang="en-US" sz="1600" b="1" dirty="0">
                <a:solidFill>
                  <a:schemeClr val="bg1">
                    <a:lumMod val="85000"/>
                  </a:schemeClr>
                </a:solidFill>
                <a:latin typeface="微软雅黑" pitchFamily="34" charset="-122"/>
                <a:ea typeface="微软雅黑" pitchFamily="34" charset="-122"/>
              </a:endParaRPr>
            </a:p>
          </p:txBody>
        </p:sp>
        <p:sp>
          <p:nvSpPr>
            <p:cNvPr id="19" name="TextBox 18"/>
            <p:cNvSpPr txBox="1"/>
            <p:nvPr/>
          </p:nvSpPr>
          <p:spPr>
            <a:xfrm>
              <a:off x="4284458" y="4325034"/>
              <a:ext cx="4358068" cy="400110"/>
            </a:xfrm>
            <a:prstGeom prst="rect">
              <a:avLst/>
            </a:prstGeom>
            <a:noFill/>
          </p:spPr>
          <p:txBody>
            <a:bodyPr wrap="square" rtlCol="0">
              <a:spAutoFit/>
            </a:bodyPr>
            <a:lstStyle/>
            <a:p>
              <a:r>
                <a:rPr lang="zh-CN" altLang="en-US" sz="2000" dirty="0" smtClean="0">
                  <a:solidFill>
                    <a:schemeClr val="bg1">
                      <a:lumMod val="75000"/>
                    </a:schemeClr>
                  </a:solidFill>
                  <a:latin typeface="微软雅黑" pitchFamily="34" charset="-122"/>
                  <a:ea typeface="微软雅黑" pitchFamily="34" charset="-122"/>
                </a:rPr>
                <a:t>具备超能力的侦探破了案</a:t>
              </a:r>
              <a:endParaRPr lang="zh-CN" altLang="en-US" sz="2000" dirty="0">
                <a:solidFill>
                  <a:schemeClr val="bg1">
                    <a:lumMod val="75000"/>
                  </a:schemeClr>
                </a:solidFill>
                <a:latin typeface="微软雅黑" pitchFamily="34" charset="-122"/>
                <a:ea typeface="微软雅黑" pitchFamily="34" charset="-122"/>
              </a:endParaRPr>
            </a:p>
          </p:txBody>
        </p:sp>
        <p:sp>
          <p:nvSpPr>
            <p:cNvPr id="20" name="TextBox 19"/>
            <p:cNvSpPr txBox="1"/>
            <p:nvPr/>
          </p:nvSpPr>
          <p:spPr>
            <a:xfrm>
              <a:off x="312562" y="3081735"/>
              <a:ext cx="4479867" cy="338554"/>
            </a:xfrm>
            <a:prstGeom prst="rect">
              <a:avLst/>
            </a:prstGeom>
            <a:noFill/>
          </p:spPr>
          <p:txBody>
            <a:bodyPr wrap="square" rtlCol="0">
              <a:spAutoFit/>
            </a:bodyPr>
            <a:lstStyle/>
            <a:p>
              <a:r>
                <a:rPr lang="zh-CN" altLang="en-US" sz="1600" dirty="0" smtClean="0">
                  <a:solidFill>
                    <a:schemeClr val="bg1">
                      <a:lumMod val="75000"/>
                    </a:schemeClr>
                  </a:solidFill>
                  <a:latin typeface="微软雅黑" pitchFamily="34" charset="-122"/>
                  <a:ea typeface="微软雅黑" pitchFamily="34" charset="-122"/>
                </a:rPr>
                <a:t>你的前世是中世纪的马童</a:t>
              </a:r>
              <a:endParaRPr lang="zh-CN" altLang="en-US" sz="1600" dirty="0">
                <a:solidFill>
                  <a:schemeClr val="bg1">
                    <a:lumMod val="75000"/>
                  </a:schemeClr>
                </a:solidFill>
                <a:latin typeface="微软雅黑" pitchFamily="34" charset="-122"/>
                <a:ea typeface="微软雅黑" pitchFamily="34" charset="-122"/>
              </a:endParaRPr>
            </a:p>
          </p:txBody>
        </p:sp>
        <p:sp>
          <p:nvSpPr>
            <p:cNvPr id="21" name="TextBox 20"/>
            <p:cNvSpPr txBox="1"/>
            <p:nvPr/>
          </p:nvSpPr>
          <p:spPr>
            <a:xfrm>
              <a:off x="4860032" y="2912458"/>
              <a:ext cx="3744416" cy="338554"/>
            </a:xfrm>
            <a:prstGeom prst="rect">
              <a:avLst/>
            </a:prstGeom>
            <a:noFill/>
          </p:spPr>
          <p:txBody>
            <a:bodyPr wrap="square" rtlCol="0">
              <a:spAutoFit/>
            </a:bodyPr>
            <a:lstStyle/>
            <a:p>
              <a:r>
                <a:rPr lang="zh-CN" altLang="en-US" sz="1600" dirty="0" smtClean="0">
                  <a:solidFill>
                    <a:schemeClr val="bg1">
                      <a:lumMod val="75000"/>
                    </a:schemeClr>
                  </a:solidFill>
                  <a:latin typeface="微软雅黑" pitchFamily="34" charset="-122"/>
                  <a:ea typeface="微软雅黑" pitchFamily="34" charset="-122"/>
                </a:rPr>
                <a:t>人或物的悬浮是可能的</a:t>
              </a:r>
              <a:endParaRPr lang="zh-CN" altLang="en-US" sz="1600" dirty="0">
                <a:solidFill>
                  <a:schemeClr val="bg1">
                    <a:lumMod val="75000"/>
                  </a:schemeClr>
                </a:solidFill>
                <a:latin typeface="微软雅黑" pitchFamily="34" charset="-122"/>
                <a:ea typeface="微软雅黑" pitchFamily="34" charset="-122"/>
              </a:endParaRPr>
            </a:p>
          </p:txBody>
        </p:sp>
        <p:sp>
          <p:nvSpPr>
            <p:cNvPr id="22" name="TextBox 21"/>
            <p:cNvSpPr txBox="1"/>
            <p:nvPr/>
          </p:nvSpPr>
          <p:spPr>
            <a:xfrm>
              <a:off x="127905" y="4674622"/>
              <a:ext cx="4176464" cy="338554"/>
            </a:xfrm>
            <a:prstGeom prst="rect">
              <a:avLst/>
            </a:prstGeom>
            <a:noFill/>
          </p:spPr>
          <p:txBody>
            <a:bodyPr wrap="square" rtlCol="0">
              <a:spAutoFit/>
            </a:bodyPr>
            <a:lstStyle/>
            <a:p>
              <a:r>
                <a:rPr lang="zh-CN" altLang="en-US" sz="1600" dirty="0" smtClean="0">
                  <a:solidFill>
                    <a:schemeClr val="bg1">
                      <a:lumMod val="75000"/>
                    </a:schemeClr>
                  </a:solidFill>
                  <a:latin typeface="微软雅黑" pitchFamily="34" charset="-122"/>
                  <a:ea typeface="微软雅黑" pitchFamily="34" charset="-122"/>
                </a:rPr>
                <a:t>地球人有时会被魔鬼附体</a:t>
              </a:r>
              <a:endParaRPr lang="zh-CN" altLang="en-US" sz="1600" dirty="0">
                <a:solidFill>
                  <a:schemeClr val="bg1">
                    <a:lumMod val="75000"/>
                  </a:schemeClr>
                </a:solidFill>
                <a:latin typeface="微软雅黑" pitchFamily="34" charset="-122"/>
                <a:ea typeface="微软雅黑" pitchFamily="34" charset="-122"/>
              </a:endParaRPr>
            </a:p>
          </p:txBody>
        </p:sp>
        <p:sp>
          <p:nvSpPr>
            <p:cNvPr id="25" name="TextBox 24"/>
            <p:cNvSpPr txBox="1"/>
            <p:nvPr/>
          </p:nvSpPr>
          <p:spPr>
            <a:xfrm>
              <a:off x="863080" y="3955325"/>
              <a:ext cx="3888432" cy="400110"/>
            </a:xfrm>
            <a:prstGeom prst="rect">
              <a:avLst/>
            </a:prstGeom>
            <a:noFill/>
          </p:spPr>
          <p:txBody>
            <a:bodyPr wrap="square" rtlCol="0">
              <a:spAutoFit/>
            </a:bodyPr>
            <a:lstStyle/>
            <a:p>
              <a:r>
                <a:rPr lang="zh-CN" altLang="en-US" sz="2000" b="1" dirty="0" smtClean="0">
                  <a:solidFill>
                    <a:schemeClr val="bg1">
                      <a:lumMod val="75000"/>
                    </a:schemeClr>
                  </a:solidFill>
                  <a:latin typeface="微软雅黑" pitchFamily="34" charset="-122"/>
                  <a:ea typeface="微软雅黑" pitchFamily="34" charset="-122"/>
                </a:rPr>
                <a:t>处女座注定孤老终生</a:t>
              </a:r>
              <a:endParaRPr lang="zh-CN" altLang="en-US" sz="2000" b="1" dirty="0">
                <a:solidFill>
                  <a:schemeClr val="bg1">
                    <a:lumMod val="75000"/>
                  </a:schemeClr>
                </a:solidFill>
                <a:latin typeface="微软雅黑" pitchFamily="34" charset="-122"/>
                <a:ea typeface="微软雅黑" pitchFamily="34" charset="-122"/>
              </a:endParaRPr>
            </a:p>
          </p:txBody>
        </p:sp>
        <p:sp>
          <p:nvSpPr>
            <p:cNvPr id="27" name="TextBox 26"/>
            <p:cNvSpPr txBox="1"/>
            <p:nvPr/>
          </p:nvSpPr>
          <p:spPr>
            <a:xfrm>
              <a:off x="4608004" y="2006900"/>
              <a:ext cx="4248472" cy="400110"/>
            </a:xfrm>
            <a:prstGeom prst="rect">
              <a:avLst/>
            </a:prstGeom>
            <a:noFill/>
          </p:spPr>
          <p:txBody>
            <a:bodyPr wrap="square" rtlCol="0">
              <a:spAutoFit/>
            </a:bodyPr>
            <a:lstStyle/>
            <a:p>
              <a:r>
                <a:rPr lang="zh-CN" altLang="en-US" sz="2000" dirty="0" smtClean="0">
                  <a:solidFill>
                    <a:schemeClr val="bg1">
                      <a:lumMod val="75000"/>
                    </a:schemeClr>
                  </a:solidFill>
                  <a:latin typeface="微软雅黑" pitchFamily="34" charset="-122"/>
                  <a:ea typeface="微软雅黑" pitchFamily="34" charset="-122"/>
                </a:rPr>
                <a:t>吸血鬼是真是存在的</a:t>
              </a:r>
              <a:endParaRPr lang="zh-CN" altLang="en-US" sz="2000" dirty="0">
                <a:solidFill>
                  <a:schemeClr val="bg1">
                    <a:lumMod val="75000"/>
                  </a:schemeClr>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907697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068906454"/>
              </p:ext>
            </p:extLst>
          </p:nvPr>
        </p:nvGraphicFramePr>
        <p:xfrm>
          <a:off x="1691680" y="1419622"/>
          <a:ext cx="5811335" cy="3528392"/>
        </p:xfrm>
        <a:graphic>
          <a:graphicData uri="http://schemas.openxmlformats.org/drawingml/2006/table">
            <a:tbl>
              <a:tblPr firstRow="1" bandRow="1">
                <a:tableStyleId>{5C22544A-7EE6-4342-B048-85BDC9FD1C3A}</a:tableStyleId>
              </a:tblPr>
              <a:tblGrid>
                <a:gridCol w="2880320"/>
                <a:gridCol w="2931015"/>
              </a:tblGrid>
              <a:tr h="1656184">
                <a:tc>
                  <a:txBody>
                    <a:bodyPr/>
                    <a:lstStyle/>
                    <a:p>
                      <a:endParaRPr lang="zh-CN" altLang="en-US" dirty="0"/>
                    </a:p>
                  </a:txBody>
                  <a:tcPr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zh-CN" altLang="en-US" dirty="0"/>
                    </a:p>
                  </a:txBody>
                  <a:tcPr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r h="1872208">
                <a:tc>
                  <a:txBody>
                    <a:bodyPr/>
                    <a:lstStyle/>
                    <a:p>
                      <a:endParaRPr lang="zh-CN" altLang="en-US" dirty="0"/>
                    </a:p>
                  </a:txBody>
                  <a:tcPr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zh-CN" altLang="en-US" dirty="0"/>
                    </a:p>
                  </a:txBody>
                  <a:tcPr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p:pic>
        <p:nvPicPr>
          <p:cNvPr id="3074" name="Picture 2" descr="E:\PPT\暴走漫画全部素材\暴走漫画全部素材\4DQP{]J5WACG7V]U9DWV1[8.jpg"/>
          <p:cNvPicPr>
            <a:picLocks noChangeAspect="1" noChangeArrowheads="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flipH="1">
            <a:off x="6350887" y="3959280"/>
            <a:ext cx="1173441" cy="98873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547664" y="483518"/>
            <a:ext cx="6264696" cy="523220"/>
          </a:xfrm>
          <a:prstGeom prst="rect">
            <a:avLst/>
          </a:prstGeom>
          <a:noFill/>
        </p:spPr>
        <p:txBody>
          <a:bodyPr wrap="square" rtlCol="0">
            <a:spAutoFit/>
          </a:bodyPr>
          <a:lstStyle/>
          <a:p>
            <a:r>
              <a:rPr lang="zh-CN" altLang="en-US" sz="2800" b="1" spc="150" dirty="0" smtClean="0">
                <a:solidFill>
                  <a:schemeClr val="bg1"/>
                </a:solidFill>
                <a:latin typeface="微软雅黑" pitchFamily="34" charset="-122"/>
                <a:ea typeface="微软雅黑" pitchFamily="34" charset="-122"/>
              </a:rPr>
              <a:t>面对这些言论，你是否有如下疑问？</a:t>
            </a:r>
            <a:endParaRPr lang="zh-CN" altLang="en-US" sz="2800" b="1" spc="150" dirty="0">
              <a:solidFill>
                <a:schemeClr val="bg1"/>
              </a:solidFill>
              <a:latin typeface="微软雅黑" pitchFamily="34" charset="-122"/>
              <a:ea typeface="微软雅黑" pitchFamily="34" charset="-122"/>
            </a:endParaRPr>
          </a:p>
        </p:txBody>
      </p:sp>
      <p:sp>
        <p:nvSpPr>
          <p:cNvPr id="2" name="矩形 1"/>
          <p:cNvSpPr/>
          <p:nvPr/>
        </p:nvSpPr>
        <p:spPr>
          <a:xfrm>
            <a:off x="2059525" y="2105965"/>
            <a:ext cx="2376264" cy="400110"/>
          </a:xfrm>
          <a:prstGeom prst="rect">
            <a:avLst/>
          </a:prstGeom>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我们该相信谁呢？</a:t>
            </a:r>
          </a:p>
        </p:txBody>
      </p:sp>
      <p:sp>
        <p:nvSpPr>
          <p:cNvPr id="5" name="矩形 4"/>
          <p:cNvSpPr/>
          <p:nvPr/>
        </p:nvSpPr>
        <p:spPr>
          <a:xfrm>
            <a:off x="4694703" y="1952077"/>
            <a:ext cx="2507417" cy="707886"/>
          </a:xfrm>
          <a:prstGeom prst="rect">
            <a:avLst/>
          </a:prstGeom>
        </p:spPr>
        <p:txBody>
          <a:bodyPr wrap="none">
            <a:spAutoFit/>
          </a:bodyPr>
          <a:lstStyle/>
          <a:p>
            <a:r>
              <a:rPr lang="zh-CN" altLang="en-US" sz="2000" b="1" dirty="0" smtClean="0">
                <a:latin typeface="微软雅黑" panose="020B0503020204020204" pitchFamily="34" charset="-122"/>
                <a:ea typeface="微软雅黑" panose="020B0503020204020204" pitchFamily="34" charset="-122"/>
              </a:rPr>
              <a:t>肿</a:t>
            </a:r>
            <a:r>
              <a:rPr lang="zh-CN" altLang="en-US" sz="2000" b="1" dirty="0">
                <a:latin typeface="微软雅黑" panose="020B0503020204020204" pitchFamily="34" charset="-122"/>
                <a:ea typeface="微软雅黑" panose="020B0503020204020204" pitchFamily="34" charset="-122"/>
              </a:rPr>
              <a:t>么判断</a:t>
            </a:r>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哪些断言是可信的？</a:t>
            </a:r>
          </a:p>
        </p:txBody>
      </p:sp>
      <p:sp>
        <p:nvSpPr>
          <p:cNvPr id="6" name="矩形 5"/>
          <p:cNvSpPr/>
          <p:nvPr/>
        </p:nvSpPr>
        <p:spPr>
          <a:xfrm>
            <a:off x="2138419" y="3531954"/>
            <a:ext cx="3132348" cy="707886"/>
          </a:xfrm>
          <a:prstGeom prst="rect">
            <a:avLst/>
          </a:prstGeom>
        </p:spPr>
        <p:txBody>
          <a:bodyPr wrap="square">
            <a:spAutoFit/>
          </a:bodyPr>
          <a:lstStyle/>
          <a:p>
            <a:r>
              <a:rPr lang="zh-CN" altLang="en-US" sz="2000" b="1" dirty="0" smtClean="0">
                <a:latin typeface="微软雅黑" panose="020B0503020204020204" pitchFamily="34" charset="-122"/>
                <a:ea typeface="微软雅黑" panose="020B0503020204020204" pitchFamily="34" charset="-122"/>
              </a:rPr>
              <a:t>肿么区分</a:t>
            </a:r>
            <a:endParaRPr lang="en-US" altLang="zh-CN" sz="2000" b="1" dirty="0" smtClean="0">
              <a:latin typeface="微软雅黑" panose="020B0503020204020204" pitchFamily="34" charset="-122"/>
              <a:ea typeface="微软雅黑" panose="020B0503020204020204" pitchFamily="34" charset="-122"/>
            </a:endParaRPr>
          </a:p>
          <a:p>
            <a:r>
              <a:rPr lang="zh-CN" altLang="en-US" sz="2000" b="1" dirty="0" smtClean="0">
                <a:latin typeface="微软雅黑" panose="020B0503020204020204" pitchFamily="34" charset="-122"/>
                <a:ea typeface="微软雅黑" panose="020B0503020204020204" pitchFamily="34" charset="-122"/>
              </a:rPr>
              <a:t>理性和非</a:t>
            </a:r>
            <a:r>
              <a:rPr lang="zh-CN" altLang="en-US" sz="2000" b="1" dirty="0">
                <a:latin typeface="微软雅黑" panose="020B0503020204020204" pitchFamily="34" charset="-122"/>
                <a:ea typeface="微软雅黑" panose="020B0503020204020204" pitchFamily="34" charset="-122"/>
              </a:rPr>
              <a:t>理性断言？</a:t>
            </a:r>
          </a:p>
        </p:txBody>
      </p:sp>
      <p:sp>
        <p:nvSpPr>
          <p:cNvPr id="7" name="矩形 6"/>
          <p:cNvSpPr/>
          <p:nvPr/>
        </p:nvSpPr>
        <p:spPr>
          <a:xfrm>
            <a:off x="4694703" y="3363838"/>
            <a:ext cx="2249334" cy="1077218"/>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rPr>
              <a:t>最重要的是，</a:t>
            </a:r>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你</a:t>
            </a:r>
            <a:r>
              <a:rPr lang="zh-CN" altLang="en-US" sz="2400" b="1" dirty="0">
                <a:solidFill>
                  <a:srgbClr val="06ACDE"/>
                </a:solidFill>
                <a:latin typeface="微软雅黑" panose="020B0503020204020204" pitchFamily="34" charset="-122"/>
                <a:ea typeface="微软雅黑" panose="020B0503020204020204" pitchFamily="34" charset="-122"/>
              </a:rPr>
              <a:t>为什么</a:t>
            </a:r>
            <a:r>
              <a:rPr lang="zh-CN" altLang="en-US" sz="2000" b="1" dirty="0" smtClean="0">
                <a:latin typeface="微软雅黑" panose="020B0503020204020204" pitchFamily="34" charset="-122"/>
                <a:ea typeface="微软雅黑" panose="020B0503020204020204" pitchFamily="34" charset="-122"/>
              </a:rPr>
              <a:t>相信</a:t>
            </a:r>
            <a:endParaRPr lang="en-US" altLang="zh-CN" sz="2000" b="1" dirty="0" smtClean="0">
              <a:latin typeface="微软雅黑" panose="020B0503020204020204" pitchFamily="34" charset="-122"/>
              <a:ea typeface="微软雅黑" panose="020B0503020204020204" pitchFamily="34" charset="-122"/>
            </a:endParaRPr>
          </a:p>
          <a:p>
            <a:r>
              <a:rPr lang="zh-CN" altLang="en-US" sz="2000" b="1" dirty="0" smtClean="0">
                <a:latin typeface="微软雅黑" panose="020B0503020204020204" pitchFamily="34" charset="-122"/>
                <a:ea typeface="微软雅黑" panose="020B0503020204020204" pitchFamily="34" charset="-122"/>
              </a:rPr>
              <a:t>或者</a:t>
            </a:r>
            <a:r>
              <a:rPr lang="zh-CN" altLang="en-US" sz="2000" b="1" dirty="0">
                <a:latin typeface="微软雅黑" panose="020B0503020204020204" pitchFamily="34" charset="-122"/>
                <a:ea typeface="微软雅黑" panose="020B0503020204020204" pitchFamily="34" charset="-122"/>
              </a:rPr>
              <a:t>不相信这些？</a:t>
            </a:r>
          </a:p>
        </p:txBody>
      </p:sp>
    </p:spTree>
    <p:extLst>
      <p:ext uri="{BB962C8B-B14F-4D97-AF65-F5344CB8AC3E}">
        <p14:creationId xmlns:p14="http://schemas.microsoft.com/office/powerpoint/2010/main" val="19076975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9672" y="411510"/>
            <a:ext cx="6336704" cy="523220"/>
          </a:xfrm>
          <a:prstGeom prst="rect">
            <a:avLst/>
          </a:prstGeom>
          <a:noFill/>
        </p:spPr>
        <p:txBody>
          <a:bodyPr wrap="square" rtlCol="0">
            <a:spAutoFit/>
          </a:bodyPr>
          <a:lstStyle/>
          <a:p>
            <a:r>
              <a:rPr lang="zh-CN" altLang="en-US" sz="2800" b="1" spc="150" dirty="0">
                <a:solidFill>
                  <a:schemeClr val="bg1"/>
                </a:solidFill>
                <a:latin typeface="微软雅黑" pitchFamily="34" charset="-122"/>
                <a:ea typeface="微软雅黑" pitchFamily="34" charset="-122"/>
              </a:rPr>
              <a:t>问“为什么”的重要性</a:t>
            </a:r>
          </a:p>
        </p:txBody>
      </p:sp>
      <p:pic>
        <p:nvPicPr>
          <p:cNvPr id="4098" name="Picture 2" descr="E:\PPT\13496127621376661.png"/>
          <p:cNvPicPr>
            <a:picLocks noChangeAspect="1" noChangeArrowheads="1"/>
          </p:cNvPicPr>
          <p:nvPr/>
        </p:nvPicPr>
        <p:blipFill rotWithShape="1">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55503" t="15968" r="9062" b="42016"/>
          <a:stretch/>
        </p:blipFill>
        <p:spPr bwMode="auto">
          <a:xfrm>
            <a:off x="1175281" y="2571751"/>
            <a:ext cx="2348628" cy="216024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1187624" y="1419622"/>
            <a:ext cx="6984776" cy="33123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3131840" y="1709161"/>
            <a:ext cx="4680520" cy="2215991"/>
          </a:xfrm>
          <a:prstGeom prst="rect">
            <a:avLst/>
          </a:prstGeom>
        </p:spPr>
        <p:txBody>
          <a:bodyPr wrap="square">
            <a:spAutoFit/>
          </a:bodyPr>
          <a:lstStyle/>
          <a:p>
            <a:pPr algn="just">
              <a:lnSpc>
                <a:spcPct val="120000"/>
              </a:lnSpc>
            </a:pPr>
            <a:r>
              <a:rPr lang="zh-CN" altLang="en-US" dirty="0" smtClean="0">
                <a:latin typeface="微软雅黑" pitchFamily="34" charset="-122"/>
                <a:ea typeface="微软雅黑" pitchFamily="34" charset="-122"/>
              </a:rPr>
              <a:t>       因为</a:t>
            </a:r>
            <a:r>
              <a:rPr lang="zh-CN" altLang="en-US" dirty="0">
                <a:latin typeface="微软雅黑" pitchFamily="34" charset="-122"/>
                <a:ea typeface="微软雅黑" pitchFamily="34" charset="-122"/>
              </a:rPr>
              <a:t>草率地拒绝或者接受一个断言，并不</a:t>
            </a:r>
            <a:r>
              <a:rPr lang="zh-CN" altLang="en-US" dirty="0" smtClean="0">
                <a:latin typeface="微软雅黑" pitchFamily="34" charset="-122"/>
                <a:ea typeface="微软雅黑" pitchFamily="34" charset="-122"/>
              </a:rPr>
              <a:t>能帮助</a:t>
            </a:r>
            <a:r>
              <a:rPr lang="zh-CN" altLang="en-US" dirty="0">
                <a:latin typeface="微软雅黑" pitchFamily="34" charset="-122"/>
                <a:ea typeface="微软雅黑" pitchFamily="34" charset="-122"/>
              </a:rPr>
              <a:t>我们区分实际上很</a:t>
            </a:r>
            <a:r>
              <a:rPr lang="zh-CN" altLang="en-US" dirty="0" smtClean="0">
                <a:latin typeface="微软雅黑" pitchFamily="34" charset="-122"/>
                <a:ea typeface="微软雅黑" pitchFamily="34" charset="-122"/>
              </a:rPr>
              <a:t>可以真（</a:t>
            </a:r>
            <a:r>
              <a:rPr lang="zh-CN" altLang="en-US" dirty="0">
                <a:latin typeface="微软雅黑" pitchFamily="34" charset="-122"/>
                <a:ea typeface="微软雅黑" pitchFamily="34" charset="-122"/>
              </a:rPr>
              <a:t>或假）的东西</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algn="just">
              <a:lnSpc>
                <a:spcPct val="120000"/>
              </a:lnSpc>
            </a:pPr>
            <a:endParaRPr lang="zh-CN" altLang="en-US" sz="600" dirty="0">
              <a:latin typeface="微软雅黑" pitchFamily="34" charset="-122"/>
              <a:ea typeface="微软雅黑" pitchFamily="34" charset="-122"/>
            </a:endParaRPr>
          </a:p>
          <a:p>
            <a:pPr algn="just">
              <a:lnSpc>
                <a:spcPct val="120000"/>
              </a:lnSpc>
            </a:pPr>
            <a:r>
              <a:rPr lang="zh-CN" altLang="en-US" dirty="0">
                <a:latin typeface="微软雅黑" pitchFamily="34" charset="-122"/>
                <a:ea typeface="微软雅黑" pitchFamily="34" charset="-122"/>
              </a:rPr>
              <a:t>       没有建立在</a:t>
            </a:r>
            <a:r>
              <a:rPr lang="zh-CN" altLang="en-US" b="1" dirty="0">
                <a:solidFill>
                  <a:srgbClr val="06ACDE"/>
                </a:solidFill>
                <a:latin typeface="微软雅黑" pitchFamily="34" charset="-122"/>
                <a:ea typeface="微软雅黑" pitchFamily="34" charset="-122"/>
              </a:rPr>
              <a:t>最佳理由</a:t>
            </a:r>
            <a:r>
              <a:rPr lang="zh-CN" altLang="en-US" dirty="0">
                <a:latin typeface="微软雅黑" pitchFamily="34" charset="-122"/>
                <a:ea typeface="微软雅黑" pitchFamily="34" charset="-122"/>
              </a:rPr>
              <a:t>和</a:t>
            </a:r>
            <a:r>
              <a:rPr lang="zh-CN" altLang="en-US" b="1" dirty="0">
                <a:solidFill>
                  <a:srgbClr val="06ACDE"/>
                </a:solidFill>
                <a:latin typeface="微软雅黑" pitchFamily="34" charset="-122"/>
                <a:ea typeface="微软雅黑" pitchFamily="34" charset="-122"/>
              </a:rPr>
              <a:t>证据</a:t>
            </a:r>
            <a:r>
              <a:rPr lang="zh-CN" altLang="en-US" dirty="0">
                <a:latin typeface="微软雅黑" pitchFamily="34" charset="-122"/>
                <a:ea typeface="微软雅黑" pitchFamily="34" charset="-122"/>
              </a:rPr>
              <a:t>基础上的信念，只能在空中摇摆，除了代表我们短暂的</a:t>
            </a:r>
            <a:r>
              <a:rPr lang="zh-CN" altLang="en-US" b="1" dirty="0">
                <a:solidFill>
                  <a:srgbClr val="06ACDE"/>
                </a:solidFill>
                <a:latin typeface="微软雅黑" pitchFamily="34" charset="-122"/>
                <a:ea typeface="微软雅黑" pitchFamily="34" charset="-122"/>
              </a:rPr>
              <a:t>情感</a:t>
            </a:r>
            <a:r>
              <a:rPr lang="zh-CN" altLang="en-US" dirty="0">
                <a:latin typeface="微软雅黑" pitchFamily="34" charset="-122"/>
                <a:ea typeface="微软雅黑" pitchFamily="34" charset="-122"/>
              </a:rPr>
              <a:t>或</a:t>
            </a:r>
            <a:r>
              <a:rPr lang="zh-CN" altLang="en-US" b="1" dirty="0">
                <a:solidFill>
                  <a:srgbClr val="06ACDE"/>
                </a:solidFill>
                <a:latin typeface="微软雅黑" pitchFamily="34" charset="-122"/>
                <a:ea typeface="微软雅黑" pitchFamily="34" charset="-122"/>
              </a:rPr>
              <a:t>个人喜好</a:t>
            </a:r>
            <a:r>
              <a:rPr lang="zh-CN" altLang="en-US" dirty="0">
                <a:latin typeface="微软雅黑" pitchFamily="34" charset="-122"/>
                <a:ea typeface="微软雅黑" pitchFamily="34" charset="-122"/>
              </a:rPr>
              <a:t>外，再没有任何意义。</a:t>
            </a:r>
          </a:p>
        </p:txBody>
      </p:sp>
    </p:spTree>
    <p:extLst>
      <p:ext uri="{BB962C8B-B14F-4D97-AF65-F5344CB8AC3E}">
        <p14:creationId xmlns:p14="http://schemas.microsoft.com/office/powerpoint/2010/main" val="42471002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31695" y="464354"/>
            <a:ext cx="2076209" cy="523220"/>
          </a:xfrm>
          <a:prstGeom prst="rect">
            <a:avLst/>
          </a:prstGeom>
        </p:spPr>
        <p:txBody>
          <a:bodyPr wrap="none">
            <a:spAutoFit/>
          </a:bodyPr>
          <a:lstStyle/>
          <a:p>
            <a:r>
              <a:rPr lang="zh-CN" altLang="en-US" sz="2800" b="1" spc="150" dirty="0">
                <a:solidFill>
                  <a:schemeClr val="bg1"/>
                </a:solidFill>
                <a:latin typeface="微软雅黑" pitchFamily="34" charset="-122"/>
                <a:ea typeface="微软雅黑" pitchFamily="34" charset="-122"/>
              </a:rPr>
              <a:t>本书的目的</a:t>
            </a:r>
          </a:p>
        </p:txBody>
      </p:sp>
      <p:pic>
        <p:nvPicPr>
          <p:cNvPr id="5122" name="Picture 2" descr="E:\PPT\暴走漫画全部素材\暴走漫画全部素材\{L4D%}B4183SO{O$V0`MBIE.jpg"/>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416824" y="2848615"/>
            <a:ext cx="1763688" cy="2387431"/>
          </a:xfrm>
          <a:prstGeom prst="rect">
            <a:avLst/>
          </a:prstGeom>
          <a:noFill/>
          <a:extLst>
            <a:ext uri="{909E8E84-426E-40DD-AFC4-6F175D3DCCD1}">
              <a14:hiddenFill xmlns:a14="http://schemas.microsoft.com/office/drawing/2010/main">
                <a:solidFill>
                  <a:srgbClr val="FFFFFF"/>
                </a:solidFill>
              </a14:hiddenFill>
            </a:ext>
          </a:extLst>
        </p:spPr>
      </p:pic>
      <p:sp>
        <p:nvSpPr>
          <p:cNvPr id="3" name="云形标注 2"/>
          <p:cNvSpPr/>
          <p:nvPr/>
        </p:nvSpPr>
        <p:spPr>
          <a:xfrm>
            <a:off x="1259632" y="1347614"/>
            <a:ext cx="5400600" cy="2808312"/>
          </a:xfrm>
          <a:prstGeom prst="cloudCallout">
            <a:avLst>
              <a:gd name="adj1" fmla="val 66543"/>
              <a:gd name="adj2" fmla="val 47496"/>
            </a:avLst>
          </a:prstGeom>
          <a:noFill/>
          <a:ln w="15875">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800200" y="1995686"/>
            <a:ext cx="4572000" cy="1569660"/>
          </a:xfrm>
          <a:prstGeom prst="rect">
            <a:avLst/>
          </a:prstGeom>
        </p:spPr>
        <p:txBody>
          <a:bodyPr>
            <a:spAutoFit/>
          </a:bodyPr>
          <a:lstStyle/>
          <a:p>
            <a:pPr>
              <a:lnSpc>
                <a:spcPct val="150000"/>
              </a:lnSpc>
            </a:pPr>
            <a:r>
              <a:rPr lang="zh-CN" altLang="en-US" sz="1600" b="1" dirty="0">
                <a:solidFill>
                  <a:srgbClr val="06ACDE"/>
                </a:solidFill>
                <a:latin typeface="微软雅黑" pitchFamily="34" charset="-122"/>
                <a:ea typeface="微软雅黑" pitchFamily="34" charset="-122"/>
              </a:rPr>
              <a:t>展示</a:t>
            </a:r>
            <a:r>
              <a:rPr lang="zh-CN" altLang="en-US" sz="1600" dirty="0">
                <a:latin typeface="微软雅黑" pitchFamily="34" charset="-122"/>
                <a:ea typeface="微软雅黑" pitchFamily="34" charset="-122"/>
              </a:rPr>
              <a:t>给你区分好、坏理由的武器</a:t>
            </a:r>
            <a:r>
              <a:rPr lang="zh-CN" altLang="en-US" sz="1600" dirty="0" smtClean="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a:p>
            <a:pPr>
              <a:lnSpc>
                <a:spcPct val="150000"/>
              </a:lnSpc>
            </a:pPr>
            <a:r>
              <a:rPr lang="zh-CN" altLang="en-US" sz="1600" b="1" dirty="0">
                <a:solidFill>
                  <a:srgbClr val="06ACDE"/>
                </a:solidFill>
                <a:latin typeface="微软雅黑" pitchFamily="34" charset="-122"/>
                <a:ea typeface="微软雅黑" pitchFamily="34" charset="-122"/>
              </a:rPr>
              <a:t>阐明</a:t>
            </a:r>
            <a:r>
              <a:rPr lang="zh-CN" altLang="en-US" sz="1600" dirty="0">
                <a:latin typeface="微软雅黑" pitchFamily="34" charset="-122"/>
                <a:ea typeface="微软雅黑" pitchFamily="34" charset="-122"/>
              </a:rPr>
              <a:t>能使你自己评估任何断言的批判性思维原则；</a:t>
            </a:r>
          </a:p>
          <a:p>
            <a:pPr>
              <a:lnSpc>
                <a:spcPct val="150000"/>
              </a:lnSpc>
            </a:pPr>
            <a:r>
              <a:rPr lang="zh-CN" altLang="en-US" sz="1600" b="1" dirty="0">
                <a:solidFill>
                  <a:srgbClr val="06ACDE"/>
                </a:solidFill>
                <a:latin typeface="微软雅黑" pitchFamily="34" charset="-122"/>
                <a:ea typeface="微软雅黑" pitchFamily="34" charset="-122"/>
              </a:rPr>
              <a:t>检验</a:t>
            </a:r>
            <a:r>
              <a:rPr lang="zh-CN" altLang="en-US" sz="1600" dirty="0">
                <a:latin typeface="微软雅黑" pitchFamily="34" charset="-122"/>
                <a:ea typeface="微软雅黑" pitchFamily="34" charset="-122"/>
              </a:rPr>
              <a:t>真理，或者我们体验过的最具影响力、最神秘、最刺激、最令人困惑的难题的真实性。</a:t>
            </a:r>
          </a:p>
        </p:txBody>
      </p:sp>
    </p:spTree>
    <p:extLst>
      <p:ext uri="{BB962C8B-B14F-4D97-AF65-F5344CB8AC3E}">
        <p14:creationId xmlns:p14="http://schemas.microsoft.com/office/powerpoint/2010/main" val="29780742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9672" y="464354"/>
            <a:ext cx="5846340" cy="523220"/>
          </a:xfrm>
          <a:prstGeom prst="rect">
            <a:avLst/>
          </a:prstGeom>
          <a:noFill/>
        </p:spPr>
        <p:txBody>
          <a:bodyPr wrap="square" rtlCol="0">
            <a:spAutoFit/>
          </a:bodyPr>
          <a:lstStyle/>
          <a:p>
            <a:r>
              <a:rPr lang="zh-CN" altLang="en-US" sz="2800" b="1" spc="150" dirty="0">
                <a:solidFill>
                  <a:schemeClr val="bg1"/>
                </a:solidFill>
                <a:latin typeface="微软雅黑" pitchFamily="34" charset="-122"/>
                <a:ea typeface="微软雅黑" pitchFamily="34" charset="-122"/>
              </a:rPr>
              <a:t>为什么要学习批判性思维？</a:t>
            </a:r>
          </a:p>
        </p:txBody>
      </p:sp>
      <p:grpSp>
        <p:nvGrpSpPr>
          <p:cNvPr id="20" name="组合 19"/>
          <p:cNvGrpSpPr/>
          <p:nvPr/>
        </p:nvGrpSpPr>
        <p:grpSpPr>
          <a:xfrm>
            <a:off x="1475656" y="3665189"/>
            <a:ext cx="6768752" cy="900950"/>
            <a:chOff x="1331640" y="3579862"/>
            <a:chExt cx="6768752" cy="793790"/>
          </a:xfrm>
        </p:grpSpPr>
        <p:pic>
          <p:nvPicPr>
            <p:cNvPr id="6146" name="Picture 2" descr="E:\PPT\暴走漫画全部素材\暴走漫画全部素材\JEI$SK_D%(BCFKX6~T`M7%C.jpg"/>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835697" y="3651870"/>
              <a:ext cx="720079" cy="67752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331640" y="3579862"/>
              <a:ext cx="6336704" cy="79379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2448272" y="3631570"/>
              <a:ext cx="5652120" cy="642276"/>
            </a:xfrm>
            <a:prstGeom prst="rect">
              <a:avLst/>
            </a:prstGeom>
            <a:noFill/>
          </p:spPr>
          <p:txBody>
            <a:bodyPr wrap="square" rtlCol="0">
              <a:spAutoFit/>
            </a:bodyPr>
            <a:lstStyle/>
            <a:p>
              <a:pPr algn="ctr">
                <a:lnSpc>
                  <a:spcPct val="120000"/>
                </a:lnSpc>
              </a:pPr>
              <a:r>
                <a:rPr lang="zh-CN" altLang="en-US" dirty="0">
                  <a:latin typeface="微软雅黑" pitchFamily="34" charset="-122"/>
                  <a:ea typeface="微软雅黑" pitchFamily="34" charset="-122"/>
                </a:rPr>
                <a:t>通过提升</a:t>
              </a:r>
              <a:r>
                <a:rPr lang="zh-CN" altLang="en-US" b="1" dirty="0">
                  <a:solidFill>
                    <a:srgbClr val="06ACDE"/>
                  </a:solidFill>
                  <a:latin typeface="微软雅黑" pitchFamily="34" charset="-122"/>
                  <a:ea typeface="微软雅黑" pitchFamily="34" charset="-122"/>
                </a:rPr>
                <a:t>思考</a:t>
              </a:r>
              <a:r>
                <a:rPr lang="zh-CN" altLang="en-US" dirty="0">
                  <a:latin typeface="微软雅黑" pitchFamily="34" charset="-122"/>
                  <a:ea typeface="微软雅黑" pitchFamily="34" charset="-122"/>
                </a:rPr>
                <a:t>的力量</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algn="ctr">
                <a:lnSpc>
                  <a:spcPct val="120000"/>
                </a:lnSpc>
              </a:pPr>
              <a:r>
                <a:rPr lang="zh-CN" altLang="en-US" dirty="0" smtClean="0">
                  <a:latin typeface="微软雅黑" pitchFamily="34" charset="-122"/>
                  <a:ea typeface="微软雅黑" pitchFamily="34" charset="-122"/>
                </a:rPr>
                <a:t>希望</a:t>
              </a:r>
              <a:r>
                <a:rPr lang="zh-CN" altLang="en-US" dirty="0">
                  <a:latin typeface="微软雅黑" pitchFamily="34" charset="-122"/>
                  <a:ea typeface="微软雅黑" pitchFamily="34" charset="-122"/>
                </a:rPr>
                <a:t>能多多少少提升你的</a:t>
              </a:r>
              <a:r>
                <a:rPr lang="zh-CN" altLang="en-US" b="1" dirty="0">
                  <a:solidFill>
                    <a:srgbClr val="06ACDE"/>
                  </a:solidFill>
                  <a:latin typeface="微软雅黑" pitchFamily="34" charset="-122"/>
                  <a:ea typeface="微软雅黑" pitchFamily="34" charset="-122"/>
                </a:rPr>
                <a:t>生活</a:t>
              </a:r>
              <a:r>
                <a:rPr lang="zh-CN" altLang="en-US" dirty="0">
                  <a:latin typeface="微软雅黑" pitchFamily="34" charset="-122"/>
                  <a:ea typeface="微软雅黑" pitchFamily="34" charset="-122"/>
                </a:rPr>
                <a:t>的</a:t>
              </a:r>
              <a:r>
                <a:rPr lang="zh-CN" altLang="en-US" dirty="0" smtClean="0">
                  <a:latin typeface="微软雅黑" pitchFamily="34" charset="-122"/>
                  <a:ea typeface="微软雅黑" pitchFamily="34" charset="-122"/>
                </a:rPr>
                <a:t>质量。</a:t>
              </a:r>
              <a:endParaRPr lang="zh-CN" altLang="en-US" dirty="0">
                <a:latin typeface="微软雅黑" pitchFamily="34" charset="-122"/>
                <a:ea typeface="微软雅黑" pitchFamily="34" charset="-122"/>
              </a:endParaRPr>
            </a:p>
          </p:txBody>
        </p:sp>
      </p:grpSp>
      <p:grpSp>
        <p:nvGrpSpPr>
          <p:cNvPr id="7" name="组合 6"/>
          <p:cNvGrpSpPr/>
          <p:nvPr/>
        </p:nvGrpSpPr>
        <p:grpSpPr>
          <a:xfrm>
            <a:off x="3920490" y="1240022"/>
            <a:ext cx="1644906" cy="624968"/>
            <a:chOff x="3395428" y="175"/>
            <a:chExt cx="1303020" cy="624968"/>
          </a:xfrm>
        </p:grpSpPr>
        <p:sp>
          <p:nvSpPr>
            <p:cNvPr id="8" name="圆角矩形 7"/>
            <p:cNvSpPr/>
            <p:nvPr/>
          </p:nvSpPr>
          <p:spPr>
            <a:xfrm>
              <a:off x="3395428" y="175"/>
              <a:ext cx="1303020" cy="624968"/>
            </a:xfrm>
            <a:prstGeom prst="roundRect">
              <a:avLst/>
            </a:prstGeom>
          </p:spPr>
          <p:style>
            <a:lnRef idx="3">
              <a:schemeClr val="lt1">
                <a:hueOff val="0"/>
                <a:satOff val="0"/>
                <a:lumOff val="0"/>
                <a:alphaOff val="0"/>
              </a:schemeClr>
            </a:lnRef>
            <a:fillRef idx="1">
              <a:schemeClr val="accent1">
                <a:shade val="80000"/>
                <a:hueOff val="0"/>
                <a:satOff val="0"/>
                <a:lumOff val="0"/>
                <a:alphaOff val="0"/>
              </a:schemeClr>
            </a:fillRef>
            <a:effectRef idx="1">
              <a:schemeClr val="accent1">
                <a:shade val="80000"/>
                <a:hueOff val="0"/>
                <a:satOff val="0"/>
                <a:lumOff val="0"/>
                <a:alphaOff val="0"/>
              </a:schemeClr>
            </a:effectRef>
            <a:fontRef idx="minor">
              <a:schemeClr val="lt1"/>
            </a:fontRef>
          </p:style>
        </p:sp>
        <p:sp>
          <p:nvSpPr>
            <p:cNvPr id="9" name="圆角矩形 4"/>
            <p:cNvSpPr/>
            <p:nvPr/>
          </p:nvSpPr>
          <p:spPr>
            <a:xfrm>
              <a:off x="3425936" y="30683"/>
              <a:ext cx="1242004" cy="5639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600" b="1" kern="1200" dirty="0" smtClean="0">
                  <a:latin typeface="微软雅黑" pitchFamily="34" charset="-122"/>
                  <a:ea typeface="微软雅黑" pitchFamily="34" charset="-122"/>
                </a:rPr>
                <a:t>思考的质量</a:t>
              </a:r>
              <a:endParaRPr lang="zh-CN" altLang="en-US" sz="1600" b="1" kern="1200" dirty="0">
                <a:latin typeface="微软雅黑" pitchFamily="34" charset="-122"/>
                <a:ea typeface="微软雅黑" pitchFamily="34" charset="-122"/>
              </a:endParaRPr>
            </a:p>
          </p:txBody>
        </p:sp>
      </p:grpSp>
      <p:grpSp>
        <p:nvGrpSpPr>
          <p:cNvPr id="10" name="组合 9"/>
          <p:cNvGrpSpPr/>
          <p:nvPr/>
        </p:nvGrpSpPr>
        <p:grpSpPr>
          <a:xfrm>
            <a:off x="1619672" y="2657078"/>
            <a:ext cx="1512168" cy="624968"/>
            <a:chOff x="2590577" y="1236043"/>
            <a:chExt cx="1197871" cy="624968"/>
          </a:xfrm>
        </p:grpSpPr>
        <p:sp>
          <p:nvSpPr>
            <p:cNvPr id="11" name="圆角矩形 10"/>
            <p:cNvSpPr/>
            <p:nvPr/>
          </p:nvSpPr>
          <p:spPr>
            <a:xfrm>
              <a:off x="2590577" y="1236043"/>
              <a:ext cx="1197871" cy="624968"/>
            </a:xfrm>
            <a:prstGeom prst="roundRect">
              <a:avLst/>
            </a:prstGeom>
            <a:solidFill>
              <a:srgbClr val="002060"/>
            </a:solidFill>
          </p:spPr>
          <p:style>
            <a:lnRef idx="3">
              <a:schemeClr val="lt1">
                <a:hueOff val="0"/>
                <a:satOff val="0"/>
                <a:lumOff val="0"/>
                <a:alphaOff val="0"/>
              </a:schemeClr>
            </a:lnRef>
            <a:fillRef idx="1">
              <a:scrgbClr r="0" g="0" b="0"/>
            </a:fillRef>
            <a:effectRef idx="1">
              <a:schemeClr val="accent1">
                <a:shade val="80000"/>
                <a:hueOff val="306246"/>
                <a:satOff val="-4392"/>
                <a:lumOff val="25615"/>
                <a:alphaOff val="0"/>
              </a:schemeClr>
            </a:effectRef>
            <a:fontRef idx="minor">
              <a:schemeClr val="lt1"/>
            </a:fontRef>
          </p:style>
        </p:sp>
        <p:sp>
          <p:nvSpPr>
            <p:cNvPr id="12" name="圆角矩形 4"/>
            <p:cNvSpPr/>
            <p:nvPr/>
          </p:nvSpPr>
          <p:spPr>
            <a:xfrm>
              <a:off x="2621085" y="1266551"/>
              <a:ext cx="1136855" cy="5639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600" b="1" kern="1200" dirty="0" smtClean="0">
                  <a:latin typeface="微软雅黑" pitchFamily="34" charset="-122"/>
                  <a:ea typeface="微软雅黑" pitchFamily="34" charset="-122"/>
                </a:rPr>
                <a:t>生活的质量</a:t>
              </a:r>
              <a:endParaRPr lang="zh-CN" altLang="en-US" sz="1600" b="1" kern="1200" dirty="0">
                <a:latin typeface="微软雅黑" pitchFamily="34" charset="-122"/>
                <a:ea typeface="微软雅黑" pitchFamily="34" charset="-122"/>
              </a:endParaRPr>
            </a:p>
          </p:txBody>
        </p:sp>
      </p:grpSp>
      <p:grpSp>
        <p:nvGrpSpPr>
          <p:cNvPr id="13" name="组合 12"/>
          <p:cNvGrpSpPr/>
          <p:nvPr/>
        </p:nvGrpSpPr>
        <p:grpSpPr>
          <a:xfrm>
            <a:off x="6024379" y="2657078"/>
            <a:ext cx="1620801" cy="624968"/>
            <a:chOff x="4309625" y="1276970"/>
            <a:chExt cx="1283925" cy="624968"/>
          </a:xfrm>
        </p:grpSpPr>
        <p:sp>
          <p:nvSpPr>
            <p:cNvPr id="14" name="圆角矩形 13"/>
            <p:cNvSpPr/>
            <p:nvPr/>
          </p:nvSpPr>
          <p:spPr>
            <a:xfrm>
              <a:off x="4309625" y="1276970"/>
              <a:ext cx="1283925" cy="624968"/>
            </a:xfrm>
            <a:prstGeom prst="roundRect">
              <a:avLst/>
            </a:prstGeom>
            <a:solidFill>
              <a:schemeClr val="accent5">
                <a:lumMod val="75000"/>
              </a:schemeClr>
            </a:solidFill>
          </p:spPr>
          <p:style>
            <a:lnRef idx="3">
              <a:schemeClr val="lt1">
                <a:hueOff val="0"/>
                <a:satOff val="0"/>
                <a:lumOff val="0"/>
                <a:alphaOff val="0"/>
              </a:schemeClr>
            </a:lnRef>
            <a:fillRef idx="1">
              <a:scrgbClr r="0" g="0" b="0"/>
            </a:fillRef>
            <a:effectRef idx="1">
              <a:schemeClr val="accent1">
                <a:shade val="80000"/>
                <a:hueOff val="153123"/>
                <a:satOff val="-2196"/>
                <a:lumOff val="12807"/>
                <a:alphaOff val="0"/>
              </a:schemeClr>
            </a:effectRef>
            <a:fontRef idx="minor">
              <a:schemeClr val="lt1"/>
            </a:fontRef>
          </p:style>
        </p:sp>
        <p:sp>
          <p:nvSpPr>
            <p:cNvPr id="15" name="圆角矩形 4"/>
            <p:cNvSpPr/>
            <p:nvPr/>
          </p:nvSpPr>
          <p:spPr>
            <a:xfrm>
              <a:off x="4340133" y="1307478"/>
              <a:ext cx="1222909" cy="5639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zh-CN" altLang="en-US" sz="1600" b="1" kern="1200" dirty="0" smtClean="0">
                  <a:latin typeface="微软雅黑" pitchFamily="34" charset="-122"/>
                  <a:ea typeface="微软雅黑" pitchFamily="34" charset="-122"/>
                </a:rPr>
                <a:t>决策的质量</a:t>
              </a:r>
              <a:endParaRPr lang="zh-CN" altLang="en-US" sz="1600" b="1" kern="1200" dirty="0">
                <a:latin typeface="微软雅黑" pitchFamily="34" charset="-122"/>
                <a:ea typeface="微软雅黑" pitchFamily="34" charset="-122"/>
              </a:endParaRPr>
            </a:p>
          </p:txBody>
        </p:sp>
      </p:grpSp>
      <p:sp>
        <p:nvSpPr>
          <p:cNvPr id="19" name="虚尾箭头 18"/>
          <p:cNvSpPr/>
          <p:nvPr/>
        </p:nvSpPr>
        <p:spPr>
          <a:xfrm rot="2177186">
            <a:off x="5609926" y="1948100"/>
            <a:ext cx="1377527" cy="318960"/>
          </a:xfrm>
          <a:prstGeom prst="striped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虚尾箭头 20"/>
          <p:cNvSpPr/>
          <p:nvPr/>
        </p:nvSpPr>
        <p:spPr>
          <a:xfrm rot="10800000">
            <a:off x="3820535" y="2924958"/>
            <a:ext cx="1903593" cy="318961"/>
          </a:xfrm>
          <a:prstGeom prst="striped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虚尾箭头 21"/>
          <p:cNvSpPr/>
          <p:nvPr/>
        </p:nvSpPr>
        <p:spPr>
          <a:xfrm rot="19541998">
            <a:off x="2452533" y="1899431"/>
            <a:ext cx="1377527" cy="318960"/>
          </a:xfrm>
          <a:prstGeom prst="striped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rot="2112493">
            <a:off x="5977770" y="1971448"/>
            <a:ext cx="771889" cy="338554"/>
          </a:xfrm>
          <a:prstGeom prst="rect">
            <a:avLst/>
          </a:prstGeom>
          <a:noFill/>
        </p:spPr>
        <p:txBody>
          <a:bodyPr wrap="square" rtlCol="0">
            <a:spAutoFit/>
          </a:bodyPr>
          <a:lstStyle>
            <a:defPPr>
              <a:defRPr lang="zh-CN"/>
            </a:defPPr>
            <a:lvl1pPr>
              <a:defRPr sz="1600" b="1">
                <a:solidFill>
                  <a:schemeClr val="bg1"/>
                </a:solidFill>
                <a:latin typeface="微软雅黑" panose="020B0503020204020204" pitchFamily="34" charset="-122"/>
                <a:ea typeface="微软雅黑" panose="020B0503020204020204" pitchFamily="34" charset="-122"/>
              </a:defRPr>
            </a:lvl1pPr>
          </a:lstStyle>
          <a:p>
            <a:r>
              <a:rPr lang="zh-CN" altLang="en-US" dirty="0"/>
              <a:t>影响</a:t>
            </a:r>
          </a:p>
        </p:txBody>
      </p:sp>
      <p:sp>
        <p:nvSpPr>
          <p:cNvPr id="23" name="TextBox 22"/>
          <p:cNvSpPr txBox="1"/>
          <p:nvPr/>
        </p:nvSpPr>
        <p:spPr>
          <a:xfrm>
            <a:off x="4542842" y="2900088"/>
            <a:ext cx="771889"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影响</a:t>
            </a:r>
          </a:p>
        </p:txBody>
      </p:sp>
      <p:sp>
        <p:nvSpPr>
          <p:cNvPr id="24" name="TextBox 23"/>
          <p:cNvSpPr txBox="1"/>
          <p:nvPr/>
        </p:nvSpPr>
        <p:spPr>
          <a:xfrm rot="19487122">
            <a:off x="2825507" y="1850743"/>
            <a:ext cx="771889" cy="338554"/>
          </a:xfrm>
          <a:prstGeom prst="rect">
            <a:avLst/>
          </a:prstGeom>
          <a:noFill/>
        </p:spPr>
        <p:txBody>
          <a:bodyPr wrap="square" rtlCol="0">
            <a:spAutoFit/>
          </a:bodyPr>
          <a:lstStyle/>
          <a:p>
            <a:r>
              <a:rPr lang="zh-CN" altLang="en-US" sz="1600" b="1" dirty="0" smtClean="0">
                <a:solidFill>
                  <a:schemeClr val="bg1"/>
                </a:solidFill>
                <a:latin typeface="微软雅黑" panose="020B0503020204020204" pitchFamily="34" charset="-122"/>
                <a:ea typeface="微软雅黑" panose="020B0503020204020204" pitchFamily="34" charset="-122"/>
              </a:rPr>
              <a:t>影响</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915402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12" y="-121406"/>
            <a:ext cx="9396536" cy="5264906"/>
          </a:xfrm>
          <a:prstGeom prst="rect">
            <a:avLst/>
          </a:prstGeom>
          <a:solidFill>
            <a:srgbClr val="06ABD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771800" y="1635646"/>
            <a:ext cx="5256584" cy="2062103"/>
          </a:xfrm>
          <a:prstGeom prst="rect">
            <a:avLst/>
          </a:prstGeom>
          <a:noFill/>
        </p:spPr>
        <p:txBody>
          <a:bodyPr wrap="square" rtlCol="0">
            <a:spAutoFit/>
          </a:bodyPr>
          <a:lstStyle/>
          <a:p>
            <a:r>
              <a:rPr lang="zh-CN" altLang="en-US" sz="3200" b="1" dirty="0">
                <a:solidFill>
                  <a:schemeClr val="bg1"/>
                </a:solidFill>
                <a:latin typeface="微软雅黑" pitchFamily="34" charset="-122"/>
                <a:ea typeface="微软雅黑" pitchFamily="34" charset="-122"/>
              </a:rPr>
              <a:t>一</a:t>
            </a:r>
            <a:r>
              <a:rPr lang="zh-CN" altLang="en-US" sz="3200" b="1" dirty="0" smtClean="0">
                <a:solidFill>
                  <a:schemeClr val="bg1"/>
                </a:solidFill>
                <a:latin typeface="微软雅黑" pitchFamily="34" charset="-122"/>
                <a:ea typeface="微软雅黑" pitchFamily="34" charset="-122"/>
              </a:rPr>
              <a:t>、一些</a:t>
            </a:r>
            <a:r>
              <a:rPr lang="zh-CN" altLang="en-US" sz="3200" b="1" dirty="0">
                <a:solidFill>
                  <a:schemeClr val="bg1"/>
                </a:solidFill>
                <a:latin typeface="微软雅黑" pitchFamily="34" charset="-122"/>
                <a:ea typeface="微软雅黑" pitchFamily="34" charset="-122"/>
              </a:rPr>
              <a:t>名词</a:t>
            </a:r>
            <a:r>
              <a:rPr lang="zh-CN" altLang="en-US" sz="3200" b="1" dirty="0" smtClean="0">
                <a:solidFill>
                  <a:schemeClr val="bg1"/>
                </a:solidFill>
                <a:latin typeface="微软雅黑" pitchFamily="34" charset="-122"/>
                <a:ea typeface="微软雅黑" pitchFamily="34" charset="-122"/>
              </a:rPr>
              <a:t>解释</a:t>
            </a:r>
            <a:endParaRPr lang="en-US" altLang="zh-CN" sz="3200" b="1" dirty="0" smtClean="0">
              <a:solidFill>
                <a:schemeClr val="bg1"/>
              </a:solidFill>
              <a:latin typeface="微软雅黑" pitchFamily="34" charset="-122"/>
              <a:ea typeface="微软雅黑" pitchFamily="34" charset="-122"/>
            </a:endParaRPr>
          </a:p>
          <a:p>
            <a:endParaRPr lang="en-US" altLang="zh-CN" sz="3200" b="1" dirty="0" smtClean="0">
              <a:solidFill>
                <a:schemeClr val="bg1"/>
              </a:solidFill>
              <a:latin typeface="微软雅黑" pitchFamily="34" charset="-122"/>
              <a:ea typeface="微软雅黑" pitchFamily="34" charset="-122"/>
            </a:endParaRPr>
          </a:p>
          <a:p>
            <a:endParaRPr lang="en-US" altLang="zh-CN" sz="3200" b="1" dirty="0">
              <a:solidFill>
                <a:schemeClr val="bg1"/>
              </a:solidFill>
              <a:latin typeface="微软雅黑" pitchFamily="34" charset="-122"/>
              <a:ea typeface="微软雅黑" pitchFamily="34" charset="-122"/>
            </a:endParaRPr>
          </a:p>
          <a:p>
            <a:r>
              <a:rPr lang="zh-CN" altLang="en-US" sz="3200" b="1" dirty="0">
                <a:solidFill>
                  <a:schemeClr val="bg1"/>
                </a:solidFill>
                <a:latin typeface="微软雅黑" pitchFamily="34" charset="-122"/>
                <a:ea typeface="微软雅黑" pitchFamily="34" charset="-122"/>
              </a:rPr>
              <a:t>二</a:t>
            </a:r>
            <a:r>
              <a:rPr lang="zh-CN" altLang="en-US" sz="3200" b="1" dirty="0" smtClean="0">
                <a:solidFill>
                  <a:schemeClr val="bg1"/>
                </a:solidFill>
                <a:latin typeface="微软雅黑" pitchFamily="34" charset="-122"/>
                <a:ea typeface="微软雅黑" pitchFamily="34" charset="-122"/>
              </a:rPr>
              <a:t>、非</a:t>
            </a:r>
            <a:r>
              <a:rPr lang="zh-CN" altLang="en-US" sz="3200" b="1" dirty="0">
                <a:solidFill>
                  <a:schemeClr val="bg1"/>
                </a:solidFill>
                <a:latin typeface="微软雅黑" pitchFamily="34" charset="-122"/>
                <a:ea typeface="微软雅黑" pitchFamily="34" charset="-122"/>
              </a:rPr>
              <a:t>形式谬误</a:t>
            </a:r>
          </a:p>
        </p:txBody>
      </p:sp>
      <p:grpSp>
        <p:nvGrpSpPr>
          <p:cNvPr id="4" name="组合 3"/>
          <p:cNvGrpSpPr/>
          <p:nvPr/>
        </p:nvGrpSpPr>
        <p:grpSpPr>
          <a:xfrm rot="5400000">
            <a:off x="2095314" y="1801228"/>
            <a:ext cx="488874" cy="432046"/>
            <a:chOff x="683568" y="36003"/>
            <a:chExt cx="900100" cy="432046"/>
          </a:xfrm>
        </p:grpSpPr>
        <p:sp>
          <p:nvSpPr>
            <p:cNvPr id="5" name="等腰三角形 4"/>
            <p:cNvSpPr/>
            <p:nvPr userDrawn="1"/>
          </p:nvSpPr>
          <p:spPr>
            <a:xfrm rot="5400000">
              <a:off x="593559" y="126012"/>
              <a:ext cx="432046" cy="252028"/>
            </a:xfrm>
            <a:prstGeom prst="triangle">
              <a:avLst/>
            </a:prstGeom>
            <a:solidFill>
              <a:srgbClr val="F1FDA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userDrawn="1"/>
          </p:nvSpPr>
          <p:spPr>
            <a:xfrm rot="5400000">
              <a:off x="1241631" y="126012"/>
              <a:ext cx="432046" cy="252028"/>
            </a:xfrm>
            <a:prstGeom prst="triangle">
              <a:avLst/>
            </a:prstGeom>
            <a:solidFill>
              <a:srgbClr val="F1FDA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rot="5400000">
              <a:off x="917595" y="126012"/>
              <a:ext cx="432046" cy="252028"/>
            </a:xfrm>
            <a:prstGeom prst="triangle">
              <a:avLst/>
            </a:prstGeom>
            <a:solidFill>
              <a:srgbClr val="F1FDA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rot="5400000">
            <a:off x="2136488" y="3241388"/>
            <a:ext cx="488874" cy="432046"/>
            <a:chOff x="683568" y="36003"/>
            <a:chExt cx="900100" cy="432046"/>
          </a:xfrm>
        </p:grpSpPr>
        <p:sp>
          <p:nvSpPr>
            <p:cNvPr id="9" name="等腰三角形 8"/>
            <p:cNvSpPr/>
            <p:nvPr userDrawn="1"/>
          </p:nvSpPr>
          <p:spPr>
            <a:xfrm rot="5400000">
              <a:off x="593559" y="126012"/>
              <a:ext cx="432046" cy="252028"/>
            </a:xfrm>
            <a:prstGeom prst="triangle">
              <a:avLst/>
            </a:prstGeom>
            <a:solidFill>
              <a:srgbClr val="F1FDA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rot="5400000">
              <a:off x="1241631" y="126012"/>
              <a:ext cx="432046" cy="252028"/>
            </a:xfrm>
            <a:prstGeom prst="triangle">
              <a:avLst/>
            </a:prstGeom>
            <a:solidFill>
              <a:srgbClr val="F1FDA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rot="5400000">
              <a:off x="917595" y="126012"/>
              <a:ext cx="432046" cy="252028"/>
            </a:xfrm>
            <a:prstGeom prst="triangle">
              <a:avLst/>
            </a:prstGeom>
            <a:solidFill>
              <a:srgbClr val="F1FDA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6176294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19672" y="483518"/>
            <a:ext cx="3211135" cy="523220"/>
          </a:xfrm>
          <a:prstGeom prst="rect">
            <a:avLst/>
          </a:prstGeom>
        </p:spPr>
        <p:txBody>
          <a:bodyPr wrap="none">
            <a:spAutoFit/>
          </a:bodyPr>
          <a:lstStyle/>
          <a:p>
            <a:r>
              <a:rPr lang="zh-CN" altLang="en-US" sz="2800" b="1" spc="150" dirty="0">
                <a:solidFill>
                  <a:schemeClr val="bg1"/>
                </a:solidFill>
                <a:latin typeface="微软雅黑" pitchFamily="34" charset="-122"/>
                <a:ea typeface="微软雅黑" pitchFamily="34" charset="-122"/>
              </a:rPr>
              <a:t>一、一些名词解释</a:t>
            </a:r>
          </a:p>
        </p:txBody>
      </p:sp>
      <p:pic>
        <p:nvPicPr>
          <p:cNvPr id="7170" name="Picture 2" descr="c:\DOCUME~1\ADMINI~1\APPLIC~1\360se6\USERDA~1\Temp\C09DF0~1.JPG"/>
          <p:cNvPicPr>
            <a:picLocks noChangeAspect="1" noChangeArrowheads="1"/>
          </p:cNvPicPr>
          <p:nvPr/>
        </p:nvPicPr>
        <p:blipFill rotWithShape="1">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71398" t="49998" r="7035" b="5940"/>
          <a:stretch/>
        </p:blipFill>
        <p:spPr bwMode="auto">
          <a:xfrm flipH="1">
            <a:off x="971600" y="2491754"/>
            <a:ext cx="1252104" cy="2096219"/>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E:\PPT\暴走漫画全部素材\暴走漫画全部素材\%KCMK]ZSEL13)_8J8ZX2~M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1491630"/>
            <a:ext cx="1123950" cy="1000125"/>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755576" y="2491755"/>
            <a:ext cx="1944216" cy="20962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55576" y="1491630"/>
            <a:ext cx="1944216" cy="1000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云形标注 6"/>
          <p:cNvSpPr/>
          <p:nvPr/>
        </p:nvSpPr>
        <p:spPr>
          <a:xfrm>
            <a:off x="3563888" y="1491630"/>
            <a:ext cx="2298964" cy="1368152"/>
          </a:xfrm>
          <a:prstGeom prst="cloudCallout">
            <a:avLst>
              <a:gd name="adj1" fmla="val -81367"/>
              <a:gd name="adj2" fmla="val 10088"/>
            </a:avLst>
          </a:prstGeom>
          <a:noFill/>
          <a:ln w="15875">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云形标注 7"/>
          <p:cNvSpPr/>
          <p:nvPr/>
        </p:nvSpPr>
        <p:spPr>
          <a:xfrm>
            <a:off x="3635895" y="3039802"/>
            <a:ext cx="2508495" cy="1404156"/>
          </a:xfrm>
          <a:prstGeom prst="cloudCallout">
            <a:avLst>
              <a:gd name="adj1" fmla="val -78303"/>
              <a:gd name="adj2" fmla="val 12581"/>
            </a:avLst>
          </a:prstGeom>
          <a:noFill/>
          <a:ln w="15875">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3822695" y="3499143"/>
            <a:ext cx="2261473" cy="584775"/>
          </a:xfrm>
          <a:prstGeom prst="rect">
            <a:avLst/>
          </a:prstGeom>
          <a:noFill/>
        </p:spPr>
        <p:txBody>
          <a:bodyPr wrap="square" rtlCol="0">
            <a:spAutoFit/>
          </a:bodyPr>
          <a:lstStyle/>
          <a:p>
            <a:pPr algn="ctr"/>
            <a:r>
              <a:rPr lang="zh-CN" altLang="en-US" sz="1600" dirty="0" smtClean="0">
                <a:latin typeface="微软雅黑" pitchFamily="34" charset="-122"/>
                <a:ea typeface="微软雅黑" pitchFamily="34" charset="-122"/>
              </a:rPr>
              <a:t>我支持你，</a:t>
            </a:r>
            <a:endParaRPr lang="en-US" altLang="zh-CN" sz="1600" dirty="0" smtClean="0">
              <a:latin typeface="微软雅黑" pitchFamily="34" charset="-122"/>
              <a:ea typeface="微软雅黑" pitchFamily="34" charset="-122"/>
            </a:endParaRPr>
          </a:p>
          <a:p>
            <a:pPr algn="ctr"/>
            <a:r>
              <a:rPr lang="zh-CN" altLang="en-US" sz="1600" dirty="0" smtClean="0">
                <a:latin typeface="微软雅黑" pitchFamily="34" charset="-122"/>
                <a:ea typeface="微软雅黑" pitchFamily="34" charset="-122"/>
              </a:rPr>
              <a:t>我是你的“</a:t>
            </a:r>
            <a:r>
              <a:rPr lang="zh-CN" altLang="en-US" sz="1600" b="1" dirty="0" smtClean="0">
                <a:latin typeface="微软雅黑" pitchFamily="34" charset="-122"/>
                <a:ea typeface="微软雅黑" pitchFamily="34" charset="-122"/>
              </a:rPr>
              <a:t>前提”</a:t>
            </a:r>
            <a:endParaRPr lang="zh-CN" altLang="en-US" sz="1600" b="1" dirty="0">
              <a:latin typeface="微软雅黑" pitchFamily="34" charset="-122"/>
              <a:ea typeface="微软雅黑" pitchFamily="34" charset="-122"/>
            </a:endParaRPr>
          </a:p>
        </p:txBody>
      </p:sp>
      <p:sp>
        <p:nvSpPr>
          <p:cNvPr id="10" name="TextBox 9"/>
          <p:cNvSpPr txBox="1"/>
          <p:nvPr/>
        </p:nvSpPr>
        <p:spPr>
          <a:xfrm>
            <a:off x="3635896" y="1740753"/>
            <a:ext cx="2261473" cy="830997"/>
          </a:xfrm>
          <a:prstGeom prst="rect">
            <a:avLst/>
          </a:prstGeom>
          <a:noFill/>
        </p:spPr>
        <p:txBody>
          <a:bodyPr wrap="square" rtlCol="0">
            <a:spAutoFit/>
          </a:bodyPr>
          <a:lstStyle/>
          <a:p>
            <a:pPr algn="ctr"/>
            <a:r>
              <a:rPr lang="zh-CN" altLang="en-US" sz="1600" dirty="0" smtClean="0">
                <a:latin typeface="微软雅黑" pitchFamily="34" charset="-122"/>
                <a:ea typeface="微软雅黑" pitchFamily="34" charset="-122"/>
              </a:rPr>
              <a:t>我是主张，</a:t>
            </a:r>
            <a:endParaRPr lang="en-US" altLang="zh-CN" sz="1600" dirty="0" smtClean="0">
              <a:latin typeface="微软雅黑" pitchFamily="34" charset="-122"/>
              <a:ea typeface="微软雅黑" pitchFamily="34" charset="-122"/>
            </a:endParaRPr>
          </a:p>
          <a:p>
            <a:pPr algn="ctr"/>
            <a:r>
              <a:rPr lang="zh-CN" altLang="en-US" sz="1600" dirty="0" smtClean="0">
                <a:latin typeface="微软雅黑" pitchFamily="34" charset="-122"/>
                <a:ea typeface="微软雅黑" pitchFamily="34" charset="-122"/>
              </a:rPr>
              <a:t>在前提的支持下，</a:t>
            </a:r>
            <a:endParaRPr lang="en-US" altLang="zh-CN" sz="1600" dirty="0" smtClean="0">
              <a:latin typeface="微软雅黑" pitchFamily="34" charset="-122"/>
              <a:ea typeface="微软雅黑" pitchFamily="34" charset="-122"/>
            </a:endParaRPr>
          </a:p>
          <a:p>
            <a:pPr algn="ctr"/>
            <a:r>
              <a:rPr lang="zh-CN" altLang="en-US" sz="1600" dirty="0" smtClean="0">
                <a:latin typeface="微软雅黑" pitchFamily="34" charset="-122"/>
                <a:ea typeface="微软雅黑" pitchFamily="34" charset="-122"/>
              </a:rPr>
              <a:t>我就变身“</a:t>
            </a:r>
            <a:r>
              <a:rPr lang="zh-CN" altLang="en-US" sz="1600" b="1" dirty="0" smtClean="0">
                <a:latin typeface="微软雅黑" pitchFamily="34" charset="-122"/>
                <a:ea typeface="微软雅黑" pitchFamily="34" charset="-122"/>
              </a:rPr>
              <a:t>结论</a:t>
            </a:r>
            <a:r>
              <a:rPr lang="zh-CN" altLang="en-US" sz="1600" dirty="0" smtClean="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
        <p:nvSpPr>
          <p:cNvPr id="9" name="矩形 8"/>
          <p:cNvSpPr/>
          <p:nvPr/>
        </p:nvSpPr>
        <p:spPr>
          <a:xfrm>
            <a:off x="6732240" y="1923678"/>
            <a:ext cx="1512168" cy="2308324"/>
          </a:xfrm>
          <a:prstGeom prst="rect">
            <a:avLst/>
          </a:prstGeom>
          <a:noFill/>
          <a:ln w="28575">
            <a:noFill/>
            <a:prstDash val="sysDot"/>
          </a:ln>
        </p:spPr>
        <p:txBody>
          <a:bodyPr wrap="square">
            <a:spAutoFit/>
          </a:bodyPr>
          <a:lstStyle/>
          <a:p>
            <a:pPr>
              <a:lnSpc>
                <a:spcPct val="120000"/>
              </a:lnSpc>
            </a:pPr>
            <a:endParaRPr lang="en-US" altLang="zh-CN" sz="2000" dirty="0" smtClean="0">
              <a:latin typeface="微软雅黑" pitchFamily="34" charset="-122"/>
              <a:ea typeface="微软雅黑" pitchFamily="34" charset="-122"/>
            </a:endParaRPr>
          </a:p>
          <a:p>
            <a:pPr>
              <a:lnSpc>
                <a:spcPct val="120000"/>
              </a:lnSpc>
            </a:pPr>
            <a:r>
              <a:rPr lang="zh-CN" altLang="en-US" sz="2000" dirty="0" smtClean="0">
                <a:latin typeface="微软雅黑" pitchFamily="34" charset="-122"/>
                <a:ea typeface="微软雅黑" pitchFamily="34" charset="-122"/>
              </a:rPr>
              <a:t>当前提为主张</a:t>
            </a:r>
            <a:r>
              <a:rPr lang="zh-CN" altLang="en-US" sz="2000" dirty="0">
                <a:latin typeface="微软雅黑" pitchFamily="34" charset="-122"/>
                <a:ea typeface="微软雅黑" pitchFamily="34" charset="-122"/>
              </a:rPr>
              <a:t>提供支持时，我们便</a:t>
            </a:r>
            <a:r>
              <a:rPr lang="zh-CN" altLang="en-US" sz="2000" dirty="0" smtClean="0">
                <a:latin typeface="微软雅黑" pitchFamily="34" charset="-122"/>
                <a:ea typeface="微软雅黑" pitchFamily="34" charset="-122"/>
              </a:rPr>
              <a:t>有了</a:t>
            </a:r>
            <a:r>
              <a:rPr lang="zh-CN" altLang="en-US" sz="2000" b="1" dirty="0" smtClean="0">
                <a:solidFill>
                  <a:srgbClr val="06ACDE"/>
                </a:solidFill>
                <a:latin typeface="微软雅黑" pitchFamily="34" charset="-122"/>
                <a:ea typeface="微软雅黑" pitchFamily="34" charset="-122"/>
              </a:rPr>
              <a:t>论证</a:t>
            </a:r>
            <a:r>
              <a:rPr lang="zh-CN" altLang="en-US" sz="2000" dirty="0" smtClean="0">
                <a:latin typeface="微软雅黑" pitchFamily="34" charset="-122"/>
                <a:ea typeface="微软雅黑" pitchFamily="34" charset="-122"/>
              </a:rPr>
              <a:t>。</a:t>
            </a:r>
            <a:endParaRPr lang="en-US" altLang="zh-CN" sz="2000" dirty="0" smtClean="0">
              <a:latin typeface="微软雅黑" pitchFamily="34" charset="-122"/>
              <a:ea typeface="微软雅黑" pitchFamily="34" charset="-122"/>
            </a:endParaRPr>
          </a:p>
          <a:p>
            <a:pPr>
              <a:lnSpc>
                <a:spcPct val="120000"/>
              </a:lnSpc>
            </a:pPr>
            <a:endParaRPr lang="zh-CN" altLang="en-US" sz="2000" dirty="0">
              <a:latin typeface="微软雅黑" pitchFamily="34" charset="-122"/>
              <a:ea typeface="微软雅黑" pitchFamily="34" charset="-122"/>
            </a:endParaRPr>
          </a:p>
        </p:txBody>
      </p:sp>
      <p:sp>
        <p:nvSpPr>
          <p:cNvPr id="13" name="矩形 12"/>
          <p:cNvSpPr/>
          <p:nvPr/>
        </p:nvSpPr>
        <p:spPr>
          <a:xfrm>
            <a:off x="755576" y="1491629"/>
            <a:ext cx="7632848" cy="30963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444208" y="1491629"/>
            <a:ext cx="1944216" cy="30963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972746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19672" y="483518"/>
            <a:ext cx="3211135" cy="523220"/>
          </a:xfrm>
          <a:prstGeom prst="rect">
            <a:avLst/>
          </a:prstGeom>
        </p:spPr>
        <p:txBody>
          <a:bodyPr wrap="none">
            <a:spAutoFit/>
          </a:bodyPr>
          <a:lstStyle/>
          <a:p>
            <a:r>
              <a:rPr lang="zh-CN" altLang="en-US" sz="2800" b="1" spc="150" dirty="0">
                <a:solidFill>
                  <a:schemeClr val="bg1"/>
                </a:solidFill>
                <a:latin typeface="微软雅黑" pitchFamily="34" charset="-122"/>
                <a:ea typeface="微软雅黑" pitchFamily="34" charset="-122"/>
              </a:rPr>
              <a:t>一、一些名词解释</a:t>
            </a:r>
          </a:p>
        </p:txBody>
      </p:sp>
      <p:grpSp>
        <p:nvGrpSpPr>
          <p:cNvPr id="4" name="组合 3"/>
          <p:cNvGrpSpPr/>
          <p:nvPr/>
        </p:nvGrpSpPr>
        <p:grpSpPr>
          <a:xfrm>
            <a:off x="3995936" y="1131590"/>
            <a:ext cx="1224135" cy="1152128"/>
            <a:chOff x="3635896" y="2912690"/>
            <a:chExt cx="1800199" cy="1719110"/>
          </a:xfrm>
        </p:grpSpPr>
        <p:pic>
          <p:nvPicPr>
            <p:cNvPr id="9218" name="Picture 2" descr="E:\PPT\暴走漫画全部素材\暴走漫画全部素材\5U~9020I4N2}C1N`X%D%S{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896" y="2912690"/>
              <a:ext cx="1800199" cy="171911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790108" y="3676902"/>
              <a:ext cx="1385881" cy="459239"/>
            </a:xfrm>
            <a:prstGeom prst="rect">
              <a:avLst/>
            </a:prstGeom>
            <a:noFill/>
          </p:spPr>
          <p:txBody>
            <a:bodyPr wrap="square" rtlCol="0">
              <a:spAutoFit/>
            </a:bodyPr>
            <a:lstStyle/>
            <a:p>
              <a:r>
                <a:rPr lang="zh-CN" altLang="en-US" sz="1400" b="1" dirty="0" smtClean="0">
                  <a:latin typeface="微软雅黑" pitchFamily="34" charset="-122"/>
                  <a:ea typeface="微软雅黑" pitchFamily="34" charset="-122"/>
                </a:rPr>
                <a:t>论证形式</a:t>
              </a:r>
              <a:endParaRPr lang="zh-CN" altLang="en-US" sz="1400" b="1" dirty="0">
                <a:latin typeface="微软雅黑" pitchFamily="34" charset="-122"/>
                <a:ea typeface="微软雅黑" pitchFamily="34" charset="-122"/>
              </a:endParaRPr>
            </a:p>
          </p:txBody>
        </p:sp>
      </p:grpSp>
      <p:cxnSp>
        <p:nvCxnSpPr>
          <p:cNvPr id="9" name="直接连接符 8"/>
          <p:cNvCxnSpPr>
            <a:stCxn id="9218" idx="2"/>
          </p:cNvCxnSpPr>
          <p:nvPr/>
        </p:nvCxnSpPr>
        <p:spPr>
          <a:xfrm flipH="1">
            <a:off x="4608003" y="2283718"/>
            <a:ext cx="1" cy="288032"/>
          </a:xfrm>
          <a:prstGeom prst="line">
            <a:avLst/>
          </a:prstGeom>
        </p:spPr>
        <p:style>
          <a:lnRef idx="2">
            <a:schemeClr val="dk1"/>
          </a:lnRef>
          <a:fillRef idx="0">
            <a:schemeClr val="dk1"/>
          </a:fillRef>
          <a:effectRef idx="1">
            <a:schemeClr val="dk1"/>
          </a:effectRef>
          <a:fontRef idx="minor">
            <a:schemeClr val="tx1"/>
          </a:fontRef>
        </p:style>
      </p:cxnSp>
      <p:grpSp>
        <p:nvGrpSpPr>
          <p:cNvPr id="25" name="组合 24"/>
          <p:cNvGrpSpPr/>
          <p:nvPr/>
        </p:nvGrpSpPr>
        <p:grpSpPr>
          <a:xfrm>
            <a:off x="2411760" y="2560327"/>
            <a:ext cx="4320480" cy="288032"/>
            <a:chOff x="2411760" y="2763524"/>
            <a:chExt cx="4320480" cy="288032"/>
          </a:xfrm>
        </p:grpSpPr>
        <p:cxnSp>
          <p:nvCxnSpPr>
            <p:cNvPr id="6" name="直接连接符 5"/>
            <p:cNvCxnSpPr/>
            <p:nvPr/>
          </p:nvCxnSpPr>
          <p:spPr>
            <a:xfrm>
              <a:off x="2411760" y="2774947"/>
              <a:ext cx="4320480" cy="0"/>
            </a:xfrm>
            <a:prstGeom prst="line">
              <a:avLst/>
            </a:prstGeom>
          </p:spPr>
          <p:style>
            <a:lnRef idx="2">
              <a:schemeClr val="dk1"/>
            </a:lnRef>
            <a:fillRef idx="0">
              <a:schemeClr val="dk1"/>
            </a:fillRef>
            <a:effectRef idx="1">
              <a:schemeClr val="dk1"/>
            </a:effectRef>
            <a:fontRef idx="minor">
              <a:schemeClr val="tx1"/>
            </a:fontRef>
          </p:style>
        </p:cxnSp>
        <p:cxnSp>
          <p:nvCxnSpPr>
            <p:cNvPr id="15" name="直接连接符 14"/>
            <p:cNvCxnSpPr/>
            <p:nvPr/>
          </p:nvCxnSpPr>
          <p:spPr>
            <a:xfrm>
              <a:off x="2411760" y="2763524"/>
              <a:ext cx="0" cy="265187"/>
            </a:xfrm>
            <a:prstGeom prst="line">
              <a:avLst/>
            </a:prstGeom>
          </p:spPr>
          <p:style>
            <a:lnRef idx="2">
              <a:schemeClr val="dk1"/>
            </a:lnRef>
            <a:fillRef idx="0">
              <a:schemeClr val="dk1"/>
            </a:fillRef>
            <a:effectRef idx="1">
              <a:schemeClr val="dk1"/>
            </a:effectRef>
            <a:fontRef idx="minor">
              <a:schemeClr val="tx1"/>
            </a:fontRef>
          </p:style>
        </p:cxnSp>
        <p:cxnSp>
          <p:nvCxnSpPr>
            <p:cNvPr id="16" name="直接连接符 15"/>
            <p:cNvCxnSpPr/>
            <p:nvPr/>
          </p:nvCxnSpPr>
          <p:spPr>
            <a:xfrm>
              <a:off x="6732240" y="2763524"/>
              <a:ext cx="0" cy="288032"/>
            </a:xfrm>
            <a:prstGeom prst="line">
              <a:avLst/>
            </a:prstGeom>
          </p:spPr>
          <p:style>
            <a:lnRef idx="2">
              <a:schemeClr val="dk1"/>
            </a:lnRef>
            <a:fillRef idx="0">
              <a:schemeClr val="dk1"/>
            </a:fillRef>
            <a:effectRef idx="1">
              <a:schemeClr val="dk1"/>
            </a:effectRef>
            <a:fontRef idx="minor">
              <a:schemeClr val="tx1"/>
            </a:fontRef>
          </p:style>
        </p:cxnSp>
      </p:grpSp>
      <p:pic>
        <p:nvPicPr>
          <p:cNvPr id="28" name="Picture 3" descr="E:\PPT\暴走漫画全部素材\暴走漫画全部素材\1PE4TQ5LX@Y0OD~XETKM@9U.jpg"/>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79790" y="2724149"/>
            <a:ext cx="1104900" cy="1057275"/>
          </a:xfrm>
          <a:prstGeom prst="rect">
            <a:avLst/>
          </a:prstGeom>
          <a:noFill/>
          <a:extLst>
            <a:ext uri="{909E8E84-426E-40DD-AFC4-6F175D3DCCD1}">
              <a14:hiddenFill xmlns:a14="http://schemas.microsoft.com/office/drawing/2010/main">
                <a:solidFill>
                  <a:srgbClr val="FFFFFF"/>
                </a:solidFill>
              </a14:hiddenFill>
            </a:ext>
          </a:extLst>
        </p:spPr>
      </p:pic>
      <p:pic>
        <p:nvPicPr>
          <p:cNvPr id="9219" name="Picture 3" descr="E:\PPT\暴走漫画全部素材\暴走漫画全部素材\1PE4TQ5LX@Y0OD~XETKM@9U.jpg"/>
          <p:cNvPicPr>
            <a:picLocks noChangeAspect="1" noChangeArrowheads="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79712" y="2715766"/>
            <a:ext cx="1104900" cy="1057275"/>
          </a:xfrm>
          <a:prstGeom prst="rect">
            <a:avLst/>
          </a:prstGeom>
          <a:noFill/>
          <a:extLst>
            <a:ext uri="{909E8E84-426E-40DD-AFC4-6F175D3DCCD1}">
              <a14:hiddenFill xmlns:a14="http://schemas.microsoft.com/office/drawing/2010/main">
                <a:solidFill>
                  <a:srgbClr val="FFFFFF"/>
                </a:solidFill>
              </a14:hiddenFill>
            </a:ext>
          </a:extLst>
        </p:spPr>
      </p:pic>
      <p:sp>
        <p:nvSpPr>
          <p:cNvPr id="26" name="矩形 25"/>
          <p:cNvSpPr/>
          <p:nvPr/>
        </p:nvSpPr>
        <p:spPr>
          <a:xfrm>
            <a:off x="1104391" y="3859183"/>
            <a:ext cx="2819537" cy="658257"/>
          </a:xfrm>
          <a:prstGeom prst="rect">
            <a:avLst/>
          </a:prstGeom>
        </p:spPr>
        <p:txBody>
          <a:bodyPr wrap="square">
            <a:spAutoFit/>
          </a:bodyPr>
          <a:lstStyle/>
          <a:p>
            <a:pPr algn="ctr">
              <a:lnSpc>
                <a:spcPct val="120000"/>
              </a:lnSpc>
            </a:pPr>
            <a:r>
              <a:rPr lang="zh-CN" altLang="en-US" sz="1600" b="1" dirty="0">
                <a:latin typeface="微软雅黑" pitchFamily="34" charset="-122"/>
                <a:ea typeface="微软雅黑" pitchFamily="34" charset="-122"/>
              </a:rPr>
              <a:t>演绎</a:t>
            </a:r>
            <a:r>
              <a:rPr lang="zh-CN" altLang="en-US" sz="1600" b="1" dirty="0" smtClean="0">
                <a:latin typeface="微软雅黑" pitchFamily="34" charset="-122"/>
                <a:ea typeface="微软雅黑" pitchFamily="34" charset="-122"/>
              </a:rPr>
              <a:t>论证</a:t>
            </a:r>
            <a:endParaRPr lang="en-US" altLang="zh-CN" sz="1600" b="1" dirty="0" smtClean="0">
              <a:latin typeface="微软雅黑" pitchFamily="34" charset="-122"/>
              <a:ea typeface="微软雅黑" pitchFamily="34" charset="-122"/>
            </a:endParaRPr>
          </a:p>
          <a:p>
            <a:pPr algn="ctr">
              <a:lnSpc>
                <a:spcPct val="120000"/>
              </a:lnSpc>
            </a:pPr>
            <a:r>
              <a:rPr lang="zh-CN" altLang="en-US" sz="1600" dirty="0" smtClean="0">
                <a:latin typeface="微软雅黑" pitchFamily="34" charset="-122"/>
                <a:ea typeface="微软雅黑" pitchFamily="34" charset="-122"/>
              </a:rPr>
              <a:t>为</a:t>
            </a:r>
            <a:r>
              <a:rPr lang="zh-CN" altLang="en-US" sz="1600" dirty="0">
                <a:latin typeface="微软雅黑" pitchFamily="34" charset="-122"/>
                <a:ea typeface="微软雅黑" pitchFamily="34" charset="-122"/>
              </a:rPr>
              <a:t>结论提供</a:t>
            </a:r>
            <a:r>
              <a:rPr lang="zh-CN" altLang="en-US" sz="1600" b="1" dirty="0">
                <a:solidFill>
                  <a:schemeClr val="accent6">
                    <a:lumMod val="50000"/>
                  </a:schemeClr>
                </a:solidFill>
                <a:latin typeface="微软雅黑" pitchFamily="34" charset="-122"/>
                <a:ea typeface="微软雅黑" pitchFamily="34" charset="-122"/>
              </a:rPr>
              <a:t>终极性</a:t>
            </a:r>
            <a:r>
              <a:rPr lang="zh-CN" altLang="en-US" sz="1600" dirty="0">
                <a:latin typeface="微软雅黑" pitchFamily="34" charset="-122"/>
                <a:ea typeface="微软雅黑" pitchFamily="34" charset="-122"/>
              </a:rPr>
              <a:t>的支持</a:t>
            </a:r>
          </a:p>
        </p:txBody>
      </p:sp>
      <p:sp>
        <p:nvSpPr>
          <p:cNvPr id="30" name="矩形 29"/>
          <p:cNvSpPr/>
          <p:nvPr/>
        </p:nvSpPr>
        <p:spPr>
          <a:xfrm>
            <a:off x="5220071" y="3882636"/>
            <a:ext cx="2819537" cy="658257"/>
          </a:xfrm>
          <a:prstGeom prst="rect">
            <a:avLst/>
          </a:prstGeom>
        </p:spPr>
        <p:txBody>
          <a:bodyPr wrap="square">
            <a:spAutoFit/>
          </a:bodyPr>
          <a:lstStyle/>
          <a:p>
            <a:pPr algn="ctr">
              <a:lnSpc>
                <a:spcPct val="120000"/>
              </a:lnSpc>
            </a:pPr>
            <a:r>
              <a:rPr lang="zh-CN" altLang="en-US" sz="1600" b="1" dirty="0">
                <a:latin typeface="微软雅黑" pitchFamily="34" charset="-122"/>
                <a:ea typeface="微软雅黑" pitchFamily="34" charset="-122"/>
              </a:rPr>
              <a:t>归纳</a:t>
            </a:r>
            <a:r>
              <a:rPr lang="zh-CN" altLang="en-US" sz="1600" b="1" dirty="0" smtClean="0">
                <a:latin typeface="微软雅黑" pitchFamily="34" charset="-122"/>
                <a:ea typeface="微软雅黑" pitchFamily="34" charset="-122"/>
              </a:rPr>
              <a:t>论证</a:t>
            </a:r>
            <a:endParaRPr lang="en-US" altLang="zh-CN" sz="1600" b="1" dirty="0" smtClean="0">
              <a:latin typeface="微软雅黑" pitchFamily="34" charset="-122"/>
              <a:ea typeface="微软雅黑" pitchFamily="34" charset="-122"/>
            </a:endParaRPr>
          </a:p>
          <a:p>
            <a:pPr algn="ctr">
              <a:lnSpc>
                <a:spcPct val="120000"/>
              </a:lnSpc>
            </a:pPr>
            <a:r>
              <a:rPr lang="zh-CN" altLang="en-US" sz="1600" dirty="0">
                <a:latin typeface="微软雅黑" pitchFamily="34" charset="-122"/>
                <a:ea typeface="微软雅黑" pitchFamily="34" charset="-122"/>
              </a:rPr>
              <a:t>为结论提供</a:t>
            </a:r>
            <a:r>
              <a:rPr lang="zh-CN" altLang="en-US" sz="1600" b="1" dirty="0">
                <a:solidFill>
                  <a:schemeClr val="accent1">
                    <a:lumMod val="75000"/>
                  </a:schemeClr>
                </a:solidFill>
                <a:latin typeface="微软雅黑" pitchFamily="34" charset="-122"/>
                <a:ea typeface="微软雅黑" pitchFamily="34" charset="-122"/>
              </a:rPr>
              <a:t>很可能</a:t>
            </a:r>
            <a:r>
              <a:rPr lang="zh-CN" altLang="en-US" sz="1600" dirty="0">
                <a:latin typeface="微软雅黑" pitchFamily="34" charset="-122"/>
                <a:ea typeface="微软雅黑" pitchFamily="34" charset="-122"/>
              </a:rPr>
              <a:t>的支持 </a:t>
            </a:r>
          </a:p>
        </p:txBody>
      </p:sp>
    </p:spTree>
    <p:extLst>
      <p:ext uri="{BB962C8B-B14F-4D97-AF65-F5344CB8AC3E}">
        <p14:creationId xmlns:p14="http://schemas.microsoft.com/office/powerpoint/2010/main" val="10104236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99992" y="1406093"/>
            <a:ext cx="4393058" cy="1089529"/>
          </a:xfrm>
          <a:prstGeom prst="rect">
            <a:avLst/>
          </a:prstGeom>
          <a:noFill/>
        </p:spPr>
        <p:txBody>
          <a:bodyPr wrap="square" rtlCol="0">
            <a:spAutoFit/>
          </a:bodyPr>
          <a:lstStyle/>
          <a:p>
            <a:pPr>
              <a:lnSpc>
                <a:spcPct val="120000"/>
              </a:lnSpc>
            </a:pPr>
            <a:r>
              <a:rPr lang="zh-CN" altLang="en-US" dirty="0" smtClean="0">
                <a:latin typeface="微软雅黑" pitchFamily="34" charset="-122"/>
                <a:ea typeface="微软雅黑" pitchFamily="34" charset="-122"/>
              </a:rPr>
              <a:t>所有的人都会死。</a:t>
            </a:r>
            <a:endParaRPr lang="en-US" altLang="zh-CN" dirty="0" smtClean="0">
              <a:latin typeface="微软雅黑" pitchFamily="34" charset="-122"/>
              <a:ea typeface="微软雅黑" pitchFamily="34" charset="-122"/>
            </a:endParaRPr>
          </a:p>
          <a:p>
            <a:pPr>
              <a:lnSpc>
                <a:spcPct val="120000"/>
              </a:lnSpc>
            </a:pPr>
            <a:r>
              <a:rPr lang="zh-CN" altLang="en-US" dirty="0" smtClean="0">
                <a:latin typeface="微软雅黑" pitchFamily="34" charset="-122"/>
                <a:ea typeface="微软雅黑" pitchFamily="34" charset="-122"/>
              </a:rPr>
              <a:t>苏格拉底是人。</a:t>
            </a:r>
            <a:endParaRPr lang="en-US" altLang="zh-CN" dirty="0" smtClean="0">
              <a:latin typeface="微软雅黑" pitchFamily="34" charset="-122"/>
              <a:ea typeface="微软雅黑" pitchFamily="34" charset="-122"/>
            </a:endParaRPr>
          </a:p>
          <a:p>
            <a:pPr>
              <a:lnSpc>
                <a:spcPct val="120000"/>
              </a:lnSpc>
            </a:pPr>
            <a:r>
              <a:rPr lang="zh-CN" altLang="en-US" dirty="0" smtClean="0">
                <a:latin typeface="微软雅黑" pitchFamily="34" charset="-122"/>
                <a:ea typeface="微软雅黑" pitchFamily="34" charset="-122"/>
              </a:rPr>
              <a:t>所以，苏格拉底会死。</a:t>
            </a:r>
            <a:endParaRPr lang="zh-CN" altLang="en-US" dirty="0">
              <a:latin typeface="微软雅黑" pitchFamily="34" charset="-122"/>
              <a:ea typeface="微软雅黑" pitchFamily="34" charset="-122"/>
            </a:endParaRPr>
          </a:p>
        </p:txBody>
      </p:sp>
      <p:sp>
        <p:nvSpPr>
          <p:cNvPr id="3" name="TextBox 2"/>
          <p:cNvSpPr txBox="1"/>
          <p:nvPr/>
        </p:nvSpPr>
        <p:spPr>
          <a:xfrm>
            <a:off x="4572000" y="3580758"/>
            <a:ext cx="4393058" cy="757130"/>
          </a:xfrm>
          <a:prstGeom prst="rect">
            <a:avLst/>
          </a:prstGeom>
          <a:noFill/>
        </p:spPr>
        <p:txBody>
          <a:bodyPr wrap="square" rtlCol="0">
            <a:spAutoFit/>
          </a:bodyPr>
          <a:lstStyle/>
          <a:p>
            <a:pPr>
              <a:lnSpc>
                <a:spcPct val="120000"/>
              </a:lnSpc>
            </a:pPr>
            <a:r>
              <a:rPr lang="zh-CN" altLang="en-US" dirty="0" smtClean="0">
                <a:latin typeface="微软雅黑" pitchFamily="34" charset="-122"/>
                <a:ea typeface="微软雅黑" pitchFamily="34" charset="-122"/>
              </a:rPr>
              <a:t>你在会议上见到一半的人都是路德教徒，</a:t>
            </a:r>
            <a:endParaRPr lang="en-US" altLang="zh-CN" dirty="0" smtClean="0">
              <a:latin typeface="微软雅黑" pitchFamily="34" charset="-122"/>
              <a:ea typeface="微软雅黑" pitchFamily="34" charset="-122"/>
            </a:endParaRPr>
          </a:p>
          <a:p>
            <a:pPr>
              <a:lnSpc>
                <a:spcPct val="120000"/>
              </a:lnSpc>
            </a:pPr>
            <a:r>
              <a:rPr lang="zh-CN" altLang="en-US" dirty="0" smtClean="0">
                <a:latin typeface="微软雅黑" pitchFamily="34" charset="-122"/>
                <a:ea typeface="微软雅黑" pitchFamily="34" charset="-122"/>
              </a:rPr>
              <a:t>所以，可能会议上有一半人都是路德教徒。</a:t>
            </a:r>
            <a:endParaRPr lang="en-US" altLang="zh-CN" dirty="0" smtClean="0">
              <a:latin typeface="微软雅黑" pitchFamily="34" charset="-122"/>
              <a:ea typeface="微软雅黑" pitchFamily="34" charset="-122"/>
            </a:endParaRPr>
          </a:p>
        </p:txBody>
      </p:sp>
      <p:sp>
        <p:nvSpPr>
          <p:cNvPr id="4" name="矩形 3"/>
          <p:cNvSpPr/>
          <p:nvPr/>
        </p:nvSpPr>
        <p:spPr>
          <a:xfrm>
            <a:off x="882217" y="3533141"/>
            <a:ext cx="1601551" cy="497957"/>
          </a:xfrm>
          <a:prstGeom prst="rect">
            <a:avLst/>
          </a:prstGeom>
          <a:solidFill>
            <a:srgbClr val="06ACDE"/>
          </a:solidFill>
        </p:spPr>
        <p:txBody>
          <a:bodyPr wrap="square">
            <a:spAutoFit/>
          </a:bodyPr>
          <a:lstStyle/>
          <a:p>
            <a:pPr lvl="0" algn="ctr">
              <a:lnSpc>
                <a:spcPct val="120000"/>
              </a:lnSpc>
            </a:pPr>
            <a:r>
              <a:rPr lang="zh-CN" altLang="en-US" sz="2400" b="1" dirty="0">
                <a:solidFill>
                  <a:prstClr val="black"/>
                </a:solidFill>
                <a:latin typeface="微软雅黑" pitchFamily="34" charset="-122"/>
                <a:ea typeface="微软雅黑" pitchFamily="34" charset="-122"/>
              </a:rPr>
              <a:t>演绎</a:t>
            </a:r>
            <a:r>
              <a:rPr lang="zh-CN" altLang="en-US" sz="2400" b="1" dirty="0" smtClean="0">
                <a:solidFill>
                  <a:prstClr val="black"/>
                </a:solidFill>
                <a:latin typeface="微软雅黑" pitchFamily="34" charset="-122"/>
                <a:ea typeface="微软雅黑" pitchFamily="34" charset="-122"/>
              </a:rPr>
              <a:t>论证</a:t>
            </a:r>
            <a:endParaRPr lang="en-US" altLang="zh-CN" sz="2400" b="1" dirty="0">
              <a:solidFill>
                <a:prstClr val="black"/>
              </a:solidFill>
              <a:latin typeface="微软雅黑" pitchFamily="34" charset="-122"/>
              <a:ea typeface="微软雅黑" pitchFamily="34" charset="-122"/>
            </a:endParaRPr>
          </a:p>
        </p:txBody>
      </p:sp>
      <p:sp>
        <p:nvSpPr>
          <p:cNvPr id="5" name="矩形 4"/>
          <p:cNvSpPr/>
          <p:nvPr/>
        </p:nvSpPr>
        <p:spPr>
          <a:xfrm>
            <a:off x="882217" y="1660933"/>
            <a:ext cx="1601551" cy="497957"/>
          </a:xfrm>
          <a:prstGeom prst="rect">
            <a:avLst/>
          </a:prstGeom>
          <a:solidFill>
            <a:srgbClr val="06ACDE"/>
          </a:solidFill>
        </p:spPr>
        <p:txBody>
          <a:bodyPr wrap="square">
            <a:spAutoFit/>
          </a:bodyPr>
          <a:lstStyle/>
          <a:p>
            <a:pPr lvl="0" algn="ctr">
              <a:lnSpc>
                <a:spcPct val="120000"/>
              </a:lnSpc>
            </a:pPr>
            <a:r>
              <a:rPr lang="zh-CN" altLang="en-US" sz="2400" b="1" dirty="0">
                <a:solidFill>
                  <a:prstClr val="black"/>
                </a:solidFill>
                <a:latin typeface="微软雅黑" pitchFamily="34" charset="-122"/>
                <a:ea typeface="微软雅黑" pitchFamily="34" charset="-122"/>
              </a:rPr>
              <a:t>归纳</a:t>
            </a:r>
            <a:r>
              <a:rPr lang="zh-CN" altLang="en-US" sz="2400" b="1" dirty="0" smtClean="0">
                <a:solidFill>
                  <a:prstClr val="black"/>
                </a:solidFill>
                <a:latin typeface="微软雅黑" pitchFamily="34" charset="-122"/>
                <a:ea typeface="微软雅黑" pitchFamily="34" charset="-122"/>
              </a:rPr>
              <a:t>论证</a:t>
            </a:r>
            <a:endParaRPr lang="en-US" altLang="zh-CN" sz="2400" b="1" dirty="0">
              <a:solidFill>
                <a:prstClr val="black"/>
              </a:solidFill>
              <a:latin typeface="微软雅黑" pitchFamily="34" charset="-122"/>
              <a:ea typeface="微软雅黑" pitchFamily="34" charset="-122"/>
            </a:endParaRPr>
          </a:p>
        </p:txBody>
      </p:sp>
      <p:sp>
        <p:nvSpPr>
          <p:cNvPr id="6" name="矩形 5"/>
          <p:cNvSpPr/>
          <p:nvPr/>
        </p:nvSpPr>
        <p:spPr>
          <a:xfrm>
            <a:off x="1619672" y="483518"/>
            <a:ext cx="3211135" cy="523220"/>
          </a:xfrm>
          <a:prstGeom prst="rect">
            <a:avLst/>
          </a:prstGeom>
        </p:spPr>
        <p:txBody>
          <a:bodyPr wrap="none">
            <a:spAutoFit/>
          </a:bodyPr>
          <a:lstStyle/>
          <a:p>
            <a:r>
              <a:rPr lang="zh-CN" altLang="en-US" sz="2800" b="1" spc="150" dirty="0">
                <a:solidFill>
                  <a:schemeClr val="bg1"/>
                </a:solidFill>
                <a:latin typeface="微软雅黑" pitchFamily="34" charset="-122"/>
                <a:ea typeface="微软雅黑" pitchFamily="34" charset="-122"/>
              </a:rPr>
              <a:t>一、一些名词解释</a:t>
            </a:r>
          </a:p>
        </p:txBody>
      </p:sp>
      <p:cxnSp>
        <p:nvCxnSpPr>
          <p:cNvPr id="16" name="直接箭头连接符 15"/>
          <p:cNvCxnSpPr/>
          <p:nvPr/>
        </p:nvCxnSpPr>
        <p:spPr>
          <a:xfrm>
            <a:off x="2483768" y="1946169"/>
            <a:ext cx="1872208" cy="1867449"/>
          </a:xfrm>
          <a:prstGeom prst="straightConnector1">
            <a:avLst/>
          </a:prstGeom>
          <a:ln>
            <a:solidFill>
              <a:srgbClr val="06ACDE"/>
            </a:solidFill>
            <a:tailEnd type="arrow"/>
          </a:ln>
        </p:spPr>
        <p:style>
          <a:lnRef idx="3">
            <a:schemeClr val="accent1"/>
          </a:lnRef>
          <a:fillRef idx="0">
            <a:schemeClr val="accent1"/>
          </a:fillRef>
          <a:effectRef idx="2">
            <a:schemeClr val="accent1"/>
          </a:effectRef>
          <a:fontRef idx="minor">
            <a:schemeClr val="tx1"/>
          </a:fontRef>
        </p:style>
      </p:cxnSp>
      <p:cxnSp>
        <p:nvCxnSpPr>
          <p:cNvPr id="19" name="直接箭头连接符 18"/>
          <p:cNvCxnSpPr/>
          <p:nvPr/>
        </p:nvCxnSpPr>
        <p:spPr>
          <a:xfrm flipV="1">
            <a:off x="2502982" y="1909912"/>
            <a:ext cx="1872208" cy="1867449"/>
          </a:xfrm>
          <a:prstGeom prst="straightConnector1">
            <a:avLst/>
          </a:prstGeom>
          <a:ln>
            <a:solidFill>
              <a:srgbClr val="06ACDE"/>
            </a:solidFill>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724587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E:\PPT\暴走漫画全部素材\暴走漫画全部素材\NJ7NTAY{KVUP4`}J`ZR7M)Y.jpg"/>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flipH="1">
            <a:off x="5186908" y="2525358"/>
            <a:ext cx="2409428" cy="2062616"/>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595157" y="464354"/>
            <a:ext cx="2832827" cy="523220"/>
          </a:xfrm>
          <a:prstGeom prst="rect">
            <a:avLst/>
          </a:prstGeom>
        </p:spPr>
        <p:txBody>
          <a:bodyPr wrap="none">
            <a:spAutoFit/>
          </a:bodyPr>
          <a:lstStyle/>
          <a:p>
            <a:r>
              <a:rPr lang="zh-CN" altLang="en-US" sz="2800" b="1" spc="150" dirty="0">
                <a:solidFill>
                  <a:schemeClr val="bg1"/>
                </a:solidFill>
                <a:latin typeface="微软雅黑" pitchFamily="34" charset="-122"/>
                <a:ea typeface="微软雅黑" pitchFamily="34" charset="-122"/>
              </a:rPr>
              <a:t>二、非形式谬误</a:t>
            </a:r>
          </a:p>
        </p:txBody>
      </p:sp>
      <p:sp>
        <p:nvSpPr>
          <p:cNvPr id="5" name="矩形 4"/>
          <p:cNvSpPr/>
          <p:nvPr/>
        </p:nvSpPr>
        <p:spPr>
          <a:xfrm>
            <a:off x="1887021" y="1847021"/>
            <a:ext cx="3262432" cy="2092881"/>
          </a:xfrm>
          <a:prstGeom prst="rect">
            <a:avLst/>
          </a:prstGeom>
        </p:spPr>
        <p:txBody>
          <a:bodyPr wrap="none">
            <a:spAutoFit/>
          </a:bodyPr>
          <a:lstStyle/>
          <a:p>
            <a:pPr>
              <a:lnSpc>
                <a:spcPct val="130000"/>
              </a:lnSpc>
            </a:pPr>
            <a:r>
              <a:rPr lang="zh-CN" altLang="en-US" sz="2000" dirty="0" smtClean="0">
                <a:latin typeface="微软雅黑" pitchFamily="34" charset="-122"/>
                <a:ea typeface="微软雅黑" pitchFamily="34" charset="-122"/>
              </a:rPr>
              <a:t>如果一个论证包括：</a:t>
            </a:r>
            <a:endParaRPr lang="en-US" altLang="zh-CN" sz="2000" dirty="0" smtClean="0">
              <a:latin typeface="微软雅黑" pitchFamily="34" charset="-122"/>
              <a:ea typeface="微软雅黑" pitchFamily="34" charset="-122"/>
            </a:endParaRPr>
          </a:p>
          <a:p>
            <a:pPr>
              <a:lnSpc>
                <a:spcPct val="130000"/>
              </a:lnSpc>
            </a:pPr>
            <a:r>
              <a:rPr lang="en-US" altLang="zh-CN" sz="2000" dirty="0" smtClean="0">
                <a:latin typeface="微软雅黑" pitchFamily="34" charset="-122"/>
                <a:ea typeface="微软雅黑" pitchFamily="34" charset="-122"/>
              </a:rPr>
              <a:t>A.</a:t>
            </a:r>
            <a:r>
              <a:rPr lang="zh-CN" altLang="en-US" sz="2000" b="1" dirty="0" smtClean="0">
                <a:solidFill>
                  <a:srgbClr val="06ACDE"/>
                </a:solidFill>
                <a:latin typeface="微软雅黑" pitchFamily="34" charset="-122"/>
                <a:ea typeface="微软雅黑" pitchFamily="34" charset="-122"/>
              </a:rPr>
              <a:t>不可接受</a:t>
            </a:r>
            <a:r>
              <a:rPr lang="zh-CN" altLang="en-US" sz="2000" dirty="0">
                <a:latin typeface="微软雅黑" pitchFamily="34" charset="-122"/>
                <a:ea typeface="微软雅黑" pitchFamily="34" charset="-122"/>
              </a:rPr>
              <a:t>的</a:t>
            </a:r>
            <a:r>
              <a:rPr lang="zh-CN" altLang="en-US" sz="2000" dirty="0" smtClean="0">
                <a:latin typeface="微软雅黑" pitchFamily="34" charset="-122"/>
                <a:ea typeface="微软雅黑" pitchFamily="34" charset="-122"/>
              </a:rPr>
              <a:t>前提；</a:t>
            </a:r>
            <a:endParaRPr lang="en-US" altLang="zh-CN" sz="2000" dirty="0" smtClean="0">
              <a:latin typeface="微软雅黑" pitchFamily="34" charset="-122"/>
              <a:ea typeface="微软雅黑" pitchFamily="34" charset="-122"/>
            </a:endParaRPr>
          </a:p>
          <a:p>
            <a:pPr>
              <a:lnSpc>
                <a:spcPct val="130000"/>
              </a:lnSpc>
            </a:pPr>
            <a:r>
              <a:rPr lang="en-US" altLang="zh-CN" sz="2000" dirty="0" smtClean="0">
                <a:latin typeface="微软雅黑" pitchFamily="34" charset="-122"/>
                <a:ea typeface="微软雅黑" pitchFamily="34" charset="-122"/>
              </a:rPr>
              <a:t>B.</a:t>
            </a:r>
            <a:r>
              <a:rPr lang="zh-CN" altLang="en-US" sz="2000" b="1" dirty="0" smtClean="0">
                <a:solidFill>
                  <a:srgbClr val="06ACDE"/>
                </a:solidFill>
                <a:latin typeface="微软雅黑" pitchFamily="34" charset="-122"/>
                <a:ea typeface="微软雅黑" pitchFamily="34" charset="-122"/>
              </a:rPr>
              <a:t>不相干</a:t>
            </a:r>
            <a:r>
              <a:rPr lang="zh-CN" altLang="en-US" sz="2000" dirty="0">
                <a:latin typeface="微软雅黑" pitchFamily="34" charset="-122"/>
                <a:ea typeface="微软雅黑" pitchFamily="34" charset="-122"/>
              </a:rPr>
              <a:t>的</a:t>
            </a:r>
            <a:r>
              <a:rPr lang="zh-CN" altLang="en-US" sz="2000" dirty="0" smtClean="0">
                <a:latin typeface="微软雅黑" pitchFamily="34" charset="-122"/>
                <a:ea typeface="微软雅黑" pitchFamily="34" charset="-122"/>
              </a:rPr>
              <a:t>前提；</a:t>
            </a:r>
            <a:endParaRPr lang="en-US" altLang="zh-CN" sz="2000" dirty="0" smtClean="0">
              <a:latin typeface="微软雅黑" pitchFamily="34" charset="-122"/>
              <a:ea typeface="微软雅黑" pitchFamily="34" charset="-122"/>
            </a:endParaRPr>
          </a:p>
          <a:p>
            <a:pPr>
              <a:lnSpc>
                <a:spcPct val="130000"/>
              </a:lnSpc>
            </a:pPr>
            <a:r>
              <a:rPr lang="en-US" altLang="zh-CN" sz="2000" dirty="0" smtClean="0">
                <a:latin typeface="微软雅黑" pitchFamily="34" charset="-122"/>
                <a:ea typeface="微软雅黑" pitchFamily="34" charset="-122"/>
              </a:rPr>
              <a:t>C.</a:t>
            </a:r>
            <a:r>
              <a:rPr lang="zh-CN" altLang="en-US" sz="2000" b="1" dirty="0" smtClean="0">
                <a:solidFill>
                  <a:srgbClr val="06ACDE"/>
                </a:solidFill>
                <a:latin typeface="微软雅黑" pitchFamily="34" charset="-122"/>
                <a:ea typeface="微软雅黑" pitchFamily="34" charset="-122"/>
              </a:rPr>
              <a:t>不充分</a:t>
            </a:r>
            <a:r>
              <a:rPr lang="zh-CN" altLang="en-US" sz="2000" dirty="0">
                <a:latin typeface="微软雅黑" pitchFamily="34" charset="-122"/>
                <a:ea typeface="微软雅黑" pitchFamily="34" charset="-122"/>
              </a:rPr>
              <a:t>的</a:t>
            </a:r>
            <a:r>
              <a:rPr lang="zh-CN" altLang="en-US" sz="2000" dirty="0" smtClean="0">
                <a:latin typeface="微软雅黑" pitchFamily="34" charset="-122"/>
                <a:ea typeface="微软雅黑" pitchFamily="34" charset="-122"/>
              </a:rPr>
              <a:t>前提；</a:t>
            </a:r>
            <a:endParaRPr lang="en-US" altLang="zh-CN" sz="2000" dirty="0" smtClean="0">
              <a:latin typeface="微软雅黑" pitchFamily="34" charset="-122"/>
              <a:ea typeface="微软雅黑" pitchFamily="34" charset="-122"/>
            </a:endParaRPr>
          </a:p>
          <a:p>
            <a:pPr>
              <a:lnSpc>
                <a:spcPct val="130000"/>
              </a:lnSpc>
            </a:pPr>
            <a:r>
              <a:rPr lang="zh-CN" altLang="en-US" sz="2000" dirty="0" smtClean="0">
                <a:latin typeface="微软雅黑" pitchFamily="34" charset="-122"/>
                <a:ea typeface="微软雅黑" pitchFamily="34" charset="-122"/>
              </a:rPr>
              <a:t>那么这个论证就是谬误的。</a:t>
            </a:r>
            <a:endParaRPr lang="zh-CN" altLang="en-US" sz="2000" dirty="0">
              <a:latin typeface="微软雅黑" pitchFamily="34" charset="-122"/>
              <a:ea typeface="微软雅黑" pitchFamily="34" charset="-122"/>
            </a:endParaRPr>
          </a:p>
        </p:txBody>
      </p:sp>
      <p:sp>
        <p:nvSpPr>
          <p:cNvPr id="7" name="矩形 6"/>
          <p:cNvSpPr/>
          <p:nvPr/>
        </p:nvSpPr>
        <p:spPr>
          <a:xfrm>
            <a:off x="1552678" y="1491629"/>
            <a:ext cx="6043658" cy="30963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118622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a:graphicFrameLocks noGrp="1"/>
          </p:cNvGraphicFramePr>
          <p:nvPr>
            <p:extLst>
              <p:ext uri="{D42A27DB-BD31-4B8C-83A1-F6EECF244321}">
                <p14:modId xmlns:p14="http://schemas.microsoft.com/office/powerpoint/2010/main" val="2115573324"/>
              </p:ext>
            </p:extLst>
          </p:nvPr>
        </p:nvGraphicFramePr>
        <p:xfrm>
          <a:off x="1154578" y="1240970"/>
          <a:ext cx="2193285" cy="3530658"/>
        </p:xfrm>
        <a:graphic>
          <a:graphicData uri="http://schemas.openxmlformats.org/drawingml/2006/table">
            <a:tbl>
              <a:tblPr firstRow="1" bandRow="1">
                <a:tableStyleId>{5C22544A-7EE6-4342-B048-85BDC9FD1C3A}</a:tableStyleId>
              </a:tblPr>
              <a:tblGrid>
                <a:gridCol w="2193285"/>
              </a:tblGrid>
              <a:tr h="3530658">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pic>
        <p:nvPicPr>
          <p:cNvPr id="1026" name="Picture 2" descr="E:\PPT\暴走漫画全部素材\暴走漫画全部素材\]KJ]~)5809){HD605J)298J.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7996" y="2931790"/>
            <a:ext cx="2432396" cy="183983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E:\PPT\暴走漫画全部素材\暴走漫画全部素材\`Q]P%TAI5FMWY7O3RPGS)U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0094" y="3723878"/>
            <a:ext cx="962025" cy="10477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PPT\暴走漫画全部素材\暴走漫画全部素材\8FTFN%9~9O}@{A7~$PAK3)F.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6914893" y="1851670"/>
            <a:ext cx="1185498" cy="10801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p:extLst>
              <p:ext uri="{D42A27DB-BD31-4B8C-83A1-F6EECF244321}">
                <p14:modId xmlns:p14="http://schemas.microsoft.com/office/powerpoint/2010/main" val="2714030742"/>
              </p:ext>
            </p:extLst>
          </p:nvPr>
        </p:nvGraphicFramePr>
        <p:xfrm>
          <a:off x="3347862" y="1235132"/>
          <a:ext cx="4752528" cy="3530658"/>
        </p:xfrm>
        <a:graphic>
          <a:graphicData uri="http://schemas.openxmlformats.org/drawingml/2006/table">
            <a:tbl>
              <a:tblPr firstRow="1" bandRow="1">
                <a:tableStyleId>{5C22544A-7EE6-4342-B048-85BDC9FD1C3A}</a:tableStyleId>
              </a:tblPr>
              <a:tblGrid>
                <a:gridCol w="2304257"/>
                <a:gridCol w="2448271"/>
              </a:tblGrid>
              <a:tr h="1696658">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r h="1834000">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sp>
        <p:nvSpPr>
          <p:cNvPr id="3" name="矩形 2"/>
          <p:cNvSpPr/>
          <p:nvPr/>
        </p:nvSpPr>
        <p:spPr>
          <a:xfrm>
            <a:off x="1226587" y="1860610"/>
            <a:ext cx="2121277" cy="1791260"/>
          </a:xfrm>
          <a:prstGeom prst="rect">
            <a:avLst/>
          </a:prstGeom>
        </p:spPr>
        <p:txBody>
          <a:bodyPr wrap="square">
            <a:spAutoFit/>
          </a:bodyPr>
          <a:lstStyle/>
          <a:p>
            <a:pPr>
              <a:lnSpc>
                <a:spcPct val="120000"/>
              </a:lnSpc>
            </a:pPr>
            <a:r>
              <a:rPr lang="zh-CN" altLang="en-US" sz="2000" b="1" dirty="0" smtClean="0">
                <a:solidFill>
                  <a:srgbClr val="06ACDE"/>
                </a:solidFill>
                <a:latin typeface="微软雅黑" pitchFamily="34" charset="-122"/>
                <a:ea typeface="微软雅黑" pitchFamily="34" charset="-122"/>
              </a:rPr>
              <a:t>乞题</a:t>
            </a:r>
            <a:endParaRPr lang="en-US" altLang="zh-CN" sz="2000" b="1" dirty="0" smtClean="0">
              <a:solidFill>
                <a:srgbClr val="06ACDE"/>
              </a:solidFill>
              <a:latin typeface="微软雅黑" pitchFamily="34" charset="-122"/>
              <a:ea typeface="微软雅黑" pitchFamily="34" charset="-122"/>
            </a:endParaRPr>
          </a:p>
          <a:p>
            <a:pPr>
              <a:lnSpc>
                <a:spcPct val="120000"/>
              </a:lnSpc>
            </a:pPr>
            <a:r>
              <a:rPr lang="zh-CN" altLang="en-US" dirty="0" smtClean="0">
                <a:latin typeface="微软雅黑" pitchFamily="34" charset="-122"/>
                <a:ea typeface="微软雅黑" pitchFamily="34" charset="-122"/>
              </a:rPr>
              <a:t>当一个论证的结论</a:t>
            </a:r>
            <a:endParaRPr lang="en-US" altLang="zh-CN" dirty="0" smtClean="0">
              <a:latin typeface="微软雅黑" pitchFamily="34" charset="-122"/>
              <a:ea typeface="微软雅黑" pitchFamily="34" charset="-122"/>
            </a:endParaRPr>
          </a:p>
          <a:p>
            <a:pPr>
              <a:lnSpc>
                <a:spcPct val="120000"/>
              </a:lnSpc>
            </a:pPr>
            <a:r>
              <a:rPr lang="zh-CN" altLang="en-US" dirty="0" smtClean="0">
                <a:latin typeface="微软雅黑" pitchFamily="34" charset="-122"/>
                <a:ea typeface="微软雅黑" pitchFamily="34" charset="-122"/>
              </a:rPr>
              <a:t>被用作前提之一时，</a:t>
            </a:r>
            <a:endParaRPr lang="en-US" altLang="zh-CN" dirty="0" smtClean="0">
              <a:latin typeface="微软雅黑" pitchFamily="34" charset="-122"/>
              <a:ea typeface="微软雅黑" pitchFamily="34" charset="-122"/>
            </a:endParaRPr>
          </a:p>
          <a:p>
            <a:pPr>
              <a:lnSpc>
                <a:spcPct val="120000"/>
              </a:lnSpc>
            </a:pPr>
            <a:r>
              <a:rPr lang="zh-CN" altLang="en-US" dirty="0" smtClean="0">
                <a:latin typeface="微软雅黑" pitchFamily="34" charset="-122"/>
                <a:ea typeface="微软雅黑" pitchFamily="34" charset="-122"/>
              </a:rPr>
              <a:t>这个论证就是乞</a:t>
            </a:r>
            <a:r>
              <a:rPr lang="zh-CN" altLang="en-US" dirty="0">
                <a:latin typeface="微软雅黑" pitchFamily="34" charset="-122"/>
                <a:ea typeface="微软雅黑" pitchFamily="34" charset="-122"/>
              </a:rPr>
              <a:t>题</a:t>
            </a:r>
            <a:endParaRPr lang="en-US" altLang="zh-CN" dirty="0" smtClean="0">
              <a:latin typeface="微软雅黑" pitchFamily="34" charset="-122"/>
              <a:ea typeface="微软雅黑" pitchFamily="34" charset="-122"/>
            </a:endParaRPr>
          </a:p>
          <a:p>
            <a:pPr>
              <a:lnSpc>
                <a:spcPct val="120000"/>
              </a:lnSpc>
            </a:pPr>
            <a:r>
              <a:rPr lang="zh-CN" altLang="en-US" dirty="0" smtClean="0">
                <a:latin typeface="微软雅黑" pitchFamily="34" charset="-122"/>
                <a:ea typeface="微软雅黑" pitchFamily="34" charset="-122"/>
              </a:rPr>
              <a:t>或者循环论证。</a:t>
            </a:r>
            <a:endParaRPr lang="en-US" altLang="zh-CN" dirty="0">
              <a:latin typeface="微软雅黑" pitchFamily="34" charset="-122"/>
              <a:ea typeface="微软雅黑" pitchFamily="34" charset="-122"/>
            </a:endParaRPr>
          </a:p>
        </p:txBody>
      </p:sp>
      <p:pic>
        <p:nvPicPr>
          <p:cNvPr id="4" name="Picture 2" descr="E:\PPT\暴走漫画全部素材\暴走漫画全部素材\4DQP{]J5WACG7V]U9DWV1[8.jpg"/>
          <p:cNvPicPr>
            <a:picLocks noChangeAspect="1" noChangeArrowheads="1"/>
          </p:cNvPicPr>
          <p:nvPr/>
        </p:nvPicPr>
        <p:blipFill>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347863" y="1864444"/>
            <a:ext cx="1266738" cy="1067346"/>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3981232" y="1454859"/>
            <a:ext cx="1584177" cy="646331"/>
          </a:xfrm>
          <a:prstGeom prst="rect">
            <a:avLst/>
          </a:prstGeom>
        </p:spPr>
        <p:txBody>
          <a:bodyPr wrap="square">
            <a:spAutoFit/>
          </a:bodyPr>
          <a:lstStyle/>
          <a:p>
            <a:r>
              <a:rPr lang="zh-CN" altLang="en-US" b="1" dirty="0">
                <a:latin typeface="方正卡通简体" pitchFamily="65" charset="-122"/>
                <a:ea typeface="方正卡通简体" pitchFamily="65" charset="-122"/>
              </a:rPr>
              <a:t>我们应该相信上帝是存在</a:t>
            </a:r>
            <a:r>
              <a:rPr lang="zh-CN" altLang="en-US" b="1" dirty="0" smtClean="0">
                <a:latin typeface="方正卡通简体" pitchFamily="65" charset="-122"/>
                <a:ea typeface="方正卡通简体" pitchFamily="65" charset="-122"/>
              </a:rPr>
              <a:t>的！</a:t>
            </a:r>
            <a:endParaRPr lang="zh-CN" altLang="en-US" b="1" dirty="0">
              <a:latin typeface="方正卡通简体" pitchFamily="65" charset="-122"/>
              <a:ea typeface="方正卡通简体" pitchFamily="65" charset="-122"/>
            </a:endParaRPr>
          </a:p>
        </p:txBody>
      </p:sp>
      <p:sp>
        <p:nvSpPr>
          <p:cNvPr id="7" name="矩形 6"/>
          <p:cNvSpPr/>
          <p:nvPr/>
        </p:nvSpPr>
        <p:spPr>
          <a:xfrm>
            <a:off x="5896912" y="1513316"/>
            <a:ext cx="1584177" cy="369332"/>
          </a:xfrm>
          <a:prstGeom prst="rect">
            <a:avLst/>
          </a:prstGeom>
        </p:spPr>
        <p:txBody>
          <a:bodyPr wrap="square">
            <a:spAutoFit/>
          </a:bodyPr>
          <a:lstStyle/>
          <a:p>
            <a:r>
              <a:rPr lang="zh-CN" altLang="en-US" b="1" dirty="0" smtClean="0">
                <a:latin typeface="方正卡通简体" pitchFamily="65" charset="-122"/>
                <a:ea typeface="方正卡通简体" pitchFamily="65" charset="-122"/>
              </a:rPr>
              <a:t>为什么呢？</a:t>
            </a:r>
            <a:endParaRPr lang="zh-CN" altLang="en-US" b="1" dirty="0">
              <a:latin typeface="方正卡通简体" pitchFamily="65" charset="-122"/>
              <a:ea typeface="方正卡通简体" pitchFamily="65" charset="-122"/>
            </a:endParaRPr>
          </a:p>
        </p:txBody>
      </p:sp>
      <p:sp>
        <p:nvSpPr>
          <p:cNvPr id="9" name="矩形 8"/>
          <p:cNvSpPr/>
          <p:nvPr/>
        </p:nvSpPr>
        <p:spPr>
          <a:xfrm>
            <a:off x="3564386" y="3077547"/>
            <a:ext cx="1871710" cy="646331"/>
          </a:xfrm>
          <a:prstGeom prst="rect">
            <a:avLst/>
          </a:prstGeom>
        </p:spPr>
        <p:txBody>
          <a:bodyPr wrap="square">
            <a:spAutoFit/>
          </a:bodyPr>
          <a:lstStyle/>
          <a:p>
            <a:r>
              <a:rPr lang="zh-CN" altLang="en-US" b="1" dirty="0" smtClean="0">
                <a:latin typeface="方正卡通简体" pitchFamily="65" charset="-122"/>
                <a:ea typeface="方正卡通简体" pitchFamily="65" charset="-122"/>
              </a:rPr>
              <a:t>因为</a:t>
            </a:r>
            <a:r>
              <a:rPr lang="en-US" altLang="zh-CN" b="1" dirty="0" smtClean="0">
                <a:latin typeface="方正卡通简体" pitchFamily="65" charset="-122"/>
                <a:ea typeface="方正卡通简体" pitchFamily="65" charset="-122"/>
              </a:rPr>
              <a:t>《</a:t>
            </a:r>
            <a:r>
              <a:rPr lang="zh-CN" altLang="en-US" b="1" dirty="0" smtClean="0">
                <a:latin typeface="方正卡通简体" pitchFamily="65" charset="-122"/>
                <a:ea typeface="方正卡通简体" pitchFamily="65" charset="-122"/>
              </a:rPr>
              <a:t>圣经</a:t>
            </a:r>
            <a:r>
              <a:rPr lang="en-US" altLang="zh-CN" b="1" dirty="0" smtClean="0">
                <a:latin typeface="方正卡通简体" pitchFamily="65" charset="-122"/>
                <a:ea typeface="方正卡通简体" pitchFamily="65" charset="-122"/>
              </a:rPr>
              <a:t>》</a:t>
            </a:r>
            <a:r>
              <a:rPr lang="zh-CN" altLang="en-US" b="1" dirty="0" smtClean="0">
                <a:latin typeface="方正卡通简体" pitchFamily="65" charset="-122"/>
                <a:ea typeface="方正卡通简体" pitchFamily="65" charset="-122"/>
              </a:rPr>
              <a:t>上就是这么说的！</a:t>
            </a:r>
            <a:endParaRPr lang="zh-CN" altLang="en-US" b="1" dirty="0">
              <a:latin typeface="方正卡通简体" pitchFamily="65" charset="-122"/>
              <a:ea typeface="方正卡通简体" pitchFamily="65" charset="-122"/>
            </a:endParaRPr>
          </a:p>
        </p:txBody>
      </p:sp>
      <p:sp>
        <p:nvSpPr>
          <p:cNvPr id="11" name="矩形 10"/>
          <p:cNvSpPr/>
          <p:nvPr/>
        </p:nvSpPr>
        <p:spPr>
          <a:xfrm>
            <a:off x="1547664" y="483518"/>
            <a:ext cx="3485249" cy="461665"/>
          </a:xfrm>
          <a:prstGeom prst="rect">
            <a:avLst/>
          </a:prstGeom>
        </p:spPr>
        <p:txBody>
          <a:bodyPr wrap="none">
            <a:spAutoFit/>
          </a:bodyPr>
          <a:lstStyle/>
          <a:p>
            <a:r>
              <a:rPr lang="en-US" altLang="zh-CN" sz="2400" b="1" spc="150" dirty="0" smtClean="0">
                <a:solidFill>
                  <a:schemeClr val="bg1"/>
                </a:solidFill>
                <a:latin typeface="微软雅黑" pitchFamily="34" charset="-122"/>
                <a:ea typeface="微软雅黑" pitchFamily="34" charset="-122"/>
              </a:rPr>
              <a:t>A.2</a:t>
            </a:r>
            <a:r>
              <a:rPr lang="zh-CN" altLang="en-US" sz="2400" b="1" spc="150" dirty="0" smtClean="0">
                <a:solidFill>
                  <a:schemeClr val="bg1"/>
                </a:solidFill>
                <a:latin typeface="微软雅黑" pitchFamily="34" charset="-122"/>
                <a:ea typeface="微软雅黑" pitchFamily="34" charset="-122"/>
              </a:rPr>
              <a:t>种不可</a:t>
            </a:r>
            <a:r>
              <a:rPr lang="zh-CN" altLang="en-US" sz="2400" b="1" spc="150" dirty="0">
                <a:solidFill>
                  <a:schemeClr val="bg1"/>
                </a:solidFill>
                <a:latin typeface="微软雅黑" pitchFamily="34" charset="-122"/>
                <a:ea typeface="微软雅黑" pitchFamily="34" charset="-122"/>
              </a:rPr>
              <a:t>接受的前提</a:t>
            </a:r>
          </a:p>
        </p:txBody>
      </p:sp>
      <p:sp>
        <p:nvSpPr>
          <p:cNvPr id="12" name="TextBox 11"/>
          <p:cNvSpPr txBox="1"/>
          <p:nvPr/>
        </p:nvSpPr>
        <p:spPr>
          <a:xfrm>
            <a:off x="5378791" y="2715766"/>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1</a:t>
            </a:r>
            <a:endParaRPr lang="zh-CN" altLang="en-US" sz="1000" b="1" dirty="0">
              <a:latin typeface="方正卡通简体" pitchFamily="65" charset="-122"/>
              <a:ea typeface="方正卡通简体" pitchFamily="65" charset="-122"/>
            </a:endParaRPr>
          </a:p>
        </p:txBody>
      </p:sp>
      <p:sp>
        <p:nvSpPr>
          <p:cNvPr id="15" name="TextBox 14"/>
          <p:cNvSpPr txBox="1"/>
          <p:nvPr/>
        </p:nvSpPr>
        <p:spPr>
          <a:xfrm>
            <a:off x="5652120" y="2715766"/>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2</a:t>
            </a:r>
            <a:endParaRPr lang="zh-CN" altLang="en-US" sz="1000" b="1" dirty="0">
              <a:latin typeface="方正卡通简体" pitchFamily="65" charset="-122"/>
              <a:ea typeface="方正卡通简体" pitchFamily="65" charset="-122"/>
            </a:endParaRPr>
          </a:p>
        </p:txBody>
      </p:sp>
      <p:sp>
        <p:nvSpPr>
          <p:cNvPr id="16" name="TextBox 15"/>
          <p:cNvSpPr txBox="1"/>
          <p:nvPr/>
        </p:nvSpPr>
        <p:spPr>
          <a:xfrm>
            <a:off x="5378791" y="2931790"/>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3</a:t>
            </a:r>
            <a:endParaRPr lang="zh-CN" altLang="en-US" sz="1000" b="1" dirty="0">
              <a:latin typeface="方正卡通简体" pitchFamily="65" charset="-122"/>
              <a:ea typeface="方正卡通简体" pitchFamily="65" charset="-122"/>
            </a:endParaRPr>
          </a:p>
        </p:txBody>
      </p:sp>
    </p:spTree>
    <p:extLst>
      <p:ext uri="{BB962C8B-B14F-4D97-AF65-F5344CB8AC3E}">
        <p14:creationId xmlns:p14="http://schemas.microsoft.com/office/powerpoint/2010/main" val="40011226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PPT\暴走漫画全部素材\暴走漫画全部素材\877@B)K@[4TBQK1[H`YGASX.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116266" y="3506316"/>
            <a:ext cx="1200150" cy="100965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547664" y="483518"/>
            <a:ext cx="3485249" cy="461665"/>
          </a:xfrm>
          <a:prstGeom prst="rect">
            <a:avLst/>
          </a:prstGeom>
        </p:spPr>
        <p:txBody>
          <a:bodyPr wrap="none">
            <a:spAutoFit/>
          </a:bodyPr>
          <a:lstStyle/>
          <a:p>
            <a:r>
              <a:rPr lang="en-US" altLang="zh-CN" sz="2400" b="1" spc="150" dirty="0" smtClean="0">
                <a:solidFill>
                  <a:schemeClr val="bg1"/>
                </a:solidFill>
                <a:latin typeface="微软雅黑" pitchFamily="34" charset="-122"/>
                <a:ea typeface="微软雅黑" pitchFamily="34" charset="-122"/>
              </a:rPr>
              <a:t>A.2</a:t>
            </a:r>
            <a:r>
              <a:rPr lang="zh-CN" altLang="en-US" sz="2400" b="1" spc="150" dirty="0" smtClean="0">
                <a:solidFill>
                  <a:schemeClr val="bg1"/>
                </a:solidFill>
                <a:latin typeface="微软雅黑" pitchFamily="34" charset="-122"/>
                <a:ea typeface="微软雅黑" pitchFamily="34" charset="-122"/>
              </a:rPr>
              <a:t>种不可</a:t>
            </a:r>
            <a:r>
              <a:rPr lang="zh-CN" altLang="en-US" sz="2400" b="1" spc="150" dirty="0">
                <a:solidFill>
                  <a:schemeClr val="bg1"/>
                </a:solidFill>
                <a:latin typeface="微软雅黑" pitchFamily="34" charset="-122"/>
                <a:ea typeface="微软雅黑" pitchFamily="34" charset="-122"/>
              </a:rPr>
              <a:t>接受的前提</a:t>
            </a:r>
          </a:p>
        </p:txBody>
      </p:sp>
      <p:pic>
        <p:nvPicPr>
          <p:cNvPr id="3" name="Picture 2" descr="E:\PPT\暴走漫画全部素材\暴走漫画全部素材\4DQP{]J5WACG7V]U9DWV1[8.jpg"/>
          <p:cNvPicPr>
            <a:picLocks noChangeAspect="1" noChangeArrowheads="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971600" y="3435846"/>
            <a:ext cx="1266738" cy="1067346"/>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E:\PPT\暴走漫画全部素材\暴走漫画全部素材\8FTFN%9~9O}@{A7~$PAK3)F.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211960" y="3435846"/>
            <a:ext cx="1185498" cy="108012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971600" y="1375138"/>
            <a:ext cx="7344815" cy="1052596"/>
          </a:xfrm>
          <a:prstGeom prst="rect">
            <a:avLst/>
          </a:prstGeom>
        </p:spPr>
        <p:txBody>
          <a:bodyPr wrap="square">
            <a:spAutoFit/>
          </a:bodyPr>
          <a:lstStyle/>
          <a:p>
            <a:pPr>
              <a:lnSpc>
                <a:spcPct val="120000"/>
              </a:lnSpc>
            </a:pPr>
            <a:r>
              <a:rPr lang="zh-CN" altLang="en-US" sz="2000" b="1" dirty="0" smtClean="0">
                <a:solidFill>
                  <a:srgbClr val="06ACDE"/>
                </a:solidFill>
                <a:latin typeface="微软雅黑" pitchFamily="34" charset="-122"/>
                <a:ea typeface="微软雅黑" pitchFamily="34" charset="-122"/>
              </a:rPr>
              <a:t>虚假两难</a:t>
            </a:r>
            <a:endParaRPr lang="en-US" altLang="zh-CN" sz="2000" b="1" dirty="0" smtClean="0">
              <a:solidFill>
                <a:srgbClr val="06ACDE"/>
              </a:solidFill>
              <a:latin typeface="微软雅黑" pitchFamily="34" charset="-122"/>
              <a:ea typeface="微软雅黑" pitchFamily="34" charset="-122"/>
            </a:endParaRPr>
          </a:p>
          <a:p>
            <a:pPr>
              <a:lnSpc>
                <a:spcPct val="120000"/>
              </a:lnSpc>
            </a:pPr>
            <a:r>
              <a:rPr lang="zh-CN" altLang="en-US" sz="1600" dirty="0" smtClean="0">
                <a:latin typeface="微软雅黑" pitchFamily="34" charset="-122"/>
                <a:ea typeface="微软雅黑" pitchFamily="34" charset="-122"/>
              </a:rPr>
              <a:t>当一个论证假定只有两种选择，而事实上有两个以上选择时，</a:t>
            </a:r>
            <a:endParaRPr lang="en-US" altLang="zh-CN" sz="1600" dirty="0" smtClean="0">
              <a:latin typeface="微软雅黑" pitchFamily="34" charset="-122"/>
              <a:ea typeface="微软雅黑" pitchFamily="34" charset="-122"/>
            </a:endParaRPr>
          </a:p>
          <a:p>
            <a:pPr>
              <a:lnSpc>
                <a:spcPct val="120000"/>
              </a:lnSpc>
            </a:pPr>
            <a:r>
              <a:rPr lang="zh-CN" altLang="en-US" sz="1600" dirty="0" smtClean="0">
                <a:latin typeface="微软雅黑" pitchFamily="34" charset="-122"/>
                <a:ea typeface="微软雅黑" pitchFamily="34" charset="-122"/>
              </a:rPr>
              <a:t>该论证便提出了一个虚假两难。</a:t>
            </a:r>
            <a:endParaRPr lang="en-US" altLang="zh-CN" sz="1600" dirty="0">
              <a:latin typeface="微软雅黑" pitchFamily="34" charset="-122"/>
              <a:ea typeface="微软雅黑" pitchFamily="34" charset="-122"/>
            </a:endParaRPr>
          </a:p>
        </p:txBody>
      </p:sp>
      <p:sp>
        <p:nvSpPr>
          <p:cNvPr id="6" name="矩形 5"/>
          <p:cNvSpPr/>
          <p:nvPr/>
        </p:nvSpPr>
        <p:spPr>
          <a:xfrm>
            <a:off x="971599" y="1397031"/>
            <a:ext cx="7344815" cy="30963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971600" y="2427734"/>
            <a:ext cx="734481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012161" y="2427734"/>
            <a:ext cx="0" cy="20656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1691679" y="2571750"/>
            <a:ext cx="1872209" cy="1077218"/>
          </a:xfrm>
          <a:prstGeom prst="rect">
            <a:avLst/>
          </a:prstGeom>
        </p:spPr>
        <p:txBody>
          <a:bodyPr wrap="square">
            <a:spAutoFit/>
          </a:bodyPr>
          <a:lstStyle/>
          <a:p>
            <a:r>
              <a:rPr lang="zh-CN" altLang="en-US" sz="1600" b="1" dirty="0" smtClean="0">
                <a:latin typeface="方正卡通简体" pitchFamily="65" charset="-122"/>
                <a:ea typeface="方正卡通简体" pitchFamily="65" charset="-122"/>
              </a:rPr>
              <a:t>要么下</a:t>
            </a:r>
            <a:r>
              <a:rPr lang="en-US" altLang="zh-CN" sz="1600" b="1" dirty="0" smtClean="0">
                <a:latin typeface="方正卡通简体" pitchFamily="65" charset="-122"/>
                <a:ea typeface="方正卡通简体" pitchFamily="65" charset="-122"/>
              </a:rPr>
              <a:t>PPT</a:t>
            </a:r>
            <a:r>
              <a:rPr lang="zh-CN" altLang="en-US" sz="1600" b="1" dirty="0" smtClean="0">
                <a:latin typeface="方正卡通简体" pitchFamily="65" charset="-122"/>
                <a:ea typeface="方正卡通简体" pitchFamily="65" charset="-122"/>
              </a:rPr>
              <a:t>模板，要么求别人帮你</a:t>
            </a:r>
            <a:r>
              <a:rPr lang="zh-CN" altLang="en-US" sz="1600" b="1" dirty="0">
                <a:latin typeface="方正卡通简体" pitchFamily="65" charset="-122"/>
                <a:ea typeface="方正卡通简体" pitchFamily="65" charset="-122"/>
              </a:rPr>
              <a:t>做</a:t>
            </a:r>
            <a:r>
              <a:rPr lang="en-US" altLang="zh-CN" sz="1600" b="1" dirty="0" smtClean="0">
                <a:latin typeface="方正卡通简体" pitchFamily="65" charset="-122"/>
                <a:ea typeface="方正卡通简体" pitchFamily="65" charset="-122"/>
              </a:rPr>
              <a:t>.</a:t>
            </a:r>
            <a:r>
              <a:rPr lang="zh-CN" altLang="en-US" sz="1600" b="1" dirty="0" smtClean="0">
                <a:latin typeface="方正卡通简体" pitchFamily="65" charset="-122"/>
                <a:ea typeface="方正卡通简体" pitchFamily="65" charset="-122"/>
              </a:rPr>
              <a:t>否则你肯定完成不了任务！</a:t>
            </a:r>
            <a:endParaRPr lang="zh-CN" altLang="en-US" sz="1600" b="1" dirty="0">
              <a:latin typeface="方正卡通简体" pitchFamily="65" charset="-122"/>
              <a:ea typeface="方正卡通简体" pitchFamily="65" charset="-122"/>
            </a:endParaRPr>
          </a:p>
        </p:txBody>
      </p:sp>
      <p:cxnSp>
        <p:nvCxnSpPr>
          <p:cNvPr id="10" name="直接连接符 9"/>
          <p:cNvCxnSpPr/>
          <p:nvPr/>
        </p:nvCxnSpPr>
        <p:spPr>
          <a:xfrm>
            <a:off x="3563888" y="2427734"/>
            <a:ext cx="0" cy="20754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995936" y="2773279"/>
            <a:ext cx="1584177" cy="369332"/>
          </a:xfrm>
          <a:prstGeom prst="rect">
            <a:avLst/>
          </a:prstGeom>
        </p:spPr>
        <p:txBody>
          <a:bodyPr wrap="square">
            <a:spAutoFit/>
          </a:bodyPr>
          <a:lstStyle/>
          <a:p>
            <a:r>
              <a:rPr lang="zh-CN" altLang="en-US" b="1" dirty="0" smtClean="0">
                <a:latin typeface="方正卡通简体" pitchFamily="65" charset="-122"/>
                <a:ea typeface="方正卡通简体" pitchFamily="65" charset="-122"/>
              </a:rPr>
              <a:t>你是在逗我吗？</a:t>
            </a:r>
            <a:endParaRPr lang="zh-CN" altLang="en-US" b="1" dirty="0">
              <a:latin typeface="方正卡通简体" pitchFamily="65" charset="-122"/>
              <a:ea typeface="方正卡通简体" pitchFamily="65" charset="-122"/>
            </a:endParaRPr>
          </a:p>
        </p:txBody>
      </p:sp>
      <p:sp>
        <p:nvSpPr>
          <p:cNvPr id="13" name="矩形 12"/>
          <p:cNvSpPr/>
          <p:nvPr/>
        </p:nvSpPr>
        <p:spPr>
          <a:xfrm>
            <a:off x="6085236" y="2499742"/>
            <a:ext cx="2375196" cy="923330"/>
          </a:xfrm>
          <a:prstGeom prst="rect">
            <a:avLst/>
          </a:prstGeom>
        </p:spPr>
        <p:txBody>
          <a:bodyPr wrap="square">
            <a:spAutoFit/>
          </a:bodyPr>
          <a:lstStyle/>
          <a:p>
            <a:r>
              <a:rPr lang="zh-CN" altLang="en-US" b="1" dirty="0" smtClean="0">
                <a:latin typeface="方正卡通简体" pitchFamily="65" charset="-122"/>
                <a:ea typeface="方正卡通简体" pitchFamily="65" charset="-122"/>
              </a:rPr>
              <a:t>我可以上</a:t>
            </a:r>
            <a:endParaRPr lang="en-US" altLang="zh-CN" b="1" dirty="0" smtClean="0">
              <a:latin typeface="方正卡通简体" pitchFamily="65" charset="-122"/>
              <a:ea typeface="方正卡通简体" pitchFamily="65" charset="-122"/>
            </a:endParaRPr>
          </a:p>
          <a:p>
            <a:r>
              <a:rPr lang="en-US" altLang="zh-CN" b="1" dirty="0" smtClean="0">
                <a:latin typeface="方正卡通简体" pitchFamily="65" charset="-122"/>
                <a:ea typeface="方正卡通简体" pitchFamily="65" charset="-122"/>
              </a:rPr>
              <a:t>《</a:t>
            </a:r>
            <a:r>
              <a:rPr lang="zh-CN" altLang="en-US" b="1" dirty="0" smtClean="0">
                <a:latin typeface="方正卡通简体" pitchFamily="65" charset="-122"/>
                <a:ea typeface="方正卡通简体" pitchFamily="65" charset="-122"/>
              </a:rPr>
              <a:t>网易云课堂</a:t>
            </a:r>
            <a:r>
              <a:rPr lang="en-US" altLang="zh-CN" b="1" dirty="0" smtClean="0">
                <a:latin typeface="方正卡通简体" pitchFamily="65" charset="-122"/>
                <a:ea typeface="方正卡通简体" pitchFamily="65" charset="-122"/>
              </a:rPr>
              <a:t>》</a:t>
            </a:r>
          </a:p>
          <a:p>
            <a:r>
              <a:rPr lang="zh-CN" altLang="en-US" b="1" dirty="0" smtClean="0">
                <a:latin typeface="方正卡通简体" pitchFamily="65" charset="-122"/>
                <a:ea typeface="方正卡通简体" pitchFamily="65" charset="-122"/>
              </a:rPr>
              <a:t>和秋大一起学</a:t>
            </a:r>
            <a:r>
              <a:rPr lang="en-US" altLang="zh-CN" b="1" dirty="0" smtClean="0">
                <a:latin typeface="方正卡通简体" pitchFamily="65" charset="-122"/>
                <a:ea typeface="方正卡通简体" pitchFamily="65" charset="-122"/>
              </a:rPr>
              <a:t>PPT</a:t>
            </a:r>
            <a:r>
              <a:rPr lang="zh-CN" altLang="en-US" b="1" dirty="0" smtClean="0">
                <a:latin typeface="方正卡通简体" pitchFamily="65" charset="-122"/>
                <a:ea typeface="方正卡通简体" pitchFamily="65" charset="-122"/>
              </a:rPr>
              <a:t>！</a:t>
            </a:r>
            <a:endParaRPr lang="zh-CN" altLang="en-US" b="1" dirty="0">
              <a:latin typeface="方正卡通简体" pitchFamily="65" charset="-122"/>
              <a:ea typeface="方正卡通简体" pitchFamily="65" charset="-122"/>
            </a:endParaRPr>
          </a:p>
        </p:txBody>
      </p:sp>
      <p:sp>
        <p:nvSpPr>
          <p:cNvPr id="15" name="TextBox 14"/>
          <p:cNvSpPr txBox="1"/>
          <p:nvPr/>
        </p:nvSpPr>
        <p:spPr>
          <a:xfrm>
            <a:off x="3290288" y="4256971"/>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1</a:t>
            </a:r>
            <a:endParaRPr lang="zh-CN" altLang="en-US" sz="1000" b="1" dirty="0">
              <a:latin typeface="方正卡通简体" pitchFamily="65" charset="-122"/>
              <a:ea typeface="方正卡通简体" pitchFamily="65" charset="-122"/>
            </a:endParaRPr>
          </a:p>
        </p:txBody>
      </p:sp>
      <p:sp>
        <p:nvSpPr>
          <p:cNvPr id="16" name="TextBox 15"/>
          <p:cNvSpPr txBox="1"/>
          <p:nvPr/>
        </p:nvSpPr>
        <p:spPr>
          <a:xfrm>
            <a:off x="5738832" y="4269745"/>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2</a:t>
            </a:r>
            <a:endParaRPr lang="zh-CN" altLang="en-US" sz="1000" b="1" dirty="0">
              <a:latin typeface="方正卡通简体" pitchFamily="65" charset="-122"/>
              <a:ea typeface="方正卡通简体" pitchFamily="65" charset="-122"/>
            </a:endParaRPr>
          </a:p>
        </p:txBody>
      </p:sp>
      <p:sp>
        <p:nvSpPr>
          <p:cNvPr id="17" name="TextBox 16"/>
          <p:cNvSpPr txBox="1"/>
          <p:nvPr/>
        </p:nvSpPr>
        <p:spPr>
          <a:xfrm>
            <a:off x="6026863" y="4269745"/>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3</a:t>
            </a:r>
            <a:endParaRPr lang="zh-CN" altLang="en-US" sz="1000" b="1" dirty="0">
              <a:latin typeface="方正卡通简体" pitchFamily="65" charset="-122"/>
              <a:ea typeface="方正卡通简体" pitchFamily="65" charset="-122"/>
            </a:endParaRPr>
          </a:p>
        </p:txBody>
      </p:sp>
    </p:spTree>
    <p:extLst>
      <p:ext uri="{BB962C8B-B14F-4D97-AF65-F5344CB8AC3E}">
        <p14:creationId xmlns:p14="http://schemas.microsoft.com/office/powerpoint/2010/main" val="30830718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47664" y="483518"/>
            <a:ext cx="3018775" cy="461665"/>
          </a:xfrm>
          <a:prstGeom prst="rect">
            <a:avLst/>
          </a:prstGeom>
        </p:spPr>
        <p:txBody>
          <a:bodyPr wrap="none">
            <a:spAutoFit/>
          </a:bodyPr>
          <a:lstStyle/>
          <a:p>
            <a:r>
              <a:rPr lang="en-US" altLang="zh-CN" sz="2400" b="1" spc="150" dirty="0" smtClean="0">
                <a:solidFill>
                  <a:schemeClr val="bg1"/>
                </a:solidFill>
                <a:latin typeface="微软雅黑" pitchFamily="34" charset="-122"/>
                <a:ea typeface="微软雅黑" pitchFamily="34" charset="-122"/>
              </a:rPr>
              <a:t>B.6</a:t>
            </a:r>
            <a:r>
              <a:rPr lang="zh-CN" altLang="en-US" sz="2400" b="1" spc="150" dirty="0" smtClean="0">
                <a:solidFill>
                  <a:schemeClr val="bg1"/>
                </a:solidFill>
                <a:latin typeface="微软雅黑" pitchFamily="34" charset="-122"/>
                <a:ea typeface="微软雅黑" pitchFamily="34" charset="-122"/>
              </a:rPr>
              <a:t>种不相关的</a:t>
            </a:r>
            <a:r>
              <a:rPr lang="zh-CN" altLang="en-US" sz="2400" b="1" spc="150" dirty="0">
                <a:solidFill>
                  <a:schemeClr val="bg1"/>
                </a:solidFill>
                <a:latin typeface="微软雅黑" pitchFamily="34" charset="-122"/>
                <a:ea typeface="微软雅黑" pitchFamily="34" charset="-122"/>
              </a:rPr>
              <a:t>前提</a:t>
            </a:r>
          </a:p>
        </p:txBody>
      </p:sp>
      <p:sp>
        <p:nvSpPr>
          <p:cNvPr id="5" name="矩形 4"/>
          <p:cNvSpPr/>
          <p:nvPr/>
        </p:nvSpPr>
        <p:spPr>
          <a:xfrm>
            <a:off x="1475658" y="1454580"/>
            <a:ext cx="6336704" cy="757130"/>
          </a:xfrm>
          <a:prstGeom prst="rect">
            <a:avLst/>
          </a:prstGeom>
        </p:spPr>
        <p:txBody>
          <a:bodyPr wrap="square">
            <a:spAutoFit/>
          </a:bodyPr>
          <a:lstStyle/>
          <a:p>
            <a:pPr>
              <a:lnSpc>
                <a:spcPct val="120000"/>
              </a:lnSpc>
            </a:pPr>
            <a:r>
              <a:rPr lang="zh-CN" altLang="en-US" sz="2000" b="1" dirty="0" smtClean="0">
                <a:solidFill>
                  <a:srgbClr val="06ACDE"/>
                </a:solidFill>
                <a:latin typeface="微软雅黑" pitchFamily="34" charset="-122"/>
                <a:ea typeface="微软雅黑" pitchFamily="34" charset="-122"/>
              </a:rPr>
              <a:t>组合</a:t>
            </a:r>
            <a:endParaRPr lang="en-US" altLang="zh-CN" sz="2000" b="1" dirty="0" smtClean="0">
              <a:solidFill>
                <a:srgbClr val="06ACDE"/>
              </a:solidFill>
              <a:latin typeface="微软雅黑" pitchFamily="34" charset="-122"/>
              <a:ea typeface="微软雅黑" pitchFamily="34" charset="-122"/>
            </a:endParaRPr>
          </a:p>
          <a:p>
            <a:pPr>
              <a:lnSpc>
                <a:spcPct val="120000"/>
              </a:lnSpc>
            </a:pPr>
            <a:r>
              <a:rPr lang="zh-CN" altLang="en-US" sz="1600" dirty="0" smtClean="0">
                <a:latin typeface="微软雅黑" pitchFamily="34" charset="-122"/>
                <a:ea typeface="微软雅黑" pitchFamily="34" charset="-122"/>
              </a:rPr>
              <a:t>一个论证可能会主张：对部分真的东西对整体也真，这就是组合谬误。</a:t>
            </a:r>
            <a:endParaRPr lang="en-US" altLang="zh-CN" sz="1600" dirty="0">
              <a:latin typeface="微软雅黑" pitchFamily="34" charset="-122"/>
              <a:ea typeface="微软雅黑" pitchFamily="34" charset="-122"/>
            </a:endParaRPr>
          </a:p>
        </p:txBody>
      </p:sp>
      <p:sp>
        <p:nvSpPr>
          <p:cNvPr id="6" name="矩形 5"/>
          <p:cNvSpPr/>
          <p:nvPr/>
        </p:nvSpPr>
        <p:spPr>
          <a:xfrm>
            <a:off x="1475656" y="1397031"/>
            <a:ext cx="6336705" cy="30963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1475657" y="2211710"/>
            <a:ext cx="63367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4566439" y="2211709"/>
            <a:ext cx="5562" cy="228166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4738886" y="2571750"/>
            <a:ext cx="2376835" cy="369332"/>
          </a:xfrm>
          <a:prstGeom prst="rect">
            <a:avLst/>
          </a:prstGeom>
        </p:spPr>
        <p:txBody>
          <a:bodyPr wrap="square">
            <a:spAutoFit/>
          </a:bodyPr>
          <a:lstStyle/>
          <a:p>
            <a:r>
              <a:rPr lang="zh-CN" altLang="en-US" b="1" dirty="0" smtClean="0">
                <a:latin typeface="方正卡通简体" pitchFamily="65" charset="-122"/>
                <a:ea typeface="方正卡通简体" pitchFamily="65" charset="-122"/>
              </a:rPr>
              <a:t>你为何要放弃治疗？</a:t>
            </a:r>
            <a:endParaRPr lang="zh-CN" altLang="en-US" b="1" dirty="0">
              <a:latin typeface="方正卡通简体" pitchFamily="65" charset="-122"/>
              <a:ea typeface="方正卡通简体" pitchFamily="65" charset="-122"/>
            </a:endParaRPr>
          </a:p>
        </p:txBody>
      </p:sp>
      <p:pic>
        <p:nvPicPr>
          <p:cNvPr id="9" name="Picture 2" descr="E:\PPT\暴走漫画全部素材\暴走漫画全部素材\1PE4TQ5LX@Y0OD~XETKM@9U.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2885" y="3363838"/>
            <a:ext cx="1104900" cy="1057275"/>
          </a:xfrm>
          <a:prstGeom prst="rect">
            <a:avLst/>
          </a:prstGeom>
          <a:noFill/>
          <a:extLst>
            <a:ext uri="{909E8E84-426E-40DD-AFC4-6F175D3DCCD1}">
              <a14:hiddenFill xmlns:a14="http://schemas.microsoft.com/office/drawing/2010/main">
                <a:solidFill>
                  <a:srgbClr val="FFFFFF"/>
                </a:solidFill>
              </a14:hiddenFill>
            </a:ext>
          </a:extLst>
        </p:spPr>
      </p:pic>
      <p:sp>
        <p:nvSpPr>
          <p:cNvPr id="24" name="矩形 23"/>
          <p:cNvSpPr/>
          <p:nvPr/>
        </p:nvSpPr>
        <p:spPr>
          <a:xfrm>
            <a:off x="1896364" y="2495975"/>
            <a:ext cx="2520280" cy="830997"/>
          </a:xfrm>
          <a:prstGeom prst="rect">
            <a:avLst/>
          </a:prstGeom>
        </p:spPr>
        <p:txBody>
          <a:bodyPr wrap="square">
            <a:spAutoFit/>
          </a:bodyPr>
          <a:lstStyle/>
          <a:p>
            <a:r>
              <a:rPr lang="zh-CN" altLang="en-US" sz="1600" b="1" dirty="0" smtClean="0">
                <a:latin typeface="方正卡通简体" pitchFamily="65" charset="-122"/>
                <a:ea typeface="方正卡通简体" pitchFamily="65" charset="-122"/>
              </a:rPr>
              <a:t>喜欢都叫兽会让我开心一整天，如果大家都喜欢他，那整个国家都会很开心。。</a:t>
            </a:r>
            <a:endParaRPr lang="zh-CN" altLang="en-US" sz="1600" b="1" dirty="0">
              <a:latin typeface="方正卡通简体" pitchFamily="65" charset="-122"/>
              <a:ea typeface="方正卡通简体" pitchFamily="65" charset="-122"/>
            </a:endParaRPr>
          </a:p>
        </p:txBody>
      </p:sp>
      <p:pic>
        <p:nvPicPr>
          <p:cNvPr id="2051" name="Picture 3" descr="E:\PPT\暴走漫画全部素材\暴走漫画全部素材\{F43[1ZTUHF]YJ_6CGQD[$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225" y="3089981"/>
            <a:ext cx="1054993" cy="136924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4298672" y="4243203"/>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1</a:t>
            </a:r>
            <a:endParaRPr lang="zh-CN" altLang="en-US" sz="1000" b="1" dirty="0">
              <a:latin typeface="方正卡通简体" pitchFamily="65" charset="-122"/>
              <a:ea typeface="方正卡通简体" pitchFamily="65" charset="-122"/>
            </a:endParaRPr>
          </a:p>
        </p:txBody>
      </p:sp>
      <p:sp>
        <p:nvSpPr>
          <p:cNvPr id="13" name="TextBox 12"/>
          <p:cNvSpPr txBox="1"/>
          <p:nvPr/>
        </p:nvSpPr>
        <p:spPr>
          <a:xfrm>
            <a:off x="4572001" y="4243203"/>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2</a:t>
            </a:r>
            <a:endParaRPr lang="zh-CN" altLang="en-US" sz="1000" b="1" dirty="0">
              <a:latin typeface="方正卡通简体" pitchFamily="65" charset="-122"/>
              <a:ea typeface="方正卡通简体" pitchFamily="65" charset="-122"/>
            </a:endParaRPr>
          </a:p>
        </p:txBody>
      </p:sp>
    </p:spTree>
    <p:extLst>
      <p:ext uri="{BB962C8B-B14F-4D97-AF65-F5344CB8AC3E}">
        <p14:creationId xmlns:p14="http://schemas.microsoft.com/office/powerpoint/2010/main" val="28952532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PPT\暴走漫画全部素材\暴走漫画全部素材\KU~PPV`H(EH~FX{4(F_GEN9.jpg"/>
          <p:cNvPicPr>
            <a:picLocks noChangeAspect="1" noChangeArrowheads="1"/>
          </p:cNvPicPr>
          <p:nvPr/>
        </p:nvPicPr>
        <p:blipFill rotWithShape="1">
          <a:blip r:embed="rId3">
            <a:extLst>
              <a:ext uri="{28A0092B-C50C-407E-A947-70E740481C1C}">
                <a14:useLocalDpi xmlns:a14="http://schemas.microsoft.com/office/drawing/2010/main" val="0"/>
              </a:ext>
            </a:extLst>
          </a:blip>
          <a:srcRect b="32411"/>
          <a:stretch/>
        </p:blipFill>
        <p:spPr bwMode="auto">
          <a:xfrm flipH="1">
            <a:off x="7060780" y="2067694"/>
            <a:ext cx="1039612" cy="84319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E:\PPT\暴走漫画全部素材\暴走漫画全部素材\KU~PPV`H(EH~FX{4(F_GEN9.jpg"/>
          <p:cNvPicPr>
            <a:picLocks noChangeAspect="1" noChangeArrowheads="1"/>
          </p:cNvPicPr>
          <p:nvPr/>
        </p:nvPicPr>
        <p:blipFill rotWithShape="1">
          <a:blip r:embed="rId3">
            <a:extLst>
              <a:ext uri="{28A0092B-C50C-407E-A947-70E740481C1C}">
                <a14:useLocalDpi xmlns:a14="http://schemas.microsoft.com/office/drawing/2010/main" val="0"/>
              </a:ext>
            </a:extLst>
          </a:blip>
          <a:srcRect b="27648"/>
          <a:stretch/>
        </p:blipFill>
        <p:spPr bwMode="auto">
          <a:xfrm flipH="1">
            <a:off x="4572000" y="3901390"/>
            <a:ext cx="1039612" cy="9026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表格 6"/>
          <p:cNvGraphicFramePr>
            <a:graphicFrameLocks noGrp="1"/>
          </p:cNvGraphicFramePr>
          <p:nvPr>
            <p:extLst>
              <p:ext uri="{D42A27DB-BD31-4B8C-83A1-F6EECF244321}">
                <p14:modId xmlns:p14="http://schemas.microsoft.com/office/powerpoint/2010/main" val="2145413095"/>
              </p:ext>
            </p:extLst>
          </p:nvPr>
        </p:nvGraphicFramePr>
        <p:xfrm>
          <a:off x="3347862" y="1235132"/>
          <a:ext cx="4752528" cy="3530658"/>
        </p:xfrm>
        <a:graphic>
          <a:graphicData uri="http://schemas.openxmlformats.org/drawingml/2006/table">
            <a:tbl>
              <a:tblPr firstRow="1" bandRow="1">
                <a:tableStyleId>{5C22544A-7EE6-4342-B048-85BDC9FD1C3A}</a:tableStyleId>
              </a:tblPr>
              <a:tblGrid>
                <a:gridCol w="2304257"/>
                <a:gridCol w="2448271"/>
              </a:tblGrid>
              <a:tr h="1696658">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r h="1834000">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sp>
        <p:nvSpPr>
          <p:cNvPr id="2" name="矩形 1"/>
          <p:cNvSpPr/>
          <p:nvPr/>
        </p:nvSpPr>
        <p:spPr>
          <a:xfrm>
            <a:off x="1547664" y="483518"/>
            <a:ext cx="3018775" cy="461665"/>
          </a:xfrm>
          <a:prstGeom prst="rect">
            <a:avLst/>
          </a:prstGeom>
        </p:spPr>
        <p:txBody>
          <a:bodyPr wrap="none">
            <a:spAutoFit/>
          </a:bodyPr>
          <a:lstStyle/>
          <a:p>
            <a:r>
              <a:rPr lang="en-US" altLang="zh-CN" sz="2400" b="1" spc="150" dirty="0" smtClean="0">
                <a:solidFill>
                  <a:schemeClr val="bg1"/>
                </a:solidFill>
                <a:latin typeface="微软雅黑" pitchFamily="34" charset="-122"/>
                <a:ea typeface="微软雅黑" pitchFamily="34" charset="-122"/>
              </a:rPr>
              <a:t>B.6</a:t>
            </a:r>
            <a:r>
              <a:rPr lang="zh-CN" altLang="en-US" sz="2400" b="1" spc="150" dirty="0" smtClean="0">
                <a:solidFill>
                  <a:schemeClr val="bg1"/>
                </a:solidFill>
                <a:latin typeface="微软雅黑" pitchFamily="34" charset="-122"/>
                <a:ea typeface="微软雅黑" pitchFamily="34" charset="-122"/>
              </a:rPr>
              <a:t>种不相关的</a:t>
            </a:r>
            <a:r>
              <a:rPr lang="zh-CN" altLang="en-US" sz="2400" b="1" spc="150" dirty="0">
                <a:solidFill>
                  <a:schemeClr val="bg1"/>
                </a:solidFill>
                <a:latin typeface="微软雅黑" pitchFamily="34" charset="-122"/>
                <a:ea typeface="微软雅黑" pitchFamily="34" charset="-122"/>
              </a:rPr>
              <a:t>前提</a:t>
            </a:r>
          </a:p>
        </p:txBody>
      </p:sp>
      <p:graphicFrame>
        <p:nvGraphicFramePr>
          <p:cNvPr id="3" name="表格 2"/>
          <p:cNvGraphicFramePr>
            <a:graphicFrameLocks noGrp="1"/>
          </p:cNvGraphicFramePr>
          <p:nvPr>
            <p:extLst>
              <p:ext uri="{D42A27DB-BD31-4B8C-83A1-F6EECF244321}">
                <p14:modId xmlns:p14="http://schemas.microsoft.com/office/powerpoint/2010/main" val="1581459800"/>
              </p:ext>
            </p:extLst>
          </p:nvPr>
        </p:nvGraphicFramePr>
        <p:xfrm>
          <a:off x="1154578" y="1240970"/>
          <a:ext cx="2193285" cy="3530658"/>
        </p:xfrm>
        <a:graphic>
          <a:graphicData uri="http://schemas.openxmlformats.org/drawingml/2006/table">
            <a:tbl>
              <a:tblPr firstRow="1" bandRow="1">
                <a:tableStyleId>{5C22544A-7EE6-4342-B048-85BDC9FD1C3A}</a:tableStyleId>
              </a:tblPr>
              <a:tblGrid>
                <a:gridCol w="2193285"/>
              </a:tblGrid>
              <a:tr h="3530658">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pic>
        <p:nvPicPr>
          <p:cNvPr id="4" name="Picture 2" descr="E:\PPT\暴走漫画全部素材\暴走漫画全部素材\]KJ]~)5809){HD605J)298J.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7996" y="2961986"/>
            <a:ext cx="2432396" cy="1809641"/>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1226587" y="1779662"/>
            <a:ext cx="2121277" cy="1938992"/>
          </a:xfrm>
          <a:prstGeom prst="rect">
            <a:avLst/>
          </a:prstGeom>
        </p:spPr>
        <p:txBody>
          <a:bodyPr wrap="square">
            <a:spAutoFit/>
          </a:bodyPr>
          <a:lstStyle/>
          <a:p>
            <a:pPr>
              <a:lnSpc>
                <a:spcPct val="120000"/>
              </a:lnSpc>
            </a:pPr>
            <a:r>
              <a:rPr lang="zh-CN" altLang="en-US" sz="2000" b="1" dirty="0" smtClean="0">
                <a:solidFill>
                  <a:srgbClr val="06ACDE"/>
                </a:solidFill>
                <a:latin typeface="微软雅黑" pitchFamily="34" charset="-122"/>
                <a:ea typeface="微软雅黑" pitchFamily="34" charset="-122"/>
              </a:rPr>
              <a:t>人身攻击</a:t>
            </a:r>
            <a:endParaRPr lang="en-US" altLang="zh-CN" sz="2000" b="1" dirty="0" smtClean="0">
              <a:solidFill>
                <a:srgbClr val="06ACDE"/>
              </a:solidFill>
              <a:latin typeface="微软雅黑" pitchFamily="34" charset="-122"/>
              <a:ea typeface="微软雅黑" pitchFamily="34" charset="-122"/>
            </a:endParaRPr>
          </a:p>
          <a:p>
            <a:pPr>
              <a:lnSpc>
                <a:spcPct val="120000"/>
              </a:lnSpc>
            </a:pPr>
            <a:r>
              <a:rPr lang="zh-CN" altLang="en-US" sz="1600" dirty="0" smtClean="0">
                <a:latin typeface="微软雅黑" pitchFamily="34" charset="-122"/>
                <a:ea typeface="微软雅黑" pitchFamily="34" charset="-122"/>
              </a:rPr>
              <a:t>当某人试图通过批评或诋毁论证的提出者而非针对论证本身来反驳论证时，此人就犯了人身攻击的谬误。</a:t>
            </a:r>
            <a:endParaRPr lang="en-US" altLang="zh-CN" sz="1600" dirty="0">
              <a:latin typeface="微软雅黑" pitchFamily="34" charset="-122"/>
              <a:ea typeface="微软雅黑" pitchFamily="34" charset="-122"/>
            </a:endParaRPr>
          </a:p>
        </p:txBody>
      </p:sp>
      <p:pic>
        <p:nvPicPr>
          <p:cNvPr id="9" name="Picture 2" descr="E:\PPT\暴走漫画全部素材\暴走漫画全部素材\4DQP{]J5WACG7V]U9DWV1[8.jpg"/>
          <p:cNvPicPr>
            <a:picLocks noChangeAspect="1" noChangeArrowheads="1"/>
          </p:cNvPicPr>
          <p:nvPr/>
        </p:nvPicPr>
        <p:blipFill>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347863" y="1864444"/>
            <a:ext cx="1266738" cy="1067346"/>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3981232" y="1454859"/>
            <a:ext cx="1584177" cy="646331"/>
          </a:xfrm>
          <a:prstGeom prst="rect">
            <a:avLst/>
          </a:prstGeom>
        </p:spPr>
        <p:txBody>
          <a:bodyPr wrap="square">
            <a:spAutoFit/>
          </a:bodyPr>
          <a:lstStyle/>
          <a:p>
            <a:r>
              <a:rPr lang="zh-CN" altLang="en-US" b="1" dirty="0" smtClean="0">
                <a:latin typeface="方正卡通简体" pitchFamily="65" charset="-122"/>
                <a:ea typeface="方正卡通简体" pitchFamily="65" charset="-122"/>
              </a:rPr>
              <a:t>他是</a:t>
            </a:r>
            <a:r>
              <a:rPr lang="en-US" altLang="zh-CN" b="1" dirty="0" smtClean="0">
                <a:latin typeface="方正卡通简体" pitchFamily="65" charset="-122"/>
                <a:ea typeface="方正卡通简体" pitchFamily="65" charset="-122"/>
              </a:rPr>
              <a:t>90</a:t>
            </a:r>
            <a:r>
              <a:rPr lang="zh-CN" altLang="en-US" b="1" dirty="0" smtClean="0">
                <a:latin typeface="方正卡通简体" pitchFamily="65" charset="-122"/>
                <a:ea typeface="方正卡通简体" pitchFamily="65" charset="-122"/>
              </a:rPr>
              <a:t>后，</a:t>
            </a:r>
            <a:endParaRPr lang="en-US" altLang="zh-CN" b="1" dirty="0" smtClean="0">
              <a:latin typeface="方正卡通简体" pitchFamily="65" charset="-122"/>
              <a:ea typeface="方正卡通简体" pitchFamily="65" charset="-122"/>
            </a:endParaRPr>
          </a:p>
          <a:p>
            <a:r>
              <a:rPr lang="zh-CN" altLang="en-US" b="1" dirty="0" smtClean="0">
                <a:latin typeface="方正卡通简体" pitchFamily="65" charset="-122"/>
                <a:ea typeface="方正卡通简体" pitchFamily="65" charset="-122"/>
              </a:rPr>
              <a:t>他的话能信吗！</a:t>
            </a:r>
            <a:endParaRPr lang="zh-CN" altLang="en-US" b="1" dirty="0">
              <a:latin typeface="方正卡通简体" pitchFamily="65" charset="-122"/>
              <a:ea typeface="方正卡通简体" pitchFamily="65" charset="-122"/>
            </a:endParaRPr>
          </a:p>
        </p:txBody>
      </p:sp>
      <p:sp>
        <p:nvSpPr>
          <p:cNvPr id="11" name="矩形 10"/>
          <p:cNvSpPr/>
          <p:nvPr/>
        </p:nvSpPr>
        <p:spPr>
          <a:xfrm>
            <a:off x="5896912" y="1513316"/>
            <a:ext cx="1584177" cy="369332"/>
          </a:xfrm>
          <a:prstGeom prst="rect">
            <a:avLst/>
          </a:prstGeom>
        </p:spPr>
        <p:txBody>
          <a:bodyPr wrap="square">
            <a:spAutoFit/>
          </a:bodyPr>
          <a:lstStyle/>
          <a:p>
            <a:r>
              <a:rPr lang="zh-CN" altLang="en-US" b="1" dirty="0" smtClean="0">
                <a:latin typeface="方正卡通简体" pitchFamily="65" charset="-122"/>
                <a:ea typeface="方正卡通简体" pitchFamily="65" charset="-122"/>
              </a:rPr>
              <a:t>为什么不呢？</a:t>
            </a:r>
            <a:endParaRPr lang="zh-CN" altLang="en-US" b="1" dirty="0">
              <a:latin typeface="方正卡通简体" pitchFamily="65" charset="-122"/>
              <a:ea typeface="方正卡通简体" pitchFamily="65" charset="-122"/>
            </a:endParaRPr>
          </a:p>
        </p:txBody>
      </p:sp>
      <p:sp>
        <p:nvSpPr>
          <p:cNvPr id="12" name="矩形 11"/>
          <p:cNvSpPr/>
          <p:nvPr/>
        </p:nvSpPr>
        <p:spPr>
          <a:xfrm>
            <a:off x="3564386" y="3077547"/>
            <a:ext cx="1871710" cy="646331"/>
          </a:xfrm>
          <a:prstGeom prst="rect">
            <a:avLst/>
          </a:prstGeom>
        </p:spPr>
        <p:txBody>
          <a:bodyPr wrap="square">
            <a:spAutoFit/>
          </a:bodyPr>
          <a:lstStyle/>
          <a:p>
            <a:r>
              <a:rPr lang="zh-CN" altLang="en-US" b="1" dirty="0" smtClean="0">
                <a:latin typeface="方正卡通简体" pitchFamily="65" charset="-122"/>
                <a:ea typeface="方正卡通简体" pitchFamily="65" charset="-122"/>
              </a:rPr>
              <a:t>想想以前你们是怎么说</a:t>
            </a:r>
            <a:r>
              <a:rPr lang="en-US" altLang="zh-CN" b="1" dirty="0" smtClean="0">
                <a:latin typeface="方正卡通简体" pitchFamily="65" charset="-122"/>
                <a:ea typeface="方正卡通简体" pitchFamily="65" charset="-122"/>
              </a:rPr>
              <a:t>80</a:t>
            </a:r>
            <a:r>
              <a:rPr lang="zh-CN" altLang="en-US" b="1" dirty="0" smtClean="0">
                <a:latin typeface="方正卡通简体" pitchFamily="65" charset="-122"/>
                <a:ea typeface="方正卡通简体" pitchFamily="65" charset="-122"/>
              </a:rPr>
              <a:t>后的！</a:t>
            </a:r>
            <a:endParaRPr lang="zh-CN" altLang="en-US" b="1" dirty="0">
              <a:latin typeface="方正卡通简体" pitchFamily="65" charset="-122"/>
              <a:ea typeface="方正卡通简体" pitchFamily="65" charset="-122"/>
            </a:endParaRPr>
          </a:p>
        </p:txBody>
      </p:sp>
      <p:sp>
        <p:nvSpPr>
          <p:cNvPr id="13" name="TextBox 12"/>
          <p:cNvSpPr txBox="1"/>
          <p:nvPr/>
        </p:nvSpPr>
        <p:spPr>
          <a:xfrm>
            <a:off x="5378791" y="2715766"/>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1</a:t>
            </a:r>
            <a:endParaRPr lang="zh-CN" altLang="en-US" sz="1000" b="1" dirty="0">
              <a:latin typeface="方正卡通简体" pitchFamily="65" charset="-122"/>
              <a:ea typeface="方正卡通简体" pitchFamily="65" charset="-122"/>
            </a:endParaRPr>
          </a:p>
        </p:txBody>
      </p:sp>
      <p:sp>
        <p:nvSpPr>
          <p:cNvPr id="14" name="TextBox 13"/>
          <p:cNvSpPr txBox="1"/>
          <p:nvPr/>
        </p:nvSpPr>
        <p:spPr>
          <a:xfrm>
            <a:off x="5652120" y="2715766"/>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2</a:t>
            </a:r>
            <a:endParaRPr lang="zh-CN" altLang="en-US" sz="1000" b="1" dirty="0">
              <a:latin typeface="方正卡通简体" pitchFamily="65" charset="-122"/>
              <a:ea typeface="方正卡通简体" pitchFamily="65" charset="-122"/>
            </a:endParaRPr>
          </a:p>
        </p:txBody>
      </p:sp>
      <p:sp>
        <p:nvSpPr>
          <p:cNvPr id="16" name="TextBox 15"/>
          <p:cNvSpPr txBox="1"/>
          <p:nvPr/>
        </p:nvSpPr>
        <p:spPr>
          <a:xfrm>
            <a:off x="5378791" y="2931790"/>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3</a:t>
            </a:r>
            <a:endParaRPr lang="zh-CN" altLang="en-US" sz="1000" b="1" dirty="0">
              <a:latin typeface="方正卡通简体" pitchFamily="65" charset="-122"/>
              <a:ea typeface="方正卡通简体" pitchFamily="65" charset="-122"/>
            </a:endParaRPr>
          </a:p>
        </p:txBody>
      </p:sp>
    </p:spTree>
    <p:extLst>
      <p:ext uri="{BB962C8B-B14F-4D97-AF65-F5344CB8AC3E}">
        <p14:creationId xmlns:p14="http://schemas.microsoft.com/office/powerpoint/2010/main" val="21690839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E:\PPT\暴走漫画全部素材\暴走漫画全部素材\UO(YHJKC(9BVO{A{G%3[P_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2160" y="2427735"/>
            <a:ext cx="2294395" cy="2088232"/>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E:\PPT\暴走漫画全部素材\暴走漫画全部素材\PMUF]P3E}89{8GE64M~A_4X.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992" y="3507854"/>
            <a:ext cx="885825" cy="94297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E:\PPT\暴走漫画全部素材\暴走漫画全部素材\8QS9V96~X]R3G4%NHZB52ZJ.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75" y="3219822"/>
            <a:ext cx="1565639" cy="1296144"/>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971600" y="1375138"/>
            <a:ext cx="7344815" cy="1052596"/>
          </a:xfrm>
          <a:prstGeom prst="rect">
            <a:avLst/>
          </a:prstGeom>
        </p:spPr>
        <p:txBody>
          <a:bodyPr wrap="square">
            <a:spAutoFit/>
          </a:bodyPr>
          <a:lstStyle/>
          <a:p>
            <a:pPr>
              <a:lnSpc>
                <a:spcPct val="120000"/>
              </a:lnSpc>
            </a:pPr>
            <a:r>
              <a:rPr lang="zh-CN" altLang="en-US" sz="2000" b="1" dirty="0" smtClean="0">
                <a:solidFill>
                  <a:srgbClr val="06ACDE"/>
                </a:solidFill>
                <a:latin typeface="微软雅黑" pitchFamily="34" charset="-122"/>
                <a:ea typeface="微软雅黑" pitchFamily="34" charset="-122"/>
              </a:rPr>
              <a:t>诉诸权威</a:t>
            </a:r>
            <a:endParaRPr lang="en-US" altLang="zh-CN" sz="2000" b="1" dirty="0" smtClean="0">
              <a:solidFill>
                <a:srgbClr val="06ACDE"/>
              </a:solidFill>
              <a:latin typeface="微软雅黑" pitchFamily="34" charset="-122"/>
              <a:ea typeface="微软雅黑" pitchFamily="34" charset="-122"/>
            </a:endParaRPr>
          </a:p>
          <a:p>
            <a:pPr>
              <a:lnSpc>
                <a:spcPct val="120000"/>
              </a:lnSpc>
            </a:pPr>
            <a:r>
              <a:rPr lang="zh-CN" altLang="en-US" sz="1600" dirty="0" smtClean="0">
                <a:latin typeface="微软雅黑" pitchFamily="34" charset="-122"/>
                <a:ea typeface="微软雅黑" pitchFamily="34" charset="-122"/>
              </a:rPr>
              <a:t>常常通过引用专家来支持我们的看法，当引用的人不属于那个领域的专家时，</a:t>
            </a:r>
            <a:endParaRPr lang="en-US" altLang="zh-CN" sz="1600" dirty="0" smtClean="0">
              <a:latin typeface="微软雅黑" pitchFamily="34" charset="-122"/>
              <a:ea typeface="微软雅黑" pitchFamily="34" charset="-122"/>
            </a:endParaRPr>
          </a:p>
          <a:p>
            <a:pPr>
              <a:lnSpc>
                <a:spcPct val="120000"/>
              </a:lnSpc>
            </a:pPr>
            <a:r>
              <a:rPr lang="zh-CN" altLang="en-US" sz="1600" dirty="0" smtClean="0">
                <a:latin typeface="微软雅黑" pitchFamily="34" charset="-122"/>
                <a:ea typeface="微软雅黑" pitchFamily="34" charset="-122"/>
              </a:rPr>
              <a:t>论证便是谬误的。</a:t>
            </a:r>
            <a:endParaRPr lang="en-US" altLang="zh-CN" sz="1600" dirty="0">
              <a:latin typeface="微软雅黑" pitchFamily="34" charset="-122"/>
              <a:ea typeface="微软雅黑" pitchFamily="34" charset="-122"/>
            </a:endParaRPr>
          </a:p>
        </p:txBody>
      </p:sp>
      <p:sp>
        <p:nvSpPr>
          <p:cNvPr id="6" name="矩形 5"/>
          <p:cNvSpPr/>
          <p:nvPr/>
        </p:nvSpPr>
        <p:spPr>
          <a:xfrm>
            <a:off x="971599" y="1397031"/>
            <a:ext cx="7344815" cy="30963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971600" y="2427734"/>
            <a:ext cx="734481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012161" y="2427734"/>
            <a:ext cx="0" cy="20656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2123728" y="2676857"/>
            <a:ext cx="1440160" cy="830997"/>
          </a:xfrm>
          <a:prstGeom prst="rect">
            <a:avLst/>
          </a:prstGeom>
        </p:spPr>
        <p:txBody>
          <a:bodyPr wrap="square">
            <a:spAutoFit/>
          </a:bodyPr>
          <a:lstStyle/>
          <a:p>
            <a:r>
              <a:rPr lang="zh-CN" altLang="en-US" sz="1600" b="1" dirty="0" smtClean="0">
                <a:latin typeface="方正卡通简体" pitchFamily="65" charset="-122"/>
                <a:ea typeface="方正卡通简体" pitchFamily="65" charset="-122"/>
              </a:rPr>
              <a:t>我比较低调，</a:t>
            </a:r>
            <a:endParaRPr lang="en-US" altLang="zh-CN" sz="1600" b="1" dirty="0" smtClean="0">
              <a:latin typeface="方正卡通简体" pitchFamily="65" charset="-122"/>
              <a:ea typeface="方正卡通简体" pitchFamily="65" charset="-122"/>
            </a:endParaRPr>
          </a:p>
          <a:p>
            <a:r>
              <a:rPr lang="zh-CN" altLang="en-US" sz="1600" b="1" dirty="0" smtClean="0">
                <a:latin typeface="方正卡通简体" pitchFamily="65" charset="-122"/>
                <a:ea typeface="方正卡通简体" pitchFamily="65" charset="-122"/>
              </a:rPr>
              <a:t>明星代言什么</a:t>
            </a:r>
            <a:endParaRPr lang="en-US" altLang="zh-CN" sz="1600" b="1" dirty="0" smtClean="0">
              <a:latin typeface="方正卡通简体" pitchFamily="65" charset="-122"/>
              <a:ea typeface="方正卡通简体" pitchFamily="65" charset="-122"/>
            </a:endParaRPr>
          </a:p>
          <a:p>
            <a:r>
              <a:rPr lang="zh-CN" altLang="en-US" sz="1600" b="1" dirty="0" smtClean="0">
                <a:latin typeface="方正卡通简体" pitchFamily="65" charset="-122"/>
                <a:ea typeface="方正卡通简体" pitchFamily="65" charset="-122"/>
              </a:rPr>
              <a:t>我就吃什么</a:t>
            </a:r>
            <a:endParaRPr lang="zh-CN" altLang="en-US" sz="1600" b="1" dirty="0">
              <a:latin typeface="方正卡通简体" pitchFamily="65" charset="-122"/>
              <a:ea typeface="方正卡通简体" pitchFamily="65" charset="-122"/>
            </a:endParaRPr>
          </a:p>
        </p:txBody>
      </p:sp>
      <p:cxnSp>
        <p:nvCxnSpPr>
          <p:cNvPr id="10" name="直接连接符 9"/>
          <p:cNvCxnSpPr/>
          <p:nvPr/>
        </p:nvCxnSpPr>
        <p:spPr>
          <a:xfrm>
            <a:off x="3563888" y="2427734"/>
            <a:ext cx="0" cy="20656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851920" y="2850490"/>
            <a:ext cx="1872208" cy="369332"/>
          </a:xfrm>
          <a:prstGeom prst="rect">
            <a:avLst/>
          </a:prstGeom>
        </p:spPr>
        <p:txBody>
          <a:bodyPr wrap="square">
            <a:spAutoFit/>
          </a:bodyPr>
          <a:lstStyle/>
          <a:p>
            <a:r>
              <a:rPr lang="zh-CN" altLang="en-US" b="1" dirty="0" smtClean="0">
                <a:latin typeface="方正卡通简体" pitchFamily="65" charset="-122"/>
                <a:ea typeface="方正卡通简体" pitchFamily="65" charset="-122"/>
              </a:rPr>
              <a:t>你听说过三鹿吗？</a:t>
            </a:r>
            <a:endParaRPr lang="zh-CN" altLang="en-US" b="1" dirty="0">
              <a:latin typeface="方正卡通简体" pitchFamily="65" charset="-122"/>
              <a:ea typeface="方正卡通简体" pitchFamily="65" charset="-122"/>
            </a:endParaRPr>
          </a:p>
        </p:txBody>
      </p:sp>
      <p:sp>
        <p:nvSpPr>
          <p:cNvPr id="16" name="矩形 15"/>
          <p:cNvSpPr/>
          <p:nvPr/>
        </p:nvSpPr>
        <p:spPr>
          <a:xfrm>
            <a:off x="1547664" y="483518"/>
            <a:ext cx="3018775" cy="461665"/>
          </a:xfrm>
          <a:prstGeom prst="rect">
            <a:avLst/>
          </a:prstGeom>
        </p:spPr>
        <p:txBody>
          <a:bodyPr wrap="none">
            <a:spAutoFit/>
          </a:bodyPr>
          <a:lstStyle/>
          <a:p>
            <a:r>
              <a:rPr lang="en-US" altLang="zh-CN" sz="2400" b="1" spc="150" dirty="0" smtClean="0">
                <a:solidFill>
                  <a:schemeClr val="bg1"/>
                </a:solidFill>
                <a:latin typeface="微软雅黑" pitchFamily="34" charset="-122"/>
                <a:ea typeface="微软雅黑" pitchFamily="34" charset="-122"/>
              </a:rPr>
              <a:t>B.6</a:t>
            </a:r>
            <a:r>
              <a:rPr lang="zh-CN" altLang="en-US" sz="2400" b="1" spc="150" dirty="0" smtClean="0">
                <a:solidFill>
                  <a:schemeClr val="bg1"/>
                </a:solidFill>
                <a:latin typeface="微软雅黑" pitchFamily="34" charset="-122"/>
                <a:ea typeface="微软雅黑" pitchFamily="34" charset="-122"/>
              </a:rPr>
              <a:t>种不相关的</a:t>
            </a:r>
            <a:r>
              <a:rPr lang="zh-CN" altLang="en-US" sz="2400" b="1" spc="150" dirty="0">
                <a:solidFill>
                  <a:schemeClr val="bg1"/>
                </a:solidFill>
                <a:latin typeface="微软雅黑" pitchFamily="34" charset="-122"/>
                <a:ea typeface="微软雅黑" pitchFamily="34" charset="-122"/>
              </a:rPr>
              <a:t>前提</a:t>
            </a:r>
          </a:p>
        </p:txBody>
      </p:sp>
      <p:sp>
        <p:nvSpPr>
          <p:cNvPr id="13" name="TextBox 12"/>
          <p:cNvSpPr txBox="1"/>
          <p:nvPr/>
        </p:nvSpPr>
        <p:spPr>
          <a:xfrm>
            <a:off x="3563888" y="4268191"/>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2</a:t>
            </a:r>
            <a:endParaRPr lang="zh-CN" altLang="en-US" sz="1000" b="1" dirty="0">
              <a:latin typeface="方正卡通简体" pitchFamily="65" charset="-122"/>
              <a:ea typeface="方正卡通简体" pitchFamily="65" charset="-122"/>
            </a:endParaRPr>
          </a:p>
        </p:txBody>
      </p:sp>
      <p:sp>
        <p:nvSpPr>
          <p:cNvPr id="15" name="TextBox 14"/>
          <p:cNvSpPr txBox="1"/>
          <p:nvPr/>
        </p:nvSpPr>
        <p:spPr>
          <a:xfrm>
            <a:off x="3290559" y="4269745"/>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1</a:t>
            </a:r>
            <a:endParaRPr lang="zh-CN" altLang="en-US" sz="1000" b="1" dirty="0">
              <a:latin typeface="方正卡通简体" pitchFamily="65" charset="-122"/>
              <a:ea typeface="方正卡通简体" pitchFamily="65" charset="-122"/>
            </a:endParaRPr>
          </a:p>
        </p:txBody>
      </p:sp>
    </p:spTree>
    <p:extLst>
      <p:ext uri="{BB962C8B-B14F-4D97-AF65-F5344CB8AC3E}">
        <p14:creationId xmlns:p14="http://schemas.microsoft.com/office/powerpoint/2010/main" val="40913741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descr="E:\PPT\暴走漫画全部素材\暴走漫画全部素材\N3U1_W`U~V[W3_`B8(RH2E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7056" y="3579862"/>
            <a:ext cx="1219200" cy="1200150"/>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E:\PPT\暴走漫画全部素材\暴走漫画全部素材\J$QM[K]L6{T5H}3MB%%FU~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3760440"/>
            <a:ext cx="942975" cy="9715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E:\PPT\暴走漫画全部素材\暴走漫画全部素材\NE1$%RTCIBGR7S)L%U7S]`C.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0367" y="1882648"/>
            <a:ext cx="1066800" cy="10858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表格 6"/>
          <p:cNvGraphicFramePr>
            <a:graphicFrameLocks noGrp="1"/>
          </p:cNvGraphicFramePr>
          <p:nvPr>
            <p:extLst>
              <p:ext uri="{D42A27DB-BD31-4B8C-83A1-F6EECF244321}">
                <p14:modId xmlns:p14="http://schemas.microsoft.com/office/powerpoint/2010/main" val="1318865506"/>
              </p:ext>
            </p:extLst>
          </p:nvPr>
        </p:nvGraphicFramePr>
        <p:xfrm>
          <a:off x="3347862" y="1235132"/>
          <a:ext cx="4752528" cy="3530658"/>
        </p:xfrm>
        <a:graphic>
          <a:graphicData uri="http://schemas.openxmlformats.org/drawingml/2006/table">
            <a:tbl>
              <a:tblPr firstRow="1" bandRow="1">
                <a:tableStyleId>{5C22544A-7EE6-4342-B048-85BDC9FD1C3A}</a:tableStyleId>
              </a:tblPr>
              <a:tblGrid>
                <a:gridCol w="2304257"/>
                <a:gridCol w="2448271"/>
              </a:tblGrid>
              <a:tr h="1696658">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r h="1834000">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sp>
        <p:nvSpPr>
          <p:cNvPr id="2" name="矩形 1"/>
          <p:cNvSpPr/>
          <p:nvPr/>
        </p:nvSpPr>
        <p:spPr>
          <a:xfrm>
            <a:off x="1547664" y="483518"/>
            <a:ext cx="3018775" cy="461665"/>
          </a:xfrm>
          <a:prstGeom prst="rect">
            <a:avLst/>
          </a:prstGeom>
        </p:spPr>
        <p:txBody>
          <a:bodyPr wrap="none">
            <a:spAutoFit/>
          </a:bodyPr>
          <a:lstStyle/>
          <a:p>
            <a:r>
              <a:rPr lang="en-US" altLang="zh-CN" sz="2400" b="1" spc="150" dirty="0" smtClean="0">
                <a:solidFill>
                  <a:schemeClr val="bg1"/>
                </a:solidFill>
                <a:latin typeface="微软雅黑" pitchFamily="34" charset="-122"/>
                <a:ea typeface="微软雅黑" pitchFamily="34" charset="-122"/>
              </a:rPr>
              <a:t>B.6</a:t>
            </a:r>
            <a:r>
              <a:rPr lang="zh-CN" altLang="en-US" sz="2400" b="1" spc="150" dirty="0" smtClean="0">
                <a:solidFill>
                  <a:schemeClr val="bg1"/>
                </a:solidFill>
                <a:latin typeface="微软雅黑" pitchFamily="34" charset="-122"/>
                <a:ea typeface="微软雅黑" pitchFamily="34" charset="-122"/>
              </a:rPr>
              <a:t>种不相关的</a:t>
            </a:r>
            <a:r>
              <a:rPr lang="zh-CN" altLang="en-US" sz="2400" b="1" spc="150" dirty="0">
                <a:solidFill>
                  <a:schemeClr val="bg1"/>
                </a:solidFill>
                <a:latin typeface="微软雅黑" pitchFamily="34" charset="-122"/>
                <a:ea typeface="微软雅黑" pitchFamily="34" charset="-122"/>
              </a:rPr>
              <a:t>前提</a:t>
            </a:r>
          </a:p>
        </p:txBody>
      </p:sp>
      <p:graphicFrame>
        <p:nvGraphicFramePr>
          <p:cNvPr id="3" name="表格 2"/>
          <p:cNvGraphicFramePr>
            <a:graphicFrameLocks noGrp="1"/>
          </p:cNvGraphicFramePr>
          <p:nvPr>
            <p:extLst>
              <p:ext uri="{D42A27DB-BD31-4B8C-83A1-F6EECF244321}">
                <p14:modId xmlns:p14="http://schemas.microsoft.com/office/powerpoint/2010/main" val="849161476"/>
              </p:ext>
            </p:extLst>
          </p:nvPr>
        </p:nvGraphicFramePr>
        <p:xfrm>
          <a:off x="1154578" y="1240970"/>
          <a:ext cx="2193285" cy="3530658"/>
        </p:xfrm>
        <a:graphic>
          <a:graphicData uri="http://schemas.openxmlformats.org/drawingml/2006/table">
            <a:tbl>
              <a:tblPr firstRow="1" bandRow="1">
                <a:tableStyleId>{5C22544A-7EE6-4342-B048-85BDC9FD1C3A}</a:tableStyleId>
              </a:tblPr>
              <a:tblGrid>
                <a:gridCol w="2193285"/>
              </a:tblGrid>
              <a:tr h="3530658">
                <a:tc>
                  <a:txBody>
                    <a:bodyPr/>
                    <a:lstStyle/>
                    <a:p>
                      <a:endParaRPr lang="zh-CN" altLang="en-US" dirty="0"/>
                    </a:p>
                  </a:txBody>
                  <a:tcPr marT="34290" marB="3429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sp>
        <p:nvSpPr>
          <p:cNvPr id="8" name="矩形 7"/>
          <p:cNvSpPr/>
          <p:nvPr/>
        </p:nvSpPr>
        <p:spPr>
          <a:xfrm>
            <a:off x="1226588" y="2193009"/>
            <a:ext cx="1905252" cy="1348061"/>
          </a:xfrm>
          <a:prstGeom prst="rect">
            <a:avLst/>
          </a:prstGeom>
        </p:spPr>
        <p:txBody>
          <a:bodyPr wrap="square">
            <a:spAutoFit/>
          </a:bodyPr>
          <a:lstStyle/>
          <a:p>
            <a:pPr>
              <a:lnSpc>
                <a:spcPct val="120000"/>
              </a:lnSpc>
            </a:pPr>
            <a:r>
              <a:rPr lang="zh-CN" altLang="en-US" sz="2000" b="1" dirty="0" smtClean="0">
                <a:solidFill>
                  <a:srgbClr val="06ACDE"/>
                </a:solidFill>
                <a:latin typeface="微软雅黑" pitchFamily="34" charset="-122"/>
                <a:ea typeface="微软雅黑" pitchFamily="34" charset="-122"/>
              </a:rPr>
              <a:t>诉诸大众</a:t>
            </a:r>
            <a:endParaRPr lang="en-US" altLang="zh-CN" sz="2000" b="1" dirty="0" smtClean="0">
              <a:solidFill>
                <a:srgbClr val="06ACDE"/>
              </a:solidFill>
              <a:latin typeface="微软雅黑" pitchFamily="34" charset="-122"/>
              <a:ea typeface="微软雅黑" pitchFamily="34" charset="-122"/>
            </a:endParaRPr>
          </a:p>
          <a:p>
            <a:pPr>
              <a:lnSpc>
                <a:spcPct val="120000"/>
              </a:lnSpc>
            </a:pPr>
            <a:r>
              <a:rPr lang="zh-CN" altLang="en-US" sz="1600" dirty="0" smtClean="0">
                <a:latin typeface="微软雅黑" pitchFamily="34" charset="-122"/>
                <a:ea typeface="微软雅黑" pitchFamily="34" charset="-122"/>
              </a:rPr>
              <a:t>因为每个人都相信它，所以它肯定是好的。</a:t>
            </a:r>
            <a:endParaRPr lang="en-US" altLang="zh-CN" sz="1600" dirty="0">
              <a:latin typeface="微软雅黑" pitchFamily="34" charset="-122"/>
              <a:ea typeface="微软雅黑" pitchFamily="34" charset="-122"/>
            </a:endParaRPr>
          </a:p>
        </p:txBody>
      </p:sp>
      <p:sp>
        <p:nvSpPr>
          <p:cNvPr id="10" name="矩形 9"/>
          <p:cNvSpPr/>
          <p:nvPr/>
        </p:nvSpPr>
        <p:spPr>
          <a:xfrm>
            <a:off x="3635896" y="1347614"/>
            <a:ext cx="1944216" cy="646331"/>
          </a:xfrm>
          <a:prstGeom prst="rect">
            <a:avLst/>
          </a:prstGeom>
        </p:spPr>
        <p:txBody>
          <a:bodyPr wrap="square">
            <a:spAutoFit/>
          </a:bodyPr>
          <a:lstStyle/>
          <a:p>
            <a:r>
              <a:rPr lang="zh-CN" altLang="en-US" b="1" dirty="0" smtClean="0">
                <a:latin typeface="方正卡通简体" pitchFamily="65" charset="-122"/>
                <a:ea typeface="方正卡通简体" pitchFamily="65" charset="-122"/>
              </a:rPr>
              <a:t>老妈不在家，先看会动画片。。。</a:t>
            </a:r>
            <a:endParaRPr lang="zh-CN" altLang="en-US" b="1" dirty="0">
              <a:latin typeface="方正卡通简体" pitchFamily="65" charset="-122"/>
              <a:ea typeface="方正卡通简体" pitchFamily="65" charset="-122"/>
            </a:endParaRPr>
          </a:p>
        </p:txBody>
      </p:sp>
      <p:sp>
        <p:nvSpPr>
          <p:cNvPr id="11" name="矩形 10"/>
          <p:cNvSpPr/>
          <p:nvPr/>
        </p:nvSpPr>
        <p:spPr>
          <a:xfrm>
            <a:off x="5896912" y="1513316"/>
            <a:ext cx="1584177" cy="646331"/>
          </a:xfrm>
          <a:prstGeom prst="rect">
            <a:avLst/>
          </a:prstGeom>
        </p:spPr>
        <p:txBody>
          <a:bodyPr wrap="square">
            <a:spAutoFit/>
          </a:bodyPr>
          <a:lstStyle/>
          <a:p>
            <a:r>
              <a:rPr lang="zh-CN" altLang="en-US" b="1" dirty="0" smtClean="0">
                <a:latin typeface="方正卡通简体" pitchFamily="65" charset="-122"/>
                <a:ea typeface="方正卡通简体" pitchFamily="65" charset="-122"/>
              </a:rPr>
              <a:t>为什么不好好写作业呢？</a:t>
            </a:r>
            <a:endParaRPr lang="zh-CN" altLang="en-US" b="1" dirty="0">
              <a:latin typeface="方正卡通简体" pitchFamily="65" charset="-122"/>
              <a:ea typeface="方正卡通简体" pitchFamily="65" charset="-122"/>
            </a:endParaRPr>
          </a:p>
        </p:txBody>
      </p:sp>
      <p:sp>
        <p:nvSpPr>
          <p:cNvPr id="12" name="矩形 11"/>
          <p:cNvSpPr/>
          <p:nvPr/>
        </p:nvSpPr>
        <p:spPr>
          <a:xfrm>
            <a:off x="3492378" y="3075806"/>
            <a:ext cx="1871710" cy="923330"/>
          </a:xfrm>
          <a:prstGeom prst="rect">
            <a:avLst/>
          </a:prstGeom>
        </p:spPr>
        <p:txBody>
          <a:bodyPr wrap="square">
            <a:spAutoFit/>
          </a:bodyPr>
          <a:lstStyle/>
          <a:p>
            <a:r>
              <a:rPr lang="zh-CN" altLang="en-US" b="1" dirty="0" smtClean="0">
                <a:latin typeface="方正卡通简体" pitchFamily="65" charset="-122"/>
                <a:ea typeface="方正卡通简体" pitchFamily="65" charset="-122"/>
              </a:rPr>
              <a:t>老师说可以适度看电视，</a:t>
            </a:r>
            <a:r>
              <a:rPr lang="zh-CN" altLang="en-US" b="1" dirty="0">
                <a:latin typeface="方正卡通简体" pitchFamily="65" charset="-122"/>
                <a:ea typeface="方正卡通简体" pitchFamily="65" charset="-122"/>
              </a:rPr>
              <a:t>防止</a:t>
            </a:r>
            <a:r>
              <a:rPr lang="zh-CN" altLang="en-US" b="1" dirty="0" smtClean="0">
                <a:latin typeface="方正卡通简体" pitchFamily="65" charset="-122"/>
                <a:ea typeface="方正卡通简体" pitchFamily="65" charset="-122"/>
              </a:rPr>
              <a:t>视觉疲劳</a:t>
            </a:r>
            <a:r>
              <a:rPr lang="zh-CN" altLang="en-US" b="1" dirty="0">
                <a:latin typeface="方正卡通简体" pitchFamily="65" charset="-122"/>
                <a:ea typeface="方正卡通简体" pitchFamily="65" charset="-122"/>
              </a:rPr>
              <a:t>。</a:t>
            </a:r>
            <a:endParaRPr lang="en-US" altLang="zh-CN" b="1" dirty="0" smtClean="0">
              <a:latin typeface="方正卡通简体" pitchFamily="65" charset="-122"/>
              <a:ea typeface="方正卡通简体" pitchFamily="65" charset="-122"/>
            </a:endParaRPr>
          </a:p>
        </p:txBody>
      </p:sp>
      <p:pic>
        <p:nvPicPr>
          <p:cNvPr id="4099" name="Picture 3" descr="E:\PPT\暴走漫画全部素材\暴走漫画全部素材\L8YH$26BEX_)D0B5[C8R2@5.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7865" y="2049610"/>
            <a:ext cx="2304256" cy="882180"/>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p:cNvSpPr/>
          <p:nvPr/>
        </p:nvSpPr>
        <p:spPr>
          <a:xfrm>
            <a:off x="6124512" y="2992107"/>
            <a:ext cx="1871710" cy="646331"/>
          </a:xfrm>
          <a:prstGeom prst="rect">
            <a:avLst/>
          </a:prstGeom>
        </p:spPr>
        <p:txBody>
          <a:bodyPr wrap="square">
            <a:spAutoFit/>
          </a:bodyPr>
          <a:lstStyle/>
          <a:p>
            <a:r>
              <a:rPr lang="zh-CN" altLang="en-US" b="1" dirty="0" smtClean="0">
                <a:latin typeface="方正卡通简体" pitchFamily="65" charset="-122"/>
                <a:ea typeface="方正卡通简体" pitchFamily="65" charset="-122"/>
              </a:rPr>
              <a:t>老师让你跳楼你怎么不去啊！！</a:t>
            </a:r>
            <a:endParaRPr lang="en-US" altLang="zh-CN" b="1" dirty="0" smtClean="0">
              <a:latin typeface="方正卡通简体" pitchFamily="65" charset="-122"/>
              <a:ea typeface="方正卡通简体" pitchFamily="65" charset="-122"/>
            </a:endParaRPr>
          </a:p>
        </p:txBody>
      </p:sp>
      <p:sp>
        <p:nvSpPr>
          <p:cNvPr id="14" name="TextBox 13"/>
          <p:cNvSpPr txBox="1"/>
          <p:nvPr/>
        </p:nvSpPr>
        <p:spPr>
          <a:xfrm>
            <a:off x="5378791" y="2715766"/>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1</a:t>
            </a:r>
            <a:endParaRPr lang="zh-CN" altLang="en-US" sz="1000" b="1" dirty="0">
              <a:latin typeface="方正卡通简体" pitchFamily="65" charset="-122"/>
              <a:ea typeface="方正卡通简体" pitchFamily="65" charset="-122"/>
            </a:endParaRPr>
          </a:p>
        </p:txBody>
      </p:sp>
      <p:sp>
        <p:nvSpPr>
          <p:cNvPr id="15" name="TextBox 14"/>
          <p:cNvSpPr txBox="1"/>
          <p:nvPr/>
        </p:nvSpPr>
        <p:spPr>
          <a:xfrm>
            <a:off x="5652120" y="2715766"/>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2</a:t>
            </a:r>
            <a:endParaRPr lang="zh-CN" altLang="en-US" sz="1000" b="1" dirty="0">
              <a:latin typeface="方正卡通简体" pitchFamily="65" charset="-122"/>
              <a:ea typeface="方正卡通简体" pitchFamily="65" charset="-122"/>
            </a:endParaRPr>
          </a:p>
        </p:txBody>
      </p:sp>
      <p:sp>
        <p:nvSpPr>
          <p:cNvPr id="16" name="TextBox 15"/>
          <p:cNvSpPr txBox="1"/>
          <p:nvPr/>
        </p:nvSpPr>
        <p:spPr>
          <a:xfrm>
            <a:off x="5378791" y="2931790"/>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3</a:t>
            </a:r>
            <a:endParaRPr lang="zh-CN" altLang="en-US" sz="1000" b="1" dirty="0">
              <a:latin typeface="方正卡通简体" pitchFamily="65" charset="-122"/>
              <a:ea typeface="方正卡通简体" pitchFamily="65" charset="-122"/>
            </a:endParaRPr>
          </a:p>
        </p:txBody>
      </p:sp>
      <p:sp>
        <p:nvSpPr>
          <p:cNvPr id="17" name="TextBox 16"/>
          <p:cNvSpPr txBox="1"/>
          <p:nvPr/>
        </p:nvSpPr>
        <p:spPr>
          <a:xfrm>
            <a:off x="5652120" y="2931790"/>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4</a:t>
            </a:r>
            <a:endParaRPr lang="zh-CN" altLang="en-US" sz="1000" b="1" dirty="0">
              <a:latin typeface="方正卡通简体" pitchFamily="65" charset="-122"/>
              <a:ea typeface="方正卡通简体" pitchFamily="65" charset="-122"/>
            </a:endParaRPr>
          </a:p>
        </p:txBody>
      </p:sp>
      <p:pic>
        <p:nvPicPr>
          <p:cNvPr id="3074"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99992" y="2117658"/>
            <a:ext cx="1015464" cy="55244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600083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descr="E:\PPT\暴走漫画全部素材\暴走漫画全部素材\HW[41RZ)ZVY%7)V{5]TXKPC.jpg"/>
          <p:cNvPicPr>
            <a:picLocks noChangeAspect="1" noChangeArrowheads="1"/>
          </p:cNvPicPr>
          <p:nvPr/>
        </p:nvPicPr>
        <p:blipFill rotWithShape="1">
          <a:blip r:embed="rId2">
            <a:extLst>
              <a:ext uri="{28A0092B-C50C-407E-A947-70E740481C1C}">
                <a14:useLocalDpi xmlns:a14="http://schemas.microsoft.com/office/drawing/2010/main" val="0"/>
              </a:ext>
            </a:extLst>
          </a:blip>
          <a:srcRect b="16094"/>
          <a:stretch/>
        </p:blipFill>
        <p:spPr bwMode="auto">
          <a:xfrm>
            <a:off x="3995936" y="3291831"/>
            <a:ext cx="1585807" cy="1224135"/>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E:\PPT\暴走漫画全部素材\暴走漫画全部素材\WB@7O~~$YOQP$IYHNG80~{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99" y="3219823"/>
            <a:ext cx="1327979" cy="1273554"/>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547664" y="483518"/>
            <a:ext cx="3018775" cy="461665"/>
          </a:xfrm>
          <a:prstGeom prst="rect">
            <a:avLst/>
          </a:prstGeom>
        </p:spPr>
        <p:txBody>
          <a:bodyPr wrap="none">
            <a:spAutoFit/>
          </a:bodyPr>
          <a:lstStyle/>
          <a:p>
            <a:r>
              <a:rPr lang="en-US" altLang="zh-CN" sz="2400" b="1" spc="150" dirty="0" smtClean="0">
                <a:solidFill>
                  <a:schemeClr val="bg1"/>
                </a:solidFill>
                <a:latin typeface="微软雅黑" pitchFamily="34" charset="-122"/>
                <a:ea typeface="微软雅黑" pitchFamily="34" charset="-122"/>
              </a:rPr>
              <a:t>B.6</a:t>
            </a:r>
            <a:r>
              <a:rPr lang="zh-CN" altLang="en-US" sz="2400" b="1" spc="150" dirty="0" smtClean="0">
                <a:solidFill>
                  <a:schemeClr val="bg1"/>
                </a:solidFill>
                <a:latin typeface="微软雅黑" pitchFamily="34" charset="-122"/>
                <a:ea typeface="微软雅黑" pitchFamily="34" charset="-122"/>
              </a:rPr>
              <a:t>种不相关的</a:t>
            </a:r>
            <a:r>
              <a:rPr lang="zh-CN" altLang="en-US" sz="2400" b="1" spc="150" dirty="0">
                <a:solidFill>
                  <a:schemeClr val="bg1"/>
                </a:solidFill>
                <a:latin typeface="微软雅黑" pitchFamily="34" charset="-122"/>
                <a:ea typeface="微软雅黑" pitchFamily="34" charset="-122"/>
              </a:rPr>
              <a:t>前提</a:t>
            </a:r>
          </a:p>
        </p:txBody>
      </p:sp>
      <p:sp>
        <p:nvSpPr>
          <p:cNvPr id="6" name="矩形 5"/>
          <p:cNvSpPr/>
          <p:nvPr/>
        </p:nvSpPr>
        <p:spPr>
          <a:xfrm>
            <a:off x="971600" y="1375138"/>
            <a:ext cx="7344815" cy="1052596"/>
          </a:xfrm>
          <a:prstGeom prst="rect">
            <a:avLst/>
          </a:prstGeom>
        </p:spPr>
        <p:txBody>
          <a:bodyPr wrap="square">
            <a:spAutoFit/>
          </a:bodyPr>
          <a:lstStyle/>
          <a:p>
            <a:pPr>
              <a:lnSpc>
                <a:spcPct val="120000"/>
              </a:lnSpc>
            </a:pPr>
            <a:r>
              <a:rPr lang="zh-CN" altLang="en-US" sz="2000" b="1" dirty="0" smtClean="0">
                <a:solidFill>
                  <a:srgbClr val="06ACDE"/>
                </a:solidFill>
                <a:latin typeface="微软雅黑" pitchFamily="34" charset="-122"/>
                <a:ea typeface="微软雅黑" pitchFamily="34" charset="-122"/>
              </a:rPr>
              <a:t>诉诸传统</a:t>
            </a:r>
            <a:endParaRPr lang="en-US" altLang="zh-CN" sz="2000" b="1" dirty="0" smtClean="0">
              <a:solidFill>
                <a:srgbClr val="06ACDE"/>
              </a:solidFill>
              <a:latin typeface="微软雅黑" pitchFamily="34" charset="-122"/>
              <a:ea typeface="微软雅黑" pitchFamily="34" charset="-122"/>
            </a:endParaRPr>
          </a:p>
          <a:p>
            <a:pPr>
              <a:lnSpc>
                <a:spcPct val="120000"/>
              </a:lnSpc>
            </a:pPr>
            <a:r>
              <a:rPr lang="zh-CN" altLang="en-US" sz="1600" dirty="0" smtClean="0">
                <a:latin typeface="微软雅黑" pitchFamily="34" charset="-122"/>
                <a:ea typeface="微软雅黑" pitchFamily="34" charset="-122"/>
              </a:rPr>
              <a:t>当我们论证某事物是既定传统的一部分而</a:t>
            </a:r>
            <a:r>
              <a:rPr lang="zh-CN" altLang="en-US" sz="1600" dirty="0">
                <a:latin typeface="微软雅黑" pitchFamily="34" charset="-122"/>
                <a:ea typeface="微软雅黑" pitchFamily="34" charset="-122"/>
              </a:rPr>
              <a:t>认为</a:t>
            </a:r>
            <a:r>
              <a:rPr lang="zh-CN" altLang="en-US" sz="1600" dirty="0" smtClean="0">
                <a:latin typeface="微软雅黑" pitchFamily="34" charset="-122"/>
                <a:ea typeface="微软雅黑" pitchFamily="34" charset="-122"/>
              </a:rPr>
              <a:t>它是真的（或好的）时，我们就是在诉诸传统。</a:t>
            </a:r>
            <a:endParaRPr lang="en-US" altLang="zh-CN" sz="1600" dirty="0">
              <a:latin typeface="微软雅黑" pitchFamily="34" charset="-122"/>
              <a:ea typeface="微软雅黑" pitchFamily="34" charset="-122"/>
            </a:endParaRPr>
          </a:p>
        </p:txBody>
      </p:sp>
      <p:sp>
        <p:nvSpPr>
          <p:cNvPr id="7" name="矩形 6"/>
          <p:cNvSpPr/>
          <p:nvPr/>
        </p:nvSpPr>
        <p:spPr>
          <a:xfrm>
            <a:off x="971599" y="1397031"/>
            <a:ext cx="7344815" cy="30963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971600" y="2427734"/>
            <a:ext cx="734481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012161" y="2427734"/>
            <a:ext cx="0" cy="20656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475656" y="2635047"/>
            <a:ext cx="2088232" cy="584775"/>
          </a:xfrm>
          <a:prstGeom prst="rect">
            <a:avLst/>
          </a:prstGeom>
        </p:spPr>
        <p:txBody>
          <a:bodyPr wrap="square">
            <a:spAutoFit/>
          </a:bodyPr>
          <a:lstStyle/>
          <a:p>
            <a:r>
              <a:rPr lang="zh-CN" altLang="en-US" sz="1600" b="1" dirty="0" smtClean="0">
                <a:latin typeface="方正卡通简体" pitchFamily="65" charset="-122"/>
                <a:ea typeface="方正卡通简体" pitchFamily="65" charset="-122"/>
              </a:rPr>
              <a:t>算命是项古老的职业，所以它很了不起！</a:t>
            </a:r>
            <a:endParaRPr lang="zh-CN" altLang="en-US" sz="1600" b="1" dirty="0">
              <a:latin typeface="方正卡通简体" pitchFamily="65" charset="-122"/>
              <a:ea typeface="方正卡通简体" pitchFamily="65" charset="-122"/>
            </a:endParaRPr>
          </a:p>
        </p:txBody>
      </p:sp>
      <p:cxnSp>
        <p:nvCxnSpPr>
          <p:cNvPr id="11" name="直接连接符 10"/>
          <p:cNvCxnSpPr/>
          <p:nvPr/>
        </p:nvCxnSpPr>
        <p:spPr>
          <a:xfrm>
            <a:off x="3563888" y="2427734"/>
            <a:ext cx="0" cy="20866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3995936" y="2773279"/>
            <a:ext cx="1584177" cy="369332"/>
          </a:xfrm>
          <a:prstGeom prst="rect">
            <a:avLst/>
          </a:prstGeom>
        </p:spPr>
        <p:txBody>
          <a:bodyPr wrap="square">
            <a:spAutoFit/>
          </a:bodyPr>
          <a:lstStyle/>
          <a:p>
            <a:r>
              <a:rPr lang="zh-CN" altLang="en-US" b="1" dirty="0">
                <a:latin typeface="方正卡通简体" pitchFamily="65" charset="-122"/>
                <a:ea typeface="方正卡通简体" pitchFamily="65" charset="-122"/>
              </a:rPr>
              <a:t>真</a:t>
            </a:r>
            <a:r>
              <a:rPr lang="zh-CN" altLang="en-US" b="1" dirty="0" smtClean="0">
                <a:latin typeface="方正卡通简体" pitchFamily="65" charset="-122"/>
                <a:ea typeface="方正卡通简体" pitchFamily="65" charset="-122"/>
              </a:rPr>
              <a:t>有这么厉害？</a:t>
            </a:r>
            <a:endParaRPr lang="zh-CN" altLang="en-US" b="1" dirty="0">
              <a:latin typeface="方正卡通简体" pitchFamily="65" charset="-122"/>
              <a:ea typeface="方正卡通简体" pitchFamily="65" charset="-122"/>
            </a:endParaRPr>
          </a:p>
        </p:txBody>
      </p:sp>
      <p:sp>
        <p:nvSpPr>
          <p:cNvPr id="13" name="矩形 12"/>
          <p:cNvSpPr/>
          <p:nvPr/>
        </p:nvSpPr>
        <p:spPr>
          <a:xfrm>
            <a:off x="6229252" y="2571750"/>
            <a:ext cx="2375196" cy="646331"/>
          </a:xfrm>
          <a:prstGeom prst="rect">
            <a:avLst/>
          </a:prstGeom>
        </p:spPr>
        <p:txBody>
          <a:bodyPr wrap="square">
            <a:spAutoFit/>
          </a:bodyPr>
          <a:lstStyle/>
          <a:p>
            <a:r>
              <a:rPr lang="zh-CN" altLang="en-US" b="1" dirty="0" smtClean="0">
                <a:latin typeface="方正卡通简体" pitchFamily="65" charset="-122"/>
                <a:ea typeface="方正卡通简体" pitchFamily="65" charset="-122"/>
              </a:rPr>
              <a:t>请告诉我</a:t>
            </a:r>
            <a:endParaRPr lang="en-US" altLang="zh-CN" b="1" dirty="0" smtClean="0">
              <a:latin typeface="方正卡通简体" pitchFamily="65" charset="-122"/>
              <a:ea typeface="方正卡通简体" pitchFamily="65" charset="-122"/>
            </a:endParaRPr>
          </a:p>
          <a:p>
            <a:r>
              <a:rPr lang="en-US" altLang="zh-CN" b="1" dirty="0">
                <a:latin typeface="方正卡通简体" pitchFamily="65" charset="-122"/>
                <a:ea typeface="方正卡通简体" pitchFamily="65" charset="-122"/>
              </a:rPr>
              <a:t> </a:t>
            </a:r>
            <a:r>
              <a:rPr lang="en-US" altLang="zh-CN" b="1" dirty="0" smtClean="0">
                <a:latin typeface="方正卡通简体" pitchFamily="65" charset="-122"/>
                <a:ea typeface="方正卡通简体" pitchFamily="65" charset="-122"/>
              </a:rPr>
              <a:t>            </a:t>
            </a:r>
            <a:r>
              <a:rPr lang="zh-CN" altLang="en-US" b="1" dirty="0" smtClean="0">
                <a:latin typeface="方正卡通简体" pitchFamily="65" charset="-122"/>
                <a:ea typeface="方正卡通简体" pitchFamily="65" charset="-122"/>
              </a:rPr>
              <a:t>飞机在哪里？</a:t>
            </a:r>
            <a:endParaRPr lang="zh-CN" altLang="en-US" b="1" dirty="0">
              <a:latin typeface="方正卡通简体" pitchFamily="65" charset="-122"/>
              <a:ea typeface="方正卡通简体" pitchFamily="65" charset="-122"/>
            </a:endParaRPr>
          </a:p>
        </p:txBody>
      </p:sp>
      <p:pic>
        <p:nvPicPr>
          <p:cNvPr id="16" name="Picture 2" descr="E:\PPT\13496127621376661.png"/>
          <p:cNvPicPr>
            <a:picLocks noChangeAspect="1" noChangeArrowheads="1"/>
          </p:cNvPicPr>
          <p:nvPr/>
        </p:nvPicPr>
        <p:blipFill rotWithShape="1">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l="55503" t="15968" r="9062" b="42016"/>
          <a:stretch/>
        </p:blipFill>
        <p:spPr bwMode="auto">
          <a:xfrm>
            <a:off x="5940152" y="3139274"/>
            <a:ext cx="1472189" cy="135410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5724128" y="4268191"/>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2</a:t>
            </a:r>
            <a:endParaRPr lang="zh-CN" altLang="en-US" sz="1000" b="1" dirty="0">
              <a:latin typeface="方正卡通简体" pitchFamily="65" charset="-122"/>
              <a:ea typeface="方正卡通简体" pitchFamily="65" charset="-122"/>
            </a:endParaRPr>
          </a:p>
        </p:txBody>
      </p:sp>
      <p:sp>
        <p:nvSpPr>
          <p:cNvPr id="17" name="TextBox 16"/>
          <p:cNvSpPr txBox="1"/>
          <p:nvPr/>
        </p:nvSpPr>
        <p:spPr>
          <a:xfrm>
            <a:off x="3290559" y="4269745"/>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1</a:t>
            </a:r>
            <a:endParaRPr lang="zh-CN" altLang="en-US" sz="1000" b="1" dirty="0">
              <a:latin typeface="方正卡通简体" pitchFamily="65" charset="-122"/>
              <a:ea typeface="方正卡通简体" pitchFamily="65" charset="-122"/>
            </a:endParaRPr>
          </a:p>
        </p:txBody>
      </p:sp>
      <p:sp>
        <p:nvSpPr>
          <p:cNvPr id="18" name="TextBox 17"/>
          <p:cNvSpPr txBox="1"/>
          <p:nvPr/>
        </p:nvSpPr>
        <p:spPr>
          <a:xfrm>
            <a:off x="8043085" y="4240004"/>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3</a:t>
            </a:r>
            <a:endParaRPr lang="zh-CN" altLang="en-US" sz="1000" b="1" dirty="0">
              <a:latin typeface="方正卡通简体" pitchFamily="65" charset="-122"/>
              <a:ea typeface="方正卡通简体" pitchFamily="65" charset="-122"/>
            </a:endParaRPr>
          </a:p>
        </p:txBody>
      </p:sp>
    </p:spTree>
    <p:extLst>
      <p:ext uri="{BB962C8B-B14F-4D97-AF65-F5344CB8AC3E}">
        <p14:creationId xmlns:p14="http://schemas.microsoft.com/office/powerpoint/2010/main" val="12566930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E:\PPT\暴走漫画全部素材\暴走漫画全部素材\ZV[XSNMB`QKQS7@OK$T@72I.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2280" y="3039591"/>
            <a:ext cx="1314450" cy="14763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PPT\暴走漫画全部素材\暴走漫画全部素材\T2EC0)TF92U3BNM2_)NSU4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0530" y="3177133"/>
            <a:ext cx="1714500" cy="12668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E:\PPT\暴走漫画全部素材\暴走漫画全部素材\6~HR~R22_$OA$GDG[RYQ{0Z.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3603" y="3433247"/>
            <a:ext cx="904106" cy="101173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547664" y="483518"/>
            <a:ext cx="3018775" cy="461665"/>
          </a:xfrm>
          <a:prstGeom prst="rect">
            <a:avLst/>
          </a:prstGeom>
        </p:spPr>
        <p:txBody>
          <a:bodyPr wrap="none">
            <a:spAutoFit/>
          </a:bodyPr>
          <a:lstStyle/>
          <a:p>
            <a:r>
              <a:rPr lang="en-US" altLang="zh-CN" sz="2400" b="1" spc="150" dirty="0" smtClean="0">
                <a:solidFill>
                  <a:schemeClr val="bg1"/>
                </a:solidFill>
                <a:latin typeface="微软雅黑" pitchFamily="34" charset="-122"/>
                <a:ea typeface="微软雅黑" pitchFamily="34" charset="-122"/>
              </a:rPr>
              <a:t>B.6</a:t>
            </a:r>
            <a:r>
              <a:rPr lang="zh-CN" altLang="en-US" sz="2400" b="1" spc="150" dirty="0" smtClean="0">
                <a:solidFill>
                  <a:schemeClr val="bg1"/>
                </a:solidFill>
                <a:latin typeface="微软雅黑" pitchFamily="34" charset="-122"/>
                <a:ea typeface="微软雅黑" pitchFamily="34" charset="-122"/>
              </a:rPr>
              <a:t>种不相关的</a:t>
            </a:r>
            <a:r>
              <a:rPr lang="zh-CN" altLang="en-US" sz="2400" b="1" spc="150" dirty="0">
                <a:solidFill>
                  <a:schemeClr val="bg1"/>
                </a:solidFill>
                <a:latin typeface="微软雅黑" pitchFamily="34" charset="-122"/>
                <a:ea typeface="微软雅黑" pitchFamily="34" charset="-122"/>
              </a:rPr>
              <a:t>前提</a:t>
            </a:r>
          </a:p>
        </p:txBody>
      </p:sp>
      <p:sp>
        <p:nvSpPr>
          <p:cNvPr id="5" name="矩形 4"/>
          <p:cNvSpPr/>
          <p:nvPr/>
        </p:nvSpPr>
        <p:spPr>
          <a:xfrm>
            <a:off x="971600" y="1375138"/>
            <a:ext cx="7344815" cy="757130"/>
          </a:xfrm>
          <a:prstGeom prst="rect">
            <a:avLst/>
          </a:prstGeom>
        </p:spPr>
        <p:txBody>
          <a:bodyPr wrap="square">
            <a:spAutoFit/>
          </a:bodyPr>
          <a:lstStyle/>
          <a:p>
            <a:pPr>
              <a:lnSpc>
                <a:spcPct val="120000"/>
              </a:lnSpc>
            </a:pPr>
            <a:r>
              <a:rPr lang="zh-CN" altLang="en-US" sz="2000" b="1" dirty="0" smtClean="0">
                <a:solidFill>
                  <a:srgbClr val="06ACDE"/>
                </a:solidFill>
                <a:latin typeface="微软雅黑" pitchFamily="34" charset="-122"/>
                <a:ea typeface="微软雅黑" pitchFamily="34" charset="-122"/>
              </a:rPr>
              <a:t>诉诸</a:t>
            </a:r>
            <a:r>
              <a:rPr lang="zh-CN" altLang="en-US" sz="2000" b="1" dirty="0">
                <a:solidFill>
                  <a:srgbClr val="06ACDE"/>
                </a:solidFill>
                <a:latin typeface="微软雅黑" pitchFamily="34" charset="-122"/>
                <a:ea typeface="微软雅黑" pitchFamily="34" charset="-122"/>
              </a:rPr>
              <a:t>害怕</a:t>
            </a:r>
            <a:endParaRPr lang="en-US" altLang="zh-CN" sz="2000" b="1" dirty="0" smtClean="0">
              <a:solidFill>
                <a:srgbClr val="06ACDE"/>
              </a:solidFill>
              <a:latin typeface="微软雅黑" pitchFamily="34" charset="-122"/>
              <a:ea typeface="微软雅黑" pitchFamily="34" charset="-122"/>
            </a:endParaRPr>
          </a:p>
          <a:p>
            <a:pPr>
              <a:lnSpc>
                <a:spcPct val="120000"/>
              </a:lnSpc>
            </a:pPr>
            <a:r>
              <a:rPr lang="zh-CN" altLang="en-US" sz="1600" dirty="0" smtClean="0">
                <a:latin typeface="微软雅黑" pitchFamily="34" charset="-122"/>
                <a:ea typeface="微软雅黑" pitchFamily="34" charset="-122"/>
              </a:rPr>
              <a:t>用伤害之威胁促成一个人的立场就是犯了诉诸害怕的谬误，又名挥舞大棒。</a:t>
            </a:r>
            <a:endParaRPr lang="en-US" altLang="zh-CN" sz="1600" dirty="0">
              <a:latin typeface="微软雅黑" pitchFamily="34" charset="-122"/>
              <a:ea typeface="微软雅黑" pitchFamily="34" charset="-122"/>
            </a:endParaRPr>
          </a:p>
        </p:txBody>
      </p:sp>
      <p:sp>
        <p:nvSpPr>
          <p:cNvPr id="6" name="矩形 5"/>
          <p:cNvSpPr/>
          <p:nvPr/>
        </p:nvSpPr>
        <p:spPr>
          <a:xfrm>
            <a:off x="971599" y="1397031"/>
            <a:ext cx="7344815" cy="30963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971600" y="2283718"/>
            <a:ext cx="734481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012161" y="2283718"/>
            <a:ext cx="0" cy="22096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475656" y="2635047"/>
            <a:ext cx="2088232" cy="584775"/>
          </a:xfrm>
          <a:prstGeom prst="rect">
            <a:avLst/>
          </a:prstGeom>
        </p:spPr>
        <p:txBody>
          <a:bodyPr wrap="square">
            <a:spAutoFit/>
          </a:bodyPr>
          <a:lstStyle/>
          <a:p>
            <a:r>
              <a:rPr lang="zh-CN" altLang="en-US" sz="1600" b="1" dirty="0" smtClean="0">
                <a:latin typeface="方正卡通简体" pitchFamily="65" charset="-122"/>
                <a:ea typeface="方正卡通简体" pitchFamily="65" charset="-122"/>
              </a:rPr>
              <a:t>凡是不相信上帝存在的人都会下地狱。</a:t>
            </a:r>
            <a:endParaRPr lang="zh-CN" altLang="en-US" sz="1600" b="1" dirty="0">
              <a:latin typeface="方正卡通简体" pitchFamily="65" charset="-122"/>
              <a:ea typeface="方正卡通简体" pitchFamily="65" charset="-122"/>
            </a:endParaRPr>
          </a:p>
        </p:txBody>
      </p:sp>
      <p:cxnSp>
        <p:nvCxnSpPr>
          <p:cNvPr id="10" name="直接连接符 9"/>
          <p:cNvCxnSpPr/>
          <p:nvPr/>
        </p:nvCxnSpPr>
        <p:spPr>
          <a:xfrm>
            <a:off x="3563888" y="2283718"/>
            <a:ext cx="0" cy="22096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851920" y="2588613"/>
            <a:ext cx="2088232" cy="369332"/>
          </a:xfrm>
          <a:prstGeom prst="rect">
            <a:avLst/>
          </a:prstGeom>
        </p:spPr>
        <p:txBody>
          <a:bodyPr wrap="square">
            <a:spAutoFit/>
          </a:bodyPr>
          <a:lstStyle/>
          <a:p>
            <a:r>
              <a:rPr lang="zh-CN" altLang="en-US" b="1" dirty="0" smtClean="0">
                <a:latin typeface="方正卡通简体" pitchFamily="65" charset="-122"/>
                <a:ea typeface="方正卡通简体" pitchFamily="65" charset="-122"/>
              </a:rPr>
              <a:t>不要在意这些细节！</a:t>
            </a:r>
            <a:endParaRPr lang="zh-CN" altLang="en-US" b="1" dirty="0">
              <a:latin typeface="方正卡通简体" pitchFamily="65" charset="-122"/>
              <a:ea typeface="方正卡通简体" pitchFamily="65" charset="-122"/>
            </a:endParaRPr>
          </a:p>
        </p:txBody>
      </p:sp>
      <p:sp>
        <p:nvSpPr>
          <p:cNvPr id="20" name="矩形 19"/>
          <p:cNvSpPr/>
          <p:nvPr/>
        </p:nvSpPr>
        <p:spPr>
          <a:xfrm>
            <a:off x="6012161" y="2588613"/>
            <a:ext cx="2325076" cy="369332"/>
          </a:xfrm>
          <a:prstGeom prst="rect">
            <a:avLst/>
          </a:prstGeom>
        </p:spPr>
        <p:txBody>
          <a:bodyPr wrap="square">
            <a:spAutoFit/>
          </a:bodyPr>
          <a:lstStyle/>
          <a:p>
            <a:r>
              <a:rPr lang="en-US" altLang="zh-CN" b="1" dirty="0" smtClean="0">
                <a:latin typeface="方正卡通简体" pitchFamily="65" charset="-122"/>
                <a:ea typeface="方正卡通简体" pitchFamily="65" charset="-122"/>
              </a:rPr>
              <a:t>WHO  PA  WHO  AH </a:t>
            </a:r>
            <a:r>
              <a:rPr lang="zh-CN" altLang="en-US" b="1" dirty="0" smtClean="0">
                <a:latin typeface="方正卡通简体" pitchFamily="65" charset="-122"/>
                <a:ea typeface="方正卡通简体" pitchFamily="65" charset="-122"/>
              </a:rPr>
              <a:t>！</a:t>
            </a:r>
            <a:endParaRPr lang="zh-CN" altLang="en-US" b="1" dirty="0">
              <a:latin typeface="方正卡通简体" pitchFamily="65" charset="-122"/>
              <a:ea typeface="方正卡通简体" pitchFamily="65" charset="-122"/>
            </a:endParaRPr>
          </a:p>
        </p:txBody>
      </p:sp>
      <p:sp>
        <p:nvSpPr>
          <p:cNvPr id="15" name="TextBox 14"/>
          <p:cNvSpPr txBox="1"/>
          <p:nvPr/>
        </p:nvSpPr>
        <p:spPr>
          <a:xfrm>
            <a:off x="5724128" y="4268191"/>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2</a:t>
            </a:r>
            <a:endParaRPr lang="zh-CN" altLang="en-US" sz="1000" b="1" dirty="0">
              <a:latin typeface="方正卡通简体" pitchFamily="65" charset="-122"/>
              <a:ea typeface="方正卡通简体" pitchFamily="65" charset="-122"/>
            </a:endParaRPr>
          </a:p>
        </p:txBody>
      </p:sp>
      <p:sp>
        <p:nvSpPr>
          <p:cNvPr id="16" name="TextBox 15"/>
          <p:cNvSpPr txBox="1"/>
          <p:nvPr/>
        </p:nvSpPr>
        <p:spPr>
          <a:xfrm>
            <a:off x="3290559" y="4269745"/>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1</a:t>
            </a:r>
            <a:endParaRPr lang="zh-CN" altLang="en-US" sz="1000" b="1" dirty="0">
              <a:latin typeface="方正卡通简体" pitchFamily="65" charset="-122"/>
              <a:ea typeface="方正卡通简体" pitchFamily="65" charset="-122"/>
            </a:endParaRPr>
          </a:p>
        </p:txBody>
      </p:sp>
      <p:sp>
        <p:nvSpPr>
          <p:cNvPr id="17" name="TextBox 16"/>
          <p:cNvSpPr txBox="1"/>
          <p:nvPr/>
        </p:nvSpPr>
        <p:spPr>
          <a:xfrm>
            <a:off x="8043085" y="4240004"/>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3</a:t>
            </a:r>
            <a:endParaRPr lang="zh-CN" altLang="en-US" sz="1000" b="1" dirty="0">
              <a:latin typeface="方正卡通简体" pitchFamily="65" charset="-122"/>
              <a:ea typeface="方正卡通简体" pitchFamily="65" charset="-122"/>
            </a:endParaRPr>
          </a:p>
        </p:txBody>
      </p:sp>
    </p:spTree>
    <p:extLst>
      <p:ext uri="{BB962C8B-B14F-4D97-AF65-F5344CB8AC3E}">
        <p14:creationId xmlns:p14="http://schemas.microsoft.com/office/powerpoint/2010/main" val="9867869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E:\PPT\暴走漫画全部素材\暴走漫画全部素材\[TA$NK(R$0QMPLE_(Z_31T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271924" y="3272391"/>
            <a:ext cx="1038225" cy="123825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E:\PPT\暴走漫画全部素材\暴走漫画全部素材\IAQ]O%3SNHOJO$P~_}M8IS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147814"/>
            <a:ext cx="1266825" cy="133350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547664" y="483518"/>
            <a:ext cx="3015569" cy="461665"/>
          </a:xfrm>
          <a:prstGeom prst="rect">
            <a:avLst/>
          </a:prstGeom>
        </p:spPr>
        <p:txBody>
          <a:bodyPr wrap="none">
            <a:spAutoFit/>
          </a:bodyPr>
          <a:lstStyle/>
          <a:p>
            <a:r>
              <a:rPr lang="en-US" altLang="zh-CN" sz="2400" b="1" spc="150" dirty="0" smtClean="0">
                <a:solidFill>
                  <a:schemeClr val="bg1"/>
                </a:solidFill>
                <a:latin typeface="微软雅黑" pitchFamily="34" charset="-122"/>
                <a:ea typeface="微软雅黑" pitchFamily="34" charset="-122"/>
              </a:rPr>
              <a:t>C.2</a:t>
            </a:r>
            <a:r>
              <a:rPr lang="zh-CN" altLang="en-US" sz="2400" b="1" spc="150" dirty="0" smtClean="0">
                <a:solidFill>
                  <a:schemeClr val="bg1"/>
                </a:solidFill>
                <a:latin typeface="微软雅黑" pitchFamily="34" charset="-122"/>
                <a:ea typeface="微软雅黑" pitchFamily="34" charset="-122"/>
              </a:rPr>
              <a:t>种不</a:t>
            </a:r>
            <a:r>
              <a:rPr lang="zh-CN" altLang="en-US" sz="2400" b="1" spc="150" dirty="0">
                <a:solidFill>
                  <a:schemeClr val="bg1"/>
                </a:solidFill>
                <a:latin typeface="微软雅黑" pitchFamily="34" charset="-122"/>
                <a:ea typeface="微软雅黑" pitchFamily="34" charset="-122"/>
              </a:rPr>
              <a:t>充分</a:t>
            </a:r>
            <a:r>
              <a:rPr lang="zh-CN" altLang="en-US" sz="2400" b="1" spc="150" dirty="0" smtClean="0">
                <a:solidFill>
                  <a:schemeClr val="bg1"/>
                </a:solidFill>
                <a:latin typeface="微软雅黑" pitchFamily="34" charset="-122"/>
                <a:ea typeface="微软雅黑" pitchFamily="34" charset="-122"/>
              </a:rPr>
              <a:t>的</a:t>
            </a:r>
            <a:r>
              <a:rPr lang="zh-CN" altLang="en-US" sz="2400" b="1" spc="150" dirty="0">
                <a:solidFill>
                  <a:schemeClr val="bg1"/>
                </a:solidFill>
                <a:latin typeface="微软雅黑" pitchFamily="34" charset="-122"/>
                <a:ea typeface="微软雅黑" pitchFamily="34" charset="-122"/>
              </a:rPr>
              <a:t>前提</a:t>
            </a:r>
          </a:p>
        </p:txBody>
      </p:sp>
      <p:sp>
        <p:nvSpPr>
          <p:cNvPr id="6" name="矩形 5"/>
          <p:cNvSpPr/>
          <p:nvPr/>
        </p:nvSpPr>
        <p:spPr>
          <a:xfrm>
            <a:off x="971600" y="1375138"/>
            <a:ext cx="7344815" cy="757130"/>
          </a:xfrm>
          <a:prstGeom prst="rect">
            <a:avLst/>
          </a:prstGeom>
        </p:spPr>
        <p:txBody>
          <a:bodyPr wrap="square">
            <a:spAutoFit/>
          </a:bodyPr>
          <a:lstStyle/>
          <a:p>
            <a:pPr>
              <a:lnSpc>
                <a:spcPct val="120000"/>
              </a:lnSpc>
            </a:pPr>
            <a:r>
              <a:rPr lang="zh-CN" altLang="en-US" sz="2000" b="1" dirty="0" smtClean="0">
                <a:solidFill>
                  <a:srgbClr val="06ACDE"/>
                </a:solidFill>
                <a:latin typeface="微软雅黑" pitchFamily="34" charset="-122"/>
                <a:ea typeface="微软雅黑" pitchFamily="34" charset="-122"/>
              </a:rPr>
              <a:t>误认原因</a:t>
            </a:r>
            <a:endParaRPr lang="en-US" altLang="zh-CN" sz="2000" b="1" dirty="0" smtClean="0">
              <a:solidFill>
                <a:srgbClr val="06ACDE"/>
              </a:solidFill>
              <a:latin typeface="微软雅黑" pitchFamily="34" charset="-122"/>
              <a:ea typeface="微软雅黑" pitchFamily="34" charset="-122"/>
            </a:endParaRPr>
          </a:p>
          <a:p>
            <a:pPr>
              <a:lnSpc>
                <a:spcPct val="120000"/>
              </a:lnSpc>
            </a:pPr>
            <a:r>
              <a:rPr lang="zh-CN" altLang="en-US" sz="1600" dirty="0" smtClean="0">
                <a:latin typeface="微软雅黑" pitchFamily="34" charset="-122"/>
                <a:ea typeface="微软雅黑" pitchFamily="34" charset="-122"/>
              </a:rPr>
              <a:t>假设两个并无因果联系的事物有此种联系，即“在此之后，因此之故”的谬误。</a:t>
            </a:r>
            <a:endParaRPr lang="en-US" altLang="zh-CN" sz="1600" dirty="0">
              <a:latin typeface="微软雅黑" pitchFamily="34" charset="-122"/>
              <a:ea typeface="微软雅黑" pitchFamily="34" charset="-122"/>
            </a:endParaRPr>
          </a:p>
        </p:txBody>
      </p:sp>
      <p:sp>
        <p:nvSpPr>
          <p:cNvPr id="7" name="矩形 6"/>
          <p:cNvSpPr/>
          <p:nvPr/>
        </p:nvSpPr>
        <p:spPr>
          <a:xfrm>
            <a:off x="971599" y="1397031"/>
            <a:ext cx="7344815" cy="30963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971600" y="2283718"/>
            <a:ext cx="734481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012161" y="2283718"/>
            <a:ext cx="0" cy="22096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2056104" y="2400439"/>
            <a:ext cx="1579792" cy="1323439"/>
          </a:xfrm>
          <a:prstGeom prst="rect">
            <a:avLst/>
          </a:prstGeom>
        </p:spPr>
        <p:txBody>
          <a:bodyPr wrap="square">
            <a:spAutoFit/>
          </a:bodyPr>
          <a:lstStyle/>
          <a:p>
            <a:r>
              <a:rPr lang="zh-CN" altLang="en-US" sz="1600" b="1" dirty="0" smtClean="0">
                <a:latin typeface="方正卡通简体" pitchFamily="65" charset="-122"/>
                <a:ea typeface="方正卡通简体" pitchFamily="65" charset="-122"/>
              </a:rPr>
              <a:t>欧巴一定是被我高贵冷艳的气质倾倒了，以后还要坚持走气质路线。</a:t>
            </a:r>
            <a:endParaRPr lang="zh-CN" altLang="en-US" sz="1600" b="1" dirty="0">
              <a:latin typeface="方正卡通简体" pitchFamily="65" charset="-122"/>
              <a:ea typeface="方正卡通简体" pitchFamily="65" charset="-122"/>
            </a:endParaRPr>
          </a:p>
        </p:txBody>
      </p:sp>
      <p:cxnSp>
        <p:nvCxnSpPr>
          <p:cNvPr id="11" name="直接连接符 10"/>
          <p:cNvCxnSpPr/>
          <p:nvPr/>
        </p:nvCxnSpPr>
        <p:spPr>
          <a:xfrm>
            <a:off x="3563888" y="2283718"/>
            <a:ext cx="0" cy="22096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3995936" y="3066514"/>
            <a:ext cx="2088232" cy="369332"/>
          </a:xfrm>
          <a:prstGeom prst="rect">
            <a:avLst/>
          </a:prstGeom>
        </p:spPr>
        <p:txBody>
          <a:bodyPr wrap="square">
            <a:spAutoFit/>
          </a:bodyPr>
          <a:lstStyle/>
          <a:p>
            <a:r>
              <a:rPr lang="zh-CN" altLang="en-US" b="1" dirty="0" smtClean="0">
                <a:latin typeface="方正卡通简体" pitchFamily="65" charset="-122"/>
                <a:ea typeface="方正卡通简体" pitchFamily="65" charset="-122"/>
              </a:rPr>
              <a:t>图样图森破！</a:t>
            </a:r>
            <a:endParaRPr lang="zh-CN" altLang="en-US" b="1" dirty="0">
              <a:latin typeface="方正卡通简体" pitchFamily="65" charset="-122"/>
              <a:ea typeface="方正卡通简体" pitchFamily="65" charset="-122"/>
            </a:endParaRPr>
          </a:p>
        </p:txBody>
      </p:sp>
      <p:sp>
        <p:nvSpPr>
          <p:cNvPr id="13" name="矩形 12"/>
          <p:cNvSpPr/>
          <p:nvPr/>
        </p:nvSpPr>
        <p:spPr>
          <a:xfrm>
            <a:off x="6084168" y="2697182"/>
            <a:ext cx="2325076" cy="369332"/>
          </a:xfrm>
          <a:prstGeom prst="rect">
            <a:avLst/>
          </a:prstGeom>
        </p:spPr>
        <p:txBody>
          <a:bodyPr wrap="square">
            <a:spAutoFit/>
          </a:bodyPr>
          <a:lstStyle/>
          <a:p>
            <a:r>
              <a:rPr lang="zh-CN" altLang="en-US" b="1" dirty="0" smtClean="0">
                <a:latin typeface="方正卡通简体" pitchFamily="65" charset="-122"/>
                <a:ea typeface="方正卡通简体" pitchFamily="65" charset="-122"/>
              </a:rPr>
              <a:t>我是被吓倒的！</a:t>
            </a:r>
            <a:endParaRPr lang="zh-CN" altLang="en-US" b="1" dirty="0">
              <a:latin typeface="方正卡通简体" pitchFamily="65" charset="-122"/>
              <a:ea typeface="方正卡通简体" pitchFamily="65" charset="-122"/>
            </a:endParaRPr>
          </a:p>
        </p:txBody>
      </p:sp>
      <p:sp>
        <p:nvSpPr>
          <p:cNvPr id="14" name="TextBox 13"/>
          <p:cNvSpPr txBox="1"/>
          <p:nvPr/>
        </p:nvSpPr>
        <p:spPr>
          <a:xfrm>
            <a:off x="5724128" y="4268191"/>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2</a:t>
            </a:r>
            <a:endParaRPr lang="zh-CN" altLang="en-US" sz="1000" b="1" dirty="0">
              <a:latin typeface="方正卡通简体" pitchFamily="65" charset="-122"/>
              <a:ea typeface="方正卡通简体" pitchFamily="65" charset="-122"/>
            </a:endParaRPr>
          </a:p>
        </p:txBody>
      </p:sp>
      <p:sp>
        <p:nvSpPr>
          <p:cNvPr id="15" name="TextBox 14"/>
          <p:cNvSpPr txBox="1"/>
          <p:nvPr/>
        </p:nvSpPr>
        <p:spPr>
          <a:xfrm>
            <a:off x="3290559" y="4269745"/>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1</a:t>
            </a:r>
            <a:endParaRPr lang="zh-CN" altLang="en-US" sz="1000" b="1" dirty="0">
              <a:latin typeface="方正卡通简体" pitchFamily="65" charset="-122"/>
              <a:ea typeface="方正卡通简体" pitchFamily="65" charset="-122"/>
            </a:endParaRPr>
          </a:p>
        </p:txBody>
      </p:sp>
      <p:sp>
        <p:nvSpPr>
          <p:cNvPr id="16" name="TextBox 15"/>
          <p:cNvSpPr txBox="1"/>
          <p:nvPr/>
        </p:nvSpPr>
        <p:spPr>
          <a:xfrm>
            <a:off x="5997457" y="4269745"/>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3</a:t>
            </a:r>
            <a:endParaRPr lang="zh-CN" altLang="en-US" sz="1000" b="1" dirty="0">
              <a:latin typeface="方正卡通简体" pitchFamily="65" charset="-122"/>
              <a:ea typeface="方正卡通简体" pitchFamily="65" charset="-122"/>
            </a:endParaRPr>
          </a:p>
        </p:txBody>
      </p:sp>
    </p:spTree>
    <p:extLst>
      <p:ext uri="{BB962C8B-B14F-4D97-AF65-F5344CB8AC3E}">
        <p14:creationId xmlns:p14="http://schemas.microsoft.com/office/powerpoint/2010/main" val="9115852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E:\PPT\暴走漫画全部素材\暴走漫画全部素材\ST@_E990_]7HGWD`YQ(H8H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988302" y="3464768"/>
            <a:ext cx="1256106" cy="1267222"/>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E:\PPT\暴走漫画全部素材\暴走漫画全部素材\8BQ@EB]M5Q0HR`RX@JQSQJ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3" y="3398490"/>
            <a:ext cx="1771650" cy="133350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899593" y="1375138"/>
            <a:ext cx="7344815" cy="1052596"/>
          </a:xfrm>
          <a:prstGeom prst="rect">
            <a:avLst/>
          </a:prstGeom>
        </p:spPr>
        <p:txBody>
          <a:bodyPr wrap="square">
            <a:spAutoFit/>
          </a:bodyPr>
          <a:lstStyle/>
          <a:p>
            <a:pPr>
              <a:lnSpc>
                <a:spcPct val="120000"/>
              </a:lnSpc>
            </a:pPr>
            <a:r>
              <a:rPr lang="zh-CN" altLang="en-US" sz="2000" b="1" dirty="0" smtClean="0">
                <a:solidFill>
                  <a:srgbClr val="06ACDE"/>
                </a:solidFill>
                <a:latin typeface="微软雅黑" pitchFamily="34" charset="-122"/>
                <a:ea typeface="微软雅黑" pitchFamily="34" charset="-122"/>
              </a:rPr>
              <a:t>滑坡谬误</a:t>
            </a:r>
            <a:endParaRPr lang="en-US" altLang="zh-CN" sz="2000" b="1" dirty="0" smtClean="0">
              <a:solidFill>
                <a:srgbClr val="06ACDE"/>
              </a:solidFill>
              <a:latin typeface="微软雅黑" pitchFamily="34" charset="-122"/>
              <a:ea typeface="微软雅黑" pitchFamily="34" charset="-122"/>
            </a:endParaRPr>
          </a:p>
          <a:p>
            <a:pPr>
              <a:lnSpc>
                <a:spcPct val="120000"/>
              </a:lnSpc>
            </a:pPr>
            <a:r>
              <a:rPr lang="zh-CN" altLang="en-US" sz="1600" dirty="0" smtClean="0">
                <a:latin typeface="微软雅黑" pitchFamily="34" charset="-122"/>
                <a:ea typeface="微软雅黑" pitchFamily="34" charset="-122"/>
              </a:rPr>
              <a:t>实施一个特别行为会不可阻挡地导致另一个（或多个）坏行为，所以你不应该实施第一个行为。</a:t>
            </a:r>
            <a:endParaRPr lang="en-US" altLang="zh-CN" sz="1600" dirty="0">
              <a:latin typeface="微软雅黑" pitchFamily="34" charset="-122"/>
              <a:ea typeface="微软雅黑" pitchFamily="34" charset="-122"/>
            </a:endParaRPr>
          </a:p>
        </p:txBody>
      </p:sp>
      <p:sp>
        <p:nvSpPr>
          <p:cNvPr id="7" name="矩形 6"/>
          <p:cNvSpPr/>
          <p:nvPr/>
        </p:nvSpPr>
        <p:spPr>
          <a:xfrm>
            <a:off x="899592" y="1397031"/>
            <a:ext cx="7344815" cy="33349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899593" y="2427734"/>
            <a:ext cx="734481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5984090" y="2427734"/>
            <a:ext cx="0" cy="23042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2195737" y="2688471"/>
            <a:ext cx="3779815" cy="1323439"/>
          </a:xfrm>
          <a:prstGeom prst="rect">
            <a:avLst/>
          </a:prstGeom>
        </p:spPr>
        <p:txBody>
          <a:bodyPr wrap="square">
            <a:spAutoFit/>
          </a:bodyPr>
          <a:lstStyle/>
          <a:p>
            <a:r>
              <a:rPr lang="zh-CN" altLang="en-US" sz="1600" b="1" dirty="0" smtClean="0">
                <a:latin typeface="方正卡通简体" pitchFamily="65" charset="-122"/>
                <a:ea typeface="方正卡通简体" pitchFamily="65" charset="-122"/>
              </a:rPr>
              <a:t>如果</a:t>
            </a:r>
            <a:r>
              <a:rPr lang="zh-CN" altLang="en-US" sz="1600" b="1" dirty="0">
                <a:latin typeface="方正卡通简体" pitchFamily="65" charset="-122"/>
                <a:ea typeface="方正卡通简体" pitchFamily="65" charset="-122"/>
              </a:rPr>
              <a:t>你偷懒，就会令公司蒙受损失</a:t>
            </a:r>
            <a:r>
              <a:rPr lang="zh-CN" altLang="en-US" sz="1600" b="1" dirty="0" smtClean="0">
                <a:latin typeface="方正卡通简体" pitchFamily="65" charset="-122"/>
                <a:ea typeface="方正卡通简体" pitchFamily="65" charset="-122"/>
              </a:rPr>
              <a:t>；</a:t>
            </a:r>
            <a:endParaRPr lang="en-US" altLang="zh-CN" sz="1600" b="1" dirty="0" smtClean="0">
              <a:latin typeface="方正卡通简体" pitchFamily="65" charset="-122"/>
              <a:ea typeface="方正卡通简体" pitchFamily="65" charset="-122"/>
            </a:endParaRPr>
          </a:p>
          <a:p>
            <a:r>
              <a:rPr lang="zh-CN" altLang="en-US" sz="1600" b="1" dirty="0" smtClean="0">
                <a:latin typeface="方正卡通简体" pitchFamily="65" charset="-122"/>
                <a:ea typeface="方正卡通简体" pitchFamily="65" charset="-122"/>
              </a:rPr>
              <a:t>公司</a:t>
            </a:r>
            <a:r>
              <a:rPr lang="zh-CN" altLang="en-US" sz="1600" b="1" dirty="0">
                <a:latin typeface="方正卡通简体" pitchFamily="65" charset="-122"/>
                <a:ea typeface="方正卡通简体" pitchFamily="65" charset="-122"/>
              </a:rPr>
              <a:t>赚不到钱，就要解雇员工</a:t>
            </a:r>
            <a:r>
              <a:rPr lang="zh-CN" altLang="en-US" sz="1600" b="1" dirty="0" smtClean="0">
                <a:latin typeface="方正卡通简体" pitchFamily="65" charset="-122"/>
                <a:ea typeface="方正卡通简体" pitchFamily="65" charset="-122"/>
              </a:rPr>
              <a:t>；</a:t>
            </a:r>
            <a:endParaRPr lang="en-US" altLang="zh-CN" sz="1600" b="1" dirty="0" smtClean="0">
              <a:latin typeface="方正卡通简体" pitchFamily="65" charset="-122"/>
              <a:ea typeface="方正卡通简体" pitchFamily="65" charset="-122"/>
            </a:endParaRPr>
          </a:p>
          <a:p>
            <a:r>
              <a:rPr lang="zh-CN" altLang="en-US" sz="1600" b="1" dirty="0" smtClean="0">
                <a:latin typeface="方正卡通简体" pitchFamily="65" charset="-122"/>
                <a:ea typeface="方正卡通简体" pitchFamily="65" charset="-122"/>
              </a:rPr>
              <a:t>遭</a:t>
            </a:r>
            <a:r>
              <a:rPr lang="zh-CN" altLang="en-US" sz="1600" b="1" dirty="0">
                <a:latin typeface="方正卡通简体" pitchFamily="65" charset="-122"/>
                <a:ea typeface="方正卡通简体" pitchFamily="65" charset="-122"/>
              </a:rPr>
              <a:t>解雇的人因为失去收入，就会打劫；如果打劫时遇到对方反抗，就会杀人。所以如果你偷懒，你就是杀人犯。</a:t>
            </a:r>
          </a:p>
        </p:txBody>
      </p:sp>
      <p:sp>
        <p:nvSpPr>
          <p:cNvPr id="17" name="矩形 16"/>
          <p:cNvSpPr/>
          <p:nvPr/>
        </p:nvSpPr>
        <p:spPr>
          <a:xfrm>
            <a:off x="6228185" y="2871456"/>
            <a:ext cx="2325076" cy="369332"/>
          </a:xfrm>
          <a:prstGeom prst="rect">
            <a:avLst/>
          </a:prstGeom>
        </p:spPr>
        <p:txBody>
          <a:bodyPr wrap="square">
            <a:spAutoFit/>
          </a:bodyPr>
          <a:lstStyle/>
          <a:p>
            <a:r>
              <a:rPr lang="zh-CN" altLang="en-US" b="1" dirty="0" smtClean="0">
                <a:latin typeface="方正卡通简体" pitchFamily="65" charset="-122"/>
                <a:ea typeface="方正卡通简体" pitchFamily="65" charset="-122"/>
              </a:rPr>
              <a:t>纳尼？！</a:t>
            </a:r>
            <a:endParaRPr lang="zh-CN" altLang="en-US" b="1" dirty="0">
              <a:latin typeface="方正卡通简体" pitchFamily="65" charset="-122"/>
              <a:ea typeface="方正卡通简体" pitchFamily="65" charset="-122"/>
            </a:endParaRPr>
          </a:p>
        </p:txBody>
      </p:sp>
      <p:sp>
        <p:nvSpPr>
          <p:cNvPr id="18" name="矩形 17"/>
          <p:cNvSpPr/>
          <p:nvPr/>
        </p:nvSpPr>
        <p:spPr>
          <a:xfrm>
            <a:off x="1547664" y="483518"/>
            <a:ext cx="3015569" cy="461665"/>
          </a:xfrm>
          <a:prstGeom prst="rect">
            <a:avLst/>
          </a:prstGeom>
        </p:spPr>
        <p:txBody>
          <a:bodyPr wrap="none">
            <a:spAutoFit/>
          </a:bodyPr>
          <a:lstStyle/>
          <a:p>
            <a:r>
              <a:rPr lang="en-US" altLang="zh-CN" sz="2400" b="1" spc="150" dirty="0" smtClean="0">
                <a:solidFill>
                  <a:schemeClr val="bg1"/>
                </a:solidFill>
                <a:latin typeface="微软雅黑" pitchFamily="34" charset="-122"/>
                <a:ea typeface="微软雅黑" pitchFamily="34" charset="-122"/>
              </a:rPr>
              <a:t>C.2</a:t>
            </a:r>
            <a:r>
              <a:rPr lang="zh-CN" altLang="en-US" sz="2400" b="1" spc="150" dirty="0" smtClean="0">
                <a:solidFill>
                  <a:schemeClr val="bg1"/>
                </a:solidFill>
                <a:latin typeface="微软雅黑" pitchFamily="34" charset="-122"/>
                <a:ea typeface="微软雅黑" pitchFamily="34" charset="-122"/>
              </a:rPr>
              <a:t>种不</a:t>
            </a:r>
            <a:r>
              <a:rPr lang="zh-CN" altLang="en-US" sz="2400" b="1" spc="150" dirty="0">
                <a:solidFill>
                  <a:schemeClr val="bg1"/>
                </a:solidFill>
                <a:latin typeface="微软雅黑" pitchFamily="34" charset="-122"/>
                <a:ea typeface="微软雅黑" pitchFamily="34" charset="-122"/>
              </a:rPr>
              <a:t>充分</a:t>
            </a:r>
            <a:r>
              <a:rPr lang="zh-CN" altLang="en-US" sz="2400" b="1" spc="150" dirty="0" smtClean="0">
                <a:solidFill>
                  <a:schemeClr val="bg1"/>
                </a:solidFill>
                <a:latin typeface="微软雅黑" pitchFamily="34" charset="-122"/>
                <a:ea typeface="微软雅黑" pitchFamily="34" charset="-122"/>
              </a:rPr>
              <a:t>的</a:t>
            </a:r>
            <a:r>
              <a:rPr lang="zh-CN" altLang="en-US" sz="2400" b="1" spc="150" dirty="0">
                <a:solidFill>
                  <a:schemeClr val="bg1"/>
                </a:solidFill>
                <a:latin typeface="微软雅黑" pitchFamily="34" charset="-122"/>
                <a:ea typeface="微软雅黑" pitchFamily="34" charset="-122"/>
              </a:rPr>
              <a:t>前提</a:t>
            </a:r>
          </a:p>
        </p:txBody>
      </p:sp>
      <p:sp>
        <p:nvSpPr>
          <p:cNvPr id="12" name="TextBox 11"/>
          <p:cNvSpPr txBox="1"/>
          <p:nvPr/>
        </p:nvSpPr>
        <p:spPr>
          <a:xfrm>
            <a:off x="5997457" y="4485769"/>
            <a:ext cx="273329" cy="246221"/>
          </a:xfrm>
          <a:prstGeom prst="rect">
            <a:avLst/>
          </a:prstGeom>
          <a:noFill/>
        </p:spPr>
        <p:txBody>
          <a:bodyPr wrap="square" rtlCol="0">
            <a:spAutoFit/>
          </a:bodyPr>
          <a:lstStyle/>
          <a:p>
            <a:r>
              <a:rPr lang="en-US" altLang="zh-CN" sz="1000" b="1" dirty="0">
                <a:latin typeface="方正卡通简体" pitchFamily="65" charset="-122"/>
                <a:ea typeface="方正卡通简体" pitchFamily="65" charset="-122"/>
              </a:rPr>
              <a:t>2</a:t>
            </a:r>
            <a:endParaRPr lang="zh-CN" altLang="en-US" sz="1000" b="1" dirty="0">
              <a:latin typeface="方正卡通简体" pitchFamily="65" charset="-122"/>
              <a:ea typeface="方正卡通简体" pitchFamily="65" charset="-122"/>
            </a:endParaRPr>
          </a:p>
        </p:txBody>
      </p:sp>
      <p:sp>
        <p:nvSpPr>
          <p:cNvPr id="13" name="TextBox 12"/>
          <p:cNvSpPr txBox="1"/>
          <p:nvPr/>
        </p:nvSpPr>
        <p:spPr>
          <a:xfrm>
            <a:off x="5700405" y="4487779"/>
            <a:ext cx="273329" cy="246221"/>
          </a:xfrm>
          <a:prstGeom prst="rect">
            <a:avLst/>
          </a:prstGeom>
          <a:noFill/>
        </p:spPr>
        <p:txBody>
          <a:bodyPr wrap="square" rtlCol="0">
            <a:spAutoFit/>
          </a:bodyPr>
          <a:lstStyle/>
          <a:p>
            <a:r>
              <a:rPr lang="en-US" altLang="zh-CN" sz="1000" b="1" dirty="0" smtClean="0">
                <a:latin typeface="方正卡通简体" pitchFamily="65" charset="-122"/>
                <a:ea typeface="方正卡通简体" pitchFamily="65" charset="-122"/>
              </a:rPr>
              <a:t>1</a:t>
            </a:r>
            <a:endParaRPr lang="zh-CN" altLang="en-US" sz="1000" b="1" dirty="0">
              <a:latin typeface="方正卡通简体" pitchFamily="65" charset="-122"/>
              <a:ea typeface="方正卡通简体" pitchFamily="65" charset="-122"/>
            </a:endParaRPr>
          </a:p>
        </p:txBody>
      </p:sp>
    </p:spTree>
    <p:extLst>
      <p:ext uri="{BB962C8B-B14F-4D97-AF65-F5344CB8AC3E}">
        <p14:creationId xmlns:p14="http://schemas.microsoft.com/office/powerpoint/2010/main" val="185655445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p:nvPr/>
        </p:nvSpPr>
        <p:spPr>
          <a:xfrm>
            <a:off x="-36512" y="-121406"/>
            <a:ext cx="9396536" cy="5264906"/>
          </a:xfrm>
          <a:prstGeom prst="rect">
            <a:avLst/>
          </a:prstGeom>
          <a:solidFill>
            <a:srgbClr val="06ABD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251520" y="1663946"/>
            <a:ext cx="8676456" cy="1483868"/>
          </a:xfrm>
          <a:prstGeom prst="rect">
            <a:avLst/>
          </a:prstGeom>
          <a:noFill/>
        </p:spPr>
        <p:txBody>
          <a:bodyPr wrap="square" rtlCol="0">
            <a:spAutoFit/>
          </a:bodyPr>
          <a:lstStyle/>
          <a:p>
            <a:pPr algn="ctr">
              <a:lnSpc>
                <a:spcPct val="130000"/>
              </a:lnSpc>
            </a:pPr>
            <a:r>
              <a:rPr lang="zh-CN" altLang="en-US" sz="2400" b="1" dirty="0" smtClean="0">
                <a:solidFill>
                  <a:schemeClr val="bg1"/>
                </a:solidFill>
                <a:latin typeface="方正卡通简体" pitchFamily="65" charset="-122"/>
                <a:ea typeface="方正卡通简体" pitchFamily="65" charset="-122"/>
              </a:rPr>
              <a:t>因本人节操有限，暂选取部分章节整理。</a:t>
            </a:r>
            <a:endParaRPr lang="en-US" altLang="zh-CN" sz="2400" b="1" dirty="0" smtClean="0">
              <a:solidFill>
                <a:schemeClr val="bg1"/>
              </a:solidFill>
              <a:latin typeface="方正卡通简体" pitchFamily="65" charset="-122"/>
              <a:ea typeface="方正卡通简体" pitchFamily="65" charset="-122"/>
            </a:endParaRPr>
          </a:p>
          <a:p>
            <a:pPr algn="ctr">
              <a:lnSpc>
                <a:spcPct val="130000"/>
              </a:lnSpc>
            </a:pPr>
            <a:r>
              <a:rPr lang="zh-CN" altLang="en-US" sz="2400" b="1" dirty="0">
                <a:solidFill>
                  <a:schemeClr val="bg1"/>
                </a:solidFill>
                <a:latin typeface="方正卡通简体" pitchFamily="65" charset="-122"/>
                <a:ea typeface="方正卡通简体" pitchFamily="65" charset="-122"/>
              </a:rPr>
              <a:t>本书各章均为精华，</a:t>
            </a:r>
            <a:r>
              <a:rPr lang="zh-CN" altLang="en-US" sz="2400" b="1" dirty="0" smtClean="0">
                <a:solidFill>
                  <a:schemeClr val="bg1"/>
                </a:solidFill>
                <a:latin typeface="方正卡通简体" pitchFamily="65" charset="-122"/>
                <a:ea typeface="方正卡通简体" pitchFamily="65" charset="-122"/>
              </a:rPr>
              <a:t>实</a:t>
            </a:r>
            <a:r>
              <a:rPr lang="zh-CN" altLang="en-US" sz="2400" b="1" dirty="0">
                <a:solidFill>
                  <a:schemeClr val="bg1"/>
                </a:solidFill>
                <a:latin typeface="方正卡通简体" pitchFamily="65" charset="-122"/>
                <a:ea typeface="方正卡通简体" pitchFamily="65" charset="-122"/>
              </a:rPr>
              <a:t>乃</a:t>
            </a:r>
            <a:r>
              <a:rPr lang="zh-CN" altLang="en-US" sz="2400" b="1" dirty="0" smtClean="0">
                <a:solidFill>
                  <a:schemeClr val="bg1"/>
                </a:solidFill>
                <a:latin typeface="方正卡通简体" pitchFamily="65" charset="-122"/>
                <a:ea typeface="方正卡通简体" pitchFamily="65" charset="-122"/>
              </a:rPr>
              <a:t>提升吵架及争辩能力、</a:t>
            </a:r>
            <a:endParaRPr lang="en-US" altLang="zh-CN" sz="2400" b="1" dirty="0" smtClean="0">
              <a:solidFill>
                <a:schemeClr val="bg1"/>
              </a:solidFill>
              <a:latin typeface="方正卡通简体" pitchFamily="65" charset="-122"/>
              <a:ea typeface="方正卡通简体" pitchFamily="65" charset="-122"/>
            </a:endParaRPr>
          </a:p>
          <a:p>
            <a:pPr algn="ctr">
              <a:lnSpc>
                <a:spcPct val="130000"/>
              </a:lnSpc>
            </a:pPr>
            <a:r>
              <a:rPr lang="zh-CN" altLang="en-US" sz="2400" b="1" dirty="0" smtClean="0">
                <a:solidFill>
                  <a:schemeClr val="bg1"/>
                </a:solidFill>
                <a:latin typeface="方正卡通简体" pitchFamily="65" charset="-122"/>
                <a:ea typeface="方正卡通简体" pitchFamily="65" charset="-122"/>
              </a:rPr>
              <a:t>扩大个人说服力、追求真理之利器。</a:t>
            </a:r>
            <a:endParaRPr lang="zh-CN" altLang="en-US" sz="2400" b="1" dirty="0">
              <a:solidFill>
                <a:schemeClr val="bg1"/>
              </a:solidFill>
              <a:latin typeface="方正卡通简体" pitchFamily="65" charset="-122"/>
              <a:ea typeface="方正卡通简体" pitchFamily="65" charset="-122"/>
            </a:endParaRPr>
          </a:p>
        </p:txBody>
      </p:sp>
    </p:spTree>
    <p:extLst>
      <p:ext uri="{BB962C8B-B14F-4D97-AF65-F5344CB8AC3E}">
        <p14:creationId xmlns:p14="http://schemas.microsoft.com/office/powerpoint/2010/main" val="34533697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descr="I:\暴走漫画全部素材\暴走漫画全部素材\)JY)4_VI[`ZVN)1OH9HQ43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8192" y="1707654"/>
            <a:ext cx="1650232" cy="1598662"/>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p:nvCxnSpPr>
        <p:spPr>
          <a:xfrm>
            <a:off x="905544" y="3284270"/>
            <a:ext cx="734481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1121568" y="2754002"/>
            <a:ext cx="4824536" cy="523220"/>
          </a:xfrm>
          <a:prstGeom prst="rect">
            <a:avLst/>
          </a:prstGeom>
          <a:noFill/>
        </p:spPr>
        <p:txBody>
          <a:bodyPr wrap="square" rtlCol="0">
            <a:spAutoFit/>
          </a:bodyPr>
          <a:lstStyle/>
          <a:p>
            <a:r>
              <a:rPr lang="zh-CN" altLang="en-US" sz="2800" dirty="0" smtClean="0">
                <a:latin typeface="方正卡通简体" pitchFamily="65" charset="-122"/>
                <a:ea typeface="方正卡通简体" pitchFamily="65" charset="-122"/>
              </a:rPr>
              <a:t>谢谢你这么有耐心撑到现在！</a:t>
            </a:r>
            <a:endParaRPr lang="zh-CN" altLang="en-US" sz="2800" dirty="0">
              <a:latin typeface="方正卡通简体" pitchFamily="65" charset="-122"/>
              <a:ea typeface="方正卡通简体" pitchFamily="65" charset="-122"/>
            </a:endParaRPr>
          </a:p>
        </p:txBody>
      </p:sp>
    </p:spTree>
    <p:extLst>
      <p:ext uri="{BB962C8B-B14F-4D97-AF65-F5344CB8AC3E}">
        <p14:creationId xmlns:p14="http://schemas.microsoft.com/office/powerpoint/2010/main" val="22968025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4873" y="807837"/>
            <a:ext cx="5554256" cy="316690"/>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a:r>
              <a:rPr lang="zh-CN" altLang="en-US" sz="1458" dirty="0">
                <a:solidFill>
                  <a:prstClr val="black"/>
                </a:solidFill>
                <a:latin typeface="微软雅黑" pitchFamily="34" charset="-122"/>
                <a:ea typeface="微软雅黑" pitchFamily="34" charset="-122"/>
              </a:rPr>
              <a:t>你也想免费得到出版社赠书做</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读书笔记？</a:t>
            </a:r>
          </a:p>
        </p:txBody>
      </p:sp>
      <p:sp>
        <p:nvSpPr>
          <p:cNvPr id="9" name="右箭头 8"/>
          <p:cNvSpPr/>
          <p:nvPr/>
        </p:nvSpPr>
        <p:spPr>
          <a:xfrm>
            <a:off x="3180578" y="2134941"/>
            <a:ext cx="87481" cy="16277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94">
              <a:solidFill>
                <a:prstClr val="white"/>
              </a:solidFill>
            </a:endParaRPr>
          </a:p>
        </p:txBody>
      </p:sp>
      <p:sp>
        <p:nvSpPr>
          <p:cNvPr id="10" name="右箭头 9"/>
          <p:cNvSpPr/>
          <p:nvPr/>
        </p:nvSpPr>
        <p:spPr>
          <a:xfrm>
            <a:off x="4521823" y="2134941"/>
            <a:ext cx="87481" cy="16277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94">
              <a:solidFill>
                <a:prstClr val="white"/>
              </a:solidFill>
            </a:endParaRPr>
          </a:p>
        </p:txBody>
      </p:sp>
      <p:sp>
        <p:nvSpPr>
          <p:cNvPr id="11" name="右箭头 10"/>
          <p:cNvSpPr/>
          <p:nvPr/>
        </p:nvSpPr>
        <p:spPr>
          <a:xfrm>
            <a:off x="5921515" y="2134941"/>
            <a:ext cx="87481" cy="16277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94">
              <a:solidFill>
                <a:prstClr val="white"/>
              </a:solidFill>
            </a:endParaRPr>
          </a:p>
        </p:txBody>
      </p:sp>
      <p:sp>
        <p:nvSpPr>
          <p:cNvPr id="12" name="TextBox 11"/>
          <p:cNvSpPr txBox="1"/>
          <p:nvPr/>
        </p:nvSpPr>
        <p:spPr>
          <a:xfrm>
            <a:off x="1860097" y="2990070"/>
            <a:ext cx="5554256" cy="1344599"/>
          </a:xfrm>
          <a:prstGeom prst="rect">
            <a:avLst/>
          </a:prstGeom>
          <a:noFill/>
          <a:effectLst/>
        </p:spPr>
        <p:txBody>
          <a:bodyPr wrap="square" rtlCol="0" anchor="ctr">
            <a:spAutoFit/>
          </a:bodyPr>
          <a:lstStyle/>
          <a:p>
            <a:pPr>
              <a:spcBef>
                <a:spcPts val="1094"/>
              </a:spcBef>
            </a:pPr>
            <a:r>
              <a:rPr lang="zh-CN" altLang="en-US" sz="1094" dirty="0">
                <a:solidFill>
                  <a:prstClr val="black"/>
                </a:solidFill>
                <a:latin typeface="微软雅黑" pitchFamily="34" charset="-122"/>
                <a:ea typeface="微软雅黑" pitchFamily="34" charset="-122"/>
              </a:rPr>
              <a:t>  友情提示：马上就去新浪微博</a:t>
            </a:r>
            <a:endParaRPr lang="en-US" altLang="zh-CN" sz="1094" dirty="0">
              <a:solidFill>
                <a:prstClr val="black"/>
              </a:solidFill>
              <a:latin typeface="微软雅黑" pitchFamily="34" charset="-122"/>
              <a:ea typeface="微软雅黑" pitchFamily="34" charset="-122"/>
            </a:endParaRPr>
          </a:p>
          <a:p>
            <a:pPr>
              <a:spcBef>
                <a:spcPts val="1094"/>
              </a:spcBef>
            </a:pPr>
            <a:r>
              <a:rPr lang="en-US" altLang="zh-CN" sz="1094" dirty="0">
                <a:solidFill>
                  <a:prstClr val="black"/>
                </a:solidFill>
                <a:latin typeface="微软雅黑" pitchFamily="34" charset="-122"/>
                <a:ea typeface="微软雅黑" pitchFamily="34" charset="-122"/>
              </a:rPr>
              <a:t>  1</a:t>
            </a:r>
            <a:r>
              <a:rPr lang="zh-CN" altLang="en-US" sz="1094" dirty="0">
                <a:solidFill>
                  <a:prstClr val="black"/>
                </a:solidFill>
                <a:latin typeface="微软雅黑" pitchFamily="34" charset="-122"/>
                <a:ea typeface="微软雅黑" pitchFamily="34" charset="-122"/>
              </a:rPr>
              <a:t>、关注</a:t>
            </a:r>
            <a:r>
              <a:rPr lang="en-US" altLang="zh-CN" sz="1094" dirty="0">
                <a:solidFill>
                  <a:prstClr val="black"/>
                </a:solidFill>
                <a:latin typeface="微软雅黑" pitchFamily="34" charset="-122"/>
                <a:ea typeface="微软雅黑" pitchFamily="34" charset="-122"/>
              </a:rPr>
              <a:t>@</a:t>
            </a:r>
            <a:r>
              <a:rPr lang="zh-CN" altLang="en-US" sz="1094" dirty="0">
                <a:solidFill>
                  <a:prstClr val="black"/>
                </a:solidFill>
                <a:latin typeface="微软雅黑" pitchFamily="34" charset="-122"/>
                <a:ea typeface="微软雅黑" pitchFamily="34" charset="-122"/>
              </a:rPr>
              <a:t>时间卡片  ，可以看到其它学员读书</a:t>
            </a:r>
            <a:r>
              <a:rPr lang="en-US" altLang="zh-CN" sz="1094" dirty="0">
                <a:solidFill>
                  <a:prstClr val="black"/>
                </a:solidFill>
                <a:latin typeface="微软雅黑" pitchFamily="34" charset="-122"/>
                <a:ea typeface="微软雅黑" pitchFamily="34" charset="-122"/>
              </a:rPr>
              <a:t>PPT</a:t>
            </a:r>
            <a:r>
              <a:rPr lang="zh-CN" altLang="en-US" sz="1094" dirty="0">
                <a:solidFill>
                  <a:prstClr val="black"/>
                </a:solidFill>
                <a:latin typeface="微软雅黑" pitchFamily="34" charset="-122"/>
                <a:ea typeface="微软雅黑" pitchFamily="34" charset="-122"/>
              </a:rPr>
              <a:t>制作约定</a:t>
            </a:r>
            <a:endParaRPr lang="en-US" altLang="zh-CN" sz="1094" dirty="0">
              <a:solidFill>
                <a:prstClr val="black"/>
              </a:solidFill>
              <a:latin typeface="微软雅黑" pitchFamily="34" charset="-122"/>
              <a:ea typeface="微软雅黑" pitchFamily="34" charset="-122"/>
            </a:endParaRPr>
          </a:p>
          <a:p>
            <a:pPr>
              <a:spcBef>
                <a:spcPts val="729"/>
              </a:spcBef>
            </a:pPr>
            <a:r>
              <a:rPr lang="en-US" altLang="zh-CN" sz="1094" dirty="0">
                <a:solidFill>
                  <a:prstClr val="black"/>
                </a:solidFill>
                <a:latin typeface="微软雅黑" pitchFamily="34" charset="-122"/>
                <a:ea typeface="微软雅黑" pitchFamily="34" charset="-122"/>
              </a:rPr>
              <a:t>  2</a:t>
            </a:r>
            <a:r>
              <a:rPr lang="zh-CN" altLang="en-US" sz="1094" dirty="0">
                <a:solidFill>
                  <a:prstClr val="black"/>
                </a:solidFill>
                <a:latin typeface="微软雅黑" pitchFamily="34" charset="-122"/>
                <a:ea typeface="微软雅黑" pitchFamily="34" charset="-122"/>
              </a:rPr>
              <a:t>、关注</a:t>
            </a:r>
            <a:r>
              <a:rPr lang="en-US" altLang="zh-CN" sz="1094" dirty="0">
                <a:solidFill>
                  <a:prstClr val="black"/>
                </a:solidFill>
                <a:latin typeface="微软雅黑" pitchFamily="34" charset="-122"/>
                <a:ea typeface="微软雅黑" pitchFamily="34" charset="-122"/>
              </a:rPr>
              <a:t>@</a:t>
            </a:r>
            <a:r>
              <a:rPr lang="zh-CN" altLang="en-US" sz="1094" dirty="0">
                <a:solidFill>
                  <a:prstClr val="black"/>
                </a:solidFill>
                <a:latin typeface="微软雅黑" pitchFamily="34" charset="-122"/>
                <a:ea typeface="微软雅黑" pitchFamily="34" charset="-122"/>
              </a:rPr>
              <a:t>读书笔记</a:t>
            </a:r>
            <a:r>
              <a:rPr lang="en-US" altLang="zh-CN" sz="1094" dirty="0">
                <a:solidFill>
                  <a:prstClr val="black"/>
                </a:solidFill>
                <a:latin typeface="微软雅黑" pitchFamily="34" charset="-122"/>
                <a:ea typeface="微软雅黑" pitchFamily="34" charset="-122"/>
              </a:rPr>
              <a:t>PPT</a:t>
            </a:r>
            <a:r>
              <a:rPr lang="zh-CN" altLang="en-US" sz="1094" dirty="0">
                <a:solidFill>
                  <a:prstClr val="black"/>
                </a:solidFill>
                <a:latin typeface="微软雅黑" pitchFamily="34" charset="-122"/>
                <a:ea typeface="微软雅黑" pitchFamily="34" charset="-122"/>
              </a:rPr>
              <a:t>，可以看到其它学员已经提交的读书</a:t>
            </a:r>
            <a:r>
              <a:rPr lang="en-US" altLang="zh-CN" sz="1094" dirty="0">
                <a:solidFill>
                  <a:prstClr val="black"/>
                </a:solidFill>
                <a:latin typeface="微软雅黑" pitchFamily="34" charset="-122"/>
                <a:ea typeface="微软雅黑" pitchFamily="34" charset="-122"/>
              </a:rPr>
              <a:t>PPT</a:t>
            </a:r>
          </a:p>
          <a:p>
            <a:pPr>
              <a:spcBef>
                <a:spcPts val="729"/>
              </a:spcBef>
            </a:pPr>
            <a:r>
              <a:rPr lang="en-US" altLang="zh-CN" sz="1094" dirty="0">
                <a:solidFill>
                  <a:prstClr val="black"/>
                </a:solidFill>
                <a:latin typeface="微软雅黑" pitchFamily="34" charset="-122"/>
                <a:ea typeface="微软雅黑" pitchFamily="34" charset="-122"/>
              </a:rPr>
              <a:t>  3</a:t>
            </a:r>
            <a:r>
              <a:rPr lang="zh-CN" altLang="en-US" sz="1094" dirty="0">
                <a:solidFill>
                  <a:prstClr val="black"/>
                </a:solidFill>
                <a:latin typeface="微软雅黑" pitchFamily="34" charset="-122"/>
                <a:ea typeface="微软雅黑" pitchFamily="34" charset="-122"/>
              </a:rPr>
              <a:t>、搜</a:t>
            </a:r>
            <a:r>
              <a:rPr lang="en-US" altLang="zh-CN" sz="1094" dirty="0">
                <a:solidFill>
                  <a:prstClr val="black"/>
                </a:solidFill>
                <a:latin typeface="微软雅黑" pitchFamily="34" charset="-122"/>
                <a:ea typeface="微软雅黑" pitchFamily="34" charset="-122"/>
              </a:rPr>
              <a:t>#</a:t>
            </a:r>
            <a:r>
              <a:rPr lang="zh-CN" altLang="en-US" sz="1094" dirty="0">
                <a:solidFill>
                  <a:prstClr val="black"/>
                </a:solidFill>
                <a:latin typeface="微软雅黑" pitchFamily="34" charset="-122"/>
                <a:ea typeface="微软雅黑" pitchFamily="34" charset="-122"/>
              </a:rPr>
              <a:t>和秋叶一起学</a:t>
            </a:r>
            <a:r>
              <a:rPr lang="en-US" altLang="zh-CN" sz="1094" dirty="0">
                <a:solidFill>
                  <a:prstClr val="black"/>
                </a:solidFill>
                <a:latin typeface="微软雅黑" pitchFamily="34" charset="-122"/>
                <a:ea typeface="微软雅黑" pitchFamily="34" charset="-122"/>
              </a:rPr>
              <a:t>PPT#</a:t>
            </a:r>
            <a:r>
              <a:rPr lang="zh-CN" altLang="en-US" sz="1094" dirty="0">
                <a:solidFill>
                  <a:prstClr val="black"/>
                </a:solidFill>
                <a:latin typeface="微软雅黑" pitchFamily="34" charset="-122"/>
                <a:ea typeface="微软雅黑" pitchFamily="34" charset="-122"/>
              </a:rPr>
              <a:t>标签，可以看到其它学员已经提交的作业</a:t>
            </a:r>
            <a:r>
              <a:rPr lang="en-US" altLang="zh-CN" sz="1094" dirty="0">
                <a:solidFill>
                  <a:prstClr val="black"/>
                </a:solidFill>
                <a:latin typeface="微软雅黑" pitchFamily="34" charset="-122"/>
                <a:ea typeface="微软雅黑" pitchFamily="34" charset="-122"/>
              </a:rPr>
              <a:t>PPT</a:t>
            </a:r>
          </a:p>
          <a:p>
            <a:pPr>
              <a:spcBef>
                <a:spcPts val="729"/>
              </a:spcBef>
            </a:pPr>
            <a:r>
              <a:rPr lang="en-US" altLang="zh-CN" sz="1094" dirty="0">
                <a:solidFill>
                  <a:prstClr val="black"/>
                </a:solidFill>
                <a:latin typeface="微软雅黑" pitchFamily="34" charset="-122"/>
                <a:ea typeface="微软雅黑" pitchFamily="34" charset="-122"/>
              </a:rPr>
              <a:t>  4</a:t>
            </a:r>
            <a:r>
              <a:rPr lang="zh-CN" altLang="en-US" sz="1094" dirty="0">
                <a:solidFill>
                  <a:prstClr val="black"/>
                </a:solidFill>
                <a:latin typeface="微软雅黑" pitchFamily="34" charset="-122"/>
                <a:ea typeface="微软雅黑" pitchFamily="34" charset="-122"/>
              </a:rPr>
              <a:t>、国内主流出版社都已经和</a:t>
            </a:r>
            <a:r>
              <a:rPr lang="en-US" altLang="zh-CN" sz="1094" dirty="0">
                <a:solidFill>
                  <a:prstClr val="black"/>
                </a:solidFill>
                <a:latin typeface="微软雅黑" pitchFamily="34" charset="-122"/>
                <a:ea typeface="微软雅黑" pitchFamily="34" charset="-122"/>
              </a:rPr>
              <a:t>@</a:t>
            </a:r>
            <a:r>
              <a:rPr lang="zh-CN" altLang="en-US" sz="1094"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1991318" y="3227856"/>
            <a:ext cx="516136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1860097" y="1718814"/>
            <a:ext cx="1180991" cy="814780"/>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094">
                <a:solidFill>
                  <a:prstClr val="white"/>
                </a:solidFill>
                <a:latin typeface="微软雅黑" pitchFamily="34" charset="-122"/>
                <a:ea typeface="微软雅黑" pitchFamily="34" charset="-122"/>
              </a:endParaRPr>
            </a:p>
          </p:txBody>
        </p:sp>
        <p:sp>
          <p:nvSpPr>
            <p:cNvPr id="17" name="矩形 16"/>
            <p:cNvSpPr/>
            <p:nvPr/>
          </p:nvSpPr>
          <p:spPr>
            <a:xfrm>
              <a:off x="323411" y="2382196"/>
              <a:ext cx="1728239" cy="983619"/>
            </a:xfrm>
            <a:prstGeom prst="rect">
              <a:avLst/>
            </a:prstGeom>
          </p:spPr>
          <p:txBody>
            <a:bodyPr wrap="square">
              <a:spAutoFit/>
            </a:bodyPr>
            <a:lstStyle/>
            <a:p>
              <a:pPr algn="ctr"/>
              <a:r>
                <a:rPr lang="zh-CN" altLang="en-US" sz="1094" dirty="0">
                  <a:solidFill>
                    <a:prstClr val="white"/>
                  </a:solidFill>
                  <a:latin typeface="微软雅黑" pitchFamily="34" charset="-122"/>
                  <a:ea typeface="微软雅黑" pitchFamily="34" charset="-122"/>
                </a:rPr>
                <a:t>购买</a:t>
              </a:r>
              <a:r>
                <a:rPr lang="en-US" altLang="zh-CN" sz="1094" dirty="0">
                  <a:solidFill>
                    <a:prstClr val="white"/>
                  </a:solidFill>
                  <a:latin typeface="微软雅黑" pitchFamily="34" charset="-122"/>
                  <a:ea typeface="微软雅黑" pitchFamily="34" charset="-122"/>
                </a:rPr>
                <a:t>99</a:t>
              </a:r>
              <a:r>
                <a:rPr lang="zh-CN" altLang="en-US" sz="1094" dirty="0">
                  <a:solidFill>
                    <a:prstClr val="white"/>
                  </a:solidFill>
                  <a:latin typeface="微软雅黑" pitchFamily="34" charset="-122"/>
                  <a:ea typeface="微软雅黑" pitchFamily="34" charset="-122"/>
                </a:rPr>
                <a:t>元</a:t>
              </a:r>
              <a:endParaRPr lang="en-US" altLang="zh-CN" sz="1094" dirty="0">
                <a:solidFill>
                  <a:prstClr val="white"/>
                </a:solidFill>
                <a:latin typeface="微软雅黑" pitchFamily="34" charset="-122"/>
                <a:ea typeface="微软雅黑" pitchFamily="34" charset="-122"/>
              </a:endParaRPr>
            </a:p>
            <a:p>
              <a:pPr algn="ctr"/>
              <a:r>
                <a:rPr lang="zh-CN" altLang="en-US" sz="1094" dirty="0">
                  <a:solidFill>
                    <a:prstClr val="white"/>
                  </a:solidFill>
                  <a:latin typeface="微软雅黑" pitchFamily="34" charset="-122"/>
                  <a:ea typeface="微软雅黑" pitchFamily="34" charset="-122"/>
                </a:rPr>
                <a:t>网易云课堂</a:t>
              </a:r>
              <a:endParaRPr lang="en-US" altLang="zh-CN" sz="1094" dirty="0">
                <a:solidFill>
                  <a:prstClr val="white"/>
                </a:solidFill>
                <a:latin typeface="微软雅黑" pitchFamily="34" charset="-122"/>
                <a:ea typeface="微软雅黑" pitchFamily="34" charset="-122"/>
              </a:endParaRPr>
            </a:p>
            <a:p>
              <a:pPr algn="ctr"/>
              <a:r>
                <a:rPr lang="en-US" altLang="zh-CN" sz="1094" dirty="0">
                  <a:solidFill>
                    <a:prstClr val="white"/>
                  </a:solidFill>
                  <a:latin typeface="微软雅黑" pitchFamily="34" charset="-122"/>
                  <a:ea typeface="微软雅黑" pitchFamily="34" charset="-122"/>
                </a:rPr>
                <a:t>PPT</a:t>
              </a:r>
              <a:r>
                <a:rPr lang="zh-CN" altLang="en-US" sz="1094" dirty="0">
                  <a:solidFill>
                    <a:prstClr val="white"/>
                  </a:solidFill>
                  <a:latin typeface="微软雅黑" pitchFamily="34" charset="-122"/>
                  <a:ea typeface="微软雅黑" pitchFamily="34" charset="-122"/>
                </a:rPr>
                <a:t>在线课程</a:t>
              </a:r>
              <a:endParaRPr lang="en-US" altLang="zh-CN" sz="1094" dirty="0">
                <a:solidFill>
                  <a:prstClr val="white"/>
                </a:solidFill>
                <a:latin typeface="微软雅黑" pitchFamily="34" charset="-122"/>
                <a:ea typeface="微软雅黑" pitchFamily="34" charset="-122"/>
              </a:endParaRPr>
            </a:p>
          </p:txBody>
        </p:sp>
        <p:sp>
          <p:nvSpPr>
            <p:cNvPr id="18" name="矩形 17"/>
            <p:cNvSpPr/>
            <p:nvPr/>
          </p:nvSpPr>
          <p:spPr>
            <a:xfrm>
              <a:off x="107380" y="2060810"/>
              <a:ext cx="504070" cy="429211"/>
            </a:xfrm>
            <a:prstGeom prst="rect">
              <a:avLst/>
            </a:prstGeom>
          </p:spPr>
          <p:txBody>
            <a:bodyPr wrap="square">
              <a:spAutoFit/>
            </a:bodyPr>
            <a:lstStyle/>
            <a:p>
              <a:pPr algn="ctr"/>
              <a:r>
                <a:rPr lang="en-US" altLang="zh-CN" sz="1094"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3241229" y="1718816"/>
            <a:ext cx="1180991" cy="982937"/>
            <a:chOff x="107380" y="2024805"/>
            <a:chExt cx="1944270" cy="1618211"/>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094">
                <a:solidFill>
                  <a:prstClr val="white"/>
                </a:solidFill>
                <a:latin typeface="微软雅黑" pitchFamily="34" charset="-122"/>
                <a:ea typeface="微软雅黑" pitchFamily="34" charset="-122"/>
              </a:endParaRPr>
            </a:p>
          </p:txBody>
        </p:sp>
        <p:sp>
          <p:nvSpPr>
            <p:cNvPr id="22" name="矩形 21"/>
            <p:cNvSpPr/>
            <p:nvPr/>
          </p:nvSpPr>
          <p:spPr>
            <a:xfrm>
              <a:off x="323411" y="2382194"/>
              <a:ext cx="1728239" cy="1260822"/>
            </a:xfrm>
            <a:prstGeom prst="rect">
              <a:avLst/>
            </a:prstGeom>
          </p:spPr>
          <p:txBody>
            <a:bodyPr wrap="square">
              <a:spAutoFit/>
            </a:bodyPr>
            <a:lstStyle/>
            <a:p>
              <a:pPr algn="ctr"/>
              <a:r>
                <a:rPr lang="zh-CN" altLang="en-US" sz="1094" dirty="0">
                  <a:solidFill>
                    <a:prstClr val="white"/>
                  </a:solidFill>
                  <a:latin typeface="微软雅黑" pitchFamily="34" charset="-122"/>
                  <a:ea typeface="微软雅黑" pitchFamily="34" charset="-122"/>
                </a:rPr>
                <a:t>购买后去微博私信</a:t>
              </a:r>
              <a:r>
                <a:rPr lang="en-US" altLang="zh-CN" sz="1094" dirty="0">
                  <a:solidFill>
                    <a:prstClr val="white"/>
                  </a:solidFill>
                  <a:latin typeface="微软雅黑" pitchFamily="34" charset="-122"/>
                  <a:ea typeface="微软雅黑" pitchFamily="34" charset="-122"/>
                </a:rPr>
                <a:t>@</a:t>
              </a:r>
              <a:r>
                <a:rPr lang="zh-CN" altLang="en-US" sz="1094" dirty="0">
                  <a:solidFill>
                    <a:prstClr val="white"/>
                  </a:solidFill>
                  <a:latin typeface="微软雅黑" pitchFamily="34" charset="-122"/>
                  <a:ea typeface="微软雅黑" pitchFamily="34" charset="-122"/>
                </a:rPr>
                <a:t>秋叶</a:t>
              </a:r>
              <a:endParaRPr lang="en-US" altLang="zh-CN" sz="1094" dirty="0">
                <a:solidFill>
                  <a:prstClr val="white"/>
                </a:solidFill>
                <a:latin typeface="微软雅黑" pitchFamily="34" charset="-122"/>
                <a:ea typeface="微软雅黑" pitchFamily="34" charset="-122"/>
              </a:endParaRPr>
            </a:p>
            <a:p>
              <a:pPr algn="ctr"/>
              <a:r>
                <a:rPr lang="zh-CN" altLang="en-US" sz="1094" dirty="0">
                  <a:solidFill>
                    <a:prstClr val="white"/>
                  </a:solidFill>
                  <a:latin typeface="微软雅黑" pitchFamily="34" charset="-122"/>
                  <a:ea typeface="微软雅黑" pitchFamily="34" charset="-122"/>
                </a:rPr>
                <a:t>要福利</a:t>
              </a:r>
              <a:r>
                <a:rPr lang="en-US" altLang="zh-CN" sz="1094" dirty="0">
                  <a:solidFill>
                    <a:prstClr val="white"/>
                  </a:solidFill>
                  <a:latin typeface="微软雅黑" pitchFamily="34" charset="-122"/>
                  <a:ea typeface="微软雅黑" pitchFamily="34" charset="-122"/>
                </a:rPr>
                <a:t>QQ</a:t>
              </a:r>
              <a:r>
                <a:rPr lang="zh-CN" altLang="en-US" sz="1094" dirty="0">
                  <a:solidFill>
                    <a:prstClr val="white"/>
                  </a:solidFill>
                  <a:latin typeface="微软雅黑" pitchFamily="34" charset="-122"/>
                  <a:ea typeface="微软雅黑" pitchFamily="34" charset="-122"/>
                </a:rPr>
                <a:t>群号</a:t>
              </a:r>
              <a:endParaRPr lang="en-US" altLang="zh-CN" sz="1094"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429211"/>
            </a:xfrm>
            <a:prstGeom prst="rect">
              <a:avLst/>
            </a:prstGeom>
          </p:spPr>
          <p:txBody>
            <a:bodyPr wrap="square">
              <a:spAutoFit/>
            </a:bodyPr>
            <a:lstStyle/>
            <a:p>
              <a:pPr algn="ctr"/>
              <a:r>
                <a:rPr lang="en-US" altLang="zh-CN" sz="1094"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4599742" y="1718814"/>
            <a:ext cx="1180991" cy="814780"/>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094">
                <a:solidFill>
                  <a:prstClr val="white"/>
                </a:solidFill>
                <a:latin typeface="微软雅黑" pitchFamily="34" charset="-122"/>
                <a:ea typeface="微软雅黑" pitchFamily="34" charset="-122"/>
              </a:endParaRPr>
            </a:p>
          </p:txBody>
        </p:sp>
        <p:sp>
          <p:nvSpPr>
            <p:cNvPr id="26" name="矩形 25"/>
            <p:cNvSpPr/>
            <p:nvPr/>
          </p:nvSpPr>
          <p:spPr>
            <a:xfrm>
              <a:off x="323411" y="2382196"/>
              <a:ext cx="1728239" cy="983619"/>
            </a:xfrm>
            <a:prstGeom prst="rect">
              <a:avLst/>
            </a:prstGeom>
          </p:spPr>
          <p:txBody>
            <a:bodyPr wrap="square">
              <a:spAutoFit/>
            </a:bodyPr>
            <a:lstStyle/>
            <a:p>
              <a:pPr algn="ctr"/>
              <a:r>
                <a:rPr lang="zh-CN" altLang="en-US" sz="1094" dirty="0">
                  <a:solidFill>
                    <a:prstClr val="white"/>
                  </a:solidFill>
                  <a:latin typeface="微软雅黑" pitchFamily="34" charset="-122"/>
                  <a:ea typeface="微软雅黑" pitchFamily="34" charset="-122"/>
                </a:rPr>
                <a:t>新浪微博晒作业被老师肯定奖励内部选书</a:t>
              </a:r>
              <a:endParaRPr lang="en-US" altLang="zh-CN" sz="1094" dirty="0">
                <a:solidFill>
                  <a:prstClr val="white"/>
                </a:solidFill>
                <a:latin typeface="微软雅黑" pitchFamily="34" charset="-122"/>
                <a:ea typeface="微软雅黑" pitchFamily="34" charset="-122"/>
              </a:endParaRPr>
            </a:p>
          </p:txBody>
        </p:sp>
        <p:sp>
          <p:nvSpPr>
            <p:cNvPr id="27" name="矩形 26"/>
            <p:cNvSpPr/>
            <p:nvPr/>
          </p:nvSpPr>
          <p:spPr>
            <a:xfrm>
              <a:off x="107380" y="2060810"/>
              <a:ext cx="504070" cy="429211"/>
            </a:xfrm>
            <a:prstGeom prst="rect">
              <a:avLst/>
            </a:prstGeom>
          </p:spPr>
          <p:txBody>
            <a:bodyPr wrap="square">
              <a:spAutoFit/>
            </a:bodyPr>
            <a:lstStyle/>
            <a:p>
              <a:pPr algn="ctr"/>
              <a:r>
                <a:rPr lang="en-US" altLang="zh-CN" sz="1094"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5965253" y="1718814"/>
            <a:ext cx="1180991" cy="814780"/>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094">
                <a:solidFill>
                  <a:prstClr val="white"/>
                </a:solidFill>
                <a:latin typeface="微软雅黑" pitchFamily="34" charset="-122"/>
                <a:ea typeface="微软雅黑" pitchFamily="34" charset="-122"/>
              </a:endParaRPr>
            </a:p>
          </p:txBody>
        </p:sp>
        <p:sp>
          <p:nvSpPr>
            <p:cNvPr id="30" name="矩形 29"/>
            <p:cNvSpPr/>
            <p:nvPr/>
          </p:nvSpPr>
          <p:spPr>
            <a:xfrm>
              <a:off x="323411" y="2382196"/>
              <a:ext cx="1728239" cy="983619"/>
            </a:xfrm>
            <a:prstGeom prst="rect">
              <a:avLst/>
            </a:prstGeom>
          </p:spPr>
          <p:txBody>
            <a:bodyPr wrap="square">
              <a:spAutoFit/>
            </a:bodyPr>
            <a:lstStyle/>
            <a:p>
              <a:pPr algn="ctr"/>
              <a:r>
                <a:rPr lang="zh-CN" altLang="en-US" sz="1094" dirty="0">
                  <a:solidFill>
                    <a:prstClr val="white"/>
                  </a:solidFill>
                  <a:latin typeface="微软雅黑" pitchFamily="34" charset="-122"/>
                  <a:ea typeface="微软雅黑" pitchFamily="34" charset="-122"/>
                </a:rPr>
                <a:t>出版社寄书到后约</a:t>
              </a:r>
              <a:r>
                <a:rPr lang="en-US" altLang="zh-CN" sz="1094" dirty="0">
                  <a:solidFill>
                    <a:prstClr val="white"/>
                  </a:solidFill>
                  <a:latin typeface="微软雅黑" pitchFamily="34" charset="-122"/>
                  <a:ea typeface="微软雅黑" pitchFamily="34" charset="-122"/>
                </a:rPr>
                <a:t>@</a:t>
              </a:r>
              <a:r>
                <a:rPr lang="zh-CN" altLang="en-US" sz="1094" dirty="0">
                  <a:solidFill>
                    <a:prstClr val="white"/>
                  </a:solidFill>
                  <a:latin typeface="微软雅黑" pitchFamily="34" charset="-122"/>
                  <a:ea typeface="微软雅黑" pitchFamily="34" charset="-122"/>
                </a:rPr>
                <a:t>时间卡片 晒读书</a:t>
              </a:r>
              <a:r>
                <a:rPr lang="en-US" altLang="zh-CN" sz="1094" dirty="0">
                  <a:solidFill>
                    <a:prstClr val="white"/>
                  </a:solidFill>
                  <a:latin typeface="微软雅黑" pitchFamily="34" charset="-122"/>
                  <a:ea typeface="微软雅黑" pitchFamily="34" charset="-122"/>
                </a:rPr>
                <a:t>PPT</a:t>
              </a:r>
            </a:p>
          </p:txBody>
        </p:sp>
        <p:sp>
          <p:nvSpPr>
            <p:cNvPr id="31" name="矩形 30"/>
            <p:cNvSpPr/>
            <p:nvPr/>
          </p:nvSpPr>
          <p:spPr>
            <a:xfrm>
              <a:off x="107380" y="2060810"/>
              <a:ext cx="504070" cy="429211"/>
            </a:xfrm>
            <a:prstGeom prst="rect">
              <a:avLst/>
            </a:prstGeom>
          </p:spPr>
          <p:txBody>
            <a:bodyPr wrap="square">
              <a:spAutoFit/>
            </a:bodyPr>
            <a:lstStyle/>
            <a:p>
              <a:pPr algn="ctr"/>
              <a:r>
                <a:rPr lang="en-US" altLang="zh-CN" sz="1094"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4261638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797291" y="2965403"/>
            <a:ext cx="5569445" cy="985849"/>
            <a:chOff x="0" y="3359571"/>
            <a:chExt cx="9169004" cy="1623009"/>
          </a:xfrm>
        </p:grpSpPr>
        <p:sp>
          <p:nvSpPr>
            <p:cNvPr id="5" name="矩形 4"/>
            <p:cNvSpPr/>
            <p:nvPr/>
          </p:nvSpPr>
          <p:spPr>
            <a:xfrm>
              <a:off x="1245140" y="3973770"/>
              <a:ext cx="4572002" cy="583121"/>
            </a:xfrm>
            <a:prstGeom prst="rect">
              <a:avLst/>
            </a:prstGeom>
          </p:spPr>
          <p:txBody>
            <a:bodyPr>
              <a:spAutoFit/>
            </a:bodyPr>
            <a:lstStyle/>
            <a:p>
              <a:pPr defTabSz="55878">
                <a:defRPr/>
              </a:pPr>
              <a:r>
                <a:rPr lang="en-US" altLang="zh-CN" sz="851" kern="0" dirty="0">
                  <a:solidFill>
                    <a:prstClr val="black"/>
                  </a:solidFill>
                </a:rPr>
                <a:t/>
              </a:r>
              <a:br>
                <a:rPr lang="en-US" altLang="zh-CN" sz="851" kern="0" dirty="0">
                  <a:solidFill>
                    <a:prstClr val="black"/>
                  </a:solidFill>
                </a:rPr>
              </a:br>
              <a:endParaRPr lang="en-US" altLang="zh-CN" sz="851" kern="0" dirty="0">
                <a:solidFill>
                  <a:prstClr val="black"/>
                </a:solidFill>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416582" fontAlgn="base">
                <a:spcBef>
                  <a:spcPct val="0"/>
                </a:spcBef>
                <a:spcAft>
                  <a:spcPct val="0"/>
                </a:spcAft>
                <a:defRPr/>
              </a:pPr>
              <a:endParaRPr lang="zh-CN" altLang="en-US" sz="821" kern="0">
                <a:solidFill>
                  <a:prstClr val="white"/>
                </a:solidFill>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white"/>
                </a:solidFill>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3" y="3613174"/>
              <a:ext cx="594123" cy="613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82" fontAlgn="base">
                <a:lnSpc>
                  <a:spcPct val="100000"/>
                </a:lnSpc>
                <a:spcBef>
                  <a:spcPct val="0"/>
                </a:spcBef>
                <a:spcAft>
                  <a:spcPct val="0"/>
                </a:spcAft>
                <a:buNone/>
                <a:defRPr/>
              </a:pPr>
              <a:r>
                <a:rPr lang="zh-CN" altLang="en-US" sz="1823"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3644"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3"/>
              <a:ext cx="3618640" cy="9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82" fontAlgn="base">
                <a:lnSpc>
                  <a:spcPct val="100000"/>
                </a:lnSpc>
                <a:spcBef>
                  <a:spcPct val="0"/>
                </a:spcBef>
                <a:spcAft>
                  <a:spcPct val="0"/>
                </a:spcAft>
                <a:buNone/>
                <a:defRPr/>
              </a:pPr>
              <a:r>
                <a:rPr lang="zh-CN" altLang="en-US" sz="1458"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458"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2735"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458"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458"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458"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458"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416582" fontAlgn="base">
                <a:lnSpc>
                  <a:spcPct val="100000"/>
                </a:lnSpc>
                <a:spcBef>
                  <a:spcPct val="0"/>
                </a:spcBef>
                <a:spcAft>
                  <a:spcPct val="0"/>
                </a:spcAft>
                <a:buNone/>
                <a:defRPr/>
              </a:pPr>
              <a:endParaRPr lang="zh-CN" altLang="en-US" sz="479"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white"/>
                  </a:solidFill>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white"/>
                  </a:solidFill>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white"/>
                  </a:solidFill>
                </a:endParaRPr>
              </a:p>
            </p:txBody>
          </p:sp>
        </p:grpSp>
        <p:sp>
          <p:nvSpPr>
            <p:cNvPr id="12" name="文本框 11"/>
            <p:cNvSpPr txBox="1">
              <a:spLocks noChangeArrowheads="1"/>
            </p:cNvSpPr>
            <p:nvPr/>
          </p:nvSpPr>
          <p:spPr bwMode="auto">
            <a:xfrm>
              <a:off x="5110678" y="4188246"/>
              <a:ext cx="1709734" cy="475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82" eaLnBrk="0" fontAlgn="base" hangingPunct="0">
                <a:lnSpc>
                  <a:spcPct val="100000"/>
                </a:lnSpc>
                <a:spcBef>
                  <a:spcPct val="0"/>
                </a:spcBef>
                <a:spcAft>
                  <a:spcPct val="0"/>
                </a:spcAft>
                <a:buNone/>
                <a:defRPr/>
              </a:pPr>
              <a:r>
                <a:rPr lang="zh-CN" altLang="en-US" sz="1277" kern="0" dirty="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white"/>
                </a:solidFill>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black"/>
                  </a:solidFill>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white"/>
                  </a:solidFill>
                </a:endParaRPr>
              </a:p>
            </p:txBody>
          </p:sp>
        </p:grpSp>
        <p:sp>
          <p:nvSpPr>
            <p:cNvPr id="15" name="文本框 14"/>
            <p:cNvSpPr txBox="1">
              <a:spLocks noChangeArrowheads="1"/>
            </p:cNvSpPr>
            <p:nvPr/>
          </p:nvSpPr>
          <p:spPr bwMode="auto">
            <a:xfrm>
              <a:off x="7008018" y="4183481"/>
              <a:ext cx="757239" cy="799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82" eaLnBrk="0" fontAlgn="base" hangingPunct="0">
                <a:lnSpc>
                  <a:spcPct val="100000"/>
                </a:lnSpc>
                <a:spcBef>
                  <a:spcPct val="0"/>
                </a:spcBef>
                <a:spcAft>
                  <a:spcPct val="0"/>
                </a:spcAft>
                <a:buNone/>
                <a:defRPr/>
              </a:pPr>
              <a:r>
                <a:rPr lang="zh-CN" altLang="en-US" sz="1277"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821" kern="0">
                <a:solidFill>
                  <a:prstClr val="white"/>
                </a:solidFill>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821" kern="0">
                  <a:solidFill>
                    <a:prstClr val="black"/>
                  </a:solidFill>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4"/>
              <a:ext cx="3193757" cy="383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82" fontAlgn="base">
                <a:lnSpc>
                  <a:spcPct val="100000"/>
                </a:lnSpc>
                <a:spcBef>
                  <a:spcPct val="0"/>
                </a:spcBef>
                <a:spcAft>
                  <a:spcPct val="0"/>
                </a:spcAft>
                <a:buNone/>
                <a:defRPr/>
              </a:pPr>
              <a:r>
                <a:rPr lang="zh-CN" altLang="en-US" sz="912"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2625534" y="1040881"/>
            <a:ext cx="3892936" cy="1787990"/>
          </a:xfrm>
          <a:prstGeom prst="rect">
            <a:avLst/>
          </a:prstGeom>
          <a:noFill/>
        </p:spPr>
        <p:txBody>
          <a:bodyPr wrap="square" rtlCol="0">
            <a:spAutoFit/>
          </a:bodyPr>
          <a:lstStyle/>
          <a:p>
            <a:pPr algn="ctr"/>
            <a:r>
              <a:rPr lang="en-US" altLang="zh-CN" sz="2187" b="1" dirty="0">
                <a:solidFill>
                  <a:srgbClr val="E50515"/>
                </a:solidFill>
                <a:latin typeface="微软雅黑" panose="020B0503020204020204" pitchFamily="34" charset="-122"/>
                <a:ea typeface="微软雅黑" panose="020B0503020204020204" pitchFamily="34" charset="-122"/>
              </a:rPr>
              <a:t>#</a:t>
            </a:r>
            <a:r>
              <a:rPr lang="zh-CN" altLang="en-US" sz="2187" b="1" dirty="0">
                <a:solidFill>
                  <a:srgbClr val="E50515"/>
                </a:solidFill>
                <a:latin typeface="微软雅黑" panose="020B0503020204020204" pitchFamily="34" charset="-122"/>
                <a:ea typeface="微软雅黑" panose="020B0503020204020204" pitchFamily="34" charset="-122"/>
              </a:rPr>
              <a:t>和秋叶一起学</a:t>
            </a:r>
            <a:r>
              <a:rPr lang="en-US" altLang="zh-CN" sz="2187" b="1" dirty="0">
                <a:solidFill>
                  <a:srgbClr val="E50515"/>
                </a:solidFill>
                <a:latin typeface="微软雅黑" panose="020B0503020204020204" pitchFamily="34" charset="-122"/>
                <a:ea typeface="微软雅黑" panose="020B0503020204020204" pitchFamily="34" charset="-122"/>
              </a:rPr>
              <a:t>PPT#</a:t>
            </a:r>
          </a:p>
          <a:p>
            <a:pPr algn="ctr">
              <a:spcBef>
                <a:spcPts val="1823"/>
              </a:spcBef>
            </a:pPr>
            <a:r>
              <a:rPr lang="zh-CN" altLang="en-US" sz="2673" b="1" dirty="0">
                <a:solidFill>
                  <a:prstClr val="black"/>
                </a:solidFill>
                <a:latin typeface="微软雅黑" panose="020B0503020204020204" pitchFamily="34" charset="-122"/>
                <a:ea typeface="微软雅黑" panose="020B0503020204020204" pitchFamily="34" charset="-122"/>
              </a:rPr>
              <a:t>学员寒假读书笔记</a:t>
            </a:r>
            <a:r>
              <a:rPr lang="en-US" altLang="zh-CN" sz="2673" b="1" dirty="0" smtClean="0">
                <a:solidFill>
                  <a:prstClr val="black"/>
                </a:solidFill>
                <a:latin typeface="微软雅黑" panose="020B0503020204020204" pitchFamily="34" charset="-122"/>
                <a:ea typeface="微软雅黑" panose="020B0503020204020204" pitchFamily="34" charset="-122"/>
              </a:rPr>
              <a:t>083</a:t>
            </a:r>
            <a:r>
              <a:rPr lang="zh-CN" altLang="en-US" sz="2673" b="1" dirty="0" smtClean="0">
                <a:solidFill>
                  <a:prstClr val="black"/>
                </a:solidFill>
                <a:latin typeface="微软雅黑" panose="020B0503020204020204" pitchFamily="34" charset="-122"/>
                <a:ea typeface="微软雅黑" panose="020B0503020204020204" pitchFamily="34" charset="-122"/>
              </a:rPr>
              <a:t>号</a:t>
            </a:r>
            <a:endParaRPr lang="en-US" altLang="zh-CN" sz="2673" b="1" dirty="0">
              <a:solidFill>
                <a:prstClr val="black"/>
              </a:solidFill>
              <a:latin typeface="微软雅黑" panose="020B0503020204020204" pitchFamily="34" charset="-122"/>
              <a:ea typeface="微软雅黑" panose="020B0503020204020204" pitchFamily="34" charset="-122"/>
            </a:endParaRPr>
          </a:p>
          <a:p>
            <a:pPr algn="ctr">
              <a:spcBef>
                <a:spcPts val="1823"/>
              </a:spcBef>
            </a:pPr>
            <a:r>
              <a:rPr lang="zh-CN" altLang="en-US" sz="1701" b="1" dirty="0">
                <a:solidFill>
                  <a:prstClr val="black"/>
                </a:solidFill>
                <a:latin typeface="微软雅黑" panose="020B0503020204020204" pitchFamily="34" charset="-122"/>
                <a:ea typeface="微软雅黑" panose="020B0503020204020204" pitchFamily="34" charset="-122"/>
              </a:rPr>
              <a:t>你也想做？请马上</a:t>
            </a:r>
            <a:r>
              <a:rPr lang="en-US" altLang="zh-CN" sz="1701" b="1" dirty="0">
                <a:solidFill>
                  <a:prstClr val="black"/>
                </a:solidFill>
                <a:latin typeface="微软雅黑" panose="020B0503020204020204" pitchFamily="34" charset="-122"/>
                <a:ea typeface="微软雅黑" panose="020B0503020204020204" pitchFamily="34" charset="-122"/>
              </a:rPr>
              <a:t>@</a:t>
            </a:r>
            <a:r>
              <a:rPr lang="zh-CN" altLang="en-US" sz="1701" b="1" dirty="0">
                <a:solidFill>
                  <a:prstClr val="black"/>
                </a:solidFill>
                <a:latin typeface="微软雅黑" panose="020B0503020204020204" pitchFamily="34" charset="-122"/>
                <a:ea typeface="微软雅黑" panose="020B0503020204020204" pitchFamily="34" charset="-122"/>
              </a:rPr>
              <a:t>时间卡片 约定</a:t>
            </a:r>
            <a:endParaRPr lang="en-US" altLang="zh-CN" sz="1701" b="1" dirty="0">
              <a:solidFill>
                <a:prstClr val="black"/>
              </a:solidFill>
              <a:latin typeface="微软雅黑" panose="020B0503020204020204" pitchFamily="34" charset="-122"/>
              <a:ea typeface="微软雅黑" panose="020B0503020204020204" pitchFamily="34" charset="-122"/>
            </a:endParaRPr>
          </a:p>
          <a:p>
            <a:pPr algn="ctr"/>
            <a:r>
              <a:rPr lang="zh-CN" altLang="en-US" sz="1458"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458" b="1" dirty="0">
                <a:solidFill>
                  <a:prstClr val="black"/>
                </a:solidFill>
                <a:latin typeface="微软雅黑" panose="020B0503020204020204" pitchFamily="34" charset="-122"/>
                <a:ea typeface="微软雅黑" panose="020B0503020204020204" pitchFamily="34" charset="-122"/>
              </a:rPr>
              <a:t>PPT</a:t>
            </a:r>
            <a:r>
              <a:rPr lang="zh-CN" altLang="en-US" sz="1458"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02708439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462</TotalTime>
  <Words>1516</Words>
  <Application>Microsoft Office PowerPoint</Application>
  <PresentationFormat>全屏显示(16:9)</PresentationFormat>
  <Paragraphs>217</Paragraphs>
  <Slides>26</Slides>
  <Notes>1</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26</vt:i4>
      </vt:variant>
    </vt:vector>
  </HeadingPairs>
  <TitlesOfParts>
    <vt:vector size="36" baseType="lpstr">
      <vt:lpstr>Calibri</vt:lpstr>
      <vt:lpstr>Arial</vt:lpstr>
      <vt:lpstr>微软雅黑</vt:lpstr>
      <vt:lpstr>Calibri Light</vt:lpstr>
      <vt:lpstr>方正正中黑简体</vt:lpstr>
      <vt:lpstr>宋体</vt:lpstr>
      <vt:lpstr>方正卡通简体</vt:lpstr>
      <vt:lpstr>方正正黑简体</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微软用户</dc:creator>
  <cp:lastModifiedBy>小巴</cp:lastModifiedBy>
  <cp:revision>125</cp:revision>
  <dcterms:created xsi:type="dcterms:W3CDTF">2014-03-17T07:23:34Z</dcterms:created>
  <dcterms:modified xsi:type="dcterms:W3CDTF">2014-04-18T05:16:10Z</dcterms:modified>
</cp:coreProperties>
</file>