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9" r:id="rId4"/>
    <p:sldId id="260" r:id="rId5"/>
    <p:sldId id="258" r:id="rId6"/>
    <p:sldId id="264" r:id="rId7"/>
    <p:sldId id="265" r:id="rId8"/>
    <p:sldId id="266" r:id="rId9"/>
    <p:sldId id="267" r:id="rId10"/>
    <p:sldId id="261" r:id="rId11"/>
    <p:sldId id="268" r:id="rId12"/>
    <p:sldId id="269" r:id="rId13"/>
    <p:sldId id="270" r:id="rId14"/>
    <p:sldId id="271" r:id="rId15"/>
    <p:sldId id="262" r:id="rId16"/>
    <p:sldId id="272" r:id="rId17"/>
    <p:sldId id="273" r:id="rId18"/>
    <p:sldId id="275" r:id="rId19"/>
    <p:sldId id="276" r:id="rId20"/>
    <p:sldId id="263" r:id="rId21"/>
    <p:sldId id="277" r:id="rId22"/>
    <p:sldId id="278" r:id="rId23"/>
    <p:sldId id="279" r:id="rId24"/>
    <p:sldId id="280" r:id="rId25"/>
    <p:sldId id="281" r:id="rId26"/>
    <p:sldId id="282"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CB1CC"/>
    <a:srgbClr val="2C2C2C"/>
    <a:srgbClr val="445D72"/>
    <a:srgbClr val="DB3941"/>
    <a:srgbClr val="313131"/>
    <a:srgbClr val="EC989C"/>
    <a:srgbClr val="E36369"/>
    <a:srgbClr val="F3F3F3"/>
    <a:srgbClr val="B02027"/>
    <a:srgbClr val="C48C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4" d="100"/>
          <a:sy n="74" d="100"/>
        </p:scale>
        <p:origin x="576" y="66"/>
      </p:cViewPr>
      <p:guideLst>
        <p:guide orient="horz" pos="2160"/>
        <p:guide pos="3840"/>
      </p:guideLst>
    </p:cSldViewPr>
  </p:slideViewPr>
  <p:notesTextViewPr>
    <p:cViewPr>
      <p:scale>
        <a:sx n="1" d="1"/>
        <a:sy n="1" d="1"/>
      </p:scale>
      <p:origin x="0" y="0"/>
    </p:cViewPr>
  </p:notesTextViewPr>
  <p:sorterViewPr>
    <p:cViewPr>
      <p:scale>
        <a:sx n="148" d="100"/>
        <a:sy n="148" d="100"/>
      </p:scale>
      <p:origin x="0" y="-1243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349380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798810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550966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521675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337734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1385212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3475875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3112016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4354465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166354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E29BCD2-5111-4877-B754-2F533B190A0F}" type="datetimeFigureOut">
              <a:rPr lang="zh-CN" altLang="en-US" smtClean="0"/>
              <a:t>2014/9/17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768840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7175377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9181320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4019149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841931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771019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0721003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6434389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464364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0736870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1954218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76906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29BCD2-5111-4877-B754-2F533B190A0F}" type="datetimeFigureOut">
              <a:rPr lang="zh-CN" altLang="en-US" smtClean="0"/>
              <a:t>2014/9/17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8A1BC7-8472-46E5-A336-F9382D926547}" type="slidenum">
              <a:rPr lang="zh-CN" altLang="en-US" smtClean="0"/>
              <a:t>‹#›</a:t>
            </a:fld>
            <a:endParaRPr lang="zh-CN" altLang="en-US"/>
          </a:p>
        </p:txBody>
      </p:sp>
    </p:spTree>
    <p:extLst>
      <p:ext uri="{BB962C8B-B14F-4D97-AF65-F5344CB8AC3E}">
        <p14:creationId xmlns:p14="http://schemas.microsoft.com/office/powerpoint/2010/main" val="5876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F7EE4-6A22-46FC-81EB-5C440C1AFBDB}" type="datetimeFigureOut">
              <a:rPr lang="zh-CN" altLang="en-US" smtClean="0">
                <a:solidFill>
                  <a:prstClr val="black">
                    <a:tint val="75000"/>
                  </a:prstClr>
                </a:solidFill>
              </a:rPr>
              <a:pPr/>
              <a:t>2014/9/17</a:t>
            </a:fld>
            <a:endParaRPr lang="zh-CN" altLang="en-US">
              <a:solidFill>
                <a:prstClr val="black">
                  <a:tint val="75000"/>
                </a:prstClr>
              </a:solidFill>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4838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p:nvPr/>
        </p:nvSpPr>
        <p:spPr>
          <a:xfrm>
            <a:off x="-1133475" y="418715"/>
            <a:ext cx="14458950" cy="6020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4848481" y="972031"/>
            <a:ext cx="7483463" cy="3034588"/>
            <a:chOff x="4829259" y="1152051"/>
            <a:chExt cx="7483463" cy="3034588"/>
          </a:xfrm>
        </p:grpSpPr>
        <p:sp>
          <p:nvSpPr>
            <p:cNvPr id="28" name="文本框 27"/>
            <p:cNvSpPr txBox="1"/>
            <p:nvPr/>
          </p:nvSpPr>
          <p:spPr>
            <a:xfrm>
              <a:off x="4829259" y="1152051"/>
              <a:ext cx="4704485" cy="1862048"/>
            </a:xfrm>
            <a:prstGeom prst="rect">
              <a:avLst/>
            </a:prstGeom>
            <a:noFill/>
          </p:spPr>
          <p:txBody>
            <a:bodyPr wrap="square" rtlCol="0">
              <a:spAutoFit/>
            </a:bodyPr>
            <a:lstStyle/>
            <a:p>
              <a:r>
                <a:rPr lang="zh-CN" altLang="en-US" sz="11500" b="1" dirty="0" smtClean="0">
                  <a:ln w="13462">
                    <a:solidFill>
                      <a:schemeClr val="bg1"/>
                    </a:solidFill>
                    <a:prstDash val="solid"/>
                  </a:ln>
                  <a:solidFill>
                    <a:srgbClr val="957757"/>
                  </a:solidFill>
                  <a:effectLst>
                    <a:outerShdw dist="38100" dir="2700000" algn="bl" rotWithShape="0">
                      <a:srgbClr val="E2E2E2"/>
                    </a:outerShdw>
                  </a:effectLst>
                  <a:ea typeface="创艺简标宋" pitchFamily="2" charset="-122"/>
                </a:rPr>
                <a:t>自由人</a:t>
              </a:r>
              <a:endParaRPr lang="zh-CN" altLang="en-US" sz="11500" b="1" dirty="0">
                <a:ln w="13462">
                  <a:solidFill>
                    <a:schemeClr val="bg1"/>
                  </a:solidFill>
                  <a:prstDash val="solid"/>
                </a:ln>
                <a:solidFill>
                  <a:srgbClr val="957757"/>
                </a:solidFill>
                <a:effectLst>
                  <a:outerShdw dist="38100" dir="2700000" algn="bl" rotWithShape="0">
                    <a:srgbClr val="E2E2E2"/>
                  </a:outerShdw>
                </a:effectLst>
                <a:ea typeface="创艺简标宋" pitchFamily="2" charset="-122"/>
              </a:endParaRPr>
            </a:p>
          </p:txBody>
        </p:sp>
        <p:sp>
          <p:nvSpPr>
            <p:cNvPr id="29" name="文本框 28"/>
            <p:cNvSpPr txBox="1"/>
            <p:nvPr/>
          </p:nvSpPr>
          <p:spPr>
            <a:xfrm>
              <a:off x="5093284" y="2986310"/>
              <a:ext cx="7219438" cy="1200329"/>
            </a:xfrm>
            <a:prstGeom prst="rect">
              <a:avLst/>
            </a:prstGeom>
            <a:noFill/>
          </p:spPr>
          <p:txBody>
            <a:bodyPr wrap="square" rtlCol="0">
              <a:spAutoFit/>
            </a:bodyPr>
            <a:lstStyle/>
            <a:p>
              <a:r>
                <a:rPr lang="zh-CN" altLang="en-US" sz="3600" dirty="0">
                  <a:latin typeface="华康俪金黑W8(P)" panose="020B0800000000000000" pitchFamily="34" charset="-122"/>
                  <a:ea typeface="华康俪金黑W8(P)" panose="020B0800000000000000" pitchFamily="34" charset="-122"/>
                </a:rPr>
                <a:t>互联网实现了自由人的自由联合，这是一个天翻地覆的时代。</a:t>
              </a:r>
            </a:p>
          </p:txBody>
        </p:sp>
      </p:grpSp>
      <p:grpSp>
        <p:nvGrpSpPr>
          <p:cNvPr id="42" name="组合 41"/>
          <p:cNvGrpSpPr/>
          <p:nvPr/>
        </p:nvGrpSpPr>
        <p:grpSpPr>
          <a:xfrm>
            <a:off x="8997462" y="4631825"/>
            <a:ext cx="2300456" cy="1322457"/>
            <a:chOff x="8616462" y="4936901"/>
            <a:chExt cx="2300456" cy="1322457"/>
          </a:xfrm>
        </p:grpSpPr>
        <p:grpSp>
          <p:nvGrpSpPr>
            <p:cNvPr id="36" name="组合 35"/>
            <p:cNvGrpSpPr/>
            <p:nvPr/>
          </p:nvGrpSpPr>
          <p:grpSpPr>
            <a:xfrm>
              <a:off x="9167446" y="4936901"/>
              <a:ext cx="1749472" cy="562610"/>
              <a:chOff x="9167446" y="4936901"/>
              <a:chExt cx="1749472" cy="562610"/>
            </a:xfrm>
          </p:grpSpPr>
          <p:sp>
            <p:nvSpPr>
              <p:cNvPr id="31" name="文本框 30"/>
              <p:cNvSpPr txBox="1"/>
              <p:nvPr/>
            </p:nvSpPr>
            <p:spPr>
              <a:xfrm>
                <a:off x="9167446" y="5008790"/>
                <a:ext cx="1263305" cy="461665"/>
              </a:xfrm>
              <a:prstGeom prst="rect">
                <a:avLst/>
              </a:prstGeom>
              <a:noFill/>
            </p:spPr>
            <p:txBody>
              <a:bodyPr wrap="square" rtlCol="0">
                <a:spAutoFit/>
              </a:bodyPr>
              <a:lstStyle/>
              <a:p>
                <a:r>
                  <a:rPr lang="zh-CN" altLang="en-US" sz="2400" b="1" dirty="0" smtClean="0">
                    <a:latin typeface="造字工房悦黑体验版常规体" pitchFamily="50" charset="-122"/>
                    <a:ea typeface="造字工房悦黑体验版常规体" pitchFamily="50" charset="-122"/>
                  </a:rPr>
                  <a:t>程苓峰</a:t>
                </a:r>
                <a:endParaRPr lang="zh-CN" altLang="en-US" sz="2400" b="1" dirty="0">
                  <a:latin typeface="造字工房悦黑体验版常规体" pitchFamily="50" charset="-122"/>
                  <a:ea typeface="造字工房悦黑体验版常规体" pitchFamily="50" charset="-122"/>
                </a:endParaRPr>
              </a:p>
            </p:txBody>
          </p:sp>
          <p:grpSp>
            <p:nvGrpSpPr>
              <p:cNvPr id="35" name="组合 34"/>
              <p:cNvGrpSpPr/>
              <p:nvPr/>
            </p:nvGrpSpPr>
            <p:grpSpPr>
              <a:xfrm>
                <a:off x="10296648" y="4936901"/>
                <a:ext cx="620270" cy="562610"/>
                <a:chOff x="10296648" y="4936901"/>
                <a:chExt cx="620270" cy="562610"/>
              </a:xfrm>
            </p:grpSpPr>
            <p:sp>
              <p:nvSpPr>
                <p:cNvPr id="33" name="椭圆 32"/>
                <p:cNvSpPr/>
                <p:nvPr/>
              </p:nvSpPr>
              <p:spPr>
                <a:xfrm>
                  <a:off x="10325478" y="4936901"/>
                  <a:ext cx="562610" cy="562610"/>
                </a:xfrm>
                <a:prstGeom prst="ellipse">
                  <a:avLst/>
                </a:prstGeom>
                <a:solidFill>
                  <a:srgbClr val="9F2D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0296648" y="5008791"/>
                  <a:ext cx="620270" cy="461665"/>
                </a:xfrm>
                <a:prstGeom prst="rect">
                  <a:avLst/>
                </a:prstGeom>
                <a:noFill/>
              </p:spPr>
              <p:txBody>
                <a:bodyPr wrap="square" rtlCol="0">
                  <a:spAutoFit/>
                </a:bodyPr>
                <a:lstStyle/>
                <a:p>
                  <a:pPr algn="ctr"/>
                  <a:r>
                    <a:rPr lang="zh-CN" altLang="en-US" sz="2400" b="1" dirty="0" smtClean="0">
                      <a:solidFill>
                        <a:schemeClr val="bg1"/>
                      </a:solidFill>
                      <a:latin typeface="造字工房悦黑体验版常规体" pitchFamily="50" charset="-122"/>
                      <a:ea typeface="造字工房悦黑体验版常规体" pitchFamily="50" charset="-122"/>
                    </a:rPr>
                    <a:t>著</a:t>
                  </a:r>
                  <a:endParaRPr lang="zh-CN" altLang="en-US" sz="2400" b="1" dirty="0">
                    <a:solidFill>
                      <a:schemeClr val="bg1"/>
                    </a:solidFill>
                    <a:latin typeface="造字工房悦黑体验版常规体" pitchFamily="50" charset="-122"/>
                    <a:ea typeface="造字工房悦黑体验版常规体" pitchFamily="50" charset="-122"/>
                  </a:endParaRPr>
                </a:p>
              </p:txBody>
            </p:sp>
          </p:grpSp>
        </p:grpSp>
        <p:grpSp>
          <p:nvGrpSpPr>
            <p:cNvPr id="37" name="组合 36"/>
            <p:cNvGrpSpPr/>
            <p:nvPr/>
          </p:nvGrpSpPr>
          <p:grpSpPr>
            <a:xfrm>
              <a:off x="8616462" y="5696748"/>
              <a:ext cx="2300456" cy="562610"/>
              <a:chOff x="8616462" y="4936901"/>
              <a:chExt cx="2300456" cy="562610"/>
            </a:xfrm>
          </p:grpSpPr>
          <p:sp>
            <p:nvSpPr>
              <p:cNvPr id="38" name="文本框 37"/>
              <p:cNvSpPr txBox="1"/>
              <p:nvPr/>
            </p:nvSpPr>
            <p:spPr>
              <a:xfrm>
                <a:off x="8616462" y="5008790"/>
                <a:ext cx="1814290" cy="461665"/>
              </a:xfrm>
              <a:prstGeom prst="rect">
                <a:avLst/>
              </a:prstGeom>
              <a:noFill/>
            </p:spPr>
            <p:txBody>
              <a:bodyPr wrap="square" rtlCol="0">
                <a:spAutoFit/>
              </a:bodyPr>
              <a:lstStyle/>
              <a:p>
                <a:r>
                  <a:rPr lang="en-US" altLang="zh-CN" sz="2400" b="1" dirty="0" smtClean="0">
                    <a:latin typeface="造字工房悦黑体验版常规体" pitchFamily="50" charset="-122"/>
                    <a:ea typeface="造字工房悦黑体验版常规体" pitchFamily="50" charset="-122"/>
                  </a:rPr>
                  <a:t>@Dandoliya</a:t>
                </a:r>
                <a:endParaRPr lang="zh-CN" altLang="en-US" sz="2400" b="1" dirty="0">
                  <a:latin typeface="造字工房悦黑体验版常规体" pitchFamily="50" charset="-122"/>
                  <a:ea typeface="造字工房悦黑体验版常规体" pitchFamily="50" charset="-122"/>
                </a:endParaRPr>
              </a:p>
            </p:txBody>
          </p:sp>
          <p:grpSp>
            <p:nvGrpSpPr>
              <p:cNvPr id="39" name="组合 38"/>
              <p:cNvGrpSpPr/>
              <p:nvPr/>
            </p:nvGrpSpPr>
            <p:grpSpPr>
              <a:xfrm>
                <a:off x="10296648" y="4936901"/>
                <a:ext cx="620270" cy="562610"/>
                <a:chOff x="10296648" y="4936901"/>
                <a:chExt cx="620270" cy="562610"/>
              </a:xfrm>
            </p:grpSpPr>
            <p:sp>
              <p:nvSpPr>
                <p:cNvPr id="40" name="椭圆 39"/>
                <p:cNvSpPr/>
                <p:nvPr/>
              </p:nvSpPr>
              <p:spPr>
                <a:xfrm>
                  <a:off x="10325478" y="4936901"/>
                  <a:ext cx="562610" cy="562610"/>
                </a:xfrm>
                <a:prstGeom prst="ellipse">
                  <a:avLst/>
                </a:prstGeom>
                <a:solidFill>
                  <a:srgbClr val="9F2D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10296648" y="5008791"/>
                  <a:ext cx="620270" cy="461665"/>
                </a:xfrm>
                <a:prstGeom prst="rect">
                  <a:avLst/>
                </a:prstGeom>
                <a:noFill/>
              </p:spPr>
              <p:txBody>
                <a:bodyPr wrap="square" rtlCol="0">
                  <a:spAutoFit/>
                </a:bodyPr>
                <a:lstStyle/>
                <a:p>
                  <a:pPr algn="ctr"/>
                  <a:r>
                    <a:rPr lang="zh-CN" altLang="en-US" sz="2400" b="1" dirty="0" smtClean="0">
                      <a:solidFill>
                        <a:schemeClr val="bg1"/>
                      </a:solidFill>
                      <a:latin typeface="造字工房悦黑体验版常规体" pitchFamily="50" charset="-122"/>
                      <a:ea typeface="造字工房悦黑体验版常规体" pitchFamily="50" charset="-122"/>
                    </a:rPr>
                    <a:t>设</a:t>
                  </a:r>
                  <a:endParaRPr lang="zh-CN" altLang="en-US" sz="2400" b="1" dirty="0">
                    <a:solidFill>
                      <a:schemeClr val="bg1"/>
                    </a:solidFill>
                    <a:latin typeface="造字工房悦黑体验版常规体" pitchFamily="50" charset="-122"/>
                    <a:ea typeface="造字工房悦黑体验版常规体" pitchFamily="50" charset="-122"/>
                  </a:endParaRPr>
                </a:p>
              </p:txBody>
            </p:sp>
          </p:grpSp>
        </p:grpSp>
      </p:grpSp>
      <p:cxnSp>
        <p:nvCxnSpPr>
          <p:cNvPr id="45" name="直接连接符 44"/>
          <p:cNvCxnSpPr/>
          <p:nvPr/>
        </p:nvCxnSpPr>
        <p:spPr>
          <a:xfrm>
            <a:off x="5112506" y="2768190"/>
            <a:ext cx="6766802" cy="0"/>
          </a:xfrm>
          <a:prstGeom prst="line">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8" name="图片 4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317" y="697219"/>
            <a:ext cx="4029376" cy="5463561"/>
          </a:xfrm>
          <a:prstGeom prst="rect">
            <a:avLst/>
          </a:prstGeom>
        </p:spPr>
      </p:pic>
      <p:sp>
        <p:nvSpPr>
          <p:cNvPr id="19" name="矩形 18"/>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482634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矩形 4"/>
          <p:cNvSpPr/>
          <p:nvPr/>
        </p:nvSpPr>
        <p:spPr>
          <a:xfrm rot="5400000">
            <a:off x="-5983190" y="791801"/>
            <a:ext cx="14458950" cy="21216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133475" y="912598"/>
            <a:ext cx="13325475" cy="2121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l="12464" r="12464"/>
          <a:stretch/>
        </p:blipFill>
        <p:spPr>
          <a:xfrm>
            <a:off x="185475" y="912597"/>
            <a:ext cx="2121618" cy="2121618"/>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4" name="文本框 3"/>
          <p:cNvSpPr txBox="1"/>
          <p:nvPr/>
        </p:nvSpPr>
        <p:spPr>
          <a:xfrm>
            <a:off x="458385" y="123592"/>
            <a:ext cx="1575796" cy="646331"/>
          </a:xfrm>
          <a:prstGeom prst="rect">
            <a:avLst/>
          </a:prstGeom>
          <a:noFill/>
        </p:spPr>
        <p:txBody>
          <a:bodyPr wrap="square" rtlCol="0">
            <a:spAutoFit/>
          </a:bodyPr>
          <a:lstStyle/>
          <a:p>
            <a:r>
              <a:rPr lang="zh-CN" altLang="en-US" sz="3600" dirty="0">
                <a:solidFill>
                  <a:srgbClr val="957757"/>
                </a:solidFill>
                <a:latin typeface="华康俪金黑W8(P)" panose="020B0800000000000000" pitchFamily="34" charset="-122"/>
                <a:ea typeface="华康俪金黑W8(P)" panose="020B0800000000000000" pitchFamily="34" charset="-122"/>
              </a:rPr>
              <a:t>程苓峰</a:t>
            </a:r>
          </a:p>
        </p:txBody>
      </p:sp>
      <p:sp>
        <p:nvSpPr>
          <p:cNvPr id="9" name="文本框 8"/>
          <p:cNvSpPr txBox="1"/>
          <p:nvPr/>
        </p:nvSpPr>
        <p:spPr>
          <a:xfrm>
            <a:off x="2361854" y="1028045"/>
            <a:ext cx="9848611" cy="1938992"/>
          </a:xfrm>
          <a:prstGeom prst="rect">
            <a:avLst/>
          </a:prstGeom>
          <a:noFill/>
        </p:spPr>
        <p:txBody>
          <a:bodyPr wrap="square" rtlCol="0">
            <a:spAutoFit/>
          </a:bodyPr>
          <a:lstStyle/>
          <a:p>
            <a:r>
              <a:rPr lang="en-US" altLang="zh-CN" sz="2400" dirty="0">
                <a:solidFill>
                  <a:srgbClr val="9F2D3B"/>
                </a:solidFill>
                <a:latin typeface="华康俪金黑W8(P)" panose="020B0800000000000000" pitchFamily="34" charset="-122"/>
                <a:ea typeface="华康俪金黑W8(P)" panose="020B0800000000000000" pitchFamily="34" charset="-122"/>
              </a:rPr>
              <a:t>1.</a:t>
            </a:r>
            <a:r>
              <a:rPr lang="zh-CN" altLang="en-US" sz="2400" dirty="0">
                <a:latin typeface="华康俪金黑W8(P)" panose="020B0800000000000000" pitchFamily="34" charset="-122"/>
                <a:ea typeface="华康俪金黑W8(P)" panose="020B0800000000000000" pitchFamily="34" charset="-122"/>
              </a:rPr>
              <a:t>中国媒体业新锐</a:t>
            </a:r>
            <a:r>
              <a:rPr lang="zh-CN" altLang="en-US" sz="2400" dirty="0" smtClean="0">
                <a:latin typeface="华康俪金黑W8(P)" panose="020B0800000000000000" pitchFamily="34" charset="-122"/>
                <a:ea typeface="华康俪金黑W8(P)" panose="020B0800000000000000" pitchFamily="34" charset="-122"/>
              </a:rPr>
              <a:t>人物</a:t>
            </a:r>
            <a:r>
              <a:rPr lang="en-US" altLang="zh-CN" sz="2400" dirty="0">
                <a:latin typeface="华康俪金黑W8(P)" panose="020B0800000000000000" pitchFamily="34" charset="-122"/>
                <a:ea typeface="华康俪金黑W8(P)" panose="020B0800000000000000" pitchFamily="34" charset="-122"/>
              </a:rPr>
              <a:t>,</a:t>
            </a:r>
            <a:r>
              <a:rPr lang="zh-CN" altLang="en-US" sz="2400" dirty="0" smtClean="0">
                <a:latin typeface="华康俪金黑W8(P)" panose="020B0800000000000000" pitchFamily="34" charset="-122"/>
                <a:ea typeface="华康俪金黑W8(P)" panose="020B0800000000000000" pitchFamily="34" charset="-122"/>
              </a:rPr>
              <a:t>博客联盟云科技和</a:t>
            </a:r>
            <a:r>
              <a:rPr lang="en-US" altLang="zh-CN" sz="2400" dirty="0" smtClean="0">
                <a:latin typeface="华康俪金黑W8(P)" panose="020B0800000000000000" pitchFamily="34" charset="-122"/>
                <a:ea typeface="华康俪金黑W8(P)" panose="020B0800000000000000" pitchFamily="34" charset="-122"/>
              </a:rPr>
              <a:t>《</a:t>
            </a:r>
            <a:r>
              <a:rPr lang="zh-CN" altLang="en-US" sz="2400" dirty="0" smtClean="0">
                <a:latin typeface="华康俪金黑W8(P)" panose="020B0800000000000000" pitchFamily="34" charset="-122"/>
                <a:ea typeface="华康俪金黑W8(P)" panose="020B0800000000000000" pitchFamily="34" charset="-122"/>
              </a:rPr>
              <a:t>创业家</a:t>
            </a:r>
            <a:r>
              <a:rPr lang="en-US" altLang="zh-CN" sz="2400" dirty="0" smtClean="0">
                <a:latin typeface="华康俪金黑W8(P)" panose="020B0800000000000000" pitchFamily="34" charset="-122"/>
                <a:ea typeface="华康俪金黑W8(P)" panose="020B0800000000000000" pitchFamily="34" charset="-122"/>
              </a:rPr>
              <a:t>》</a:t>
            </a:r>
            <a:r>
              <a:rPr lang="zh-CN" altLang="en-US" sz="2400" dirty="0" smtClean="0">
                <a:latin typeface="华康俪金黑W8(P)" panose="020B0800000000000000" pitchFamily="34" charset="-122"/>
                <a:ea typeface="华康俪金黑W8(P)" panose="020B0800000000000000" pitchFamily="34" charset="-122"/>
              </a:rPr>
              <a:t>杂志发起人之一</a:t>
            </a:r>
            <a:endParaRPr lang="en-US" altLang="zh-CN" sz="2400" dirty="0" smtClean="0">
              <a:latin typeface="华康俪金黑W8(P)" panose="020B0800000000000000" pitchFamily="34" charset="-122"/>
              <a:ea typeface="华康俪金黑W8(P)" panose="020B0800000000000000" pitchFamily="34" charset="-122"/>
            </a:endParaRPr>
          </a:p>
          <a:p>
            <a:r>
              <a:rPr lang="en-US" altLang="zh-CN" sz="2400" dirty="0" smtClean="0">
                <a:solidFill>
                  <a:srgbClr val="9F2D3B"/>
                </a:solidFill>
                <a:latin typeface="华康俪金黑W8(P)" panose="020B0800000000000000" pitchFamily="34" charset="-122"/>
                <a:ea typeface="华康俪金黑W8(P)" panose="020B0800000000000000" pitchFamily="34" charset="-122"/>
              </a:rPr>
              <a:t>2.</a:t>
            </a:r>
            <a:r>
              <a:rPr lang="en-US" altLang="zh-CN" sz="2400" dirty="0" smtClean="0">
                <a:latin typeface="华康俪金黑W8(P)" panose="020B0800000000000000" pitchFamily="34" charset="-122"/>
                <a:ea typeface="华康俪金黑W8(P)" panose="020B0800000000000000" pitchFamily="34" charset="-122"/>
              </a:rPr>
              <a:t>10</a:t>
            </a:r>
            <a:r>
              <a:rPr lang="zh-CN" altLang="en-US" sz="2400" dirty="0">
                <a:latin typeface="华康俪金黑W8(P)" panose="020B0800000000000000" pitchFamily="34" charset="-122"/>
                <a:ea typeface="华康俪金黑W8(P)" panose="020B0800000000000000" pitchFamily="34" charset="-122"/>
              </a:rPr>
              <a:t>年媒体和互联网从业经验。</a:t>
            </a:r>
            <a:endParaRPr lang="en-US" altLang="zh-CN" sz="2400" dirty="0">
              <a:latin typeface="华康俪金黑W8(P)" panose="020B0800000000000000" pitchFamily="34" charset="-122"/>
              <a:ea typeface="华康俪金黑W8(P)" panose="020B0800000000000000" pitchFamily="34" charset="-122"/>
            </a:endParaRPr>
          </a:p>
          <a:p>
            <a:r>
              <a:rPr lang="en-US" altLang="zh-CN" sz="2400" dirty="0" smtClean="0">
                <a:solidFill>
                  <a:srgbClr val="9F2D3B"/>
                </a:solidFill>
                <a:latin typeface="华康俪金黑W8(P)" panose="020B0800000000000000" pitchFamily="34" charset="-122"/>
                <a:ea typeface="华康俪金黑W8(P)" panose="020B0800000000000000" pitchFamily="34" charset="-122"/>
              </a:rPr>
              <a:t>3.</a:t>
            </a:r>
            <a:r>
              <a:rPr lang="zh-CN" altLang="en-US" sz="2400" dirty="0">
                <a:latin typeface="华康俪金黑W8(P)" panose="020B0800000000000000" pitchFamily="34" charset="-122"/>
                <a:ea typeface="华康俪金黑W8(P)" panose="020B0800000000000000" pitchFamily="34" charset="-122"/>
              </a:rPr>
              <a:t>热衷于网络时代的佛法：释迦牟尼会对扎克伯格说些啥？</a:t>
            </a:r>
            <a:endParaRPr lang="en-US" altLang="zh-CN" sz="2400" dirty="0">
              <a:latin typeface="华康俪金黑W8(P)" panose="020B0800000000000000" pitchFamily="34" charset="-122"/>
              <a:ea typeface="华康俪金黑W8(P)" panose="020B0800000000000000" pitchFamily="34" charset="-122"/>
            </a:endParaRPr>
          </a:p>
          <a:p>
            <a:r>
              <a:rPr lang="en-US" altLang="zh-CN" sz="2400" dirty="0" smtClean="0">
                <a:solidFill>
                  <a:srgbClr val="9F2D3B"/>
                </a:solidFill>
                <a:latin typeface="华康俪金黑W8(P)" panose="020B0800000000000000" pitchFamily="34" charset="-122"/>
                <a:ea typeface="华康俪金黑W8(P)" panose="020B0800000000000000" pitchFamily="34" charset="-122"/>
              </a:rPr>
              <a:t>4.</a:t>
            </a:r>
            <a:r>
              <a:rPr lang="zh-CN" altLang="en-US" sz="2400" dirty="0">
                <a:latin typeface="华康俪金黑W8(P)" panose="020B0800000000000000" pitchFamily="34" charset="-122"/>
                <a:ea typeface="华康俪金黑W8(P)" panose="020B0800000000000000" pitchFamily="34" charset="-122"/>
              </a:rPr>
              <a:t>关注科技前沿和人文传统，并试图连通二者</a:t>
            </a:r>
            <a:r>
              <a:rPr lang="zh-CN" altLang="en-US" sz="2400" dirty="0" smtClean="0">
                <a:latin typeface="华康俪金黑W8(P)" panose="020B0800000000000000" pitchFamily="34" charset="-122"/>
                <a:ea typeface="华康俪金黑W8(P)" panose="020B0800000000000000" pitchFamily="34" charset="-122"/>
              </a:rPr>
              <a:t>。</a:t>
            </a:r>
            <a:endParaRPr lang="en-US" altLang="zh-CN" sz="2400" dirty="0" smtClean="0">
              <a:latin typeface="华康俪金黑W8(P)" panose="020B0800000000000000" pitchFamily="34" charset="-122"/>
              <a:ea typeface="华康俪金黑W8(P)" panose="020B0800000000000000" pitchFamily="34" charset="-122"/>
            </a:endParaRPr>
          </a:p>
          <a:p>
            <a:r>
              <a:rPr lang="en-US" altLang="zh-CN" sz="2400" dirty="0" smtClean="0">
                <a:solidFill>
                  <a:srgbClr val="9F2D3B"/>
                </a:solidFill>
                <a:latin typeface="华康俪金黑W8(P)" panose="020B0800000000000000" pitchFamily="34" charset="-122"/>
                <a:ea typeface="华康俪金黑W8(P)" panose="020B0800000000000000" pitchFamily="34" charset="-122"/>
              </a:rPr>
              <a:t>5.</a:t>
            </a:r>
            <a:r>
              <a:rPr lang="zh-CN" altLang="en-US" sz="2400" dirty="0" smtClean="0">
                <a:latin typeface="华康俪金黑W8(P)" panose="020B0800000000000000" pitchFamily="34" charset="-122"/>
                <a:ea typeface="华康俪金黑W8(P)" panose="020B0800000000000000" pitchFamily="34" charset="-122"/>
              </a:rPr>
              <a:t>互联网</a:t>
            </a:r>
            <a:r>
              <a:rPr lang="zh-CN" altLang="en-US" sz="2400" dirty="0">
                <a:latin typeface="华康俪金黑W8(P)" panose="020B0800000000000000" pitchFamily="34" charset="-122"/>
                <a:ea typeface="华康俪金黑W8(P)" panose="020B0800000000000000" pitchFamily="34" charset="-122"/>
              </a:rPr>
              <a:t>实现了自由人的自由联合，这种体验能帮我们觉知到神的存在。</a:t>
            </a:r>
          </a:p>
        </p:txBody>
      </p:sp>
      <p:cxnSp>
        <p:nvCxnSpPr>
          <p:cNvPr id="11" name="直接连接符 10"/>
          <p:cNvCxnSpPr/>
          <p:nvPr/>
        </p:nvCxnSpPr>
        <p:spPr>
          <a:xfrm>
            <a:off x="2344026" y="3021968"/>
            <a:ext cx="9847974" cy="0"/>
          </a:xfrm>
          <a:prstGeom prst="line">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2531405" y="165452"/>
            <a:ext cx="888921" cy="562610"/>
            <a:chOff x="2726475" y="207314"/>
            <a:chExt cx="888921" cy="562610"/>
          </a:xfrm>
        </p:grpSpPr>
        <p:sp>
          <p:nvSpPr>
            <p:cNvPr id="12" name="椭圆 11"/>
            <p:cNvSpPr/>
            <p:nvPr/>
          </p:nvSpPr>
          <p:spPr>
            <a:xfrm>
              <a:off x="2740890" y="207314"/>
              <a:ext cx="860090" cy="562610"/>
            </a:xfrm>
            <a:prstGeom prst="ellipse">
              <a:avLst/>
            </a:prstGeom>
            <a:solidFill>
              <a:srgbClr val="9F2D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2726475" y="271855"/>
              <a:ext cx="888921" cy="461665"/>
            </a:xfrm>
            <a:prstGeom prst="rect">
              <a:avLst/>
            </a:prstGeom>
            <a:noFill/>
          </p:spPr>
          <p:txBody>
            <a:bodyPr wrap="square" rtlCol="0">
              <a:spAutoFit/>
            </a:bodyPr>
            <a:lstStyle/>
            <a:p>
              <a:pPr algn="ctr"/>
              <a:r>
                <a:rPr lang="zh-CN" altLang="en-US" sz="2400" b="1" dirty="0" smtClean="0">
                  <a:solidFill>
                    <a:schemeClr val="bg1"/>
                  </a:solidFill>
                  <a:latin typeface="造字工房悦黑体验版常规体" pitchFamily="50" charset="-122"/>
                  <a:ea typeface="造字工房悦黑体验版常规体" pitchFamily="50" charset="-122"/>
                </a:rPr>
                <a:t>简介</a:t>
              </a:r>
              <a:endParaRPr lang="zh-CN" altLang="en-US" sz="2400" b="1" dirty="0">
                <a:solidFill>
                  <a:schemeClr val="bg1"/>
                </a:solidFill>
                <a:latin typeface="造字工房悦黑体验版常规体" pitchFamily="50" charset="-122"/>
                <a:ea typeface="造字工房悦黑体验版常规体" pitchFamily="50" charset="-122"/>
              </a:endParaRPr>
            </a:p>
          </p:txBody>
        </p:sp>
      </p:grpSp>
      <p:cxnSp>
        <p:nvCxnSpPr>
          <p:cNvPr id="16" name="直接连接符 15"/>
          <p:cNvCxnSpPr/>
          <p:nvPr/>
        </p:nvCxnSpPr>
        <p:spPr>
          <a:xfrm>
            <a:off x="2344026" y="912597"/>
            <a:ext cx="9847974" cy="0"/>
          </a:xfrm>
          <a:prstGeom prst="line">
            <a:avLst/>
          </a:prstGeom>
          <a:ln>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0" name="组合 29"/>
          <p:cNvGrpSpPr/>
          <p:nvPr/>
        </p:nvGrpSpPr>
        <p:grpSpPr>
          <a:xfrm>
            <a:off x="2376269" y="3160876"/>
            <a:ext cx="9695381" cy="3564697"/>
            <a:chOff x="2403607" y="3293303"/>
            <a:chExt cx="9695381" cy="3564697"/>
          </a:xfrm>
        </p:grpSpPr>
        <p:sp>
          <p:nvSpPr>
            <p:cNvPr id="19" name="文本框 18"/>
            <p:cNvSpPr txBox="1"/>
            <p:nvPr/>
          </p:nvSpPr>
          <p:spPr>
            <a:xfrm>
              <a:off x="2593330" y="3432893"/>
              <a:ext cx="9471071" cy="3285515"/>
            </a:xfrm>
            <a:prstGeom prst="rect">
              <a:avLst/>
            </a:prstGeom>
            <a:noFill/>
          </p:spPr>
          <p:txBody>
            <a:bodyPr wrap="square" rtlCol="0">
              <a:spAutoFit/>
            </a:bodyPr>
            <a:lstStyle/>
            <a:p>
              <a:pPr>
                <a:lnSpc>
                  <a:spcPct val="150000"/>
                </a:lnSpc>
              </a:pPr>
              <a:r>
                <a:rPr lang="zh-CN" altLang="en-US" sz="2000" b="1" dirty="0" smtClean="0">
                  <a:solidFill>
                    <a:schemeClr val="bg1"/>
                  </a:solidFill>
                  <a:latin typeface="造字工房悦黑体验版常规体" pitchFamily="50" charset="-122"/>
                  <a:ea typeface="造字工房悦黑体验版常规体" pitchFamily="50" charset="-122"/>
                </a:rPr>
                <a:t>       激进一点地说，我们正在迎来一个“个体户”的时代，也就是自由创意、独立创业的时代。接下来的问题是：下一个可以被解放的群体在哪里？如何解放他们？如何造就一个可以提供“云服务”的平台？</a:t>
              </a:r>
            </a:p>
            <a:p>
              <a:pPr>
                <a:lnSpc>
                  <a:spcPct val="150000"/>
                </a:lnSpc>
              </a:pPr>
              <a:r>
                <a:rPr lang="zh-CN" altLang="en-US" sz="2000" b="1" dirty="0" smtClean="0">
                  <a:solidFill>
                    <a:schemeClr val="bg1"/>
                  </a:solidFill>
                  <a:latin typeface="造字工房悦黑体验版常规体" pitchFamily="50" charset="-122"/>
                  <a:ea typeface="造字工房悦黑体验版常规体" pitchFamily="50" charset="-122"/>
                </a:rPr>
                <a:t>       如果你想到某个答案，就去干吧！要么，给一群人自由。要么，借助一个平台自由起来。互联网，本来就是一群自由人的自由联合。</a:t>
              </a:r>
            </a:p>
            <a:p>
              <a:pPr>
                <a:lnSpc>
                  <a:spcPct val="150000"/>
                </a:lnSpc>
              </a:pPr>
              <a:r>
                <a:rPr lang="zh-CN" altLang="en-US" sz="2000" b="1" dirty="0" smtClean="0">
                  <a:solidFill>
                    <a:schemeClr val="bg1"/>
                  </a:solidFill>
                  <a:latin typeface="造字工房悦黑体验版常规体" pitchFamily="50" charset="-122"/>
                  <a:ea typeface="造字工房悦黑体验版常规体" pitchFamily="50" charset="-122"/>
                </a:rPr>
                <a:t>       互联网，以其指数级成长方式将各种不公平的传统体制的线性资源置于可有可无的地步，创造出接近公平的竞争模式，并全面接管中国的经济形态。</a:t>
              </a:r>
              <a:endParaRPr lang="zh-CN" altLang="en-US" sz="2000" b="1" dirty="0">
                <a:solidFill>
                  <a:schemeClr val="bg1"/>
                </a:solidFill>
                <a:latin typeface="造字工房悦黑体验版常规体" pitchFamily="50" charset="-122"/>
                <a:ea typeface="造字工房悦黑体验版常规体" pitchFamily="50" charset="-122"/>
              </a:endParaRPr>
            </a:p>
          </p:txBody>
        </p:sp>
        <p:sp>
          <p:nvSpPr>
            <p:cNvPr id="22" name="圆角矩形 21"/>
            <p:cNvSpPr/>
            <p:nvPr/>
          </p:nvSpPr>
          <p:spPr>
            <a:xfrm>
              <a:off x="2403607" y="3293303"/>
              <a:ext cx="9695381" cy="3564697"/>
            </a:xfrm>
            <a:prstGeom prst="roundRect">
              <a:avLst>
                <a:gd name="adj" fmla="val 20817"/>
              </a:avLst>
            </a:prstGeom>
            <a:noFill/>
            <a:ln>
              <a:solidFill>
                <a:schemeClr val="bg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p:cNvGrpSpPr/>
          <p:nvPr/>
        </p:nvGrpSpPr>
        <p:grpSpPr>
          <a:xfrm>
            <a:off x="334804" y="4042921"/>
            <a:ext cx="2281009" cy="1436064"/>
            <a:chOff x="374791" y="4116785"/>
            <a:chExt cx="2281009" cy="1436064"/>
          </a:xfrm>
        </p:grpSpPr>
        <p:grpSp>
          <p:nvGrpSpPr>
            <p:cNvPr id="27" name="组合 26"/>
            <p:cNvGrpSpPr/>
            <p:nvPr/>
          </p:nvGrpSpPr>
          <p:grpSpPr>
            <a:xfrm>
              <a:off x="374791" y="4116785"/>
              <a:ext cx="1438908" cy="1436064"/>
              <a:chOff x="374791" y="4116785"/>
              <a:chExt cx="1438908" cy="1436064"/>
            </a:xfrm>
          </p:grpSpPr>
          <p:sp>
            <p:nvSpPr>
              <p:cNvPr id="23" name="弧形 22"/>
              <p:cNvSpPr/>
              <p:nvPr/>
            </p:nvSpPr>
            <p:spPr>
              <a:xfrm>
                <a:off x="374791" y="4116785"/>
                <a:ext cx="1436064" cy="1436064"/>
              </a:xfrm>
              <a:prstGeom prst="arc">
                <a:avLst>
                  <a:gd name="adj1" fmla="val 3742106"/>
                  <a:gd name="adj2"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文本框 23"/>
              <p:cNvSpPr txBox="1"/>
              <p:nvPr/>
            </p:nvSpPr>
            <p:spPr>
              <a:xfrm>
                <a:off x="471303" y="4491692"/>
                <a:ext cx="1342396" cy="769441"/>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4400" b="1" spc="1800" dirty="0" smtClean="0">
                    <a:latin typeface="方正清刻本悦宋简体" panose="02000000000000000000" pitchFamily="2" charset="-122"/>
                    <a:ea typeface="方正清刻本悦宋简体" panose="02000000000000000000" pitchFamily="2" charset="-122"/>
                  </a:rPr>
                  <a:t>序</a:t>
                </a:r>
                <a:endParaRPr lang="en-US" altLang="zh-CN" sz="4400" b="1" spc="1800" dirty="0" smtClean="0">
                  <a:latin typeface="方正清刻本悦宋简体" panose="02000000000000000000" pitchFamily="2" charset="-122"/>
                  <a:ea typeface="方正清刻本悦宋简体" panose="02000000000000000000" pitchFamily="2" charset="-122"/>
                </a:endParaRPr>
              </a:p>
            </p:txBody>
          </p:sp>
        </p:grpSp>
        <p:sp>
          <p:nvSpPr>
            <p:cNvPr id="26" name="文本框 25"/>
            <p:cNvSpPr txBox="1"/>
            <p:nvPr/>
          </p:nvSpPr>
          <p:spPr>
            <a:xfrm>
              <a:off x="1142501" y="4876412"/>
              <a:ext cx="1513299" cy="523220"/>
            </a:xfrm>
            <a:prstGeom prst="rect">
              <a:avLst/>
            </a:prstGeom>
            <a:noFill/>
          </p:spPr>
          <p:txBody>
            <a:bodyPr wrap="square" rtlCol="0">
              <a:spAutoFit/>
            </a:bodyPr>
            <a:lstStyle/>
            <a:p>
              <a:r>
                <a:rPr lang="en-US" altLang="zh-CN" sz="2800" i="1" dirty="0" smtClean="0">
                  <a:latin typeface="Anna Nicole NF" panose="03030602040703020202" pitchFamily="66" charset="0"/>
                </a:rPr>
                <a:t>Preface</a:t>
              </a:r>
              <a:endParaRPr lang="zh-CN" altLang="en-US" sz="2800" i="1" dirty="0">
                <a:latin typeface="Anna Nicole NF" panose="03030602040703020202" pitchFamily="66" charset="0"/>
              </a:endParaRPr>
            </a:p>
          </p:txBody>
        </p:sp>
      </p:grpSp>
    </p:spTree>
    <p:extLst>
      <p:ext uri="{BB962C8B-B14F-4D97-AF65-F5344CB8AC3E}">
        <p14:creationId xmlns:p14="http://schemas.microsoft.com/office/powerpoint/2010/main" val="2242745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框 18"/>
          <p:cNvSpPr txBox="1"/>
          <p:nvPr/>
        </p:nvSpPr>
        <p:spPr>
          <a:xfrm>
            <a:off x="2682285" y="499316"/>
            <a:ext cx="8891420" cy="5932393"/>
          </a:xfrm>
          <a:prstGeom prst="rect">
            <a:avLst/>
          </a:prstGeom>
          <a:noFill/>
        </p:spPr>
        <p:txBody>
          <a:bodyPr wrap="square" rtlCol="0">
            <a:spAutoFit/>
          </a:bodyPr>
          <a:lstStyle/>
          <a:p>
            <a:pPr>
              <a:lnSpc>
                <a:spcPct val="150000"/>
              </a:lnSpc>
            </a:pPr>
            <a:r>
              <a:rPr lang="zh-CN" altLang="en-US" sz="2300" b="1" dirty="0" smtClean="0">
                <a:solidFill>
                  <a:schemeClr val="bg1"/>
                </a:solidFill>
                <a:latin typeface="造字工房悦黑体验版常规体" pitchFamily="50" charset="-122"/>
                <a:ea typeface="造字工房悦黑体验版常规体" pitchFamily="50" charset="-122"/>
              </a:rPr>
              <a:t>       自由无价。而现在，互联网给我们带来了真正的自由。</a:t>
            </a:r>
            <a:endParaRPr lang="en-US" altLang="zh-CN" sz="2300" b="1"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en-US" altLang="zh-CN" sz="2300" b="1" dirty="0" smtClean="0">
                <a:solidFill>
                  <a:schemeClr val="bg1"/>
                </a:solidFill>
                <a:latin typeface="造字工房悦黑体验版常规体" pitchFamily="50" charset="-122"/>
                <a:ea typeface="造字工房悦黑体验版常规体" pitchFamily="50" charset="-122"/>
              </a:rPr>
              <a:t>       ……</a:t>
            </a:r>
            <a:endParaRPr lang="zh-CN" altLang="en-US" sz="2300" b="1"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b="1" dirty="0" smtClean="0">
                <a:solidFill>
                  <a:schemeClr val="bg1"/>
                </a:solidFill>
                <a:latin typeface="造字工房悦黑体验版常规体" pitchFamily="50" charset="-122"/>
                <a:ea typeface="造字工房悦黑体验版常规体" pitchFamily="50" charset="-122"/>
              </a:rPr>
              <a:t>       激进一点地说，我们正在迎来一个“个体户”的时代，也就是自由创意、独立创业的时代。接下来的问题是：下一个可以被解放的群体在哪里？如何解放他们？如何造就一个可以提供“云服务”的平台？</a:t>
            </a:r>
          </a:p>
          <a:p>
            <a:pPr>
              <a:lnSpc>
                <a:spcPct val="150000"/>
              </a:lnSpc>
            </a:pPr>
            <a:r>
              <a:rPr lang="zh-CN" altLang="en-US" sz="2300" b="1" dirty="0" smtClean="0">
                <a:solidFill>
                  <a:schemeClr val="bg1"/>
                </a:solidFill>
                <a:latin typeface="造字工房悦黑体验版常规体" pitchFamily="50" charset="-122"/>
                <a:ea typeface="造字工房悦黑体验版常规体" pitchFamily="50" charset="-122"/>
              </a:rPr>
              <a:t>　　如果你想到某个答案，就去干吧！要么，给一群人自由。要么，借助一个平台自由起来。</a:t>
            </a:r>
            <a:r>
              <a:rPr lang="zh-CN" altLang="en-US" sz="2300" b="1" dirty="0" smtClean="0">
                <a:solidFill>
                  <a:srgbClr val="FFC000"/>
                </a:solidFill>
                <a:latin typeface="造字工房悦黑体验版常规体" pitchFamily="50" charset="-122"/>
                <a:ea typeface="造字工房悦黑体验版常规体" pitchFamily="50" charset="-122"/>
              </a:rPr>
              <a:t>互联网，本来就是一群自由人的自由联合。</a:t>
            </a:r>
          </a:p>
          <a:p>
            <a:pPr>
              <a:lnSpc>
                <a:spcPct val="150000"/>
              </a:lnSpc>
            </a:pPr>
            <a:r>
              <a:rPr lang="zh-CN" altLang="en-US" sz="2300" b="1" dirty="0" smtClean="0">
                <a:solidFill>
                  <a:schemeClr val="bg1"/>
                </a:solidFill>
                <a:latin typeface="造字工房悦黑体验版常规体" pitchFamily="50" charset="-122"/>
                <a:ea typeface="造字工房悦黑体验版常规体" pitchFamily="50" charset="-122"/>
              </a:rPr>
              <a:t>　　互联网，</a:t>
            </a:r>
            <a:r>
              <a:rPr lang="zh-CN" altLang="en-US" sz="2300" b="1" dirty="0" smtClean="0">
                <a:solidFill>
                  <a:srgbClr val="FFC000"/>
                </a:solidFill>
                <a:latin typeface="造字工房悦黑体验版常规体" pitchFamily="50" charset="-122"/>
                <a:ea typeface="造字工房悦黑体验版常规体" pitchFamily="50" charset="-122"/>
              </a:rPr>
              <a:t>以其指数级成长方式将各种不公平的传统体制的线性资源置于可有可无的地步</a:t>
            </a:r>
            <a:r>
              <a:rPr lang="zh-CN" altLang="en-US" sz="2300" b="1" dirty="0" smtClean="0">
                <a:solidFill>
                  <a:schemeClr val="bg1"/>
                </a:solidFill>
                <a:latin typeface="造字工房悦黑体验版常规体" pitchFamily="50" charset="-122"/>
                <a:ea typeface="造字工房悦黑体验版常规体" pitchFamily="50" charset="-122"/>
              </a:rPr>
              <a:t>，创造出接近公平的竞争模式，并全面接管中国的经济形态。</a:t>
            </a:r>
            <a:endParaRPr lang="zh-CN" altLang="en-US" sz="2300" b="1" dirty="0">
              <a:solidFill>
                <a:schemeClr val="bg1"/>
              </a:solidFill>
              <a:latin typeface="造字工房悦黑体验版常规体" pitchFamily="50" charset="-122"/>
              <a:ea typeface="造字工房悦黑体验版常规体" pitchFamily="50" charset="-122"/>
            </a:endParaRPr>
          </a:p>
        </p:txBody>
      </p:sp>
      <p:grpSp>
        <p:nvGrpSpPr>
          <p:cNvPr id="41" name="组合 40"/>
          <p:cNvGrpSpPr/>
          <p:nvPr/>
        </p:nvGrpSpPr>
        <p:grpSpPr>
          <a:xfrm>
            <a:off x="1122595" y="433771"/>
            <a:ext cx="2281009" cy="6063483"/>
            <a:chOff x="433278" y="469727"/>
            <a:chExt cx="2281009" cy="6063483"/>
          </a:xfrm>
        </p:grpSpPr>
        <p:grpSp>
          <p:nvGrpSpPr>
            <p:cNvPr id="28" name="组合 27"/>
            <p:cNvGrpSpPr/>
            <p:nvPr/>
          </p:nvGrpSpPr>
          <p:grpSpPr>
            <a:xfrm>
              <a:off x="433278" y="469727"/>
              <a:ext cx="2281009" cy="1436064"/>
              <a:chOff x="374791" y="4116785"/>
              <a:chExt cx="2281009" cy="1436064"/>
            </a:xfrm>
          </p:grpSpPr>
          <p:grpSp>
            <p:nvGrpSpPr>
              <p:cNvPr id="27" name="组合 26"/>
              <p:cNvGrpSpPr/>
              <p:nvPr/>
            </p:nvGrpSpPr>
            <p:grpSpPr>
              <a:xfrm>
                <a:off x="374791" y="4116785"/>
                <a:ext cx="1438908" cy="1436064"/>
                <a:chOff x="374791" y="4116785"/>
                <a:chExt cx="1438908" cy="1436064"/>
              </a:xfrm>
            </p:grpSpPr>
            <p:sp>
              <p:nvSpPr>
                <p:cNvPr id="23" name="弧形 22"/>
                <p:cNvSpPr/>
                <p:nvPr/>
              </p:nvSpPr>
              <p:spPr>
                <a:xfrm>
                  <a:off x="374791" y="4116785"/>
                  <a:ext cx="1436064" cy="1436064"/>
                </a:xfrm>
                <a:prstGeom prst="arc">
                  <a:avLst>
                    <a:gd name="adj1" fmla="val 3742106"/>
                    <a:gd name="adj2" fmla="val 0"/>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24" name="文本框 23"/>
                <p:cNvSpPr txBox="1"/>
                <p:nvPr/>
              </p:nvSpPr>
              <p:spPr>
                <a:xfrm>
                  <a:off x="471303" y="4491692"/>
                  <a:ext cx="1342396" cy="769441"/>
                </a:xfrm>
                <a:prstGeom prst="rect">
                  <a:avLst/>
                </a:prstGeom>
                <a:noFill/>
                <a:effectLst>
                  <a:outerShdw blurRad="63500" sx="102000" sy="102000" algn="ctr" rotWithShape="0">
                    <a:prstClr val="black">
                      <a:alpha val="40000"/>
                    </a:prstClr>
                  </a:outerShdw>
                </a:effectLst>
              </p:spPr>
              <p:txBody>
                <a:bodyPr wrap="square" rtlCol="0">
                  <a:spAutoFit/>
                </a:bodyPr>
                <a:lstStyle/>
                <a:p>
                  <a:pPr algn="ctr"/>
                  <a:r>
                    <a:rPr lang="zh-CN" altLang="en-US" sz="4400" b="1" spc="1800" dirty="0" smtClean="0">
                      <a:solidFill>
                        <a:schemeClr val="bg1"/>
                      </a:solidFill>
                      <a:latin typeface="方正清刻本悦宋简体" panose="02000000000000000000" pitchFamily="2" charset="-122"/>
                      <a:ea typeface="方正清刻本悦宋简体" panose="02000000000000000000" pitchFamily="2" charset="-122"/>
                    </a:rPr>
                    <a:t>序</a:t>
                  </a:r>
                  <a:endParaRPr lang="en-US" altLang="zh-CN" sz="4400" b="1" spc="1800" dirty="0" smtClean="0">
                    <a:solidFill>
                      <a:schemeClr val="bg1"/>
                    </a:solidFill>
                    <a:latin typeface="方正清刻本悦宋简体" panose="02000000000000000000" pitchFamily="2" charset="-122"/>
                    <a:ea typeface="方正清刻本悦宋简体" panose="02000000000000000000" pitchFamily="2" charset="-122"/>
                  </a:endParaRPr>
                </a:p>
              </p:txBody>
            </p:sp>
          </p:grpSp>
          <p:sp>
            <p:nvSpPr>
              <p:cNvPr id="26" name="文本框 25"/>
              <p:cNvSpPr txBox="1"/>
              <p:nvPr/>
            </p:nvSpPr>
            <p:spPr>
              <a:xfrm>
                <a:off x="1142501" y="4876412"/>
                <a:ext cx="1513299" cy="523220"/>
              </a:xfrm>
              <a:prstGeom prst="rect">
                <a:avLst/>
              </a:prstGeom>
              <a:noFill/>
            </p:spPr>
            <p:txBody>
              <a:bodyPr wrap="square" rtlCol="0">
                <a:spAutoFit/>
              </a:bodyPr>
              <a:lstStyle/>
              <a:p>
                <a:r>
                  <a:rPr lang="en-US" altLang="zh-CN" sz="2800" i="1" dirty="0" smtClean="0">
                    <a:solidFill>
                      <a:schemeClr val="bg1"/>
                    </a:solidFill>
                    <a:latin typeface="Anna Nicole NF" panose="03030602040703020202" pitchFamily="66" charset="0"/>
                  </a:rPr>
                  <a:t>Preface</a:t>
                </a:r>
                <a:endParaRPr lang="zh-CN" altLang="en-US" sz="2800" i="1" dirty="0">
                  <a:solidFill>
                    <a:schemeClr val="bg1"/>
                  </a:solidFill>
                  <a:latin typeface="Anna Nicole NF" panose="03030602040703020202" pitchFamily="66" charset="0"/>
                </a:endParaRPr>
              </a:p>
            </p:txBody>
          </p:sp>
        </p:grpSp>
        <p:pic>
          <p:nvPicPr>
            <p:cNvPr id="38" name="图片 37"/>
            <p:cNvPicPr>
              <a:picLocks noChangeAspect="1"/>
            </p:cNvPicPr>
            <p:nvPr/>
          </p:nvPicPr>
          <p:blipFill rotWithShape="1">
            <a:blip r:embed="rId2">
              <a:extLst>
                <a:ext uri="{28A0092B-C50C-407E-A947-70E740481C1C}">
                  <a14:useLocalDpi xmlns:a14="http://schemas.microsoft.com/office/drawing/2010/main" val="0"/>
                </a:ext>
              </a:extLst>
            </a:blip>
            <a:srcRect l="20646" r="20646"/>
            <a:stretch/>
          </p:blipFill>
          <p:spPr>
            <a:xfrm>
              <a:off x="433278" y="5222687"/>
              <a:ext cx="1310523" cy="1310523"/>
            </a:xfrm>
            <a:prstGeom prst="ellipse">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cxnSp>
          <p:nvCxnSpPr>
            <p:cNvPr id="40" name="直接连接符 39"/>
            <p:cNvCxnSpPr/>
            <p:nvPr/>
          </p:nvCxnSpPr>
          <p:spPr>
            <a:xfrm>
              <a:off x="1088539" y="2138289"/>
              <a:ext cx="0" cy="2743200"/>
            </a:xfrm>
            <a:prstGeom prst="line">
              <a:avLst/>
            </a:prstGeom>
            <a:ln w="12700">
              <a:solidFill>
                <a:srgbClr val="D5D5D5"/>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sp>
        <p:nvSpPr>
          <p:cNvPr id="42" name="矩形 4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683850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907294" y="393895"/>
            <a:ext cx="3031949" cy="2031188"/>
            <a:chOff x="358658" y="2011680"/>
            <a:chExt cx="3031949" cy="2031188"/>
          </a:xfrm>
        </p:grpSpPr>
        <p:sp>
          <p:nvSpPr>
            <p:cNvPr id="5" name="弧形 4"/>
            <p:cNvSpPr/>
            <p:nvPr/>
          </p:nvSpPr>
          <p:spPr>
            <a:xfrm>
              <a:off x="358658" y="2011680"/>
              <a:ext cx="2031188" cy="2031188"/>
            </a:xfrm>
            <a:prstGeom prst="arc">
              <a:avLst>
                <a:gd name="adj1" fmla="val 3742106"/>
                <a:gd name="adj2" fmla="val 0"/>
              </a:avLst>
            </a:prstGeom>
            <a:ln w="19050">
              <a:solidFill>
                <a:srgbClr val="BFB5A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6" name="文本框 5"/>
            <p:cNvSpPr txBox="1"/>
            <p:nvPr/>
          </p:nvSpPr>
          <p:spPr>
            <a:xfrm>
              <a:off x="460431" y="2696072"/>
              <a:ext cx="2071754" cy="769441"/>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4400" b="1" dirty="0" smtClean="0">
                  <a:solidFill>
                    <a:srgbClr val="BFB5A3"/>
                  </a:solidFill>
                  <a:latin typeface="方正清刻本悦宋简体" panose="02000000000000000000" pitchFamily="2" charset="-122"/>
                  <a:ea typeface="方正清刻本悦宋简体" panose="02000000000000000000" pitchFamily="2" charset="-122"/>
                </a:rPr>
                <a:t>第一章</a:t>
              </a:r>
              <a:endParaRPr lang="en-US" altLang="zh-CN" sz="4400" b="1" dirty="0" smtClean="0">
                <a:solidFill>
                  <a:srgbClr val="BFB5A3"/>
                </a:solidFill>
                <a:latin typeface="方正清刻本悦宋简体" panose="02000000000000000000" pitchFamily="2" charset="-122"/>
                <a:ea typeface="方正清刻本悦宋简体" panose="02000000000000000000" pitchFamily="2" charset="-122"/>
              </a:endParaRPr>
            </a:p>
          </p:txBody>
        </p:sp>
        <p:sp>
          <p:nvSpPr>
            <p:cNvPr id="4" name="文本框 3"/>
            <p:cNvSpPr txBox="1"/>
            <p:nvPr/>
          </p:nvSpPr>
          <p:spPr>
            <a:xfrm>
              <a:off x="1877308" y="3363539"/>
              <a:ext cx="1513299" cy="523220"/>
            </a:xfrm>
            <a:prstGeom prst="rect">
              <a:avLst/>
            </a:prstGeom>
            <a:noFill/>
          </p:spPr>
          <p:txBody>
            <a:bodyPr wrap="square" rtlCol="0">
              <a:spAutoFit/>
            </a:bodyPr>
            <a:lstStyle/>
            <a:p>
              <a:r>
                <a:rPr lang="en-US" altLang="zh-CN" sz="2800" i="1" dirty="0" smtClean="0">
                  <a:solidFill>
                    <a:srgbClr val="BFB5A3"/>
                  </a:solidFill>
                  <a:latin typeface="Anna Nicole NF" panose="03030602040703020202" pitchFamily="66" charset="0"/>
                </a:rPr>
                <a:t>First One</a:t>
              </a:r>
              <a:endParaRPr lang="zh-CN" altLang="en-US" sz="2800" i="1" dirty="0">
                <a:solidFill>
                  <a:srgbClr val="BFB5A3"/>
                </a:solidFill>
                <a:latin typeface="Anna Nicole NF" panose="03030602040703020202" pitchFamily="66" charset="0"/>
              </a:endParaRPr>
            </a:p>
          </p:txBody>
        </p:sp>
      </p:grpSp>
      <p:sp>
        <p:nvSpPr>
          <p:cNvPr id="19" name="圆角矩形 18"/>
          <p:cNvSpPr/>
          <p:nvPr/>
        </p:nvSpPr>
        <p:spPr>
          <a:xfrm>
            <a:off x="3939243" y="393895"/>
            <a:ext cx="9045237" cy="6006905"/>
          </a:xfrm>
          <a:prstGeom prst="roundRect">
            <a:avLst>
              <a:gd name="adj" fmla="val 7534"/>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三角形 20"/>
          <p:cNvSpPr/>
          <p:nvPr/>
        </p:nvSpPr>
        <p:spPr>
          <a:xfrm rot="10800000" flipV="1">
            <a:off x="337623" y="2425083"/>
            <a:ext cx="400857" cy="171723"/>
          </a:xfrm>
          <a:prstGeom prst="rtTriangle">
            <a:avLst/>
          </a:prstGeom>
          <a:solidFill>
            <a:srgbClr val="BFB5A3"/>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37624" y="2596806"/>
            <a:ext cx="4014243" cy="679268"/>
            <a:chOff x="337624" y="2596806"/>
            <a:chExt cx="4014243" cy="679268"/>
          </a:xfrm>
        </p:grpSpPr>
        <p:sp>
          <p:nvSpPr>
            <p:cNvPr id="18" name="矩形 17"/>
            <p:cNvSpPr/>
            <p:nvPr/>
          </p:nvSpPr>
          <p:spPr>
            <a:xfrm>
              <a:off x="337624" y="2596806"/>
              <a:ext cx="4014243" cy="679268"/>
            </a:xfrm>
            <a:prstGeom prst="rect">
              <a:avLst/>
            </a:prstGeom>
            <a:solidFill>
              <a:srgbClr val="BFB5A3"/>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054565" y="2644052"/>
              <a:ext cx="3052048"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3200" dirty="0" smtClean="0">
                  <a:solidFill>
                    <a:srgbClr val="323232"/>
                  </a:solidFill>
                  <a:latin typeface="华康俪金黑W8(P)" panose="020B0800000000000000" pitchFamily="34" charset="-122"/>
                  <a:ea typeface="华康俪金黑W8(P)" panose="020B0800000000000000" pitchFamily="34" charset="-122"/>
                </a:rPr>
                <a:t>互联网的本质</a:t>
              </a:r>
              <a:endParaRPr lang="en-US" altLang="zh-CN" sz="3200" dirty="0">
                <a:solidFill>
                  <a:srgbClr val="323232"/>
                </a:solidFill>
                <a:latin typeface="华康俪金黑W8(P)" panose="020B0800000000000000" pitchFamily="34" charset="-122"/>
                <a:ea typeface="华康俪金黑W8(P)" panose="020B0800000000000000" pitchFamily="34" charset="-122"/>
              </a:endParaRPr>
            </a:p>
          </p:txBody>
        </p:sp>
      </p:grpSp>
      <p:sp>
        <p:nvSpPr>
          <p:cNvPr id="23" name="直角三角形 22"/>
          <p:cNvSpPr/>
          <p:nvPr/>
        </p:nvSpPr>
        <p:spPr>
          <a:xfrm rot="10800000" flipH="1" flipV="1">
            <a:off x="3937800" y="2425082"/>
            <a:ext cx="400857" cy="171723"/>
          </a:xfrm>
          <a:prstGeom prst="rtTriangle">
            <a:avLst/>
          </a:prstGeom>
          <a:solidFill>
            <a:srgbClr val="BFB5A3"/>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796800" y="597456"/>
            <a:ext cx="7153554" cy="5516895"/>
          </a:xfrm>
          <a:prstGeom prst="rect">
            <a:avLst/>
          </a:prstGeom>
          <a:noFill/>
        </p:spPr>
        <p:txBody>
          <a:bodyPr wrap="square" rtlCol="0">
            <a:spAutoFit/>
          </a:bodyPr>
          <a:lstStyle/>
          <a:p>
            <a:pPr>
              <a:lnSpc>
                <a:spcPct val="150000"/>
              </a:lnSpc>
            </a:pPr>
            <a:r>
              <a:rPr lang="zh-CN" altLang="en-US" sz="2800" dirty="0" smtClean="0">
                <a:solidFill>
                  <a:srgbClr val="FFC000"/>
                </a:solidFill>
                <a:latin typeface="造字工房悦黑体验版常规体" pitchFamily="50" charset="-122"/>
                <a:ea typeface="造字工房悦黑体验版常规体" pitchFamily="50" charset="-122"/>
              </a:rPr>
              <a:t>互联网的本质：自由人的自由联合</a:t>
            </a:r>
            <a:endParaRPr lang="en-US" altLang="zh-CN" sz="2800" dirty="0" smtClean="0">
              <a:solidFill>
                <a:srgbClr val="FFC000"/>
              </a:solidFill>
              <a:latin typeface="造字工房悦黑体验版常规体" pitchFamily="50" charset="-122"/>
              <a:ea typeface="造字工房悦黑体验版常规体" pitchFamily="50" charset="-122"/>
            </a:endParaRPr>
          </a:p>
          <a:p>
            <a:pPr>
              <a:lnSpc>
                <a:spcPct val="150000"/>
              </a:lnSpc>
            </a:pP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en-US" altLang="zh-CN" sz="2300" dirty="0" smtClean="0">
                <a:solidFill>
                  <a:schemeClr val="bg1"/>
                </a:solidFill>
                <a:latin typeface="造字工房悦黑体验版常规体" pitchFamily="50" charset="-122"/>
                <a:ea typeface="造字工房悦黑体验版常规体" pitchFamily="50" charset="-122"/>
              </a:rPr>
              <a:t>Yahoo</a:t>
            </a:r>
            <a:r>
              <a:rPr lang="zh-CN" altLang="en-US" sz="2300" dirty="0">
                <a:solidFill>
                  <a:schemeClr val="bg1"/>
                </a:solidFill>
                <a:latin typeface="造字工房悦黑体验版常规体" pitchFamily="50" charset="-122"/>
                <a:ea typeface="造字工房悦黑体验版常规体" pitchFamily="50" charset="-122"/>
              </a:rPr>
              <a:t>做</a:t>
            </a:r>
            <a:r>
              <a:rPr lang="zh-CN" altLang="en-US" sz="2300" dirty="0" smtClean="0">
                <a:solidFill>
                  <a:schemeClr val="bg1"/>
                </a:solidFill>
                <a:latin typeface="造字工房悦黑体验版常规体" pitchFamily="50" charset="-122"/>
                <a:ea typeface="造字工房悦黑体验版常规体" pitchFamily="50" charset="-122"/>
              </a:rPr>
              <a:t>的是网页间封闭的死板的有上下主次的链接，</a:t>
            </a:r>
            <a:r>
              <a:rPr lang="en-US" altLang="zh-CN" sz="2300" dirty="0" smtClean="0">
                <a:solidFill>
                  <a:schemeClr val="bg1"/>
                </a:solidFill>
                <a:latin typeface="造字工房悦黑体验版常规体" pitchFamily="50" charset="-122"/>
                <a:ea typeface="造字工房悦黑体验版常规体" pitchFamily="50" charset="-122"/>
              </a:rPr>
              <a:t>Google</a:t>
            </a:r>
            <a:r>
              <a:rPr lang="zh-CN" altLang="en-US" sz="2300" dirty="0" smtClean="0">
                <a:solidFill>
                  <a:schemeClr val="bg1"/>
                </a:solidFill>
                <a:latin typeface="造字工房悦黑体验版常规体" pitchFamily="50" charset="-122"/>
                <a:ea typeface="造字工房悦黑体验版常规体" pitchFamily="50" charset="-122"/>
              </a:rPr>
              <a:t>打破了它，把所有网页跟自己建立了链接，并且把网页件相互链接的数量作为衡量一个网页价值的主要指标。无可否认，</a:t>
            </a:r>
            <a:r>
              <a:rPr lang="en-US" altLang="zh-CN" sz="2300" dirty="0" smtClean="0">
                <a:solidFill>
                  <a:schemeClr val="bg1"/>
                </a:solidFill>
                <a:latin typeface="造字工房悦黑体验版常规体" pitchFamily="50" charset="-122"/>
                <a:ea typeface="造字工房悦黑体验版常规体" pitchFamily="50" charset="-122"/>
              </a:rPr>
              <a:t>Google</a:t>
            </a:r>
            <a:r>
              <a:rPr lang="zh-CN" altLang="en-US" sz="2300" dirty="0" smtClean="0">
                <a:solidFill>
                  <a:schemeClr val="bg1"/>
                </a:solidFill>
                <a:latin typeface="造字工房悦黑体验版常规体" pitchFamily="50" charset="-122"/>
                <a:ea typeface="造字工房悦黑体验版常规体" pitchFamily="50" charset="-122"/>
              </a:rPr>
              <a:t>抓住了互联网“自由”的本质。而</a:t>
            </a:r>
            <a:r>
              <a:rPr lang="en-US" altLang="zh-CN" sz="2300" dirty="0" smtClean="0">
                <a:solidFill>
                  <a:schemeClr val="bg1"/>
                </a:solidFill>
                <a:latin typeface="造字工房悦黑体验版常规体" pitchFamily="50" charset="-122"/>
                <a:ea typeface="造字工房悦黑体验版常规体" pitchFamily="50" charset="-122"/>
              </a:rPr>
              <a:t>Facebook</a:t>
            </a:r>
            <a:r>
              <a:rPr lang="zh-CN" altLang="en-US" sz="2300" dirty="0" smtClean="0">
                <a:solidFill>
                  <a:schemeClr val="bg1"/>
                </a:solidFill>
                <a:latin typeface="造字工房悦黑体验版常规体" pitchFamily="50" charset="-122"/>
                <a:ea typeface="造字工房悦黑体验版常规体" pitchFamily="50" charset="-122"/>
              </a:rPr>
              <a:t>则在这条路上跃升，直接在人之间建立链接，</a:t>
            </a:r>
            <a:r>
              <a:rPr lang="en-US" altLang="zh-CN" sz="2300" dirty="0" smtClean="0">
                <a:solidFill>
                  <a:schemeClr val="bg1"/>
                </a:solidFill>
                <a:latin typeface="造字工房悦黑体验版常规体" pitchFamily="50" charset="-122"/>
                <a:ea typeface="造字工房悦黑体验版常规体" pitchFamily="50" charset="-122"/>
              </a:rPr>
              <a:t>eBay</a:t>
            </a:r>
            <a:r>
              <a:rPr lang="zh-CN" altLang="en-US" sz="2300" dirty="0" smtClean="0">
                <a:solidFill>
                  <a:schemeClr val="bg1"/>
                </a:solidFill>
                <a:latin typeface="造字工房悦黑体验版常规体" pitchFamily="50" charset="-122"/>
                <a:ea typeface="造字工房悦黑体验版常规体" pitchFamily="50" charset="-122"/>
              </a:rPr>
              <a:t>和淘宝把单纯的人和人的链接提升到了商户和人。</a:t>
            </a:r>
            <a:r>
              <a:rPr lang="en-US" altLang="zh-CN" sz="2300" dirty="0" smtClean="0">
                <a:solidFill>
                  <a:schemeClr val="bg1"/>
                </a:solidFill>
                <a:latin typeface="造字工房悦黑体验版常规体" pitchFamily="50" charset="-122"/>
                <a:ea typeface="造字工房悦黑体验版常规体" pitchFamily="50" charset="-122"/>
              </a:rPr>
              <a:t>Twitter</a:t>
            </a:r>
            <a:r>
              <a:rPr lang="zh-CN" altLang="en-US" sz="2300" dirty="0" smtClean="0">
                <a:solidFill>
                  <a:schemeClr val="bg1"/>
                </a:solidFill>
                <a:latin typeface="造字工房悦黑体验版常规体" pitchFamily="50" charset="-122"/>
                <a:ea typeface="造字工房悦黑体验版常规体" pitchFamily="50" charset="-122"/>
              </a:rPr>
              <a:t>跟</a:t>
            </a:r>
            <a:r>
              <a:rPr lang="en-US" altLang="zh-CN" sz="2300" dirty="0" smtClean="0">
                <a:solidFill>
                  <a:schemeClr val="bg1"/>
                </a:solidFill>
                <a:latin typeface="造字工房悦黑体验版常规体" pitchFamily="50" charset="-122"/>
                <a:ea typeface="造字工房悦黑体验版常规体" pitchFamily="50" charset="-122"/>
              </a:rPr>
              <a:t>Facebook</a:t>
            </a:r>
            <a:r>
              <a:rPr lang="zh-CN" altLang="en-US" sz="2300" dirty="0" smtClean="0">
                <a:solidFill>
                  <a:schemeClr val="bg1"/>
                </a:solidFill>
                <a:latin typeface="造字工房悦黑体验版常规体" pitchFamily="50" charset="-122"/>
                <a:ea typeface="造字工房悦黑体验版常规体" pitchFamily="50" charset="-122"/>
              </a:rPr>
              <a:t>一样也是将人链接，不过把链接的形式提升到了开放的形式。</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cxnSp>
        <p:nvCxnSpPr>
          <p:cNvPr id="25" name="直接连接符 24"/>
          <p:cNvCxnSpPr/>
          <p:nvPr/>
        </p:nvCxnSpPr>
        <p:spPr>
          <a:xfrm flipH="1">
            <a:off x="4618508" y="1490293"/>
            <a:ext cx="7170218" cy="0"/>
          </a:xfrm>
          <a:prstGeom prst="line">
            <a:avLst/>
          </a:prstGeom>
          <a:ln w="19050">
            <a:solidFill>
              <a:srgbClr val="FFC000"/>
            </a:solidFill>
            <a:prstDash val="dash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4633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48570" y="3904123"/>
            <a:ext cx="4449657" cy="2854673"/>
            <a:chOff x="62425" y="272030"/>
            <a:chExt cx="4402610" cy="2824490"/>
          </a:xfrm>
        </p:grpSpPr>
        <p:sp>
          <p:nvSpPr>
            <p:cNvPr id="4" name="直角三角形 3"/>
            <p:cNvSpPr/>
            <p:nvPr/>
          </p:nvSpPr>
          <p:spPr>
            <a:xfrm rot="10800000" flipV="1">
              <a:off x="339066" y="27203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39065" y="2924797"/>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b="15638"/>
            <a:stretch/>
          </p:blipFill>
          <p:spPr>
            <a:xfrm>
              <a:off x="62425" y="443753"/>
              <a:ext cx="4402610" cy="248104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联合，是一个社会化、大众化的词；而链接，是一个互联网更熟悉的专业化的词。当我们说网页的时候，用链接；说人的时候，用联合。</a:t>
            </a: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微博把信息把信息和意见作为一个整体再一次得到下一个节点的感应，再传播出去</a:t>
            </a:r>
            <a:r>
              <a:rPr lang="en-US" altLang="zh-CN" sz="2300" dirty="0" smtClean="0">
                <a:solidFill>
                  <a:schemeClr val="bg1"/>
                </a:solidFill>
                <a:latin typeface="造字工房悦黑体验版常规体" pitchFamily="50" charset="-122"/>
                <a:ea typeface="造字工房悦黑体验版常规体" pitchFamily="50" charset="-122"/>
              </a:rPr>
              <a:t>……</a:t>
            </a:r>
            <a:r>
              <a:rPr lang="zh-CN" altLang="en-US" sz="2300" dirty="0" smtClean="0">
                <a:solidFill>
                  <a:schemeClr val="bg1"/>
                </a:solidFill>
                <a:latin typeface="造字工房悦黑体验版常规体" pitchFamily="50" charset="-122"/>
                <a:ea typeface="造字工房悦黑体验版常规体" pitchFamily="50" charset="-122"/>
              </a:rPr>
              <a:t>信息的含义深度和影响力扩散广度远远超过任何时代的任何个体。这就是自由联合的力量。</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30" y="2450728"/>
            <a:ext cx="2344642"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1.1 </a:t>
            </a:r>
            <a:r>
              <a:rPr lang="zh-CN" altLang="en-US" sz="3200" b="1" dirty="0" smtClean="0">
                <a:solidFill>
                  <a:srgbClr val="BFB5A3"/>
                </a:solidFill>
                <a:latin typeface="方正清刻本悦宋简体" panose="02000000000000000000" pitchFamily="2" charset="-122"/>
                <a:ea typeface="方正清刻本悦宋简体" panose="02000000000000000000" pitchFamily="2" charset="-122"/>
              </a:rPr>
              <a:t>微博浪潮</a:t>
            </a:r>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 </a:t>
            </a: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FB5A3"/>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4D493E"/>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61665"/>
            </a:xfrm>
            <a:prstGeom prst="rect">
              <a:avLst/>
            </a:prstGeom>
            <a:noFill/>
          </p:spPr>
          <p:txBody>
            <a:bodyPr wrap="square" rtlCol="0">
              <a:spAutoFit/>
            </a:bodyPr>
            <a:lstStyle/>
            <a:p>
              <a:r>
                <a:rPr lang="zh-CN" altLang="en-US" sz="2400" dirty="0" smtClean="0">
                  <a:solidFill>
                    <a:srgbClr val="4D493E"/>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链</a:t>
              </a:r>
              <a:r>
                <a:rPr lang="zh-CN" altLang="en-US" sz="2400" dirty="0" smtClean="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接</a:t>
              </a:r>
              <a:endParaRPr lang="zh-CN" altLang="en-US" sz="2400" dirty="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A27046"/>
                </a:solidFill>
                <a:latin typeface="华康俪金黑W8(P)" panose="020B0800000000000000" pitchFamily="34" charset="-122"/>
                <a:ea typeface="华康俪金黑W8(P)" panose="020B0800000000000000" pitchFamily="34" charset="-122"/>
              </a:rPr>
              <a:t>2014</a:t>
            </a:r>
            <a:r>
              <a:rPr lang="zh-CN" altLang="en-US" sz="2000" dirty="0" smtClean="0">
                <a:solidFill>
                  <a:srgbClr val="A27046"/>
                </a:solidFill>
                <a:latin typeface="华康俪金黑W8(P)" panose="020B0800000000000000" pitchFamily="34" charset="-122"/>
                <a:ea typeface="华康俪金黑W8(P)" panose="020B0800000000000000" pitchFamily="34" charset="-122"/>
              </a:rPr>
              <a:t>年</a:t>
            </a:r>
            <a:r>
              <a:rPr lang="en-US" altLang="zh-CN" sz="2000" dirty="0" smtClean="0">
                <a:solidFill>
                  <a:srgbClr val="A27046"/>
                </a:solidFill>
                <a:latin typeface="华康俪金黑W8(P)" panose="020B0800000000000000" pitchFamily="34" charset="-122"/>
                <a:ea typeface="华康俪金黑W8(P)" panose="020B0800000000000000" pitchFamily="34" charset="-122"/>
              </a:rPr>
              <a:t>3</a:t>
            </a:r>
            <a:r>
              <a:rPr lang="zh-CN" altLang="en-US" sz="2000" dirty="0" smtClean="0">
                <a:solidFill>
                  <a:srgbClr val="A27046"/>
                </a:solidFill>
                <a:latin typeface="华康俪金黑W8(P)" panose="020B0800000000000000" pitchFamily="34" charset="-122"/>
                <a:ea typeface="华康俪金黑W8(P)" panose="020B0800000000000000" pitchFamily="34" charset="-122"/>
              </a:rPr>
              <a:t>月</a:t>
            </a:r>
            <a:r>
              <a:rPr lang="en-US" altLang="zh-CN" sz="2000" dirty="0" smtClean="0">
                <a:solidFill>
                  <a:srgbClr val="A27046"/>
                </a:solidFill>
                <a:latin typeface="华康俪金黑W8(P)" panose="020B0800000000000000" pitchFamily="34" charset="-122"/>
                <a:ea typeface="华康俪金黑W8(P)" panose="020B0800000000000000" pitchFamily="34" charset="-122"/>
              </a:rPr>
              <a:t>27</a:t>
            </a:r>
            <a:r>
              <a:rPr lang="zh-CN" altLang="en-US" sz="2000" dirty="0" smtClean="0">
                <a:solidFill>
                  <a:srgbClr val="A27046"/>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，新浪微博更名为</a:t>
            </a:r>
            <a:r>
              <a:rPr lang="zh-CN" altLang="en-US" sz="2000" dirty="0">
                <a:solidFill>
                  <a:schemeClr val="bg1"/>
                </a:solidFill>
                <a:latin typeface="华康俪金黑W8(P)" panose="020B0800000000000000" pitchFamily="34" charset="-122"/>
                <a:ea typeface="华康俪金黑W8(P)" panose="020B0800000000000000" pitchFamily="34" charset="-122"/>
              </a:rPr>
              <a:t>“微博”</a:t>
            </a:r>
            <a:r>
              <a:rPr lang="zh-CN" altLang="en-US" sz="2000" dirty="0" smtClean="0">
                <a:solidFill>
                  <a:schemeClr val="bg1"/>
                </a:solidFill>
                <a:latin typeface="华康俪金黑W8(P)" panose="020B0800000000000000" pitchFamily="34" charset="-122"/>
                <a:ea typeface="华康俪金黑W8(P)" panose="020B0800000000000000" pitchFamily="34" charset="-122"/>
              </a:rPr>
              <a:t>，微博大</a:t>
            </a:r>
            <a:r>
              <a:rPr lang="en-US" altLang="zh-CN" sz="2000" dirty="0" smtClean="0">
                <a:solidFill>
                  <a:schemeClr val="bg1"/>
                </a:solidFill>
                <a:latin typeface="华康俪金黑W8(P)" panose="020B0800000000000000" pitchFamily="34" charset="-122"/>
                <a:ea typeface="华康俪金黑W8(P)" panose="020B0800000000000000" pitchFamily="34" charset="-122"/>
              </a:rPr>
              <a:t>V</a:t>
            </a:r>
            <a:r>
              <a:rPr lang="en-US" altLang="zh-CN" sz="2000" dirty="0" smtClean="0">
                <a:solidFill>
                  <a:srgbClr val="FFC000"/>
                </a:solidFill>
                <a:latin typeface="华康俪金黑W8(P)" panose="020B0800000000000000" pitchFamily="34" charset="-122"/>
                <a:ea typeface="华康俪金黑W8(P)" panose="020B0800000000000000" pitchFamily="34" charset="-122"/>
              </a:rPr>
              <a:t>@</a:t>
            </a:r>
            <a:r>
              <a:rPr lang="zh-CN" altLang="en-US" sz="2000" dirty="0" smtClean="0">
                <a:solidFill>
                  <a:srgbClr val="FFC000"/>
                </a:solidFill>
                <a:latin typeface="华康俪金黑W8(P)" panose="020B0800000000000000" pitchFamily="34" charset="-122"/>
                <a:ea typeface="华康俪金黑W8(P)" panose="020B0800000000000000" pitchFamily="34" charset="-122"/>
              </a:rPr>
              <a:t>作业本</a:t>
            </a:r>
            <a:r>
              <a:rPr lang="zh-CN" altLang="en-US" sz="2000" dirty="0" smtClean="0">
                <a:solidFill>
                  <a:schemeClr val="bg1"/>
                </a:solidFill>
                <a:latin typeface="华康俪金黑W8(P)" panose="020B0800000000000000" pitchFamily="34" charset="-122"/>
                <a:ea typeface="华康俪金黑W8(P)" panose="020B0800000000000000" pitchFamily="34" charset="-122"/>
              </a:rPr>
              <a:t>说，忽然</a:t>
            </a:r>
            <a:r>
              <a:rPr lang="zh-CN" altLang="en-US" sz="2000" dirty="0">
                <a:solidFill>
                  <a:schemeClr val="bg1"/>
                </a:solidFill>
                <a:latin typeface="华康俪金黑W8(P)" panose="020B0800000000000000" pitchFamily="34" charset="-122"/>
                <a:ea typeface="华康俪金黑W8(P)" panose="020B0800000000000000" pitchFamily="34" charset="-122"/>
              </a:rPr>
              <a:t>感觉这像一个电影结尾，实际上是微博界的更新，它宣布了除它之外所有微博的自然消亡，而你我在此度过了漫长又短暂的</a:t>
            </a:r>
            <a:r>
              <a:rPr lang="zh-CN" altLang="en-US" sz="2000" dirty="0" smtClean="0">
                <a:solidFill>
                  <a:schemeClr val="bg1"/>
                </a:solidFill>
                <a:latin typeface="华康俪金黑W8(P)" panose="020B0800000000000000" pitchFamily="34" charset="-122"/>
                <a:ea typeface="华康俪金黑W8(P)" panose="020B0800000000000000" pitchFamily="34" charset="-122"/>
              </a:rPr>
              <a:t>五年。</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8199262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4339650"/>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一旦成为一个社会化的自循环、资管理、自协调的生态体系，就能彻底激发这些社会人的创新意识，扩大其创新空间。也只有创新，才能武装这些网络革命者去冲击甚至颠覆那个以大规模和低价格取胜、死板而冷静的传统工业体系。</a:t>
            </a: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打通产业链是为了提供一站式服务，一站式服务的核心是黏住用户，也就黏住了所有伙伴和服务。</a:t>
            </a: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876870" y="2450728"/>
            <a:ext cx="2394402"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1.2 </a:t>
            </a:r>
            <a:r>
              <a:rPr lang="zh-CN" altLang="en-US" sz="3200" b="1" dirty="0" smtClean="0">
                <a:solidFill>
                  <a:srgbClr val="BFB5A3"/>
                </a:solidFill>
                <a:latin typeface="方正清刻本悦宋简体" panose="02000000000000000000" pitchFamily="2" charset="-122"/>
                <a:ea typeface="方正清刻本悦宋简体" panose="02000000000000000000" pitchFamily="2" charset="-122"/>
              </a:rPr>
              <a:t>创意革命</a:t>
            </a:r>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 </a:t>
            </a: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FB5A3"/>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4D493E"/>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61665"/>
            </a:xfrm>
            <a:prstGeom prst="rect">
              <a:avLst/>
            </a:prstGeom>
            <a:noFill/>
          </p:spPr>
          <p:txBody>
            <a:bodyPr wrap="square" rtlCol="0">
              <a:spAutoFit/>
            </a:bodyPr>
            <a:lstStyle/>
            <a:p>
              <a:r>
                <a:rPr lang="zh-CN" altLang="en-US" sz="2400" dirty="0" smtClean="0">
                  <a:solidFill>
                    <a:srgbClr val="4D493E"/>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链</a:t>
              </a:r>
              <a:r>
                <a:rPr lang="zh-CN" altLang="en-US" sz="2400" dirty="0" smtClean="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接</a:t>
              </a:r>
              <a:endParaRPr lang="zh-CN" altLang="en-US" sz="2400" dirty="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A27046"/>
                </a:solidFill>
                <a:latin typeface="华康俪金黑W8(P)" panose="020B0800000000000000" pitchFamily="34" charset="-122"/>
                <a:ea typeface="华康俪金黑W8(P)" panose="020B0800000000000000" pitchFamily="34" charset="-122"/>
              </a:rPr>
              <a:t>2014</a:t>
            </a:r>
            <a:r>
              <a:rPr lang="zh-CN" altLang="en-US" sz="2000" dirty="0" smtClean="0">
                <a:solidFill>
                  <a:srgbClr val="A27046"/>
                </a:solidFill>
                <a:latin typeface="华康俪金黑W8(P)" panose="020B0800000000000000" pitchFamily="34" charset="-122"/>
                <a:ea typeface="华康俪金黑W8(P)" panose="020B0800000000000000" pitchFamily="34" charset="-122"/>
              </a:rPr>
              <a:t>年</a:t>
            </a:r>
            <a:r>
              <a:rPr lang="en-US" altLang="zh-CN" sz="2000" dirty="0" smtClean="0">
                <a:solidFill>
                  <a:srgbClr val="A27046"/>
                </a:solidFill>
                <a:latin typeface="华康俪金黑W8(P)" panose="020B0800000000000000" pitchFamily="34" charset="-122"/>
                <a:ea typeface="华康俪金黑W8(P)" panose="020B0800000000000000" pitchFamily="34" charset="-122"/>
              </a:rPr>
              <a:t>8</a:t>
            </a:r>
            <a:r>
              <a:rPr lang="zh-CN" altLang="en-US" sz="2000" dirty="0">
                <a:solidFill>
                  <a:srgbClr val="A27046"/>
                </a:solidFill>
                <a:latin typeface="华康俪金黑W8(P)" panose="020B0800000000000000" pitchFamily="34" charset="-122"/>
                <a:ea typeface="华康俪金黑W8(P)" panose="020B0800000000000000" pitchFamily="34" charset="-122"/>
              </a:rPr>
              <a:t>月</a:t>
            </a:r>
            <a:r>
              <a:rPr lang="en-US" altLang="zh-CN" sz="2000" dirty="0">
                <a:solidFill>
                  <a:srgbClr val="A27046"/>
                </a:solidFill>
                <a:latin typeface="华康俪金黑W8(P)" panose="020B0800000000000000" pitchFamily="34" charset="-122"/>
                <a:ea typeface="华康俪金黑W8(P)" panose="020B0800000000000000" pitchFamily="34" charset="-122"/>
              </a:rPr>
              <a:t>25</a:t>
            </a:r>
            <a:r>
              <a:rPr lang="zh-CN" altLang="en-US" sz="2000" dirty="0">
                <a:solidFill>
                  <a:srgbClr val="A27046"/>
                </a:solidFill>
                <a:latin typeface="华康俪金黑W8(P)" panose="020B0800000000000000" pitchFamily="34" charset="-122"/>
                <a:ea typeface="华康俪金黑W8(P)" panose="020B0800000000000000" pitchFamily="34" charset="-122"/>
              </a:rPr>
              <a:t>日</a:t>
            </a:r>
            <a:r>
              <a:rPr lang="zh-CN" altLang="en-US" sz="2000" dirty="0">
                <a:solidFill>
                  <a:schemeClr val="bg1"/>
                </a:solidFill>
                <a:latin typeface="华康俪金黑W8(P)" panose="020B0800000000000000" pitchFamily="34" charset="-122"/>
                <a:ea typeface="华康俪金黑W8(P)" panose="020B0800000000000000" pitchFamily="34" charset="-122"/>
              </a:rPr>
              <a:t>，阿里旗下小微金融服务集团正式推出余额宝</a:t>
            </a:r>
            <a:r>
              <a:rPr lang="en-US" altLang="zh-CN" sz="2000" dirty="0">
                <a:solidFill>
                  <a:schemeClr val="bg1"/>
                </a:solidFill>
                <a:latin typeface="华康俪金黑W8(P)" panose="020B0800000000000000" pitchFamily="34" charset="-122"/>
                <a:ea typeface="华康俪金黑W8(P)" panose="020B0800000000000000" pitchFamily="34" charset="-122"/>
              </a:rPr>
              <a:t>2.0</a:t>
            </a:r>
            <a:r>
              <a:rPr lang="zh-CN" altLang="en-US" sz="2000" dirty="0">
                <a:solidFill>
                  <a:schemeClr val="bg1"/>
                </a:solidFill>
                <a:latin typeface="华康俪金黑W8(P)" panose="020B0800000000000000" pitchFamily="34" charset="-122"/>
                <a:ea typeface="华康俪金黑W8(P)" panose="020B0800000000000000" pitchFamily="34" charset="-122"/>
              </a:rPr>
              <a:t>增强版</a:t>
            </a:r>
            <a:r>
              <a:rPr lang="en-US" altLang="zh-CN"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rgbClr val="FFC000"/>
                </a:solidFill>
                <a:latin typeface="华康俪金黑W8(P)" panose="020B0800000000000000" pitchFamily="34" charset="-122"/>
                <a:ea typeface="华康俪金黑W8(P)" panose="020B0800000000000000" pitchFamily="34" charset="-122"/>
              </a:rPr>
              <a:t>招</a:t>
            </a:r>
            <a:r>
              <a:rPr lang="zh-CN" altLang="en-US" sz="2000" dirty="0" smtClean="0">
                <a:solidFill>
                  <a:srgbClr val="FFC000"/>
                </a:solidFill>
                <a:latin typeface="华康俪金黑W8(P)" panose="020B0800000000000000" pitchFamily="34" charset="-122"/>
                <a:ea typeface="华康俪金黑W8(P)" panose="020B0800000000000000" pitchFamily="34" charset="-122"/>
              </a:rPr>
              <a:t>财宝</a:t>
            </a:r>
            <a:r>
              <a:rPr lang="zh-CN" altLang="en-US" sz="2000" dirty="0" smtClean="0">
                <a:solidFill>
                  <a:schemeClr val="bg1"/>
                </a:solidFill>
                <a:latin typeface="华康俪金黑W8(P)" panose="020B0800000000000000" pitchFamily="34" charset="-122"/>
                <a:ea typeface="华康俪金黑W8(P)" panose="020B0800000000000000" pitchFamily="34" charset="-122"/>
              </a:rPr>
              <a:t>。承诺所有</a:t>
            </a:r>
            <a:r>
              <a:rPr lang="zh-CN" altLang="en-US" sz="2000" dirty="0">
                <a:solidFill>
                  <a:schemeClr val="bg1"/>
                </a:solidFill>
                <a:latin typeface="华康俪金黑W8(P)" panose="020B0800000000000000" pitchFamily="34" charset="-122"/>
                <a:ea typeface="华康俪金黑W8(P)" panose="020B0800000000000000" pitchFamily="34" charset="-122"/>
              </a:rPr>
              <a:t>投资本息</a:t>
            </a:r>
            <a:r>
              <a:rPr lang="en-US" altLang="zh-CN" sz="2000" dirty="0">
                <a:solidFill>
                  <a:schemeClr val="bg1"/>
                </a:solidFill>
                <a:latin typeface="华康俪金黑W8(P)" panose="020B0800000000000000" pitchFamily="34" charset="-122"/>
                <a:ea typeface="华康俪金黑W8(P)" panose="020B0800000000000000" pitchFamily="34" charset="-122"/>
              </a:rPr>
              <a:t>100%</a:t>
            </a:r>
            <a:r>
              <a:rPr lang="zh-CN" altLang="en-US" sz="2000" dirty="0">
                <a:solidFill>
                  <a:schemeClr val="bg1"/>
                </a:solidFill>
                <a:latin typeface="华康俪金黑W8(P)" panose="020B0800000000000000" pitchFamily="34" charset="-122"/>
                <a:ea typeface="华康俪金黑W8(P)" panose="020B0800000000000000" pitchFamily="34" charset="-122"/>
              </a:rPr>
              <a:t>保障、提供随时提现功能并保障利益、提供投资产品预约</a:t>
            </a:r>
            <a:r>
              <a:rPr lang="zh-CN" altLang="en-US" sz="2000" dirty="0" smtClean="0">
                <a:solidFill>
                  <a:schemeClr val="bg1"/>
                </a:solidFill>
                <a:latin typeface="华康俪金黑W8(P)" panose="020B0800000000000000" pitchFamily="34" charset="-122"/>
                <a:ea typeface="华康俪金黑W8(P)" panose="020B0800000000000000" pitchFamily="34" charset="-122"/>
              </a:rPr>
              <a:t>服务。再次创新，再次掀起狂澜。</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7" name="组合 26"/>
          <p:cNvGrpSpPr/>
          <p:nvPr/>
        </p:nvGrpSpPr>
        <p:grpSpPr>
          <a:xfrm>
            <a:off x="163044" y="3904123"/>
            <a:ext cx="4091584" cy="2854673"/>
            <a:chOff x="175689" y="272030"/>
            <a:chExt cx="4048323" cy="2824490"/>
          </a:xfrm>
        </p:grpSpPr>
        <p:sp>
          <p:nvSpPr>
            <p:cNvPr id="28" name="直角三角形 27"/>
            <p:cNvSpPr/>
            <p:nvPr/>
          </p:nvSpPr>
          <p:spPr>
            <a:xfrm rot="10800000" flipV="1">
              <a:off x="339066" y="27203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rot="10800000">
              <a:off x="339065" y="2924797"/>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689" y="443753"/>
              <a:ext cx="4048323" cy="2481044"/>
            </a:xfrm>
            <a:prstGeom prst="roundRect">
              <a:avLst>
                <a:gd name="adj" fmla="val 9855"/>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2034302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a:solidFill>
                  <a:schemeClr val="bg1"/>
                </a:solidFill>
                <a:latin typeface="造字工房悦黑体验版常规体" pitchFamily="50" charset="-122"/>
                <a:ea typeface="造字工房悦黑体验版常规体" pitchFamily="50" charset="-122"/>
              </a:rPr>
              <a:t>新模式</a:t>
            </a:r>
            <a:r>
              <a:rPr lang="en-US" altLang="zh-CN" sz="2300" dirty="0" smtClean="0">
                <a:solidFill>
                  <a:schemeClr val="bg1"/>
                </a:solidFill>
                <a:latin typeface="造字工房悦黑体验版常规体" pitchFamily="50" charset="-122"/>
                <a:ea typeface="造字工房悦黑体验版常规体" pitchFamily="50" charset="-122"/>
              </a:rPr>
              <a:t>B2B2C</a:t>
            </a:r>
            <a:r>
              <a:rPr lang="zh-CN" altLang="en-US" sz="2300" dirty="0" smtClean="0">
                <a:solidFill>
                  <a:schemeClr val="bg1"/>
                </a:solidFill>
                <a:latin typeface="造字工房悦黑体验版常规体" pitchFamily="50" charset="-122"/>
                <a:ea typeface="造字工房悦黑体验版常规体" pitchFamily="50" charset="-122"/>
              </a:rPr>
              <a:t>的定义是：平台搭建者引入一定数量的大</a:t>
            </a:r>
            <a:r>
              <a:rPr lang="en-US" altLang="zh-CN" sz="2300" dirty="0" smtClean="0">
                <a:solidFill>
                  <a:schemeClr val="bg1"/>
                </a:solidFill>
                <a:latin typeface="造字工房悦黑体验版常规体" pitchFamily="50" charset="-122"/>
                <a:ea typeface="造字工房悦黑体验版常规体" pitchFamily="50" charset="-122"/>
              </a:rPr>
              <a:t>B</a:t>
            </a:r>
            <a:r>
              <a:rPr lang="zh-CN" altLang="en-US" sz="2300" dirty="0" smtClean="0">
                <a:solidFill>
                  <a:schemeClr val="bg1"/>
                </a:solidFill>
                <a:latin typeface="造字工房悦黑体验版常规体" pitchFamily="50" charset="-122"/>
                <a:ea typeface="造字工房悦黑体验版常规体" pitchFamily="50" charset="-122"/>
              </a:rPr>
              <a:t>（商家），与其紧密合作向</a:t>
            </a:r>
            <a:r>
              <a:rPr lang="en-US" altLang="zh-CN" sz="2300" dirty="0" smtClean="0">
                <a:solidFill>
                  <a:schemeClr val="bg1"/>
                </a:solidFill>
                <a:latin typeface="造字工房悦黑体验版常规体" pitchFamily="50" charset="-122"/>
                <a:ea typeface="造字工房悦黑体验版常规体" pitchFamily="50" charset="-122"/>
              </a:rPr>
              <a:t>C</a:t>
            </a:r>
            <a:r>
              <a:rPr lang="zh-CN" altLang="en-US" sz="2300" dirty="0" smtClean="0">
                <a:solidFill>
                  <a:schemeClr val="bg1"/>
                </a:solidFill>
                <a:latin typeface="造字工房悦黑体验版常规体" pitchFamily="50" charset="-122"/>
                <a:ea typeface="造字工房悦黑体验版常规体" pitchFamily="50" charset="-122"/>
              </a:rPr>
              <a:t>（个人）提供产品，所谓紧密合作，就是共同保证质量，或者依靠严格的标准向顾客推荐被其认可的店家。它不是一个电子商务名词，而是一种商业模式。这种模式的精髓是平衡（质与量、控制与失控、专制与自由）和共担（成本与风险）。</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876869" y="2450728"/>
            <a:ext cx="2510719"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1.3 </a:t>
            </a:r>
            <a:r>
              <a:rPr lang="zh-CN" altLang="en-US" sz="3200" b="1" dirty="0" smtClean="0">
                <a:solidFill>
                  <a:srgbClr val="BFB5A3"/>
                </a:solidFill>
                <a:latin typeface="方正清刻本悦宋简体" panose="02000000000000000000" pitchFamily="2" charset="-122"/>
                <a:ea typeface="方正清刻本悦宋简体" panose="02000000000000000000" pitchFamily="2" charset="-122"/>
              </a:rPr>
              <a:t>电子商务</a:t>
            </a:r>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  </a:t>
            </a: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FB5A3"/>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4D493E"/>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61665"/>
            </a:xfrm>
            <a:prstGeom prst="rect">
              <a:avLst/>
            </a:prstGeom>
            <a:noFill/>
          </p:spPr>
          <p:txBody>
            <a:bodyPr wrap="square" rtlCol="0">
              <a:spAutoFit/>
            </a:bodyPr>
            <a:lstStyle/>
            <a:p>
              <a:r>
                <a:rPr lang="zh-CN" altLang="en-US" sz="2400" dirty="0" smtClean="0">
                  <a:solidFill>
                    <a:srgbClr val="4D493E"/>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链</a:t>
              </a:r>
              <a:r>
                <a:rPr lang="zh-CN" altLang="en-US" sz="2400" dirty="0" smtClean="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接</a:t>
              </a:r>
              <a:endParaRPr lang="zh-CN" altLang="en-US" sz="2400" dirty="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253407" cy="1323439"/>
          </a:xfrm>
          <a:prstGeom prst="rect">
            <a:avLst/>
          </a:prstGeom>
          <a:noFill/>
        </p:spPr>
        <p:txBody>
          <a:bodyPr wrap="square" rtlCol="0">
            <a:spAutoFit/>
          </a:bodyPr>
          <a:lstStyle/>
          <a:p>
            <a:r>
              <a:rPr lang="en-US" altLang="zh-CN" sz="2000" dirty="0" smtClean="0">
                <a:solidFill>
                  <a:srgbClr val="A27046"/>
                </a:solidFill>
                <a:latin typeface="华康俪金黑W8(P)" panose="020B0800000000000000" pitchFamily="34" charset="-122"/>
                <a:ea typeface="华康俪金黑W8(P)" panose="020B0800000000000000" pitchFamily="34" charset="-122"/>
              </a:rPr>
              <a:t>2014</a:t>
            </a:r>
            <a:r>
              <a:rPr lang="zh-CN" altLang="en-US" sz="2000" dirty="0" smtClean="0">
                <a:solidFill>
                  <a:srgbClr val="A27046"/>
                </a:solidFill>
                <a:latin typeface="华康俪金黑W8(P)" panose="020B0800000000000000" pitchFamily="34" charset="-122"/>
                <a:ea typeface="华康俪金黑W8(P)" panose="020B0800000000000000" pitchFamily="34" charset="-122"/>
              </a:rPr>
              <a:t>年</a:t>
            </a:r>
            <a:r>
              <a:rPr lang="en-US" altLang="zh-CN" sz="2000" dirty="0" smtClean="0">
                <a:solidFill>
                  <a:srgbClr val="A27046"/>
                </a:solidFill>
                <a:latin typeface="华康俪金黑W8(P)" panose="020B0800000000000000" pitchFamily="34" charset="-122"/>
                <a:ea typeface="华康俪金黑W8(P)" panose="020B0800000000000000" pitchFamily="34" charset="-122"/>
              </a:rPr>
              <a:t>8</a:t>
            </a:r>
            <a:r>
              <a:rPr lang="zh-CN" altLang="en-US" sz="2000" dirty="0" smtClean="0">
                <a:solidFill>
                  <a:srgbClr val="A27046"/>
                </a:solidFill>
                <a:latin typeface="华康俪金黑W8(P)" panose="020B0800000000000000" pitchFamily="34" charset="-122"/>
                <a:ea typeface="华康俪金黑W8(P)" panose="020B0800000000000000" pitchFamily="34" charset="-122"/>
              </a:rPr>
              <a:t>月</a:t>
            </a:r>
            <a:r>
              <a:rPr lang="en-US" altLang="zh-CN" sz="2000" dirty="0" smtClean="0">
                <a:solidFill>
                  <a:srgbClr val="A27046"/>
                </a:solidFill>
                <a:latin typeface="华康俪金黑W8(P)" panose="020B0800000000000000" pitchFamily="34" charset="-122"/>
                <a:ea typeface="华康俪金黑W8(P)" panose="020B0800000000000000" pitchFamily="34" charset="-122"/>
              </a:rPr>
              <a:t>18</a:t>
            </a:r>
            <a:r>
              <a:rPr lang="zh-CN" altLang="en-US" sz="2000" dirty="0" smtClean="0">
                <a:solidFill>
                  <a:srgbClr val="A27046"/>
                </a:solidFill>
                <a:latin typeface="华康俪金黑W8(P)" panose="020B0800000000000000" pitchFamily="34" charset="-122"/>
                <a:ea typeface="华康俪金黑W8(P)" panose="020B0800000000000000" pitchFamily="34" charset="-122"/>
              </a:rPr>
              <a:t>日</a:t>
            </a:r>
            <a:r>
              <a:rPr lang="zh-CN" altLang="en-US" sz="2000" dirty="0">
                <a:solidFill>
                  <a:schemeClr val="bg1"/>
                </a:solidFill>
                <a:latin typeface="华康俪金黑W8(P)" panose="020B0800000000000000" pitchFamily="34" charset="-122"/>
                <a:ea typeface="华康俪金黑W8(P)" panose="020B0800000000000000" pitchFamily="34" charset="-122"/>
              </a:rPr>
              <a:t>，在网易云课堂</a:t>
            </a:r>
            <a:r>
              <a:rPr lang="zh-CN" altLang="en-US" sz="2000" dirty="0">
                <a:solidFill>
                  <a:srgbClr val="FFC000"/>
                </a:solidFill>
                <a:latin typeface="华康俪金黑W8(P)" panose="020B0800000000000000" pitchFamily="34" charset="-122"/>
                <a:ea typeface="华康俪金黑W8(P)" panose="020B0800000000000000" pitchFamily="34" charset="-122"/>
              </a:rPr>
              <a:t>（第一个</a:t>
            </a:r>
            <a:r>
              <a:rPr lang="en-US" altLang="zh-CN" sz="2000" dirty="0">
                <a:solidFill>
                  <a:srgbClr val="FFC000"/>
                </a:solidFill>
                <a:latin typeface="华康俪金黑W8(P)" panose="020B0800000000000000" pitchFamily="34" charset="-122"/>
                <a:ea typeface="华康俪金黑W8(P)" panose="020B0800000000000000" pitchFamily="34" charset="-122"/>
              </a:rPr>
              <a:t>B</a:t>
            </a:r>
            <a:r>
              <a:rPr lang="zh-CN" altLang="en-US" sz="2000" dirty="0">
                <a:solidFill>
                  <a:srgbClr val="FFC000"/>
                </a:solidFill>
                <a:latin typeface="华康俪金黑W8(P)" panose="020B0800000000000000" pitchFamily="34" charset="-122"/>
                <a:ea typeface="华康俪金黑W8(P)" panose="020B0800000000000000" pitchFamily="34" charset="-122"/>
              </a:rPr>
              <a:t>）</a:t>
            </a:r>
            <a:r>
              <a:rPr lang="zh-CN" altLang="en-US" sz="2000" dirty="0">
                <a:solidFill>
                  <a:schemeClr val="bg1"/>
                </a:solidFill>
                <a:latin typeface="华康俪金黑W8(P)" panose="020B0800000000000000" pitchFamily="34" charset="-122"/>
                <a:ea typeface="华康俪金黑W8(P)" panose="020B0800000000000000" pitchFamily="34" charset="-122"/>
              </a:rPr>
              <a:t>由</a:t>
            </a:r>
            <a:r>
              <a:rPr lang="en-US" altLang="zh-CN" sz="2000" dirty="0" smtClean="0">
                <a:solidFill>
                  <a:schemeClr val="bg1"/>
                </a:solidFill>
                <a:latin typeface="华康俪金黑W8(P)" panose="020B0800000000000000" pitchFamily="34" charset="-122"/>
                <a:ea typeface="华康俪金黑W8(P)" panose="020B0800000000000000" pitchFamily="34" charset="-122"/>
              </a:rPr>
              <a:t>PPT</a:t>
            </a:r>
            <a:r>
              <a:rPr lang="zh-CN" altLang="en-US" sz="2000" dirty="0">
                <a:solidFill>
                  <a:schemeClr val="bg1"/>
                </a:solidFill>
                <a:latin typeface="华康俪金黑W8(P)" panose="020B0800000000000000" pitchFamily="34" charset="-122"/>
                <a:ea typeface="华康俪金黑W8(P)" panose="020B0800000000000000" pitchFamily="34" charset="-122"/>
              </a:rPr>
              <a:t>达</a:t>
            </a:r>
            <a:r>
              <a:rPr lang="zh-CN" altLang="en-US" sz="2000" dirty="0" smtClean="0">
                <a:solidFill>
                  <a:schemeClr val="bg1"/>
                </a:solidFill>
                <a:latin typeface="华康俪金黑W8(P)" panose="020B0800000000000000" pitchFamily="34" charset="-122"/>
                <a:ea typeface="华康俪金黑W8(P)" panose="020B0800000000000000" pitchFamily="34" charset="-122"/>
              </a:rPr>
              <a:t>人转型的在线教育大神</a:t>
            </a:r>
            <a:r>
              <a:rPr lang="zh-CN" altLang="en-US" sz="2000" dirty="0" smtClean="0">
                <a:solidFill>
                  <a:srgbClr val="FFC000"/>
                </a:solidFill>
                <a:latin typeface="华康俪金黑W8(P)" panose="020B0800000000000000" pitchFamily="34" charset="-122"/>
                <a:ea typeface="华康俪金黑W8(P)" panose="020B0800000000000000" pitchFamily="34" charset="-122"/>
              </a:rPr>
              <a:t>秋叶（第二个</a:t>
            </a:r>
            <a:r>
              <a:rPr lang="en-US" altLang="zh-CN" sz="2000" dirty="0" smtClean="0">
                <a:solidFill>
                  <a:srgbClr val="FFC000"/>
                </a:solidFill>
                <a:latin typeface="华康俪金黑W8(P)" panose="020B0800000000000000" pitchFamily="34" charset="-122"/>
                <a:ea typeface="华康俪金黑W8(P)" panose="020B0800000000000000" pitchFamily="34" charset="-122"/>
              </a:rPr>
              <a:t>B</a:t>
            </a:r>
            <a:r>
              <a:rPr lang="zh-CN" altLang="en-US" sz="2000" dirty="0" smtClean="0">
                <a:solidFill>
                  <a:srgbClr val="FFC000"/>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发布了第三门</a:t>
            </a:r>
            <a:r>
              <a:rPr lang="en-US" altLang="zh-CN" sz="2000" dirty="0" smtClean="0">
                <a:solidFill>
                  <a:schemeClr val="bg1"/>
                </a:solidFill>
                <a:latin typeface="华康俪金黑W8(P)" panose="020B0800000000000000" pitchFamily="34" charset="-122"/>
                <a:ea typeface="华康俪金黑W8(P)" panose="020B0800000000000000" pitchFamily="34" charset="-122"/>
              </a:rPr>
              <a:t>office</a:t>
            </a:r>
            <a:r>
              <a:rPr lang="zh-CN" altLang="en-US" sz="2000" dirty="0" smtClean="0">
                <a:solidFill>
                  <a:schemeClr val="bg1"/>
                </a:solidFill>
                <a:latin typeface="华康俪金黑W8(P)" panose="020B0800000000000000" pitchFamily="34" charset="-122"/>
                <a:ea typeface="华康俪金黑W8(P)" panose="020B0800000000000000" pitchFamily="34" charset="-122"/>
              </a:rPr>
              <a:t>在线教育课程</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和顾建一起学</a:t>
            </a:r>
            <a:r>
              <a:rPr lang="en-US" altLang="zh-CN" sz="2000" dirty="0" smtClean="0">
                <a:solidFill>
                  <a:schemeClr val="bg1"/>
                </a:solidFill>
                <a:latin typeface="华康俪金黑W8(P)" panose="020B0800000000000000" pitchFamily="34" charset="-122"/>
                <a:ea typeface="华康俪金黑W8(P)" panose="020B0800000000000000" pitchFamily="34" charset="-122"/>
              </a:rPr>
              <a:t>Word》</a:t>
            </a:r>
            <a:r>
              <a:rPr lang="zh-CN" altLang="en-US" sz="2000" dirty="0" smtClean="0">
                <a:solidFill>
                  <a:schemeClr val="bg1"/>
                </a:solidFill>
                <a:latin typeface="华康俪金黑W8(P)" panose="020B0800000000000000" pitchFamily="34" charset="-122"/>
                <a:ea typeface="华康俪金黑W8(P)" panose="020B0800000000000000" pitchFamily="34" charset="-122"/>
              </a:rPr>
              <a:t>，上线</a:t>
            </a:r>
            <a:r>
              <a:rPr lang="en-US" altLang="zh-CN" sz="2000" dirty="0" smtClean="0">
                <a:solidFill>
                  <a:schemeClr val="bg1"/>
                </a:solidFill>
                <a:latin typeface="华康俪金黑W8(P)" panose="020B0800000000000000" pitchFamily="34" charset="-122"/>
                <a:ea typeface="华康俪金黑W8(P)" panose="020B0800000000000000" pitchFamily="34" charset="-122"/>
              </a:rPr>
              <a:t>8</a:t>
            </a:r>
            <a:r>
              <a:rPr lang="zh-CN" altLang="en-US" sz="2000" dirty="0" smtClean="0">
                <a:solidFill>
                  <a:schemeClr val="bg1"/>
                </a:solidFill>
                <a:latin typeface="华康俪金黑W8(P)" panose="020B0800000000000000" pitchFamily="34" charset="-122"/>
                <a:ea typeface="华康俪金黑W8(P)" panose="020B0800000000000000" pitchFamily="34" charset="-122"/>
              </a:rPr>
              <a:t>天，突破</a:t>
            </a:r>
            <a:r>
              <a:rPr lang="en-US" altLang="zh-CN" sz="2000" dirty="0" smtClean="0">
                <a:solidFill>
                  <a:schemeClr val="bg1"/>
                </a:solidFill>
                <a:latin typeface="华康俪金黑W8(P)" panose="020B0800000000000000" pitchFamily="34" charset="-122"/>
                <a:ea typeface="华康俪金黑W8(P)" panose="020B0800000000000000" pitchFamily="34" charset="-122"/>
              </a:rPr>
              <a:t>400</a:t>
            </a:r>
            <a:r>
              <a:rPr lang="zh-CN" altLang="en-US" sz="2000" dirty="0" smtClean="0">
                <a:solidFill>
                  <a:schemeClr val="bg1"/>
                </a:solidFill>
                <a:latin typeface="华康俪金黑W8(P)" panose="020B0800000000000000" pitchFamily="34" charset="-122"/>
                <a:ea typeface="华康俪金黑W8(P)" panose="020B0800000000000000" pitchFamily="34" charset="-122"/>
              </a:rPr>
              <a:t>名学员</a:t>
            </a:r>
            <a:r>
              <a:rPr lang="zh-CN" altLang="en-US" sz="2000" dirty="0" smtClean="0">
                <a:solidFill>
                  <a:srgbClr val="FFC000"/>
                </a:solidFill>
                <a:latin typeface="华康俪金黑W8(P)" panose="020B0800000000000000" pitchFamily="34" charset="-122"/>
                <a:ea typeface="华康俪金黑W8(P)" panose="020B0800000000000000" pitchFamily="34" charset="-122"/>
              </a:rPr>
              <a:t>（</a:t>
            </a:r>
            <a:r>
              <a:rPr lang="en-US" altLang="zh-CN" sz="2000" dirty="0" smtClean="0">
                <a:solidFill>
                  <a:srgbClr val="FFC000"/>
                </a:solidFill>
                <a:latin typeface="华康俪金黑W8(P)" panose="020B0800000000000000" pitchFamily="34" charset="-122"/>
                <a:ea typeface="华康俪金黑W8(P)" panose="020B0800000000000000" pitchFamily="34" charset="-122"/>
              </a:rPr>
              <a:t>C</a:t>
            </a:r>
            <a:r>
              <a:rPr lang="zh-CN" altLang="en-US" sz="2000" dirty="0" smtClean="0">
                <a:solidFill>
                  <a:srgbClr val="FFC000"/>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。之前课程现已突破</a:t>
            </a:r>
            <a:r>
              <a:rPr lang="en-US" altLang="zh-CN" sz="2000" dirty="0" smtClean="0">
                <a:solidFill>
                  <a:schemeClr val="bg1"/>
                </a:solidFill>
                <a:latin typeface="华康俪金黑W8(P)" panose="020B0800000000000000" pitchFamily="34" charset="-122"/>
                <a:ea typeface="华康俪金黑W8(P)" panose="020B0800000000000000" pitchFamily="34" charset="-122"/>
              </a:rPr>
              <a:t>6000</a:t>
            </a:r>
            <a:r>
              <a:rPr lang="zh-CN" altLang="en-US" sz="2000" dirty="0" smtClean="0">
                <a:solidFill>
                  <a:schemeClr val="bg1"/>
                </a:solidFill>
                <a:latin typeface="华康俪金黑W8(P)" panose="020B0800000000000000" pitchFamily="34" charset="-122"/>
                <a:ea typeface="华康俪金黑W8(P)" panose="020B0800000000000000" pitchFamily="34" charset="-122"/>
              </a:rPr>
              <a:t>名学员。</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7" name="组合 26"/>
          <p:cNvGrpSpPr/>
          <p:nvPr/>
        </p:nvGrpSpPr>
        <p:grpSpPr>
          <a:xfrm>
            <a:off x="202790" y="3904123"/>
            <a:ext cx="4012091" cy="2854673"/>
            <a:chOff x="215015" y="272030"/>
            <a:chExt cx="3969670" cy="2824490"/>
          </a:xfrm>
        </p:grpSpPr>
        <p:sp>
          <p:nvSpPr>
            <p:cNvPr id="28" name="直角三角形 27"/>
            <p:cNvSpPr/>
            <p:nvPr/>
          </p:nvSpPr>
          <p:spPr>
            <a:xfrm rot="10800000" flipV="1">
              <a:off x="339066" y="27203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rot="10800000">
              <a:off x="339065" y="2924797"/>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015" y="443753"/>
              <a:ext cx="3969670" cy="2481044"/>
            </a:xfrm>
            <a:prstGeom prst="roundRect">
              <a:avLst>
                <a:gd name="adj" fmla="val 9855"/>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5818187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4D493E"/>
                </a:solidFill>
                <a:latin typeface="华康俪金黑W8(P)" panose="020B0800000000000000" pitchFamily="34" charset="-122"/>
                <a:ea typeface="华康俪金黑W8(P)" panose="020B0800000000000000" pitchFamily="34" charset="-122"/>
              </a:rPr>
              <a:t>”</a:t>
            </a:r>
            <a:endParaRPr lang="zh-CN" altLang="en-US" sz="6000" dirty="0">
              <a:solidFill>
                <a:srgbClr val="4D493E"/>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互联网建立在由</a:t>
            </a:r>
            <a:r>
              <a:rPr lang="en-US" altLang="zh-CN" sz="2300" dirty="0" smtClean="0">
                <a:solidFill>
                  <a:schemeClr val="bg1"/>
                </a:solidFill>
                <a:latin typeface="造字工房悦黑体验版常规体" pitchFamily="50" charset="-122"/>
                <a:ea typeface="造字工房悦黑体验版常规体" pitchFamily="50" charset="-122"/>
              </a:rPr>
              <a:t>0</a:t>
            </a:r>
            <a:r>
              <a:rPr lang="zh-CN" altLang="en-US" sz="2300" dirty="0" smtClean="0">
                <a:solidFill>
                  <a:schemeClr val="bg1"/>
                </a:solidFill>
                <a:latin typeface="造字工房悦黑体验版常规体" pitchFamily="50" charset="-122"/>
                <a:ea typeface="造字工房悦黑体验版常规体" pitchFamily="50" charset="-122"/>
              </a:rPr>
              <a:t>和</a:t>
            </a:r>
            <a:r>
              <a:rPr lang="en-US" altLang="zh-CN" sz="2300" dirty="0" smtClean="0">
                <a:solidFill>
                  <a:schemeClr val="bg1"/>
                </a:solidFill>
                <a:latin typeface="造字工房悦黑体验版常规体" pitchFamily="50" charset="-122"/>
                <a:ea typeface="造字工房悦黑体验版常规体" pitchFamily="50" charset="-122"/>
              </a:rPr>
              <a:t>1</a:t>
            </a:r>
            <a:r>
              <a:rPr lang="zh-CN" altLang="en-US" sz="2300" dirty="0" smtClean="0">
                <a:solidFill>
                  <a:schemeClr val="bg1"/>
                </a:solidFill>
                <a:latin typeface="造字工房悦黑体验版常规体" pitchFamily="50" charset="-122"/>
                <a:ea typeface="造字工房悦黑体验版常规体" pitchFamily="50" charset="-122"/>
              </a:rPr>
              <a:t>组成的虚拟世界里，任何人在任何地方都可以几乎零成本地成为它的消费者和生产者，也可以多种方式产生互动，不断扩大生产的效率和效果。互联网这种组织形式能够在同一时间动员数千万人甚至数亿人围绕这一个目标做大规模的协作。它第一次让共产主义所有权这种生产关系有了天然要发生的必要条件。</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876869" y="2450728"/>
            <a:ext cx="2510719"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1.4 </a:t>
            </a:r>
            <a:r>
              <a:rPr lang="zh-CN" altLang="en-US" sz="3200" b="1" dirty="0">
                <a:solidFill>
                  <a:srgbClr val="BFB5A3"/>
                </a:solidFill>
                <a:latin typeface="方正清刻本悦宋简体" panose="02000000000000000000" pitchFamily="2" charset="-122"/>
                <a:ea typeface="方正清刻本悦宋简体" panose="02000000000000000000" pitchFamily="2" charset="-122"/>
              </a:rPr>
              <a:t>共产主义</a:t>
            </a:r>
            <a:r>
              <a:rPr lang="en-US" altLang="zh-CN" sz="3200" b="1" dirty="0" smtClean="0">
                <a:solidFill>
                  <a:srgbClr val="BFB5A3"/>
                </a:solidFill>
                <a:latin typeface="方正清刻本悦宋简体" panose="02000000000000000000" pitchFamily="2" charset="-122"/>
                <a:ea typeface="方正清刻本悦宋简体" panose="02000000000000000000" pitchFamily="2" charset="-122"/>
              </a:rPr>
              <a:t>  </a:t>
            </a: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FB5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FB5A3"/>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4D493E"/>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4D49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61665"/>
            </a:xfrm>
            <a:prstGeom prst="rect">
              <a:avLst/>
            </a:prstGeom>
            <a:noFill/>
          </p:spPr>
          <p:txBody>
            <a:bodyPr wrap="square" rtlCol="0">
              <a:spAutoFit/>
            </a:bodyPr>
            <a:lstStyle/>
            <a:p>
              <a:r>
                <a:rPr lang="zh-CN" altLang="en-US" sz="2400" dirty="0" smtClean="0">
                  <a:solidFill>
                    <a:srgbClr val="4D493E"/>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链</a:t>
              </a:r>
              <a:r>
                <a:rPr lang="zh-CN" altLang="en-US" sz="2400" dirty="0" smtClean="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rPr>
                <a:t>接</a:t>
              </a:r>
              <a:endParaRPr lang="zh-CN" altLang="en-US" sz="2400" dirty="0">
                <a:solidFill>
                  <a:srgbClr val="BFB5A3"/>
                </a:solidFill>
                <a:effectLst>
                  <a:outerShdw blurRad="38100" dist="38100" dir="2700000" algn="tl">
                    <a:srgbClr val="000000">
                      <a:alpha val="43137"/>
                    </a:srgbClr>
                  </a:outerShdw>
                </a:effectLst>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253407" cy="1323439"/>
          </a:xfrm>
          <a:prstGeom prst="rect">
            <a:avLst/>
          </a:prstGeom>
          <a:noFill/>
        </p:spPr>
        <p:txBody>
          <a:bodyPr wrap="square" rtlCol="0">
            <a:spAutoFit/>
          </a:bodyPr>
          <a:lstStyle/>
          <a:p>
            <a:r>
              <a:rPr lang="en-US" altLang="zh-CN" sz="2000" dirty="0" smtClean="0">
                <a:solidFill>
                  <a:srgbClr val="A27046"/>
                </a:solidFill>
                <a:latin typeface="华康俪金黑W8(P)" panose="020B0800000000000000" pitchFamily="34" charset="-122"/>
                <a:ea typeface="华康俪金黑W8(P)" panose="020B0800000000000000" pitchFamily="34" charset="-122"/>
              </a:rPr>
              <a:t>2014</a:t>
            </a:r>
            <a:r>
              <a:rPr lang="zh-CN" altLang="en-US" sz="2000" dirty="0" smtClean="0">
                <a:solidFill>
                  <a:srgbClr val="A27046"/>
                </a:solidFill>
                <a:latin typeface="华康俪金黑W8(P)" panose="020B0800000000000000" pitchFamily="34" charset="-122"/>
                <a:ea typeface="华康俪金黑W8(P)" panose="020B0800000000000000" pitchFamily="34" charset="-122"/>
              </a:rPr>
              <a:t>年</a:t>
            </a:r>
            <a:r>
              <a:rPr lang="en-US" altLang="zh-CN" sz="2000" dirty="0" smtClean="0">
                <a:solidFill>
                  <a:srgbClr val="A27046"/>
                </a:solidFill>
                <a:latin typeface="华康俪金黑W8(P)" panose="020B0800000000000000" pitchFamily="34" charset="-122"/>
                <a:ea typeface="华康俪金黑W8(P)" panose="020B0800000000000000" pitchFamily="34" charset="-122"/>
              </a:rPr>
              <a:t>8</a:t>
            </a:r>
            <a:r>
              <a:rPr lang="zh-CN" altLang="en-US" sz="2000" dirty="0" smtClean="0">
                <a:solidFill>
                  <a:srgbClr val="A27046"/>
                </a:solidFill>
                <a:latin typeface="华康俪金黑W8(P)" panose="020B0800000000000000" pitchFamily="34" charset="-122"/>
                <a:ea typeface="华康俪金黑W8(P)" panose="020B0800000000000000" pitchFamily="34" charset="-122"/>
              </a:rPr>
              <a:t>月</a:t>
            </a:r>
            <a:r>
              <a:rPr lang="en-US" altLang="zh-CN" sz="2000" dirty="0" smtClean="0">
                <a:solidFill>
                  <a:srgbClr val="A27046"/>
                </a:solidFill>
                <a:latin typeface="华康俪金黑W8(P)" panose="020B0800000000000000" pitchFamily="34" charset="-122"/>
                <a:ea typeface="华康俪金黑W8(P)" panose="020B0800000000000000" pitchFamily="34" charset="-122"/>
              </a:rPr>
              <a:t>18</a:t>
            </a:r>
            <a:r>
              <a:rPr lang="zh-CN" altLang="en-US" sz="2000" dirty="0" smtClean="0">
                <a:solidFill>
                  <a:srgbClr val="A27046"/>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a:t>
            </a:r>
            <a:r>
              <a:rPr lang="en-US" altLang="zh-CN" sz="2000" dirty="0" smtClean="0">
                <a:solidFill>
                  <a:schemeClr val="bg1"/>
                </a:solidFill>
                <a:latin typeface="华康俪金黑W8(P)" panose="020B0800000000000000" pitchFamily="34" charset="-122"/>
                <a:ea typeface="华康俪金黑W8(P)" panose="020B0800000000000000" pitchFamily="34" charset="-122"/>
              </a:rPr>
              <a:t> </a:t>
            </a:r>
            <a:r>
              <a:rPr lang="zh-CN" altLang="en-US" sz="2000" dirty="0" smtClean="0">
                <a:solidFill>
                  <a:schemeClr val="bg1"/>
                </a:solidFill>
                <a:latin typeface="华康俪金黑W8(P)" panose="020B0800000000000000" pitchFamily="34" charset="-122"/>
                <a:ea typeface="华康俪金黑W8(P)" panose="020B0800000000000000" pitchFamily="34" charset="-122"/>
              </a:rPr>
              <a:t>冰桶挑战传入中国，短短</a:t>
            </a:r>
            <a:r>
              <a:rPr lang="en-US" altLang="zh-CN" sz="2000" dirty="0" smtClean="0">
                <a:solidFill>
                  <a:schemeClr val="bg1"/>
                </a:solidFill>
                <a:latin typeface="华康俪金黑W8(P)" panose="020B0800000000000000" pitchFamily="34" charset="-122"/>
                <a:ea typeface="华康俪金黑W8(P)" panose="020B0800000000000000" pitchFamily="34" charset="-122"/>
              </a:rPr>
              <a:t>10</a:t>
            </a:r>
            <a:r>
              <a:rPr lang="zh-CN" altLang="en-US" sz="2000" dirty="0" smtClean="0">
                <a:solidFill>
                  <a:schemeClr val="bg1"/>
                </a:solidFill>
                <a:latin typeface="华康俪金黑W8(P)" panose="020B0800000000000000" pitchFamily="34" charset="-122"/>
                <a:ea typeface="华康俪金黑W8(P)" panose="020B0800000000000000" pitchFamily="34" charset="-122"/>
              </a:rPr>
              <a:t>天，获得了</a:t>
            </a:r>
            <a:r>
              <a:rPr lang="en-US" altLang="zh-CN" sz="2000" dirty="0" smtClean="0">
                <a:solidFill>
                  <a:schemeClr val="bg1"/>
                </a:solidFill>
                <a:latin typeface="华康俪金黑W8(P)" panose="020B0800000000000000" pitchFamily="34" charset="-122"/>
                <a:ea typeface="华康俪金黑W8(P)" panose="020B0800000000000000" pitchFamily="34" charset="-122"/>
              </a:rPr>
              <a:t>41.2</a:t>
            </a:r>
            <a:r>
              <a:rPr lang="zh-CN" altLang="en-US" sz="2000" dirty="0" smtClean="0">
                <a:solidFill>
                  <a:schemeClr val="bg1"/>
                </a:solidFill>
                <a:latin typeface="华康俪金黑W8(P)" panose="020B0800000000000000" pitchFamily="34" charset="-122"/>
                <a:ea typeface="华康俪金黑W8(P)" panose="020B0800000000000000" pitchFamily="34" charset="-122"/>
              </a:rPr>
              <a:t>亿阅读、</a:t>
            </a:r>
            <a:r>
              <a:rPr lang="en-US" altLang="zh-CN" sz="2000" dirty="0" smtClean="0">
                <a:solidFill>
                  <a:schemeClr val="bg1"/>
                </a:solidFill>
                <a:latin typeface="华康俪金黑W8(P)" panose="020B0800000000000000" pitchFamily="34" charset="-122"/>
                <a:ea typeface="华康俪金黑W8(P)" panose="020B0800000000000000" pitchFamily="34" charset="-122"/>
              </a:rPr>
              <a:t>381.1</a:t>
            </a:r>
            <a:r>
              <a:rPr lang="zh-CN" altLang="en-US" sz="2000" dirty="0" smtClean="0">
                <a:solidFill>
                  <a:schemeClr val="bg1"/>
                </a:solidFill>
                <a:latin typeface="华康俪金黑W8(P)" panose="020B0800000000000000" pitchFamily="34" charset="-122"/>
                <a:ea typeface="华康俪金黑W8(P)" panose="020B0800000000000000" pitchFamily="34" charset="-122"/>
              </a:rPr>
              <a:t>万讨论、</a:t>
            </a:r>
            <a:r>
              <a:rPr lang="en-US" altLang="zh-CN" sz="2000" dirty="0">
                <a:solidFill>
                  <a:schemeClr val="bg1"/>
                </a:solidFill>
                <a:latin typeface="华康俪金黑W8(P)" panose="020B0800000000000000" pitchFamily="34" charset="-122"/>
                <a:ea typeface="华康俪金黑W8(P)" panose="020B0800000000000000" pitchFamily="34" charset="-122"/>
              </a:rPr>
              <a:t>17.4</a:t>
            </a:r>
            <a:r>
              <a:rPr lang="zh-CN" altLang="en-US" sz="2000" dirty="0" smtClean="0">
                <a:solidFill>
                  <a:schemeClr val="bg1"/>
                </a:solidFill>
                <a:latin typeface="华康俪金黑W8(P)" panose="020B0800000000000000" pitchFamily="34" charset="-122"/>
                <a:ea typeface="华康俪金黑W8(P)" panose="020B0800000000000000" pitchFamily="34" charset="-122"/>
              </a:rPr>
              <a:t>万粉丝（数据来自微博微话题）。冰桶挑战以</a:t>
            </a:r>
            <a:r>
              <a:rPr lang="zh-CN" altLang="en-US" sz="2000" dirty="0" smtClean="0">
                <a:solidFill>
                  <a:srgbClr val="FFC000"/>
                </a:solidFill>
                <a:latin typeface="华康俪金黑W8(P)" panose="020B0800000000000000" pitchFamily="34" charset="-122"/>
                <a:ea typeface="华康俪金黑W8(P)" panose="020B0800000000000000" pitchFamily="34" charset="-122"/>
              </a:rPr>
              <a:t>病毒营销和简单点名</a:t>
            </a:r>
            <a:r>
              <a:rPr lang="zh-CN" altLang="en-US" sz="2000" dirty="0" smtClean="0">
                <a:solidFill>
                  <a:schemeClr val="bg1"/>
                </a:solidFill>
                <a:latin typeface="华康俪金黑W8(P)" panose="020B0800000000000000" pitchFamily="34" charset="-122"/>
                <a:ea typeface="华康俪金黑W8(P)" panose="020B0800000000000000" pitchFamily="34" charset="-122"/>
              </a:rPr>
              <a:t>的方式急速蹿红网络，为罕见病患者争取到了足够关注。</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7" name="组合 26"/>
          <p:cNvGrpSpPr/>
          <p:nvPr/>
        </p:nvGrpSpPr>
        <p:grpSpPr>
          <a:xfrm>
            <a:off x="83574" y="3585470"/>
            <a:ext cx="3760014" cy="3206248"/>
            <a:chOff x="161937" y="272030"/>
            <a:chExt cx="3312321" cy="2824490"/>
          </a:xfrm>
        </p:grpSpPr>
        <p:sp>
          <p:nvSpPr>
            <p:cNvPr id="28" name="直角三角形 27"/>
            <p:cNvSpPr/>
            <p:nvPr/>
          </p:nvSpPr>
          <p:spPr>
            <a:xfrm rot="10800000" flipV="1">
              <a:off x="339066" y="27203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直角三角形 28"/>
            <p:cNvSpPr/>
            <p:nvPr/>
          </p:nvSpPr>
          <p:spPr>
            <a:xfrm rot="10800000">
              <a:off x="339065" y="2924797"/>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0" name="图片 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37" y="443753"/>
              <a:ext cx="3312321" cy="2481044"/>
            </a:xfrm>
            <a:prstGeom prst="roundRect">
              <a:avLst>
                <a:gd name="adj" fmla="val 9855"/>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5843775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907294" y="393895"/>
            <a:ext cx="3171182" cy="2031188"/>
            <a:chOff x="358658" y="2011680"/>
            <a:chExt cx="3171182" cy="2031188"/>
          </a:xfrm>
        </p:grpSpPr>
        <p:sp>
          <p:nvSpPr>
            <p:cNvPr id="5" name="弧形 4"/>
            <p:cNvSpPr/>
            <p:nvPr/>
          </p:nvSpPr>
          <p:spPr>
            <a:xfrm>
              <a:off x="358658" y="2011680"/>
              <a:ext cx="2031188" cy="2031188"/>
            </a:xfrm>
            <a:prstGeom prst="arc">
              <a:avLst>
                <a:gd name="adj1" fmla="val 3742106"/>
                <a:gd name="adj2" fmla="val 0"/>
              </a:avLst>
            </a:prstGeom>
            <a:ln w="19050">
              <a:solidFill>
                <a:srgbClr val="A2704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6" name="文本框 5"/>
            <p:cNvSpPr txBox="1"/>
            <p:nvPr/>
          </p:nvSpPr>
          <p:spPr>
            <a:xfrm>
              <a:off x="460431" y="2696072"/>
              <a:ext cx="2071754" cy="769441"/>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4400" b="1" dirty="0" smtClean="0">
                  <a:solidFill>
                    <a:srgbClr val="A27046"/>
                  </a:solidFill>
                  <a:latin typeface="方正清刻本悦宋简体" panose="02000000000000000000" pitchFamily="2" charset="-122"/>
                  <a:ea typeface="方正清刻本悦宋简体" panose="02000000000000000000" pitchFamily="2" charset="-122"/>
                </a:rPr>
                <a:t>第二章</a:t>
              </a:r>
              <a:endParaRPr lang="en-US" altLang="zh-CN" sz="4400" b="1" dirty="0" smtClean="0">
                <a:solidFill>
                  <a:srgbClr val="A27046"/>
                </a:solidFill>
                <a:latin typeface="方正清刻本悦宋简体" panose="02000000000000000000" pitchFamily="2" charset="-122"/>
                <a:ea typeface="方正清刻本悦宋简体" panose="02000000000000000000" pitchFamily="2" charset="-122"/>
              </a:endParaRPr>
            </a:p>
          </p:txBody>
        </p:sp>
        <p:sp>
          <p:nvSpPr>
            <p:cNvPr id="4" name="文本框 3"/>
            <p:cNvSpPr txBox="1"/>
            <p:nvPr/>
          </p:nvSpPr>
          <p:spPr>
            <a:xfrm>
              <a:off x="1534530" y="3316832"/>
              <a:ext cx="1995310" cy="523220"/>
            </a:xfrm>
            <a:prstGeom prst="rect">
              <a:avLst/>
            </a:prstGeom>
            <a:noFill/>
          </p:spPr>
          <p:txBody>
            <a:bodyPr wrap="square" rtlCol="0">
              <a:spAutoFit/>
            </a:bodyPr>
            <a:lstStyle/>
            <a:p>
              <a:r>
                <a:rPr lang="en-US" altLang="zh-CN" sz="2800" i="1" dirty="0" smtClean="0">
                  <a:solidFill>
                    <a:srgbClr val="A27046"/>
                  </a:solidFill>
                  <a:latin typeface="Anna Nicole NF" panose="03030602040703020202" pitchFamily="66" charset="0"/>
                </a:rPr>
                <a:t>Second One</a:t>
              </a:r>
              <a:endParaRPr lang="zh-CN" altLang="en-US" sz="2800" i="1" dirty="0">
                <a:solidFill>
                  <a:srgbClr val="A27046"/>
                </a:solidFill>
                <a:latin typeface="Anna Nicole NF" panose="03030602040703020202" pitchFamily="66" charset="0"/>
              </a:endParaRPr>
            </a:p>
          </p:txBody>
        </p:sp>
      </p:grpSp>
      <p:sp>
        <p:nvSpPr>
          <p:cNvPr id="19" name="圆角矩形 18"/>
          <p:cNvSpPr/>
          <p:nvPr/>
        </p:nvSpPr>
        <p:spPr>
          <a:xfrm>
            <a:off x="3939243" y="393895"/>
            <a:ext cx="9045237" cy="6006905"/>
          </a:xfrm>
          <a:prstGeom prst="roundRect">
            <a:avLst>
              <a:gd name="adj" fmla="val 7534"/>
            </a:avLst>
          </a:prstGeom>
          <a:solidFill>
            <a:srgbClr val="A270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三角形 20"/>
          <p:cNvSpPr/>
          <p:nvPr/>
        </p:nvSpPr>
        <p:spPr>
          <a:xfrm rot="10800000" flipV="1">
            <a:off x="337623" y="2425083"/>
            <a:ext cx="400857" cy="171723"/>
          </a:xfrm>
          <a:prstGeom prst="rtTriangle">
            <a:avLst/>
          </a:prstGeom>
          <a:solidFill>
            <a:srgbClr val="7C4F29"/>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37624" y="2596806"/>
            <a:ext cx="4014243" cy="679268"/>
            <a:chOff x="337624" y="2596806"/>
            <a:chExt cx="4014243" cy="679268"/>
          </a:xfrm>
        </p:grpSpPr>
        <p:sp>
          <p:nvSpPr>
            <p:cNvPr id="18" name="矩形 17"/>
            <p:cNvSpPr/>
            <p:nvPr/>
          </p:nvSpPr>
          <p:spPr>
            <a:xfrm>
              <a:off x="337624" y="2596806"/>
              <a:ext cx="4014243" cy="679268"/>
            </a:xfrm>
            <a:prstGeom prst="rect">
              <a:avLst/>
            </a:prstGeom>
            <a:solidFill>
              <a:srgbClr val="7C4F29"/>
            </a:solid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33046" y="2644052"/>
              <a:ext cx="3473567"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3200" dirty="0" smtClean="0">
                  <a:solidFill>
                    <a:schemeClr val="bg1"/>
                  </a:solidFill>
                  <a:latin typeface="华康俪金黑W8(P)" panose="020B0800000000000000" pitchFamily="34" charset="-122"/>
                  <a:ea typeface="华康俪金黑W8(P)" panose="020B0800000000000000" pitchFamily="34" charset="-122"/>
                </a:rPr>
                <a:t>互联网革命与趋势</a:t>
              </a:r>
              <a:endParaRPr lang="en-US" altLang="zh-CN" sz="3200" dirty="0">
                <a:solidFill>
                  <a:schemeClr val="bg1"/>
                </a:solidFill>
                <a:latin typeface="华康俪金黑W8(P)" panose="020B0800000000000000" pitchFamily="34" charset="-122"/>
                <a:ea typeface="华康俪金黑W8(P)" panose="020B0800000000000000" pitchFamily="34" charset="-122"/>
              </a:endParaRPr>
            </a:p>
          </p:txBody>
        </p:sp>
      </p:grpSp>
      <p:sp>
        <p:nvSpPr>
          <p:cNvPr id="23" name="直角三角形 22"/>
          <p:cNvSpPr/>
          <p:nvPr/>
        </p:nvSpPr>
        <p:spPr>
          <a:xfrm rot="10800000" flipH="1" flipV="1">
            <a:off x="3937800" y="2425082"/>
            <a:ext cx="400857" cy="171723"/>
          </a:xfrm>
          <a:prstGeom prst="rtTriangle">
            <a:avLst/>
          </a:prstGeom>
          <a:solidFill>
            <a:srgbClr val="7C4F29"/>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796800" y="597456"/>
            <a:ext cx="7153554" cy="5516895"/>
          </a:xfrm>
          <a:prstGeom prst="rect">
            <a:avLst/>
          </a:prstGeom>
          <a:noFill/>
        </p:spPr>
        <p:txBody>
          <a:bodyPr wrap="square" rtlCol="0">
            <a:spAutoFit/>
          </a:bodyPr>
          <a:lstStyle/>
          <a:p>
            <a:pPr>
              <a:lnSpc>
                <a:spcPct val="150000"/>
              </a:lnSpc>
            </a:pPr>
            <a:r>
              <a:rPr lang="zh-CN" altLang="en-US" sz="2800" dirty="0" smtClean="0">
                <a:solidFill>
                  <a:srgbClr val="FFC000"/>
                </a:solidFill>
                <a:latin typeface="造字工房悦黑体验版常规体" pitchFamily="50" charset="-122"/>
                <a:ea typeface="造字工房悦黑体验版常规体" pitchFamily="50" charset="-122"/>
              </a:rPr>
              <a:t>互联网革命与趋势：模式变革与移动融合</a:t>
            </a:r>
            <a:endParaRPr lang="en-US" altLang="zh-CN" sz="2800" dirty="0" smtClean="0">
              <a:solidFill>
                <a:srgbClr val="FFC000"/>
              </a:solidFill>
              <a:latin typeface="造字工房悦黑体验版常规体" pitchFamily="50" charset="-122"/>
              <a:ea typeface="造字工房悦黑体验版常规体" pitchFamily="50" charset="-122"/>
            </a:endParaRPr>
          </a:p>
          <a:p>
            <a:pPr>
              <a:lnSpc>
                <a:spcPct val="150000"/>
              </a:lnSpc>
            </a:pP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社会化媒体的兴起，瓦解了传统门户网站的新闻入口的地位。编辑的推荐让位于名人和专业人士在微博、</a:t>
            </a:r>
            <a:r>
              <a:rPr lang="en-US" altLang="zh-CN" sz="2300" dirty="0" smtClean="0">
                <a:solidFill>
                  <a:schemeClr val="bg1"/>
                </a:solidFill>
                <a:latin typeface="造字工房悦黑体验版常规体" pitchFamily="50" charset="-122"/>
                <a:ea typeface="造字工房悦黑体验版常规体" pitchFamily="50" charset="-122"/>
              </a:rPr>
              <a:t>SNS</a:t>
            </a:r>
            <a:r>
              <a:rPr lang="zh-CN" altLang="en-US" sz="2300" dirty="0" smtClean="0">
                <a:solidFill>
                  <a:schemeClr val="bg1"/>
                </a:solidFill>
                <a:latin typeface="造字工房悦黑体验版常规体" pitchFamily="50" charset="-122"/>
                <a:ea typeface="造字工房悦黑体验版常规体" pitchFamily="50" charset="-122"/>
              </a:rPr>
              <a:t>、微信朋友圈和群里的推荐。强悍而灵活的新兴媒体借助这一趋势正在崛起。尤其在读者素质较高的垂直领域，信赖于专业新兴媒体是大势所趋。</a:t>
            </a: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移动互联网其实不是互联网。</a:t>
            </a:r>
            <a:r>
              <a:rPr lang="en-US" altLang="zh-CN" sz="2300" dirty="0" smtClean="0">
                <a:solidFill>
                  <a:schemeClr val="bg1"/>
                </a:solidFill>
                <a:latin typeface="造字工房悦黑体验版常规体" pitchFamily="50" charset="-122"/>
                <a:ea typeface="造字工房悦黑体验版常规体" pitchFamily="50" charset="-122"/>
              </a:rPr>
              <a:t>PC</a:t>
            </a:r>
            <a:r>
              <a:rPr lang="zh-CN" altLang="en-US" sz="2300" dirty="0" smtClean="0">
                <a:solidFill>
                  <a:schemeClr val="bg1"/>
                </a:solidFill>
                <a:latin typeface="造字工房悦黑体验版常规体" pitchFamily="50" charset="-122"/>
                <a:ea typeface="造字工房悦黑体验版常规体" pitchFamily="50" charset="-122"/>
              </a:rPr>
              <a:t>巨头向移动互联网领域进军时</a:t>
            </a:r>
            <a:r>
              <a:rPr lang="en-US" altLang="zh-CN" sz="2300" dirty="0" smtClean="0">
                <a:solidFill>
                  <a:schemeClr val="bg1"/>
                </a:solidFill>
                <a:latin typeface="造字工房悦黑体验版常规体" pitchFamily="50" charset="-122"/>
                <a:ea typeface="造字工房悦黑体验版常规体" pitchFamily="50" charset="-122"/>
              </a:rPr>
              <a:t>PC</a:t>
            </a:r>
            <a:r>
              <a:rPr lang="zh-CN" altLang="en-US" sz="2300" dirty="0" smtClean="0">
                <a:solidFill>
                  <a:schemeClr val="bg1"/>
                </a:solidFill>
                <a:latin typeface="造字工房悦黑体验版常规体" pitchFamily="50" charset="-122"/>
                <a:ea typeface="造字工房悦黑体验版常规体" pitchFamily="50" charset="-122"/>
              </a:rPr>
              <a:t>的思路还是太重。移动互联网是互联网和电信融合出来的</a:t>
            </a:r>
            <a:r>
              <a:rPr lang="en-US" altLang="zh-CN" sz="2300" dirty="0" smtClean="0">
                <a:solidFill>
                  <a:schemeClr val="bg1"/>
                </a:solidFill>
                <a:latin typeface="造字工房悦黑体验版常规体" pitchFamily="50" charset="-122"/>
                <a:ea typeface="造字工房悦黑体验版常规体" pitchFamily="50" charset="-122"/>
              </a:rPr>
              <a:t>……</a:t>
            </a:r>
          </a:p>
        </p:txBody>
      </p:sp>
      <p:cxnSp>
        <p:nvCxnSpPr>
          <p:cNvPr id="25" name="直接连接符 24"/>
          <p:cNvCxnSpPr/>
          <p:nvPr/>
        </p:nvCxnSpPr>
        <p:spPr>
          <a:xfrm flipH="1">
            <a:off x="4618508" y="1490293"/>
            <a:ext cx="7170218" cy="0"/>
          </a:xfrm>
          <a:prstGeom prst="line">
            <a:avLst/>
          </a:prstGeom>
          <a:ln w="19050">
            <a:solidFill>
              <a:srgbClr val="FFC000"/>
            </a:solidFill>
            <a:prstDash val="dash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1263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24770" y="3917427"/>
            <a:ext cx="3962806" cy="2542334"/>
            <a:chOff x="62425" y="272030"/>
            <a:chExt cx="4402610" cy="2824490"/>
          </a:xfrm>
        </p:grpSpPr>
        <p:sp>
          <p:nvSpPr>
            <p:cNvPr id="4" name="直角三角形 3"/>
            <p:cNvSpPr/>
            <p:nvPr/>
          </p:nvSpPr>
          <p:spPr>
            <a:xfrm rot="10800000" flipV="1">
              <a:off x="339066" y="27203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39065" y="2924797"/>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25" y="448598"/>
              <a:ext cx="4402610" cy="2471353"/>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物联网把物理世界数字化了，这就是常说的“三位一体”。移动互联网和物联网这些设备提供交互和连接的能力，最主要的是产生数据，而云则存储并处理这些数据，大数据提供的是处理方法。现在还有个说法，叫“云物移大智”</a:t>
            </a:r>
            <a:r>
              <a:rPr lang="en-US" altLang="zh-CN" sz="2300" dirty="0" smtClean="0">
                <a:solidFill>
                  <a:schemeClr val="bg1"/>
                </a:solidFill>
                <a:latin typeface="造字工房悦黑体验版常规体" pitchFamily="50" charset="-122"/>
                <a:ea typeface="造字工房悦黑体验版常规体" pitchFamily="50" charset="-122"/>
              </a:rPr>
              <a:t>——</a:t>
            </a:r>
            <a:r>
              <a:rPr lang="zh-CN" altLang="en-US" sz="2300" dirty="0" smtClean="0">
                <a:solidFill>
                  <a:schemeClr val="bg1"/>
                </a:solidFill>
                <a:latin typeface="造字工房悦黑体验版常规体" pitchFamily="50" charset="-122"/>
                <a:ea typeface="造字工房悦黑体验版常规体" pitchFamily="50" charset="-122"/>
              </a:rPr>
              <a:t>云计算、物联网、移动、大数据和智慧城市。而互联网拥有的历史坐标是：颠覆的力量、整合的工具。</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rPr>
              <a:t>2.1 </a:t>
            </a:r>
            <a:r>
              <a:rPr lang="zh-CN" altLang="en-US" sz="3200" b="1" dirty="0" smtClean="0">
                <a:solidFill>
                  <a:srgbClr val="C48C5D"/>
                </a:solidFill>
                <a:latin typeface="方正清刻本悦宋简体" panose="02000000000000000000" pitchFamily="2" charset="-122"/>
                <a:ea typeface="方正清刻本悦宋简体" panose="02000000000000000000" pitchFamily="2" charset="-122"/>
              </a:rPr>
              <a:t>三位一体</a:t>
            </a:r>
            <a:endPar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7C4F29"/>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C48C5D"/>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C48C5D"/>
                  </a:solidFill>
                  <a:latin typeface="华康俪金黑W8(P)" panose="020B0800000000000000" pitchFamily="34" charset="-122"/>
                  <a:ea typeface="华康俪金黑W8(P)" panose="020B0800000000000000" pitchFamily="34" charset="-122"/>
                </a:rPr>
                <a:t>链</a:t>
              </a:r>
              <a:r>
                <a:rPr lang="zh-CN" altLang="en-US" sz="2400" dirty="0" smtClean="0">
                  <a:solidFill>
                    <a:srgbClr val="7C4F29"/>
                  </a:solidFill>
                  <a:latin typeface="华康俪金黑W8(P)" panose="020B0800000000000000" pitchFamily="34" charset="-122"/>
                  <a:ea typeface="华康俪金黑W8(P)" panose="020B0800000000000000" pitchFamily="34" charset="-122"/>
                </a:rPr>
                <a:t>接</a:t>
              </a:r>
              <a:endParaRPr lang="zh-CN" altLang="en-US" sz="2400" dirty="0">
                <a:solidFill>
                  <a:srgbClr val="7C4F29"/>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FFFF00"/>
                </a:solidFill>
                <a:latin typeface="华康俪金黑W8(P)" panose="020B0800000000000000" pitchFamily="34" charset="-122"/>
                <a:ea typeface="华康俪金黑W8(P)" panose="020B0800000000000000" pitchFamily="34" charset="-122"/>
              </a:rPr>
              <a:t>2014</a:t>
            </a:r>
            <a:r>
              <a:rPr lang="zh-CN" altLang="en-US" sz="2000" dirty="0" smtClean="0">
                <a:solidFill>
                  <a:srgbClr val="FFFF00"/>
                </a:solidFill>
                <a:latin typeface="华康俪金黑W8(P)" panose="020B0800000000000000" pitchFamily="34" charset="-122"/>
                <a:ea typeface="华康俪金黑W8(P)" panose="020B0800000000000000" pitchFamily="34" charset="-122"/>
              </a:rPr>
              <a:t>年</a:t>
            </a:r>
            <a:r>
              <a:rPr lang="en-US" altLang="zh-CN" sz="2000" dirty="0" smtClean="0">
                <a:solidFill>
                  <a:srgbClr val="FFFF00"/>
                </a:solidFill>
                <a:latin typeface="华康俪金黑W8(P)" panose="020B0800000000000000" pitchFamily="34" charset="-122"/>
                <a:ea typeface="华康俪金黑W8(P)" panose="020B0800000000000000" pitchFamily="34" charset="-122"/>
              </a:rPr>
              <a:t>8</a:t>
            </a:r>
            <a:r>
              <a:rPr lang="zh-CN" altLang="en-US" sz="2000" dirty="0" smtClean="0">
                <a:solidFill>
                  <a:srgbClr val="FFFF00"/>
                </a:solidFill>
                <a:latin typeface="华康俪金黑W8(P)" panose="020B0800000000000000" pitchFamily="34" charset="-122"/>
                <a:ea typeface="华康俪金黑W8(P)" panose="020B0800000000000000" pitchFamily="34" charset="-122"/>
              </a:rPr>
              <a:t>月</a:t>
            </a:r>
            <a:r>
              <a:rPr lang="en-US" altLang="zh-CN" sz="2000" dirty="0" smtClean="0">
                <a:solidFill>
                  <a:srgbClr val="FFFF00"/>
                </a:solidFill>
                <a:latin typeface="华康俪金黑W8(P)" panose="020B0800000000000000" pitchFamily="34" charset="-122"/>
                <a:ea typeface="华康俪金黑W8(P)" panose="020B0800000000000000" pitchFamily="34" charset="-122"/>
              </a:rPr>
              <a:t>16</a:t>
            </a:r>
            <a:r>
              <a:rPr lang="zh-CN" altLang="en-US" sz="2000" dirty="0" smtClean="0">
                <a:solidFill>
                  <a:srgbClr val="FFFF00"/>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a:t>
            </a:r>
            <a:r>
              <a:rPr lang="en-US" altLang="zh-CN" sz="2000" dirty="0" smtClean="0">
                <a:solidFill>
                  <a:schemeClr val="bg1"/>
                </a:solidFill>
                <a:latin typeface="华康俪金黑W8(P)" panose="020B0800000000000000" pitchFamily="34" charset="-122"/>
                <a:ea typeface="华康俪金黑W8(P)" panose="020B0800000000000000" pitchFamily="34" charset="-122"/>
              </a:rPr>
              <a:t>MIUI6</a:t>
            </a:r>
            <a:r>
              <a:rPr lang="zh-CN" altLang="en-US" sz="2000" dirty="0" smtClean="0">
                <a:solidFill>
                  <a:schemeClr val="bg1"/>
                </a:solidFill>
                <a:latin typeface="华康俪金黑W8(P)" panose="020B0800000000000000" pitchFamily="34" charset="-122"/>
                <a:ea typeface="华康俪金黑W8(P)" panose="020B0800000000000000" pitchFamily="34" charset="-122"/>
              </a:rPr>
              <a:t>对外界发布，</a:t>
            </a:r>
            <a:r>
              <a:rPr lang="en-US" altLang="zh-CN" sz="2000" dirty="0">
                <a:solidFill>
                  <a:schemeClr val="bg1"/>
                </a:solidFill>
                <a:latin typeface="华康俪金黑W8(P)" panose="020B0800000000000000" pitchFamily="34" charset="-122"/>
                <a:ea typeface="华康俪金黑W8(P)" panose="020B0800000000000000" pitchFamily="34" charset="-122"/>
              </a:rPr>
              <a:t>MIUI 6</a:t>
            </a:r>
            <a:r>
              <a:rPr lang="zh-CN" altLang="en-US" sz="2000" dirty="0">
                <a:solidFill>
                  <a:schemeClr val="bg1"/>
                </a:solidFill>
                <a:latin typeface="华康俪金黑W8(P)" panose="020B0800000000000000" pitchFamily="34" charset="-122"/>
                <a:ea typeface="华康俪金黑W8(P)" panose="020B0800000000000000" pitchFamily="34" charset="-122"/>
              </a:rPr>
              <a:t>最大改变，是在系统层面尝试</a:t>
            </a:r>
            <a:r>
              <a:rPr lang="zh-CN" altLang="en-US" sz="2000" dirty="0">
                <a:solidFill>
                  <a:srgbClr val="FFC000"/>
                </a:solidFill>
                <a:latin typeface="华康俪金黑W8(P)" panose="020B0800000000000000" pitchFamily="34" charset="-122"/>
                <a:ea typeface="华康俪金黑W8(P)" panose="020B0800000000000000" pitchFamily="34" charset="-122"/>
              </a:rPr>
              <a:t>整合硬件 </a:t>
            </a:r>
            <a:r>
              <a:rPr lang="en-US" altLang="zh-CN" sz="2000" dirty="0">
                <a:solidFill>
                  <a:srgbClr val="FFC000"/>
                </a:solidFill>
                <a:latin typeface="华康俪金黑W8(P)" panose="020B0800000000000000" pitchFamily="34" charset="-122"/>
                <a:ea typeface="华康俪金黑W8(P)" panose="020B0800000000000000" pitchFamily="34" charset="-122"/>
              </a:rPr>
              <a:t>+</a:t>
            </a:r>
            <a:r>
              <a:rPr lang="zh-CN" altLang="en-US" sz="2000" dirty="0">
                <a:solidFill>
                  <a:srgbClr val="FFC000"/>
                </a:solidFill>
                <a:latin typeface="华康俪金黑W8(P)" panose="020B0800000000000000" pitchFamily="34" charset="-122"/>
                <a:ea typeface="华康俪金黑W8(P)" panose="020B0800000000000000" pitchFamily="34" charset="-122"/>
              </a:rPr>
              <a:t>软件</a:t>
            </a:r>
            <a:r>
              <a:rPr lang="en-US" altLang="zh-CN" sz="2000" dirty="0">
                <a:solidFill>
                  <a:srgbClr val="FFC000"/>
                </a:solidFill>
                <a:latin typeface="华康俪金黑W8(P)" panose="020B0800000000000000" pitchFamily="34" charset="-122"/>
                <a:ea typeface="华康俪金黑W8(P)" panose="020B0800000000000000" pitchFamily="34" charset="-122"/>
              </a:rPr>
              <a:t>+ </a:t>
            </a:r>
            <a:r>
              <a:rPr lang="zh-CN" altLang="en-US" sz="2000" dirty="0">
                <a:solidFill>
                  <a:srgbClr val="FFC000"/>
                </a:solidFill>
                <a:latin typeface="华康俪金黑W8(P)" panose="020B0800000000000000" pitchFamily="34" charset="-122"/>
                <a:ea typeface="华康俪金黑W8(P)" panose="020B0800000000000000" pitchFamily="34" charset="-122"/>
              </a:rPr>
              <a:t>云服务</a:t>
            </a:r>
            <a:r>
              <a:rPr lang="zh-CN" altLang="en-US" sz="2000" dirty="0" smtClean="0">
                <a:solidFill>
                  <a:schemeClr val="bg1"/>
                </a:solidFill>
                <a:latin typeface="华康俪金黑W8(P)" panose="020B0800000000000000" pitchFamily="34" charset="-122"/>
                <a:ea typeface="华康俪金黑W8(P)" panose="020B0800000000000000" pitchFamily="34" charset="-122"/>
              </a:rPr>
              <a:t>。它不仅是一个操作系统，还是小米</a:t>
            </a:r>
            <a:r>
              <a:rPr lang="zh-CN" altLang="en-US" sz="2000" dirty="0">
                <a:solidFill>
                  <a:schemeClr val="bg1"/>
                </a:solidFill>
                <a:latin typeface="华康俪金黑W8(P)" panose="020B0800000000000000" pitchFamily="34" charset="-122"/>
                <a:ea typeface="华康俪金黑W8(P)" panose="020B0800000000000000" pitchFamily="34" charset="-122"/>
              </a:rPr>
              <a:t>走出硬件困局的</a:t>
            </a:r>
            <a:r>
              <a:rPr lang="zh-CN" altLang="en-US" sz="2000" dirty="0" smtClean="0">
                <a:solidFill>
                  <a:schemeClr val="bg1"/>
                </a:solidFill>
                <a:latin typeface="华康俪金黑W8(P)" panose="020B0800000000000000" pitchFamily="34" charset="-122"/>
                <a:ea typeface="华康俪金黑W8(P)" panose="020B0800000000000000" pitchFamily="34" charset="-122"/>
              </a:rPr>
              <a:t>通道</a:t>
            </a:r>
            <a:r>
              <a:rPr lang="zh-CN" altLang="en-US"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小米</a:t>
            </a:r>
            <a:r>
              <a:rPr lang="zh-CN" altLang="en-US" sz="2000" dirty="0">
                <a:solidFill>
                  <a:schemeClr val="bg1"/>
                </a:solidFill>
                <a:latin typeface="华康俪金黑W8(P)" panose="020B0800000000000000" pitchFamily="34" charset="-122"/>
                <a:ea typeface="华康俪金黑W8(P)" panose="020B0800000000000000" pitchFamily="34" charset="-122"/>
              </a:rPr>
              <a:t>商业模式升级的</a:t>
            </a:r>
            <a:r>
              <a:rPr lang="zh-CN" altLang="en-US" sz="2000" dirty="0" smtClean="0">
                <a:solidFill>
                  <a:schemeClr val="bg1"/>
                </a:solidFill>
                <a:latin typeface="华康俪金黑W8(P)" panose="020B0800000000000000" pitchFamily="34" charset="-122"/>
                <a:ea typeface="华康俪金黑W8(P)" panose="020B0800000000000000" pitchFamily="34" charset="-122"/>
              </a:rPr>
              <a:t>平台</a:t>
            </a:r>
            <a:r>
              <a:rPr lang="zh-CN" altLang="en-US" sz="2000" dirty="0">
                <a:solidFill>
                  <a:schemeClr val="bg1"/>
                </a:solidFill>
                <a:latin typeface="华康俪金黑W8(P)" panose="020B0800000000000000" pitchFamily="34" charset="-122"/>
                <a:ea typeface="华康俪金黑W8(P)" panose="020B0800000000000000" pitchFamily="34" charset="-122"/>
              </a:rPr>
              <a:t>和</a:t>
            </a:r>
            <a:r>
              <a:rPr lang="zh-CN" altLang="en-US" sz="2000" dirty="0" smtClean="0">
                <a:solidFill>
                  <a:schemeClr val="bg1"/>
                </a:solidFill>
                <a:latin typeface="华康俪金黑W8(P)" panose="020B0800000000000000" pitchFamily="34" charset="-122"/>
                <a:ea typeface="华康俪金黑W8(P)" panose="020B0800000000000000" pitchFamily="34" charset="-122"/>
              </a:rPr>
              <a:t>一</a:t>
            </a:r>
            <a:r>
              <a:rPr lang="zh-CN" altLang="en-US" sz="2000" dirty="0">
                <a:solidFill>
                  <a:schemeClr val="bg1"/>
                </a:solidFill>
                <a:latin typeface="华康俪金黑W8(P)" panose="020B0800000000000000" pitchFamily="34" charset="-122"/>
                <a:ea typeface="华康俪金黑W8(P)" panose="020B0800000000000000" pitchFamily="34" charset="-122"/>
              </a:rPr>
              <a:t>个庞大的</a:t>
            </a:r>
            <a:r>
              <a:rPr lang="en-US" altLang="zh-CN" sz="2000" dirty="0">
                <a:solidFill>
                  <a:schemeClr val="bg1"/>
                </a:solidFill>
                <a:latin typeface="华康俪金黑W8(P)" panose="020B0800000000000000" pitchFamily="34" charset="-122"/>
                <a:ea typeface="华康俪金黑W8(P)" panose="020B0800000000000000" pitchFamily="34" charset="-122"/>
              </a:rPr>
              <a:t>O2O</a:t>
            </a:r>
            <a:r>
              <a:rPr lang="zh-CN" altLang="en-US" sz="2000" dirty="0">
                <a:solidFill>
                  <a:schemeClr val="bg1"/>
                </a:solidFill>
                <a:latin typeface="华康俪金黑W8(P)" panose="020B0800000000000000" pitchFamily="34" charset="-122"/>
                <a:ea typeface="华康俪金黑W8(P)" panose="020B0800000000000000" pitchFamily="34" charset="-122"/>
              </a:rPr>
              <a:t>世界。</a:t>
            </a:r>
          </a:p>
        </p:txBody>
      </p:sp>
    </p:spTree>
    <p:extLst>
      <p:ext uri="{BB962C8B-B14F-4D97-AF65-F5344CB8AC3E}">
        <p14:creationId xmlns:p14="http://schemas.microsoft.com/office/powerpoint/2010/main" val="35307020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01407" y="3285303"/>
            <a:ext cx="3923820" cy="3243429"/>
            <a:chOff x="182678" y="272030"/>
            <a:chExt cx="3416999" cy="2824490"/>
          </a:xfrm>
        </p:grpSpPr>
        <p:sp>
          <p:nvSpPr>
            <p:cNvPr id="4" name="直角三角形 3"/>
            <p:cNvSpPr/>
            <p:nvPr/>
          </p:nvSpPr>
          <p:spPr>
            <a:xfrm rot="10800000" flipV="1">
              <a:off x="339066" y="27203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39065" y="2924797"/>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l="17041" r="12454"/>
            <a:stretch/>
          </p:blipFill>
          <p:spPr>
            <a:xfrm>
              <a:off x="182678" y="443754"/>
              <a:ext cx="3416999" cy="2457287"/>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en-US" altLang="zh-CN" sz="2300" dirty="0" smtClean="0">
                <a:solidFill>
                  <a:schemeClr val="bg1"/>
                </a:solidFill>
                <a:latin typeface="造字工房悦黑体验版常规体" pitchFamily="50" charset="-122"/>
                <a:ea typeface="造字工房悦黑体验版常规体" pitchFamily="50" charset="-122"/>
              </a:rPr>
              <a:t>PC</a:t>
            </a:r>
            <a:r>
              <a:rPr lang="zh-CN" altLang="en-US" sz="2300" dirty="0" smtClean="0">
                <a:solidFill>
                  <a:schemeClr val="bg1"/>
                </a:solidFill>
                <a:latin typeface="造字工房悦黑体验版常规体" pitchFamily="50" charset="-122"/>
                <a:ea typeface="造字工房悦黑体验版常规体" pitchFamily="50" charset="-122"/>
              </a:rPr>
              <a:t>是人的环境，手机是人的一部分。人脑与环境之间，当然需要“翻译”，但人脑与身体之间就不需要了。它们之间的交流应该接近“本能”。传统的搜索框确实把大千世界跟答案连到一起。但你需要把大千世界的兴趣点记下来，在转化成关键词。手机不再需要大脑来转化和记忆。这是移动互联网的一种“颠覆”。</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rPr>
              <a:t>2.2 </a:t>
            </a:r>
            <a:r>
              <a:rPr lang="zh-CN" altLang="en-US" sz="3200" b="1" dirty="0" smtClean="0">
                <a:solidFill>
                  <a:srgbClr val="C48C5D"/>
                </a:solidFill>
                <a:latin typeface="方正清刻本悦宋简体" panose="02000000000000000000" pitchFamily="2" charset="-122"/>
                <a:ea typeface="方正清刻本悦宋简体" panose="02000000000000000000" pitchFamily="2" charset="-122"/>
              </a:rPr>
              <a:t>手机互联</a:t>
            </a:r>
            <a:endPar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7C4F29"/>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C48C5D"/>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C48C5D"/>
                  </a:solidFill>
                  <a:latin typeface="华康俪金黑W8(P)" panose="020B0800000000000000" pitchFamily="34" charset="-122"/>
                  <a:ea typeface="华康俪金黑W8(P)" panose="020B0800000000000000" pitchFamily="34" charset="-122"/>
                </a:rPr>
                <a:t>链</a:t>
              </a:r>
              <a:r>
                <a:rPr lang="zh-CN" altLang="en-US" sz="2400" dirty="0" smtClean="0">
                  <a:solidFill>
                    <a:srgbClr val="7C4F29"/>
                  </a:solidFill>
                  <a:latin typeface="华康俪金黑W8(P)" panose="020B0800000000000000" pitchFamily="34" charset="-122"/>
                  <a:ea typeface="华康俪金黑W8(P)" panose="020B0800000000000000" pitchFamily="34" charset="-122"/>
                </a:rPr>
                <a:t>接</a:t>
              </a:r>
              <a:endParaRPr lang="zh-CN" altLang="en-US" sz="2400" dirty="0">
                <a:solidFill>
                  <a:srgbClr val="7C4F29"/>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FFFF00"/>
                </a:solidFill>
                <a:latin typeface="华康俪金黑W8(P)" panose="020B0800000000000000" pitchFamily="34" charset="-122"/>
                <a:ea typeface="华康俪金黑W8(P)" panose="020B0800000000000000" pitchFamily="34" charset="-122"/>
              </a:rPr>
              <a:t>2014</a:t>
            </a:r>
            <a:r>
              <a:rPr lang="zh-CN" altLang="en-US" sz="2000" dirty="0" smtClean="0">
                <a:solidFill>
                  <a:srgbClr val="FFFF00"/>
                </a:solidFill>
                <a:latin typeface="华康俪金黑W8(P)" panose="020B0800000000000000" pitchFamily="34" charset="-122"/>
                <a:ea typeface="华康俪金黑W8(P)" panose="020B0800000000000000" pitchFamily="34" charset="-122"/>
              </a:rPr>
              <a:t>年</a:t>
            </a:r>
            <a:r>
              <a:rPr lang="en-US" altLang="zh-CN" sz="2000" dirty="0" smtClean="0">
                <a:solidFill>
                  <a:srgbClr val="FFFF00"/>
                </a:solidFill>
                <a:latin typeface="华康俪金黑W8(P)" panose="020B0800000000000000" pitchFamily="34" charset="-122"/>
                <a:ea typeface="华康俪金黑W8(P)" panose="020B0800000000000000" pitchFamily="34" charset="-122"/>
              </a:rPr>
              <a:t>5</a:t>
            </a:r>
            <a:r>
              <a:rPr lang="zh-CN" altLang="en-US" sz="2000" dirty="0" smtClean="0">
                <a:solidFill>
                  <a:srgbClr val="FFFF00"/>
                </a:solidFill>
                <a:latin typeface="华康俪金黑W8(P)" panose="020B0800000000000000" pitchFamily="34" charset="-122"/>
                <a:ea typeface="华康俪金黑W8(P)" panose="020B0800000000000000" pitchFamily="34" charset="-122"/>
              </a:rPr>
              <a:t>月</a:t>
            </a:r>
            <a:r>
              <a:rPr lang="en-US" altLang="zh-CN" sz="2000" dirty="0" smtClean="0">
                <a:solidFill>
                  <a:srgbClr val="FFFF00"/>
                </a:solidFill>
                <a:latin typeface="华康俪金黑W8(P)" panose="020B0800000000000000" pitchFamily="34" charset="-122"/>
                <a:ea typeface="华康俪金黑W8(P)" panose="020B0800000000000000" pitchFamily="34" charset="-122"/>
              </a:rPr>
              <a:t>20</a:t>
            </a:r>
            <a:r>
              <a:rPr lang="zh-CN" altLang="en-US" sz="2000" dirty="0" smtClean="0">
                <a:solidFill>
                  <a:srgbClr val="FFFF00"/>
                </a:solidFill>
                <a:latin typeface="华康俪金黑W8(P)" panose="020B0800000000000000" pitchFamily="34" charset="-122"/>
                <a:ea typeface="华康俪金黑W8(P)" panose="020B0800000000000000" pitchFamily="34" charset="-122"/>
              </a:rPr>
              <a:t>日</a:t>
            </a:r>
            <a:r>
              <a:rPr lang="zh-CN" altLang="en-US"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rgbClr val="FFC000"/>
                </a:solidFill>
                <a:latin typeface="华康俪金黑W8(P)" panose="020B0800000000000000" pitchFamily="34" charset="-122"/>
                <a:ea typeface="华康俪金黑W8(P)" panose="020B0800000000000000" pitchFamily="34" charset="-122"/>
              </a:rPr>
              <a:t>锤子手机</a:t>
            </a:r>
            <a:r>
              <a:rPr lang="zh-CN" altLang="en-US" sz="2000" dirty="0">
                <a:solidFill>
                  <a:schemeClr val="bg1"/>
                </a:solidFill>
                <a:latin typeface="华康俪金黑W8(P)" panose="020B0800000000000000" pitchFamily="34" charset="-122"/>
                <a:ea typeface="华康俪金黑W8(P)" panose="020B0800000000000000" pitchFamily="34" charset="-122"/>
              </a:rPr>
              <a:t>正式发货</a:t>
            </a:r>
            <a:r>
              <a:rPr lang="zh-CN" altLang="en-US" sz="2000" dirty="0" smtClean="0">
                <a:solidFill>
                  <a:schemeClr val="bg1"/>
                </a:solidFill>
                <a:latin typeface="华康俪金黑W8(P)" panose="020B0800000000000000" pitchFamily="34" charset="-122"/>
                <a:ea typeface="华康俪金黑W8(P)" panose="020B0800000000000000" pitchFamily="34" charset="-122"/>
              </a:rPr>
              <a:t>，该手机有高度美感的九宫格布局、追求左右手同时操作的极致体验、体现老罗个人情怀的细节功能，以及更加贴合国人使用习惯的各种微创新改进，成为手机界的超热话题。</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22420905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01407" y="3465513"/>
            <a:ext cx="3923820" cy="2876378"/>
            <a:chOff x="182678" y="428963"/>
            <a:chExt cx="3416999" cy="2504848"/>
          </a:xfrm>
        </p:grpSpPr>
        <p:sp>
          <p:nvSpPr>
            <p:cNvPr id="4" name="直角三角形 3"/>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42265" y="2762088"/>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678" y="599525"/>
              <a:ext cx="3416999" cy="2145745"/>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网络教育这个概念深刻、博大，不只是把课程录成视频放上网，再让学生免费观看</a:t>
            </a:r>
            <a:r>
              <a:rPr lang="en-US" altLang="zh-CN" sz="2300" dirty="0" smtClean="0">
                <a:solidFill>
                  <a:schemeClr val="bg1"/>
                </a:solidFill>
                <a:latin typeface="造字工房悦黑体验版常规体" pitchFamily="50" charset="-122"/>
                <a:ea typeface="造字工房悦黑体验版常规体" pitchFamily="50" charset="-122"/>
              </a:rPr>
              <a:t>——</a:t>
            </a:r>
            <a:r>
              <a:rPr lang="zh-CN" altLang="en-US" sz="2300" dirty="0" smtClean="0">
                <a:solidFill>
                  <a:schemeClr val="bg1"/>
                </a:solidFill>
                <a:latin typeface="造字工房悦黑体验版常规体" pitchFamily="50" charset="-122"/>
                <a:ea typeface="造字工房悦黑体验版常规体" pitchFamily="50" charset="-122"/>
              </a:rPr>
              <a:t>这仅仅是“公开课”而已。它至少包含：极大程度自己操作且一对一教学、把教育流程化整为零、优质资源的极大溢出效应、技术会决定网络教育的下一步走向。而这时媒体业传播信息，在互联网上完成生产、传播、消费的闭环。</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rPr>
              <a:t>2.3 </a:t>
            </a:r>
            <a:r>
              <a:rPr lang="zh-CN" altLang="en-US" sz="3200" b="1" dirty="0">
                <a:solidFill>
                  <a:srgbClr val="C48C5D"/>
                </a:solidFill>
                <a:latin typeface="方正清刻本悦宋简体" panose="02000000000000000000" pitchFamily="2" charset="-122"/>
                <a:ea typeface="方正清刻本悦宋简体" panose="02000000000000000000" pitchFamily="2" charset="-122"/>
              </a:rPr>
              <a:t>网络教育</a:t>
            </a:r>
            <a:endPar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7C4F29"/>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C48C5D"/>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C48C5D"/>
                  </a:solidFill>
                  <a:latin typeface="华康俪金黑W8(P)" panose="020B0800000000000000" pitchFamily="34" charset="-122"/>
                  <a:ea typeface="华康俪金黑W8(P)" panose="020B0800000000000000" pitchFamily="34" charset="-122"/>
                </a:rPr>
                <a:t>链</a:t>
              </a:r>
              <a:r>
                <a:rPr lang="zh-CN" altLang="en-US" sz="2400" dirty="0" smtClean="0">
                  <a:solidFill>
                    <a:srgbClr val="7C4F29"/>
                  </a:solidFill>
                  <a:latin typeface="华康俪金黑W8(P)" panose="020B0800000000000000" pitchFamily="34" charset="-122"/>
                  <a:ea typeface="华康俪金黑W8(P)" panose="020B0800000000000000" pitchFamily="34" charset="-122"/>
                </a:rPr>
                <a:t>接</a:t>
              </a:r>
              <a:endParaRPr lang="zh-CN" altLang="en-US" sz="2400" dirty="0">
                <a:solidFill>
                  <a:srgbClr val="7C4F29"/>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FFFF00"/>
                </a:solidFill>
                <a:latin typeface="华康俪金黑W8(P)" panose="020B0800000000000000" pitchFamily="34" charset="-122"/>
                <a:ea typeface="华康俪金黑W8(P)" panose="020B0800000000000000" pitchFamily="34" charset="-122"/>
              </a:rPr>
              <a:t>2014</a:t>
            </a:r>
            <a:r>
              <a:rPr lang="zh-CN" altLang="en-US" sz="2000" dirty="0" smtClean="0">
                <a:solidFill>
                  <a:srgbClr val="FFFF00"/>
                </a:solidFill>
                <a:latin typeface="华康俪金黑W8(P)" panose="020B0800000000000000" pitchFamily="34" charset="-122"/>
                <a:ea typeface="华康俪金黑W8(P)" panose="020B0800000000000000" pitchFamily="34" charset="-122"/>
              </a:rPr>
              <a:t>年</a:t>
            </a:r>
            <a:r>
              <a:rPr lang="en-US" altLang="zh-CN" sz="2000" dirty="0" smtClean="0">
                <a:solidFill>
                  <a:srgbClr val="FFFF00"/>
                </a:solidFill>
                <a:latin typeface="华康俪金黑W8(P)" panose="020B0800000000000000" pitchFamily="34" charset="-122"/>
                <a:ea typeface="华康俪金黑W8(P)" panose="020B0800000000000000" pitchFamily="34" charset="-122"/>
              </a:rPr>
              <a:t>8</a:t>
            </a:r>
            <a:r>
              <a:rPr lang="zh-CN" altLang="en-US" sz="2000" dirty="0" smtClean="0">
                <a:solidFill>
                  <a:srgbClr val="FFFF00"/>
                </a:solidFill>
                <a:latin typeface="华康俪金黑W8(P)" panose="020B0800000000000000" pitchFamily="34" charset="-122"/>
                <a:ea typeface="华康俪金黑W8(P)" panose="020B0800000000000000" pitchFamily="34" charset="-122"/>
              </a:rPr>
              <a:t>月</a:t>
            </a:r>
            <a:r>
              <a:rPr lang="en-US" altLang="zh-CN" sz="2000" dirty="0" smtClean="0">
                <a:solidFill>
                  <a:srgbClr val="FFFF00"/>
                </a:solidFill>
                <a:latin typeface="华康俪金黑W8(P)" panose="020B0800000000000000" pitchFamily="34" charset="-122"/>
                <a:ea typeface="华康俪金黑W8(P)" panose="020B0800000000000000" pitchFamily="34" charset="-122"/>
              </a:rPr>
              <a:t>21</a:t>
            </a:r>
            <a:r>
              <a:rPr lang="zh-CN" altLang="en-US" sz="2000" dirty="0" smtClean="0">
                <a:solidFill>
                  <a:srgbClr val="FFFF00"/>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rgbClr val="FFC000"/>
                </a:solidFill>
                <a:latin typeface="华康俪金黑W8(P)" panose="020B0800000000000000" pitchFamily="34" charset="-122"/>
                <a:ea typeface="华康俪金黑W8(P)" panose="020B0800000000000000" pitchFamily="34" charset="-122"/>
              </a:rPr>
              <a:t>罗辑思维</a:t>
            </a:r>
            <a:r>
              <a:rPr lang="zh-CN" altLang="en-US" sz="2000" dirty="0" smtClean="0">
                <a:solidFill>
                  <a:schemeClr val="bg1"/>
                </a:solidFill>
                <a:latin typeface="华康俪金黑W8(P)" panose="020B0800000000000000" pitchFamily="34" charset="-122"/>
                <a:ea typeface="华康俪金黑W8(P)" panose="020B0800000000000000" pitchFamily="34" charset="-122"/>
              </a:rPr>
              <a:t>更新了第</a:t>
            </a:r>
            <a:r>
              <a:rPr lang="en-US" altLang="zh-CN" sz="2000" dirty="0" smtClean="0">
                <a:solidFill>
                  <a:schemeClr val="bg1"/>
                </a:solidFill>
                <a:latin typeface="华康俪金黑W8(P)" panose="020B0800000000000000" pitchFamily="34" charset="-122"/>
                <a:ea typeface="华康俪金黑W8(P)" panose="020B0800000000000000" pitchFamily="34" charset="-122"/>
              </a:rPr>
              <a:t>58</a:t>
            </a:r>
            <a:r>
              <a:rPr lang="zh-CN" altLang="en-US" sz="2000" dirty="0" smtClean="0">
                <a:solidFill>
                  <a:schemeClr val="bg1"/>
                </a:solidFill>
                <a:latin typeface="华康俪金黑W8(P)" panose="020B0800000000000000" pitchFamily="34" charset="-122"/>
                <a:ea typeface="华康俪金黑W8(P)" panose="020B0800000000000000" pitchFamily="34" charset="-122"/>
              </a:rPr>
              <a:t>个视频，</a:t>
            </a:r>
            <a:r>
              <a:rPr lang="en-US" altLang="zh-CN"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chemeClr val="bg1"/>
                </a:solidFill>
                <a:latin typeface="华康俪金黑W8(P)" panose="020B0800000000000000" pitchFamily="34" charset="-122"/>
                <a:ea typeface="华康俪金黑W8(P)" panose="020B0800000000000000" pitchFamily="34" charset="-122"/>
              </a:rPr>
              <a:t>罗辑思维</a:t>
            </a:r>
            <a:r>
              <a:rPr lang="en-US" altLang="zh-CN"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chemeClr val="bg1"/>
                </a:solidFill>
                <a:latin typeface="华康俪金黑W8(P)" panose="020B0800000000000000" pitchFamily="34" charset="-122"/>
                <a:ea typeface="华康俪金黑W8(P)" panose="020B0800000000000000" pitchFamily="34" charset="-122"/>
              </a:rPr>
              <a:t>的口号是“有种、有趣、有料”，做大家</a:t>
            </a:r>
            <a:r>
              <a:rPr lang="zh-CN" altLang="en-US" sz="2000" dirty="0" smtClean="0">
                <a:solidFill>
                  <a:schemeClr val="bg1"/>
                </a:solidFill>
                <a:latin typeface="华康俪金黑W8(P)" panose="020B0800000000000000" pitchFamily="34" charset="-122"/>
                <a:ea typeface="华康俪金黑W8(P)" panose="020B0800000000000000" pitchFamily="34" charset="-122"/>
              </a:rPr>
              <a:t>“身边的读书人”。现如今罗辑思维成为了一种全新模式的网络教育，也成为了互联网第一自媒体。</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11307847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01407" y="3465513"/>
            <a:ext cx="4347764" cy="2862931"/>
            <a:chOff x="182678" y="428963"/>
            <a:chExt cx="3786185" cy="2493138"/>
          </a:xfrm>
        </p:grpSpPr>
        <p:sp>
          <p:nvSpPr>
            <p:cNvPr id="4" name="直角三角形 3"/>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42265" y="2750378"/>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a:extLst>
                <a:ext uri="{28A0092B-C50C-407E-A947-70E740481C1C}">
                  <a14:useLocalDpi xmlns:a14="http://schemas.microsoft.com/office/drawing/2010/main" val="0"/>
                </a:ext>
              </a:extLst>
            </a:blip>
            <a:srcRect r="29551"/>
            <a:stretch/>
          </p:blipFill>
          <p:spPr>
            <a:xfrm>
              <a:off x="182678" y="600686"/>
              <a:ext cx="3786185" cy="2120614"/>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C48C5D"/>
                </a:solidFill>
                <a:latin typeface="华康俪金黑W8(P)" panose="020B0800000000000000" pitchFamily="34" charset="-122"/>
                <a:ea typeface="华康俪金黑W8(P)" panose="020B0800000000000000" pitchFamily="34" charset="-122"/>
              </a:rPr>
              <a:t>”</a:t>
            </a:r>
            <a:endParaRPr lang="zh-CN" altLang="en-US" sz="6000" dirty="0">
              <a:solidFill>
                <a:srgbClr val="C48C5D"/>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随着短文聚合技术的运用，在社交网络中成为可被迅速检索的信息源。聚合短文彻底取代了网页长文。在社交网络中，一条条短文之间并没有信息上的相关性。但一旦用户只能开浏览一条短文聚合，由于其中被聚合的短文在内容存在相关性，多数时候，网络服务商就能根据用户阅读该短文聚合这个动作来了解他在寻找怎样的信息。</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rPr>
              <a:t>2.4 </a:t>
            </a:r>
            <a:r>
              <a:rPr lang="zh-CN" altLang="en-US" sz="3200" b="1" dirty="0" smtClean="0">
                <a:solidFill>
                  <a:srgbClr val="C48C5D"/>
                </a:solidFill>
                <a:latin typeface="方正清刻本悦宋简体" panose="02000000000000000000" pitchFamily="2" charset="-122"/>
                <a:ea typeface="方正清刻本悦宋简体" panose="02000000000000000000" pitchFamily="2" charset="-122"/>
              </a:rPr>
              <a:t>短文聚合</a:t>
            </a:r>
            <a:endParaRPr lang="en-US" altLang="zh-CN" sz="3200" b="1" dirty="0" smtClean="0">
              <a:solidFill>
                <a:srgbClr val="C48C5D"/>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7C4F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7C4F29"/>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C48C5D"/>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C48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C48C5D"/>
                  </a:solidFill>
                  <a:latin typeface="华康俪金黑W8(P)" panose="020B0800000000000000" pitchFamily="34" charset="-122"/>
                  <a:ea typeface="华康俪金黑W8(P)" panose="020B0800000000000000" pitchFamily="34" charset="-122"/>
                </a:rPr>
                <a:t>链</a:t>
              </a:r>
              <a:r>
                <a:rPr lang="zh-CN" altLang="en-US" sz="2400" dirty="0" smtClean="0">
                  <a:solidFill>
                    <a:srgbClr val="7C4F29"/>
                  </a:solidFill>
                  <a:latin typeface="华康俪金黑W8(P)" panose="020B0800000000000000" pitchFamily="34" charset="-122"/>
                  <a:ea typeface="华康俪金黑W8(P)" panose="020B0800000000000000" pitchFamily="34" charset="-122"/>
                </a:rPr>
                <a:t>接</a:t>
              </a:r>
              <a:endParaRPr lang="zh-CN" altLang="en-US" sz="2400" dirty="0">
                <a:solidFill>
                  <a:srgbClr val="7C4F29"/>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420981" cy="1323439"/>
          </a:xfrm>
          <a:prstGeom prst="rect">
            <a:avLst/>
          </a:prstGeom>
          <a:noFill/>
        </p:spPr>
        <p:txBody>
          <a:bodyPr wrap="square" rtlCol="0">
            <a:spAutoFit/>
          </a:bodyPr>
          <a:lstStyle/>
          <a:p>
            <a:r>
              <a:rPr lang="en-US" altLang="zh-CN" sz="2000" dirty="0" smtClean="0">
                <a:solidFill>
                  <a:srgbClr val="FFFF00"/>
                </a:solidFill>
                <a:latin typeface="华康俪金黑W8(P)" panose="020B0800000000000000" pitchFamily="34" charset="-122"/>
                <a:ea typeface="华康俪金黑W8(P)" panose="020B0800000000000000" pitchFamily="34" charset="-122"/>
              </a:rPr>
              <a:t>2014</a:t>
            </a:r>
            <a:r>
              <a:rPr lang="zh-CN" altLang="en-US" sz="2000" dirty="0" smtClean="0">
                <a:solidFill>
                  <a:srgbClr val="FFFF00"/>
                </a:solidFill>
                <a:latin typeface="华康俪金黑W8(P)" panose="020B0800000000000000" pitchFamily="34" charset="-122"/>
                <a:ea typeface="华康俪金黑W8(P)" panose="020B0800000000000000" pitchFamily="34" charset="-122"/>
              </a:rPr>
              <a:t>年</a:t>
            </a:r>
            <a:r>
              <a:rPr lang="en-US" altLang="zh-CN" sz="2000" dirty="0" smtClean="0">
                <a:solidFill>
                  <a:srgbClr val="FFFF00"/>
                </a:solidFill>
                <a:latin typeface="华康俪金黑W8(P)" panose="020B0800000000000000" pitchFamily="34" charset="-122"/>
                <a:ea typeface="华康俪金黑W8(P)" panose="020B0800000000000000" pitchFamily="34" charset="-122"/>
              </a:rPr>
              <a:t>8</a:t>
            </a:r>
            <a:r>
              <a:rPr lang="zh-CN" altLang="en-US" sz="2000" dirty="0" smtClean="0">
                <a:solidFill>
                  <a:srgbClr val="FFFF00"/>
                </a:solidFill>
                <a:latin typeface="华康俪金黑W8(P)" panose="020B0800000000000000" pitchFamily="34" charset="-122"/>
                <a:ea typeface="华康俪金黑W8(P)" panose="020B0800000000000000" pitchFamily="34" charset="-122"/>
              </a:rPr>
              <a:t>月</a:t>
            </a:r>
            <a:r>
              <a:rPr lang="en-US" altLang="zh-CN" sz="2000" dirty="0" smtClean="0">
                <a:solidFill>
                  <a:srgbClr val="FFFF00"/>
                </a:solidFill>
                <a:latin typeface="华康俪金黑W8(P)" panose="020B0800000000000000" pitchFamily="34" charset="-122"/>
                <a:ea typeface="华康俪金黑W8(P)" panose="020B0800000000000000" pitchFamily="34" charset="-122"/>
              </a:rPr>
              <a:t>27</a:t>
            </a:r>
            <a:r>
              <a:rPr lang="zh-CN" altLang="en-US" sz="2000" dirty="0" smtClean="0">
                <a:solidFill>
                  <a:srgbClr val="FFFF00"/>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，距离</a:t>
            </a:r>
            <a:r>
              <a:rPr lang="zh-CN" altLang="en-US" sz="2000" dirty="0" smtClean="0">
                <a:solidFill>
                  <a:srgbClr val="FFC000"/>
                </a:solidFill>
                <a:latin typeface="华康俪金黑W8(P)" panose="020B0800000000000000" pitchFamily="34" charset="-122"/>
                <a:ea typeface="华康俪金黑W8(P)" panose="020B0800000000000000" pitchFamily="34" charset="-122"/>
              </a:rPr>
              <a:t>虎嗅网</a:t>
            </a:r>
            <a:r>
              <a:rPr lang="zh-CN" altLang="en-US" sz="2000" dirty="0" smtClean="0">
                <a:solidFill>
                  <a:schemeClr val="bg1"/>
                </a:solidFill>
                <a:latin typeface="华康俪金黑W8(P)" panose="020B0800000000000000" pitchFamily="34" charset="-122"/>
                <a:ea typeface="华康俪金黑W8(P)" panose="020B0800000000000000" pitchFamily="34" charset="-122"/>
              </a:rPr>
              <a:t>成立已经过了</a:t>
            </a:r>
            <a:r>
              <a:rPr lang="en-US" altLang="zh-CN" sz="2000" dirty="0" smtClean="0">
                <a:solidFill>
                  <a:schemeClr val="bg1"/>
                </a:solidFill>
                <a:latin typeface="华康俪金黑W8(P)" panose="020B0800000000000000" pitchFamily="34" charset="-122"/>
                <a:ea typeface="华康俪金黑W8(P)" panose="020B0800000000000000" pitchFamily="34" charset="-122"/>
              </a:rPr>
              <a:t>2</a:t>
            </a:r>
            <a:r>
              <a:rPr lang="zh-CN" altLang="en-US" sz="2000" dirty="0" smtClean="0">
                <a:solidFill>
                  <a:schemeClr val="bg1"/>
                </a:solidFill>
                <a:latin typeface="华康俪金黑W8(P)" panose="020B0800000000000000" pitchFamily="34" charset="-122"/>
                <a:ea typeface="华康俪金黑W8(P)" panose="020B0800000000000000" pitchFamily="34" charset="-122"/>
              </a:rPr>
              <a:t>年又</a:t>
            </a:r>
            <a:r>
              <a:rPr lang="en-US" altLang="zh-CN" sz="2000" dirty="0" smtClean="0">
                <a:solidFill>
                  <a:schemeClr val="bg1"/>
                </a:solidFill>
                <a:latin typeface="华康俪金黑W8(P)" panose="020B0800000000000000" pitchFamily="34" charset="-122"/>
                <a:ea typeface="华康俪金黑W8(P)" panose="020B0800000000000000" pitchFamily="34" charset="-122"/>
              </a:rPr>
              <a:t>6</a:t>
            </a:r>
            <a:r>
              <a:rPr lang="zh-CN" altLang="en-US" sz="2000" dirty="0">
                <a:solidFill>
                  <a:schemeClr val="bg1"/>
                </a:solidFill>
                <a:latin typeface="华康俪金黑W8(P)" panose="020B0800000000000000" pitchFamily="34" charset="-122"/>
                <a:ea typeface="华康俪金黑W8(P)" panose="020B0800000000000000" pitchFamily="34" charset="-122"/>
              </a:rPr>
              <a:t>个月</a:t>
            </a:r>
            <a:r>
              <a:rPr lang="zh-CN" altLang="en-US" sz="2000" dirty="0" smtClean="0">
                <a:solidFill>
                  <a:schemeClr val="bg1"/>
                </a:solidFill>
                <a:latin typeface="华康俪金黑W8(P)" panose="020B0800000000000000" pitchFamily="34" charset="-122"/>
                <a:ea typeface="华康俪金黑W8(P)" panose="020B0800000000000000" pitchFamily="34" charset="-122"/>
              </a:rPr>
              <a:t>。它的愿景，一直没有改变：创造</a:t>
            </a:r>
            <a:r>
              <a:rPr lang="zh-CN" altLang="en-US" sz="2000" dirty="0">
                <a:solidFill>
                  <a:schemeClr val="bg1"/>
                </a:solidFill>
                <a:latin typeface="华康俪金黑W8(P)" panose="020B0800000000000000" pitchFamily="34" charset="-122"/>
                <a:ea typeface="华康俪金黑W8(P)" panose="020B0800000000000000" pitchFamily="34" charset="-122"/>
              </a:rPr>
              <a:t>让用户更有效率地获取商业资讯并进行交流的方式</a:t>
            </a:r>
            <a:r>
              <a:rPr lang="zh-CN" altLang="en-US" sz="2000" dirty="0" smtClean="0">
                <a:solidFill>
                  <a:schemeClr val="bg1"/>
                </a:solidFill>
                <a:latin typeface="华康俪金黑W8(P)" panose="020B0800000000000000" pitchFamily="34" charset="-122"/>
                <a:ea typeface="华康俪金黑W8(P)" panose="020B0800000000000000" pitchFamily="34" charset="-122"/>
              </a:rPr>
              <a:t>。内容由</a:t>
            </a:r>
            <a:r>
              <a:rPr lang="zh-CN" altLang="en-US" sz="2000" dirty="0">
                <a:solidFill>
                  <a:schemeClr val="bg1"/>
                </a:solidFill>
                <a:latin typeface="华康俪金黑W8(P)" panose="020B0800000000000000" pitchFamily="34" charset="-122"/>
                <a:ea typeface="华康俪金黑W8(P)" panose="020B0800000000000000" pitchFamily="34" charset="-122"/>
              </a:rPr>
              <a:t>编辑和用户共同筛选</a:t>
            </a:r>
            <a:r>
              <a:rPr lang="zh-CN" altLang="en-US" sz="2000" dirty="0" smtClean="0">
                <a:solidFill>
                  <a:schemeClr val="bg1"/>
                </a:solidFill>
                <a:latin typeface="华康俪金黑W8(P)" panose="020B0800000000000000" pitchFamily="34" charset="-122"/>
                <a:ea typeface="华康俪金黑W8(P)" panose="020B0800000000000000" pitchFamily="34" charset="-122"/>
              </a:rPr>
              <a:t>，再</a:t>
            </a:r>
            <a:r>
              <a:rPr lang="zh-CN" altLang="en-US" sz="2000" dirty="0">
                <a:solidFill>
                  <a:schemeClr val="bg1"/>
                </a:solidFill>
                <a:latin typeface="华康俪金黑W8(P)" panose="020B0800000000000000" pitchFamily="34" charset="-122"/>
                <a:ea typeface="华康俪金黑W8(P)" panose="020B0800000000000000" pitchFamily="34" charset="-122"/>
              </a:rPr>
              <a:t>精要加工，走个性化与社会化</a:t>
            </a:r>
            <a:r>
              <a:rPr lang="zh-CN" altLang="en-US" sz="2000" dirty="0" smtClean="0">
                <a:solidFill>
                  <a:schemeClr val="bg1"/>
                </a:solidFill>
                <a:latin typeface="华康俪金黑W8(P)" panose="020B0800000000000000" pitchFamily="34" charset="-122"/>
                <a:ea typeface="华康俪金黑W8(P)" panose="020B0800000000000000" pitchFamily="34" charset="-122"/>
              </a:rPr>
              <a:t>结合的道路。</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41630250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907294" y="393895"/>
            <a:ext cx="3171182" cy="2031188"/>
            <a:chOff x="358658" y="2011680"/>
            <a:chExt cx="3171182" cy="2031188"/>
          </a:xfrm>
        </p:grpSpPr>
        <p:sp>
          <p:nvSpPr>
            <p:cNvPr id="5" name="弧形 4"/>
            <p:cNvSpPr/>
            <p:nvPr/>
          </p:nvSpPr>
          <p:spPr>
            <a:xfrm>
              <a:off x="358658" y="2011680"/>
              <a:ext cx="2031188" cy="2031188"/>
            </a:xfrm>
            <a:prstGeom prst="arc">
              <a:avLst>
                <a:gd name="adj1" fmla="val 3742106"/>
                <a:gd name="adj2" fmla="val 0"/>
              </a:avLst>
            </a:prstGeom>
            <a:ln w="19050">
              <a:solidFill>
                <a:srgbClr val="DB394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6" name="文本框 5"/>
            <p:cNvSpPr txBox="1"/>
            <p:nvPr/>
          </p:nvSpPr>
          <p:spPr>
            <a:xfrm>
              <a:off x="460431" y="2696072"/>
              <a:ext cx="2071754" cy="769441"/>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4400" b="1" dirty="0" smtClean="0">
                  <a:solidFill>
                    <a:srgbClr val="DB3941"/>
                  </a:solidFill>
                  <a:latin typeface="方正清刻本悦宋简体" panose="02000000000000000000" pitchFamily="2" charset="-122"/>
                  <a:ea typeface="方正清刻本悦宋简体" panose="02000000000000000000" pitchFamily="2" charset="-122"/>
                </a:rPr>
                <a:t>第三章</a:t>
              </a:r>
              <a:endParaRPr lang="en-US" altLang="zh-CN" sz="4400" b="1" dirty="0" smtClean="0">
                <a:solidFill>
                  <a:srgbClr val="DB3941"/>
                </a:solidFill>
                <a:latin typeface="方正清刻本悦宋简体" panose="02000000000000000000" pitchFamily="2" charset="-122"/>
                <a:ea typeface="方正清刻本悦宋简体" panose="02000000000000000000" pitchFamily="2" charset="-122"/>
              </a:endParaRPr>
            </a:p>
          </p:txBody>
        </p:sp>
        <p:sp>
          <p:nvSpPr>
            <p:cNvPr id="4" name="文本框 3"/>
            <p:cNvSpPr txBox="1"/>
            <p:nvPr/>
          </p:nvSpPr>
          <p:spPr>
            <a:xfrm>
              <a:off x="1534530" y="3316832"/>
              <a:ext cx="1995310" cy="523220"/>
            </a:xfrm>
            <a:prstGeom prst="rect">
              <a:avLst/>
            </a:prstGeom>
            <a:noFill/>
          </p:spPr>
          <p:txBody>
            <a:bodyPr wrap="square" rtlCol="0">
              <a:spAutoFit/>
            </a:bodyPr>
            <a:lstStyle/>
            <a:p>
              <a:r>
                <a:rPr lang="en-US" altLang="zh-CN" sz="2800" i="1" dirty="0">
                  <a:solidFill>
                    <a:srgbClr val="DB3941"/>
                  </a:solidFill>
                  <a:latin typeface="Anna Nicole NF" panose="03030602040703020202" pitchFamily="66" charset="0"/>
                </a:rPr>
                <a:t>Third</a:t>
              </a:r>
              <a:r>
                <a:rPr lang="en-US" altLang="zh-CN" sz="2800" i="1" dirty="0" smtClean="0">
                  <a:solidFill>
                    <a:srgbClr val="DB3941"/>
                  </a:solidFill>
                  <a:latin typeface="Anna Nicole NF" panose="03030602040703020202" pitchFamily="66" charset="0"/>
                </a:rPr>
                <a:t> One</a:t>
              </a:r>
              <a:endParaRPr lang="zh-CN" altLang="en-US" sz="2800" i="1" dirty="0">
                <a:solidFill>
                  <a:srgbClr val="DB3941"/>
                </a:solidFill>
                <a:latin typeface="Anna Nicole NF" panose="03030602040703020202" pitchFamily="66" charset="0"/>
              </a:endParaRPr>
            </a:p>
          </p:txBody>
        </p:sp>
      </p:grpSp>
      <p:sp>
        <p:nvSpPr>
          <p:cNvPr id="19" name="圆角矩形 18"/>
          <p:cNvSpPr/>
          <p:nvPr/>
        </p:nvSpPr>
        <p:spPr>
          <a:xfrm>
            <a:off x="3939243" y="393895"/>
            <a:ext cx="9045237" cy="6006905"/>
          </a:xfrm>
          <a:prstGeom prst="roundRect">
            <a:avLst>
              <a:gd name="adj" fmla="val 7534"/>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三角形 20"/>
          <p:cNvSpPr/>
          <p:nvPr/>
        </p:nvSpPr>
        <p:spPr>
          <a:xfrm rot="10800000" flipV="1">
            <a:off x="337623" y="2425083"/>
            <a:ext cx="400857" cy="171723"/>
          </a:xfrm>
          <a:prstGeom prst="rtTriangle">
            <a:avLst/>
          </a:prstGeom>
          <a:solidFill>
            <a:srgbClr val="B02027"/>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37624" y="2596806"/>
            <a:ext cx="4014243" cy="679268"/>
            <a:chOff x="337624" y="2596806"/>
            <a:chExt cx="4014243" cy="679268"/>
          </a:xfrm>
          <a:solidFill>
            <a:srgbClr val="B02027"/>
          </a:solidFill>
        </p:grpSpPr>
        <p:sp>
          <p:nvSpPr>
            <p:cNvPr id="18" name="矩形 17"/>
            <p:cNvSpPr/>
            <p:nvPr/>
          </p:nvSpPr>
          <p:spPr>
            <a:xfrm>
              <a:off x="337624" y="2596806"/>
              <a:ext cx="4014243" cy="679268"/>
            </a:xfrm>
            <a:prstGeom prst="rect">
              <a:avLst/>
            </a:prstGeom>
            <a:gr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33046" y="2644052"/>
              <a:ext cx="3473567"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3200" dirty="0" smtClean="0">
                  <a:solidFill>
                    <a:schemeClr val="bg1"/>
                  </a:solidFill>
                  <a:latin typeface="华康俪金黑W8(P)" panose="020B0800000000000000" pitchFamily="34" charset="-122"/>
                  <a:ea typeface="华康俪金黑W8(P)" panose="020B0800000000000000" pitchFamily="34" charset="-122"/>
                </a:rPr>
                <a:t>互联网战争与大佬</a:t>
              </a:r>
              <a:endParaRPr lang="en-US" altLang="zh-CN" sz="3200" dirty="0">
                <a:solidFill>
                  <a:schemeClr val="bg1"/>
                </a:solidFill>
                <a:latin typeface="华康俪金黑W8(P)" panose="020B0800000000000000" pitchFamily="34" charset="-122"/>
                <a:ea typeface="华康俪金黑W8(P)" panose="020B0800000000000000" pitchFamily="34" charset="-122"/>
              </a:endParaRPr>
            </a:p>
          </p:txBody>
        </p:sp>
      </p:grpSp>
      <p:sp>
        <p:nvSpPr>
          <p:cNvPr id="23" name="直角三角形 22"/>
          <p:cNvSpPr/>
          <p:nvPr/>
        </p:nvSpPr>
        <p:spPr>
          <a:xfrm rot="10800000" flipH="1" flipV="1">
            <a:off x="3937800" y="2425082"/>
            <a:ext cx="400857" cy="171723"/>
          </a:xfrm>
          <a:prstGeom prst="rtTriangle">
            <a:avLst/>
          </a:prstGeom>
          <a:solidFill>
            <a:srgbClr val="B02027"/>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796800" y="597456"/>
            <a:ext cx="7153554" cy="5516895"/>
          </a:xfrm>
          <a:prstGeom prst="rect">
            <a:avLst/>
          </a:prstGeom>
          <a:noFill/>
        </p:spPr>
        <p:txBody>
          <a:bodyPr wrap="square" rtlCol="0">
            <a:spAutoFit/>
          </a:bodyPr>
          <a:lstStyle/>
          <a:p>
            <a:pPr>
              <a:lnSpc>
                <a:spcPct val="150000"/>
              </a:lnSpc>
            </a:pPr>
            <a:r>
              <a:rPr lang="zh-CN" altLang="en-US" sz="2800" dirty="0" smtClean="0">
                <a:solidFill>
                  <a:srgbClr val="FFC000"/>
                </a:solidFill>
                <a:latin typeface="造字工房悦黑体验版常规体" pitchFamily="50" charset="-122"/>
                <a:ea typeface="造字工房悦黑体验版常规体" pitchFamily="50" charset="-122"/>
              </a:rPr>
              <a:t>互联网战争与大佬：</a:t>
            </a:r>
            <a:endParaRPr lang="en-US" altLang="zh-CN" sz="2800" dirty="0" smtClean="0">
              <a:solidFill>
                <a:srgbClr val="FFC000"/>
              </a:solidFill>
              <a:latin typeface="造字工房悦黑体验版常规体" pitchFamily="50" charset="-122"/>
              <a:ea typeface="造字工房悦黑体验版常规体" pitchFamily="50" charset="-122"/>
            </a:endParaRPr>
          </a:p>
          <a:p>
            <a:pPr>
              <a:lnSpc>
                <a:spcPct val="150000"/>
              </a:lnSpc>
            </a:pP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商业世界是一个彻底的“人之道”，弱小者补贴强大者的情况并不少见。</a:t>
            </a: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搜索和</a:t>
            </a:r>
            <a:r>
              <a:rPr lang="en-US" altLang="zh-CN" sz="2300" dirty="0" smtClean="0">
                <a:solidFill>
                  <a:schemeClr val="bg1"/>
                </a:solidFill>
                <a:latin typeface="造字工房悦黑体验版常规体" pitchFamily="50" charset="-122"/>
                <a:ea typeface="造字工房悦黑体验版常规体" pitchFamily="50" charset="-122"/>
              </a:rPr>
              <a:t>IM/SNS</a:t>
            </a:r>
            <a:r>
              <a:rPr lang="zh-CN" altLang="en-US" sz="2300" dirty="0" smtClean="0">
                <a:solidFill>
                  <a:schemeClr val="bg1"/>
                </a:solidFill>
                <a:latin typeface="造字工房悦黑体验版常规体" pitchFamily="50" charset="-122"/>
                <a:ea typeface="造字工房悦黑体验版常规体" pitchFamily="50" charset="-122"/>
              </a:rPr>
              <a:t>其实为民智和变革做了一些准备，打下了一些基础，但它们不直接，不足够，微博承担了这个大任。对于今天中国社会的价值，无人能出其右。微博不仅是私人情感沟通，更有社会事务讨论；微博不仅是真实信息的披露和传播，更是民智之启蒙，民生之护法，民贼之监督。微博是学校、发源和议院。</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cxnSp>
        <p:nvCxnSpPr>
          <p:cNvPr id="25" name="直接连接符 24"/>
          <p:cNvCxnSpPr/>
          <p:nvPr/>
        </p:nvCxnSpPr>
        <p:spPr>
          <a:xfrm flipH="1">
            <a:off x="4618508" y="1490293"/>
            <a:ext cx="7170218" cy="0"/>
          </a:xfrm>
          <a:prstGeom prst="line">
            <a:avLst/>
          </a:prstGeom>
          <a:ln w="19050">
            <a:solidFill>
              <a:srgbClr val="FFC000"/>
            </a:solidFill>
            <a:prstDash val="dash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2846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96642" y="3465513"/>
            <a:ext cx="3733350" cy="2876378"/>
            <a:chOff x="265612" y="428963"/>
            <a:chExt cx="3251131" cy="2504848"/>
          </a:xfrm>
        </p:grpSpPr>
        <p:sp>
          <p:nvSpPr>
            <p:cNvPr id="4" name="直角三角形 3"/>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42265" y="2762088"/>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612" y="599525"/>
              <a:ext cx="3251131" cy="2145745"/>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en-US" altLang="zh-CN" sz="2300" dirty="0" smtClean="0">
                <a:solidFill>
                  <a:schemeClr val="bg1"/>
                </a:solidFill>
                <a:latin typeface="造字工房悦黑体验版常规体" pitchFamily="50" charset="-122"/>
                <a:ea typeface="造字工房悦黑体验版常规体" pitchFamily="50" charset="-122"/>
              </a:rPr>
              <a:t>QQ</a:t>
            </a:r>
            <a:r>
              <a:rPr lang="zh-CN" altLang="en-US" sz="2300" dirty="0" smtClean="0">
                <a:solidFill>
                  <a:schemeClr val="bg1"/>
                </a:solidFill>
                <a:latin typeface="造字工房悦黑体验版常规体" pitchFamily="50" charset="-122"/>
                <a:ea typeface="造字工房悦黑体验版常规体" pitchFamily="50" charset="-122"/>
              </a:rPr>
              <a:t>不受定位理论束缚。“定位是对人的大脑的位置的争夺。你一旦占据了一个位置，别人就很难取代。但你也很难同时再占据另一个位置。”但</a:t>
            </a:r>
            <a:r>
              <a:rPr lang="en-US" altLang="zh-CN" sz="2300" dirty="0" smtClean="0">
                <a:solidFill>
                  <a:schemeClr val="bg1"/>
                </a:solidFill>
                <a:latin typeface="造字工房悦黑体验版常规体" pitchFamily="50" charset="-122"/>
                <a:ea typeface="造字工房悦黑体验版常规体" pitchFamily="50" charset="-122"/>
              </a:rPr>
              <a:t>QQ</a:t>
            </a:r>
            <a:r>
              <a:rPr lang="zh-CN" altLang="en-US" sz="2300" dirty="0" smtClean="0">
                <a:solidFill>
                  <a:schemeClr val="bg1"/>
                </a:solidFill>
                <a:latin typeface="造字工房悦黑体验版常规体" pitchFamily="50" charset="-122"/>
                <a:ea typeface="造字工房悦黑体验版常规体" pitchFamily="50" charset="-122"/>
              </a:rPr>
              <a:t>从融合、免费和服务上都发生了巨大的变化。定位理论假设的前提是渠道公有、媒体公有。但</a:t>
            </a:r>
            <a:r>
              <a:rPr lang="en-US" altLang="zh-CN" sz="2300" dirty="0" smtClean="0">
                <a:solidFill>
                  <a:schemeClr val="bg1"/>
                </a:solidFill>
                <a:latin typeface="造字工房悦黑体验版常规体" pitchFamily="50" charset="-122"/>
                <a:ea typeface="造字工房悦黑体验版常规体" pitchFamily="50" charset="-122"/>
              </a:rPr>
              <a:t>QQ</a:t>
            </a:r>
            <a:r>
              <a:rPr lang="zh-CN" altLang="en-US" sz="2300" dirty="0" smtClean="0">
                <a:solidFill>
                  <a:schemeClr val="bg1"/>
                </a:solidFill>
                <a:latin typeface="造字工房悦黑体验版常规体" pitchFamily="50" charset="-122"/>
                <a:ea typeface="造字工房悦黑体验版常规体" pitchFamily="50" charset="-122"/>
              </a:rPr>
              <a:t>是天然控制渠道，它就是货架，也是媒体还是广告。这就是互联网不同于传统产业的竞争形态。</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rPr>
              <a:t>3.1 </a:t>
            </a:r>
            <a:r>
              <a:rPr lang="zh-CN" altLang="en-US" sz="3200" b="1" dirty="0" smtClean="0">
                <a:solidFill>
                  <a:srgbClr val="DB3941"/>
                </a:solidFill>
                <a:latin typeface="方正清刻本悦宋简体" panose="02000000000000000000" pitchFamily="2" charset="-122"/>
                <a:ea typeface="方正清刻本悦宋简体" panose="02000000000000000000" pitchFamily="2" charset="-122"/>
              </a:rPr>
              <a:t>定位失效</a:t>
            </a:r>
            <a:endPar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02027"/>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DB394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DB3941"/>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15</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，获得</a:t>
            </a:r>
            <a:r>
              <a:rPr lang="en-US" altLang="zh-CN" sz="2000" dirty="0">
                <a:solidFill>
                  <a:schemeClr val="bg1"/>
                </a:solidFill>
                <a:latin typeface="华康俪金黑W8(P)" panose="020B0800000000000000" pitchFamily="34" charset="-122"/>
                <a:ea typeface="华康俪金黑W8(P)" panose="020B0800000000000000" pitchFamily="34" charset="-122"/>
              </a:rPr>
              <a:t>2000</a:t>
            </a:r>
            <a:r>
              <a:rPr lang="zh-CN" altLang="en-US" sz="2000" dirty="0">
                <a:solidFill>
                  <a:schemeClr val="bg1"/>
                </a:solidFill>
                <a:latin typeface="华康俪金黑W8(P)" panose="020B0800000000000000" pitchFamily="34" charset="-122"/>
                <a:ea typeface="华康俪金黑W8(P)" panose="020B0800000000000000" pitchFamily="34" charset="-122"/>
              </a:rPr>
              <a:t>万美元的融资的职场社交应用</a:t>
            </a:r>
            <a:r>
              <a:rPr lang="zh-CN" altLang="en-US" sz="2000" dirty="0" smtClean="0">
                <a:solidFill>
                  <a:srgbClr val="FFFF00"/>
                </a:solidFill>
                <a:latin typeface="华康俪金黑W8(P)" panose="020B0800000000000000" pitchFamily="34" charset="-122"/>
                <a:ea typeface="华康俪金黑W8(P)" panose="020B0800000000000000" pitchFamily="34" charset="-122"/>
              </a:rPr>
              <a:t>脉脉</a:t>
            </a:r>
            <a:r>
              <a:rPr lang="zh-CN" altLang="en-US" sz="2000" dirty="0" smtClean="0">
                <a:solidFill>
                  <a:schemeClr val="bg1"/>
                </a:solidFill>
                <a:latin typeface="华康俪金黑W8(P)" panose="020B0800000000000000" pitchFamily="34" charset="-122"/>
                <a:ea typeface="华康俪金黑W8(P)" panose="020B0800000000000000" pitchFamily="34" charset="-122"/>
              </a:rPr>
              <a:t>和新浪微博“友尽”。整个事件的来龙去脉更多就是：技术垄断。和不受定位理论束缚的</a:t>
            </a:r>
            <a:r>
              <a:rPr lang="en-US" altLang="zh-CN" sz="2000" dirty="0" smtClean="0">
                <a:solidFill>
                  <a:schemeClr val="bg1"/>
                </a:solidFill>
                <a:latin typeface="华康俪金黑W8(P)" panose="020B0800000000000000" pitchFamily="34" charset="-122"/>
                <a:ea typeface="华康俪金黑W8(P)" panose="020B0800000000000000" pitchFamily="34" charset="-122"/>
              </a:rPr>
              <a:t>QQ</a:t>
            </a:r>
            <a:r>
              <a:rPr lang="zh-CN" altLang="en-US" sz="2000" dirty="0" smtClean="0">
                <a:solidFill>
                  <a:schemeClr val="bg1"/>
                </a:solidFill>
                <a:latin typeface="华康俪金黑W8(P)" panose="020B0800000000000000" pitchFamily="34" charset="-122"/>
                <a:ea typeface="华康俪金黑W8(P)" panose="020B0800000000000000" pitchFamily="34" charset="-122"/>
              </a:rPr>
              <a:t>一样，新浪微博在用户数据信息竞争上也是如此。</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38530275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103502" y="3948680"/>
            <a:ext cx="4340904" cy="1933405"/>
            <a:chOff x="265612" y="944209"/>
            <a:chExt cx="3251131" cy="1448028"/>
          </a:xfrm>
        </p:grpSpPr>
        <p:sp>
          <p:nvSpPr>
            <p:cNvPr id="4" name="直角三角形 3"/>
            <p:cNvSpPr/>
            <p:nvPr/>
          </p:nvSpPr>
          <p:spPr>
            <a:xfrm rot="10800000" flipV="1">
              <a:off x="342264" y="944209"/>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36124" y="2220514"/>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5612" y="1149514"/>
              <a:ext cx="3251131" cy="1045767"/>
            </a:xfrm>
            <a:prstGeom prst="round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雷军曾说“天下武功，唯快不破”。这个道理易迅、京东、华为都懂。要追赶一个开放的平台，就像挥舞一把长刀，在敌人身上划出一道长长的扣子。空间大，用力就散，每道口子都很浅。难以对敌人造成重创。要追赶一个封闭的体系，就像掏出一把匕首，在敌人身上捅出一个洞，不求有多长，只求深一点</a:t>
            </a:r>
            <a:r>
              <a:rPr lang="en-US" altLang="zh-CN" sz="2300" dirty="0" smtClean="0">
                <a:solidFill>
                  <a:schemeClr val="bg1"/>
                </a:solidFill>
                <a:latin typeface="造字工房悦黑体验版常规体" pitchFamily="50" charset="-122"/>
                <a:ea typeface="造字工房悦黑体验版常规体" pitchFamily="50" charset="-122"/>
              </a:rPr>
              <a:t>——</a:t>
            </a:r>
            <a:r>
              <a:rPr lang="zh-CN" altLang="en-US" sz="2300" dirty="0" smtClean="0">
                <a:solidFill>
                  <a:schemeClr val="bg1"/>
                </a:solidFill>
                <a:latin typeface="造字工房悦黑体验版常规体" pitchFamily="50" charset="-122"/>
                <a:ea typeface="造字工房悦黑体验版常规体" pitchFamily="50" charset="-122"/>
              </a:rPr>
              <a:t>这就是单点密度。</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rPr>
              <a:t>3.2 </a:t>
            </a:r>
            <a:r>
              <a:rPr lang="zh-CN" altLang="en-US" sz="3200" b="1" dirty="0">
                <a:solidFill>
                  <a:srgbClr val="DB3941"/>
                </a:solidFill>
                <a:latin typeface="方正清刻本悦宋简体" panose="02000000000000000000" pitchFamily="2" charset="-122"/>
                <a:ea typeface="方正清刻本悦宋简体" panose="02000000000000000000" pitchFamily="2" charset="-122"/>
              </a:rPr>
              <a:t>唯快不破</a:t>
            </a:r>
            <a:endPar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02027"/>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DB394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DB3941"/>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19</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rgbClr val="FFFF00"/>
                </a:solidFill>
                <a:latin typeface="华康俪金黑W8(P)" panose="020B0800000000000000" pitchFamily="34" charset="-122"/>
                <a:ea typeface="华康俪金黑W8(P)" panose="020B0800000000000000" pitchFamily="34" charset="-122"/>
              </a:rPr>
              <a:t>万合天</a:t>
            </a:r>
            <a:r>
              <a:rPr lang="zh-CN" altLang="en-US" sz="2000" dirty="0" smtClean="0">
                <a:solidFill>
                  <a:srgbClr val="FFFF00"/>
                </a:solidFill>
                <a:latin typeface="华康俪金黑W8(P)" panose="020B0800000000000000" pitchFamily="34" charset="-122"/>
                <a:ea typeface="华康俪金黑W8(P)" panose="020B0800000000000000" pitchFamily="34" charset="-122"/>
              </a:rPr>
              <a:t>宜</a:t>
            </a:r>
            <a:r>
              <a:rPr lang="zh-CN" altLang="en-US" sz="2000" dirty="0" smtClean="0">
                <a:solidFill>
                  <a:schemeClr val="bg1"/>
                </a:solidFill>
                <a:latin typeface="华康俪金黑W8(P)" panose="020B0800000000000000" pitchFamily="34" charset="-122"/>
                <a:ea typeface="华康俪金黑W8(P)" panose="020B0800000000000000" pitchFamily="34" charset="-122"/>
              </a:rPr>
              <a:t>旗下的</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万万没想到</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开播一周年。万合天宜以密集的出品节目（</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万万没想到</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报告老板</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高科技少女喵</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学姐知道</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）和单集密集信息弹幕获得了广大网友的热捧！</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15087311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54369" y="3544618"/>
            <a:ext cx="3981939" cy="2455758"/>
            <a:chOff x="225258" y="669858"/>
            <a:chExt cx="2588655" cy="1596485"/>
          </a:xfrm>
        </p:grpSpPr>
        <p:sp>
          <p:nvSpPr>
            <p:cNvPr id="4" name="直角三角形 3"/>
            <p:cNvSpPr/>
            <p:nvPr/>
          </p:nvSpPr>
          <p:spPr>
            <a:xfrm rot="10800000" flipV="1">
              <a:off x="336124" y="669858"/>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直角三角形 4"/>
            <p:cNvSpPr/>
            <p:nvPr/>
          </p:nvSpPr>
          <p:spPr>
            <a:xfrm rot="10800000">
              <a:off x="336124" y="2094620"/>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2" cstate="print">
              <a:extLst>
                <a:ext uri="{28A0092B-C50C-407E-A947-70E740481C1C}">
                  <a14:useLocalDpi xmlns:a14="http://schemas.microsoft.com/office/drawing/2010/main" val="0"/>
                </a:ext>
              </a:extLst>
            </a:blip>
            <a:srcRect b="15283"/>
            <a:stretch/>
          </p:blipFill>
          <p:spPr>
            <a:xfrm>
              <a:off x="225258" y="846739"/>
              <a:ext cx="2588655" cy="1242723"/>
            </a:xfrm>
            <a:prstGeom prst="round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在创业中，可能会有很多折腾和失败），但这些都是为最后一次成功奠定基础。换句话说，李想在在产品信息这个领域的长期耕耘，和陈昊芝在不同领域的长期“抓瞎”，在本质上相同的，都在积累和试错。只是方式不同而已。对雷军和周鸿祎也是如此。百度、阿里巴巴和腾讯占领的江山是可以被冲击的，直接冲击和另起路径。</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rPr>
              <a:t>3.3 </a:t>
            </a:r>
            <a:r>
              <a:rPr lang="zh-CN" altLang="en-US" sz="3200" b="1" dirty="0" smtClean="0">
                <a:solidFill>
                  <a:srgbClr val="DB3941"/>
                </a:solidFill>
                <a:latin typeface="方正清刻本悦宋简体" panose="02000000000000000000" pitchFamily="2" charset="-122"/>
                <a:ea typeface="方正清刻本悦宋简体" panose="02000000000000000000" pitchFamily="2" charset="-122"/>
              </a:rPr>
              <a:t>试错积累</a:t>
            </a:r>
            <a:endPar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02027"/>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DB394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DB3941"/>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27</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，晚上王自如和罗永浩展开优酷直播辩论，他最感兴趣的手机测评遭遇重重阻碍，有资金断裂、有技术跟不上、也有合伙人出走，现在他的</a:t>
            </a:r>
            <a:r>
              <a:rPr lang="en-US" altLang="zh-CN" sz="2000" dirty="0" smtClean="0">
                <a:solidFill>
                  <a:schemeClr val="bg1"/>
                </a:solidFill>
                <a:latin typeface="华康俪金黑W8(P)" panose="020B0800000000000000" pitchFamily="34" charset="-122"/>
                <a:ea typeface="华康俪金黑W8(P)" panose="020B0800000000000000" pitchFamily="34" charset="-122"/>
              </a:rPr>
              <a:t>Zealer2.0</a:t>
            </a:r>
            <a:r>
              <a:rPr lang="zh-CN" altLang="en-US" sz="2000" dirty="0" smtClean="0">
                <a:solidFill>
                  <a:schemeClr val="bg1"/>
                </a:solidFill>
                <a:latin typeface="华康俪金黑W8(P)" panose="020B0800000000000000" pitchFamily="34" charset="-122"/>
                <a:ea typeface="华康俪金黑W8(P)" panose="020B0800000000000000" pitchFamily="34" charset="-122"/>
              </a:rPr>
              <a:t>正面临着存亡时刻，究竟是试错？还是成功？</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spTree>
    <p:extLst>
      <p:ext uri="{BB962C8B-B14F-4D97-AF65-F5344CB8AC3E}">
        <p14:creationId xmlns:p14="http://schemas.microsoft.com/office/powerpoint/2010/main" val="1015681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rgbClr val="EC989C"/>
                </a:solidFill>
                <a:latin typeface="华康俪金黑W8(P)" panose="020B0800000000000000" pitchFamily="34" charset="-122"/>
                <a:ea typeface="华康俪金黑W8(P)" panose="020B0800000000000000" pitchFamily="34" charset="-122"/>
              </a:rPr>
              <a:t>”</a:t>
            </a:r>
            <a:endParaRPr lang="zh-CN" altLang="en-US" sz="6000" dirty="0">
              <a:solidFill>
                <a:srgbClr val="EC989C"/>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人人网是一家没有灵魂的公司。在要么创新，要么快速有效地跟进创新的互联网行业，没有灵魂意味着走不远。猜忌、并购、山寨、多元化散乱无效，是这家公司的关键词。没创新就会被挨打，这是定律。在被人人网没有灵魂甚至竭泽而渔的运营毁掉之前，是可以被明主拿来激活而产生巨大价值的。新浪微博、腾讯、开心网，还是</a:t>
            </a:r>
            <a:r>
              <a:rPr lang="en-US" altLang="zh-CN" sz="2300" dirty="0" smtClean="0">
                <a:solidFill>
                  <a:schemeClr val="bg1"/>
                </a:solidFill>
                <a:latin typeface="造字工房悦黑体验版常规体" pitchFamily="50" charset="-122"/>
                <a:ea typeface="造字工房悦黑体验版常规体" pitchFamily="50" charset="-122"/>
              </a:rPr>
              <a:t>360</a:t>
            </a:r>
            <a:r>
              <a:rPr lang="zh-CN" altLang="en-US" sz="2300" dirty="0" smtClean="0">
                <a:solidFill>
                  <a:schemeClr val="bg1"/>
                </a:solidFill>
                <a:latin typeface="造字工房悦黑体验版常规体" pitchFamily="50" charset="-122"/>
                <a:ea typeface="造字工房悦黑体验版常规体" pitchFamily="50" charset="-122"/>
              </a:rPr>
              <a:t>？</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rPr>
              <a:t>3.4 </a:t>
            </a:r>
            <a:r>
              <a:rPr lang="zh-CN" altLang="en-US" sz="3200" b="1" dirty="0" smtClean="0">
                <a:solidFill>
                  <a:srgbClr val="DB3941"/>
                </a:solidFill>
                <a:latin typeface="方正清刻本悦宋简体" panose="02000000000000000000" pitchFamily="2" charset="-122"/>
                <a:ea typeface="方正清刻本悦宋简体" panose="02000000000000000000" pitchFamily="2" charset="-122"/>
              </a:rPr>
              <a:t>灵魂至上</a:t>
            </a:r>
            <a:endParaRPr lang="en-US" altLang="zh-CN" sz="3200" b="1" dirty="0" smtClean="0">
              <a:solidFill>
                <a:srgbClr val="DB3941"/>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B020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B02027"/>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rgbClr val="DB394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DB39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DB3941"/>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21</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a:t>
            </a:r>
            <a:r>
              <a:rPr lang="en-US" altLang="zh-CN" sz="2000" dirty="0">
                <a:solidFill>
                  <a:schemeClr val="bg1"/>
                </a:solidFill>
                <a:latin typeface="华康俪金黑W8(P)" panose="020B0800000000000000" pitchFamily="34" charset="-122"/>
                <a:ea typeface="华康俪金黑W8(P)" panose="020B0800000000000000" pitchFamily="34" charset="-122"/>
              </a:rPr>
              <a:t>Dong </a:t>
            </a:r>
            <a:r>
              <a:rPr lang="en-US" altLang="zh-CN" sz="2000" dirty="0" smtClean="0">
                <a:solidFill>
                  <a:schemeClr val="bg1"/>
                </a:solidFill>
                <a:latin typeface="华康俪金黑W8(P)" panose="020B0800000000000000" pitchFamily="34" charset="-122"/>
                <a:ea typeface="华康俪金黑W8(P)" panose="020B0800000000000000" pitchFamily="34" charset="-122"/>
              </a:rPr>
              <a:t>Nguyen</a:t>
            </a:r>
            <a:r>
              <a:rPr lang="zh-CN" altLang="en-US" sz="2000" dirty="0">
                <a:solidFill>
                  <a:schemeClr val="bg1"/>
                </a:solidFill>
                <a:latin typeface="华康俪金黑W8(P)" panose="020B0800000000000000" pitchFamily="34" charset="-122"/>
                <a:ea typeface="华康俪金黑W8(P)" panose="020B0800000000000000" pitchFamily="34" charset="-122"/>
              </a:rPr>
              <a:t>推出了他的虐心新作</a:t>
            </a:r>
            <a:r>
              <a:rPr lang="en-US" altLang="zh-CN"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chemeClr val="bg1"/>
                </a:solidFill>
                <a:latin typeface="华康俪金黑W8(P)" panose="020B0800000000000000" pitchFamily="34" charset="-122"/>
                <a:ea typeface="华康俪金黑W8(P)" panose="020B0800000000000000" pitchFamily="34" charset="-122"/>
              </a:rPr>
              <a:t>摇摆直升机</a:t>
            </a:r>
            <a:r>
              <a:rPr lang="en-US" altLang="zh-CN"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rgbClr val="FFFF00"/>
                </a:solidFill>
                <a:latin typeface="华康俪金黑W8(P)" panose="020B0800000000000000" pitchFamily="34" charset="-122"/>
                <a:ea typeface="华康俪金黑W8(P)" panose="020B0800000000000000" pitchFamily="34" charset="-122"/>
              </a:rPr>
              <a:t>（</a:t>
            </a:r>
            <a:r>
              <a:rPr lang="en-US" altLang="zh-CN" sz="2000" dirty="0">
                <a:solidFill>
                  <a:srgbClr val="FFFF00"/>
                </a:solidFill>
                <a:latin typeface="华康俪金黑W8(P)" panose="020B0800000000000000" pitchFamily="34" charset="-122"/>
                <a:ea typeface="华康俪金黑W8(P)" panose="020B0800000000000000" pitchFamily="34" charset="-122"/>
              </a:rPr>
              <a:t>Swing Copters</a:t>
            </a:r>
            <a:r>
              <a:rPr lang="zh-CN" altLang="en-US" sz="2000" dirty="0" smtClean="0">
                <a:solidFill>
                  <a:srgbClr val="FFFF00"/>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。次日，一大堆山寨产品涌现出来，想想数日前的山寨游戏</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围住神经猫</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，一地鸡毛之后又得到了什么？</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9" name="组合 28"/>
          <p:cNvGrpSpPr/>
          <p:nvPr/>
        </p:nvGrpSpPr>
        <p:grpSpPr>
          <a:xfrm>
            <a:off x="57486" y="3188349"/>
            <a:ext cx="3220104" cy="3195157"/>
            <a:chOff x="210345" y="428963"/>
            <a:chExt cx="2524407" cy="2504848"/>
          </a:xfrm>
        </p:grpSpPr>
        <p:sp>
          <p:nvSpPr>
            <p:cNvPr id="30" name="直角三角形 29"/>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直角三角形 30"/>
            <p:cNvSpPr/>
            <p:nvPr/>
          </p:nvSpPr>
          <p:spPr>
            <a:xfrm rot="10800000">
              <a:off x="342265" y="2762088"/>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45" y="600686"/>
              <a:ext cx="2524407" cy="2145745"/>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631929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907294" y="393895"/>
            <a:ext cx="3171182" cy="2031188"/>
            <a:chOff x="358658" y="2011680"/>
            <a:chExt cx="3171182" cy="2031188"/>
          </a:xfrm>
        </p:grpSpPr>
        <p:sp>
          <p:nvSpPr>
            <p:cNvPr id="5" name="弧形 4"/>
            <p:cNvSpPr/>
            <p:nvPr/>
          </p:nvSpPr>
          <p:spPr>
            <a:xfrm>
              <a:off x="358658" y="2011680"/>
              <a:ext cx="2031188" cy="2031188"/>
            </a:xfrm>
            <a:prstGeom prst="arc">
              <a:avLst>
                <a:gd name="adj1" fmla="val 3742106"/>
                <a:gd name="adj2" fmla="val 0"/>
              </a:avLst>
            </a:prstGeom>
            <a:ln w="19050">
              <a:solidFill>
                <a:srgbClr val="8CB1CC"/>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bg1"/>
                </a:solidFill>
              </a:endParaRPr>
            </a:p>
          </p:txBody>
        </p:sp>
        <p:sp>
          <p:nvSpPr>
            <p:cNvPr id="6" name="文本框 5"/>
            <p:cNvSpPr txBox="1"/>
            <p:nvPr/>
          </p:nvSpPr>
          <p:spPr>
            <a:xfrm>
              <a:off x="460431" y="2696072"/>
              <a:ext cx="2071754" cy="769441"/>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4400" b="1" dirty="0" smtClean="0">
                  <a:solidFill>
                    <a:srgbClr val="8CB1CC"/>
                  </a:solidFill>
                  <a:latin typeface="方正清刻本悦宋简体" panose="02000000000000000000" pitchFamily="2" charset="-122"/>
                  <a:ea typeface="方正清刻本悦宋简体" panose="02000000000000000000" pitchFamily="2" charset="-122"/>
                </a:rPr>
                <a:t>第四章</a:t>
              </a:r>
              <a:endParaRPr lang="en-US" altLang="zh-CN" sz="4400" b="1" dirty="0" smtClean="0">
                <a:solidFill>
                  <a:srgbClr val="8CB1CC"/>
                </a:solidFill>
                <a:latin typeface="方正清刻本悦宋简体" panose="02000000000000000000" pitchFamily="2" charset="-122"/>
                <a:ea typeface="方正清刻本悦宋简体" panose="02000000000000000000" pitchFamily="2" charset="-122"/>
              </a:endParaRPr>
            </a:p>
          </p:txBody>
        </p:sp>
        <p:sp>
          <p:nvSpPr>
            <p:cNvPr id="4" name="文本框 3"/>
            <p:cNvSpPr txBox="1"/>
            <p:nvPr/>
          </p:nvSpPr>
          <p:spPr>
            <a:xfrm>
              <a:off x="1534530" y="3316832"/>
              <a:ext cx="1995310" cy="523220"/>
            </a:xfrm>
            <a:prstGeom prst="rect">
              <a:avLst/>
            </a:prstGeom>
            <a:noFill/>
          </p:spPr>
          <p:txBody>
            <a:bodyPr wrap="square" rtlCol="0">
              <a:spAutoFit/>
            </a:bodyPr>
            <a:lstStyle/>
            <a:p>
              <a:r>
                <a:rPr lang="en-US" altLang="zh-CN" sz="2800" i="1" dirty="0" smtClean="0">
                  <a:solidFill>
                    <a:srgbClr val="8CB1CC"/>
                  </a:solidFill>
                  <a:latin typeface="Anna Nicole NF" panose="03030602040703020202" pitchFamily="66" charset="0"/>
                </a:rPr>
                <a:t>Fourth One</a:t>
              </a:r>
              <a:endParaRPr lang="zh-CN" altLang="en-US" sz="2800" i="1" dirty="0">
                <a:solidFill>
                  <a:srgbClr val="8CB1CC"/>
                </a:solidFill>
                <a:latin typeface="Anna Nicole NF" panose="03030602040703020202" pitchFamily="66" charset="0"/>
              </a:endParaRPr>
            </a:p>
          </p:txBody>
        </p:sp>
      </p:grpSp>
      <p:sp>
        <p:nvSpPr>
          <p:cNvPr id="19" name="圆角矩形 18"/>
          <p:cNvSpPr/>
          <p:nvPr/>
        </p:nvSpPr>
        <p:spPr>
          <a:xfrm>
            <a:off x="3939243" y="393895"/>
            <a:ext cx="9045237" cy="6006905"/>
          </a:xfrm>
          <a:prstGeom prst="roundRect">
            <a:avLst>
              <a:gd name="adj" fmla="val 7534"/>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直角三角形 20"/>
          <p:cNvSpPr/>
          <p:nvPr/>
        </p:nvSpPr>
        <p:spPr>
          <a:xfrm rot="10800000" flipV="1">
            <a:off x="337623" y="2425083"/>
            <a:ext cx="400857" cy="171723"/>
          </a:xfrm>
          <a:prstGeom prst="rtTriangle">
            <a:avLst/>
          </a:prstGeom>
          <a:solidFill>
            <a:srgbClr val="445D72"/>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2" name="组合 21"/>
          <p:cNvGrpSpPr/>
          <p:nvPr/>
        </p:nvGrpSpPr>
        <p:grpSpPr>
          <a:xfrm>
            <a:off x="337624" y="2596806"/>
            <a:ext cx="4280884" cy="679268"/>
            <a:chOff x="337624" y="2596806"/>
            <a:chExt cx="4280884" cy="679268"/>
          </a:xfrm>
          <a:solidFill>
            <a:srgbClr val="445D72"/>
          </a:solidFill>
        </p:grpSpPr>
        <p:sp>
          <p:nvSpPr>
            <p:cNvPr id="18" name="矩形 17"/>
            <p:cNvSpPr/>
            <p:nvPr/>
          </p:nvSpPr>
          <p:spPr>
            <a:xfrm>
              <a:off x="337624" y="2596806"/>
              <a:ext cx="4014243" cy="679268"/>
            </a:xfrm>
            <a:prstGeom prst="rect">
              <a:avLst/>
            </a:prstGeom>
            <a:grpFill/>
            <a:ln>
              <a:noFill/>
            </a:ln>
            <a:effectLst>
              <a:outerShdw blurRad="50800" dist="38100" dir="162000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404586" y="2644052"/>
              <a:ext cx="4213922"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zh-CN" altLang="en-US" sz="3200" dirty="0" smtClean="0">
                  <a:solidFill>
                    <a:schemeClr val="bg1"/>
                  </a:solidFill>
                  <a:latin typeface="华康俪金黑W8(P)" panose="020B0800000000000000" pitchFamily="34" charset="-122"/>
                  <a:ea typeface="华康俪金黑W8(P)" panose="020B0800000000000000" pitchFamily="34" charset="-122"/>
                </a:rPr>
                <a:t>互联网创业与自媒体</a:t>
              </a:r>
              <a:endParaRPr lang="en-US" altLang="zh-CN" sz="3200" dirty="0">
                <a:solidFill>
                  <a:schemeClr val="bg1"/>
                </a:solidFill>
                <a:latin typeface="华康俪金黑W8(P)" panose="020B0800000000000000" pitchFamily="34" charset="-122"/>
                <a:ea typeface="华康俪金黑W8(P)" panose="020B0800000000000000" pitchFamily="34" charset="-122"/>
              </a:endParaRPr>
            </a:p>
          </p:txBody>
        </p:sp>
      </p:grpSp>
      <p:sp>
        <p:nvSpPr>
          <p:cNvPr id="23" name="直角三角形 22"/>
          <p:cNvSpPr/>
          <p:nvPr/>
        </p:nvSpPr>
        <p:spPr>
          <a:xfrm rot="10800000" flipH="1" flipV="1">
            <a:off x="3937800" y="2425082"/>
            <a:ext cx="400857" cy="171723"/>
          </a:xfrm>
          <a:prstGeom prst="rtTriangle">
            <a:avLst/>
          </a:prstGeom>
          <a:solidFill>
            <a:srgbClr val="445D72"/>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4796800" y="597456"/>
            <a:ext cx="7153554" cy="5516895"/>
          </a:xfrm>
          <a:prstGeom prst="rect">
            <a:avLst/>
          </a:prstGeom>
          <a:noFill/>
        </p:spPr>
        <p:txBody>
          <a:bodyPr wrap="square" rtlCol="0">
            <a:spAutoFit/>
          </a:bodyPr>
          <a:lstStyle/>
          <a:p>
            <a:pPr>
              <a:lnSpc>
                <a:spcPct val="150000"/>
              </a:lnSpc>
            </a:pPr>
            <a:r>
              <a:rPr lang="zh-CN" altLang="en-US" sz="2800" dirty="0" smtClean="0">
                <a:solidFill>
                  <a:srgbClr val="2E2E2E"/>
                </a:solidFill>
                <a:latin typeface="造字工房悦黑体验版常规体" pitchFamily="50" charset="-122"/>
                <a:ea typeface="造字工房悦黑体验版常规体" pitchFamily="50" charset="-122"/>
              </a:rPr>
              <a:t>互联网战争与大佬：</a:t>
            </a:r>
            <a:endParaRPr lang="en-US" altLang="zh-CN" sz="2800" dirty="0" smtClean="0">
              <a:solidFill>
                <a:srgbClr val="2E2E2E"/>
              </a:solidFill>
              <a:latin typeface="造字工房悦黑体验版常规体" pitchFamily="50" charset="-122"/>
              <a:ea typeface="造字工房悦黑体验版常规体" pitchFamily="50" charset="-122"/>
            </a:endParaRPr>
          </a:p>
          <a:p>
            <a:pPr>
              <a:lnSpc>
                <a:spcPct val="150000"/>
              </a:lnSpc>
            </a:pP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商业世界是一个彻底的“人之道”，弱小者补贴强大者的情况并不少见。</a:t>
            </a:r>
            <a:endParaRPr lang="en-US" altLang="zh-CN" sz="2300" dirty="0" smtClean="0">
              <a:solidFill>
                <a:schemeClr val="bg1"/>
              </a:solidFill>
              <a:latin typeface="造字工房悦黑体验版常规体" pitchFamily="50" charset="-122"/>
              <a:ea typeface="造字工房悦黑体验版常规体" pitchFamily="50" charset="-122"/>
            </a:endParaRPr>
          </a:p>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搜索和</a:t>
            </a:r>
            <a:r>
              <a:rPr lang="en-US" altLang="zh-CN" sz="2300" dirty="0" smtClean="0">
                <a:solidFill>
                  <a:schemeClr val="bg1"/>
                </a:solidFill>
                <a:latin typeface="造字工房悦黑体验版常规体" pitchFamily="50" charset="-122"/>
                <a:ea typeface="造字工房悦黑体验版常规体" pitchFamily="50" charset="-122"/>
              </a:rPr>
              <a:t>IM/SNS</a:t>
            </a:r>
            <a:r>
              <a:rPr lang="zh-CN" altLang="en-US" sz="2300" dirty="0" smtClean="0">
                <a:solidFill>
                  <a:schemeClr val="bg1"/>
                </a:solidFill>
                <a:latin typeface="造字工房悦黑体验版常规体" pitchFamily="50" charset="-122"/>
                <a:ea typeface="造字工房悦黑体验版常规体" pitchFamily="50" charset="-122"/>
              </a:rPr>
              <a:t>其实为民智和变革做了一些准备，打下了一些基础，但它们不直接，不足够，微博承担了这个大任。对于今天中国社会的价值，无人能出其右。微博不仅是私人情感沟通，更有社会事务讨论；微博不仅是真实信息的披露和传播，更是民智之启蒙，民生之护法，民贼之监督。微博是学校、发源和议院。</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cxnSp>
        <p:nvCxnSpPr>
          <p:cNvPr id="25" name="直接连接符 24"/>
          <p:cNvCxnSpPr/>
          <p:nvPr/>
        </p:nvCxnSpPr>
        <p:spPr>
          <a:xfrm flipH="1">
            <a:off x="4618508" y="1490293"/>
            <a:ext cx="7170218" cy="0"/>
          </a:xfrm>
          <a:prstGeom prst="line">
            <a:avLst/>
          </a:prstGeom>
          <a:ln w="19050">
            <a:solidFill>
              <a:srgbClr val="2E2E2E"/>
            </a:solidFill>
            <a:prstDash val="dash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18783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445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我觉得媒体传播的内容分为三个层次：信息，逻辑，情感。信息是难以被记住的。其牵动的是大脑的记忆模块，也是最肤浅的。逻辑是可以被记住和消化的，但大部分时间是潜藏的。其牵动的不再是脑，而是心。情感是不会被忘记的，随时左右人的选择和情绪。其牵动的不再是脑，而是心。消费者消费的就是一种情感。</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rPr>
              <a:t>4.1 </a:t>
            </a:r>
            <a:r>
              <a:rPr lang="zh-CN" altLang="en-US" sz="3200" b="1" dirty="0" smtClean="0">
                <a:solidFill>
                  <a:srgbClr val="8CB1CC"/>
                </a:solidFill>
                <a:latin typeface="方正清刻本悦宋简体" panose="02000000000000000000" pitchFamily="2" charset="-122"/>
                <a:ea typeface="方正清刻本悦宋简体" panose="02000000000000000000" pitchFamily="2" charset="-122"/>
              </a:rPr>
              <a:t>注入情感</a:t>
            </a:r>
            <a:endPar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8CB1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8CB1CC"/>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25</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，由湖南卫视出品的</a:t>
            </a:r>
            <a:r>
              <a:rPr lang="en-US" altLang="zh-CN" sz="2000" dirty="0" smtClean="0">
                <a:solidFill>
                  <a:srgbClr val="FFFF00"/>
                </a:solidFill>
                <a:latin typeface="华康俪金黑W8(P)" panose="020B0800000000000000" pitchFamily="34" charset="-122"/>
                <a:ea typeface="华康俪金黑W8(P)" panose="020B0800000000000000" pitchFamily="34" charset="-122"/>
              </a:rPr>
              <a:t>《</a:t>
            </a:r>
            <a:r>
              <a:rPr lang="zh-CN" altLang="en-US" sz="2000" dirty="0" smtClean="0">
                <a:solidFill>
                  <a:srgbClr val="FFFF00"/>
                </a:solidFill>
                <a:latin typeface="华康俪金黑W8(P)" panose="020B0800000000000000" pitchFamily="34" charset="-122"/>
                <a:ea typeface="华康俪金黑W8(P)" panose="020B0800000000000000" pitchFamily="34" charset="-122"/>
              </a:rPr>
              <a:t>变形计</a:t>
            </a:r>
            <a:r>
              <a:rPr lang="en-US" altLang="zh-CN" sz="2000" dirty="0" smtClean="0">
                <a:solidFill>
                  <a:srgbClr val="FFFF00"/>
                </a:solidFill>
                <a:latin typeface="华康俪金黑W8(P)" panose="020B0800000000000000" pitchFamily="34" charset="-122"/>
                <a:ea typeface="华康俪金黑W8(P)" panose="020B0800000000000000" pitchFamily="34" charset="-122"/>
              </a:rPr>
              <a:t>》</a:t>
            </a:r>
            <a:r>
              <a:rPr lang="zh-CN" altLang="en-US" sz="2000" dirty="0">
                <a:solidFill>
                  <a:schemeClr val="bg1"/>
                </a:solidFill>
                <a:latin typeface="华康俪金黑W8(P)" panose="020B0800000000000000" pitchFamily="34" charset="-122"/>
                <a:ea typeface="华康俪金黑W8(P)" panose="020B0800000000000000" pitchFamily="34" charset="-122"/>
              </a:rPr>
              <a:t>完成他最新一集的播放，纪录片</a:t>
            </a:r>
            <a:r>
              <a:rPr lang="en-US" altLang="zh-CN" sz="2000" dirty="0">
                <a:solidFill>
                  <a:schemeClr val="bg1"/>
                </a:solidFill>
                <a:latin typeface="华康俪金黑W8(P)" panose="020B0800000000000000" pitchFamily="34" charset="-122"/>
                <a:ea typeface="华康俪金黑W8(P)" panose="020B0800000000000000" pitchFamily="34" charset="-122"/>
              </a:rPr>
              <a:t>+</a:t>
            </a:r>
            <a:r>
              <a:rPr lang="zh-CN" altLang="en-US" sz="2000" dirty="0">
                <a:solidFill>
                  <a:schemeClr val="bg1"/>
                </a:solidFill>
                <a:latin typeface="华康俪金黑W8(P)" panose="020B0800000000000000" pitchFamily="34" charset="-122"/>
                <a:ea typeface="华康俪金黑W8(P)" panose="020B0800000000000000" pitchFamily="34" charset="-122"/>
              </a:rPr>
              <a:t>真人秀模式的创新节目，号称“新生态纪录片”</a:t>
            </a:r>
            <a:r>
              <a:rPr lang="zh-CN" altLang="en-US" sz="2000" dirty="0" smtClean="0">
                <a:solidFill>
                  <a:schemeClr val="bg1"/>
                </a:solidFill>
                <a:latin typeface="华康俪金黑W8(P)" panose="020B0800000000000000" pitchFamily="34" charset="-122"/>
                <a:ea typeface="华康俪金黑W8(P)" panose="020B0800000000000000" pitchFamily="34" charset="-122"/>
              </a:rPr>
              <a:t>。是否作秀暂且不说，这个节目确实引发了很多人文情怀上的感动和心灵共鸣。</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9" name="组合 28"/>
          <p:cNvGrpSpPr/>
          <p:nvPr/>
        </p:nvGrpSpPr>
        <p:grpSpPr>
          <a:xfrm>
            <a:off x="133177" y="3340754"/>
            <a:ext cx="3775981" cy="2766764"/>
            <a:chOff x="269683" y="428963"/>
            <a:chExt cx="2960188" cy="2169009"/>
          </a:xfrm>
        </p:grpSpPr>
        <p:sp>
          <p:nvSpPr>
            <p:cNvPr id="30" name="直角三角形 29"/>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直角三角形 30"/>
            <p:cNvSpPr/>
            <p:nvPr/>
          </p:nvSpPr>
          <p:spPr>
            <a:xfrm rot="10800000">
              <a:off x="337864" y="2426249"/>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683" y="617622"/>
              <a:ext cx="2960188" cy="1791691"/>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26351458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445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自媒体要独立获取、抵达用户。英文为</a:t>
            </a:r>
            <a:r>
              <a:rPr lang="en-US" altLang="zh-CN" sz="2300" dirty="0" smtClean="0">
                <a:solidFill>
                  <a:schemeClr val="bg1"/>
                </a:solidFill>
                <a:latin typeface="造字工房悦黑体验版常规体" pitchFamily="50" charset="-122"/>
                <a:ea typeface="造字工房悦黑体验版常规体" pitchFamily="50" charset="-122"/>
              </a:rPr>
              <a:t>we-media</a:t>
            </a:r>
            <a:r>
              <a:rPr lang="zh-CN" altLang="en-US" sz="2300" dirty="0" smtClean="0">
                <a:solidFill>
                  <a:schemeClr val="bg1"/>
                </a:solidFill>
                <a:latin typeface="造字工房悦黑体验版常规体" pitchFamily="50" charset="-122"/>
                <a:ea typeface="造字工房悦黑体验版常规体" pitchFamily="50" charset="-122"/>
              </a:rPr>
              <a:t>。我认为它有三层含义：第一，我们自己创造和筛选内容；第二，我们自己也是读者，直接获取内容。第三，我们自己也是渠道，相互推荐内容。这是一个生态。自媒体跟社会化媒体是一枚硬币的两面。社会化媒体上的个体，就叫自媒体。自媒体的集合，就是社会化媒体。</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rPr>
              <a:t>4.2 </a:t>
            </a:r>
            <a:r>
              <a:rPr lang="zh-CN" altLang="en-US" sz="3200" b="1" dirty="0">
                <a:solidFill>
                  <a:srgbClr val="8CB1CC"/>
                </a:solidFill>
                <a:latin typeface="方正清刻本悦宋简体" panose="02000000000000000000" pitchFamily="2" charset="-122"/>
                <a:ea typeface="方正清刻本悦宋简体" panose="02000000000000000000" pitchFamily="2" charset="-122"/>
              </a:rPr>
              <a:t>自</a:t>
            </a:r>
            <a:r>
              <a:rPr lang="zh-CN" altLang="en-US" sz="3200" b="1" dirty="0" smtClean="0">
                <a:solidFill>
                  <a:srgbClr val="8CB1CC"/>
                </a:solidFill>
                <a:latin typeface="方正清刻本悦宋简体" panose="02000000000000000000" pitchFamily="2" charset="-122"/>
                <a:ea typeface="方正清刻本悦宋简体" panose="02000000000000000000" pitchFamily="2" charset="-122"/>
              </a:rPr>
              <a:t>媒体论</a:t>
            </a:r>
            <a:endPar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8CB1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8CB1CC"/>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11</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，著名自由职业人萧秋水公布了</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新浪微博自媒体收入微布斯排行榜</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她认为，微</a:t>
            </a:r>
            <a:r>
              <a:rPr lang="zh-CN" altLang="en-US" sz="2000" dirty="0">
                <a:solidFill>
                  <a:schemeClr val="bg1"/>
                </a:solidFill>
                <a:latin typeface="华康俪金黑W8(P)" panose="020B0800000000000000" pitchFamily="34" charset="-122"/>
                <a:ea typeface="华康俪金黑W8(P)" panose="020B0800000000000000" pitchFamily="34" charset="-122"/>
              </a:rPr>
              <a:t>博自媒体在不断探索中，规则越来越细，算法趋于复杂，总体来说，是</a:t>
            </a:r>
            <a:r>
              <a:rPr lang="zh-CN" altLang="en-US" sz="2000" dirty="0">
                <a:solidFill>
                  <a:srgbClr val="FFFF00"/>
                </a:solidFill>
                <a:latin typeface="华康俪金黑W8(P)" panose="020B0800000000000000" pitchFamily="34" charset="-122"/>
                <a:ea typeface="华康俪金黑W8(P)" panose="020B0800000000000000" pitchFamily="34" charset="-122"/>
              </a:rPr>
              <a:t>商家、微博、自媒体</a:t>
            </a:r>
            <a:r>
              <a:rPr lang="zh-CN" altLang="en-US" sz="2000" dirty="0">
                <a:solidFill>
                  <a:schemeClr val="bg1"/>
                </a:solidFill>
                <a:latin typeface="华康俪金黑W8(P)" panose="020B0800000000000000" pitchFamily="34" charset="-122"/>
                <a:ea typeface="华康俪金黑W8(P)" panose="020B0800000000000000" pitchFamily="34" charset="-122"/>
              </a:rPr>
              <a:t>之间的三赢</a:t>
            </a:r>
            <a:r>
              <a:rPr lang="zh-CN" altLang="en-US" sz="2000" dirty="0" smtClean="0">
                <a:solidFill>
                  <a:schemeClr val="bg1"/>
                </a:solidFill>
                <a:latin typeface="华康俪金黑W8(P)" panose="020B0800000000000000" pitchFamily="34" charset="-122"/>
                <a:ea typeface="华康俪金黑W8(P)" panose="020B0800000000000000" pitchFamily="34" charset="-122"/>
              </a:rPr>
              <a:t>模式。</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1" name="组合 20"/>
          <p:cNvGrpSpPr/>
          <p:nvPr/>
        </p:nvGrpSpPr>
        <p:grpSpPr>
          <a:xfrm>
            <a:off x="133178" y="3576289"/>
            <a:ext cx="4342296" cy="2351129"/>
            <a:chOff x="269684" y="428963"/>
            <a:chExt cx="3404152" cy="1843169"/>
          </a:xfrm>
        </p:grpSpPr>
        <p:sp>
          <p:nvSpPr>
            <p:cNvPr id="26" name="直角三角形 25"/>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直角三角形 26"/>
            <p:cNvSpPr/>
            <p:nvPr/>
          </p:nvSpPr>
          <p:spPr>
            <a:xfrm rot="10800000">
              <a:off x="337864" y="2100409"/>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684" y="600686"/>
              <a:ext cx="3404152" cy="1478726"/>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24458349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445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en-US" altLang="zh-CN" sz="2300" dirty="0" smtClean="0">
                <a:solidFill>
                  <a:schemeClr val="bg1"/>
                </a:solidFill>
                <a:latin typeface="造字工房悦黑体验版常规体" pitchFamily="50" charset="-122"/>
                <a:ea typeface="造字工房悦黑体验版常规体" pitchFamily="50" charset="-122"/>
              </a:rPr>
              <a:t>Social</a:t>
            </a:r>
            <a:r>
              <a:rPr lang="zh-CN" altLang="en-US" sz="2300" dirty="0" smtClean="0">
                <a:solidFill>
                  <a:schemeClr val="bg1"/>
                </a:solidFill>
                <a:latin typeface="造字工房悦黑体验版常规体" pitchFamily="50" charset="-122"/>
                <a:ea typeface="造字工房悦黑体验版常规体" pitchFamily="50" charset="-122"/>
              </a:rPr>
              <a:t>会改变所有事，在几乎所有行业都有机会。比如一个团队在做社会化音乐，把每个人和他们的数据挖出来，形成两张图。一张图表示人在音乐品味上的相互关系，一张图表示不同歌曲的相互关系。有了这两张图，就能更精确地给人推荐歌曲，介绍同品位的人成为朋友。微博和微信的终极争夺战就是谁成为社会化的操作系统。</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rPr>
              <a:t>4.3 </a:t>
            </a:r>
            <a:r>
              <a:rPr lang="zh-CN" altLang="en-US" sz="3200" b="1" dirty="0">
                <a:solidFill>
                  <a:srgbClr val="8CB1CC"/>
                </a:solidFill>
                <a:latin typeface="方正清刻本悦宋简体" panose="02000000000000000000" pitchFamily="2" charset="-122"/>
                <a:ea typeface="方正清刻本悦宋简体" panose="02000000000000000000" pitchFamily="2" charset="-122"/>
              </a:rPr>
              <a:t>大</a:t>
            </a:r>
            <a:r>
              <a:rPr lang="zh-CN" altLang="en-US" sz="3200" b="1" dirty="0" smtClean="0">
                <a:solidFill>
                  <a:srgbClr val="8CB1CC"/>
                </a:solidFill>
                <a:latin typeface="方正清刻本悦宋简体" panose="02000000000000000000" pitchFamily="2" charset="-122"/>
                <a:ea typeface="方正清刻本悦宋简体" panose="02000000000000000000" pitchFamily="2" charset="-122"/>
              </a:rPr>
              <a:t>数据化</a:t>
            </a:r>
            <a:endPar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8CB1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8CB1CC"/>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smtClean="0">
                <a:solidFill>
                  <a:srgbClr val="313131"/>
                </a:solidFill>
                <a:latin typeface="华康俪金黑W8(P)" panose="020B0800000000000000" pitchFamily="34" charset="-122"/>
                <a:ea typeface="华康俪金黑W8(P)" panose="020B0800000000000000" pitchFamily="34" charset="-122"/>
              </a:rPr>
              <a:t>7</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smtClean="0">
                <a:solidFill>
                  <a:srgbClr val="313131"/>
                </a:solidFill>
                <a:latin typeface="华康俪金黑W8(P)" panose="020B0800000000000000" pitchFamily="34" charset="-122"/>
                <a:ea typeface="华康俪金黑W8(P)" panose="020B0800000000000000" pitchFamily="34" charset="-122"/>
              </a:rPr>
              <a:t>14</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，世界杯结束。</a:t>
            </a:r>
            <a:r>
              <a:rPr lang="zh-CN" altLang="en-US" sz="2000" dirty="0" smtClean="0">
                <a:solidFill>
                  <a:srgbClr val="FFFF00"/>
                </a:solidFill>
                <a:latin typeface="华康俪金黑W8(P)" panose="020B0800000000000000" pitchFamily="34" charset="-122"/>
                <a:ea typeface="华康俪金黑W8(P)" panose="020B0800000000000000" pitchFamily="34" charset="-122"/>
              </a:rPr>
              <a:t>百</a:t>
            </a:r>
            <a:r>
              <a:rPr lang="zh-CN" altLang="en-US" sz="2000" dirty="0">
                <a:solidFill>
                  <a:srgbClr val="FFFF00"/>
                </a:solidFill>
                <a:latin typeface="华康俪金黑W8(P)" panose="020B0800000000000000" pitchFamily="34" charset="-122"/>
                <a:ea typeface="华康俪金黑W8(P)" panose="020B0800000000000000" pitchFamily="34" charset="-122"/>
              </a:rPr>
              <a:t>度预测</a:t>
            </a:r>
            <a:r>
              <a:rPr lang="zh-CN" altLang="en-US" sz="2000" dirty="0">
                <a:solidFill>
                  <a:schemeClr val="bg1"/>
                </a:solidFill>
                <a:latin typeface="华康俪金黑W8(P)" panose="020B0800000000000000" pitchFamily="34" charset="-122"/>
                <a:ea typeface="华康俪金黑W8(P)" panose="020B0800000000000000" pitchFamily="34" charset="-122"/>
              </a:rPr>
              <a:t>今年精准预测了五一的景点爆满情况和部分高考作文题，当然不会放过世界杯这个机构们测试大数据能力的舞台。本届世界杯的</a:t>
            </a:r>
            <a:r>
              <a:rPr lang="en-US" altLang="zh-CN" sz="2000" dirty="0">
                <a:solidFill>
                  <a:schemeClr val="bg1"/>
                </a:solidFill>
                <a:latin typeface="华康俪金黑W8(P)" panose="020B0800000000000000" pitchFamily="34" charset="-122"/>
                <a:ea typeface="华康俪金黑W8(P)" panose="020B0800000000000000" pitchFamily="34" charset="-122"/>
              </a:rPr>
              <a:t>16</a:t>
            </a:r>
            <a:r>
              <a:rPr lang="zh-CN" altLang="en-US" sz="2000" dirty="0">
                <a:solidFill>
                  <a:schemeClr val="bg1"/>
                </a:solidFill>
                <a:latin typeface="华康俪金黑W8(P)" panose="020B0800000000000000" pitchFamily="34" charset="-122"/>
                <a:ea typeface="华康俪金黑W8(P)" panose="020B0800000000000000" pitchFamily="34" charset="-122"/>
              </a:rPr>
              <a:t>场淘汰赛的预测，准确度达到了</a:t>
            </a:r>
            <a:r>
              <a:rPr lang="en-US" altLang="zh-CN" sz="2000" dirty="0">
                <a:solidFill>
                  <a:schemeClr val="bg1"/>
                </a:solidFill>
                <a:latin typeface="华康俪金黑W8(P)" panose="020B0800000000000000" pitchFamily="34" charset="-122"/>
                <a:ea typeface="华康俪金黑W8(P)" panose="020B0800000000000000" pitchFamily="34" charset="-122"/>
              </a:rPr>
              <a:t>100</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1" name="组合 20"/>
          <p:cNvGrpSpPr/>
          <p:nvPr/>
        </p:nvGrpSpPr>
        <p:grpSpPr>
          <a:xfrm>
            <a:off x="74608" y="3576290"/>
            <a:ext cx="4130693" cy="2853141"/>
            <a:chOff x="223768" y="428963"/>
            <a:chExt cx="3238265" cy="2236721"/>
          </a:xfrm>
        </p:grpSpPr>
        <p:sp>
          <p:nvSpPr>
            <p:cNvPr id="26" name="直角三角形 25"/>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直角三角形 26"/>
            <p:cNvSpPr/>
            <p:nvPr/>
          </p:nvSpPr>
          <p:spPr>
            <a:xfrm rot="10800000">
              <a:off x="337864" y="2493961"/>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768" y="595990"/>
              <a:ext cx="3238265" cy="1905439"/>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37196516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739924" cy="6858000"/>
          </a:xfrm>
          <a:prstGeom prst="rect">
            <a:avLst/>
          </a:prstGeom>
          <a:solidFill>
            <a:srgbClr val="E2E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3909159" y="401616"/>
            <a:ext cx="7687096" cy="4683002"/>
          </a:xfrm>
          <a:prstGeom prst="roundRect">
            <a:avLst>
              <a:gd name="adj" fmla="val 10576"/>
            </a:avLst>
          </a:prstGeom>
          <a:solidFill>
            <a:srgbClr val="445D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772213" y="680499"/>
            <a:ext cx="824593" cy="1015663"/>
          </a:xfrm>
          <a:prstGeom prst="rect">
            <a:avLst/>
          </a:prstGeom>
          <a:noFill/>
        </p:spPr>
        <p:txBody>
          <a:bodyPr wrap="square" rtlCol="0">
            <a:spAutoFit/>
          </a:bodyPr>
          <a:lstStyle/>
          <a:p>
            <a:r>
              <a:rPr lang="zh-CN" altLang="en-US"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9" name="文本框 8"/>
          <p:cNvSpPr txBox="1"/>
          <p:nvPr/>
        </p:nvSpPr>
        <p:spPr>
          <a:xfrm>
            <a:off x="10924062" y="4430385"/>
            <a:ext cx="824593" cy="1015663"/>
          </a:xfrm>
          <a:prstGeom prst="rect">
            <a:avLst/>
          </a:prstGeom>
          <a:noFill/>
        </p:spPr>
        <p:txBody>
          <a:bodyPr wrap="square" rtlCol="0">
            <a:spAutoFit/>
          </a:bodyPr>
          <a:lstStyle/>
          <a:p>
            <a:r>
              <a:rPr lang="en-US" altLang="zh-CN" sz="6000" dirty="0" smtClean="0">
                <a:solidFill>
                  <a:schemeClr val="accent5">
                    <a:lumMod val="60000"/>
                    <a:lumOff val="40000"/>
                  </a:schemeClr>
                </a:solidFill>
                <a:latin typeface="华康俪金黑W8(P)" panose="020B0800000000000000" pitchFamily="34" charset="-122"/>
                <a:ea typeface="华康俪金黑W8(P)" panose="020B0800000000000000" pitchFamily="34" charset="-122"/>
              </a:rPr>
              <a:t>”</a:t>
            </a:r>
            <a:endParaRPr lang="zh-CN" altLang="en-US" sz="6000" dirty="0">
              <a:solidFill>
                <a:schemeClr val="accent5">
                  <a:lumMod val="60000"/>
                  <a:lumOff val="40000"/>
                </a:schemeClr>
              </a:solidFill>
              <a:latin typeface="华康俪金黑W8(P)" panose="020B0800000000000000" pitchFamily="34" charset="-122"/>
              <a:ea typeface="华康俪金黑W8(P)" panose="020B0800000000000000" pitchFamily="34" charset="-122"/>
            </a:endParaRPr>
          </a:p>
        </p:txBody>
      </p:sp>
      <p:sp>
        <p:nvSpPr>
          <p:cNvPr id="10" name="文本框 9"/>
          <p:cNvSpPr txBox="1"/>
          <p:nvPr/>
        </p:nvSpPr>
        <p:spPr>
          <a:xfrm>
            <a:off x="4733752" y="838749"/>
            <a:ext cx="6557703" cy="3808735"/>
          </a:xfrm>
          <a:prstGeom prst="rect">
            <a:avLst/>
          </a:prstGeom>
          <a:noFill/>
        </p:spPr>
        <p:txBody>
          <a:bodyPr wrap="square" rtlCol="0">
            <a:spAutoFit/>
          </a:bodyPr>
          <a:lstStyle/>
          <a:p>
            <a:pPr>
              <a:lnSpc>
                <a:spcPct val="150000"/>
              </a:lnSpc>
            </a:pPr>
            <a:r>
              <a:rPr lang="zh-CN" altLang="en-US" sz="2300" dirty="0" smtClean="0">
                <a:solidFill>
                  <a:schemeClr val="bg1"/>
                </a:solidFill>
                <a:latin typeface="造字工房悦黑体验版常规体" pitchFamily="50" charset="-122"/>
                <a:ea typeface="造字工房悦黑体验版常规体" pitchFamily="50" charset="-122"/>
              </a:rPr>
              <a:t>工农业时代满足的是物质需求，而物质需求是本能。但在信息时代满足的是精神需求，是感觉。只要设计好、用起来有感觉，功能不再重要，有艺术感的极致的设计才有感染生命的力量。物质需求是有限的，但精神需求是无限的。这是信息时代可以获得十倍百倍爆发性增长的原因。量子力学里有一个著名的测不准原理，就是如此。</a:t>
            </a:r>
            <a:endParaRPr lang="en-US" altLang="zh-CN" sz="2300" dirty="0" smtClean="0">
              <a:solidFill>
                <a:schemeClr val="bg1"/>
              </a:solidFill>
              <a:latin typeface="造字工房悦黑体验版常规体" pitchFamily="50" charset="-122"/>
              <a:ea typeface="造字工房悦黑体验版常规体" pitchFamily="50" charset="-122"/>
            </a:endParaRPr>
          </a:p>
        </p:txBody>
      </p:sp>
      <p:sp>
        <p:nvSpPr>
          <p:cNvPr id="11" name="文本框 10"/>
          <p:cNvSpPr txBox="1"/>
          <p:nvPr/>
        </p:nvSpPr>
        <p:spPr>
          <a:xfrm>
            <a:off x="926629" y="2450728"/>
            <a:ext cx="2426653" cy="584775"/>
          </a:xfrm>
          <a:prstGeom prst="rect">
            <a:avLst/>
          </a:prstGeom>
          <a:noFill/>
          <a:effectLst>
            <a:outerShdw blurRad="63500" sx="102000" sy="102000" algn="ctr" rotWithShape="0">
              <a:prstClr val="black">
                <a:alpha val="40000"/>
              </a:prstClr>
            </a:outerShdw>
          </a:effectLst>
        </p:spPr>
        <p:txBody>
          <a:bodyPr wrap="square" rtlCol="0">
            <a:spAutoFit/>
          </a:bodyPr>
          <a:lstStyle/>
          <a:p>
            <a:r>
              <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rPr>
              <a:t>4.4 </a:t>
            </a:r>
            <a:r>
              <a:rPr lang="zh-CN" altLang="en-US" sz="3200" b="1" dirty="0" smtClean="0">
                <a:solidFill>
                  <a:srgbClr val="8CB1CC"/>
                </a:solidFill>
                <a:latin typeface="方正清刻本悦宋简体" panose="02000000000000000000" pitchFamily="2" charset="-122"/>
                <a:ea typeface="方正清刻本悦宋简体" panose="02000000000000000000" pitchFamily="2" charset="-122"/>
              </a:rPr>
              <a:t>极致设计</a:t>
            </a:r>
            <a:endParaRPr lang="en-US" altLang="zh-CN" sz="3200" b="1" dirty="0" smtClean="0">
              <a:solidFill>
                <a:srgbClr val="8CB1CC"/>
              </a:solidFill>
              <a:latin typeface="方正清刻本悦宋简体" panose="02000000000000000000" pitchFamily="2" charset="-122"/>
              <a:ea typeface="方正清刻本悦宋简体" panose="02000000000000000000" pitchFamily="2" charset="-122"/>
            </a:endParaRPr>
          </a:p>
        </p:txBody>
      </p:sp>
      <p:grpSp>
        <p:nvGrpSpPr>
          <p:cNvPr id="18" name="组合 17"/>
          <p:cNvGrpSpPr/>
          <p:nvPr/>
        </p:nvGrpSpPr>
        <p:grpSpPr>
          <a:xfrm>
            <a:off x="3259463" y="2602132"/>
            <a:ext cx="1287583" cy="281968"/>
            <a:chOff x="3259463" y="2602132"/>
            <a:chExt cx="1287583" cy="281968"/>
          </a:xfrm>
        </p:grpSpPr>
        <p:sp>
          <p:nvSpPr>
            <p:cNvPr id="12" name="同心圆 11"/>
            <p:cNvSpPr/>
            <p:nvPr/>
          </p:nvSpPr>
          <p:spPr>
            <a:xfrm>
              <a:off x="4266520" y="2602132"/>
              <a:ext cx="280526" cy="280526"/>
            </a:xfrm>
            <a:prstGeom prst="donut">
              <a:avLst/>
            </a:prstGeom>
            <a:solidFill>
              <a:srgbClr val="2C2C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同心圆 13"/>
            <p:cNvSpPr/>
            <p:nvPr/>
          </p:nvSpPr>
          <p:spPr>
            <a:xfrm>
              <a:off x="3259463" y="2603574"/>
              <a:ext cx="280526" cy="280526"/>
            </a:xfrm>
            <a:prstGeom prst="donu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a:stCxn id="14" idx="6"/>
              <a:endCxn id="7" idx="1"/>
            </p:cNvCxnSpPr>
            <p:nvPr/>
          </p:nvCxnSpPr>
          <p:spPr>
            <a:xfrm flipV="1">
              <a:off x="3539989" y="2743117"/>
              <a:ext cx="369170" cy="720"/>
            </a:xfrm>
            <a:prstGeom prst="line">
              <a:avLst/>
            </a:prstGeom>
            <a:ln>
              <a:solidFill>
                <a:srgbClr val="8CB1CC"/>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3909159" y="2742395"/>
              <a:ext cx="369170" cy="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4596806" y="5188594"/>
            <a:ext cx="8483321" cy="1396644"/>
            <a:chOff x="4589333" y="5177330"/>
            <a:chExt cx="8483321" cy="1285852"/>
          </a:xfrm>
        </p:grpSpPr>
        <p:sp>
          <p:nvSpPr>
            <p:cNvPr id="23" name="圆角矩形 22"/>
            <p:cNvSpPr/>
            <p:nvPr/>
          </p:nvSpPr>
          <p:spPr>
            <a:xfrm>
              <a:off x="4983134" y="5177330"/>
              <a:ext cx="8089520" cy="1285852"/>
            </a:xfrm>
            <a:prstGeom prst="roundRect">
              <a:avLst/>
            </a:prstGeom>
            <a:solidFill>
              <a:srgbClr val="8CB1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4589333" y="5589424"/>
              <a:ext cx="898442" cy="425042"/>
            </a:xfrm>
            <a:prstGeom prst="rect">
              <a:avLst/>
            </a:prstGeom>
            <a:noFill/>
          </p:spPr>
          <p:txBody>
            <a:bodyPr wrap="square" rtlCol="0">
              <a:spAutoFit/>
            </a:bodyPr>
            <a:lstStyle/>
            <a:p>
              <a:r>
                <a:rPr lang="zh-CN" altLang="en-US" sz="2400" dirty="0" smtClean="0">
                  <a:solidFill>
                    <a:srgbClr val="8CB1CC"/>
                  </a:solidFill>
                  <a:latin typeface="华康俪金黑W8(P)" panose="020B0800000000000000" pitchFamily="34" charset="-122"/>
                  <a:ea typeface="华康俪金黑W8(P)" panose="020B0800000000000000" pitchFamily="34" charset="-122"/>
                </a:rPr>
                <a:t>链</a:t>
              </a:r>
              <a:r>
                <a:rPr lang="zh-CN" altLang="en-US" sz="2400" dirty="0" smtClean="0">
                  <a:solidFill>
                    <a:srgbClr val="313131"/>
                  </a:solidFill>
                  <a:latin typeface="华康俪金黑W8(P)" panose="020B0800000000000000" pitchFamily="34" charset="-122"/>
                  <a:ea typeface="华康俪金黑W8(P)" panose="020B0800000000000000" pitchFamily="34" charset="-122"/>
                </a:rPr>
                <a:t>接</a:t>
              </a:r>
              <a:endParaRPr lang="zh-CN" altLang="en-US" sz="2400" dirty="0">
                <a:solidFill>
                  <a:srgbClr val="313131"/>
                </a:solidFill>
                <a:latin typeface="华康俪金黑W8(P)" panose="020B0800000000000000" pitchFamily="34" charset="-122"/>
                <a:ea typeface="华康俪金黑W8(P)" panose="020B0800000000000000" pitchFamily="34" charset="-122"/>
              </a:endParaRPr>
            </a:p>
          </p:txBody>
        </p:sp>
      </p:grpSp>
      <p:sp>
        <p:nvSpPr>
          <p:cNvPr id="25" name="文本框 24"/>
          <p:cNvSpPr txBox="1"/>
          <p:nvPr/>
        </p:nvSpPr>
        <p:spPr>
          <a:xfrm>
            <a:off x="5495248" y="5188594"/>
            <a:ext cx="6101007" cy="1323439"/>
          </a:xfrm>
          <a:prstGeom prst="rect">
            <a:avLst/>
          </a:prstGeom>
          <a:noFill/>
        </p:spPr>
        <p:txBody>
          <a:bodyPr wrap="square" rtlCol="0">
            <a:spAutoFit/>
          </a:bodyPr>
          <a:lstStyle/>
          <a:p>
            <a:r>
              <a:rPr lang="en-US" altLang="zh-CN" sz="2000" dirty="0" smtClean="0">
                <a:solidFill>
                  <a:srgbClr val="313131"/>
                </a:solidFill>
                <a:latin typeface="华康俪金黑W8(P)" panose="020B0800000000000000" pitchFamily="34" charset="-122"/>
                <a:ea typeface="华康俪金黑W8(P)" panose="020B0800000000000000" pitchFamily="34" charset="-122"/>
              </a:rPr>
              <a:t>2014</a:t>
            </a:r>
            <a:r>
              <a:rPr lang="zh-CN" altLang="en-US" sz="2000" dirty="0" smtClean="0">
                <a:solidFill>
                  <a:srgbClr val="313131"/>
                </a:solidFill>
                <a:latin typeface="华康俪金黑W8(P)" panose="020B0800000000000000" pitchFamily="34" charset="-122"/>
                <a:ea typeface="华康俪金黑W8(P)" panose="020B0800000000000000" pitchFamily="34" charset="-122"/>
              </a:rPr>
              <a:t>年</a:t>
            </a:r>
            <a:r>
              <a:rPr lang="en-US" altLang="zh-CN" sz="2000" dirty="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月</a:t>
            </a:r>
            <a:r>
              <a:rPr lang="en-US" altLang="zh-CN" sz="2000" dirty="0">
                <a:solidFill>
                  <a:srgbClr val="313131"/>
                </a:solidFill>
                <a:latin typeface="华康俪金黑W8(P)" panose="020B0800000000000000" pitchFamily="34" charset="-122"/>
                <a:ea typeface="华康俪金黑W8(P)" panose="020B0800000000000000" pitchFamily="34" charset="-122"/>
              </a:rPr>
              <a:t>8</a:t>
            </a:r>
            <a:r>
              <a:rPr lang="zh-CN" altLang="en-US" sz="2000" dirty="0" smtClean="0">
                <a:solidFill>
                  <a:srgbClr val="313131"/>
                </a:solidFill>
                <a:latin typeface="华康俪金黑W8(P)" panose="020B0800000000000000" pitchFamily="34" charset="-122"/>
                <a:ea typeface="华康俪金黑W8(P)" panose="020B0800000000000000" pitchFamily="34" charset="-122"/>
              </a:rPr>
              <a:t>日</a:t>
            </a:r>
            <a:r>
              <a:rPr lang="zh-CN" altLang="en-US" sz="2000" dirty="0" smtClean="0">
                <a:solidFill>
                  <a:schemeClr val="bg1"/>
                </a:solidFill>
                <a:latin typeface="华康俪金黑W8(P)" panose="020B0800000000000000" pitchFamily="34" charset="-122"/>
                <a:ea typeface="华康俪金黑W8(P)" panose="020B0800000000000000" pitchFamily="34" charset="-122"/>
              </a:rPr>
              <a:t>，</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秦时明月之龙腾万里</a:t>
            </a:r>
            <a:r>
              <a:rPr lang="en-US" altLang="zh-CN" sz="2000" dirty="0" smtClean="0">
                <a:solidFill>
                  <a:schemeClr val="bg1"/>
                </a:solidFill>
                <a:latin typeface="华康俪金黑W8(P)" panose="020B0800000000000000" pitchFamily="34" charset="-122"/>
                <a:ea typeface="华康俪金黑W8(P)" panose="020B0800000000000000" pitchFamily="34" charset="-122"/>
              </a:rPr>
              <a:t>》</a:t>
            </a:r>
            <a:r>
              <a:rPr lang="zh-CN" altLang="en-US" sz="2000" dirty="0" smtClean="0">
                <a:solidFill>
                  <a:schemeClr val="bg1"/>
                </a:solidFill>
                <a:latin typeface="华康俪金黑W8(P)" panose="020B0800000000000000" pitchFamily="34" charset="-122"/>
                <a:ea typeface="华康俪金黑W8(P)" panose="020B0800000000000000" pitchFamily="34" charset="-122"/>
              </a:rPr>
              <a:t>上映，尽管在故事剧情和人物设置上只是差强人意，但在画面绘制上却让人惊喜，被誉为“挑战中国动画极限”。所谓极致的设计，可以抵达成功。</a:t>
            </a:r>
            <a:endParaRPr lang="zh-CN" altLang="en-US" sz="2000" dirty="0">
              <a:solidFill>
                <a:schemeClr val="bg1"/>
              </a:solidFill>
              <a:latin typeface="华康俪金黑W8(P)" panose="020B0800000000000000" pitchFamily="34" charset="-122"/>
              <a:ea typeface="华康俪金黑W8(P)" panose="020B0800000000000000" pitchFamily="34" charset="-122"/>
            </a:endParaRPr>
          </a:p>
        </p:txBody>
      </p:sp>
      <p:grpSp>
        <p:nvGrpSpPr>
          <p:cNvPr id="21" name="组合 20"/>
          <p:cNvGrpSpPr/>
          <p:nvPr/>
        </p:nvGrpSpPr>
        <p:grpSpPr>
          <a:xfrm>
            <a:off x="74608" y="3576290"/>
            <a:ext cx="4420812" cy="2633345"/>
            <a:chOff x="223768" y="428963"/>
            <a:chExt cx="3465704" cy="2064412"/>
          </a:xfrm>
        </p:grpSpPr>
        <p:sp>
          <p:nvSpPr>
            <p:cNvPr id="26" name="直角三角形 25"/>
            <p:cNvSpPr/>
            <p:nvPr/>
          </p:nvSpPr>
          <p:spPr>
            <a:xfrm rot="10800000" flipV="1">
              <a:off x="337864" y="428963"/>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直角三角形 26"/>
            <p:cNvSpPr/>
            <p:nvPr/>
          </p:nvSpPr>
          <p:spPr>
            <a:xfrm rot="10800000">
              <a:off x="337864" y="2321652"/>
              <a:ext cx="400857" cy="171723"/>
            </a:xfrm>
            <a:prstGeom prst="rtTriangle">
              <a:avLst/>
            </a:prstGeom>
            <a:solidFill>
              <a:schemeClr val="bg1"/>
            </a:soli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8" name="图片 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768" y="588804"/>
              <a:ext cx="3465704" cy="1732848"/>
            </a:xfrm>
            <a:prstGeom prst="roundRect">
              <a:avLst>
                <a:gd name="adj" fmla="val 9858"/>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grpSp>
    </p:spTree>
    <p:extLst>
      <p:ext uri="{BB962C8B-B14F-4D97-AF65-F5344CB8AC3E}">
        <p14:creationId xmlns:p14="http://schemas.microsoft.com/office/powerpoint/2010/main" val="242808164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393163" y="1092485"/>
            <a:ext cx="7405675" cy="391517"/>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944" dirty="0">
                <a:solidFill>
                  <a:prstClr val="black"/>
                </a:solidFill>
                <a:latin typeface="微软雅黑" pitchFamily="34" charset="-122"/>
                <a:ea typeface="微软雅黑" pitchFamily="34" charset="-122"/>
              </a:rPr>
              <a:t>你也想免费得到出版社赠书做</a:t>
            </a:r>
            <a:r>
              <a:rPr lang="en-US" altLang="zh-CN" sz="1944" dirty="0">
                <a:solidFill>
                  <a:prstClr val="black"/>
                </a:solidFill>
                <a:latin typeface="微软雅黑" pitchFamily="34" charset="-122"/>
                <a:ea typeface="微软雅黑" pitchFamily="34" charset="-122"/>
              </a:rPr>
              <a:t>PPT</a:t>
            </a:r>
            <a:r>
              <a:rPr lang="zh-CN" altLang="en-US" sz="1944" dirty="0">
                <a:solidFill>
                  <a:prstClr val="black"/>
                </a:solidFill>
                <a:latin typeface="微软雅黑" pitchFamily="34" charset="-122"/>
                <a:ea typeface="微软雅黑" pitchFamily="34" charset="-122"/>
              </a:rPr>
              <a:t>读书笔记？</a:t>
            </a:r>
          </a:p>
        </p:txBody>
      </p:sp>
      <p:sp>
        <p:nvSpPr>
          <p:cNvPr id="9" name="右箭头 8"/>
          <p:cNvSpPr/>
          <p:nvPr/>
        </p:nvSpPr>
        <p:spPr>
          <a:xfrm>
            <a:off x="4240771"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0" name="右箭头 9"/>
          <p:cNvSpPr/>
          <p:nvPr/>
        </p:nvSpPr>
        <p:spPr>
          <a:xfrm>
            <a:off x="6029098"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1" name="右箭头 10"/>
          <p:cNvSpPr/>
          <p:nvPr/>
        </p:nvSpPr>
        <p:spPr>
          <a:xfrm>
            <a:off x="7895354" y="2846589"/>
            <a:ext cx="116641" cy="217026"/>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endParaRPr>
          </a:p>
        </p:txBody>
      </p:sp>
      <p:sp>
        <p:nvSpPr>
          <p:cNvPr id="12" name="TextBox 11"/>
          <p:cNvSpPr txBox="1"/>
          <p:nvPr/>
        </p:nvSpPr>
        <p:spPr>
          <a:xfrm>
            <a:off x="2480129" y="3987562"/>
            <a:ext cx="7405675" cy="1791196"/>
          </a:xfrm>
          <a:prstGeom prst="rect">
            <a:avLst/>
          </a:prstGeom>
          <a:noFill/>
          <a:effectLst/>
        </p:spPr>
        <p:txBody>
          <a:bodyPr wrap="square" rtlCol="0" anchor="ctr">
            <a:spAutoFit/>
          </a:bodyPr>
          <a:lstStyle/>
          <a:p>
            <a:pPr eaLnBrk="0" fontAlgn="base" hangingPunct="0">
              <a:spcBef>
                <a:spcPts val="1458"/>
              </a:spcBef>
              <a:spcAft>
                <a:spcPct val="0"/>
              </a:spcAft>
            </a:pPr>
            <a:r>
              <a:rPr lang="zh-CN" altLang="en-US" sz="1458" dirty="0">
                <a:solidFill>
                  <a:prstClr val="black"/>
                </a:solidFill>
                <a:latin typeface="微软雅黑" pitchFamily="34" charset="-122"/>
                <a:ea typeface="微软雅黑" pitchFamily="34" charset="-122"/>
              </a:rPr>
              <a:t>  友情提示：马上就去新浪微博</a:t>
            </a:r>
            <a:endParaRPr lang="en-US" altLang="zh-CN" sz="1458" dirty="0">
              <a:solidFill>
                <a:prstClr val="black"/>
              </a:solidFill>
              <a:latin typeface="微软雅黑" pitchFamily="34" charset="-122"/>
              <a:ea typeface="微软雅黑" pitchFamily="34" charset="-122"/>
            </a:endParaRPr>
          </a:p>
          <a:p>
            <a:pPr eaLnBrk="0" fontAlgn="base" hangingPunct="0">
              <a:spcBef>
                <a:spcPts val="1458"/>
              </a:spcBef>
              <a:spcAft>
                <a:spcPct val="0"/>
              </a:spcAft>
            </a:pPr>
            <a:r>
              <a:rPr lang="en-US" altLang="zh-CN" sz="1458" dirty="0">
                <a:solidFill>
                  <a:prstClr val="black"/>
                </a:solidFill>
                <a:latin typeface="微软雅黑" pitchFamily="34" charset="-122"/>
                <a:ea typeface="微软雅黑" pitchFamily="34" charset="-122"/>
              </a:rPr>
              <a:t>  1</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时间卡片  ，可以看到其它学员读书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制作约定</a:t>
            </a:r>
            <a:endParaRPr lang="en-US" altLang="zh-CN" sz="1458" dirty="0">
              <a:solidFill>
                <a:prstClr val="black"/>
              </a:solidFill>
              <a:latin typeface="微软雅黑" pitchFamily="34" charset="-122"/>
              <a:ea typeface="微软雅黑" pitchFamily="34" charset="-122"/>
            </a:endParaRP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2</a:t>
            </a:r>
            <a:r>
              <a:rPr lang="zh-CN" altLang="en-US" sz="1458" dirty="0">
                <a:solidFill>
                  <a:prstClr val="black"/>
                </a:solidFill>
                <a:latin typeface="微软雅黑" pitchFamily="34" charset="-122"/>
                <a:ea typeface="微软雅黑" pitchFamily="34" charset="-122"/>
              </a:rPr>
              <a:t>、关注</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读书笔记</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，可以看到其它学员已经提交的读书</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3</a:t>
            </a:r>
            <a:r>
              <a:rPr lang="zh-CN" altLang="en-US" sz="1458" dirty="0">
                <a:solidFill>
                  <a:prstClr val="black"/>
                </a:solidFill>
                <a:latin typeface="微软雅黑" pitchFamily="34" charset="-122"/>
                <a:ea typeface="微软雅黑" pitchFamily="34" charset="-122"/>
              </a:rPr>
              <a:t>、搜</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和秋叶一起学</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标签，可以看到其它学员已经提交的作业</a:t>
            </a:r>
            <a:r>
              <a:rPr lang="en-US" altLang="zh-CN" sz="1458" dirty="0">
                <a:solidFill>
                  <a:prstClr val="black"/>
                </a:solidFill>
                <a:latin typeface="微软雅黑" pitchFamily="34" charset="-122"/>
                <a:ea typeface="微软雅黑" pitchFamily="34" charset="-122"/>
              </a:rPr>
              <a:t>PPT</a:t>
            </a:r>
          </a:p>
          <a:p>
            <a:pPr eaLnBrk="0" fontAlgn="base" hangingPunct="0">
              <a:spcBef>
                <a:spcPts val="972"/>
              </a:spcBef>
              <a:spcAft>
                <a:spcPct val="0"/>
              </a:spcAft>
            </a:pPr>
            <a:r>
              <a:rPr lang="en-US" altLang="zh-CN" sz="1458" dirty="0">
                <a:solidFill>
                  <a:prstClr val="black"/>
                </a:solidFill>
                <a:latin typeface="微软雅黑" pitchFamily="34" charset="-122"/>
                <a:ea typeface="微软雅黑" pitchFamily="34" charset="-122"/>
              </a:rPr>
              <a:t>  4</a:t>
            </a:r>
            <a:r>
              <a:rPr lang="zh-CN" altLang="en-US" sz="1458" dirty="0">
                <a:solidFill>
                  <a:prstClr val="black"/>
                </a:solidFill>
                <a:latin typeface="微软雅黑" pitchFamily="34" charset="-122"/>
                <a:ea typeface="微软雅黑" pitchFamily="34" charset="-122"/>
              </a:rPr>
              <a:t>、国内主流出版社都已经和</a:t>
            </a:r>
            <a:r>
              <a:rPr lang="en-US" altLang="zh-CN" sz="1458" dirty="0">
                <a:solidFill>
                  <a:prstClr val="black"/>
                </a:solidFill>
                <a:latin typeface="微软雅黑" pitchFamily="34" charset="-122"/>
                <a:ea typeface="微软雅黑" pitchFamily="34" charset="-122"/>
              </a:rPr>
              <a:t>@</a:t>
            </a:r>
            <a:r>
              <a:rPr lang="zh-CN" altLang="en-US" sz="1458"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2655091" y="4303808"/>
            <a:ext cx="6881820"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2480129" y="2291753"/>
            <a:ext cx="1574654" cy="1086373"/>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17" name="矩形 16"/>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a:t>
              </a:r>
              <a:r>
                <a:rPr lang="en-US" altLang="zh-CN" sz="1458" dirty="0">
                  <a:solidFill>
                    <a:prstClr val="white"/>
                  </a:solidFill>
                  <a:latin typeface="微软雅黑" pitchFamily="34" charset="-122"/>
                  <a:ea typeface="微软雅黑" pitchFamily="34" charset="-122"/>
                </a:rPr>
                <a:t>99</a:t>
              </a:r>
              <a:r>
                <a:rPr lang="zh-CN" altLang="en-US" sz="1458" dirty="0">
                  <a:solidFill>
                    <a:prstClr val="white"/>
                  </a:solidFill>
                  <a:latin typeface="微软雅黑" pitchFamily="34" charset="-122"/>
                  <a:ea typeface="微软雅黑" pitchFamily="34" charset="-122"/>
                </a:rPr>
                <a:t>元</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网易云课堂</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PPT</a:t>
              </a:r>
              <a:r>
                <a:rPr lang="zh-CN" altLang="en-US" sz="1458" dirty="0">
                  <a:solidFill>
                    <a:prstClr val="white"/>
                  </a:solidFill>
                  <a:latin typeface="微软雅黑" pitchFamily="34" charset="-122"/>
                  <a:ea typeface="微软雅黑" pitchFamily="34" charset="-122"/>
                </a:rPr>
                <a:t>在线课程</a:t>
              </a:r>
              <a:endParaRPr lang="en-US" altLang="zh-CN" sz="1458"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4321639" y="2291754"/>
            <a:ext cx="1656078" cy="1086375"/>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2" name="矩形 21"/>
            <p:cNvSpPr/>
            <p:nvPr/>
          </p:nvSpPr>
          <p:spPr>
            <a:xfrm>
              <a:off x="256003" y="2382195"/>
              <a:ext cx="1896184" cy="945062"/>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购买后去微</a:t>
              </a:r>
              <a:r>
                <a:rPr lang="zh-CN" altLang="en-US" sz="1458" dirty="0" smtClean="0">
                  <a:solidFill>
                    <a:prstClr val="white"/>
                  </a:solidFill>
                  <a:latin typeface="微软雅黑" pitchFamily="34" charset="-122"/>
                  <a:ea typeface="微软雅黑" pitchFamily="34" charset="-122"/>
                </a:rPr>
                <a:t>博</a:t>
              </a:r>
              <a:endParaRPr lang="en-US" altLang="zh-CN" sz="1458" dirty="0" smtClean="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smtClean="0">
                  <a:solidFill>
                    <a:prstClr val="white"/>
                  </a:solidFill>
                  <a:latin typeface="微软雅黑" pitchFamily="34" charset="-122"/>
                  <a:ea typeface="微软雅黑" pitchFamily="34" charset="-122"/>
                </a:rPr>
                <a:t>私信</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秋叶</a:t>
              </a:r>
              <a:endParaRPr lang="en-US" altLang="zh-CN" sz="1458"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要福利</a:t>
              </a:r>
              <a:r>
                <a:rPr lang="en-US" altLang="zh-CN" sz="1458" dirty="0">
                  <a:solidFill>
                    <a:prstClr val="white"/>
                  </a:solidFill>
                  <a:latin typeface="微软雅黑" pitchFamily="34" charset="-122"/>
                  <a:ea typeface="微软雅黑" pitchFamily="34" charset="-122"/>
                </a:rPr>
                <a:t>QQ</a:t>
              </a:r>
              <a:r>
                <a:rPr lang="zh-CN" altLang="en-US" sz="1458" dirty="0">
                  <a:solidFill>
                    <a:prstClr val="white"/>
                  </a:solidFill>
                  <a:latin typeface="微软雅黑" pitchFamily="34" charset="-122"/>
                  <a:ea typeface="微软雅黑" pitchFamily="34" charset="-122"/>
                </a:rPr>
                <a:t>群号</a:t>
              </a:r>
              <a:endParaRPr lang="en-US" altLang="zh-CN" sz="1458"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6132990" y="2291753"/>
            <a:ext cx="1574654" cy="1086373"/>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26" name="矩形 25"/>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新浪微博晒作业被老师肯定奖励内部选书</a:t>
              </a:r>
              <a:endParaRPr lang="en-US" altLang="zh-CN" sz="1458"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7953671" y="2291753"/>
            <a:ext cx="1574654" cy="1086373"/>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458">
                <a:solidFill>
                  <a:prstClr val="white"/>
                </a:solidFill>
                <a:latin typeface="微软雅黑" pitchFamily="34" charset="-122"/>
                <a:ea typeface="微软雅黑" pitchFamily="34" charset="-122"/>
              </a:endParaRPr>
            </a:p>
          </p:txBody>
        </p:sp>
        <p:sp>
          <p:nvSpPr>
            <p:cNvPr id="30" name="矩形 29"/>
            <p:cNvSpPr/>
            <p:nvPr/>
          </p:nvSpPr>
          <p:spPr>
            <a:xfrm>
              <a:off x="323411" y="2382197"/>
              <a:ext cx="1728239" cy="945064"/>
            </a:xfrm>
            <a:prstGeom prst="rect">
              <a:avLst/>
            </a:prstGeom>
          </p:spPr>
          <p:txBody>
            <a:bodyPr wrap="square">
              <a:spAutoFit/>
            </a:bodyPr>
            <a:lstStyle/>
            <a:p>
              <a:pPr algn="ctr" eaLnBrk="0" fontAlgn="base" hangingPunct="0">
                <a:spcBef>
                  <a:spcPct val="0"/>
                </a:spcBef>
                <a:spcAft>
                  <a:spcPct val="0"/>
                </a:spcAft>
              </a:pPr>
              <a:r>
                <a:rPr lang="zh-CN" altLang="en-US" sz="1458" dirty="0">
                  <a:solidFill>
                    <a:prstClr val="white"/>
                  </a:solidFill>
                  <a:latin typeface="微软雅黑" pitchFamily="34" charset="-122"/>
                  <a:ea typeface="微软雅黑" pitchFamily="34" charset="-122"/>
                </a:rPr>
                <a:t>出版社寄书到后约</a:t>
              </a:r>
              <a:r>
                <a:rPr lang="en-US" altLang="zh-CN" sz="1458" dirty="0">
                  <a:solidFill>
                    <a:prstClr val="white"/>
                  </a:solidFill>
                  <a:latin typeface="微软雅黑" pitchFamily="34" charset="-122"/>
                  <a:ea typeface="微软雅黑" pitchFamily="34" charset="-122"/>
                </a:rPr>
                <a:t>@</a:t>
              </a:r>
              <a:r>
                <a:rPr lang="zh-CN" altLang="en-US" sz="1458" dirty="0">
                  <a:solidFill>
                    <a:prstClr val="white"/>
                  </a:solidFill>
                  <a:latin typeface="微软雅黑" pitchFamily="34" charset="-122"/>
                  <a:ea typeface="微软雅黑" pitchFamily="34" charset="-122"/>
                </a:rPr>
                <a:t>时间卡片 晒读书</a:t>
              </a:r>
              <a:r>
                <a:rPr lang="en-US" altLang="zh-CN" sz="1458"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391026"/>
            </a:xfrm>
            <a:prstGeom prst="rect">
              <a:avLst/>
            </a:prstGeom>
          </p:spPr>
          <p:txBody>
            <a:bodyPr wrap="square">
              <a:spAutoFit/>
            </a:bodyPr>
            <a:lstStyle/>
            <a:p>
              <a:pPr algn="ctr" eaLnBrk="0" fontAlgn="base" hangingPunct="0">
                <a:spcBef>
                  <a:spcPct val="0"/>
                </a:spcBef>
                <a:spcAft>
                  <a:spcPct val="0"/>
                </a:spcAft>
              </a:pPr>
              <a:r>
                <a:rPr lang="en-US" altLang="zh-CN" sz="1458"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39647911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396388" y="3953873"/>
            <a:ext cx="7425926" cy="1301778"/>
            <a:chOff x="0" y="3359571"/>
            <a:chExt cx="9169004" cy="1607344"/>
          </a:xfrm>
        </p:grpSpPr>
        <p:sp>
          <p:nvSpPr>
            <p:cNvPr id="5" name="矩形 4"/>
            <p:cNvSpPr/>
            <p:nvPr/>
          </p:nvSpPr>
          <p:spPr>
            <a:xfrm>
              <a:off x="1245140" y="3973770"/>
              <a:ext cx="4572001" cy="545013"/>
            </a:xfrm>
            <a:prstGeom prst="rect">
              <a:avLst/>
            </a:prstGeom>
          </p:spPr>
          <p:txBody>
            <a:bodyPr>
              <a:spAutoFit/>
            </a:bodyPr>
            <a:lstStyle/>
            <a:p>
              <a:pPr defTabSz="74504" eaLnBrk="0" fontAlgn="base" hangingPunct="0">
                <a:spcBef>
                  <a:spcPct val="0"/>
                </a:spcBef>
                <a:spcAft>
                  <a:spcPct val="0"/>
                </a:spcAft>
                <a:defRPr/>
              </a:pPr>
              <a:r>
                <a:rPr lang="en-US" altLang="zh-CN" sz="1134" kern="0" dirty="0">
                  <a:solidFill>
                    <a:prstClr val="black"/>
                  </a:solidFill>
                  <a:latin typeface="Arial" panose="020B0604020202020204" pitchFamily="34" charset="0"/>
                </a:rPr>
                <a:t/>
              </a:r>
              <a:br>
                <a:rPr lang="en-US" altLang="zh-CN" sz="1134" kern="0" dirty="0">
                  <a:solidFill>
                    <a:prstClr val="black"/>
                  </a:solidFill>
                  <a:latin typeface="Arial" panose="020B0604020202020204" pitchFamily="34" charset="0"/>
                </a:rPr>
              </a:br>
              <a:endParaRPr lang="en-US" altLang="zh-CN" sz="1134"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2" y="3613174"/>
              <a:ext cx="594123" cy="575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2430"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4859"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2"/>
              <a:ext cx="3543296" cy="92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3646"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944"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944"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555443" eaLnBrk="0" fontAlgn="base" hangingPunct="0">
                <a:lnSpc>
                  <a:spcPct val="100000"/>
                </a:lnSpc>
                <a:spcBef>
                  <a:spcPct val="0"/>
                </a:spcBef>
                <a:spcAft>
                  <a:spcPct val="0"/>
                </a:spcAft>
                <a:buFont typeface="Arial" panose="020B0604020202020204" pitchFamily="34" charset="0"/>
                <a:buNone/>
                <a:defRPr/>
              </a:pPr>
              <a:endParaRPr lang="zh-CN" altLang="en-US" sz="638"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6"/>
              <a:ext cx="1596629" cy="437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852"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9" y="4183482"/>
              <a:ext cx="757239" cy="760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702"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555443" eaLnBrk="0" fontAlgn="base" hangingPunct="0">
                  <a:spcBef>
                    <a:spcPct val="0"/>
                  </a:spcBef>
                  <a:spcAft>
                    <a:spcPct val="0"/>
                  </a:spcAft>
                  <a:defRPr/>
                </a:pPr>
                <a:endParaRPr lang="zh-CN" altLang="en-US" sz="1094"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3"/>
              <a:ext cx="3107857" cy="345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555443" eaLnBrk="0" fontAlgn="base" hangingPunct="0">
                <a:lnSpc>
                  <a:spcPct val="100000"/>
                </a:lnSpc>
                <a:spcBef>
                  <a:spcPct val="0"/>
                </a:spcBef>
                <a:spcAft>
                  <a:spcPct val="0"/>
                </a:spcAft>
                <a:buFont typeface="Arial" panose="020B0604020202020204" pitchFamily="34" charset="0"/>
                <a:buNone/>
                <a:defRPr/>
              </a:pPr>
              <a:r>
                <a:rPr lang="zh-CN" altLang="en-US" sz="1216"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3368540" y="1387104"/>
            <a:ext cx="5481623" cy="2353273"/>
          </a:xfrm>
          <a:prstGeom prst="rect">
            <a:avLst/>
          </a:prstGeom>
          <a:noFill/>
        </p:spPr>
        <p:txBody>
          <a:bodyPr wrap="square" rtlCol="0">
            <a:spAutoFit/>
          </a:bodyPr>
          <a:lstStyle/>
          <a:p>
            <a:pPr algn="ctr" eaLnBrk="0" fontAlgn="base" hangingPunct="0">
              <a:spcBef>
                <a:spcPct val="0"/>
              </a:spcBef>
              <a:spcAft>
                <a:spcPct val="0"/>
              </a:spcAft>
            </a:pPr>
            <a:r>
              <a:rPr lang="en-US" altLang="zh-CN" sz="2916" b="1" dirty="0">
                <a:solidFill>
                  <a:srgbClr val="E50515"/>
                </a:solidFill>
                <a:latin typeface="微软雅黑" panose="020B0503020204020204" pitchFamily="34" charset="-122"/>
                <a:ea typeface="微软雅黑" panose="020B0503020204020204" pitchFamily="34" charset="-122"/>
              </a:rPr>
              <a:t>#</a:t>
            </a:r>
            <a:r>
              <a:rPr lang="zh-CN" altLang="en-US" sz="2916" b="1" dirty="0">
                <a:solidFill>
                  <a:srgbClr val="E50515"/>
                </a:solidFill>
                <a:latin typeface="微软雅黑" panose="020B0503020204020204" pitchFamily="34" charset="-122"/>
                <a:ea typeface="微软雅黑" panose="020B0503020204020204" pitchFamily="34" charset="-122"/>
              </a:rPr>
              <a:t>和秋叶一起学</a:t>
            </a:r>
            <a:r>
              <a:rPr lang="en-US" altLang="zh-CN" sz="2916"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2430"/>
              </a:spcBef>
              <a:spcAft>
                <a:spcPct val="0"/>
              </a:spcAft>
            </a:pPr>
            <a:r>
              <a:rPr lang="zh-CN" altLang="en-US" sz="3564" b="1" dirty="0" smtClean="0">
                <a:solidFill>
                  <a:prstClr val="black"/>
                </a:solidFill>
                <a:latin typeface="微软雅黑" panose="020B0503020204020204" pitchFamily="34" charset="-122"/>
                <a:ea typeface="微软雅黑" panose="020B0503020204020204" pitchFamily="34" charset="-122"/>
              </a:rPr>
              <a:t>学员暑假读书</a:t>
            </a:r>
            <a:r>
              <a:rPr lang="zh-CN" altLang="en-US" sz="3564" b="1" dirty="0">
                <a:solidFill>
                  <a:prstClr val="black"/>
                </a:solidFill>
                <a:latin typeface="微软雅黑" panose="020B0503020204020204" pitchFamily="34" charset="-122"/>
                <a:ea typeface="微软雅黑" panose="020B0503020204020204" pitchFamily="34" charset="-122"/>
              </a:rPr>
              <a:t>笔记</a:t>
            </a:r>
            <a:r>
              <a:rPr lang="en-US" altLang="zh-CN" sz="3564" b="1" dirty="0" smtClean="0">
                <a:solidFill>
                  <a:prstClr val="black"/>
                </a:solidFill>
                <a:latin typeface="微软雅黑" panose="020B0503020204020204" pitchFamily="34" charset="-122"/>
                <a:ea typeface="微软雅黑" panose="020B0503020204020204" pitchFamily="34" charset="-122"/>
              </a:rPr>
              <a:t>152</a:t>
            </a:r>
            <a:r>
              <a:rPr lang="zh-CN" altLang="en-US" sz="3564" b="1" dirty="0" smtClean="0">
                <a:solidFill>
                  <a:prstClr val="black"/>
                </a:solidFill>
                <a:latin typeface="微软雅黑" panose="020B0503020204020204" pitchFamily="34" charset="-122"/>
                <a:ea typeface="微软雅黑" panose="020B0503020204020204" pitchFamily="34" charset="-122"/>
              </a:rPr>
              <a:t>号</a:t>
            </a:r>
            <a:endParaRPr lang="en-US" altLang="zh-CN" sz="3564"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2430"/>
              </a:spcBef>
              <a:spcAft>
                <a:spcPct val="0"/>
              </a:spcAft>
            </a:pPr>
            <a:r>
              <a:rPr lang="zh-CN" altLang="en-US" sz="2268" b="1" dirty="0">
                <a:solidFill>
                  <a:prstClr val="black"/>
                </a:solidFill>
                <a:latin typeface="微软雅黑" panose="020B0503020204020204" pitchFamily="34" charset="-122"/>
                <a:ea typeface="微软雅黑" panose="020B0503020204020204" pitchFamily="34" charset="-122"/>
              </a:rPr>
              <a:t>你也想做？请马上</a:t>
            </a:r>
            <a:r>
              <a:rPr lang="en-US" altLang="zh-CN" sz="2268" b="1" dirty="0">
                <a:solidFill>
                  <a:prstClr val="black"/>
                </a:solidFill>
                <a:latin typeface="微软雅黑" panose="020B0503020204020204" pitchFamily="34" charset="-122"/>
                <a:ea typeface="微软雅黑" panose="020B0503020204020204" pitchFamily="34" charset="-122"/>
              </a:rPr>
              <a:t>@</a:t>
            </a:r>
            <a:r>
              <a:rPr lang="zh-CN" altLang="en-US" sz="2268" b="1" dirty="0">
                <a:solidFill>
                  <a:prstClr val="black"/>
                </a:solidFill>
                <a:latin typeface="微软雅黑" panose="020B0503020204020204" pitchFamily="34" charset="-122"/>
                <a:ea typeface="微软雅黑" panose="020B0503020204020204" pitchFamily="34" charset="-122"/>
              </a:rPr>
              <a:t>时间卡片 约定</a:t>
            </a:r>
            <a:endParaRPr lang="en-US" altLang="zh-CN" sz="2268"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944"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944" b="1" dirty="0">
                <a:solidFill>
                  <a:prstClr val="black"/>
                </a:solidFill>
                <a:latin typeface="微软雅黑" panose="020B0503020204020204" pitchFamily="34" charset="-122"/>
                <a:ea typeface="微软雅黑" panose="020B0503020204020204" pitchFamily="34" charset="-122"/>
              </a:rPr>
              <a:t>PPT</a:t>
            </a:r>
            <a:r>
              <a:rPr lang="zh-CN" altLang="en-US" sz="1944"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51466110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603</TotalTime>
  <Words>3607</Words>
  <Application>Microsoft Office PowerPoint</Application>
  <PresentationFormat>宽屏</PresentationFormat>
  <Paragraphs>178</Paragraphs>
  <Slides>25</Slides>
  <Notes>0</Notes>
  <HiddenSlides>1</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25</vt:i4>
      </vt:variant>
    </vt:vector>
  </HeadingPairs>
  <TitlesOfParts>
    <vt:vector size="39" baseType="lpstr">
      <vt:lpstr>Anna Nicole NF</vt:lpstr>
      <vt:lpstr>创艺简标宋</vt:lpstr>
      <vt:lpstr>方正清刻本悦宋简体</vt:lpstr>
      <vt:lpstr>方正正黑简体</vt:lpstr>
      <vt:lpstr>方正正中黑简体</vt:lpstr>
      <vt:lpstr>华康俪金黑W8(P)</vt:lpstr>
      <vt:lpstr>宋体</vt:lpstr>
      <vt:lpstr>微软雅黑</vt:lpstr>
      <vt:lpstr>造字工房悦黑体验版常规体</vt:lpstr>
      <vt:lpstr>Arial</vt:lpstr>
      <vt:lpstr>Calibri</vt:lpstr>
      <vt:lpstr>Calibri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但愿</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dandoliya</dc:creator>
  <cp:lastModifiedBy>小巴</cp:lastModifiedBy>
  <cp:revision>84</cp:revision>
  <dcterms:created xsi:type="dcterms:W3CDTF">2014-08-26T14:00:31Z</dcterms:created>
  <dcterms:modified xsi:type="dcterms:W3CDTF">2014-09-17T07:44:39Z</dcterms:modified>
</cp:coreProperties>
</file>