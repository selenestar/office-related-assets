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1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7268"/>
    <a:srgbClr val="00A1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44" autoAdjust="0"/>
    <p:restoredTop sz="93525" autoAdjust="0"/>
  </p:normalViewPr>
  <p:slideViewPr>
    <p:cSldViewPr snapToGrid="0">
      <p:cViewPr varScale="1">
        <p:scale>
          <a:sx n="69" d="100"/>
          <a:sy n="69" d="100"/>
        </p:scale>
        <p:origin x="918" y="72"/>
      </p:cViewPr>
      <p:guideLst>
        <p:guide orient="horz" pos="2137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0F002A-2C12-4244-B682-181BF3ABFA87}" type="datetimeFigureOut">
              <a:rPr lang="zh-CN" altLang="en-US" smtClean="0"/>
              <a:t>2014/5/1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E815F7-B013-49DE-9445-9030BCB850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7565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E815F7-B013-49DE-9445-9030BCB85016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1318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4F1D5-2F82-4CD6-BEDD-82ABB041ECE3}" type="datetimeFigureOut">
              <a:rPr lang="zh-CN" altLang="en-US" smtClean="0"/>
              <a:t>2014/5/1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BBA0B-6850-41F7-BB31-7EB5ED27C3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847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4F1D5-2F82-4CD6-BEDD-82ABB041ECE3}" type="datetimeFigureOut">
              <a:rPr lang="zh-CN" altLang="en-US" smtClean="0"/>
              <a:t>2014/5/1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BBA0B-6850-41F7-BB31-7EB5ED27C3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3989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4F1D5-2F82-4CD6-BEDD-82ABB041ECE3}" type="datetimeFigureOut">
              <a:rPr lang="zh-CN" altLang="en-US" smtClean="0"/>
              <a:t>2014/5/1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BBA0B-6850-41F7-BB31-7EB5ED27C3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2009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4F1D5-2F82-4CD6-BEDD-82ABB041ECE3}" type="datetimeFigureOut">
              <a:rPr lang="zh-CN" altLang="en-US" smtClean="0"/>
              <a:t>2014/5/1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BBA0B-6850-41F7-BB31-7EB5ED27C3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1006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4F1D5-2F82-4CD6-BEDD-82ABB041ECE3}" type="datetimeFigureOut">
              <a:rPr lang="zh-CN" altLang="en-US" smtClean="0"/>
              <a:t>2014/5/1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BBA0B-6850-41F7-BB31-7EB5ED27C3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9767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4F1D5-2F82-4CD6-BEDD-82ABB041ECE3}" type="datetimeFigureOut">
              <a:rPr lang="zh-CN" altLang="en-US" smtClean="0"/>
              <a:t>2014/5/1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BBA0B-6850-41F7-BB31-7EB5ED27C3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5267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4F1D5-2F82-4CD6-BEDD-82ABB041ECE3}" type="datetimeFigureOut">
              <a:rPr lang="zh-CN" altLang="en-US" smtClean="0"/>
              <a:t>2014/5/1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BBA0B-6850-41F7-BB31-7EB5ED27C3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515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4F1D5-2F82-4CD6-BEDD-82ABB041ECE3}" type="datetimeFigureOut">
              <a:rPr lang="zh-CN" altLang="en-US" smtClean="0"/>
              <a:t>2014/5/1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BBA0B-6850-41F7-BB31-7EB5ED27C3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0898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4F1D5-2F82-4CD6-BEDD-82ABB041ECE3}" type="datetimeFigureOut">
              <a:rPr lang="zh-CN" altLang="en-US" smtClean="0"/>
              <a:t>2014/5/1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BBA0B-6850-41F7-BB31-7EB5ED27C3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9422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4F1D5-2F82-4CD6-BEDD-82ABB041ECE3}" type="datetimeFigureOut">
              <a:rPr lang="zh-CN" altLang="en-US" smtClean="0"/>
              <a:t>2014/5/1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BBA0B-6850-41F7-BB31-7EB5ED27C3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570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4F1D5-2F82-4CD6-BEDD-82ABB041ECE3}" type="datetimeFigureOut">
              <a:rPr lang="zh-CN" altLang="en-US" smtClean="0"/>
              <a:t>2014/5/1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BBA0B-6850-41F7-BB31-7EB5ED27C3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73585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70" indent="0" algn="ctr">
              <a:buNone/>
              <a:defRPr sz="1800"/>
            </a:lvl2pPr>
            <a:lvl3pPr marL="822939" indent="0" algn="ctr">
              <a:buNone/>
              <a:defRPr sz="1620"/>
            </a:lvl3pPr>
            <a:lvl4pPr marL="1234409" indent="0" algn="ctr">
              <a:buNone/>
              <a:defRPr sz="1440"/>
            </a:lvl4pPr>
            <a:lvl5pPr marL="1645879" indent="0" algn="ctr">
              <a:buNone/>
              <a:defRPr sz="1440"/>
            </a:lvl5pPr>
            <a:lvl6pPr marL="2057349" indent="0" algn="ctr">
              <a:buNone/>
              <a:defRPr sz="1440"/>
            </a:lvl6pPr>
            <a:lvl7pPr marL="2468818" indent="0" algn="ctr">
              <a:buNone/>
              <a:defRPr sz="1440"/>
            </a:lvl7pPr>
            <a:lvl8pPr marL="2880288" indent="0" algn="ctr">
              <a:buNone/>
              <a:defRPr sz="1440"/>
            </a:lvl8pPr>
            <a:lvl9pPr marL="3291758" indent="0" algn="ctr">
              <a:buNone/>
              <a:defRPr sz="144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57008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01324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1pPr>
            <a:lvl2pPr marL="41147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822939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3pPr>
            <a:lvl4pPr marL="1234409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4pPr>
            <a:lvl5pPr marL="1645879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5pPr>
            <a:lvl6pPr marL="2057349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6pPr>
            <a:lvl7pPr marL="2468818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7pPr>
            <a:lvl8pPr marL="2880288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8pPr>
            <a:lvl9pPr marL="3291758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62299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7711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7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2" y="2505077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48539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14432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89511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470" indent="0">
              <a:buNone/>
              <a:defRPr sz="1260"/>
            </a:lvl2pPr>
            <a:lvl3pPr marL="822939" indent="0">
              <a:buNone/>
              <a:defRPr sz="1080"/>
            </a:lvl3pPr>
            <a:lvl4pPr marL="1234409" indent="0">
              <a:buNone/>
              <a:defRPr sz="900"/>
            </a:lvl4pPr>
            <a:lvl5pPr marL="1645879" indent="0">
              <a:buNone/>
              <a:defRPr sz="900"/>
            </a:lvl5pPr>
            <a:lvl6pPr marL="2057349" indent="0">
              <a:buNone/>
              <a:defRPr sz="900"/>
            </a:lvl6pPr>
            <a:lvl7pPr marL="2468818" indent="0">
              <a:buNone/>
              <a:defRPr sz="900"/>
            </a:lvl7pPr>
            <a:lvl8pPr marL="2880288" indent="0">
              <a:buNone/>
              <a:defRPr sz="900"/>
            </a:lvl8pPr>
            <a:lvl9pPr marL="3291758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21859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2880"/>
            </a:lvl1pPr>
            <a:lvl2pPr marL="411470" indent="0">
              <a:buNone/>
              <a:defRPr sz="2520"/>
            </a:lvl2pPr>
            <a:lvl3pPr marL="822939" indent="0">
              <a:buNone/>
              <a:defRPr sz="2160"/>
            </a:lvl3pPr>
            <a:lvl4pPr marL="1234409" indent="0">
              <a:buNone/>
              <a:defRPr sz="1800"/>
            </a:lvl4pPr>
            <a:lvl5pPr marL="1645879" indent="0">
              <a:buNone/>
              <a:defRPr sz="1800"/>
            </a:lvl5pPr>
            <a:lvl6pPr marL="2057349" indent="0">
              <a:buNone/>
              <a:defRPr sz="1800"/>
            </a:lvl6pPr>
            <a:lvl7pPr marL="2468818" indent="0">
              <a:buNone/>
              <a:defRPr sz="1800"/>
            </a:lvl7pPr>
            <a:lvl8pPr marL="2880288" indent="0">
              <a:buNone/>
              <a:defRPr sz="1800"/>
            </a:lvl8pPr>
            <a:lvl9pPr marL="3291758" indent="0">
              <a:buNone/>
              <a:defRPr sz="18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470" indent="0">
              <a:buNone/>
              <a:defRPr sz="1260"/>
            </a:lvl2pPr>
            <a:lvl3pPr marL="822939" indent="0">
              <a:buNone/>
              <a:defRPr sz="1080"/>
            </a:lvl3pPr>
            <a:lvl4pPr marL="1234409" indent="0">
              <a:buNone/>
              <a:defRPr sz="900"/>
            </a:lvl4pPr>
            <a:lvl5pPr marL="1645879" indent="0">
              <a:buNone/>
              <a:defRPr sz="900"/>
            </a:lvl5pPr>
            <a:lvl6pPr marL="2057349" indent="0">
              <a:buNone/>
              <a:defRPr sz="900"/>
            </a:lvl6pPr>
            <a:lvl7pPr marL="2468818" indent="0">
              <a:buNone/>
              <a:defRPr sz="900"/>
            </a:lvl7pPr>
            <a:lvl8pPr marL="2880288" indent="0">
              <a:buNone/>
              <a:defRPr sz="900"/>
            </a:lvl8pPr>
            <a:lvl9pPr marL="3291758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35132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949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0123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74F1D5-2F82-4CD6-BEDD-82ABB041ECE3}" type="datetimeFigureOut">
              <a:rPr lang="zh-CN" altLang="en-US" smtClean="0"/>
              <a:t>2014/5/1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BBA0B-6850-41F7-BB31-7EB5ED27C3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4969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4679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22939" rtl="0" eaLnBrk="1" latinLnBrk="0" hangingPunct="1">
        <a:lnSpc>
          <a:spcPct val="90000"/>
        </a:lnSpc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35" indent="-205735" algn="l" defTabSz="822939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7205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28674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44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14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263083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553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023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493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70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39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09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879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349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18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288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758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75"/>
          <a:stretch/>
        </p:blipFill>
        <p:spPr>
          <a:xfrm>
            <a:off x="2700873" y="0"/>
            <a:ext cx="9472077" cy="6858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005"/>
          <a:stretch/>
        </p:blipFill>
        <p:spPr>
          <a:xfrm>
            <a:off x="1429055" y="0"/>
            <a:ext cx="9253159" cy="6858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955"/>
          <a:stretch/>
        </p:blipFill>
        <p:spPr>
          <a:xfrm>
            <a:off x="1" y="0"/>
            <a:ext cx="9258300" cy="68580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2771775"/>
            <a:ext cx="12192000" cy="3184132"/>
          </a:xfrm>
          <a:prstGeom prst="rect">
            <a:avLst/>
          </a:prstGeom>
          <a:solidFill>
            <a:srgbClr val="8B7268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23594" y="2771775"/>
            <a:ext cx="12020550" cy="2215991"/>
          </a:xfrm>
          <a:prstGeom prst="rect">
            <a:avLst/>
          </a:prstGeom>
          <a:noFill/>
          <a:scene3d>
            <a:camera prst="perspectiveLeft" fov="0">
              <a:rot lat="0" lon="1500000" rev="0"/>
            </a:camera>
            <a:lightRig rig="threePt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 latinLnBrk="1">
              <a:defRPr sz="6600" b="1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defRPr>
            </a:lvl1pPr>
          </a:lstStyle>
          <a:p>
            <a:r>
              <a:rPr lang="zh-CN" altLang="en-US" sz="13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战胜拖延症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1059254" y="5145944"/>
            <a:ext cx="10551574" cy="830997"/>
          </a:xfrm>
          <a:prstGeom prst="rect">
            <a:avLst/>
          </a:prstGeom>
          <a:noFill/>
          <a:scene3d>
            <a:camera prst="perspectiveLeft" fov="0">
              <a:rot lat="0" lon="1500000" rev="0"/>
            </a:camera>
            <a:lightRig rig="threePt" dir="t"/>
          </a:scene3d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8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atinLnBrk="1"/>
            <a:r>
              <a:rPr lang="en-US" altLang="zh-CN" sz="4800" dirty="0" smtClean="0">
                <a:cs typeface="Arial Unicode MS" panose="020B0604020202020204" pitchFamily="34" charset="-122"/>
              </a:rPr>
              <a:t>OVERCOME PROCRASTINATION</a:t>
            </a:r>
            <a:endParaRPr lang="en-US" altLang="zh-CN" sz="4800" dirty="0">
              <a:cs typeface="Arial Unicode MS" panose="020B0604020202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36904" y="6039868"/>
            <a:ext cx="4307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      Design:@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花生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PPTer       ——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太阳形 4"/>
          <p:cNvSpPr/>
          <p:nvPr/>
        </p:nvSpPr>
        <p:spPr>
          <a:xfrm>
            <a:off x="4594618" y="6148888"/>
            <a:ext cx="183817" cy="183817"/>
          </a:xfrm>
          <a:prstGeom prst="su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太阳形 11"/>
          <p:cNvSpPr/>
          <p:nvPr/>
        </p:nvSpPr>
        <p:spPr>
          <a:xfrm>
            <a:off x="7261258" y="6148888"/>
            <a:ext cx="183817" cy="183817"/>
          </a:xfrm>
          <a:prstGeom prst="su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4292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6743699" y="3458045"/>
            <a:ext cx="4882242" cy="2995265"/>
            <a:chOff x="6743700" y="1817451"/>
            <a:chExt cx="4882242" cy="2995265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3045" y="1817451"/>
              <a:ext cx="4492897" cy="2995265"/>
            </a:xfrm>
            <a:prstGeom prst="rect">
              <a:avLst/>
            </a:prstGeom>
          </p:spPr>
        </p:pic>
        <p:sp>
          <p:nvSpPr>
            <p:cNvPr id="6" name="任意多边形 5"/>
            <p:cNvSpPr/>
            <p:nvPr/>
          </p:nvSpPr>
          <p:spPr>
            <a:xfrm>
              <a:off x="6743700" y="3794760"/>
              <a:ext cx="586740" cy="822960"/>
            </a:xfrm>
            <a:custGeom>
              <a:avLst/>
              <a:gdLst>
                <a:gd name="connsiteX0" fmla="*/ 586740 w 586740"/>
                <a:gd name="connsiteY0" fmla="*/ 0 h 822960"/>
                <a:gd name="connsiteX1" fmla="*/ 533400 w 586740"/>
                <a:gd name="connsiteY1" fmla="*/ 541020 h 822960"/>
                <a:gd name="connsiteX2" fmla="*/ 533400 w 586740"/>
                <a:gd name="connsiteY2" fmla="*/ 632460 h 822960"/>
                <a:gd name="connsiteX3" fmla="*/ 533400 w 586740"/>
                <a:gd name="connsiteY3" fmla="*/ 632460 h 822960"/>
                <a:gd name="connsiteX4" fmla="*/ 472440 w 586740"/>
                <a:gd name="connsiteY4" fmla="*/ 769620 h 822960"/>
                <a:gd name="connsiteX5" fmla="*/ 419100 w 586740"/>
                <a:gd name="connsiteY5" fmla="*/ 822960 h 822960"/>
                <a:gd name="connsiteX6" fmla="*/ 243840 w 586740"/>
                <a:gd name="connsiteY6" fmla="*/ 777240 h 822960"/>
                <a:gd name="connsiteX7" fmla="*/ 0 w 586740"/>
                <a:gd name="connsiteY7" fmla="*/ 480060 h 822960"/>
                <a:gd name="connsiteX8" fmla="*/ 289560 w 586740"/>
                <a:gd name="connsiteY8" fmla="*/ 83820 h 822960"/>
                <a:gd name="connsiteX9" fmla="*/ 441960 w 586740"/>
                <a:gd name="connsiteY9" fmla="*/ 22860 h 822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86740" h="822960">
                  <a:moveTo>
                    <a:pt x="586740" y="0"/>
                  </a:moveTo>
                  <a:lnTo>
                    <a:pt x="533400" y="541020"/>
                  </a:lnTo>
                  <a:lnTo>
                    <a:pt x="533400" y="632460"/>
                  </a:lnTo>
                  <a:lnTo>
                    <a:pt x="533400" y="632460"/>
                  </a:lnTo>
                  <a:lnTo>
                    <a:pt x="472440" y="769620"/>
                  </a:lnTo>
                  <a:lnTo>
                    <a:pt x="419100" y="822960"/>
                  </a:lnTo>
                  <a:lnTo>
                    <a:pt x="243840" y="777240"/>
                  </a:lnTo>
                  <a:lnTo>
                    <a:pt x="0" y="480060"/>
                  </a:lnTo>
                  <a:lnTo>
                    <a:pt x="289560" y="83820"/>
                  </a:lnTo>
                  <a:lnTo>
                    <a:pt x="441960" y="22860"/>
                  </a:lnTo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矩形 3"/>
          <p:cNvSpPr/>
          <p:nvPr/>
        </p:nvSpPr>
        <p:spPr>
          <a:xfrm>
            <a:off x="1814286" y="6270157"/>
            <a:ext cx="10377714" cy="587843"/>
          </a:xfrm>
          <a:prstGeom prst="rect">
            <a:avLst/>
          </a:prstGeom>
          <a:solidFill>
            <a:srgbClr val="8B72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29370" y="619166"/>
            <a:ext cx="7571303" cy="286232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isometricOffAxis1Right"/>
              <a:lightRig rig="threePt" dir="t"/>
            </a:scene3d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其实在收到这本书的时候</a:t>
            </a:r>
            <a:endParaRPr lang="en-US" altLang="zh-CN" sz="2400" b="1" dirty="0" smtClean="0">
              <a:solidFill>
                <a:srgbClr val="8B72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满怀信心的想一口气读完</a:t>
            </a:r>
            <a:endParaRPr lang="en-US" altLang="zh-CN" sz="2400" b="1" dirty="0" smtClean="0">
              <a:solidFill>
                <a:srgbClr val="8B72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600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结果只是翻阅了前面的两章就搁浅了</a:t>
            </a:r>
            <a:endParaRPr lang="en-US" altLang="zh-CN" sz="3600" b="1" dirty="0" smtClean="0">
              <a:solidFill>
                <a:srgbClr val="8B72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600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拖延症真的困扰着我！！！</a:t>
            </a:r>
            <a:endParaRPr lang="en-US" altLang="zh-CN" sz="3600" b="1" dirty="0" smtClean="0">
              <a:solidFill>
                <a:srgbClr val="8B72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842533" y="5747597"/>
            <a:ext cx="880241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正如书的开头所说：</a:t>
            </a:r>
            <a:endParaRPr lang="en-US" altLang="zh-CN" sz="2000" b="1" dirty="0">
              <a:solidFill>
                <a:srgbClr val="8B72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如果你在阅读这本书，很可能是因为你已经为拖延症所困扰了！</a:t>
            </a:r>
          </a:p>
        </p:txBody>
      </p:sp>
    </p:spTree>
    <p:extLst>
      <p:ext uri="{BB962C8B-B14F-4D97-AF65-F5344CB8AC3E}">
        <p14:creationId xmlns:p14="http://schemas.microsoft.com/office/powerpoint/2010/main" val="1970714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2158051"/>
            <a:ext cx="12192000" cy="3135049"/>
          </a:xfrm>
          <a:prstGeom prst="rect">
            <a:avLst/>
          </a:prstGeom>
          <a:solidFill>
            <a:srgbClr val="8B72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0546" y="2167074"/>
            <a:ext cx="3131126" cy="312329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文本框 3"/>
          <p:cNvSpPr txBox="1"/>
          <p:nvPr/>
        </p:nvSpPr>
        <p:spPr>
          <a:xfrm>
            <a:off x="548828" y="309588"/>
            <a:ext cx="3015569" cy="830997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4800" b="1" spc="300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关于作者</a:t>
            </a:r>
            <a:r>
              <a:rPr lang="en-US" altLang="zh-CN" sz="4800" b="1" spc="300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sz="4800" b="1" spc="300" dirty="0">
              <a:solidFill>
                <a:srgbClr val="8B72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52195" y="3479494"/>
            <a:ext cx="7607663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渥太华的华尔顿大学副教授。自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1995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年起，他致力于研究拖延症并撰写相关文章。皮切尔的学术成就，以及他的播客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iProcrastinate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和在“今日心理学”上广受欢迎的博客“不要拖延”，在全世界范围内享有盛誉。</a:t>
            </a:r>
          </a:p>
        </p:txBody>
      </p:sp>
      <p:sp>
        <p:nvSpPr>
          <p:cNvPr id="7" name="矩形 6"/>
          <p:cNvSpPr/>
          <p:nvPr/>
        </p:nvSpPr>
        <p:spPr>
          <a:xfrm>
            <a:off x="538341" y="2728098"/>
            <a:ext cx="578876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蒂莫西</a:t>
            </a:r>
            <a:r>
              <a:rPr lang="en-US" altLang="zh-CN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·A· </a:t>
            </a:r>
            <a:r>
              <a:rPr lang="zh-CN" alt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皮切尔博士</a:t>
            </a:r>
          </a:p>
        </p:txBody>
      </p:sp>
      <p:sp>
        <p:nvSpPr>
          <p:cNvPr id="8" name="矩形 7"/>
          <p:cNvSpPr/>
          <p:nvPr/>
        </p:nvSpPr>
        <p:spPr>
          <a:xfrm>
            <a:off x="577856" y="1132685"/>
            <a:ext cx="26634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1"/>
            <a:r>
              <a:rPr lang="en-US" altLang="zh-CN" b="1" dirty="0" smtClean="0">
                <a:solidFill>
                  <a:schemeClr val="bg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ABOUT THE AUTHOR</a:t>
            </a:r>
            <a:endParaRPr lang="en-US" altLang="zh-CN" b="1" dirty="0">
              <a:solidFill>
                <a:schemeClr val="bg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637309" y="3491345"/>
            <a:ext cx="750916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5073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5314950" cy="6857999"/>
          </a:xfrm>
          <a:prstGeom prst="rect">
            <a:avLst/>
          </a:prstGeom>
          <a:solidFill>
            <a:srgbClr val="8B72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296" y="1777931"/>
            <a:ext cx="2663114" cy="383488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</p:pic>
      <p:grpSp>
        <p:nvGrpSpPr>
          <p:cNvPr id="14" name="组合 13"/>
          <p:cNvGrpSpPr/>
          <p:nvPr/>
        </p:nvGrpSpPr>
        <p:grpSpPr>
          <a:xfrm>
            <a:off x="5962650" y="876300"/>
            <a:ext cx="849630" cy="704850"/>
            <a:chOff x="6096000" y="1047750"/>
            <a:chExt cx="849630" cy="704850"/>
          </a:xfrm>
        </p:grpSpPr>
        <p:sp>
          <p:nvSpPr>
            <p:cNvPr id="13" name="矩形 12"/>
            <p:cNvSpPr/>
            <p:nvPr/>
          </p:nvSpPr>
          <p:spPr>
            <a:xfrm>
              <a:off x="6240780" y="1524000"/>
              <a:ext cx="704850" cy="228600"/>
            </a:xfrm>
            <a:custGeom>
              <a:avLst/>
              <a:gdLst>
                <a:gd name="connsiteX0" fmla="*/ 0 w 704850"/>
                <a:gd name="connsiteY0" fmla="*/ 0 h 228600"/>
                <a:gd name="connsiteX1" fmla="*/ 704850 w 704850"/>
                <a:gd name="connsiteY1" fmla="*/ 0 h 228600"/>
                <a:gd name="connsiteX2" fmla="*/ 704850 w 704850"/>
                <a:gd name="connsiteY2" fmla="*/ 228600 h 228600"/>
                <a:gd name="connsiteX3" fmla="*/ 0 w 704850"/>
                <a:gd name="connsiteY3" fmla="*/ 228600 h 228600"/>
                <a:gd name="connsiteX4" fmla="*/ 0 w 704850"/>
                <a:gd name="connsiteY4" fmla="*/ 0 h 228600"/>
                <a:gd name="connsiteX0" fmla="*/ 0 w 704850"/>
                <a:gd name="connsiteY0" fmla="*/ 0 h 228600"/>
                <a:gd name="connsiteX1" fmla="*/ 704850 w 704850"/>
                <a:gd name="connsiteY1" fmla="*/ 0 h 228600"/>
                <a:gd name="connsiteX2" fmla="*/ 497681 w 704850"/>
                <a:gd name="connsiteY2" fmla="*/ 130968 h 228600"/>
                <a:gd name="connsiteX3" fmla="*/ 0 w 704850"/>
                <a:gd name="connsiteY3" fmla="*/ 228600 h 228600"/>
                <a:gd name="connsiteX4" fmla="*/ 0 w 704850"/>
                <a:gd name="connsiteY4" fmla="*/ 0 h 228600"/>
                <a:gd name="connsiteX0" fmla="*/ 0 w 704850"/>
                <a:gd name="connsiteY0" fmla="*/ 0 h 228600"/>
                <a:gd name="connsiteX1" fmla="*/ 704850 w 704850"/>
                <a:gd name="connsiteY1" fmla="*/ 0 h 228600"/>
                <a:gd name="connsiteX2" fmla="*/ 564356 w 704850"/>
                <a:gd name="connsiteY2" fmla="*/ 228599 h 228600"/>
                <a:gd name="connsiteX3" fmla="*/ 0 w 704850"/>
                <a:gd name="connsiteY3" fmla="*/ 228600 h 228600"/>
                <a:gd name="connsiteX4" fmla="*/ 0 w 704850"/>
                <a:gd name="connsiteY4" fmla="*/ 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4850" h="228600">
                  <a:moveTo>
                    <a:pt x="0" y="0"/>
                  </a:moveTo>
                  <a:lnTo>
                    <a:pt x="704850" y="0"/>
                  </a:lnTo>
                  <a:lnTo>
                    <a:pt x="564356" y="228599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6096000" y="1047750"/>
              <a:ext cx="704850" cy="704850"/>
            </a:xfrm>
            <a:prstGeom prst="rect">
              <a:avLst/>
            </a:prstGeom>
            <a:solidFill>
              <a:srgbClr val="8B72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962650" y="2296388"/>
            <a:ext cx="849630" cy="704850"/>
            <a:chOff x="6096000" y="1047750"/>
            <a:chExt cx="849630" cy="704850"/>
          </a:xfrm>
        </p:grpSpPr>
        <p:sp>
          <p:nvSpPr>
            <p:cNvPr id="16" name="矩形 12"/>
            <p:cNvSpPr/>
            <p:nvPr/>
          </p:nvSpPr>
          <p:spPr>
            <a:xfrm>
              <a:off x="6240780" y="1524000"/>
              <a:ext cx="704850" cy="228600"/>
            </a:xfrm>
            <a:custGeom>
              <a:avLst/>
              <a:gdLst>
                <a:gd name="connsiteX0" fmla="*/ 0 w 704850"/>
                <a:gd name="connsiteY0" fmla="*/ 0 h 228600"/>
                <a:gd name="connsiteX1" fmla="*/ 704850 w 704850"/>
                <a:gd name="connsiteY1" fmla="*/ 0 h 228600"/>
                <a:gd name="connsiteX2" fmla="*/ 704850 w 704850"/>
                <a:gd name="connsiteY2" fmla="*/ 228600 h 228600"/>
                <a:gd name="connsiteX3" fmla="*/ 0 w 704850"/>
                <a:gd name="connsiteY3" fmla="*/ 228600 h 228600"/>
                <a:gd name="connsiteX4" fmla="*/ 0 w 704850"/>
                <a:gd name="connsiteY4" fmla="*/ 0 h 228600"/>
                <a:gd name="connsiteX0" fmla="*/ 0 w 704850"/>
                <a:gd name="connsiteY0" fmla="*/ 0 h 228600"/>
                <a:gd name="connsiteX1" fmla="*/ 704850 w 704850"/>
                <a:gd name="connsiteY1" fmla="*/ 0 h 228600"/>
                <a:gd name="connsiteX2" fmla="*/ 497681 w 704850"/>
                <a:gd name="connsiteY2" fmla="*/ 130968 h 228600"/>
                <a:gd name="connsiteX3" fmla="*/ 0 w 704850"/>
                <a:gd name="connsiteY3" fmla="*/ 228600 h 228600"/>
                <a:gd name="connsiteX4" fmla="*/ 0 w 704850"/>
                <a:gd name="connsiteY4" fmla="*/ 0 h 228600"/>
                <a:gd name="connsiteX0" fmla="*/ 0 w 704850"/>
                <a:gd name="connsiteY0" fmla="*/ 0 h 228600"/>
                <a:gd name="connsiteX1" fmla="*/ 704850 w 704850"/>
                <a:gd name="connsiteY1" fmla="*/ 0 h 228600"/>
                <a:gd name="connsiteX2" fmla="*/ 564356 w 704850"/>
                <a:gd name="connsiteY2" fmla="*/ 228599 h 228600"/>
                <a:gd name="connsiteX3" fmla="*/ 0 w 704850"/>
                <a:gd name="connsiteY3" fmla="*/ 228600 h 228600"/>
                <a:gd name="connsiteX4" fmla="*/ 0 w 704850"/>
                <a:gd name="connsiteY4" fmla="*/ 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4850" h="228600">
                  <a:moveTo>
                    <a:pt x="0" y="0"/>
                  </a:moveTo>
                  <a:lnTo>
                    <a:pt x="704850" y="0"/>
                  </a:lnTo>
                  <a:lnTo>
                    <a:pt x="564356" y="228599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6096000" y="1047750"/>
              <a:ext cx="704850" cy="704850"/>
            </a:xfrm>
            <a:prstGeom prst="rect">
              <a:avLst/>
            </a:prstGeom>
            <a:solidFill>
              <a:srgbClr val="8B72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5962650" y="3716476"/>
            <a:ext cx="849630" cy="704850"/>
            <a:chOff x="6096000" y="1047750"/>
            <a:chExt cx="849630" cy="704850"/>
          </a:xfrm>
        </p:grpSpPr>
        <p:sp>
          <p:nvSpPr>
            <p:cNvPr id="19" name="矩形 12"/>
            <p:cNvSpPr/>
            <p:nvPr/>
          </p:nvSpPr>
          <p:spPr>
            <a:xfrm>
              <a:off x="6240780" y="1524000"/>
              <a:ext cx="704850" cy="228600"/>
            </a:xfrm>
            <a:custGeom>
              <a:avLst/>
              <a:gdLst>
                <a:gd name="connsiteX0" fmla="*/ 0 w 704850"/>
                <a:gd name="connsiteY0" fmla="*/ 0 h 228600"/>
                <a:gd name="connsiteX1" fmla="*/ 704850 w 704850"/>
                <a:gd name="connsiteY1" fmla="*/ 0 h 228600"/>
                <a:gd name="connsiteX2" fmla="*/ 704850 w 704850"/>
                <a:gd name="connsiteY2" fmla="*/ 228600 h 228600"/>
                <a:gd name="connsiteX3" fmla="*/ 0 w 704850"/>
                <a:gd name="connsiteY3" fmla="*/ 228600 h 228600"/>
                <a:gd name="connsiteX4" fmla="*/ 0 w 704850"/>
                <a:gd name="connsiteY4" fmla="*/ 0 h 228600"/>
                <a:gd name="connsiteX0" fmla="*/ 0 w 704850"/>
                <a:gd name="connsiteY0" fmla="*/ 0 h 228600"/>
                <a:gd name="connsiteX1" fmla="*/ 704850 w 704850"/>
                <a:gd name="connsiteY1" fmla="*/ 0 h 228600"/>
                <a:gd name="connsiteX2" fmla="*/ 497681 w 704850"/>
                <a:gd name="connsiteY2" fmla="*/ 130968 h 228600"/>
                <a:gd name="connsiteX3" fmla="*/ 0 w 704850"/>
                <a:gd name="connsiteY3" fmla="*/ 228600 h 228600"/>
                <a:gd name="connsiteX4" fmla="*/ 0 w 704850"/>
                <a:gd name="connsiteY4" fmla="*/ 0 h 228600"/>
                <a:gd name="connsiteX0" fmla="*/ 0 w 704850"/>
                <a:gd name="connsiteY0" fmla="*/ 0 h 228600"/>
                <a:gd name="connsiteX1" fmla="*/ 704850 w 704850"/>
                <a:gd name="connsiteY1" fmla="*/ 0 h 228600"/>
                <a:gd name="connsiteX2" fmla="*/ 564356 w 704850"/>
                <a:gd name="connsiteY2" fmla="*/ 228599 h 228600"/>
                <a:gd name="connsiteX3" fmla="*/ 0 w 704850"/>
                <a:gd name="connsiteY3" fmla="*/ 228600 h 228600"/>
                <a:gd name="connsiteX4" fmla="*/ 0 w 704850"/>
                <a:gd name="connsiteY4" fmla="*/ 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4850" h="228600">
                  <a:moveTo>
                    <a:pt x="0" y="0"/>
                  </a:moveTo>
                  <a:lnTo>
                    <a:pt x="704850" y="0"/>
                  </a:lnTo>
                  <a:lnTo>
                    <a:pt x="564356" y="228599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6096000" y="1047750"/>
              <a:ext cx="704850" cy="704850"/>
            </a:xfrm>
            <a:prstGeom prst="rect">
              <a:avLst/>
            </a:prstGeom>
            <a:solidFill>
              <a:srgbClr val="8B72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5962650" y="5136565"/>
            <a:ext cx="849630" cy="704850"/>
            <a:chOff x="6096000" y="1047750"/>
            <a:chExt cx="849630" cy="704850"/>
          </a:xfrm>
        </p:grpSpPr>
        <p:sp>
          <p:nvSpPr>
            <p:cNvPr id="22" name="矩形 12"/>
            <p:cNvSpPr/>
            <p:nvPr/>
          </p:nvSpPr>
          <p:spPr>
            <a:xfrm>
              <a:off x="6240780" y="1524000"/>
              <a:ext cx="704850" cy="228600"/>
            </a:xfrm>
            <a:custGeom>
              <a:avLst/>
              <a:gdLst>
                <a:gd name="connsiteX0" fmla="*/ 0 w 704850"/>
                <a:gd name="connsiteY0" fmla="*/ 0 h 228600"/>
                <a:gd name="connsiteX1" fmla="*/ 704850 w 704850"/>
                <a:gd name="connsiteY1" fmla="*/ 0 h 228600"/>
                <a:gd name="connsiteX2" fmla="*/ 704850 w 704850"/>
                <a:gd name="connsiteY2" fmla="*/ 228600 h 228600"/>
                <a:gd name="connsiteX3" fmla="*/ 0 w 704850"/>
                <a:gd name="connsiteY3" fmla="*/ 228600 h 228600"/>
                <a:gd name="connsiteX4" fmla="*/ 0 w 704850"/>
                <a:gd name="connsiteY4" fmla="*/ 0 h 228600"/>
                <a:gd name="connsiteX0" fmla="*/ 0 w 704850"/>
                <a:gd name="connsiteY0" fmla="*/ 0 h 228600"/>
                <a:gd name="connsiteX1" fmla="*/ 704850 w 704850"/>
                <a:gd name="connsiteY1" fmla="*/ 0 h 228600"/>
                <a:gd name="connsiteX2" fmla="*/ 497681 w 704850"/>
                <a:gd name="connsiteY2" fmla="*/ 130968 h 228600"/>
                <a:gd name="connsiteX3" fmla="*/ 0 w 704850"/>
                <a:gd name="connsiteY3" fmla="*/ 228600 h 228600"/>
                <a:gd name="connsiteX4" fmla="*/ 0 w 704850"/>
                <a:gd name="connsiteY4" fmla="*/ 0 h 228600"/>
                <a:gd name="connsiteX0" fmla="*/ 0 w 704850"/>
                <a:gd name="connsiteY0" fmla="*/ 0 h 228600"/>
                <a:gd name="connsiteX1" fmla="*/ 704850 w 704850"/>
                <a:gd name="connsiteY1" fmla="*/ 0 h 228600"/>
                <a:gd name="connsiteX2" fmla="*/ 564356 w 704850"/>
                <a:gd name="connsiteY2" fmla="*/ 228599 h 228600"/>
                <a:gd name="connsiteX3" fmla="*/ 0 w 704850"/>
                <a:gd name="connsiteY3" fmla="*/ 228600 h 228600"/>
                <a:gd name="connsiteX4" fmla="*/ 0 w 704850"/>
                <a:gd name="connsiteY4" fmla="*/ 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4850" h="228600">
                  <a:moveTo>
                    <a:pt x="0" y="0"/>
                  </a:moveTo>
                  <a:lnTo>
                    <a:pt x="704850" y="0"/>
                  </a:lnTo>
                  <a:lnTo>
                    <a:pt x="564356" y="228599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6096000" y="1047750"/>
              <a:ext cx="704850" cy="704850"/>
            </a:xfrm>
            <a:prstGeom prst="rect">
              <a:avLst/>
            </a:prstGeom>
            <a:solidFill>
              <a:srgbClr val="8B72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6064846" y="876300"/>
            <a:ext cx="5004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064846" y="2293350"/>
            <a:ext cx="5004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064846" y="3714958"/>
            <a:ext cx="5004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064846" y="5135047"/>
            <a:ext cx="5004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854864" y="882075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阅读趣味性强</a:t>
            </a:r>
            <a:endParaRPr lang="zh-CN" altLang="en-US" sz="3200" b="1" dirty="0">
              <a:solidFill>
                <a:srgbClr val="8B72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854864" y="2302163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内容贴近生活</a:t>
            </a:r>
            <a:endParaRPr lang="zh-CN" altLang="en-US" sz="3200" b="1" dirty="0">
              <a:solidFill>
                <a:srgbClr val="8B72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854864" y="3735899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阅读时间适中</a:t>
            </a:r>
            <a:endParaRPr lang="zh-CN" altLang="en-US" sz="3200" b="1" dirty="0">
              <a:solidFill>
                <a:srgbClr val="8B72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854864" y="5158586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检验成果设置</a:t>
            </a:r>
            <a:endParaRPr lang="zh-CN" altLang="en-US" sz="3200" b="1" dirty="0">
              <a:solidFill>
                <a:srgbClr val="8B72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854864" y="1441534"/>
            <a:ext cx="2121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故事穿插</a:t>
            </a:r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图文解说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854864" y="2886938"/>
            <a:ext cx="5032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读者阅读时，会感觉书中说的拖延者就是自己！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854864" y="4250881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内容设置篇幅适中，不会占用读者很长时间！</a:t>
            </a:r>
            <a:endParaRPr lang="en-US" altLang="zh-CN" dirty="0" smtClean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854864" y="5715791"/>
            <a:ext cx="4108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lang="zh-CN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书不仅告诉你拖延症是什么？</a:t>
            </a:r>
            <a:endParaRPr lang="en-US" altLang="zh-CN" dirty="0" smtClean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也会告诉你如何通过实际行动去战胜！</a:t>
            </a:r>
            <a:endParaRPr lang="en-US" altLang="zh-CN" dirty="0" smtClean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2236723" y="640180"/>
            <a:ext cx="746038" cy="746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96603" y="678332"/>
            <a:ext cx="33217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lang="zh-CN" altLang="en-US" sz="3200" b="1" spc="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书  </a:t>
            </a:r>
            <a:r>
              <a:rPr lang="en-US" altLang="zh-CN" sz="4000" b="1" spc="600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3200" b="1" spc="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看点</a:t>
            </a:r>
            <a:endParaRPr lang="zh-CN" altLang="en-US" sz="3200" b="1" spc="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47758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8B72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4" name="梯形 3"/>
          <p:cNvSpPr/>
          <p:nvPr/>
        </p:nvSpPr>
        <p:spPr>
          <a:xfrm rot="5400000">
            <a:off x="685798" y="-685799"/>
            <a:ext cx="6858001" cy="8229602"/>
          </a:xfrm>
          <a:prstGeom prst="trapezoid">
            <a:avLst/>
          </a:prstGeom>
          <a:solidFill>
            <a:schemeClr val="bg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梯形 5"/>
          <p:cNvSpPr/>
          <p:nvPr/>
        </p:nvSpPr>
        <p:spPr>
          <a:xfrm rot="16200000" flipH="1">
            <a:off x="4398818" y="-935180"/>
            <a:ext cx="6858001" cy="8728365"/>
          </a:xfrm>
          <a:prstGeom prst="trapezoid">
            <a:avLst/>
          </a:prstGeom>
          <a:solidFill>
            <a:schemeClr val="bg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654081" y="2681070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</a:t>
            </a:r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我们走进本书世界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615609" y="3298373"/>
            <a:ext cx="441659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战胜拖延症</a:t>
            </a:r>
          </a:p>
        </p:txBody>
      </p:sp>
    </p:spTree>
    <p:extLst>
      <p:ext uri="{BB962C8B-B14F-4D97-AF65-F5344CB8AC3E}">
        <p14:creationId xmlns:p14="http://schemas.microsoft.com/office/powerpoint/2010/main" val="508488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0"/>
            <a:ext cx="6096000" cy="6857999"/>
          </a:xfrm>
          <a:prstGeom prst="rect">
            <a:avLst/>
          </a:prstGeom>
          <a:solidFill>
            <a:srgbClr val="8B72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87478" y="861232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什么拖延症？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773239"/>
            <a:ext cx="699206" cy="699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49603" y="1472445"/>
            <a:ext cx="45719" cy="53855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87477" y="1694142"/>
            <a:ext cx="5075173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是一种明知道会影响自己做事的效果或者做事的态度，却仍然自愿推迟既定事项的行为。</a:t>
            </a:r>
            <a:endParaRPr lang="en-US" altLang="zh-CN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是一种不必要的自愿推迟。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588156" y="1240065"/>
            <a:ext cx="49410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不是所有的</a:t>
            </a:r>
            <a:r>
              <a:rPr lang="zh-CN" altLang="en-US" sz="4800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耽误</a:t>
            </a:r>
            <a:r>
              <a:rPr lang="zh-CN" altLang="en-US" sz="4800" b="1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都是</a:t>
            </a:r>
            <a:r>
              <a:rPr lang="zh-CN" altLang="en-US" sz="4800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拖延</a:t>
            </a:r>
            <a:r>
              <a:rPr lang="zh-CN" altLang="en-US" sz="4800" b="1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  <a:endParaRPr lang="zh-CN" altLang="en-US" sz="4800" b="1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等腰三角形 8"/>
          <p:cNvSpPr/>
          <p:nvPr/>
        </p:nvSpPr>
        <p:spPr>
          <a:xfrm rot="5400000">
            <a:off x="6071006" y="1599474"/>
            <a:ext cx="362423" cy="312434"/>
          </a:xfrm>
          <a:prstGeom prst="triangle">
            <a:avLst/>
          </a:prstGeom>
          <a:solidFill>
            <a:srgbClr val="8B72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018283" y="4727112"/>
            <a:ext cx="441659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改变的策略</a:t>
            </a:r>
            <a:endParaRPr lang="zh-CN" alt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18283" y="3693228"/>
            <a:ext cx="70724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6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119116" y="4727112"/>
            <a:ext cx="4176784" cy="74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681308" y="4066854"/>
            <a:ext cx="14863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FIRST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等腰三角形 13"/>
          <p:cNvSpPr/>
          <p:nvPr/>
        </p:nvSpPr>
        <p:spPr>
          <a:xfrm rot="5400000">
            <a:off x="6071006" y="4738180"/>
            <a:ext cx="362423" cy="312434"/>
          </a:xfrm>
          <a:prstGeom prst="triangle">
            <a:avLst/>
          </a:prstGeom>
          <a:solidFill>
            <a:srgbClr val="8B72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763588" y="4077949"/>
            <a:ext cx="476564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做好</a:t>
            </a:r>
            <a:r>
              <a:rPr lang="zh-CN" altLang="en-US" sz="8800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</a:t>
            </a:r>
            <a:endParaRPr lang="zh-CN" altLang="en-US" sz="8800" b="1" dirty="0">
              <a:solidFill>
                <a:srgbClr val="8B72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2394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0"/>
            <a:ext cx="6096000" cy="6857999"/>
          </a:xfrm>
          <a:prstGeom prst="rect">
            <a:avLst/>
          </a:prstGeom>
          <a:solidFill>
            <a:srgbClr val="8B72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4" name="等腰三角形 3"/>
          <p:cNvSpPr/>
          <p:nvPr/>
        </p:nvSpPr>
        <p:spPr>
          <a:xfrm rot="5400000">
            <a:off x="6071006" y="4738180"/>
            <a:ext cx="362423" cy="312434"/>
          </a:xfrm>
          <a:prstGeom prst="triangle">
            <a:avLst/>
          </a:prstGeom>
          <a:solidFill>
            <a:srgbClr val="8B72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773239"/>
            <a:ext cx="699206" cy="699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49603" y="1472445"/>
            <a:ext cx="45719" cy="53855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49603" y="0"/>
            <a:ext cx="45719" cy="53855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87478" y="86123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拖延症的代价！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87478" y="1472445"/>
            <a:ext cx="3704860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lnSpc>
                <a:spcPct val="150000"/>
              </a:lnSpc>
              <a:buFont typeface="Wingdings" panose="05000000000000000000" pitchFamily="2" charset="2"/>
              <a:buChar char="n"/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indent="0">
              <a:buNone/>
            </a:pPr>
            <a:r>
              <a:rPr lang="zh-CN" altLang="en-US" b="1" dirty="0"/>
              <a:t>拖延症是对生活本身的</a:t>
            </a:r>
            <a:r>
              <a:rPr lang="zh-CN" altLang="en-US" b="1" dirty="0" smtClean="0"/>
              <a:t>无所适从！</a:t>
            </a:r>
            <a:endParaRPr lang="zh-CN" altLang="en-US" b="1" dirty="0"/>
          </a:p>
        </p:txBody>
      </p:sp>
      <p:sp>
        <p:nvSpPr>
          <p:cNvPr id="10" name="等腰三角形 9"/>
          <p:cNvSpPr/>
          <p:nvPr/>
        </p:nvSpPr>
        <p:spPr>
          <a:xfrm rot="5400000">
            <a:off x="6071006" y="2263771"/>
            <a:ext cx="362423" cy="312434"/>
          </a:xfrm>
          <a:prstGeom prst="triangle">
            <a:avLst/>
          </a:prstGeom>
          <a:solidFill>
            <a:srgbClr val="8B72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6645786" y="765133"/>
            <a:ext cx="1485900" cy="1485900"/>
          </a:xfrm>
          <a:prstGeom prst="ellipse">
            <a:avLst/>
          </a:prstGeom>
          <a:solidFill>
            <a:srgbClr val="8B72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8440741" y="765133"/>
            <a:ext cx="1485900" cy="1485900"/>
          </a:xfrm>
          <a:prstGeom prst="ellipse">
            <a:avLst/>
          </a:prstGeom>
          <a:solidFill>
            <a:srgbClr val="8B72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10235696" y="765133"/>
            <a:ext cx="1485900" cy="1485900"/>
          </a:xfrm>
          <a:prstGeom prst="ellipse">
            <a:avLst/>
          </a:prstGeom>
          <a:solidFill>
            <a:srgbClr val="8B72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834738" y="1184917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健康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629693" y="1184917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424648" y="1184917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生活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6645786" y="765133"/>
            <a:ext cx="1485900" cy="1485900"/>
          </a:xfrm>
          <a:prstGeom prst="ellipse">
            <a:avLst/>
          </a:prstGeom>
          <a:solidFill>
            <a:srgbClr val="8B72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6834738" y="1184917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生活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7560186" y="2301962"/>
            <a:ext cx="1485900" cy="1485900"/>
          </a:xfrm>
          <a:prstGeom prst="ellipse">
            <a:avLst/>
          </a:prstGeom>
          <a:solidFill>
            <a:srgbClr val="8B72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749138" y="2721746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情绪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9355141" y="2301962"/>
            <a:ext cx="1485900" cy="1485900"/>
          </a:xfrm>
          <a:prstGeom prst="ellipse">
            <a:avLst/>
          </a:prstGeom>
          <a:solidFill>
            <a:srgbClr val="8B72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9544093" y="2721746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行为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904668" y="2225128"/>
            <a:ext cx="5191332" cy="3624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904667" y="217550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2400" dirty="0">
                <a:solidFill>
                  <a:srgbClr val="8B7268"/>
                </a:solidFill>
              </a:rPr>
              <a:t>严重影响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018283" y="4727112"/>
            <a:ext cx="441659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改变的策略</a:t>
            </a:r>
            <a:endParaRPr lang="zh-CN" alt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018283" y="3693228"/>
            <a:ext cx="70724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6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119116" y="4727112"/>
            <a:ext cx="4176784" cy="74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1681308" y="4066854"/>
            <a:ext cx="1829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second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144964" y="4554558"/>
            <a:ext cx="40774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增强目标意图</a:t>
            </a:r>
            <a:endParaRPr lang="zh-CN" altLang="en-US" sz="8800" b="1" dirty="0">
              <a:solidFill>
                <a:srgbClr val="8B72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2115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" y="0"/>
            <a:ext cx="6096000" cy="6857999"/>
          </a:xfrm>
          <a:prstGeom prst="rect">
            <a:avLst/>
          </a:prstGeom>
          <a:solidFill>
            <a:srgbClr val="8B72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grpSp>
        <p:nvGrpSpPr>
          <p:cNvPr id="20" name="组合 19"/>
          <p:cNvGrpSpPr/>
          <p:nvPr/>
        </p:nvGrpSpPr>
        <p:grpSpPr>
          <a:xfrm>
            <a:off x="0" y="0"/>
            <a:ext cx="699206" cy="6858000"/>
            <a:chOff x="0" y="0"/>
            <a:chExt cx="699206" cy="6858000"/>
          </a:xfrm>
        </p:grpSpPr>
        <p:sp>
          <p:nvSpPr>
            <p:cNvPr id="4" name="矩形 3"/>
            <p:cNvSpPr/>
            <p:nvPr/>
          </p:nvSpPr>
          <p:spPr>
            <a:xfrm>
              <a:off x="0" y="773239"/>
              <a:ext cx="699206" cy="6992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349603" y="1472445"/>
              <a:ext cx="45719" cy="53855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349603" y="0"/>
              <a:ext cx="45719" cy="53855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等腰三角形 6"/>
          <p:cNvSpPr/>
          <p:nvPr/>
        </p:nvSpPr>
        <p:spPr>
          <a:xfrm rot="5400000">
            <a:off x="6071006" y="1938218"/>
            <a:ext cx="362423" cy="312434"/>
          </a:xfrm>
          <a:prstGeom prst="triangle">
            <a:avLst/>
          </a:prstGeom>
          <a:solidFill>
            <a:srgbClr val="8B72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87478" y="861232"/>
            <a:ext cx="52116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对于拖延症我们应该了解什么？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828085" y="903886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任务厌恶</a:t>
            </a:r>
            <a:endParaRPr lang="zh-CN" altLang="en-US" sz="4000" b="1" dirty="0">
              <a:solidFill>
                <a:srgbClr val="8B72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514788" y="1725379"/>
            <a:ext cx="326243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关键语</a:t>
            </a:r>
            <a:endParaRPr lang="zh-CN" altLang="en-US" sz="8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397519" y="1705035"/>
            <a:ext cx="32624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自我约束失败</a:t>
            </a:r>
            <a:endParaRPr lang="zh-CN" altLang="en-US" sz="4000" b="1" dirty="0">
              <a:solidFill>
                <a:srgbClr val="8B72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653999" y="2506184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慢性拖延症</a:t>
            </a:r>
            <a:endParaRPr lang="zh-CN" altLang="en-US" sz="4000" b="1" dirty="0">
              <a:solidFill>
                <a:srgbClr val="8B72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等腰三角形 12"/>
          <p:cNvSpPr/>
          <p:nvPr/>
        </p:nvSpPr>
        <p:spPr>
          <a:xfrm rot="5400000">
            <a:off x="6071006" y="4738180"/>
            <a:ext cx="362423" cy="312434"/>
          </a:xfrm>
          <a:prstGeom prst="triangle">
            <a:avLst/>
          </a:prstGeom>
          <a:solidFill>
            <a:srgbClr val="8B72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018283" y="4727112"/>
            <a:ext cx="441659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改变的策略</a:t>
            </a:r>
            <a:endParaRPr lang="zh-CN" alt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18283" y="3693228"/>
            <a:ext cx="70724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6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119116" y="4727112"/>
            <a:ext cx="4176784" cy="74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681308" y="4066854"/>
            <a:ext cx="13093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third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623401" y="3940290"/>
            <a:ext cx="37240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不要屈从于感觉良好，</a:t>
            </a:r>
            <a:endParaRPr lang="en-US" altLang="zh-CN" sz="2400" b="1" dirty="0" smtClean="0">
              <a:solidFill>
                <a:srgbClr val="8B72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勇于接受应该做的事！</a:t>
            </a:r>
            <a:endParaRPr lang="zh-CN" altLang="en-US" sz="2400" b="1" dirty="0">
              <a:solidFill>
                <a:srgbClr val="8B72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591496" y="5168782"/>
            <a:ext cx="49552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一旦我对手边的任务情绪消极，</a:t>
            </a:r>
            <a:endParaRPr lang="en-US" altLang="zh-CN" sz="2400" b="1" dirty="0" smtClean="0">
              <a:solidFill>
                <a:srgbClr val="8B72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我就保持原样，不停止工作，</a:t>
            </a:r>
            <a:endParaRPr lang="en-US" altLang="zh-CN" sz="2400" b="1" dirty="0" smtClean="0">
              <a:solidFill>
                <a:srgbClr val="8B72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部推迟任务，也不逃避！</a:t>
            </a:r>
            <a:endParaRPr lang="zh-CN" altLang="en-US" sz="2400" b="1" dirty="0">
              <a:solidFill>
                <a:srgbClr val="8B72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1942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0700" y="4089577"/>
            <a:ext cx="2476500" cy="2476500"/>
          </a:xfrm>
          <a:prstGeom prst="rect">
            <a:avLst/>
          </a:prstGeom>
        </p:spPr>
      </p:pic>
      <p:sp>
        <p:nvSpPr>
          <p:cNvPr id="21" name="五边形 20"/>
          <p:cNvSpPr/>
          <p:nvPr/>
        </p:nvSpPr>
        <p:spPr>
          <a:xfrm>
            <a:off x="725402" y="3068363"/>
            <a:ext cx="2328119" cy="694767"/>
          </a:xfrm>
          <a:prstGeom prst="homePlate">
            <a:avLst>
              <a:gd name="adj" fmla="val 33287"/>
            </a:avLst>
          </a:prstGeom>
          <a:solidFill>
            <a:srgbClr val="8B72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五边形 21"/>
          <p:cNvSpPr/>
          <p:nvPr/>
        </p:nvSpPr>
        <p:spPr>
          <a:xfrm>
            <a:off x="725402" y="4089577"/>
            <a:ext cx="5361605" cy="694767"/>
          </a:xfrm>
          <a:prstGeom prst="homePlate">
            <a:avLst>
              <a:gd name="adj" fmla="val 33287"/>
            </a:avLst>
          </a:prstGeom>
          <a:solidFill>
            <a:srgbClr val="8B72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733343" y="793586"/>
            <a:ext cx="10694922" cy="899886"/>
          </a:xfrm>
          <a:prstGeom prst="rect">
            <a:avLst/>
          </a:prstGeom>
          <a:solidFill>
            <a:srgbClr val="8B72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33343" y="1011107"/>
            <a:ext cx="53816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拖延</a:t>
            </a:r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症的表现形式</a:t>
            </a:r>
            <a:r>
              <a:rPr lang="en-US" altLang="zh-CN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改变的策略：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33343" y="3190177"/>
            <a:ext cx="759374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借口和自我欺骗</a:t>
            </a:r>
            <a:r>
              <a:rPr lang="en-US" altLang="zh-CN" sz="2200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200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掩饰行为</a:t>
            </a:r>
            <a:r>
              <a:rPr lang="en-US" altLang="zh-CN" sz="2200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200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过分乐观</a:t>
            </a:r>
            <a:r>
              <a:rPr lang="en-US" altLang="zh-CN" sz="2200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200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列清单</a:t>
            </a:r>
            <a:r>
              <a:rPr lang="en-US" altLang="zh-CN" sz="2200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200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树旗帜</a:t>
            </a:r>
            <a:endParaRPr lang="zh-CN" altLang="en-US" sz="2200" b="1" dirty="0">
              <a:solidFill>
                <a:srgbClr val="8B72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五边形 19"/>
          <p:cNvSpPr/>
          <p:nvPr/>
        </p:nvSpPr>
        <p:spPr>
          <a:xfrm>
            <a:off x="725403" y="2023241"/>
            <a:ext cx="4142406" cy="694767"/>
          </a:xfrm>
          <a:prstGeom prst="homePlate">
            <a:avLst>
              <a:gd name="adj" fmla="val 33287"/>
            </a:avLst>
          </a:prstGeom>
          <a:solidFill>
            <a:srgbClr val="8B72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33343" y="2145240"/>
            <a:ext cx="1084623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为什么明天还是没有心思去做？</a:t>
            </a:r>
            <a:r>
              <a:rPr lang="en-US" altLang="zh-CN" sz="2200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200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异常乐观影响</a:t>
            </a:r>
            <a:r>
              <a:rPr lang="en-US" altLang="zh-CN" sz="2200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200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时光旅行</a:t>
            </a:r>
            <a:r>
              <a:rPr lang="en-US" altLang="zh-CN" sz="2200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200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判断错误，解决问题</a:t>
            </a:r>
            <a:endParaRPr lang="zh-CN" altLang="en-US" sz="2200" b="1" dirty="0">
              <a:solidFill>
                <a:srgbClr val="8B72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33343" y="4197704"/>
            <a:ext cx="930254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上网“偷懒”让我们在拖延路上越走越远</a:t>
            </a:r>
            <a:r>
              <a:rPr lang="en-US" altLang="zh-CN" sz="2200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200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只要一分钟</a:t>
            </a:r>
            <a:r>
              <a:rPr lang="en-US" altLang="zh-CN" sz="2200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200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自己的意念</a:t>
            </a:r>
            <a:endParaRPr lang="zh-CN" altLang="en-US" sz="2200" b="1" dirty="0">
              <a:solidFill>
                <a:srgbClr val="8B72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8542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39703" y="1503442"/>
            <a:ext cx="441659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6600" b="1" dirty="0">
                <a:solidFill>
                  <a:srgbClr val="8B7268"/>
                </a:solidFill>
              </a:rPr>
              <a:t>战胜拖延症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39703" y="2517776"/>
            <a:ext cx="44935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4800" b="1" dirty="0" smtClean="0">
                <a:solidFill>
                  <a:srgbClr val="8B7268"/>
                </a:solidFill>
              </a:rPr>
              <a:t>开始行动的力量</a:t>
            </a:r>
            <a:endParaRPr lang="zh-CN" altLang="en-US" sz="4800" b="1" dirty="0">
              <a:solidFill>
                <a:srgbClr val="8B7268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9703" y="3407511"/>
            <a:ext cx="63081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4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4800" b="1" dirty="0" smtClean="0">
                <a:solidFill>
                  <a:srgbClr val="8B7268"/>
                </a:solidFill>
              </a:rPr>
              <a:t>列目标</a:t>
            </a:r>
            <a:r>
              <a:rPr lang="en-US" altLang="zh-CN" sz="4800" b="1" dirty="0" smtClean="0">
                <a:solidFill>
                  <a:srgbClr val="8B7268"/>
                </a:solidFill>
              </a:rPr>
              <a:t>/</a:t>
            </a:r>
            <a:r>
              <a:rPr lang="zh-CN" altLang="en-US" sz="4800" b="1" dirty="0" smtClean="0">
                <a:solidFill>
                  <a:srgbClr val="8B7268"/>
                </a:solidFill>
              </a:rPr>
              <a:t>任务</a:t>
            </a:r>
            <a:r>
              <a:rPr lang="en-US" altLang="zh-CN" sz="4800" b="1" dirty="0">
                <a:solidFill>
                  <a:srgbClr val="8B7268"/>
                </a:solidFill>
              </a:rPr>
              <a:t>/</a:t>
            </a:r>
            <a:r>
              <a:rPr lang="zh-CN" altLang="en-US" sz="4800" b="1" dirty="0">
                <a:solidFill>
                  <a:srgbClr val="8B7268"/>
                </a:solidFill>
              </a:rPr>
              <a:t>即刻</a:t>
            </a:r>
            <a:r>
              <a:rPr lang="zh-CN" altLang="en-US" sz="4800" b="1" dirty="0" smtClean="0">
                <a:solidFill>
                  <a:srgbClr val="8B7268"/>
                </a:solidFill>
              </a:rPr>
              <a:t>行动</a:t>
            </a:r>
            <a:endParaRPr lang="zh-CN" altLang="en-US" sz="4800" b="1" dirty="0">
              <a:solidFill>
                <a:srgbClr val="8B7268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1503440"/>
            <a:ext cx="839703" cy="3820955"/>
          </a:xfrm>
          <a:prstGeom prst="rect">
            <a:avLst/>
          </a:prstGeom>
          <a:solidFill>
            <a:srgbClr val="8B72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39703" y="4325007"/>
            <a:ext cx="6596678" cy="9612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一旦我对自己说类似“我更想待会儿再做”或者</a:t>
            </a:r>
            <a:endParaRPr lang="en-US" altLang="zh-CN" sz="2000" b="1" dirty="0" smtClean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“我现在没有心思做”的话，我就立刻开始做部分任务！</a:t>
            </a:r>
            <a:endParaRPr lang="zh-CN" altLang="en-US" sz="20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6381" y="1963679"/>
            <a:ext cx="4055554" cy="2770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359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直接连接符 25"/>
          <p:cNvCxnSpPr/>
          <p:nvPr/>
        </p:nvCxnSpPr>
        <p:spPr>
          <a:xfrm>
            <a:off x="0" y="3708163"/>
            <a:ext cx="12192000" cy="0"/>
          </a:xfrm>
          <a:prstGeom prst="line">
            <a:avLst/>
          </a:prstGeom>
          <a:ln w="57150">
            <a:solidFill>
              <a:srgbClr val="8B7268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-24795" y="0"/>
            <a:ext cx="12211050" cy="2796037"/>
          </a:xfrm>
          <a:custGeom>
            <a:avLst/>
            <a:gdLst>
              <a:gd name="connsiteX0" fmla="*/ 0 w 12192000"/>
              <a:gd name="connsiteY0" fmla="*/ 0 h 2148337"/>
              <a:gd name="connsiteX1" fmla="*/ 12192000 w 12192000"/>
              <a:gd name="connsiteY1" fmla="*/ 0 h 2148337"/>
              <a:gd name="connsiteX2" fmla="*/ 12192000 w 12192000"/>
              <a:gd name="connsiteY2" fmla="*/ 2148337 h 2148337"/>
              <a:gd name="connsiteX3" fmla="*/ 0 w 12192000"/>
              <a:gd name="connsiteY3" fmla="*/ 2148337 h 2148337"/>
              <a:gd name="connsiteX4" fmla="*/ 0 w 12192000"/>
              <a:gd name="connsiteY4" fmla="*/ 0 h 2148337"/>
              <a:gd name="connsiteX0" fmla="*/ 19050 w 12211050"/>
              <a:gd name="connsiteY0" fmla="*/ 0 h 2567437"/>
              <a:gd name="connsiteX1" fmla="*/ 12211050 w 12211050"/>
              <a:gd name="connsiteY1" fmla="*/ 0 h 2567437"/>
              <a:gd name="connsiteX2" fmla="*/ 12211050 w 12211050"/>
              <a:gd name="connsiteY2" fmla="*/ 2148337 h 2567437"/>
              <a:gd name="connsiteX3" fmla="*/ 0 w 12211050"/>
              <a:gd name="connsiteY3" fmla="*/ 2567437 h 2567437"/>
              <a:gd name="connsiteX4" fmla="*/ 19050 w 12211050"/>
              <a:gd name="connsiteY4" fmla="*/ 0 h 2567437"/>
              <a:gd name="connsiteX0" fmla="*/ 19050 w 12211050"/>
              <a:gd name="connsiteY0" fmla="*/ 0 h 2796037"/>
              <a:gd name="connsiteX1" fmla="*/ 12211050 w 12211050"/>
              <a:gd name="connsiteY1" fmla="*/ 0 h 2796037"/>
              <a:gd name="connsiteX2" fmla="*/ 12211050 w 12211050"/>
              <a:gd name="connsiteY2" fmla="*/ 2148337 h 2796037"/>
              <a:gd name="connsiteX3" fmla="*/ 0 w 12211050"/>
              <a:gd name="connsiteY3" fmla="*/ 2796037 h 2796037"/>
              <a:gd name="connsiteX4" fmla="*/ 19050 w 12211050"/>
              <a:gd name="connsiteY4" fmla="*/ 0 h 2796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2796037">
                <a:moveTo>
                  <a:pt x="19050" y="0"/>
                </a:moveTo>
                <a:lnTo>
                  <a:pt x="12211050" y="0"/>
                </a:lnTo>
                <a:lnTo>
                  <a:pt x="12211050" y="2148337"/>
                </a:lnTo>
                <a:lnTo>
                  <a:pt x="0" y="2796037"/>
                </a:lnTo>
                <a:lnTo>
                  <a:pt x="19050" y="0"/>
                </a:lnTo>
                <a:close/>
              </a:path>
            </a:pathLst>
          </a:custGeom>
          <a:solidFill>
            <a:srgbClr val="8B72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98288" y="356452"/>
            <a:ext cx="741741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6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追求</a:t>
            </a:r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目标的过程中对所要面对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5135840" y="2921964"/>
            <a:ext cx="1581150" cy="1581150"/>
            <a:chOff x="2971800" y="2667000"/>
            <a:chExt cx="1581150" cy="1581150"/>
          </a:xfrm>
        </p:grpSpPr>
        <p:sp>
          <p:nvSpPr>
            <p:cNvPr id="4" name="矩形 3"/>
            <p:cNvSpPr/>
            <p:nvPr/>
          </p:nvSpPr>
          <p:spPr>
            <a:xfrm>
              <a:off x="2971800" y="2667000"/>
              <a:ext cx="1581150" cy="1581150"/>
            </a:xfrm>
            <a:prstGeom prst="rect">
              <a:avLst/>
            </a:prstGeom>
            <a:solidFill>
              <a:srgbClr val="8B72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2971800" y="2667000"/>
              <a:ext cx="1581150" cy="1581150"/>
              <a:chOff x="2971800" y="2667000"/>
              <a:chExt cx="1581150" cy="1581150"/>
            </a:xfrm>
          </p:grpSpPr>
          <p:sp>
            <p:nvSpPr>
              <p:cNvPr id="8" name="直角三角形 7"/>
              <p:cNvSpPr/>
              <p:nvPr/>
            </p:nvSpPr>
            <p:spPr>
              <a:xfrm>
                <a:off x="2971800" y="2667000"/>
                <a:ext cx="1581150" cy="1581150"/>
              </a:xfrm>
              <a:prstGeom prst="rtTriangle">
                <a:avLst/>
              </a:prstGeom>
              <a:solidFill>
                <a:schemeClr val="bg1">
                  <a:alpha val="4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2971800" y="2991534"/>
                <a:ext cx="1569660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5400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干扰</a:t>
                </a:r>
                <a:endParaRPr lang="zh-CN" altLang="en-US" sz="5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0" name="组合 19"/>
          <p:cNvGrpSpPr/>
          <p:nvPr/>
        </p:nvGrpSpPr>
        <p:grpSpPr>
          <a:xfrm>
            <a:off x="7324625" y="2921964"/>
            <a:ext cx="1581150" cy="1581150"/>
            <a:chOff x="5381625" y="2667000"/>
            <a:chExt cx="1581150" cy="1581150"/>
          </a:xfrm>
        </p:grpSpPr>
        <p:sp>
          <p:nvSpPr>
            <p:cNvPr id="5" name="矩形 4"/>
            <p:cNvSpPr/>
            <p:nvPr/>
          </p:nvSpPr>
          <p:spPr>
            <a:xfrm>
              <a:off x="5381625" y="2667000"/>
              <a:ext cx="1581150" cy="1581150"/>
            </a:xfrm>
            <a:prstGeom prst="rect">
              <a:avLst/>
            </a:prstGeom>
            <a:solidFill>
              <a:srgbClr val="8B72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5381625" y="2667000"/>
              <a:ext cx="1581150" cy="1581150"/>
              <a:chOff x="5381625" y="2667000"/>
              <a:chExt cx="1581150" cy="1581150"/>
            </a:xfrm>
          </p:grpSpPr>
          <p:sp>
            <p:nvSpPr>
              <p:cNvPr id="9" name="直角三角形 8"/>
              <p:cNvSpPr/>
              <p:nvPr/>
            </p:nvSpPr>
            <p:spPr>
              <a:xfrm>
                <a:off x="5381625" y="2667000"/>
                <a:ext cx="1581150" cy="1581150"/>
              </a:xfrm>
              <a:prstGeom prst="rtTriangle">
                <a:avLst/>
              </a:prstGeom>
              <a:solidFill>
                <a:schemeClr val="bg1">
                  <a:alpha val="4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5381625" y="2991534"/>
                <a:ext cx="1569660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5400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障碍</a:t>
                </a:r>
                <a:endParaRPr lang="zh-CN" altLang="en-US" sz="5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9" name="组合 18"/>
          <p:cNvGrpSpPr/>
          <p:nvPr/>
        </p:nvGrpSpPr>
        <p:grpSpPr>
          <a:xfrm>
            <a:off x="9513410" y="2921964"/>
            <a:ext cx="1581150" cy="1581150"/>
            <a:chOff x="7791450" y="2667000"/>
            <a:chExt cx="1581150" cy="1581150"/>
          </a:xfrm>
        </p:grpSpPr>
        <p:sp>
          <p:nvSpPr>
            <p:cNvPr id="6" name="矩形 5"/>
            <p:cNvSpPr/>
            <p:nvPr/>
          </p:nvSpPr>
          <p:spPr>
            <a:xfrm>
              <a:off x="7791450" y="2667000"/>
              <a:ext cx="1581150" cy="1581150"/>
            </a:xfrm>
            <a:prstGeom prst="rect">
              <a:avLst/>
            </a:prstGeom>
            <a:solidFill>
              <a:srgbClr val="8B72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/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7791450" y="2667000"/>
              <a:ext cx="1581150" cy="1581150"/>
              <a:chOff x="7791450" y="2667000"/>
              <a:chExt cx="1581150" cy="1581150"/>
            </a:xfrm>
          </p:grpSpPr>
          <p:sp>
            <p:nvSpPr>
              <p:cNvPr id="10" name="直角三角形 9"/>
              <p:cNvSpPr/>
              <p:nvPr/>
            </p:nvSpPr>
            <p:spPr>
              <a:xfrm>
                <a:off x="7791450" y="2667000"/>
                <a:ext cx="1581150" cy="1581150"/>
              </a:xfrm>
              <a:prstGeom prst="rtTriangle">
                <a:avLst/>
              </a:prstGeom>
              <a:solidFill>
                <a:schemeClr val="bg1">
                  <a:alpha val="4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7797195" y="2991534"/>
                <a:ext cx="1569660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5400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挫折</a:t>
                </a:r>
                <a:endParaRPr lang="zh-CN" altLang="en-US" sz="5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15" name="矩形 14"/>
          <p:cNvSpPr/>
          <p:nvPr/>
        </p:nvSpPr>
        <p:spPr>
          <a:xfrm>
            <a:off x="-19050" y="4515534"/>
            <a:ext cx="12211050" cy="2342466"/>
          </a:xfrm>
          <a:custGeom>
            <a:avLst/>
            <a:gdLst>
              <a:gd name="connsiteX0" fmla="*/ 0 w 12192000"/>
              <a:gd name="connsiteY0" fmla="*/ 0 h 2113866"/>
              <a:gd name="connsiteX1" fmla="*/ 12192000 w 12192000"/>
              <a:gd name="connsiteY1" fmla="*/ 0 h 2113866"/>
              <a:gd name="connsiteX2" fmla="*/ 12192000 w 12192000"/>
              <a:gd name="connsiteY2" fmla="*/ 2113866 h 2113866"/>
              <a:gd name="connsiteX3" fmla="*/ 0 w 12192000"/>
              <a:gd name="connsiteY3" fmla="*/ 2113866 h 2113866"/>
              <a:gd name="connsiteX4" fmla="*/ 0 w 12192000"/>
              <a:gd name="connsiteY4" fmla="*/ 0 h 2113866"/>
              <a:gd name="connsiteX0" fmla="*/ 0 w 12192000"/>
              <a:gd name="connsiteY0" fmla="*/ 0 h 2113866"/>
              <a:gd name="connsiteX1" fmla="*/ 12172950 w 12192000"/>
              <a:gd name="connsiteY1" fmla="*/ 838200 h 2113866"/>
              <a:gd name="connsiteX2" fmla="*/ 12192000 w 12192000"/>
              <a:gd name="connsiteY2" fmla="*/ 2113866 h 2113866"/>
              <a:gd name="connsiteX3" fmla="*/ 0 w 12192000"/>
              <a:gd name="connsiteY3" fmla="*/ 2113866 h 2113866"/>
              <a:gd name="connsiteX4" fmla="*/ 0 w 12192000"/>
              <a:gd name="connsiteY4" fmla="*/ 0 h 2113866"/>
              <a:gd name="connsiteX0" fmla="*/ 0 w 12211050"/>
              <a:gd name="connsiteY0" fmla="*/ 0 h 2342466"/>
              <a:gd name="connsiteX1" fmla="*/ 12192000 w 12211050"/>
              <a:gd name="connsiteY1" fmla="*/ 1066800 h 2342466"/>
              <a:gd name="connsiteX2" fmla="*/ 12211050 w 12211050"/>
              <a:gd name="connsiteY2" fmla="*/ 2342466 h 2342466"/>
              <a:gd name="connsiteX3" fmla="*/ 19050 w 12211050"/>
              <a:gd name="connsiteY3" fmla="*/ 2342466 h 2342466"/>
              <a:gd name="connsiteX4" fmla="*/ 0 w 12211050"/>
              <a:gd name="connsiteY4" fmla="*/ 0 h 2342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2342466">
                <a:moveTo>
                  <a:pt x="0" y="0"/>
                </a:moveTo>
                <a:lnTo>
                  <a:pt x="12192000" y="1066800"/>
                </a:lnTo>
                <a:lnTo>
                  <a:pt x="12211050" y="2342466"/>
                </a:lnTo>
                <a:lnTo>
                  <a:pt x="19050" y="2342466"/>
                </a:lnTo>
                <a:lnTo>
                  <a:pt x="0" y="0"/>
                </a:lnTo>
                <a:close/>
              </a:path>
            </a:pathLst>
          </a:custGeom>
          <a:solidFill>
            <a:srgbClr val="8B72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 rot="407028">
            <a:off x="2468236" y="5447124"/>
            <a:ext cx="32624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减少分心之事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 rot="407028">
            <a:off x="6132513" y="5447124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执行意图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736438" y="5074216"/>
            <a:ext cx="1453702" cy="1453702"/>
          </a:xfrm>
          <a:prstGeom prst="ellipse">
            <a:avLst/>
          </a:prstGeom>
          <a:solidFill>
            <a:schemeClr val="bg1"/>
          </a:solidFill>
          <a:ln>
            <a:solidFill>
              <a:srgbClr val="8B72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880556" y="5448984"/>
            <a:ext cx="121058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b="1" dirty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策略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736438" y="1476868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客观</a:t>
            </a:r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环境影响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0" name="直接连接符 29"/>
          <p:cNvCxnSpPr/>
          <p:nvPr/>
        </p:nvCxnSpPr>
        <p:spPr>
          <a:xfrm>
            <a:off x="247094" y="1401485"/>
            <a:ext cx="8312706" cy="62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698288" y="1401485"/>
            <a:ext cx="0" cy="105257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等腰三角形 34"/>
          <p:cNvSpPr/>
          <p:nvPr/>
        </p:nvSpPr>
        <p:spPr>
          <a:xfrm rot="3255370">
            <a:off x="2046230" y="5014848"/>
            <a:ext cx="526612" cy="45397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7964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12192000" cy="6857999"/>
          </a:xfrm>
          <a:custGeom>
            <a:avLst/>
            <a:gdLst>
              <a:gd name="connsiteX0" fmla="*/ 0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6857999 h 6857999"/>
              <a:gd name="connsiteX3" fmla="*/ 0 w 12192000"/>
              <a:gd name="connsiteY3" fmla="*/ 6857999 h 6857999"/>
              <a:gd name="connsiteX4" fmla="*/ 0 w 12192000"/>
              <a:gd name="connsiteY4" fmla="*/ 0 h 6857999"/>
              <a:gd name="connsiteX0" fmla="*/ 0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4056742 h 6857999"/>
              <a:gd name="connsiteX3" fmla="*/ 0 w 12192000"/>
              <a:gd name="connsiteY3" fmla="*/ 6857999 h 6857999"/>
              <a:gd name="connsiteX4" fmla="*/ 0 w 12192000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7999">
                <a:moveTo>
                  <a:pt x="0" y="0"/>
                </a:moveTo>
                <a:lnTo>
                  <a:pt x="12192000" y="0"/>
                </a:lnTo>
                <a:lnTo>
                  <a:pt x="12192000" y="4056742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>
            <a:srgbClr val="8B72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98288" y="356452"/>
            <a:ext cx="741741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6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追求</a:t>
            </a:r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目标的过程中对所要面对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36438" y="1476868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主观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因素</a:t>
            </a:r>
            <a:r>
              <a:rPr lang="zh-CN" altLang="en-US" sz="2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影响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47094" y="1401485"/>
            <a:ext cx="8312706" cy="62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698288" y="1401485"/>
            <a:ext cx="0" cy="400871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8839200" y="5410200"/>
            <a:ext cx="272382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600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关键词</a:t>
            </a:r>
            <a:endParaRPr lang="zh-CN" altLang="en-US" sz="6600" b="1" dirty="0">
              <a:solidFill>
                <a:srgbClr val="8B72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51332" y="2000088"/>
            <a:ext cx="5493812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意志力</a:t>
            </a:r>
            <a:endParaRPr lang="zh-CN" altLang="en-US" sz="13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 rot="20835121">
            <a:off x="1082346" y="4870341"/>
            <a:ext cx="94179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学会增强自己的意志力，去约束自己，该做什么？什么时候完成？达到什么目标？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3488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119792" y="803520"/>
            <a:ext cx="40735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与生俱来的东西</a:t>
            </a:r>
            <a:r>
              <a:rPr lang="en-US" altLang="zh-CN" sz="2000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000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性格</a:t>
            </a:r>
            <a:r>
              <a:rPr lang="zh-CN" altLang="en-US" sz="2000" b="1" dirty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与拖延</a:t>
            </a:r>
            <a:r>
              <a:rPr lang="zh-CN" altLang="en-US" sz="2000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症</a:t>
            </a:r>
            <a:endParaRPr lang="zh-CN" altLang="en-US" sz="2000" b="1" dirty="0">
              <a:solidFill>
                <a:srgbClr val="8B72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72542" y="1249649"/>
            <a:ext cx="387798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800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性格五大特质</a:t>
            </a:r>
            <a:endParaRPr lang="zh-CN" altLang="en-US" sz="4800" dirty="0">
              <a:solidFill>
                <a:srgbClr val="8B7268"/>
              </a:solidFill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4592865" y="2233840"/>
            <a:ext cx="1368198" cy="1368198"/>
            <a:chOff x="2046514" y="3392488"/>
            <a:chExt cx="1368198" cy="136819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5" name="椭圆 14"/>
            <p:cNvSpPr/>
            <p:nvPr/>
          </p:nvSpPr>
          <p:spPr>
            <a:xfrm>
              <a:off x="2046514" y="3392488"/>
              <a:ext cx="1368198" cy="1368198"/>
            </a:xfrm>
            <a:prstGeom prst="ellipse">
              <a:avLst/>
            </a:prstGeom>
            <a:solidFill>
              <a:srgbClr val="8B72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2257540" y="3876532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责任心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73052" y="2233840"/>
            <a:ext cx="1368198" cy="1368198"/>
            <a:chOff x="3625738" y="3392488"/>
            <a:chExt cx="1368198" cy="136819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1" name="椭圆 20"/>
            <p:cNvSpPr/>
            <p:nvPr/>
          </p:nvSpPr>
          <p:spPr>
            <a:xfrm>
              <a:off x="3625738" y="3392488"/>
              <a:ext cx="1368198" cy="1368198"/>
            </a:xfrm>
            <a:prstGeom prst="ellipse">
              <a:avLst/>
            </a:prstGeom>
            <a:solidFill>
              <a:srgbClr val="8B72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3836764" y="3876532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随和性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908766" y="3755061"/>
            <a:ext cx="1368198" cy="1368198"/>
            <a:chOff x="3625738" y="3392488"/>
            <a:chExt cx="1368198" cy="136819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6" name="椭圆 25"/>
            <p:cNvSpPr/>
            <p:nvPr/>
          </p:nvSpPr>
          <p:spPr>
            <a:xfrm>
              <a:off x="3625738" y="3392488"/>
              <a:ext cx="1368198" cy="1368198"/>
            </a:xfrm>
            <a:prstGeom prst="ellipse">
              <a:avLst/>
            </a:prstGeom>
            <a:solidFill>
              <a:srgbClr val="8B72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3836764" y="3876532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神经质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488953" y="3755061"/>
            <a:ext cx="1368198" cy="1368198"/>
            <a:chOff x="3625738" y="3392488"/>
            <a:chExt cx="1368198" cy="136819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9" name="椭圆 28"/>
            <p:cNvSpPr/>
            <p:nvPr/>
          </p:nvSpPr>
          <p:spPr>
            <a:xfrm>
              <a:off x="3625738" y="3392488"/>
              <a:ext cx="1368198" cy="1368198"/>
            </a:xfrm>
            <a:prstGeom prst="ellipse">
              <a:avLst/>
            </a:prstGeom>
            <a:solidFill>
              <a:srgbClr val="8B72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3836764" y="3876532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开放性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7069140" y="3755061"/>
            <a:ext cx="1368198" cy="1368198"/>
            <a:chOff x="3625738" y="3392488"/>
            <a:chExt cx="1368198" cy="1368198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32" name="椭圆 31"/>
            <p:cNvSpPr/>
            <p:nvPr/>
          </p:nvSpPr>
          <p:spPr>
            <a:xfrm>
              <a:off x="3625738" y="3392488"/>
              <a:ext cx="1368198" cy="1368198"/>
            </a:xfrm>
            <a:prstGeom prst="ellipse">
              <a:avLst/>
            </a:prstGeom>
            <a:solidFill>
              <a:srgbClr val="8B72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3836764" y="3876532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外向性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4078175" y="5281512"/>
            <a:ext cx="40318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性格与拖延症并没有直接的关联性</a:t>
            </a:r>
            <a:endParaRPr lang="zh-CN" altLang="en-US" sz="2000" b="1" dirty="0">
              <a:solidFill>
                <a:srgbClr val="8B72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908766" y="13858"/>
            <a:ext cx="4528572" cy="699134"/>
          </a:xfrm>
          <a:prstGeom prst="rect">
            <a:avLst/>
          </a:prstGeom>
          <a:solidFill>
            <a:srgbClr val="8B72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3908766" y="5772150"/>
            <a:ext cx="4528572" cy="1085850"/>
          </a:xfrm>
          <a:prstGeom prst="rect">
            <a:avLst/>
          </a:prstGeom>
          <a:solidFill>
            <a:srgbClr val="8B72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5705161" y="6068903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篇外</a:t>
            </a:r>
          </a:p>
        </p:txBody>
      </p:sp>
    </p:spTree>
    <p:extLst>
      <p:ext uri="{BB962C8B-B14F-4D97-AF65-F5344CB8AC3E}">
        <p14:creationId xmlns:p14="http://schemas.microsoft.com/office/powerpoint/2010/main" val="348223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8B72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8B726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072039" y="4184735"/>
            <a:ext cx="5724644" cy="830997"/>
          </a:xfrm>
          <a:prstGeom prst="rect">
            <a:avLst/>
          </a:prstGeom>
          <a:noFill/>
        </p:spPr>
        <p:txBody>
          <a:bodyPr wrap="none" rtlCol="0">
            <a:prstTxWarp prst="textTriangleInverted">
              <a:avLst/>
            </a:prstTxWarp>
            <a:spAutoFit/>
          </a:bodyPr>
          <a:lstStyle/>
          <a:p>
            <a:r>
              <a:rPr lang="zh-CN" altLang="en-US" sz="4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走在自我改变的路上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840183" y="5214254"/>
            <a:ext cx="6206836" cy="923310"/>
          </a:xfrm>
          <a:prstGeom prst="rect">
            <a:avLst/>
          </a:prstGeom>
          <a:noFill/>
        </p:spPr>
        <p:txBody>
          <a:bodyPr wrap="none" rtlCol="0">
            <a:prstTxWarp prst="textTriangleInverted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自我改变是我每天的旅程</a:t>
            </a:r>
            <a:endParaRPr lang="en-US" altLang="zh-CN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前进两步，后退一步，我将耐心地坚持下去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等腰三角形 2"/>
          <p:cNvSpPr/>
          <p:nvPr/>
        </p:nvSpPr>
        <p:spPr>
          <a:xfrm rot="741339">
            <a:off x="3338947" y="-2507674"/>
            <a:ext cx="595745" cy="57912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/>
        </p:nvSpPr>
        <p:spPr>
          <a:xfrm rot="20858661" flipH="1">
            <a:off x="7467602" y="-2549238"/>
            <a:ext cx="595745" cy="579120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梯形 9"/>
          <p:cNvSpPr/>
          <p:nvPr/>
        </p:nvSpPr>
        <p:spPr>
          <a:xfrm>
            <a:off x="4668982" y="-1205346"/>
            <a:ext cx="2175163" cy="443346"/>
          </a:xfrm>
          <a:prstGeom prst="trapezoid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梯形 10"/>
          <p:cNvSpPr/>
          <p:nvPr/>
        </p:nvSpPr>
        <p:spPr>
          <a:xfrm>
            <a:off x="4336473" y="-166256"/>
            <a:ext cx="2826327" cy="443346"/>
          </a:xfrm>
          <a:prstGeom prst="trapezoid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梯形 11"/>
          <p:cNvSpPr/>
          <p:nvPr/>
        </p:nvSpPr>
        <p:spPr>
          <a:xfrm>
            <a:off x="4100946" y="858980"/>
            <a:ext cx="3283527" cy="443346"/>
          </a:xfrm>
          <a:prstGeom prst="trapezoid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梯形 12"/>
          <p:cNvSpPr/>
          <p:nvPr/>
        </p:nvSpPr>
        <p:spPr>
          <a:xfrm>
            <a:off x="3934691" y="1814944"/>
            <a:ext cx="3726873" cy="443346"/>
          </a:xfrm>
          <a:prstGeom prst="trapezoid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梯形 13"/>
          <p:cNvSpPr/>
          <p:nvPr/>
        </p:nvSpPr>
        <p:spPr>
          <a:xfrm>
            <a:off x="3616037" y="2867890"/>
            <a:ext cx="4329750" cy="443346"/>
          </a:xfrm>
          <a:prstGeom prst="trapezoid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802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19100" y="0"/>
            <a:ext cx="3200400" cy="6857999"/>
          </a:xfrm>
          <a:prstGeom prst="rect">
            <a:avLst/>
          </a:prstGeom>
          <a:solidFill>
            <a:srgbClr val="8B726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1002030" y="642621"/>
            <a:ext cx="2034540" cy="2034540"/>
            <a:chOff x="858768" y="825996"/>
            <a:chExt cx="2321064" cy="2321064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6338" y="1015999"/>
              <a:ext cx="1945924" cy="1941059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" name="空心弧 3"/>
            <p:cNvSpPr/>
            <p:nvPr/>
          </p:nvSpPr>
          <p:spPr>
            <a:xfrm>
              <a:off x="858768" y="825996"/>
              <a:ext cx="2321064" cy="2321064"/>
            </a:xfrm>
            <a:prstGeom prst="blockArc">
              <a:avLst>
                <a:gd name="adj1" fmla="val 3158730"/>
                <a:gd name="adj2" fmla="val 21498584"/>
                <a:gd name="adj3" fmla="val 3904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744509" y="2905293"/>
            <a:ext cx="27302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蒂莫西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·A· 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皮切尔博士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901044" y="3487055"/>
            <a:ext cx="2236510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语录</a:t>
            </a:r>
            <a:endParaRPr lang="en-US" altLang="zh-CN" sz="80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8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分享</a:t>
            </a:r>
            <a:endParaRPr lang="zh-CN" altLang="en-US" sz="8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002255" y="1389635"/>
            <a:ext cx="8090676" cy="3332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拖延是对生活本身的无所适从。</a:t>
            </a:r>
            <a:endParaRPr lang="en-US" altLang="zh-CN" b="1" dirty="0" smtClean="0">
              <a:solidFill>
                <a:srgbClr val="8B72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我们在推迟自己的目标时，就相当于在拖延自己的生命。</a:t>
            </a:r>
            <a:endParaRPr lang="en-US" altLang="zh-CN" b="1" dirty="0" smtClean="0">
              <a:solidFill>
                <a:srgbClr val="8B72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习惯不容易改变。有意识去改变，并有具体的策略，我们才能真正改变。</a:t>
            </a:r>
            <a:endParaRPr lang="en-US" altLang="zh-CN" b="1" dirty="0" smtClean="0">
              <a:solidFill>
                <a:srgbClr val="8B72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自我改变时我每天的旅程。前进两步，后退一步，我将耐心地坚持下去。</a:t>
            </a:r>
            <a:endParaRPr lang="en-US" altLang="zh-CN" b="1" dirty="0" smtClean="0">
              <a:solidFill>
                <a:srgbClr val="8B72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时间如此珍贵，浪费实在可惜。</a:t>
            </a:r>
            <a:endParaRPr lang="en-US" altLang="zh-CN" b="1" dirty="0" smtClean="0">
              <a:solidFill>
                <a:srgbClr val="8B72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b="1" dirty="0" smtClean="0">
                <a:solidFill>
                  <a:srgbClr val="8B726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时候做个承诺让自己的生活充实起来了，完成你的目标，享受人生旅程。</a:t>
            </a:r>
            <a:endParaRPr lang="en-US" altLang="zh-CN" b="1" dirty="0" smtClean="0">
              <a:solidFill>
                <a:srgbClr val="8B726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42341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8B72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581447" y="2586418"/>
            <a:ext cx="32239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爱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创意</a:t>
            </a:r>
            <a:r>
              <a:rPr lang="en-US" altLang="zh-CN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爱分享</a:t>
            </a:r>
            <a:r>
              <a:rPr lang="en-US" altLang="zh-CN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爱生活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09074" y="3209259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再不努力就掉队了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88114" y="383210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是花生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01457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93164" y="1092486"/>
            <a:ext cx="7405675" cy="3915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4240772" y="2846588"/>
            <a:ext cx="116641" cy="217027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59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29098" y="2846588"/>
            <a:ext cx="116641" cy="217027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59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7895354" y="2846588"/>
            <a:ext cx="116641" cy="217027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59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80129" y="3987081"/>
            <a:ext cx="7405675" cy="1792157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>
              <a:spcBef>
                <a:spcPts val="1459"/>
              </a:spcBef>
            </a:pP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459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459"/>
              </a:spcBef>
            </a:pP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459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972"/>
              </a:spcBef>
            </a:pP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972"/>
              </a:spcBef>
            </a:pP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972"/>
              </a:spcBef>
            </a:pP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655091" y="4303808"/>
            <a:ext cx="68818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480130" y="2291753"/>
            <a:ext cx="1574655" cy="1086374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59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0" y="2382196"/>
              <a:ext cx="1728240" cy="9457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0" cy="3912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321639" y="2291755"/>
            <a:ext cx="1574655" cy="1279976"/>
            <a:chOff x="107380" y="2024805"/>
            <a:chExt cx="1944270" cy="1580420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59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0" y="2382194"/>
              <a:ext cx="1728240" cy="12230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3912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32990" y="2291753"/>
            <a:ext cx="1574655" cy="1086374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59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0" y="2382196"/>
              <a:ext cx="1728240" cy="9457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0" cy="3912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7953671" y="2291753"/>
            <a:ext cx="1574655" cy="1086374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59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0" y="2382196"/>
              <a:ext cx="1728240" cy="9457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0" cy="3912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116498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96389" y="3953872"/>
            <a:ext cx="7425927" cy="1301778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2" cy="54533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74502">
                <a:defRPr/>
              </a:pPr>
              <a:r>
                <a:rPr lang="en-US" altLang="zh-CN" sz="1135" kern="0" dirty="0">
                  <a:solidFill>
                    <a:prstClr val="black"/>
                  </a:solidFill>
                </a:rPr>
                <a:t/>
              </a:r>
              <a:br>
                <a:rPr lang="en-US" altLang="zh-CN" sz="1135" kern="0" dirty="0">
                  <a:solidFill>
                    <a:prstClr val="black"/>
                  </a:solidFill>
                </a:rPr>
              </a:br>
              <a:endParaRPr lang="en-US" altLang="zh-CN" sz="1135" kern="0" dirty="0">
                <a:solidFill>
                  <a:prstClr val="black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55542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5" kern="0">
                <a:solidFill>
                  <a:prstClr val="white"/>
                </a:solidFill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2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3" y="3613175"/>
              <a:ext cx="594123" cy="5758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29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43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485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70" y="3441723"/>
              <a:ext cx="3543296" cy="928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29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3647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1944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555429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63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110678" y="4188246"/>
              <a:ext cx="1709734" cy="4375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29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703" kern="0" dirty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2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8" y="4183482"/>
              <a:ext cx="757239" cy="761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29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703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2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5" kern="0">
                <a:solidFill>
                  <a:prstClr val="white"/>
                </a:solidFill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95" kern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5"/>
              <a:ext cx="3107856" cy="3450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29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216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500712" y="1387842"/>
            <a:ext cx="5190581" cy="2353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>
              <a:spcBef>
                <a:spcPts val="2431"/>
              </a:spcBef>
            </a:pPr>
            <a:r>
              <a:rPr lang="zh-CN" altLang="en-US" sz="356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3564" b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093</a:t>
            </a:r>
            <a:r>
              <a:rPr lang="zh-CN" altLang="en-US" sz="3564" b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3564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2431"/>
              </a:spcBef>
            </a:pP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268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1588397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927</Words>
  <Application>Microsoft Office PowerPoint</Application>
  <PresentationFormat>宽屏</PresentationFormat>
  <Paragraphs>137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Arial Unicode MS</vt:lpstr>
      <vt:lpstr>方正正黑简体</vt:lpstr>
      <vt:lpstr>方正正中黑简体</vt:lpstr>
      <vt:lpstr>宋体</vt:lpstr>
      <vt:lpstr>微软雅黑</vt:lpstr>
      <vt:lpstr>Arial</vt:lpstr>
      <vt:lpstr>Calibri</vt:lpstr>
      <vt:lpstr>Calibri Light</vt:lpstr>
      <vt:lpstr>Wingdings</vt:lpstr>
      <vt:lpstr>Office 主题</vt:lpstr>
      <vt:lpstr>4_Office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小巴</cp:lastModifiedBy>
  <cp:revision>30</cp:revision>
  <dcterms:created xsi:type="dcterms:W3CDTF">2014-04-12T04:47:12Z</dcterms:created>
  <dcterms:modified xsi:type="dcterms:W3CDTF">2014-05-01T00:58:18Z</dcterms:modified>
</cp:coreProperties>
</file>