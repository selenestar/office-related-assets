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7" r:id="rId3"/>
    <p:sldId id="258" r:id="rId4"/>
    <p:sldId id="259" r:id="rId5"/>
    <p:sldId id="260" r:id="rId6"/>
    <p:sldId id="272" r:id="rId7"/>
    <p:sldId id="270" r:id="rId8"/>
    <p:sldId id="263" r:id="rId9"/>
    <p:sldId id="264" r:id="rId10"/>
    <p:sldId id="268" r:id="rId11"/>
    <p:sldId id="273" r:id="rId12"/>
    <p:sldId id="274" r:id="rId13"/>
    <p:sldId id="276" r:id="rId14"/>
    <p:sldId id="275" r:id="rId15"/>
    <p:sldId id="261" r:id="rId16"/>
    <p:sldId id="277" r:id="rId17"/>
    <p:sldId id="278" r:id="rId18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107" autoAdjust="0"/>
  </p:normalViewPr>
  <p:slideViewPr>
    <p:cSldViewPr>
      <p:cViewPr varScale="1">
        <p:scale>
          <a:sx n="107" d="100"/>
          <a:sy n="107" d="100"/>
        </p:scale>
        <p:origin x="336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9FD46-BB7C-4F8F-A287-AF8EEA53F6DB}" type="datetimeFigureOut">
              <a:rPr lang="zh-CN" altLang="en-US" smtClean="0"/>
              <a:t>2014/5/11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F1FA-660C-4A0C-8719-2B2253E071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5666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9FD46-BB7C-4F8F-A287-AF8EEA53F6DB}" type="datetimeFigureOut">
              <a:rPr lang="zh-CN" altLang="en-US" smtClean="0"/>
              <a:t>2014/5/11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F1FA-660C-4A0C-8719-2B2253E071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5515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9FD46-BB7C-4F8F-A287-AF8EEA53F6DB}" type="datetimeFigureOut">
              <a:rPr lang="zh-CN" altLang="en-US" smtClean="0"/>
              <a:t>2014/5/11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F1FA-660C-4A0C-8719-2B2253E071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277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9FD46-BB7C-4F8F-A287-AF8EEA53F6DB}" type="datetimeFigureOut">
              <a:rPr lang="zh-CN" altLang="en-US" smtClean="0"/>
              <a:t>2014/5/11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F1FA-660C-4A0C-8719-2B2253E071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875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9FD46-BB7C-4F8F-A287-AF8EEA53F6DB}" type="datetimeFigureOut">
              <a:rPr lang="zh-CN" altLang="en-US" smtClean="0"/>
              <a:t>2014/5/11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F1FA-660C-4A0C-8719-2B2253E071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3860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9FD46-BB7C-4F8F-A287-AF8EEA53F6DB}" type="datetimeFigureOut">
              <a:rPr lang="zh-CN" altLang="en-US" smtClean="0"/>
              <a:t>2014/5/11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F1FA-660C-4A0C-8719-2B2253E071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2615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9FD46-BB7C-4F8F-A287-AF8EEA53F6DB}" type="datetimeFigureOut">
              <a:rPr lang="zh-CN" altLang="en-US" smtClean="0"/>
              <a:t>2014/5/11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F1FA-660C-4A0C-8719-2B2253E071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035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9FD46-BB7C-4F8F-A287-AF8EEA53F6DB}" type="datetimeFigureOut">
              <a:rPr lang="zh-CN" altLang="en-US" smtClean="0"/>
              <a:t>2014/5/11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F1FA-660C-4A0C-8719-2B2253E071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0943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9FD46-BB7C-4F8F-A287-AF8EEA53F6DB}" type="datetimeFigureOut">
              <a:rPr lang="zh-CN" altLang="en-US" smtClean="0"/>
              <a:t>2014/5/11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F1FA-660C-4A0C-8719-2B2253E071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0757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9FD46-BB7C-4F8F-A287-AF8EEA53F6DB}" type="datetimeFigureOut">
              <a:rPr lang="zh-CN" altLang="en-US" smtClean="0"/>
              <a:t>2014/5/11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F1FA-660C-4A0C-8719-2B2253E071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6865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9FD46-BB7C-4F8F-A287-AF8EEA53F6DB}" type="datetimeFigureOut">
              <a:rPr lang="zh-CN" altLang="en-US" smtClean="0"/>
              <a:t>2014/5/11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DF1FA-660C-4A0C-8719-2B2253E071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67413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05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620"/>
            </a:lvl1pPr>
            <a:lvl2pPr marL="308603" indent="0" algn="ctr">
              <a:buNone/>
              <a:defRPr sz="1350"/>
            </a:lvl2pPr>
            <a:lvl3pPr marL="617204" indent="0" algn="ctr">
              <a:buNone/>
              <a:defRPr sz="1215"/>
            </a:lvl3pPr>
            <a:lvl4pPr marL="925807" indent="0" algn="ctr">
              <a:buNone/>
              <a:defRPr sz="1080"/>
            </a:lvl4pPr>
            <a:lvl5pPr marL="1234409" indent="0" algn="ctr">
              <a:buNone/>
              <a:defRPr sz="1080"/>
            </a:lvl5pPr>
            <a:lvl6pPr marL="1543012" indent="0" algn="ctr">
              <a:buNone/>
              <a:defRPr sz="1080"/>
            </a:lvl6pPr>
            <a:lvl7pPr marL="1851614" indent="0" algn="ctr">
              <a:buNone/>
              <a:defRPr sz="1080"/>
            </a:lvl7pPr>
            <a:lvl8pPr marL="2160216" indent="0" algn="ctr">
              <a:buNone/>
              <a:defRPr sz="1080"/>
            </a:lvl8pPr>
            <a:lvl9pPr marL="2468819" indent="0" algn="ctr">
              <a:buNone/>
              <a:defRPr sz="108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9822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51041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306"/>
            <a:ext cx="7886700" cy="2139553"/>
          </a:xfrm>
        </p:spPr>
        <p:txBody>
          <a:bodyPr anchor="b"/>
          <a:lstStyle>
            <a:lvl1pPr>
              <a:defRPr sz="405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1pPr>
            <a:lvl2pPr marL="30860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17204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3pPr>
            <a:lvl4pPr marL="925807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4pPr>
            <a:lvl5pPr marL="1234409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5pPr>
            <a:lvl6pPr marL="1543012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6pPr>
            <a:lvl7pPr marL="1851614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7pPr>
            <a:lvl8pPr marL="2160216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8pPr>
            <a:lvl9pPr marL="2468819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68645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18347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620" b="1"/>
            </a:lvl1pPr>
            <a:lvl2pPr marL="308603" indent="0">
              <a:buNone/>
              <a:defRPr sz="1350" b="1"/>
            </a:lvl2pPr>
            <a:lvl3pPr marL="617204" indent="0">
              <a:buNone/>
              <a:defRPr sz="1215" b="1"/>
            </a:lvl3pPr>
            <a:lvl4pPr marL="925807" indent="0">
              <a:buNone/>
              <a:defRPr sz="1080" b="1"/>
            </a:lvl4pPr>
            <a:lvl5pPr marL="1234409" indent="0">
              <a:buNone/>
              <a:defRPr sz="1080" b="1"/>
            </a:lvl5pPr>
            <a:lvl6pPr marL="1543012" indent="0">
              <a:buNone/>
              <a:defRPr sz="1080" b="1"/>
            </a:lvl6pPr>
            <a:lvl7pPr marL="1851614" indent="0">
              <a:buNone/>
              <a:defRPr sz="1080" b="1"/>
            </a:lvl7pPr>
            <a:lvl8pPr marL="2160216" indent="0">
              <a:buNone/>
              <a:defRPr sz="1080" b="1"/>
            </a:lvl8pPr>
            <a:lvl9pPr marL="2468819" indent="0">
              <a:buNone/>
              <a:defRPr sz="108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1878808"/>
            <a:ext cx="3868340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2" y="1260872"/>
            <a:ext cx="3887391" cy="617934"/>
          </a:xfrm>
        </p:spPr>
        <p:txBody>
          <a:bodyPr anchor="b"/>
          <a:lstStyle>
            <a:lvl1pPr marL="0" indent="0">
              <a:buNone/>
              <a:defRPr sz="1620" b="1"/>
            </a:lvl1pPr>
            <a:lvl2pPr marL="308603" indent="0">
              <a:buNone/>
              <a:defRPr sz="1350" b="1"/>
            </a:lvl2pPr>
            <a:lvl3pPr marL="617204" indent="0">
              <a:buNone/>
              <a:defRPr sz="1215" b="1"/>
            </a:lvl3pPr>
            <a:lvl4pPr marL="925807" indent="0">
              <a:buNone/>
              <a:defRPr sz="1080" b="1"/>
            </a:lvl4pPr>
            <a:lvl5pPr marL="1234409" indent="0">
              <a:buNone/>
              <a:defRPr sz="1080" b="1"/>
            </a:lvl5pPr>
            <a:lvl6pPr marL="1543012" indent="0">
              <a:buNone/>
              <a:defRPr sz="1080" b="1"/>
            </a:lvl6pPr>
            <a:lvl7pPr marL="1851614" indent="0">
              <a:buNone/>
              <a:defRPr sz="1080" b="1"/>
            </a:lvl7pPr>
            <a:lvl8pPr marL="2160216" indent="0">
              <a:buNone/>
              <a:defRPr sz="1080" b="1"/>
            </a:lvl8pPr>
            <a:lvl9pPr marL="2468819" indent="0">
              <a:buNone/>
              <a:defRPr sz="108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2" y="1878808"/>
            <a:ext cx="3887391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10950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47084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71099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16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571"/>
            <a:ext cx="4629150" cy="3655219"/>
          </a:xfrm>
        </p:spPr>
        <p:txBody>
          <a:bodyPr/>
          <a:lstStyle>
            <a:lvl1pPr>
              <a:defRPr sz="2160"/>
            </a:lvl1pPr>
            <a:lvl2pPr>
              <a:defRPr sz="1890"/>
            </a:lvl2pPr>
            <a:lvl3pPr>
              <a:defRPr sz="162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58691"/>
          </a:xfrm>
        </p:spPr>
        <p:txBody>
          <a:bodyPr/>
          <a:lstStyle>
            <a:lvl1pPr marL="0" indent="0">
              <a:buNone/>
              <a:defRPr sz="1080"/>
            </a:lvl1pPr>
            <a:lvl2pPr marL="308603" indent="0">
              <a:buNone/>
              <a:defRPr sz="945"/>
            </a:lvl2pPr>
            <a:lvl3pPr marL="617204" indent="0">
              <a:buNone/>
              <a:defRPr sz="810"/>
            </a:lvl3pPr>
            <a:lvl4pPr marL="925807" indent="0">
              <a:buNone/>
              <a:defRPr sz="675"/>
            </a:lvl4pPr>
            <a:lvl5pPr marL="1234409" indent="0">
              <a:buNone/>
              <a:defRPr sz="675"/>
            </a:lvl5pPr>
            <a:lvl6pPr marL="1543012" indent="0">
              <a:buNone/>
              <a:defRPr sz="675"/>
            </a:lvl6pPr>
            <a:lvl7pPr marL="1851614" indent="0">
              <a:buNone/>
              <a:defRPr sz="675"/>
            </a:lvl7pPr>
            <a:lvl8pPr marL="2160216" indent="0">
              <a:buNone/>
              <a:defRPr sz="675"/>
            </a:lvl8pPr>
            <a:lvl9pPr marL="2468819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4884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16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571"/>
            <a:ext cx="4629150" cy="3655219"/>
          </a:xfrm>
        </p:spPr>
        <p:txBody>
          <a:bodyPr/>
          <a:lstStyle>
            <a:lvl1pPr marL="0" indent="0">
              <a:buNone/>
              <a:defRPr sz="2160"/>
            </a:lvl1pPr>
            <a:lvl2pPr marL="308603" indent="0">
              <a:buNone/>
              <a:defRPr sz="1890"/>
            </a:lvl2pPr>
            <a:lvl3pPr marL="617204" indent="0">
              <a:buNone/>
              <a:defRPr sz="1620"/>
            </a:lvl3pPr>
            <a:lvl4pPr marL="925807" indent="0">
              <a:buNone/>
              <a:defRPr sz="1350"/>
            </a:lvl4pPr>
            <a:lvl5pPr marL="1234409" indent="0">
              <a:buNone/>
              <a:defRPr sz="1350"/>
            </a:lvl5pPr>
            <a:lvl6pPr marL="1543012" indent="0">
              <a:buNone/>
              <a:defRPr sz="1350"/>
            </a:lvl6pPr>
            <a:lvl7pPr marL="1851614" indent="0">
              <a:buNone/>
              <a:defRPr sz="1350"/>
            </a:lvl7pPr>
            <a:lvl8pPr marL="2160216" indent="0">
              <a:buNone/>
              <a:defRPr sz="1350"/>
            </a:lvl8pPr>
            <a:lvl9pPr marL="2468819" indent="0">
              <a:buNone/>
              <a:defRPr sz="135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1"/>
            <a:ext cx="2949178" cy="2858691"/>
          </a:xfrm>
        </p:spPr>
        <p:txBody>
          <a:bodyPr/>
          <a:lstStyle>
            <a:lvl1pPr marL="0" indent="0">
              <a:buNone/>
              <a:defRPr sz="1080"/>
            </a:lvl1pPr>
            <a:lvl2pPr marL="308603" indent="0">
              <a:buNone/>
              <a:defRPr sz="945"/>
            </a:lvl2pPr>
            <a:lvl3pPr marL="617204" indent="0">
              <a:buNone/>
              <a:defRPr sz="810"/>
            </a:lvl3pPr>
            <a:lvl4pPr marL="925807" indent="0">
              <a:buNone/>
              <a:defRPr sz="675"/>
            </a:lvl4pPr>
            <a:lvl5pPr marL="1234409" indent="0">
              <a:buNone/>
              <a:defRPr sz="675"/>
            </a:lvl5pPr>
            <a:lvl6pPr marL="1543012" indent="0">
              <a:buNone/>
              <a:defRPr sz="675"/>
            </a:lvl6pPr>
            <a:lvl7pPr marL="1851614" indent="0">
              <a:buNone/>
              <a:defRPr sz="675"/>
            </a:lvl7pPr>
            <a:lvl8pPr marL="2160216" indent="0">
              <a:buNone/>
              <a:defRPr sz="675"/>
            </a:lvl8pPr>
            <a:lvl9pPr marL="2468819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62579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17834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6" y="273845"/>
            <a:ext cx="1971675" cy="435887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2" y="273845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1799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69FD46-BB7C-4F8F-A287-AF8EEA53F6DB}" type="datetimeFigureOut">
              <a:rPr lang="zh-CN" altLang="en-US" smtClean="0"/>
              <a:t>2014/5/11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CDF1FA-660C-4A0C-8719-2B2253E071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519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2014/5/11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4421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17204" rtl="0" eaLnBrk="1" latinLnBrk="0" hangingPunct="1">
        <a:lnSpc>
          <a:spcPct val="90000"/>
        </a:lnSpc>
        <a:spcBef>
          <a:spcPct val="0"/>
        </a:spcBef>
        <a:buNone/>
        <a:defRPr sz="29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4301" indent="-154301" algn="l" defTabSz="617204" rtl="0" eaLnBrk="1" latinLnBrk="0" hangingPunct="1">
        <a:lnSpc>
          <a:spcPct val="90000"/>
        </a:lnSpc>
        <a:spcBef>
          <a:spcPts val="67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62904" indent="-154301" algn="l" defTabSz="617204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771506" indent="-154301" algn="l" defTabSz="617204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80108" indent="-154301" algn="l" defTabSz="617204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388711" indent="-154301" algn="l" defTabSz="617204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697312" indent="-154301" algn="l" defTabSz="617204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2005915" indent="-154301" algn="l" defTabSz="617204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314517" indent="-154301" algn="l" defTabSz="617204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623120" indent="-154301" algn="l" defTabSz="617204" rtl="0" eaLnBrk="1" latinLnBrk="0" hangingPunct="1">
        <a:lnSpc>
          <a:spcPct val="90000"/>
        </a:lnSpc>
        <a:spcBef>
          <a:spcPts val="338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1720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03" algn="l" defTabSz="61720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04" algn="l" defTabSz="61720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07" algn="l" defTabSz="61720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09" algn="l" defTabSz="61720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12" algn="l" defTabSz="61720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14" algn="l" defTabSz="61720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16" algn="l" defTabSz="61720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19" algn="l" defTabSz="617204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Relationship Id="rId9" Type="http://schemas.microsoft.com/office/2007/relationships/hdphoto" Target="../media/hdphoto4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www.quanjing.com/imginfo/mf700-02637486.html" TargetMode="External"/><Relationship Id="rId1" Type="http://schemas.openxmlformats.org/officeDocument/2006/relationships/slideLayout" Target="../slideLayouts/slideLayout7.xml"/><Relationship Id="rId4" Type="http://schemas.microsoft.com/office/2007/relationships/hdphoto" Target="../media/hdphoto5.wdp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microsoft.com/office/2007/relationships/hdphoto" Target="../media/hdphoto6.wdp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94" b="100000" l="100" r="100000">
                        <a14:foregroundMark x1="83916" y1="11445" x2="83916" y2="11445"/>
                        <a14:foregroundMark x1="41858" y1="1734" x2="41858" y2="1734"/>
                        <a14:foregroundMark x1="35465" y1="6358" x2="35465" y2="6358"/>
                        <a14:foregroundMark x1="21479" y1="28671" x2="21479" y2="28671"/>
                        <a14:foregroundMark x1="2298" y1="58266" x2="2298" y2="58266"/>
                        <a14:foregroundMark x1="10490" y1="85318" x2="10490" y2="85318"/>
                        <a14:foregroundMark x1="19880" y1="70289" x2="19880" y2="70289"/>
                        <a14:foregroundMark x1="59441" y1="88786" x2="59441" y2="88786"/>
                        <a14:foregroundMark x1="77922" y1="69364" x2="77922" y2="69364"/>
                        <a14:foregroundMark x1="84316" y1="57341" x2="84316" y2="57341"/>
                        <a14:foregroundMark x1="87113" y1="45549" x2="87113" y2="45549"/>
                        <a14:foregroundMark x1="84116" y1="44624" x2="84116" y2="44624"/>
                        <a14:foregroundMark x1="63736" y1="11908" x2="63736" y2="11908"/>
                        <a14:foregroundMark x1="22877" y1="16532" x2="22877" y2="165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01371"/>
            <a:ext cx="2916832" cy="25205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51921" y="1764400"/>
            <a:ext cx="5031548" cy="1015663"/>
          </a:xfrm>
          <a:prstGeom prst="rect">
            <a:avLst/>
          </a:prstGeom>
          <a:solidFill>
            <a:srgbClr val="2B2412"/>
          </a:solidFill>
        </p:spPr>
        <p:txBody>
          <a:bodyPr wrap="square" rtlCol="0">
            <a:spAutoFit/>
          </a:bodyPr>
          <a:lstStyle/>
          <a:p>
            <a:r>
              <a:rPr lang="zh-CN" altLang="en-US" sz="6000" dirty="0" smtClean="0">
                <a:solidFill>
                  <a:srgbClr val="FFC000"/>
                </a:solidFill>
                <a:latin typeface="华康俪金黑W8" pitchFamily="49" charset="-122"/>
                <a:ea typeface="华康俪金黑W8" pitchFamily="49" charset="-122"/>
              </a:rPr>
              <a:t>   </a:t>
            </a:r>
            <a:r>
              <a:rPr lang="en-US" altLang="zh-CN" sz="6000" dirty="0" smtClean="0">
                <a:solidFill>
                  <a:srgbClr val="FFC000"/>
                </a:solidFill>
                <a:latin typeface="华康俪金黑W8" pitchFamily="49" charset="-122"/>
                <a:ea typeface="华康俪金黑W8" pitchFamily="49" charset="-122"/>
              </a:rPr>
              <a:t>《</a:t>
            </a:r>
            <a:r>
              <a:rPr lang="zh-CN" altLang="en-US" sz="6000" dirty="0" smtClean="0">
                <a:solidFill>
                  <a:srgbClr val="FFC000"/>
                </a:solidFill>
                <a:latin typeface="华康俪金黑W8" pitchFamily="49" charset="-122"/>
                <a:ea typeface="华康俪金黑W8" pitchFamily="49" charset="-122"/>
              </a:rPr>
              <a:t>引爆点</a:t>
            </a:r>
            <a:r>
              <a:rPr lang="en-US" altLang="zh-CN" sz="6000" dirty="0" smtClean="0">
                <a:solidFill>
                  <a:srgbClr val="FFC000"/>
                </a:solidFill>
                <a:latin typeface="华康俪金黑W8" pitchFamily="49" charset="-122"/>
                <a:ea typeface="华康俪金黑W8" pitchFamily="49" charset="-122"/>
              </a:rPr>
              <a:t>》 </a:t>
            </a:r>
            <a:endParaRPr lang="zh-CN" altLang="en-US" sz="6000" dirty="0">
              <a:solidFill>
                <a:srgbClr val="FFC000"/>
              </a:solidFill>
              <a:latin typeface="华康俪金黑W8" pitchFamily="49" charset="-122"/>
              <a:ea typeface="华康俪金黑W8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90132" y="2780063"/>
            <a:ext cx="23423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solidFill>
                  <a:srgbClr val="2F2715"/>
                </a:solidFill>
                <a:latin typeface="方正喵呜体" pitchFamily="2" charset="-122"/>
                <a:ea typeface="方正喵呜体" pitchFamily="2" charset="-122"/>
              </a:rPr>
              <a:t>Tipping   Point</a:t>
            </a:r>
            <a:endParaRPr lang="zh-CN" altLang="en-US" sz="2800" dirty="0">
              <a:solidFill>
                <a:srgbClr val="2F2715"/>
              </a:solidFill>
              <a:latin typeface="方正喵呜体" pitchFamily="2" charset="-122"/>
              <a:ea typeface="方正喵呜体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50449" y="3579862"/>
            <a:ext cx="352839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b="1" dirty="0" smtClean="0">
                <a:solidFill>
                  <a:srgbClr val="2F2715"/>
                </a:solidFill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sz="1400" b="1" dirty="0" smtClean="0">
                <a:solidFill>
                  <a:srgbClr val="2F2715"/>
                </a:solidFill>
                <a:latin typeface="微软雅黑" pitchFamily="34" charset="-122"/>
                <a:ea typeface="微软雅黑" pitchFamily="34" charset="-122"/>
              </a:rPr>
              <a:t>美</a:t>
            </a:r>
            <a:r>
              <a:rPr lang="en-US" altLang="zh-CN" sz="1400" b="1" dirty="0" smtClean="0">
                <a:solidFill>
                  <a:srgbClr val="2F2715"/>
                </a:solidFill>
                <a:latin typeface="微软雅黑" pitchFamily="34" charset="-122"/>
                <a:ea typeface="微软雅黑" pitchFamily="34" charset="-122"/>
              </a:rPr>
              <a:t>】</a:t>
            </a:r>
            <a:r>
              <a:rPr lang="zh-CN" altLang="en-US" sz="1400" b="1" dirty="0" smtClean="0">
                <a:solidFill>
                  <a:srgbClr val="2F2715"/>
                </a:solidFill>
                <a:latin typeface="微软雅黑" pitchFamily="34" charset="-122"/>
                <a:ea typeface="微软雅黑" pitchFamily="34" charset="-122"/>
              </a:rPr>
              <a:t>马尔科姆</a:t>
            </a:r>
            <a:r>
              <a:rPr lang="en-US" altLang="zh-CN" sz="1400" b="1" dirty="0" smtClean="0">
                <a:solidFill>
                  <a:srgbClr val="2F2715"/>
                </a:solidFill>
                <a:latin typeface="微软雅黑" pitchFamily="34" charset="-122"/>
                <a:ea typeface="微软雅黑" pitchFamily="34" charset="-122"/>
              </a:rPr>
              <a:t>·</a:t>
            </a:r>
            <a:r>
              <a:rPr lang="zh-CN" altLang="en-US" sz="1400" b="1" dirty="0" smtClean="0">
                <a:solidFill>
                  <a:srgbClr val="2F2715"/>
                </a:solidFill>
                <a:latin typeface="微软雅黑" pitchFamily="34" charset="-122"/>
                <a:ea typeface="微软雅黑" pitchFamily="34" charset="-122"/>
              </a:rPr>
              <a:t>格拉德威尔  著</a:t>
            </a:r>
            <a:endParaRPr lang="en-US" altLang="zh-CN" sz="1400" b="1" dirty="0" smtClean="0">
              <a:solidFill>
                <a:srgbClr val="2F2715"/>
              </a:solidFill>
              <a:latin typeface="微软雅黑" pitchFamily="34" charset="-122"/>
              <a:ea typeface="微软雅黑" pitchFamily="34" charset="-122"/>
            </a:endParaRPr>
          </a:p>
          <a:p>
            <a:pPr algn="r"/>
            <a:endParaRPr lang="en-US" altLang="zh-CN" sz="1400" b="1" dirty="0">
              <a:solidFill>
                <a:srgbClr val="2F2715"/>
              </a:solidFill>
              <a:latin typeface="微软雅黑" pitchFamily="34" charset="-122"/>
              <a:ea typeface="微软雅黑" pitchFamily="34" charset="-122"/>
            </a:endParaRPr>
          </a:p>
          <a:p>
            <a:pPr algn="r"/>
            <a:r>
              <a:rPr lang="zh-CN" altLang="en-US" sz="1400" b="1" dirty="0" smtClean="0">
                <a:solidFill>
                  <a:srgbClr val="2F2715"/>
                </a:solidFill>
                <a:latin typeface="微软雅黑" pitchFamily="34" charset="-122"/>
                <a:ea typeface="微软雅黑" pitchFamily="34" charset="-122"/>
              </a:rPr>
              <a:t>钱清 覃爱东  译</a:t>
            </a:r>
            <a:endParaRPr lang="en-US" altLang="zh-CN" sz="1400" b="1" dirty="0" smtClean="0">
              <a:solidFill>
                <a:srgbClr val="2F2715"/>
              </a:solidFill>
              <a:latin typeface="微软雅黑" pitchFamily="34" charset="-122"/>
              <a:ea typeface="微软雅黑" pitchFamily="34" charset="-122"/>
            </a:endParaRPr>
          </a:p>
          <a:p>
            <a:pPr algn="r"/>
            <a:endParaRPr lang="en-US" altLang="zh-CN" sz="1400" b="1" dirty="0" smtClean="0">
              <a:solidFill>
                <a:srgbClr val="2F2715"/>
              </a:solidFill>
              <a:latin typeface="微软雅黑" pitchFamily="34" charset="-122"/>
              <a:ea typeface="微软雅黑" pitchFamily="34" charset="-122"/>
            </a:endParaRPr>
          </a:p>
          <a:p>
            <a:pPr algn="r"/>
            <a:r>
              <a:rPr lang="en-US" altLang="zh-CN" sz="1400" b="1" dirty="0" smtClean="0">
                <a:solidFill>
                  <a:srgbClr val="2F2715"/>
                </a:solidFill>
                <a:latin typeface="微软雅黑" pitchFamily="34" charset="-122"/>
                <a:ea typeface="微软雅黑" pitchFamily="34" charset="-122"/>
              </a:rPr>
              <a:t>@DD</a:t>
            </a:r>
            <a:r>
              <a:rPr lang="zh-CN" altLang="en-US" sz="1400" b="1" dirty="0" smtClean="0">
                <a:solidFill>
                  <a:srgbClr val="2F2715"/>
                </a:solidFill>
                <a:latin typeface="微软雅黑" pitchFamily="34" charset="-122"/>
                <a:ea typeface="微软雅黑" pitchFamily="34" charset="-122"/>
              </a:rPr>
              <a:t>努力成长中  制作</a:t>
            </a:r>
            <a:endParaRPr lang="en-US" altLang="zh-CN" sz="1400" b="1" dirty="0" smtClean="0">
              <a:solidFill>
                <a:srgbClr val="2F2715"/>
              </a:solidFill>
              <a:latin typeface="微软雅黑" pitchFamily="34" charset="-122"/>
              <a:ea typeface="微软雅黑" pitchFamily="34" charset="-122"/>
            </a:endParaRPr>
          </a:p>
          <a:p>
            <a:pPr algn="r"/>
            <a:endParaRPr lang="zh-CN" altLang="en-US" sz="1400" b="1" dirty="0">
              <a:solidFill>
                <a:srgbClr val="2F271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451" b="92958" l="10000" r="98000">
                        <a14:foregroundMark x1="53000" y1="25352" x2="53000" y2="253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9197"/>
          <a:stretch/>
        </p:blipFill>
        <p:spPr bwMode="auto">
          <a:xfrm>
            <a:off x="7467802" y="1073095"/>
            <a:ext cx="1162175" cy="501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9" name="直接连接符 8"/>
          <p:cNvCxnSpPr/>
          <p:nvPr/>
        </p:nvCxnSpPr>
        <p:spPr>
          <a:xfrm>
            <a:off x="5740093" y="3455010"/>
            <a:ext cx="3131840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6804248" y="3363838"/>
            <a:ext cx="1243413" cy="75016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8047661" y="3401346"/>
            <a:ext cx="549102" cy="54533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引爆点(如何制造流行)"/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100000" l="9971" r="8944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80938">
            <a:off x="2060934" y="527855"/>
            <a:ext cx="2684055" cy="268405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694" b="100000" l="100" r="100000">
                        <a14:foregroundMark x1="83916" y1="11445" x2="83916" y2="11445"/>
                        <a14:foregroundMark x1="41858" y1="1734" x2="41858" y2="1734"/>
                        <a14:foregroundMark x1="35465" y1="6358" x2="35465" y2="6358"/>
                        <a14:foregroundMark x1="21479" y1="28671" x2="21479" y2="28671"/>
                        <a14:foregroundMark x1="2298" y1="58266" x2="2298" y2="58266"/>
                        <a14:foregroundMark x1="10490" y1="85318" x2="10490" y2="85318"/>
                        <a14:foregroundMark x1="19880" y1="70289" x2="19880" y2="70289"/>
                        <a14:foregroundMark x1="59441" y1="88786" x2="59441" y2="88786"/>
                        <a14:foregroundMark x1="77922" y1="69364" x2="77922" y2="69364"/>
                        <a14:foregroundMark x1="84316" y1="57341" x2="84316" y2="57341"/>
                        <a14:foregroundMark x1="87113" y1="45549" x2="87113" y2="45549"/>
                        <a14:foregroundMark x1="84116" y1="44624" x2="84116" y2="44624"/>
                        <a14:foregroundMark x1="63736" y1="11908" x2="63736" y2="11908"/>
                        <a14:foregroundMark x1="22877" y1="16532" x2="22877" y2="165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2069" y="4116822"/>
            <a:ext cx="815946" cy="705088"/>
          </a:xfrm>
          <a:prstGeom prst="rect">
            <a:avLst/>
          </a:prstGeom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 rotWithShape="1"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451" b="92958" l="10000" r="98000">
                        <a14:foregroundMark x1="53000" y1="25352" x2="53000" y2="253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9197"/>
          <a:stretch/>
        </p:blipFill>
        <p:spPr bwMode="auto">
          <a:xfrm>
            <a:off x="7306013" y="854357"/>
            <a:ext cx="591914" cy="255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89608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755576" y="483518"/>
            <a:ext cx="504056" cy="1576918"/>
          </a:xfrm>
          <a:prstGeom prst="roundRect">
            <a:avLst>
              <a:gd name="adj" fmla="val 9599"/>
            </a:avLst>
          </a:prstGeom>
          <a:solidFill>
            <a:schemeClr val="bg1">
              <a:lumMod val="85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611560" y="915567"/>
            <a:ext cx="8280920" cy="1584176"/>
          </a:xfrm>
          <a:prstGeom prst="roundRect">
            <a:avLst>
              <a:gd name="adj" fmla="val 10730"/>
            </a:avLst>
          </a:prstGeom>
          <a:solidFill>
            <a:srgbClr val="F1C30B"/>
          </a:solidFill>
          <a:ln w="3175">
            <a:solidFill>
              <a:srgbClr val="FFC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43608" y="1039198"/>
            <a:ext cx="74168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2F2715"/>
                </a:solidFill>
                <a:latin typeface="华康俪金黑W8" pitchFamily="49" charset="-122"/>
                <a:ea typeface="华康俪金黑W8" pitchFamily="49" charset="-122"/>
              </a:rPr>
              <a:t>无论你想制造流行还是消解流行，无论你想追逐流行还是远离流行，</a:t>
            </a:r>
            <a:r>
              <a:rPr lang="en-US" altLang="zh-CN" sz="2400" dirty="0" smtClean="0">
                <a:solidFill>
                  <a:srgbClr val="2F2715"/>
                </a:solidFill>
                <a:latin typeface="华康俪金黑W8" pitchFamily="49" charset="-122"/>
                <a:ea typeface="华康俪金黑W8" pitchFamily="49" charset="-122"/>
              </a:rPr>
              <a:t>《</a:t>
            </a:r>
            <a:r>
              <a:rPr lang="zh-CN" altLang="en-US" sz="2400" dirty="0" smtClean="0">
                <a:solidFill>
                  <a:srgbClr val="2F2715"/>
                </a:solidFill>
                <a:latin typeface="华康俪金黑W8" pitchFamily="49" charset="-122"/>
                <a:ea typeface="华康俪金黑W8" pitchFamily="49" charset="-122"/>
              </a:rPr>
              <a:t>引爆点</a:t>
            </a:r>
            <a:r>
              <a:rPr lang="en-US" altLang="zh-CN" sz="2400" dirty="0" smtClean="0">
                <a:solidFill>
                  <a:srgbClr val="2F2715"/>
                </a:solidFill>
                <a:latin typeface="华康俪金黑W8" pitchFamily="49" charset="-122"/>
                <a:ea typeface="华康俪金黑W8" pitchFamily="49" charset="-122"/>
              </a:rPr>
              <a:t>》</a:t>
            </a:r>
            <a:r>
              <a:rPr lang="zh-CN" altLang="en-US" sz="2400" dirty="0" smtClean="0">
                <a:solidFill>
                  <a:srgbClr val="2F2715"/>
                </a:solidFill>
                <a:latin typeface="华康俪金黑W8" pitchFamily="49" charset="-122"/>
                <a:ea typeface="华康俪金黑W8" pitchFamily="49" charset="-122"/>
              </a:rPr>
              <a:t>都能给你意想不到的启发</a:t>
            </a:r>
            <a:endParaRPr lang="zh-CN" altLang="en-US" sz="2400" dirty="0">
              <a:solidFill>
                <a:srgbClr val="2F2715"/>
              </a:solidFill>
              <a:latin typeface="华康俪金黑W8" pitchFamily="49" charset="-122"/>
              <a:ea typeface="华康俪金黑W8" pitchFamily="49" charset="-122"/>
            </a:endParaRPr>
          </a:p>
        </p:txBody>
      </p:sp>
      <p:pic>
        <p:nvPicPr>
          <p:cNvPr id="1028" name="Picture 4" descr="钮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90000" l="9735" r="9469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0"/>
            <a:ext cx="789141" cy="1187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499992" y="1923678"/>
            <a:ext cx="37818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 smtClean="0">
                <a:solidFill>
                  <a:srgbClr val="2F2715"/>
                </a:solidFill>
                <a:latin typeface="华康俪金黑W8" pitchFamily="49" charset="-122"/>
                <a:ea typeface="华康俪金黑W8" pitchFamily="49" charset="-122"/>
              </a:rPr>
              <a:t>—《</a:t>
            </a:r>
            <a:r>
              <a:rPr lang="zh-CN" altLang="en-US" sz="2000" dirty="0" smtClean="0">
                <a:solidFill>
                  <a:srgbClr val="2F2715"/>
                </a:solidFill>
                <a:latin typeface="华康俪金黑W8" pitchFamily="49" charset="-122"/>
                <a:ea typeface="华康俪金黑W8" pitchFamily="49" charset="-122"/>
              </a:rPr>
              <a:t>第一财经日报</a:t>
            </a:r>
            <a:r>
              <a:rPr lang="en-US" altLang="zh-CN" sz="2000" dirty="0" smtClean="0">
                <a:solidFill>
                  <a:srgbClr val="2F2715"/>
                </a:solidFill>
                <a:latin typeface="华康俪金黑W8" pitchFamily="49" charset="-122"/>
                <a:ea typeface="华康俪金黑W8" pitchFamily="49" charset="-122"/>
              </a:rPr>
              <a:t>》</a:t>
            </a:r>
            <a:r>
              <a:rPr lang="zh-CN" altLang="en-US" sz="2000" dirty="0" smtClean="0">
                <a:solidFill>
                  <a:srgbClr val="2F2715"/>
                </a:solidFill>
                <a:latin typeface="华康俪金黑W8" pitchFamily="49" charset="-122"/>
                <a:ea typeface="华康俪金黑W8" pitchFamily="49" charset="-122"/>
              </a:rPr>
              <a:t>总编  秦朔</a:t>
            </a:r>
            <a:endParaRPr lang="zh-CN" altLang="en-US" sz="2000" dirty="0">
              <a:solidFill>
                <a:srgbClr val="2F2715"/>
              </a:solidFill>
              <a:latin typeface="华康俪金黑W8" pitchFamily="49" charset="-122"/>
              <a:ea typeface="华康俪金黑W8" pitchFamily="49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395536" y="2859781"/>
            <a:ext cx="8424936" cy="1576918"/>
          </a:xfrm>
          <a:prstGeom prst="roundRect">
            <a:avLst>
              <a:gd name="adj" fmla="val 9599"/>
            </a:avLst>
          </a:prstGeom>
          <a:solidFill>
            <a:srgbClr val="2B241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611560" y="3291830"/>
            <a:ext cx="8280920" cy="1584176"/>
          </a:xfrm>
          <a:prstGeom prst="roundRect">
            <a:avLst>
              <a:gd name="adj" fmla="val 10730"/>
            </a:avLst>
          </a:prstGeom>
          <a:solidFill>
            <a:srgbClr val="F1C30B"/>
          </a:solidFill>
          <a:ln>
            <a:noFill/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5" name="Picture 4" descr="钮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90000" l="9735" r="9469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5615" y="2123733"/>
            <a:ext cx="1227055" cy="184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762836" y="3429456"/>
            <a:ext cx="747431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 dirty="0" smtClean="0">
                <a:solidFill>
                  <a:srgbClr val="2F2715"/>
                </a:solidFill>
                <a:latin typeface="华康俪金黑W8" pitchFamily="49" charset="-122"/>
                <a:ea typeface="华康俪金黑W8" pitchFamily="49" charset="-122"/>
              </a:rPr>
              <a:t>我们的世界看起来雷打不动，但只要你找对了一个</a:t>
            </a:r>
            <a:r>
              <a:rPr lang="zh-CN" altLang="en-US" sz="4000" dirty="0" smtClean="0">
                <a:solidFill>
                  <a:srgbClr val="EF3A48"/>
                </a:solidFill>
                <a:latin typeface="华康俪金黑W8" pitchFamily="49" charset="-122"/>
                <a:ea typeface="华康俪金黑W8" pitchFamily="49" charset="-122"/>
              </a:rPr>
              <a:t>点</a:t>
            </a:r>
            <a:endParaRPr lang="en-US" altLang="zh-CN" sz="2400" dirty="0" smtClean="0">
              <a:solidFill>
                <a:srgbClr val="EF3A48"/>
              </a:solidFill>
              <a:latin typeface="华康俪金黑W8" pitchFamily="49" charset="-122"/>
              <a:ea typeface="华康俪金黑W8" pitchFamily="49" charset="-122"/>
            </a:endParaRPr>
          </a:p>
          <a:p>
            <a:pPr algn="r"/>
            <a:r>
              <a:rPr lang="zh-CN" altLang="en-US" sz="2400" dirty="0" smtClean="0">
                <a:solidFill>
                  <a:srgbClr val="2F2715"/>
                </a:solidFill>
                <a:latin typeface="华康俪金黑W8" pitchFamily="49" charset="-122"/>
                <a:ea typeface="华康俪金黑W8" pitchFamily="49" charset="-122"/>
              </a:rPr>
              <a:t>它就可能被引爆</a:t>
            </a:r>
            <a:endParaRPr lang="en-US" altLang="zh-CN" sz="2400" dirty="0" smtClean="0">
              <a:solidFill>
                <a:srgbClr val="2F2715"/>
              </a:solidFill>
              <a:latin typeface="华康俪金黑W8" pitchFamily="49" charset="-122"/>
              <a:ea typeface="华康俪金黑W8" pitchFamily="49" charset="-122"/>
            </a:endParaRPr>
          </a:p>
          <a:p>
            <a:pPr algn="r"/>
            <a:endParaRPr lang="en-US" altLang="zh-CN" sz="2400" dirty="0" smtClean="0">
              <a:solidFill>
                <a:srgbClr val="2F2715"/>
              </a:solidFill>
              <a:latin typeface="华康俪金黑W8" pitchFamily="49" charset="-122"/>
              <a:ea typeface="华康俪金黑W8" pitchFamily="49" charset="-122"/>
            </a:endParaRPr>
          </a:p>
        </p:txBody>
      </p:sp>
      <p:pic>
        <p:nvPicPr>
          <p:cNvPr id="12" name="Picture 4" descr="钮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90000" l="9735" r="9469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2576" y="-59542"/>
            <a:ext cx="789141" cy="1187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9558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组合 47"/>
          <p:cNvGrpSpPr/>
          <p:nvPr/>
        </p:nvGrpSpPr>
        <p:grpSpPr>
          <a:xfrm>
            <a:off x="393048" y="673928"/>
            <a:ext cx="3912590" cy="2281098"/>
            <a:chOff x="393048" y="673928"/>
            <a:chExt cx="3912590" cy="2281098"/>
          </a:xfrm>
        </p:grpSpPr>
        <p:sp>
          <p:nvSpPr>
            <p:cNvPr id="2" name="TextBox 1"/>
            <p:cNvSpPr txBox="1"/>
            <p:nvPr/>
          </p:nvSpPr>
          <p:spPr>
            <a:xfrm rot="20756138">
              <a:off x="2582089" y="2493361"/>
              <a:ext cx="1723549" cy="461665"/>
            </a:xfrm>
            <a:prstGeom prst="rect">
              <a:avLst/>
            </a:prstGeom>
            <a:noFill/>
            <a:ln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 smtClean="0">
                  <a:solidFill>
                    <a:srgbClr val="2B2412"/>
                  </a:solidFill>
                  <a:latin typeface="微软雅黑" pitchFamily="34" charset="-122"/>
                  <a:ea typeface="微软雅黑" pitchFamily="34" charset="-122"/>
                </a:rPr>
                <a:t>【</a:t>
              </a:r>
              <a:r>
                <a:rPr lang="zh-CN" altLang="en-US" sz="2400" b="1" dirty="0" smtClean="0">
                  <a:solidFill>
                    <a:srgbClr val="2B2412"/>
                  </a:solidFill>
                  <a:latin typeface="微软雅黑" pitchFamily="34" charset="-122"/>
                  <a:ea typeface="微软雅黑" pitchFamily="34" charset="-122"/>
                </a:rPr>
                <a:t>传染性</a:t>
              </a:r>
              <a:r>
                <a:rPr lang="en-US" altLang="zh-CN" sz="2400" b="1" dirty="0" smtClean="0">
                  <a:solidFill>
                    <a:srgbClr val="2B2412"/>
                  </a:solidFill>
                  <a:latin typeface="微软雅黑" pitchFamily="34" charset="-122"/>
                  <a:ea typeface="微软雅黑" pitchFamily="34" charset="-122"/>
                </a:rPr>
                <a:t>】</a:t>
              </a:r>
              <a:endParaRPr lang="zh-CN" altLang="en-US" sz="2400" b="1" dirty="0">
                <a:solidFill>
                  <a:srgbClr val="2B2412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393048" y="673928"/>
              <a:ext cx="1105734" cy="1105734"/>
            </a:xfrm>
            <a:prstGeom prst="ellipse">
              <a:avLst/>
            </a:prstGeom>
            <a:solidFill>
              <a:srgbClr val="2B2412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椭圆 26"/>
            <p:cNvSpPr/>
            <p:nvPr/>
          </p:nvSpPr>
          <p:spPr>
            <a:xfrm>
              <a:off x="618115" y="930778"/>
              <a:ext cx="881326" cy="881326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9" name="直接连接符 28"/>
            <p:cNvCxnSpPr/>
            <p:nvPr/>
          </p:nvCxnSpPr>
          <p:spPr>
            <a:xfrm flipV="1">
              <a:off x="1058778" y="1265815"/>
              <a:ext cx="2433102" cy="513848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圆角矩形 21"/>
            <p:cNvSpPr/>
            <p:nvPr/>
          </p:nvSpPr>
          <p:spPr>
            <a:xfrm>
              <a:off x="725913" y="1020016"/>
              <a:ext cx="665730" cy="792088"/>
            </a:xfrm>
            <a:prstGeom prst="roundRect">
              <a:avLst>
                <a:gd name="adj" fmla="val 9599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400" dirty="0" smtClean="0">
                  <a:latin typeface="Broadway BT" pitchFamily="82" charset="0"/>
                </a:rPr>
                <a:t>1</a:t>
              </a:r>
              <a:endParaRPr lang="zh-CN" altLang="en-US" sz="4400" dirty="0">
                <a:latin typeface="Broadway BT" pitchFamily="82" charset="0"/>
              </a:endParaRPr>
            </a:p>
          </p:txBody>
        </p:sp>
      </p:grpSp>
      <p:sp>
        <p:nvSpPr>
          <p:cNvPr id="47" name="矩形 46"/>
          <p:cNvSpPr/>
          <p:nvPr/>
        </p:nvSpPr>
        <p:spPr>
          <a:xfrm>
            <a:off x="8913890" y="965609"/>
            <a:ext cx="230110" cy="172901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9" name="组合 48"/>
          <p:cNvGrpSpPr/>
          <p:nvPr/>
        </p:nvGrpSpPr>
        <p:grpSpPr>
          <a:xfrm>
            <a:off x="1233947" y="2125538"/>
            <a:ext cx="5142252" cy="2193957"/>
            <a:chOff x="393048" y="673928"/>
            <a:chExt cx="5142252" cy="2193957"/>
          </a:xfrm>
        </p:grpSpPr>
        <p:sp>
          <p:nvSpPr>
            <p:cNvPr id="50" name="TextBox 49"/>
            <p:cNvSpPr txBox="1"/>
            <p:nvPr/>
          </p:nvSpPr>
          <p:spPr>
            <a:xfrm rot="20841087">
              <a:off x="2580645" y="2406220"/>
              <a:ext cx="2954655" cy="461665"/>
            </a:xfrm>
            <a:prstGeom prst="rect">
              <a:avLst/>
            </a:prstGeom>
            <a:noFill/>
            <a:ln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 smtClean="0">
                  <a:solidFill>
                    <a:srgbClr val="2B2412"/>
                  </a:solidFill>
                  <a:latin typeface="微软雅黑" pitchFamily="34" charset="-122"/>
                  <a:ea typeface="微软雅黑" pitchFamily="34" charset="-122"/>
                </a:rPr>
                <a:t>【</a:t>
              </a:r>
              <a:r>
                <a:rPr lang="zh-CN" altLang="en-US" sz="2400" b="1" dirty="0" smtClean="0">
                  <a:solidFill>
                    <a:srgbClr val="2B2412"/>
                  </a:solidFill>
                  <a:latin typeface="微软雅黑" pitchFamily="34" charset="-122"/>
                  <a:ea typeface="微软雅黑" pitchFamily="34" charset="-122"/>
                </a:rPr>
                <a:t>小变化，大效果</a:t>
              </a:r>
              <a:r>
                <a:rPr lang="en-US" altLang="zh-CN" sz="2400" b="1" dirty="0" smtClean="0">
                  <a:solidFill>
                    <a:srgbClr val="2B2412"/>
                  </a:solidFill>
                  <a:latin typeface="微软雅黑" pitchFamily="34" charset="-122"/>
                  <a:ea typeface="微软雅黑" pitchFamily="34" charset="-122"/>
                </a:rPr>
                <a:t>】</a:t>
              </a:r>
              <a:endParaRPr lang="zh-CN" altLang="en-US" sz="2400" b="1" dirty="0">
                <a:solidFill>
                  <a:srgbClr val="2B2412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1" name="椭圆 50"/>
            <p:cNvSpPr/>
            <p:nvPr/>
          </p:nvSpPr>
          <p:spPr>
            <a:xfrm>
              <a:off x="393048" y="673928"/>
              <a:ext cx="1105734" cy="1105734"/>
            </a:xfrm>
            <a:prstGeom prst="ellipse">
              <a:avLst/>
            </a:prstGeom>
            <a:solidFill>
              <a:srgbClr val="2B2412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椭圆 51"/>
            <p:cNvSpPr/>
            <p:nvPr/>
          </p:nvSpPr>
          <p:spPr>
            <a:xfrm>
              <a:off x="618115" y="930778"/>
              <a:ext cx="881326" cy="881326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3" name="直接连接符 52"/>
            <p:cNvCxnSpPr/>
            <p:nvPr/>
          </p:nvCxnSpPr>
          <p:spPr>
            <a:xfrm flipV="1">
              <a:off x="1058778" y="1020016"/>
              <a:ext cx="3536419" cy="759647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圆角矩形 53"/>
            <p:cNvSpPr/>
            <p:nvPr/>
          </p:nvSpPr>
          <p:spPr>
            <a:xfrm>
              <a:off x="725913" y="1020016"/>
              <a:ext cx="665730" cy="792088"/>
            </a:xfrm>
            <a:prstGeom prst="roundRect">
              <a:avLst>
                <a:gd name="adj" fmla="val 9599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400" dirty="0">
                  <a:latin typeface="Broadway BT" pitchFamily="82" charset="0"/>
                </a:rPr>
                <a:t>2</a:t>
              </a:r>
              <a:endParaRPr lang="zh-CN" altLang="en-US" sz="4400" dirty="0">
                <a:latin typeface="Broadway BT" pitchFamily="82" charset="0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1644821" y="1097425"/>
            <a:ext cx="5087419" cy="3620613"/>
            <a:chOff x="-300639" y="-1808509"/>
            <a:chExt cx="5087419" cy="3620613"/>
          </a:xfrm>
        </p:grpSpPr>
        <p:sp>
          <p:nvSpPr>
            <p:cNvPr id="56" name="TextBox 55"/>
            <p:cNvSpPr txBox="1"/>
            <p:nvPr/>
          </p:nvSpPr>
          <p:spPr>
            <a:xfrm rot="20922074">
              <a:off x="-300639" y="-1808509"/>
              <a:ext cx="1415772" cy="461665"/>
            </a:xfrm>
            <a:prstGeom prst="rect">
              <a:avLst/>
            </a:prstGeom>
            <a:noFill/>
            <a:ln/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 smtClean="0">
                  <a:solidFill>
                    <a:srgbClr val="2B2412"/>
                  </a:solidFill>
                  <a:latin typeface="微软雅黑" pitchFamily="34" charset="-122"/>
                  <a:ea typeface="微软雅黑" pitchFamily="34" charset="-122"/>
                </a:rPr>
                <a:t>【</a:t>
              </a:r>
              <a:r>
                <a:rPr lang="zh-CN" altLang="en-US" sz="2400" b="1" dirty="0">
                  <a:solidFill>
                    <a:srgbClr val="2B2412"/>
                  </a:solidFill>
                  <a:latin typeface="微软雅黑" pitchFamily="34" charset="-122"/>
                  <a:ea typeface="微软雅黑" pitchFamily="34" charset="-122"/>
                </a:rPr>
                <a:t>剧变</a:t>
              </a:r>
              <a:r>
                <a:rPr lang="en-US" altLang="zh-CN" sz="2400" b="1" dirty="0" smtClean="0">
                  <a:solidFill>
                    <a:srgbClr val="2B2412"/>
                  </a:solidFill>
                  <a:latin typeface="微软雅黑" pitchFamily="34" charset="-122"/>
                  <a:ea typeface="微软雅黑" pitchFamily="34" charset="-122"/>
                </a:rPr>
                <a:t>】</a:t>
              </a:r>
              <a:endParaRPr lang="zh-CN" altLang="en-US" sz="2400" b="1" dirty="0">
                <a:solidFill>
                  <a:srgbClr val="2B2412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393048" y="673928"/>
              <a:ext cx="1105734" cy="1105734"/>
            </a:xfrm>
            <a:prstGeom prst="ellipse">
              <a:avLst/>
            </a:prstGeom>
            <a:solidFill>
              <a:srgbClr val="2B2412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椭圆 57"/>
            <p:cNvSpPr/>
            <p:nvPr/>
          </p:nvSpPr>
          <p:spPr>
            <a:xfrm>
              <a:off x="618115" y="930778"/>
              <a:ext cx="881326" cy="881326"/>
            </a:xfrm>
            <a:prstGeom prst="ellipse">
              <a:avLst/>
            </a:prstGeom>
            <a:solidFill>
              <a:srgbClr val="FFC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9" name="直接连接符 58"/>
            <p:cNvCxnSpPr/>
            <p:nvPr/>
          </p:nvCxnSpPr>
          <p:spPr>
            <a:xfrm flipV="1">
              <a:off x="1058778" y="1020016"/>
              <a:ext cx="3728002" cy="759647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圆角矩形 59"/>
            <p:cNvSpPr/>
            <p:nvPr/>
          </p:nvSpPr>
          <p:spPr>
            <a:xfrm>
              <a:off x="725913" y="1020016"/>
              <a:ext cx="665730" cy="792088"/>
            </a:xfrm>
            <a:prstGeom prst="roundRect">
              <a:avLst>
                <a:gd name="adj" fmla="val 9599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4400" dirty="0">
                  <a:latin typeface="Broadway BT" pitchFamily="82" charset="0"/>
                </a:rPr>
                <a:t>3</a:t>
              </a:r>
              <a:endParaRPr lang="zh-CN" altLang="en-US" sz="4400" dirty="0">
                <a:latin typeface="Broadway BT" pitchFamily="82" charset="0"/>
              </a:endParaRPr>
            </a:p>
          </p:txBody>
        </p:sp>
      </p:grpSp>
      <p:sp>
        <p:nvSpPr>
          <p:cNvPr id="65" name="椭圆 64"/>
          <p:cNvSpPr/>
          <p:nvPr/>
        </p:nvSpPr>
        <p:spPr>
          <a:xfrm>
            <a:off x="6156176" y="673928"/>
            <a:ext cx="4994166" cy="4994166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TextBox 65"/>
          <p:cNvSpPr txBox="1"/>
          <p:nvPr/>
        </p:nvSpPr>
        <p:spPr>
          <a:xfrm rot="20950554">
            <a:off x="6382227" y="1817419"/>
            <a:ext cx="2723823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600" dirty="0" smtClean="0">
                <a:solidFill>
                  <a:srgbClr val="2B2412"/>
                </a:solidFill>
                <a:latin typeface="华康俪金黑W8" pitchFamily="49" charset="-122"/>
                <a:ea typeface="华康俪金黑W8" pitchFamily="49" charset="-122"/>
              </a:rPr>
              <a:t>引爆</a:t>
            </a:r>
            <a:endParaRPr lang="en-US" altLang="zh-CN" sz="6600" dirty="0" smtClean="0">
              <a:solidFill>
                <a:srgbClr val="2B2412"/>
              </a:solidFill>
              <a:latin typeface="华康俪金黑W8" pitchFamily="49" charset="-122"/>
              <a:ea typeface="华康俪金黑W8" pitchFamily="49" charset="-122"/>
            </a:endParaRPr>
          </a:p>
          <a:p>
            <a:pPr algn="ctr"/>
            <a:r>
              <a:rPr lang="zh-CN" altLang="en-US" sz="6600" dirty="0" smtClean="0">
                <a:solidFill>
                  <a:srgbClr val="2B2412"/>
                </a:solidFill>
                <a:latin typeface="华康俪金黑W8" pitchFamily="49" charset="-122"/>
                <a:ea typeface="华康俪金黑W8" pitchFamily="49" charset="-122"/>
              </a:rPr>
              <a:t>三特征</a:t>
            </a:r>
            <a:endParaRPr lang="zh-CN" altLang="en-US" sz="6600" dirty="0">
              <a:solidFill>
                <a:srgbClr val="2B2412"/>
              </a:solidFill>
              <a:latin typeface="华康俪金黑W8" pitchFamily="49" charset="-122"/>
              <a:ea typeface="华康俪金黑W8" pitchFamily="49" charset="-122"/>
            </a:endParaRPr>
          </a:p>
        </p:txBody>
      </p:sp>
      <p:pic>
        <p:nvPicPr>
          <p:cNvPr id="6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451" b="92958" l="10000" r="98000">
                        <a14:foregroundMark x1="53000" y1="25352" x2="53000" y2="253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9197"/>
          <a:stretch/>
        </p:blipFill>
        <p:spPr bwMode="auto">
          <a:xfrm>
            <a:off x="5076056" y="254269"/>
            <a:ext cx="1944216" cy="839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8" name="Picture 2"/>
          <p:cNvPicPr>
            <a:picLocks noChangeAspect="1" noChangeArrowheads="1"/>
          </p:cNvPicPr>
          <p:nvPr/>
        </p:nvPicPr>
        <p:blipFill rotWithShape="1"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451" b="92958" l="10000" r="98000">
                        <a14:foregroundMark x1="53000" y1="25352" x2="53000" y2="253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9197"/>
          <a:stretch/>
        </p:blipFill>
        <p:spPr bwMode="auto">
          <a:xfrm>
            <a:off x="5292080" y="1288295"/>
            <a:ext cx="591914" cy="255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26936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组合 44"/>
          <p:cNvGrpSpPr/>
          <p:nvPr/>
        </p:nvGrpSpPr>
        <p:grpSpPr>
          <a:xfrm>
            <a:off x="4807129" y="982487"/>
            <a:ext cx="1224136" cy="1224136"/>
            <a:chOff x="4783832" y="1248284"/>
            <a:chExt cx="1224136" cy="12241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" name="椭圆 3"/>
            <p:cNvSpPr/>
            <p:nvPr/>
          </p:nvSpPr>
          <p:spPr>
            <a:xfrm>
              <a:off x="4783832" y="1248284"/>
              <a:ext cx="1224136" cy="1224136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4851648" y="1316100"/>
              <a:ext cx="1088504" cy="1088504"/>
            </a:xfrm>
            <a:prstGeom prst="ellipse">
              <a:avLst/>
            </a:prstGeom>
            <a:noFill/>
            <a:ln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3478056" y="2993564"/>
            <a:ext cx="1224136" cy="1224136"/>
            <a:chOff x="5580112" y="2211710"/>
            <a:chExt cx="1224136" cy="12241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2" name="椭圆 11"/>
            <p:cNvSpPr/>
            <p:nvPr/>
          </p:nvSpPr>
          <p:spPr>
            <a:xfrm>
              <a:off x="5580112" y="2211710"/>
              <a:ext cx="1224136" cy="1224136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5647928" y="2279526"/>
              <a:ext cx="1088504" cy="1088504"/>
            </a:xfrm>
            <a:prstGeom prst="ellipse">
              <a:avLst/>
            </a:prstGeom>
            <a:noFill/>
            <a:ln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6228184" y="2927228"/>
            <a:ext cx="1224136" cy="1224136"/>
            <a:chOff x="5580112" y="2211710"/>
            <a:chExt cx="1224136" cy="12241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" name="椭圆 14"/>
            <p:cNvSpPr/>
            <p:nvPr/>
          </p:nvSpPr>
          <p:spPr>
            <a:xfrm>
              <a:off x="5580112" y="2211710"/>
              <a:ext cx="1224136" cy="1224136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5647928" y="2279526"/>
              <a:ext cx="1088504" cy="1088504"/>
            </a:xfrm>
            <a:prstGeom prst="ellipse">
              <a:avLst/>
            </a:prstGeom>
            <a:noFill/>
            <a:ln>
              <a:solidFill>
                <a:schemeClr val="bg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椭圆 16"/>
          <p:cNvSpPr/>
          <p:nvPr/>
        </p:nvSpPr>
        <p:spPr>
          <a:xfrm>
            <a:off x="-1770186" y="-982256"/>
            <a:ext cx="4994166" cy="4994166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 rot="20967221">
            <a:off x="-4929" y="955243"/>
            <a:ext cx="2723823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600" dirty="0">
                <a:solidFill>
                  <a:srgbClr val="2B2412"/>
                </a:solidFill>
                <a:latin typeface="华康俪金黑W8" pitchFamily="49" charset="-122"/>
                <a:ea typeface="华康俪金黑W8" pitchFamily="49" charset="-122"/>
              </a:rPr>
              <a:t>引爆</a:t>
            </a:r>
            <a:endParaRPr lang="en-US" altLang="zh-CN" sz="6600" dirty="0" smtClean="0">
              <a:solidFill>
                <a:srgbClr val="2B2412"/>
              </a:solidFill>
              <a:latin typeface="华康俪金黑W8" pitchFamily="49" charset="-122"/>
              <a:ea typeface="华康俪金黑W8" pitchFamily="49" charset="-122"/>
            </a:endParaRPr>
          </a:p>
          <a:p>
            <a:pPr algn="ctr"/>
            <a:r>
              <a:rPr lang="zh-CN" altLang="en-US" sz="6600" dirty="0" smtClean="0">
                <a:solidFill>
                  <a:srgbClr val="2B2412"/>
                </a:solidFill>
                <a:latin typeface="华康俪金黑W8" pitchFamily="49" charset="-122"/>
                <a:ea typeface="华康俪金黑W8" pitchFamily="49" charset="-122"/>
              </a:rPr>
              <a:t>三要素</a:t>
            </a:r>
            <a:endParaRPr lang="zh-CN" altLang="en-US" sz="6600" dirty="0">
              <a:solidFill>
                <a:srgbClr val="2B2412"/>
              </a:solidFill>
              <a:latin typeface="华康俪金黑W8" pitchFamily="49" charset="-122"/>
              <a:ea typeface="华康俪金黑W8" pitchFamily="49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28184" y="827815"/>
            <a:ext cx="17235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 smtClean="0">
                <a:solidFill>
                  <a:srgbClr val="2B2412"/>
                </a:solidFill>
                <a:latin typeface="微软雅黑" pitchFamily="34" charset="-122"/>
                <a:ea typeface="微软雅黑" pitchFamily="34" charset="-122"/>
              </a:rPr>
              <a:t>个别人物法则</a:t>
            </a:r>
            <a:endParaRPr lang="en-US" altLang="zh-CN" b="1" dirty="0" smtClean="0">
              <a:solidFill>
                <a:srgbClr val="2B2412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1000" b="1" dirty="0" smtClean="0">
                <a:solidFill>
                  <a:srgbClr val="2B2412"/>
                </a:solidFill>
                <a:latin typeface="微软雅黑" pitchFamily="34" charset="-122"/>
                <a:ea typeface="微软雅黑" pitchFamily="34" charset="-122"/>
              </a:rPr>
              <a:t>（联系员、内行、推销员）</a:t>
            </a:r>
            <a:endParaRPr lang="zh-CN" altLang="en-US" sz="1000" b="1" dirty="0">
              <a:solidFill>
                <a:srgbClr val="2B241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871278" y="419196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600" b="1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1800" dirty="0" smtClean="0">
                <a:solidFill>
                  <a:srgbClr val="2B2412"/>
                </a:solidFill>
              </a:rPr>
              <a:t>附着力因素</a:t>
            </a:r>
            <a:endParaRPr lang="zh-CN" altLang="en-US" sz="1800" dirty="0">
              <a:solidFill>
                <a:srgbClr val="2B2412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308304" y="422553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600" b="1"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z="1800" dirty="0" smtClean="0">
                <a:solidFill>
                  <a:srgbClr val="2B2412"/>
                </a:solidFill>
              </a:rPr>
              <a:t>环境威力法则</a:t>
            </a:r>
            <a:endParaRPr lang="zh-CN" altLang="en-US" sz="1800" dirty="0">
              <a:solidFill>
                <a:srgbClr val="2B2412"/>
              </a:solidFill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1985970" y="4561292"/>
            <a:ext cx="1224136" cy="8317"/>
          </a:xfrm>
          <a:prstGeom prst="line">
            <a:avLst/>
          </a:prstGeom>
          <a:ln w="28575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V="1">
            <a:off x="5940152" y="1316100"/>
            <a:ext cx="504056" cy="556910"/>
          </a:xfrm>
          <a:prstGeom prst="line">
            <a:avLst/>
          </a:prstGeom>
          <a:ln w="38100" cmpd="dbl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6804248" y="4083548"/>
            <a:ext cx="504056" cy="546340"/>
          </a:xfrm>
          <a:prstGeom prst="line">
            <a:avLst/>
          </a:prstGeom>
          <a:ln w="28575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7339665" y="4621571"/>
            <a:ext cx="1552815" cy="8317"/>
          </a:xfrm>
          <a:prstGeom prst="line">
            <a:avLst/>
          </a:prstGeom>
          <a:ln w="28575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 flipV="1">
            <a:off x="3210106" y="3951086"/>
            <a:ext cx="693758" cy="610206"/>
          </a:xfrm>
          <a:prstGeom prst="line">
            <a:avLst/>
          </a:prstGeom>
          <a:ln w="28575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6444208" y="1307783"/>
            <a:ext cx="1368152" cy="0"/>
          </a:xfrm>
          <a:prstGeom prst="line">
            <a:avLst/>
          </a:prstGeom>
          <a:ln w="38100" cmpd="thickThin">
            <a:solidFill>
              <a:srgbClr val="FFC000"/>
            </a:solidFill>
            <a:prstDash val="sysDash"/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 flipV="1">
            <a:off x="4427984" y="2152472"/>
            <a:ext cx="620511" cy="842572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/>
        </p:nvCxnSpPr>
        <p:spPr>
          <a:xfrm flipV="1">
            <a:off x="4814300" y="3724057"/>
            <a:ext cx="1242174" cy="2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>
          <a:xfrm>
            <a:off x="5852683" y="2095168"/>
            <a:ext cx="592214" cy="899876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5157387" y="1307783"/>
            <a:ext cx="556000" cy="583874"/>
          </a:xfrm>
          <a:prstGeom prst="rect">
            <a:avLst/>
          </a:prstGeom>
          <a:solidFill>
            <a:schemeClr val="bg1">
              <a:alpha val="59000"/>
            </a:schemeClr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400" dirty="0" smtClean="0">
                <a:solidFill>
                  <a:schemeClr val="bg2">
                    <a:lumMod val="25000"/>
                  </a:schemeClr>
                </a:solidFill>
                <a:latin typeface="华康俪金黑W8" pitchFamily="49" charset="-122"/>
                <a:ea typeface="华康俪金黑W8" pitchFamily="49" charset="-122"/>
              </a:rPr>
              <a:t>1</a:t>
            </a:r>
            <a:endParaRPr lang="zh-CN" altLang="en-US" sz="4400" dirty="0">
              <a:solidFill>
                <a:schemeClr val="bg2">
                  <a:lumMod val="25000"/>
                </a:schemeClr>
              </a:solidFill>
              <a:latin typeface="华康俪金黑W8" pitchFamily="49" charset="-122"/>
              <a:ea typeface="华康俪金黑W8" pitchFamily="49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562252" y="3310235"/>
            <a:ext cx="556000" cy="583874"/>
          </a:xfrm>
          <a:prstGeom prst="rect">
            <a:avLst/>
          </a:prstGeom>
          <a:solidFill>
            <a:schemeClr val="bg1">
              <a:alpha val="59000"/>
            </a:schemeClr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  <a:reflection blurRad="6350" stA="50000" endA="275" endPos="40000" dist="1016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400" dirty="0" smtClean="0">
                <a:solidFill>
                  <a:schemeClr val="bg2">
                    <a:lumMod val="25000"/>
                  </a:schemeClr>
                </a:solidFill>
                <a:latin typeface="华康俪金黑W8" pitchFamily="49" charset="-122"/>
                <a:ea typeface="华康俪金黑W8" pitchFamily="49" charset="-122"/>
              </a:rPr>
              <a:t>3</a:t>
            </a:r>
            <a:endParaRPr lang="zh-CN" altLang="en-US" sz="4400" dirty="0">
              <a:solidFill>
                <a:schemeClr val="bg2">
                  <a:lumMod val="25000"/>
                </a:schemeClr>
              </a:solidFill>
              <a:latin typeface="华康俪金黑W8" pitchFamily="49" charset="-122"/>
              <a:ea typeface="华康俪金黑W8" pitchFamily="49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812124" y="3310235"/>
            <a:ext cx="556000" cy="583874"/>
          </a:xfrm>
          <a:prstGeom prst="rect">
            <a:avLst/>
          </a:prstGeom>
          <a:solidFill>
            <a:schemeClr val="bg1">
              <a:alpha val="59000"/>
            </a:schemeClr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400" dirty="0" smtClean="0">
                <a:solidFill>
                  <a:schemeClr val="bg2">
                    <a:lumMod val="25000"/>
                  </a:schemeClr>
                </a:solidFill>
                <a:latin typeface="华康俪金黑W8" pitchFamily="49" charset="-122"/>
                <a:ea typeface="华康俪金黑W8" pitchFamily="49" charset="-122"/>
              </a:rPr>
              <a:t>2</a:t>
            </a:r>
            <a:endParaRPr lang="zh-CN" altLang="en-US" sz="4400" dirty="0">
              <a:solidFill>
                <a:schemeClr val="bg2">
                  <a:lumMod val="25000"/>
                </a:schemeClr>
              </a:solidFill>
              <a:latin typeface="华康俪金黑W8" pitchFamily="49" charset="-122"/>
              <a:ea typeface="华康俪金黑W8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839894" y="1251863"/>
            <a:ext cx="111839" cy="11183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1847270" y="4509732"/>
            <a:ext cx="111839" cy="11183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8776076" y="4594867"/>
            <a:ext cx="111839" cy="11183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985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流程图: 文档 19"/>
          <p:cNvSpPr/>
          <p:nvPr/>
        </p:nvSpPr>
        <p:spPr>
          <a:xfrm>
            <a:off x="6516216" y="1697359"/>
            <a:ext cx="2153963" cy="2758567"/>
          </a:xfrm>
          <a:prstGeom prst="flowChartDocumen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0" y="0"/>
            <a:ext cx="9144000" cy="84355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7135791" y="-20538"/>
            <a:ext cx="1972713" cy="2111108"/>
            <a:chOff x="6947566" y="558760"/>
            <a:chExt cx="1972713" cy="2111108"/>
          </a:xfrm>
        </p:grpSpPr>
        <p:grpSp>
          <p:nvGrpSpPr>
            <p:cNvPr id="5" name="组合 4"/>
            <p:cNvGrpSpPr/>
            <p:nvPr/>
          </p:nvGrpSpPr>
          <p:grpSpPr>
            <a:xfrm>
              <a:off x="6947566" y="558760"/>
              <a:ext cx="1972713" cy="2111108"/>
              <a:chOff x="6847759" y="206374"/>
              <a:chExt cx="1972713" cy="2111108"/>
            </a:xfrm>
          </p:grpSpPr>
          <p:sp>
            <p:nvSpPr>
              <p:cNvPr id="6" name="矩形 5"/>
              <p:cNvSpPr/>
              <p:nvPr/>
            </p:nvSpPr>
            <p:spPr>
              <a:xfrm rot="21224234">
                <a:off x="6847759" y="466433"/>
                <a:ext cx="1877351" cy="1851049"/>
              </a:xfrm>
              <a:prstGeom prst="rect">
                <a:avLst/>
              </a:prstGeom>
              <a:solidFill>
                <a:sysClr val="window" lastClr="FFFFFF">
                  <a:alpha val="23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6943121" y="206374"/>
                <a:ext cx="1877351" cy="1851049"/>
              </a:xfrm>
              <a:prstGeom prst="rect">
                <a:avLst/>
              </a:prstGeom>
              <a:solidFill>
                <a:sysClr val="window" lastClr="FFFFFF">
                  <a:alpha val="23000"/>
                </a:sysClr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6858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156548" flipH="1">
              <a:off x="7095778" y="906203"/>
              <a:ext cx="1771650" cy="1562100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4" name="矩形 3"/>
          <p:cNvSpPr/>
          <p:nvPr/>
        </p:nvSpPr>
        <p:spPr>
          <a:xfrm>
            <a:off x="2741210" y="152410"/>
            <a:ext cx="366158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 smtClean="0">
                <a:solidFill>
                  <a:srgbClr val="2F2715"/>
                </a:solidFill>
                <a:latin typeface="华康俪金黑W8" pitchFamily="49" charset="-122"/>
                <a:ea typeface="华康俪金黑W8" pitchFamily="49" charset="-122"/>
              </a:rPr>
              <a:t>和</a:t>
            </a:r>
            <a:r>
              <a:rPr lang="zh-CN" altLang="en-US" sz="3600" dirty="0">
                <a:solidFill>
                  <a:srgbClr val="2F2715"/>
                </a:solidFill>
                <a:latin typeface="华康俪金黑W8" pitchFamily="49" charset="-122"/>
                <a:ea typeface="华康俪金黑W8" pitchFamily="49" charset="-122"/>
              </a:rPr>
              <a:t>秋叶一起学</a:t>
            </a:r>
            <a:r>
              <a:rPr lang="en-US" altLang="zh-CN" sz="3600" dirty="0" smtClean="0">
                <a:solidFill>
                  <a:srgbClr val="2F2715"/>
                </a:solidFill>
                <a:latin typeface="华康俪金黑W8" pitchFamily="49" charset="-122"/>
                <a:ea typeface="华康俪金黑W8" pitchFamily="49" charset="-122"/>
              </a:rPr>
              <a:t>PPT</a:t>
            </a:r>
            <a:endParaRPr lang="zh-CN" altLang="en-US" sz="4800" dirty="0">
              <a:solidFill>
                <a:srgbClr val="2F2715"/>
              </a:solidFill>
            </a:endParaRPr>
          </a:p>
        </p:txBody>
      </p:sp>
      <p:sp>
        <p:nvSpPr>
          <p:cNvPr id="3" name="流程图: 文档 2"/>
          <p:cNvSpPr/>
          <p:nvPr/>
        </p:nvSpPr>
        <p:spPr>
          <a:xfrm>
            <a:off x="473821" y="1757399"/>
            <a:ext cx="2153963" cy="2758567"/>
          </a:xfrm>
          <a:prstGeom prst="flowChartDocumen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84456" y="1771899"/>
            <a:ext cx="2349682" cy="21852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altLang="zh-CN" sz="900" b="1" dirty="0" smtClean="0">
              <a:solidFill>
                <a:srgbClr val="2F2715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900" b="1" dirty="0">
              <a:solidFill>
                <a:srgbClr val="2F2715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900" b="1" dirty="0" smtClean="0">
              <a:solidFill>
                <a:srgbClr val="2F2715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900" b="1" dirty="0">
              <a:solidFill>
                <a:srgbClr val="2F2715"/>
              </a:solidFill>
              <a:latin typeface="微软雅黑" pitchFamily="34" charset="-122"/>
              <a:ea typeface="微软雅黑" pitchFamily="34" charset="-122"/>
            </a:endParaRPr>
          </a:p>
          <a:p>
            <a:endParaRPr lang="en-US" altLang="zh-CN" sz="900" b="1" dirty="0" smtClean="0">
              <a:solidFill>
                <a:srgbClr val="2F2715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endParaRPr lang="en-US" altLang="zh-CN" sz="1100" b="1" dirty="0" smtClean="0">
              <a:solidFill>
                <a:srgbClr val="2F2715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1100" b="1" dirty="0" smtClean="0">
                <a:solidFill>
                  <a:srgbClr val="2F2715"/>
                </a:solidFill>
                <a:latin typeface="微软雅黑" pitchFamily="34" charset="-122"/>
                <a:ea typeface="微软雅黑" pitchFamily="34" charset="-122"/>
              </a:rPr>
              <a:t>在线</a:t>
            </a:r>
            <a:r>
              <a:rPr lang="en-US" altLang="zh-CN" sz="3200" b="1" dirty="0" smtClean="0">
                <a:solidFill>
                  <a:srgbClr val="FF0000"/>
                </a:solidFill>
                <a:latin typeface="华康俪金黑W8" pitchFamily="49" charset="-122"/>
                <a:ea typeface="华康俪金黑W8" pitchFamily="49" charset="-122"/>
              </a:rPr>
              <a:t>164</a:t>
            </a:r>
            <a:r>
              <a:rPr lang="zh-CN" altLang="en-US" sz="1100" b="1" dirty="0" smtClean="0">
                <a:solidFill>
                  <a:srgbClr val="2F2715"/>
                </a:solidFill>
                <a:latin typeface="微软雅黑" pitchFamily="34" charset="-122"/>
                <a:ea typeface="微软雅黑" pitchFamily="34" charset="-122"/>
              </a:rPr>
              <a:t>天 </a:t>
            </a:r>
            <a:endParaRPr lang="en-US" altLang="zh-CN" sz="1100" b="1" dirty="0" smtClean="0">
              <a:solidFill>
                <a:srgbClr val="2F2715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1100" b="1" dirty="0" smtClean="0">
                <a:solidFill>
                  <a:srgbClr val="2F2715"/>
                </a:solidFill>
                <a:latin typeface="微软雅黑" pitchFamily="34" charset="-122"/>
                <a:ea typeface="微软雅黑" pitchFamily="34" charset="-122"/>
              </a:rPr>
              <a:t>销售</a:t>
            </a:r>
            <a:r>
              <a:rPr lang="zh-CN" altLang="en-US" sz="1100" b="1" dirty="0">
                <a:solidFill>
                  <a:srgbClr val="2F2715"/>
                </a:solidFill>
                <a:latin typeface="微软雅黑" pitchFamily="34" charset="-122"/>
                <a:ea typeface="微软雅黑" pitchFamily="34" charset="-122"/>
              </a:rPr>
              <a:t>数据是</a:t>
            </a:r>
            <a:r>
              <a:rPr lang="en-US" altLang="zh-CN" sz="4400" b="1" dirty="0">
                <a:solidFill>
                  <a:srgbClr val="FF0000"/>
                </a:solidFill>
                <a:latin typeface="华康俪金黑W8" pitchFamily="49" charset="-122"/>
                <a:ea typeface="华康俪金黑W8" pitchFamily="49" charset="-122"/>
              </a:rPr>
              <a:t>3615</a:t>
            </a:r>
            <a:r>
              <a:rPr lang="zh-CN" altLang="en-US" sz="1100" b="1" dirty="0">
                <a:solidFill>
                  <a:srgbClr val="2F2715"/>
                </a:solidFill>
                <a:latin typeface="微软雅黑" pitchFamily="34" charset="-122"/>
                <a:ea typeface="微软雅黑" pitchFamily="34" charset="-122"/>
              </a:rPr>
              <a:t>个人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5035" y="2340308"/>
            <a:ext cx="14157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 smtClean="0">
                <a:latin typeface="微软雅黑" pitchFamily="34" charset="-122"/>
                <a:ea typeface="微软雅黑" pitchFamily="34" charset="-122"/>
              </a:rPr>
              <a:t>广告成本微乎其微</a:t>
            </a:r>
            <a:endParaRPr lang="zh-CN" altLang="en-US" sz="12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流程图: 文档 17"/>
          <p:cNvSpPr/>
          <p:nvPr/>
        </p:nvSpPr>
        <p:spPr>
          <a:xfrm>
            <a:off x="3531661" y="1757399"/>
            <a:ext cx="2153963" cy="2758567"/>
          </a:xfrm>
          <a:prstGeom prst="flowChartDocumen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473821" y="2248953"/>
            <a:ext cx="2153963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3592979" y="1771899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rgbClr val="2F2715"/>
                </a:solidFill>
                <a:latin typeface="微软雅黑" pitchFamily="34" charset="-122"/>
                <a:ea typeface="微软雅黑" pitchFamily="34" charset="-122"/>
              </a:rPr>
              <a:t>三分钟教程电子书</a:t>
            </a:r>
            <a:endParaRPr lang="zh-CN" altLang="en-US" b="1" dirty="0">
              <a:solidFill>
                <a:srgbClr val="2F271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6516216" y="2222080"/>
            <a:ext cx="2153963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3531659" y="2240635"/>
            <a:ext cx="2153963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/>
          <p:cNvSpPr/>
          <p:nvPr/>
        </p:nvSpPr>
        <p:spPr>
          <a:xfrm>
            <a:off x="6966470" y="1779139"/>
            <a:ext cx="13147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rgbClr val="2F2715"/>
                </a:solidFill>
                <a:latin typeface="微软雅黑" pitchFamily="34" charset="-122"/>
                <a:ea typeface="微软雅黑" pitchFamily="34" charset="-122"/>
              </a:rPr>
              <a:t>读 书 笔 记</a:t>
            </a:r>
            <a:endParaRPr lang="zh-CN" altLang="en-US" b="1" dirty="0">
              <a:solidFill>
                <a:srgbClr val="2F271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75648" y="1818114"/>
            <a:ext cx="16145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rgbClr val="2F2715"/>
                </a:solidFill>
                <a:latin typeface="微软雅黑" pitchFamily="34" charset="-122"/>
                <a:ea typeface="微软雅黑" pitchFamily="34" charset="-122"/>
              </a:rPr>
              <a:t>网 易 云 课 堂</a:t>
            </a:r>
            <a:endParaRPr lang="zh-CN" altLang="en-US" b="1" dirty="0">
              <a:solidFill>
                <a:srgbClr val="2F271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16216" y="3108905"/>
            <a:ext cx="20986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 smtClean="0">
                <a:solidFill>
                  <a:schemeClr val="bg2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下载累计破</a:t>
            </a:r>
            <a:r>
              <a:rPr lang="en-US" altLang="zh-CN" sz="48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20</a:t>
            </a:r>
            <a:r>
              <a:rPr lang="zh-CN" altLang="en-US" sz="20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万</a:t>
            </a:r>
            <a:endParaRPr lang="zh-CN" altLang="en-US" sz="5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740544" y="2326484"/>
            <a:ext cx="164981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2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仅</a:t>
            </a:r>
            <a:r>
              <a:rPr lang="en-US" altLang="zh-CN" sz="20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1600" b="1" dirty="0" smtClean="0">
                <a:solidFill>
                  <a:schemeClr val="bg2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个月</a:t>
            </a:r>
            <a:endParaRPr lang="en-US" altLang="zh-CN" b="1" dirty="0" smtClean="0">
              <a:solidFill>
                <a:schemeClr val="bg2">
                  <a:lumMod val="1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1400" b="1" dirty="0">
                <a:solidFill>
                  <a:schemeClr val="bg2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微</a:t>
            </a:r>
            <a:r>
              <a:rPr lang="zh-CN" altLang="en-US" sz="1400" b="1" dirty="0" smtClean="0">
                <a:solidFill>
                  <a:schemeClr val="bg2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博粉丝</a:t>
            </a:r>
            <a:r>
              <a:rPr lang="en-US" altLang="zh-CN" sz="36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0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万</a:t>
            </a:r>
            <a:r>
              <a:rPr lang="zh-CN" altLang="en-US" sz="1600" b="1" dirty="0" smtClean="0">
                <a:solidFill>
                  <a:schemeClr val="bg2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多</a:t>
            </a:r>
            <a:endParaRPr lang="zh-CN" altLang="en-US" b="1" dirty="0">
              <a:solidFill>
                <a:schemeClr val="bg2">
                  <a:lumMod val="1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952052" y="2340308"/>
            <a:ext cx="1313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免费</a:t>
            </a:r>
            <a:r>
              <a:rPr lang="zh-CN" altLang="en-US" sz="1400" b="1" dirty="0" smtClean="0">
                <a:latin typeface="微软雅黑" pitchFamily="34" charset="-122"/>
                <a:ea typeface="微软雅黑" pitchFamily="34" charset="-122"/>
              </a:rPr>
              <a:t>中的精品</a:t>
            </a:r>
            <a:endParaRPr lang="zh-CN" altLang="en-US" sz="14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592980" y="2803537"/>
            <a:ext cx="20313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dirty="0" smtClean="0">
                <a:solidFill>
                  <a:schemeClr val="bg2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全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五星</a:t>
            </a:r>
            <a:r>
              <a:rPr lang="zh-CN" altLang="en-US" sz="1600" b="1" dirty="0" smtClean="0">
                <a:solidFill>
                  <a:schemeClr val="bg2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好评</a:t>
            </a:r>
            <a:endParaRPr lang="en-US" altLang="zh-CN" sz="1600" b="1" dirty="0" smtClean="0">
              <a:solidFill>
                <a:schemeClr val="bg2">
                  <a:lumMod val="1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endParaRPr lang="en-US" altLang="zh-CN" sz="1600" b="1" dirty="0" smtClean="0">
              <a:solidFill>
                <a:schemeClr val="bg2">
                  <a:lumMod val="1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1600" b="1" dirty="0" smtClean="0">
                <a:solidFill>
                  <a:schemeClr val="bg2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网友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吐血推荐</a:t>
            </a:r>
            <a:endParaRPr lang="en-US" altLang="zh-CN" sz="3200" b="1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46336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7980" y="496253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latin typeface="华康俪金黑W8" pitchFamily="49" charset="-122"/>
                <a:ea typeface="华康俪金黑W8" pitchFamily="49" charset="-122"/>
              </a:rPr>
              <a:t>如何引爆</a:t>
            </a:r>
            <a:endParaRPr lang="zh-CN" altLang="en-US" sz="3200" dirty="0">
              <a:latin typeface="华康俪金黑W8" pitchFamily="49" charset="-122"/>
              <a:ea typeface="华康俪金黑W8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73097" y="833265"/>
            <a:ext cx="1915909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8800" dirty="0">
                <a:latin typeface="华康俪金黑W8" pitchFamily="49" charset="-122"/>
                <a:ea typeface="华康俪金黑W8" pitchFamily="49" charset="-122"/>
              </a:rPr>
              <a:t>PPT</a:t>
            </a:r>
            <a:endParaRPr lang="zh-CN" altLang="en-US" sz="8800" dirty="0"/>
          </a:p>
        </p:txBody>
      </p:sp>
      <p:sp>
        <p:nvSpPr>
          <p:cNvPr id="7" name="平行四边形 6"/>
          <p:cNvSpPr/>
          <p:nvPr/>
        </p:nvSpPr>
        <p:spPr>
          <a:xfrm rot="20815683">
            <a:off x="-325535" y="2047465"/>
            <a:ext cx="9846319" cy="1518701"/>
          </a:xfrm>
          <a:prstGeom prst="parallelogram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 rot="20710992">
            <a:off x="2346907" y="1807521"/>
            <a:ext cx="4608954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500" dirty="0" smtClean="0">
                <a:solidFill>
                  <a:srgbClr val="FFC000"/>
                </a:solidFill>
                <a:latin typeface="华康俪金黑W8" pitchFamily="49" charset="-122"/>
                <a:ea typeface="华康俪金黑W8" pitchFamily="49" charset="-122"/>
              </a:rPr>
              <a:t>流行潮</a:t>
            </a:r>
            <a:endParaRPr lang="zh-CN" altLang="en-US" sz="11500" dirty="0">
              <a:solidFill>
                <a:srgbClr val="FFC000"/>
              </a:solidFill>
              <a:latin typeface="华康俪金黑W8" pitchFamily="49" charset="-122"/>
              <a:ea typeface="华康俪金黑W8" pitchFamily="49" charset="-122"/>
            </a:endParaRPr>
          </a:p>
        </p:txBody>
      </p:sp>
      <p:sp>
        <p:nvSpPr>
          <p:cNvPr id="10" name="直角三角形 9"/>
          <p:cNvSpPr/>
          <p:nvPr/>
        </p:nvSpPr>
        <p:spPr>
          <a:xfrm rot="5880000">
            <a:off x="611610" y="359944"/>
            <a:ext cx="261537" cy="242445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直角三角形 10"/>
          <p:cNvSpPr/>
          <p:nvPr/>
        </p:nvSpPr>
        <p:spPr>
          <a:xfrm rot="15660000">
            <a:off x="1517131" y="2158593"/>
            <a:ext cx="261537" cy="242445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直角三角形 11"/>
          <p:cNvSpPr/>
          <p:nvPr/>
        </p:nvSpPr>
        <p:spPr>
          <a:xfrm rot="12960000">
            <a:off x="3069250" y="1028771"/>
            <a:ext cx="261537" cy="242445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直角三角形 12"/>
          <p:cNvSpPr/>
          <p:nvPr/>
        </p:nvSpPr>
        <p:spPr>
          <a:xfrm rot="12960000">
            <a:off x="8146670" y="3931777"/>
            <a:ext cx="261537" cy="242445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直角三角形 13"/>
          <p:cNvSpPr/>
          <p:nvPr/>
        </p:nvSpPr>
        <p:spPr>
          <a:xfrm rot="18780000">
            <a:off x="6520997" y="4163661"/>
            <a:ext cx="261537" cy="242445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直角三角形 14"/>
          <p:cNvSpPr/>
          <p:nvPr/>
        </p:nvSpPr>
        <p:spPr>
          <a:xfrm rot="18010140">
            <a:off x="7959033" y="4762179"/>
            <a:ext cx="282715" cy="26400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6829606" y="4284884"/>
            <a:ext cx="14478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华康俪金黑W8" pitchFamily="49" charset="-122"/>
                <a:ea typeface="华康俪金黑W8" pitchFamily="49" charset="-122"/>
              </a:rPr>
              <a:t>引 爆 点 理 论</a:t>
            </a:r>
            <a:endParaRPr lang="en-US" altLang="zh-CN" sz="1400" dirty="0" smtClean="0">
              <a:latin typeface="华康俪金黑W8" pitchFamily="49" charset="-122"/>
              <a:ea typeface="华康俪金黑W8" pitchFamily="49" charset="-122"/>
            </a:endParaRPr>
          </a:p>
          <a:p>
            <a:r>
              <a:rPr lang="zh-CN" altLang="en-US" sz="1400" dirty="0" smtClean="0">
                <a:latin typeface="华康俪金黑W8" pitchFamily="49" charset="-122"/>
                <a:ea typeface="华康俪金黑W8" pitchFamily="49" charset="-122"/>
              </a:rPr>
              <a:t>告 诉 你 答 案</a:t>
            </a:r>
            <a:endParaRPr lang="zh-CN" altLang="en-US" sz="1400" dirty="0">
              <a:latin typeface="华康俪金黑W8" pitchFamily="49" charset="-122"/>
              <a:ea typeface="华康俪金黑W8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36172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9144000" cy="62753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302568" y="180031"/>
            <a:ext cx="71705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solidFill>
                  <a:srgbClr val="2F2715"/>
                </a:solidFill>
                <a:latin typeface="华康俪金黑W8" pitchFamily="49" charset="-122"/>
                <a:ea typeface="华康俪金黑W8" pitchFamily="49" charset="-122"/>
              </a:rPr>
              <a:t>   从             看</a:t>
            </a:r>
            <a:r>
              <a:rPr lang="zh-CN" altLang="en-US" sz="2400" dirty="0">
                <a:solidFill>
                  <a:srgbClr val="2F2715"/>
                </a:solidFill>
                <a:latin typeface="华康俪金黑W8" pitchFamily="49" charset="-122"/>
                <a:ea typeface="华康俪金黑W8" pitchFamily="49" charset="-122"/>
              </a:rPr>
              <a:t>“</a:t>
            </a:r>
            <a:r>
              <a:rPr lang="zh-CN" altLang="en-US" sz="2400" dirty="0" smtClean="0">
                <a:solidFill>
                  <a:srgbClr val="2F2715"/>
                </a:solidFill>
                <a:latin typeface="华康俪金黑W8" pitchFamily="49" charset="-122"/>
                <a:ea typeface="华康俪金黑W8" pitchFamily="49" charset="-122"/>
              </a:rPr>
              <a:t>和秋叶一起学</a:t>
            </a:r>
            <a:r>
              <a:rPr lang="en-US" altLang="zh-CN" sz="2400" dirty="0" smtClean="0">
                <a:solidFill>
                  <a:srgbClr val="2F2715"/>
                </a:solidFill>
                <a:latin typeface="华康俪金黑W8" pitchFamily="49" charset="-122"/>
                <a:ea typeface="华康俪金黑W8" pitchFamily="49" charset="-122"/>
              </a:rPr>
              <a:t>PPT</a:t>
            </a:r>
            <a:r>
              <a:rPr lang="zh-CN" altLang="en-US" sz="2400" dirty="0" smtClean="0">
                <a:solidFill>
                  <a:srgbClr val="2F2715"/>
                </a:solidFill>
                <a:latin typeface="华康俪金黑W8" pitchFamily="49" charset="-122"/>
                <a:ea typeface="华康俪金黑W8" pitchFamily="49" charset="-122"/>
              </a:rPr>
              <a:t>”的成功</a:t>
            </a:r>
            <a:endParaRPr lang="zh-CN" altLang="en-US" sz="2400" dirty="0">
              <a:solidFill>
                <a:srgbClr val="2F2715"/>
              </a:solidFill>
              <a:latin typeface="华康俪金黑W8" pitchFamily="49" charset="-122"/>
              <a:ea typeface="华康俪金黑W8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83603" y="1347614"/>
            <a:ext cx="8420845" cy="72008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084168" y="1059582"/>
            <a:ext cx="1728192" cy="504056"/>
          </a:xfrm>
          <a:prstGeom prst="rect">
            <a:avLst/>
          </a:prstGeom>
          <a:solidFill>
            <a:srgbClr val="2F271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latin typeface="华康俪金黑W8" pitchFamily="49" charset="-122"/>
                <a:ea typeface="华康俪金黑W8" pitchFamily="49" charset="-122"/>
              </a:rPr>
              <a:t>联 系 人</a:t>
            </a:r>
            <a:endParaRPr lang="zh-CN" altLang="en-US" sz="2000" dirty="0">
              <a:latin typeface="华康俪金黑W8" pitchFamily="49" charset="-122"/>
              <a:ea typeface="华康俪金黑W8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369965" y="215092"/>
            <a:ext cx="1617859" cy="412442"/>
          </a:xfrm>
          <a:prstGeom prst="rect">
            <a:avLst/>
          </a:prstGeom>
          <a:solidFill>
            <a:srgbClr val="2F27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97957" y="215092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>
                <a:solidFill>
                  <a:srgbClr val="FFC000"/>
                </a:solidFill>
                <a:latin typeface="华康俪金黑W8" pitchFamily="49" charset="-122"/>
                <a:ea typeface="华康俪金黑W8" pitchFamily="49" charset="-122"/>
              </a:rPr>
              <a:t>个别人物法则</a:t>
            </a:r>
            <a:endParaRPr lang="zh-CN" altLang="en-US" sz="2000" dirty="0">
              <a:solidFill>
                <a:srgbClr val="FFC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1560" y="1031962"/>
            <a:ext cx="4464496" cy="504056"/>
          </a:xfrm>
          <a:prstGeom prst="rect">
            <a:avLst/>
          </a:prstGeom>
          <a:solidFill>
            <a:srgbClr val="2F2715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latin typeface="华康俪金黑W8" pitchFamily="49" charset="-122"/>
                <a:ea typeface="华康俪金黑W8" pitchFamily="49" charset="-122"/>
              </a:rPr>
              <a:t>信息的中转站、接收者、传播者</a:t>
            </a:r>
            <a:endParaRPr lang="zh-CN" altLang="en-US" sz="2000" dirty="0">
              <a:latin typeface="华康俪金黑W8" pitchFamily="49" charset="-122"/>
              <a:ea typeface="华康俪金黑W8" pitchFamily="49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51520" y="4227934"/>
            <a:ext cx="8420845" cy="72008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152085" y="3939902"/>
            <a:ext cx="1728192" cy="504056"/>
          </a:xfrm>
          <a:prstGeom prst="rect">
            <a:avLst/>
          </a:prstGeom>
          <a:solidFill>
            <a:srgbClr val="2F271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华康俪金黑W8" pitchFamily="49" charset="-122"/>
                <a:ea typeface="华康俪金黑W8" pitchFamily="49" charset="-122"/>
              </a:rPr>
              <a:t>推</a:t>
            </a:r>
            <a:r>
              <a:rPr lang="zh-CN" altLang="en-US" sz="2000" dirty="0" smtClean="0">
                <a:latin typeface="华康俪金黑W8" pitchFamily="49" charset="-122"/>
                <a:ea typeface="华康俪金黑W8" pitchFamily="49" charset="-122"/>
              </a:rPr>
              <a:t> </a:t>
            </a:r>
            <a:r>
              <a:rPr lang="zh-CN" altLang="en-US" sz="2000" dirty="0">
                <a:latin typeface="华康俪金黑W8" pitchFamily="49" charset="-122"/>
                <a:ea typeface="华康俪金黑W8" pitchFamily="49" charset="-122"/>
              </a:rPr>
              <a:t>销</a:t>
            </a:r>
            <a:r>
              <a:rPr lang="zh-CN" altLang="en-US" sz="2000" dirty="0" smtClean="0">
                <a:latin typeface="华康俪金黑W8" pitchFamily="49" charset="-122"/>
                <a:ea typeface="华康俪金黑W8" pitchFamily="49" charset="-122"/>
              </a:rPr>
              <a:t> </a:t>
            </a:r>
            <a:r>
              <a:rPr lang="zh-CN" altLang="en-US" sz="2000" dirty="0">
                <a:latin typeface="华康俪金黑W8" pitchFamily="49" charset="-122"/>
                <a:ea typeface="华康俪金黑W8" pitchFamily="49" charset="-122"/>
              </a:rPr>
              <a:t>员</a:t>
            </a:r>
          </a:p>
        </p:txBody>
      </p:sp>
      <p:sp>
        <p:nvSpPr>
          <p:cNvPr id="13" name="矩形 12"/>
          <p:cNvSpPr/>
          <p:nvPr/>
        </p:nvSpPr>
        <p:spPr>
          <a:xfrm>
            <a:off x="679477" y="3912282"/>
            <a:ext cx="4464496" cy="504056"/>
          </a:xfrm>
          <a:prstGeom prst="rect">
            <a:avLst/>
          </a:prstGeom>
          <a:solidFill>
            <a:srgbClr val="2F2715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latin typeface="华康俪金黑W8" pitchFamily="49" charset="-122"/>
                <a:ea typeface="华康俪金黑W8" pitchFamily="49" charset="-122"/>
              </a:rPr>
              <a:t>无形中被其吸引、被说服</a:t>
            </a:r>
            <a:endParaRPr lang="zh-CN" altLang="en-US" sz="2000" dirty="0">
              <a:latin typeface="华康俪金黑W8" pitchFamily="49" charset="-122"/>
              <a:ea typeface="华康俪金黑W8" pitchFamily="49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51520" y="2859782"/>
            <a:ext cx="8420845" cy="72008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152085" y="2571750"/>
            <a:ext cx="1728192" cy="504056"/>
          </a:xfrm>
          <a:prstGeom prst="rect">
            <a:avLst/>
          </a:prstGeom>
          <a:solidFill>
            <a:srgbClr val="2F271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latin typeface="华康俪金黑W8" pitchFamily="49" charset="-122"/>
                <a:ea typeface="华康俪金黑W8" pitchFamily="49" charset="-122"/>
              </a:rPr>
              <a:t>内   行</a:t>
            </a:r>
            <a:endParaRPr lang="zh-CN" altLang="en-US" sz="2000" dirty="0">
              <a:latin typeface="华康俪金黑W8" pitchFamily="49" charset="-122"/>
              <a:ea typeface="华康俪金黑W8" pitchFamily="49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79477" y="2544130"/>
            <a:ext cx="4464496" cy="504056"/>
          </a:xfrm>
          <a:prstGeom prst="rect">
            <a:avLst/>
          </a:prstGeom>
          <a:solidFill>
            <a:srgbClr val="2F2715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latin typeface="华康俪金黑W8" pitchFamily="49" charset="-122"/>
                <a:ea typeface="华康俪金黑W8" pitchFamily="49" charset="-122"/>
              </a:rPr>
              <a:t>积累知识的人，形成知识壁垒</a:t>
            </a:r>
            <a:endParaRPr lang="zh-CN" altLang="en-US" sz="2000" dirty="0">
              <a:latin typeface="华康俪金黑W8" pitchFamily="49" charset="-122"/>
              <a:ea typeface="华康俪金黑W8" pitchFamily="49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95536" y="1707654"/>
            <a:ext cx="8250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“秋叶学堂”</a:t>
            </a:r>
            <a:r>
              <a:rPr lang="zh-CN" altLang="en-US" dirty="0" smtClean="0">
                <a:solidFill>
                  <a:schemeClr val="bg2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dirty="0" smtClean="0">
                <a:solidFill>
                  <a:schemeClr val="bg2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dirty="0" smtClean="0">
                <a:solidFill>
                  <a:schemeClr val="bg2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信息最大的聚集地，你信赖他，他一定也不会辜负你的信赖</a:t>
            </a:r>
            <a:endParaRPr lang="zh-CN" altLang="en-US" dirty="0">
              <a:solidFill>
                <a:schemeClr val="bg2">
                  <a:lumMod val="1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75189" y="3210530"/>
            <a:ext cx="7574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秋大团队</a:t>
            </a:r>
            <a:r>
              <a:rPr lang="en-US" altLang="zh-CN" dirty="0" smtClean="0">
                <a:solidFill>
                  <a:schemeClr val="bg2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—</a:t>
            </a:r>
            <a:r>
              <a:rPr lang="zh-CN" altLang="en-US" dirty="0" smtClean="0">
                <a:solidFill>
                  <a:schemeClr val="bg2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大叔、老秦、巴爷、阿文</a:t>
            </a:r>
            <a:r>
              <a:rPr lang="en-US" altLang="zh-CN" dirty="0" smtClean="0">
                <a:solidFill>
                  <a:schemeClr val="bg2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……</a:t>
            </a:r>
            <a:r>
              <a:rPr lang="zh-CN" altLang="en-US" dirty="0" smtClean="0">
                <a:solidFill>
                  <a:schemeClr val="bg2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专业的、个性的，谁都不可替代</a:t>
            </a:r>
            <a:endParaRPr lang="zh-CN" altLang="en-US" dirty="0">
              <a:solidFill>
                <a:schemeClr val="bg2">
                  <a:lumMod val="1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75189" y="4578682"/>
            <a:ext cx="7327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bg2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你，我，他，我们都加入了“和秋叶一起学</a:t>
            </a:r>
            <a:r>
              <a:rPr lang="en-US" altLang="zh-CN" dirty="0" smtClean="0">
                <a:solidFill>
                  <a:schemeClr val="bg2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dirty="0" smtClean="0">
                <a:solidFill>
                  <a:schemeClr val="bg2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”，但绝对</a:t>
            </a:r>
            <a:r>
              <a:rPr lang="zh-CN" altLang="en-US" b="1" dirty="0" smtClean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物超所值</a:t>
            </a:r>
            <a:endParaRPr lang="zh-CN" altLang="en-US" b="1" dirty="0">
              <a:solidFill>
                <a:srgbClr val="FFC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8530658" y="151468"/>
            <a:ext cx="379100" cy="548074"/>
            <a:chOff x="8530658" y="151468"/>
            <a:chExt cx="379100" cy="548074"/>
          </a:xfrm>
        </p:grpSpPr>
        <p:grpSp>
          <p:nvGrpSpPr>
            <p:cNvPr id="20" name="组合 19"/>
            <p:cNvGrpSpPr/>
            <p:nvPr/>
          </p:nvGrpSpPr>
          <p:grpSpPr>
            <a:xfrm>
              <a:off x="8530658" y="151468"/>
              <a:ext cx="379100" cy="463734"/>
              <a:chOff x="8293265" y="411510"/>
              <a:chExt cx="379100" cy="463734"/>
            </a:xfrm>
          </p:grpSpPr>
          <p:sp>
            <p:nvSpPr>
              <p:cNvPr id="21" name="矩形 20"/>
              <p:cNvSpPr/>
              <p:nvPr/>
            </p:nvSpPr>
            <p:spPr>
              <a:xfrm>
                <a:off x="8293265" y="627534"/>
                <a:ext cx="379100" cy="247710"/>
              </a:xfrm>
              <a:prstGeom prst="rect">
                <a:avLst/>
              </a:prstGeom>
              <a:solidFill>
                <a:srgbClr val="2F2715"/>
              </a:solidFill>
              <a:ln>
                <a:solidFill>
                  <a:srgbClr val="2F271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等腰三角形 21"/>
              <p:cNvSpPr/>
              <p:nvPr/>
            </p:nvSpPr>
            <p:spPr>
              <a:xfrm>
                <a:off x="8293265" y="411510"/>
                <a:ext cx="379100" cy="227705"/>
              </a:xfrm>
              <a:prstGeom prst="triangle">
                <a:avLst/>
              </a:prstGeom>
              <a:solidFill>
                <a:srgbClr val="2F2715"/>
              </a:solidFill>
              <a:ln>
                <a:solidFill>
                  <a:srgbClr val="2F271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" name="TextBox 5"/>
            <p:cNvSpPr txBox="1"/>
            <p:nvPr/>
          </p:nvSpPr>
          <p:spPr>
            <a:xfrm>
              <a:off x="8550720" y="237877"/>
              <a:ext cx="3417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 smtClean="0">
                  <a:solidFill>
                    <a:schemeClr val="bg1"/>
                  </a:solidFill>
                  <a:latin typeface="华康俪金黑W8" pitchFamily="49" charset="-122"/>
                  <a:ea typeface="华康俪金黑W8" pitchFamily="49" charset="-122"/>
                </a:rPr>
                <a:t>1</a:t>
              </a:r>
              <a:endParaRPr lang="zh-CN" altLang="en-US" sz="2400" dirty="0">
                <a:solidFill>
                  <a:schemeClr val="bg1"/>
                </a:solidFill>
                <a:latin typeface="华康俪金黑W8" pitchFamily="49" charset="-122"/>
                <a:ea typeface="华康俪金黑W8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0643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9144000" cy="62753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04775" y="177358"/>
            <a:ext cx="70134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solidFill>
                  <a:srgbClr val="2F2715"/>
                </a:solidFill>
                <a:latin typeface="华康俪金黑W8" pitchFamily="49" charset="-122"/>
                <a:ea typeface="华康俪金黑W8" pitchFamily="49" charset="-122"/>
              </a:rPr>
              <a:t>   从           看</a:t>
            </a:r>
            <a:r>
              <a:rPr lang="zh-CN" altLang="en-US" sz="2400" dirty="0">
                <a:solidFill>
                  <a:srgbClr val="2F2715"/>
                </a:solidFill>
                <a:latin typeface="华康俪金黑W8" pitchFamily="49" charset="-122"/>
                <a:ea typeface="华康俪金黑W8" pitchFamily="49" charset="-122"/>
              </a:rPr>
              <a:t>“</a:t>
            </a:r>
            <a:r>
              <a:rPr lang="zh-CN" altLang="en-US" sz="2400" dirty="0" smtClean="0">
                <a:solidFill>
                  <a:srgbClr val="2F2715"/>
                </a:solidFill>
                <a:latin typeface="华康俪金黑W8" pitchFamily="49" charset="-122"/>
                <a:ea typeface="华康俪金黑W8" pitchFamily="49" charset="-122"/>
              </a:rPr>
              <a:t>和秋叶一起学</a:t>
            </a:r>
            <a:r>
              <a:rPr lang="en-US" altLang="zh-CN" sz="2400" dirty="0" smtClean="0">
                <a:solidFill>
                  <a:srgbClr val="2F2715"/>
                </a:solidFill>
                <a:latin typeface="华康俪金黑W8" pitchFamily="49" charset="-122"/>
                <a:ea typeface="华康俪金黑W8" pitchFamily="49" charset="-122"/>
              </a:rPr>
              <a:t>PPT</a:t>
            </a:r>
            <a:r>
              <a:rPr lang="zh-CN" altLang="en-US" sz="2400" dirty="0" smtClean="0">
                <a:solidFill>
                  <a:srgbClr val="2F2715"/>
                </a:solidFill>
                <a:latin typeface="华康俪金黑W8" pitchFamily="49" charset="-122"/>
                <a:ea typeface="华康俪金黑W8" pitchFamily="49" charset="-122"/>
              </a:rPr>
              <a:t>”的成功</a:t>
            </a:r>
            <a:endParaRPr lang="zh-CN" altLang="en-US" sz="2400" dirty="0">
              <a:solidFill>
                <a:srgbClr val="2F2715"/>
              </a:solidFill>
              <a:latin typeface="华康俪金黑W8" pitchFamily="49" charset="-122"/>
              <a:ea typeface="华康俪金黑W8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15616" y="201969"/>
            <a:ext cx="1604903" cy="412442"/>
          </a:xfrm>
          <a:prstGeom prst="rect">
            <a:avLst/>
          </a:prstGeom>
          <a:solidFill>
            <a:srgbClr val="2F27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rgbClr val="FFC000"/>
                </a:solidFill>
                <a:latin typeface="华康俪金黑W8" pitchFamily="49" charset="-122"/>
                <a:ea typeface="华康俪金黑W8" pitchFamily="49" charset="-122"/>
              </a:rPr>
              <a:t>附着力因素</a:t>
            </a:r>
            <a:endParaRPr lang="zh-CN" altLang="en-US" sz="2000" dirty="0">
              <a:solidFill>
                <a:srgbClr val="FFC000"/>
              </a:solidFill>
              <a:latin typeface="华康俪金黑W8" pitchFamily="49" charset="-122"/>
              <a:ea typeface="华康俪金黑W8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61577" y="987574"/>
            <a:ext cx="8420845" cy="374441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115616" y="1218632"/>
            <a:ext cx="3377572" cy="504056"/>
          </a:xfrm>
          <a:custGeom>
            <a:avLst/>
            <a:gdLst>
              <a:gd name="connsiteX0" fmla="*/ 0 w 2852790"/>
              <a:gd name="connsiteY0" fmla="*/ 0 h 504056"/>
              <a:gd name="connsiteX1" fmla="*/ 2852790 w 2852790"/>
              <a:gd name="connsiteY1" fmla="*/ 0 h 504056"/>
              <a:gd name="connsiteX2" fmla="*/ 2852790 w 2852790"/>
              <a:gd name="connsiteY2" fmla="*/ 504056 h 504056"/>
              <a:gd name="connsiteX3" fmla="*/ 0 w 2852790"/>
              <a:gd name="connsiteY3" fmla="*/ 504056 h 504056"/>
              <a:gd name="connsiteX4" fmla="*/ 0 w 2852790"/>
              <a:gd name="connsiteY4" fmla="*/ 0 h 504056"/>
              <a:gd name="connsiteX0" fmla="*/ 0 w 2852790"/>
              <a:gd name="connsiteY0" fmla="*/ 0 h 504056"/>
              <a:gd name="connsiteX1" fmla="*/ 2605364 w 2852790"/>
              <a:gd name="connsiteY1" fmla="*/ 10757 h 504056"/>
              <a:gd name="connsiteX2" fmla="*/ 2852790 w 2852790"/>
              <a:gd name="connsiteY2" fmla="*/ 504056 h 504056"/>
              <a:gd name="connsiteX3" fmla="*/ 0 w 2852790"/>
              <a:gd name="connsiteY3" fmla="*/ 504056 h 504056"/>
              <a:gd name="connsiteX4" fmla="*/ 0 w 2852790"/>
              <a:gd name="connsiteY4" fmla="*/ 0 h 504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2790" h="504056">
                <a:moveTo>
                  <a:pt x="0" y="0"/>
                </a:moveTo>
                <a:lnTo>
                  <a:pt x="2605364" y="10757"/>
                </a:lnTo>
                <a:lnTo>
                  <a:pt x="2852790" y="504056"/>
                </a:lnTo>
                <a:lnTo>
                  <a:pt x="0" y="504056"/>
                </a:lnTo>
                <a:lnTo>
                  <a:pt x="0" y="0"/>
                </a:lnTo>
                <a:close/>
              </a:path>
            </a:pathLst>
          </a:custGeom>
          <a:solidFill>
            <a:srgbClr val="2F27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华康俪金黑W8" pitchFamily="49" charset="-122"/>
              <a:ea typeface="华康俪金黑W8" pitchFamily="49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8530658" y="151468"/>
            <a:ext cx="379100" cy="548074"/>
            <a:chOff x="8530658" y="151468"/>
            <a:chExt cx="379100" cy="548074"/>
          </a:xfrm>
        </p:grpSpPr>
        <p:grpSp>
          <p:nvGrpSpPr>
            <p:cNvPr id="18" name="组合 17"/>
            <p:cNvGrpSpPr/>
            <p:nvPr/>
          </p:nvGrpSpPr>
          <p:grpSpPr>
            <a:xfrm>
              <a:off x="8530658" y="151468"/>
              <a:ext cx="379100" cy="463734"/>
              <a:chOff x="8293265" y="411510"/>
              <a:chExt cx="379100" cy="463734"/>
            </a:xfrm>
          </p:grpSpPr>
          <p:sp>
            <p:nvSpPr>
              <p:cNvPr id="20" name="矩形 19"/>
              <p:cNvSpPr/>
              <p:nvPr/>
            </p:nvSpPr>
            <p:spPr>
              <a:xfrm>
                <a:off x="8293265" y="627534"/>
                <a:ext cx="379100" cy="247710"/>
              </a:xfrm>
              <a:prstGeom prst="rect">
                <a:avLst/>
              </a:prstGeom>
              <a:solidFill>
                <a:srgbClr val="2F2715"/>
              </a:solidFill>
              <a:ln>
                <a:solidFill>
                  <a:srgbClr val="2F271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等腰三角形 20"/>
              <p:cNvSpPr/>
              <p:nvPr/>
            </p:nvSpPr>
            <p:spPr>
              <a:xfrm>
                <a:off x="8293265" y="411510"/>
                <a:ext cx="379100" cy="227705"/>
              </a:xfrm>
              <a:prstGeom prst="triangle">
                <a:avLst/>
              </a:prstGeom>
              <a:solidFill>
                <a:srgbClr val="2F2715"/>
              </a:solidFill>
              <a:ln>
                <a:solidFill>
                  <a:srgbClr val="2F271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9" name="TextBox 18"/>
            <p:cNvSpPr txBox="1"/>
            <p:nvPr/>
          </p:nvSpPr>
          <p:spPr>
            <a:xfrm>
              <a:off x="8550720" y="237877"/>
              <a:ext cx="3417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华康俪金黑W8" pitchFamily="49" charset="-122"/>
                  <a:ea typeface="华康俪金黑W8" pitchFamily="49" charset="-122"/>
                </a:rPr>
                <a:t>2</a:t>
              </a:r>
              <a:endParaRPr lang="zh-CN" altLang="en-US" sz="2400" dirty="0">
                <a:solidFill>
                  <a:schemeClr val="bg1"/>
                </a:solidFill>
                <a:latin typeface="华康俪金黑W8" pitchFamily="49" charset="-122"/>
                <a:ea typeface="华康俪金黑W8" pitchFamily="49" charset="-122"/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>
            <a:off x="1475656" y="1271808"/>
            <a:ext cx="27494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华康俪金黑W8" pitchFamily="49" charset="-122"/>
                <a:ea typeface="华康俪金黑W8" pitchFamily="49" charset="-122"/>
              </a:rPr>
              <a:t>内容吸附</a:t>
            </a:r>
            <a:r>
              <a:rPr lang="zh-CN" altLang="en-US" sz="2000" dirty="0" smtClean="0">
                <a:solidFill>
                  <a:schemeClr val="bg1"/>
                </a:solidFill>
                <a:latin typeface="华康俪金黑W8" pitchFamily="49" charset="-122"/>
                <a:ea typeface="华康俪金黑W8" pitchFamily="49" charset="-122"/>
              </a:rPr>
              <a:t>性</a:t>
            </a:r>
            <a:r>
              <a:rPr lang="en-US" altLang="zh-CN" sz="2000" dirty="0">
                <a:solidFill>
                  <a:schemeClr val="bg1"/>
                </a:solidFill>
                <a:latin typeface="华康俪金黑W8" pitchFamily="49" charset="-122"/>
                <a:ea typeface="华康俪金黑W8" pitchFamily="49" charset="-122"/>
              </a:rPr>
              <a:t>——</a:t>
            </a:r>
            <a:r>
              <a:rPr lang="zh-CN" altLang="en-US" sz="2000" dirty="0" smtClean="0">
                <a:solidFill>
                  <a:schemeClr val="bg1"/>
                </a:solidFill>
                <a:latin typeface="华康俪金黑W8" pitchFamily="49" charset="-122"/>
                <a:ea typeface="华康俪金黑W8" pitchFamily="49" charset="-122"/>
              </a:rPr>
              <a:t>附着力</a:t>
            </a:r>
            <a:endParaRPr lang="zh-CN" altLang="en-US" sz="2000" dirty="0">
              <a:solidFill>
                <a:schemeClr val="bg1"/>
              </a:solidFill>
              <a:latin typeface="华康俪金黑W8" pitchFamily="49" charset="-122"/>
              <a:ea typeface="华康俪金黑W8" pitchFamily="49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58054" y="1995685"/>
            <a:ext cx="37032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u"/>
            </a:pP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书籍：秋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叶系列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专业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书</a:t>
            </a:r>
            <a:endParaRPr lang="en-US" altLang="zh-CN" b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                  不同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于一般教材书的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“教材书”</a:t>
            </a:r>
            <a:endParaRPr lang="en-US" altLang="zh-CN" sz="1400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889636" y="2692444"/>
            <a:ext cx="66406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u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网易云课堂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：和秋叶一起学</a:t>
            </a: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PPT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         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定位</a:t>
            </a:r>
            <a:r>
              <a:rPr lang="zh-CN" altLang="en-US" sz="1400" b="1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“小白学员”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的系统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学习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2500868" y="3450760"/>
            <a:ext cx="6323870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u"/>
            </a:pP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QQ</a:t>
            </a: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群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：和秋叶一起学</a:t>
            </a: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PPT1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群</a:t>
            </a:r>
            <a:endParaRPr lang="en-US" altLang="zh-CN" b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                答疑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分享，完美的</a:t>
            </a:r>
            <a:r>
              <a:rPr lang="zh-CN" altLang="en-US" sz="1400" b="1" dirty="0" smtClean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“售后服务”</a:t>
            </a:r>
            <a:endParaRPr lang="en-US" altLang="zh-CN" sz="1400" b="1" dirty="0" smtClean="0">
              <a:solidFill>
                <a:srgbClr val="FFC000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en-US" altLang="zh-CN" sz="14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               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服务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学员，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让利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学员，达成“</a:t>
            </a:r>
            <a:r>
              <a:rPr lang="zh-CN" altLang="en-US" sz="1400" b="1" dirty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共赢</a:t>
            </a:r>
            <a:r>
              <a:rPr lang="zh-CN" altLang="en-US" sz="1400" dirty="0">
                <a:latin typeface="微软雅黑" pitchFamily="34" charset="-122"/>
                <a:ea typeface="微软雅黑" pitchFamily="34" charset="-122"/>
              </a:rPr>
              <a:t>”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1808242" y="4484154"/>
            <a:ext cx="5527516" cy="432048"/>
            <a:chOff x="1564764" y="4484154"/>
            <a:chExt cx="5527516" cy="432048"/>
          </a:xfrm>
        </p:grpSpPr>
        <p:sp>
          <p:nvSpPr>
            <p:cNvPr id="25" name="圆角矩形 24"/>
            <p:cNvSpPr/>
            <p:nvPr/>
          </p:nvSpPr>
          <p:spPr>
            <a:xfrm>
              <a:off x="1564764" y="4484154"/>
              <a:ext cx="936104" cy="432048"/>
            </a:xfrm>
            <a:prstGeom prst="roundRect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 smtClean="0">
                  <a:solidFill>
                    <a:schemeClr val="bg2">
                      <a:lumMod val="1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参与性</a:t>
              </a:r>
              <a:endParaRPr lang="zh-CN" altLang="en-US" sz="1600" b="1" dirty="0">
                <a:solidFill>
                  <a:schemeClr val="bg2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圆角矩形 26"/>
            <p:cNvSpPr/>
            <p:nvPr/>
          </p:nvSpPr>
          <p:spPr>
            <a:xfrm>
              <a:off x="3095235" y="4484154"/>
              <a:ext cx="936104" cy="432048"/>
            </a:xfrm>
            <a:prstGeom prst="roundRect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2">
                      <a:lumMod val="1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高效</a:t>
              </a:r>
              <a:r>
                <a:rPr lang="zh-CN" altLang="en-US" sz="1600" b="1" dirty="0" smtClean="0">
                  <a:solidFill>
                    <a:schemeClr val="bg2">
                      <a:lumMod val="1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性</a:t>
              </a:r>
              <a:endParaRPr lang="zh-CN" altLang="en-US" sz="1600" b="1" dirty="0">
                <a:solidFill>
                  <a:schemeClr val="bg2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8" name="圆角矩形 27"/>
            <p:cNvSpPr/>
            <p:nvPr/>
          </p:nvSpPr>
          <p:spPr>
            <a:xfrm>
              <a:off x="4625706" y="4484154"/>
              <a:ext cx="936104" cy="432048"/>
            </a:xfrm>
            <a:prstGeom prst="roundRect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2">
                      <a:lumMod val="1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互动</a:t>
              </a:r>
              <a:r>
                <a:rPr lang="zh-CN" altLang="en-US" sz="1600" b="1" dirty="0" smtClean="0">
                  <a:solidFill>
                    <a:schemeClr val="bg2">
                      <a:lumMod val="1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性</a:t>
              </a:r>
              <a:endParaRPr lang="zh-CN" altLang="en-US" sz="1600" b="1" dirty="0">
                <a:solidFill>
                  <a:schemeClr val="bg2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9" name="圆角矩形 28"/>
            <p:cNvSpPr/>
            <p:nvPr/>
          </p:nvSpPr>
          <p:spPr>
            <a:xfrm>
              <a:off x="6156176" y="4484154"/>
              <a:ext cx="936104" cy="432048"/>
            </a:xfrm>
            <a:prstGeom prst="roundRect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bg2">
                      <a:lumMod val="1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趣味</a:t>
              </a:r>
              <a:r>
                <a:rPr lang="zh-CN" altLang="en-US" sz="1600" b="1" dirty="0" smtClean="0">
                  <a:solidFill>
                    <a:schemeClr val="bg2">
                      <a:lumMod val="10000"/>
                    </a:schemeClr>
                  </a:solidFill>
                  <a:latin typeface="微软雅黑" pitchFamily="34" charset="-122"/>
                  <a:ea typeface="微软雅黑" pitchFamily="34" charset="-122"/>
                </a:rPr>
                <a:t>性</a:t>
              </a:r>
              <a:endParaRPr lang="zh-CN" altLang="en-US" sz="1600" b="1" dirty="0">
                <a:solidFill>
                  <a:schemeClr val="bg2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8181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9144000" cy="62753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04775" y="177358"/>
            <a:ext cx="70134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solidFill>
                  <a:srgbClr val="2F2715"/>
                </a:solidFill>
                <a:latin typeface="华康俪金黑W8" pitchFamily="49" charset="-122"/>
                <a:ea typeface="华康俪金黑W8" pitchFamily="49" charset="-122"/>
              </a:rPr>
              <a:t>   从           看</a:t>
            </a:r>
            <a:r>
              <a:rPr lang="zh-CN" altLang="en-US" sz="2400" dirty="0">
                <a:solidFill>
                  <a:srgbClr val="2F2715"/>
                </a:solidFill>
                <a:latin typeface="华康俪金黑W8" pitchFamily="49" charset="-122"/>
                <a:ea typeface="华康俪金黑W8" pitchFamily="49" charset="-122"/>
              </a:rPr>
              <a:t>“</a:t>
            </a:r>
            <a:r>
              <a:rPr lang="zh-CN" altLang="en-US" sz="2400" dirty="0" smtClean="0">
                <a:solidFill>
                  <a:srgbClr val="2F2715"/>
                </a:solidFill>
                <a:latin typeface="华康俪金黑W8" pitchFamily="49" charset="-122"/>
                <a:ea typeface="华康俪金黑W8" pitchFamily="49" charset="-122"/>
              </a:rPr>
              <a:t>和秋叶一起学</a:t>
            </a:r>
            <a:r>
              <a:rPr lang="en-US" altLang="zh-CN" sz="2400" dirty="0" smtClean="0">
                <a:solidFill>
                  <a:srgbClr val="2F2715"/>
                </a:solidFill>
                <a:latin typeface="华康俪金黑W8" pitchFamily="49" charset="-122"/>
                <a:ea typeface="华康俪金黑W8" pitchFamily="49" charset="-122"/>
              </a:rPr>
              <a:t>PPT</a:t>
            </a:r>
            <a:r>
              <a:rPr lang="zh-CN" altLang="en-US" sz="2400" dirty="0" smtClean="0">
                <a:solidFill>
                  <a:srgbClr val="2F2715"/>
                </a:solidFill>
                <a:latin typeface="华康俪金黑W8" pitchFamily="49" charset="-122"/>
                <a:ea typeface="华康俪金黑W8" pitchFamily="49" charset="-122"/>
              </a:rPr>
              <a:t>”的成功</a:t>
            </a:r>
            <a:endParaRPr lang="zh-CN" altLang="en-US" sz="2400" dirty="0">
              <a:solidFill>
                <a:srgbClr val="2F2715"/>
              </a:solidFill>
              <a:latin typeface="华康俪金黑W8" pitchFamily="49" charset="-122"/>
              <a:ea typeface="华康俪金黑W8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15616" y="201969"/>
            <a:ext cx="1604903" cy="412442"/>
          </a:xfrm>
          <a:prstGeom prst="rect">
            <a:avLst/>
          </a:prstGeom>
          <a:solidFill>
            <a:srgbClr val="2F27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rgbClr val="FFC000"/>
                </a:solidFill>
                <a:latin typeface="华康俪金黑W8" pitchFamily="49" charset="-122"/>
                <a:ea typeface="华康俪金黑W8" pitchFamily="49" charset="-122"/>
              </a:rPr>
              <a:t>附着力因素</a:t>
            </a:r>
            <a:endParaRPr lang="zh-CN" altLang="en-US" sz="2000" dirty="0">
              <a:solidFill>
                <a:srgbClr val="FFC000"/>
              </a:solidFill>
              <a:latin typeface="华康俪金黑W8" pitchFamily="49" charset="-122"/>
              <a:ea typeface="华康俪金黑W8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61577" y="987574"/>
            <a:ext cx="8420845" cy="374441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8530658" y="151468"/>
            <a:ext cx="379100" cy="548074"/>
            <a:chOff x="8530658" y="151468"/>
            <a:chExt cx="379100" cy="548074"/>
          </a:xfrm>
        </p:grpSpPr>
        <p:grpSp>
          <p:nvGrpSpPr>
            <p:cNvPr id="18" name="组合 17"/>
            <p:cNvGrpSpPr/>
            <p:nvPr/>
          </p:nvGrpSpPr>
          <p:grpSpPr>
            <a:xfrm>
              <a:off x="8530658" y="151468"/>
              <a:ext cx="379100" cy="463734"/>
              <a:chOff x="8293265" y="411510"/>
              <a:chExt cx="379100" cy="463734"/>
            </a:xfrm>
          </p:grpSpPr>
          <p:sp>
            <p:nvSpPr>
              <p:cNvPr id="20" name="矩形 19"/>
              <p:cNvSpPr/>
              <p:nvPr/>
            </p:nvSpPr>
            <p:spPr>
              <a:xfrm>
                <a:off x="8293265" y="627534"/>
                <a:ext cx="379100" cy="247710"/>
              </a:xfrm>
              <a:prstGeom prst="rect">
                <a:avLst/>
              </a:prstGeom>
              <a:solidFill>
                <a:srgbClr val="2F2715"/>
              </a:solidFill>
              <a:ln>
                <a:solidFill>
                  <a:srgbClr val="2F271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等腰三角形 20"/>
              <p:cNvSpPr/>
              <p:nvPr/>
            </p:nvSpPr>
            <p:spPr>
              <a:xfrm>
                <a:off x="8293265" y="411510"/>
                <a:ext cx="379100" cy="227705"/>
              </a:xfrm>
              <a:prstGeom prst="triangle">
                <a:avLst/>
              </a:prstGeom>
              <a:solidFill>
                <a:srgbClr val="2F2715"/>
              </a:solidFill>
              <a:ln>
                <a:solidFill>
                  <a:srgbClr val="2F271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9" name="TextBox 18"/>
            <p:cNvSpPr txBox="1"/>
            <p:nvPr/>
          </p:nvSpPr>
          <p:spPr>
            <a:xfrm>
              <a:off x="8550720" y="237877"/>
              <a:ext cx="3417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chemeClr val="bg1"/>
                  </a:solidFill>
                  <a:latin typeface="华康俪金黑W8" pitchFamily="49" charset="-122"/>
                  <a:ea typeface="华康俪金黑W8" pitchFamily="49" charset="-122"/>
                </a:rPr>
                <a:t>2</a:t>
              </a:r>
              <a:endParaRPr lang="zh-CN" altLang="en-US" sz="2400" dirty="0">
                <a:solidFill>
                  <a:schemeClr val="bg1"/>
                </a:solidFill>
                <a:latin typeface="华康俪金黑W8" pitchFamily="49" charset="-122"/>
                <a:ea typeface="华康俪金黑W8" pitchFamily="49" charset="-122"/>
              </a:endParaRPr>
            </a:p>
          </p:txBody>
        </p:sp>
      </p:grpSp>
      <p:sp>
        <p:nvSpPr>
          <p:cNvPr id="23" name="矩形 6"/>
          <p:cNvSpPr/>
          <p:nvPr/>
        </p:nvSpPr>
        <p:spPr>
          <a:xfrm flipH="1" flipV="1">
            <a:off x="4578804" y="1202827"/>
            <a:ext cx="3377572" cy="504056"/>
          </a:xfrm>
          <a:custGeom>
            <a:avLst/>
            <a:gdLst>
              <a:gd name="connsiteX0" fmla="*/ 0 w 2852790"/>
              <a:gd name="connsiteY0" fmla="*/ 0 h 504056"/>
              <a:gd name="connsiteX1" fmla="*/ 2852790 w 2852790"/>
              <a:gd name="connsiteY1" fmla="*/ 0 h 504056"/>
              <a:gd name="connsiteX2" fmla="*/ 2852790 w 2852790"/>
              <a:gd name="connsiteY2" fmla="*/ 504056 h 504056"/>
              <a:gd name="connsiteX3" fmla="*/ 0 w 2852790"/>
              <a:gd name="connsiteY3" fmla="*/ 504056 h 504056"/>
              <a:gd name="connsiteX4" fmla="*/ 0 w 2852790"/>
              <a:gd name="connsiteY4" fmla="*/ 0 h 504056"/>
              <a:gd name="connsiteX0" fmla="*/ 0 w 2852790"/>
              <a:gd name="connsiteY0" fmla="*/ 0 h 504056"/>
              <a:gd name="connsiteX1" fmla="*/ 2605364 w 2852790"/>
              <a:gd name="connsiteY1" fmla="*/ 10757 h 504056"/>
              <a:gd name="connsiteX2" fmla="*/ 2852790 w 2852790"/>
              <a:gd name="connsiteY2" fmla="*/ 504056 h 504056"/>
              <a:gd name="connsiteX3" fmla="*/ 0 w 2852790"/>
              <a:gd name="connsiteY3" fmla="*/ 504056 h 504056"/>
              <a:gd name="connsiteX4" fmla="*/ 0 w 2852790"/>
              <a:gd name="connsiteY4" fmla="*/ 0 h 504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2790" h="504056">
                <a:moveTo>
                  <a:pt x="0" y="0"/>
                </a:moveTo>
                <a:lnTo>
                  <a:pt x="2605364" y="10757"/>
                </a:lnTo>
                <a:lnTo>
                  <a:pt x="2852790" y="504056"/>
                </a:lnTo>
                <a:lnTo>
                  <a:pt x="0" y="504056"/>
                </a:lnTo>
                <a:lnTo>
                  <a:pt x="0" y="0"/>
                </a:lnTo>
                <a:close/>
              </a:path>
            </a:pathLst>
          </a:custGeom>
          <a:solidFill>
            <a:srgbClr val="2F27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dirty="0">
              <a:latin typeface="华康俪金黑W8" pitchFamily="49" charset="-122"/>
              <a:ea typeface="华康俪金黑W8" pitchFamily="49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984135" y="1254800"/>
            <a:ext cx="27494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华康俪金黑W8" pitchFamily="49" charset="-122"/>
                <a:ea typeface="华康俪金黑W8" pitchFamily="49" charset="-122"/>
              </a:rPr>
              <a:t>内容吸附</a:t>
            </a:r>
            <a:r>
              <a:rPr lang="zh-CN" altLang="en-US" sz="2000" dirty="0" smtClean="0">
                <a:solidFill>
                  <a:schemeClr val="bg1"/>
                </a:solidFill>
                <a:latin typeface="华康俪金黑W8" pitchFamily="49" charset="-122"/>
                <a:ea typeface="华康俪金黑W8" pitchFamily="49" charset="-122"/>
              </a:rPr>
              <a:t>性</a:t>
            </a:r>
            <a:r>
              <a:rPr lang="en-US" altLang="zh-CN" sz="2000" dirty="0">
                <a:solidFill>
                  <a:schemeClr val="bg1"/>
                </a:solidFill>
                <a:latin typeface="华康俪金黑W8" pitchFamily="49" charset="-122"/>
                <a:ea typeface="华康俪金黑W8" pitchFamily="49" charset="-122"/>
              </a:rPr>
              <a:t>——</a:t>
            </a:r>
            <a:r>
              <a:rPr lang="zh-CN" altLang="en-US" sz="2000" dirty="0" smtClean="0">
                <a:solidFill>
                  <a:schemeClr val="bg1"/>
                </a:solidFill>
                <a:latin typeface="华康俪金黑W8" pitchFamily="49" charset="-122"/>
                <a:ea typeface="华康俪金黑W8" pitchFamily="49" charset="-122"/>
              </a:rPr>
              <a:t>附着力</a:t>
            </a:r>
            <a:endParaRPr lang="zh-CN" altLang="en-US" sz="2000" dirty="0">
              <a:solidFill>
                <a:schemeClr val="bg1"/>
              </a:solidFill>
              <a:latin typeface="华康俪金黑W8" pitchFamily="49" charset="-122"/>
              <a:ea typeface="华康俪金黑W8" pitchFamily="49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2110001" y="4484154"/>
            <a:ext cx="4923998" cy="432048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 smtClean="0">
                <a:solidFill>
                  <a:schemeClr val="bg2">
                    <a:lumMod val="10000"/>
                  </a:schemeClr>
                </a:solidFill>
                <a:latin typeface="微软雅黑" pitchFamily="34" charset="-122"/>
                <a:ea typeface="微软雅黑" pitchFamily="34" charset="-122"/>
              </a:rPr>
              <a:t>连产品都做不好，谈什么互联网思维。笨蛋！！！</a:t>
            </a:r>
            <a:endParaRPr lang="zh-CN" altLang="en-US" sz="1600" b="1" dirty="0">
              <a:solidFill>
                <a:schemeClr val="bg2">
                  <a:lumMod val="1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064525" y="2739747"/>
            <a:ext cx="43845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l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微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博：事件营销、</a:t>
            </a: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大赛、分享互动</a:t>
            </a:r>
            <a:endParaRPr lang="en-US" altLang="zh-CN" b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                  形成</a:t>
            </a:r>
            <a:r>
              <a:rPr lang="zh-CN" altLang="en-US" sz="1400" b="1" dirty="0" smtClean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学习</a:t>
            </a:r>
            <a:r>
              <a:rPr lang="en-US" altLang="zh-CN" sz="1400" b="1" dirty="0" smtClean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1400" b="1" dirty="0" smtClean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传播</a:t>
            </a:r>
            <a:r>
              <a:rPr lang="en-US" altLang="zh-CN" sz="1400" b="1" dirty="0" smtClean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1400" b="1" dirty="0" smtClean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学习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闭环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283968" y="1971639"/>
            <a:ext cx="34804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l"/>
            </a:pPr>
            <a:r>
              <a:rPr lang="zh-CN" altLang="en-US" b="1" dirty="0">
                <a:latin typeface="微软雅黑" pitchFamily="34" charset="-122"/>
                <a:ea typeface="微软雅黑" pitchFamily="34" charset="-122"/>
              </a:rPr>
              <a:t>微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信：秋叶</a:t>
            </a: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PPT—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碎片化学习</a:t>
            </a:r>
            <a:endParaRPr lang="en-US" altLang="zh-CN" b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                  </a:t>
            </a:r>
            <a:r>
              <a:rPr lang="zh-CN" altLang="en-US" sz="1400" b="1" dirty="0" smtClean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简单易懂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，内容丰富</a:t>
            </a:r>
            <a:r>
              <a:rPr lang="zh-CN" altLang="en-US" sz="1400" b="1" dirty="0" smtClean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有趣</a:t>
            </a:r>
            <a:endParaRPr lang="zh-CN" altLang="en-US" sz="1400" b="1" dirty="0">
              <a:solidFill>
                <a:srgbClr val="FFC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681486" y="3507854"/>
            <a:ext cx="40719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l"/>
            </a:pP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三分钟教程</a:t>
            </a:r>
            <a:r>
              <a:rPr lang="en-US" altLang="zh-CN" b="1" dirty="0" smtClean="0">
                <a:latin typeface="微软雅黑" pitchFamily="34" charset="-122"/>
                <a:ea typeface="微软雅黑" pitchFamily="34" charset="-122"/>
              </a:rPr>
              <a:t>》</a:t>
            </a:r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电子书：</a:t>
            </a:r>
            <a:endParaRPr lang="en-US" altLang="zh-CN" b="1" dirty="0" smtClean="0"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        简单、方便、</a:t>
            </a:r>
            <a:r>
              <a:rPr lang="zh-CN" altLang="en-US" sz="1400" b="1" dirty="0" smtClean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高效，</a:t>
            </a: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一切都为了更好的发展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571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圆角矩形 34"/>
          <p:cNvSpPr/>
          <p:nvPr/>
        </p:nvSpPr>
        <p:spPr>
          <a:xfrm>
            <a:off x="-36512" y="1203598"/>
            <a:ext cx="9166152" cy="3058861"/>
          </a:xfrm>
          <a:prstGeom prst="roundRect">
            <a:avLst>
              <a:gd name="adj" fmla="val 9599"/>
            </a:avLst>
          </a:prstGeom>
          <a:solidFill>
            <a:schemeClr val="bg1">
              <a:lumMod val="85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0" y="0"/>
            <a:ext cx="9144000" cy="62753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02568" y="180031"/>
            <a:ext cx="71705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solidFill>
                  <a:srgbClr val="2F2715"/>
                </a:solidFill>
                <a:latin typeface="华康俪金黑W8" pitchFamily="49" charset="-122"/>
                <a:ea typeface="华康俪金黑W8" pitchFamily="49" charset="-122"/>
              </a:rPr>
              <a:t>   从             看</a:t>
            </a:r>
            <a:r>
              <a:rPr lang="zh-CN" altLang="en-US" sz="2400" dirty="0">
                <a:solidFill>
                  <a:srgbClr val="2F2715"/>
                </a:solidFill>
                <a:latin typeface="华康俪金黑W8" pitchFamily="49" charset="-122"/>
                <a:ea typeface="华康俪金黑W8" pitchFamily="49" charset="-122"/>
              </a:rPr>
              <a:t>“</a:t>
            </a:r>
            <a:r>
              <a:rPr lang="zh-CN" altLang="en-US" sz="2400" dirty="0" smtClean="0">
                <a:solidFill>
                  <a:srgbClr val="2F2715"/>
                </a:solidFill>
                <a:latin typeface="华康俪金黑W8" pitchFamily="49" charset="-122"/>
                <a:ea typeface="华康俪金黑W8" pitchFamily="49" charset="-122"/>
              </a:rPr>
              <a:t>和秋叶一起学</a:t>
            </a:r>
            <a:r>
              <a:rPr lang="en-US" altLang="zh-CN" sz="2400" dirty="0" smtClean="0">
                <a:solidFill>
                  <a:srgbClr val="2F2715"/>
                </a:solidFill>
                <a:latin typeface="华康俪金黑W8" pitchFamily="49" charset="-122"/>
                <a:ea typeface="华康俪金黑W8" pitchFamily="49" charset="-122"/>
              </a:rPr>
              <a:t>PPT</a:t>
            </a:r>
            <a:r>
              <a:rPr lang="zh-CN" altLang="en-US" sz="2400" dirty="0" smtClean="0">
                <a:solidFill>
                  <a:srgbClr val="2F2715"/>
                </a:solidFill>
                <a:latin typeface="华康俪金黑W8" pitchFamily="49" charset="-122"/>
                <a:ea typeface="华康俪金黑W8" pitchFamily="49" charset="-122"/>
              </a:rPr>
              <a:t>”的成功</a:t>
            </a:r>
            <a:endParaRPr lang="zh-CN" altLang="en-US" sz="2400" dirty="0">
              <a:solidFill>
                <a:srgbClr val="2F2715"/>
              </a:solidFill>
              <a:latin typeface="华康俪金黑W8" pitchFamily="49" charset="-122"/>
              <a:ea typeface="华康俪金黑W8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59632" y="201969"/>
            <a:ext cx="1872208" cy="412442"/>
          </a:xfrm>
          <a:prstGeom prst="rect">
            <a:avLst/>
          </a:prstGeom>
          <a:solidFill>
            <a:srgbClr val="2F27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rgbClr val="FFC000"/>
                </a:solidFill>
                <a:latin typeface="华康俪金黑W8" pitchFamily="49" charset="-122"/>
                <a:ea typeface="华康俪金黑W8" pitchFamily="49" charset="-122"/>
              </a:rPr>
              <a:t>环境威力法则</a:t>
            </a:r>
            <a:endParaRPr lang="zh-CN" altLang="en-US" sz="2000" dirty="0">
              <a:solidFill>
                <a:srgbClr val="FFC000"/>
              </a:solidFill>
              <a:latin typeface="华康俪金黑W8" pitchFamily="49" charset="-122"/>
              <a:ea typeface="华康俪金黑W8" pitchFamily="49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8530658" y="151468"/>
            <a:ext cx="379100" cy="548074"/>
            <a:chOff x="8530658" y="151468"/>
            <a:chExt cx="379100" cy="548074"/>
          </a:xfrm>
        </p:grpSpPr>
        <p:grpSp>
          <p:nvGrpSpPr>
            <p:cNvPr id="31" name="组合 30"/>
            <p:cNvGrpSpPr/>
            <p:nvPr/>
          </p:nvGrpSpPr>
          <p:grpSpPr>
            <a:xfrm>
              <a:off x="8530658" y="151468"/>
              <a:ext cx="379100" cy="463734"/>
              <a:chOff x="8293265" y="411510"/>
              <a:chExt cx="379100" cy="463734"/>
            </a:xfrm>
          </p:grpSpPr>
          <p:sp>
            <p:nvSpPr>
              <p:cNvPr id="33" name="矩形 32"/>
              <p:cNvSpPr/>
              <p:nvPr/>
            </p:nvSpPr>
            <p:spPr>
              <a:xfrm>
                <a:off x="8293265" y="627534"/>
                <a:ext cx="379100" cy="247710"/>
              </a:xfrm>
              <a:prstGeom prst="rect">
                <a:avLst/>
              </a:prstGeom>
              <a:solidFill>
                <a:srgbClr val="2F2715"/>
              </a:solidFill>
              <a:ln>
                <a:solidFill>
                  <a:srgbClr val="2F271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等腰三角形 33"/>
              <p:cNvSpPr/>
              <p:nvPr/>
            </p:nvSpPr>
            <p:spPr>
              <a:xfrm>
                <a:off x="8293265" y="411510"/>
                <a:ext cx="379100" cy="227705"/>
              </a:xfrm>
              <a:prstGeom prst="triangle">
                <a:avLst/>
              </a:prstGeom>
              <a:solidFill>
                <a:srgbClr val="2F2715"/>
              </a:solidFill>
              <a:ln>
                <a:solidFill>
                  <a:srgbClr val="2F271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2" name="TextBox 31"/>
            <p:cNvSpPr txBox="1"/>
            <p:nvPr/>
          </p:nvSpPr>
          <p:spPr>
            <a:xfrm>
              <a:off x="8550720" y="237877"/>
              <a:ext cx="3417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 smtClean="0">
                  <a:solidFill>
                    <a:schemeClr val="bg1"/>
                  </a:solidFill>
                  <a:latin typeface="华康俪金黑W8" pitchFamily="49" charset="-122"/>
                  <a:ea typeface="华康俪金黑W8" pitchFamily="49" charset="-122"/>
                </a:rPr>
                <a:t>3</a:t>
              </a:r>
              <a:endParaRPr lang="zh-CN" altLang="en-US" sz="2400" dirty="0">
                <a:solidFill>
                  <a:schemeClr val="bg1"/>
                </a:solidFill>
                <a:latin typeface="华康俪金黑W8" pitchFamily="49" charset="-122"/>
                <a:ea typeface="华康俪金黑W8" pitchFamily="49" charset="-122"/>
              </a:endParaRP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1619125" y="197478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项目汇报</a:t>
            </a:r>
            <a:endParaRPr lang="zh-CN" altLang="en-US" dirty="0">
              <a:solidFill>
                <a:schemeClr val="bg1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772197" y="219530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技术培训</a:t>
            </a:r>
            <a:endParaRPr lang="zh-CN" altLang="en-US" dirty="0">
              <a:solidFill>
                <a:schemeClr val="bg1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813001" y="266310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领导</a:t>
            </a:r>
            <a:r>
              <a:rPr lang="zh-CN" altLang="en-US" dirty="0" smtClean="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讲话</a:t>
            </a:r>
            <a:endParaRPr lang="zh-CN" altLang="en-US" dirty="0">
              <a:solidFill>
                <a:schemeClr val="bg1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914398" y="218815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教师课件</a:t>
            </a:r>
            <a:endParaRPr lang="zh-CN" altLang="en-US" dirty="0">
              <a:solidFill>
                <a:schemeClr val="bg1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259632" y="241537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FFC000"/>
                </a:solidFill>
                <a:effectLst>
                  <a:outerShdw blurRad="50800" dist="1282700" dir="3540000" algn="ctr" rotWithShape="0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项目汇报</a:t>
            </a:r>
            <a:endParaRPr lang="zh-CN" altLang="en-US" sz="2400" b="1" dirty="0">
              <a:solidFill>
                <a:srgbClr val="FFC000"/>
              </a:solidFill>
              <a:effectLst>
                <a:outerShdw blurRad="50800" dist="1282700" dir="3540000" algn="ctr" rotWithShape="0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156228" y="2900814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FFC000"/>
                </a:solidFill>
                <a:effectLst>
                  <a:outerShdw blurRad="50800" dist="1422400" dir="8700000" algn="ctr" rotWithShape="0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技术培训</a:t>
            </a:r>
            <a:endParaRPr lang="zh-CN" altLang="en-US" sz="2400" b="1" dirty="0">
              <a:solidFill>
                <a:srgbClr val="FFC000"/>
              </a:solidFill>
              <a:effectLst>
                <a:outerShdw blurRad="50800" dist="1422400" dir="8700000" algn="ctr" rotWithShape="0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191770" y="210297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演讲比赛</a:t>
            </a:r>
            <a:endParaRPr lang="zh-CN" altLang="en-US" sz="2400" b="1" dirty="0">
              <a:solidFill>
                <a:srgbClr val="FFC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201662" y="284146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老板总不满意</a:t>
            </a:r>
            <a:endParaRPr lang="zh-CN" altLang="en-US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013945" y="3507854"/>
            <a:ext cx="3243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effectLst>
                  <a:outerShdw blurRad="50800" dist="1054100" dir="2160000" sx="79000" sy="79000" algn="ctr" rotWithShape="0">
                    <a:srgbClr val="000000">
                      <a:alpha val="54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别人的</a:t>
            </a:r>
            <a:r>
              <a:rPr lang="en-US" altLang="zh-CN" sz="2400" b="1" dirty="0" smtClean="0">
                <a:solidFill>
                  <a:schemeClr val="bg1">
                    <a:lumMod val="85000"/>
                  </a:schemeClr>
                </a:solidFill>
                <a:effectLst>
                  <a:outerShdw blurRad="50800" dist="1054100" dir="2160000" sx="79000" sy="79000" algn="ctr" rotWithShape="0">
                    <a:srgbClr val="000000">
                      <a:alpha val="54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2400" b="1" dirty="0" smtClean="0">
                <a:solidFill>
                  <a:schemeClr val="bg1">
                    <a:lumMod val="85000"/>
                  </a:schemeClr>
                </a:solidFill>
                <a:effectLst>
                  <a:outerShdw blurRad="50800" dist="1054100" dir="2160000" sx="79000" sy="79000" algn="ctr" rotWithShape="0">
                    <a:srgbClr val="000000">
                      <a:alpha val="54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怎么这么好</a:t>
            </a:r>
            <a:endParaRPr lang="zh-CN" altLang="en-US" sz="2400" b="1" dirty="0">
              <a:solidFill>
                <a:schemeClr val="bg1">
                  <a:lumMod val="85000"/>
                </a:schemeClr>
              </a:solidFill>
              <a:effectLst>
                <a:outerShdw blurRad="50800" dist="1054100" dir="2160000" sx="79000" sy="79000" algn="ctr" rotWithShape="0">
                  <a:srgbClr val="000000">
                    <a:alpha val="54000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008347" y="1605453"/>
            <a:ext cx="3865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做</a:t>
            </a:r>
            <a:r>
              <a:rPr lang="en-US" altLang="zh-CN" b="1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b="1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锻炼美感、逻辑、结构化思考</a:t>
            </a:r>
            <a:endParaRPr lang="zh-CN" altLang="en-US" b="1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535095" y="312925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项目策划</a:t>
            </a:r>
            <a:endParaRPr lang="zh-CN" altLang="en-US" dirty="0">
              <a:solidFill>
                <a:schemeClr val="bg1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0" y="4544059"/>
            <a:ext cx="9247034" cy="461665"/>
            <a:chOff x="0" y="4544059"/>
            <a:chExt cx="9247034" cy="461665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0" y="4774892"/>
              <a:ext cx="2843808" cy="0"/>
            </a:xfrm>
            <a:prstGeom prst="line">
              <a:avLst/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6403226" y="4774892"/>
              <a:ext cx="2843808" cy="0"/>
            </a:xfrm>
            <a:prstGeom prst="line">
              <a:avLst/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矩形 15"/>
            <p:cNvSpPr/>
            <p:nvPr/>
          </p:nvSpPr>
          <p:spPr>
            <a:xfrm>
              <a:off x="2843808" y="4544059"/>
              <a:ext cx="345479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chemeClr val="bg2">
                      <a:lumMod val="1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屁屁踢时代 </a:t>
              </a:r>
              <a:r>
                <a:rPr lang="en-US" altLang="zh-CN" sz="2400" b="1" dirty="0">
                  <a:solidFill>
                    <a:schemeClr val="bg2">
                      <a:lumMod val="1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roadway BT" pitchFamily="82" charset="0"/>
                  <a:ea typeface="华文行楷" pitchFamily="2" charset="-122"/>
                </a:rPr>
                <a:t>is coming</a:t>
              </a:r>
              <a:endParaRPr lang="zh-CN" altLang="en-US" sz="2400" b="1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 BT" pitchFamily="82" charset="0"/>
                <a:ea typeface="华文行楷" pitchFamily="2" charset="-122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2675404" y="4659982"/>
              <a:ext cx="216024" cy="216024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6266425" y="4659982"/>
              <a:ext cx="216024" cy="216024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7" name="TextBox 46"/>
          <p:cNvSpPr txBox="1"/>
          <p:nvPr/>
        </p:nvSpPr>
        <p:spPr>
          <a:xfrm>
            <a:off x="1619125" y="378485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>
                <a:solidFill>
                  <a:srgbClr val="FFC000"/>
                </a:solidFill>
                <a:latin typeface="微软雅黑" pitchFamily="34" charset="-122"/>
                <a:ea typeface="微软雅黑" pitchFamily="34" charset="-122"/>
              </a:rPr>
              <a:t>毕业论文</a:t>
            </a:r>
            <a:endParaRPr lang="zh-CN" altLang="en-US" sz="2400" b="1" dirty="0">
              <a:solidFill>
                <a:srgbClr val="FFC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-38748" y="660843"/>
            <a:ext cx="9247034" cy="461665"/>
            <a:chOff x="0" y="4544059"/>
            <a:chExt cx="9247034" cy="461665"/>
          </a:xfrm>
        </p:grpSpPr>
        <p:cxnSp>
          <p:nvCxnSpPr>
            <p:cNvPr id="49" name="直接连接符 48"/>
            <p:cNvCxnSpPr/>
            <p:nvPr/>
          </p:nvCxnSpPr>
          <p:spPr>
            <a:xfrm>
              <a:off x="0" y="4774892"/>
              <a:ext cx="2843808" cy="0"/>
            </a:xfrm>
            <a:prstGeom prst="line">
              <a:avLst/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>
              <a:off x="6403226" y="4774892"/>
              <a:ext cx="2843808" cy="0"/>
            </a:xfrm>
            <a:prstGeom prst="line">
              <a:avLst/>
            </a:prstGeom>
            <a:ln w="762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矩形 50"/>
            <p:cNvSpPr/>
            <p:nvPr/>
          </p:nvSpPr>
          <p:spPr>
            <a:xfrm>
              <a:off x="3519471" y="4544059"/>
              <a:ext cx="210346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b="1" dirty="0" smtClean="0">
                  <a:solidFill>
                    <a:schemeClr val="bg2">
                      <a:lumMod val="1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PPT </a:t>
              </a:r>
              <a:r>
                <a:rPr lang="zh-CN" altLang="en-US" sz="2400" b="1" dirty="0" smtClean="0">
                  <a:solidFill>
                    <a:schemeClr val="bg2">
                      <a:lumMod val="1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itchFamily="34" charset="-122"/>
                  <a:ea typeface="微软雅黑" pitchFamily="34" charset="-122"/>
                </a:rPr>
                <a:t>无处不在</a:t>
              </a:r>
              <a:endParaRPr lang="zh-CN" altLang="en-US" sz="2400" b="1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roadway BT" pitchFamily="82" charset="0"/>
                <a:ea typeface="华文行楷" pitchFamily="2" charset="-122"/>
              </a:endParaRPr>
            </a:p>
          </p:txBody>
        </p:sp>
        <p:sp>
          <p:nvSpPr>
            <p:cNvPr id="52" name="椭圆 51"/>
            <p:cNvSpPr/>
            <p:nvPr/>
          </p:nvSpPr>
          <p:spPr>
            <a:xfrm>
              <a:off x="2675404" y="4659982"/>
              <a:ext cx="216024" cy="216024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6266425" y="4659982"/>
              <a:ext cx="216024" cy="216024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09785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9144000" cy="62753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302568" y="180031"/>
            <a:ext cx="71705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solidFill>
                  <a:srgbClr val="2F2715"/>
                </a:solidFill>
                <a:latin typeface="华康俪金黑W8" pitchFamily="49" charset="-122"/>
                <a:ea typeface="华康俪金黑W8" pitchFamily="49" charset="-122"/>
              </a:rPr>
              <a:t>   从             看</a:t>
            </a:r>
            <a:r>
              <a:rPr lang="zh-CN" altLang="en-US" sz="2400" dirty="0">
                <a:solidFill>
                  <a:srgbClr val="2F2715"/>
                </a:solidFill>
                <a:latin typeface="华康俪金黑W8" pitchFamily="49" charset="-122"/>
                <a:ea typeface="华康俪金黑W8" pitchFamily="49" charset="-122"/>
              </a:rPr>
              <a:t>“</a:t>
            </a:r>
            <a:r>
              <a:rPr lang="zh-CN" altLang="en-US" sz="2400" dirty="0" smtClean="0">
                <a:solidFill>
                  <a:srgbClr val="2F2715"/>
                </a:solidFill>
                <a:latin typeface="华康俪金黑W8" pitchFamily="49" charset="-122"/>
                <a:ea typeface="华康俪金黑W8" pitchFamily="49" charset="-122"/>
              </a:rPr>
              <a:t>和秋叶一起学</a:t>
            </a:r>
            <a:r>
              <a:rPr lang="en-US" altLang="zh-CN" sz="2400" dirty="0" smtClean="0">
                <a:solidFill>
                  <a:srgbClr val="2F2715"/>
                </a:solidFill>
                <a:latin typeface="华康俪金黑W8" pitchFamily="49" charset="-122"/>
                <a:ea typeface="华康俪金黑W8" pitchFamily="49" charset="-122"/>
              </a:rPr>
              <a:t>PPT</a:t>
            </a:r>
            <a:r>
              <a:rPr lang="zh-CN" altLang="en-US" sz="2400" dirty="0" smtClean="0">
                <a:solidFill>
                  <a:srgbClr val="2F2715"/>
                </a:solidFill>
                <a:latin typeface="华康俪金黑W8" pitchFamily="49" charset="-122"/>
                <a:ea typeface="华康俪金黑W8" pitchFamily="49" charset="-122"/>
              </a:rPr>
              <a:t>”的成功</a:t>
            </a:r>
            <a:endParaRPr lang="zh-CN" altLang="en-US" sz="2400" dirty="0">
              <a:solidFill>
                <a:srgbClr val="2F2715"/>
              </a:solidFill>
              <a:latin typeface="华康俪金黑W8" pitchFamily="49" charset="-122"/>
              <a:ea typeface="华康俪金黑W8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259632" y="201969"/>
            <a:ext cx="1872208" cy="412442"/>
          </a:xfrm>
          <a:prstGeom prst="rect">
            <a:avLst/>
          </a:prstGeom>
          <a:solidFill>
            <a:srgbClr val="2F271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 smtClean="0">
                <a:solidFill>
                  <a:srgbClr val="FFC000"/>
                </a:solidFill>
                <a:latin typeface="华康俪金黑W8" pitchFamily="49" charset="-122"/>
                <a:ea typeface="华康俪金黑W8" pitchFamily="49" charset="-122"/>
              </a:rPr>
              <a:t>环境威力法则</a:t>
            </a:r>
            <a:endParaRPr lang="zh-CN" altLang="en-US" sz="2000" dirty="0">
              <a:solidFill>
                <a:srgbClr val="FFC000"/>
              </a:solidFill>
              <a:latin typeface="华康俪金黑W8" pitchFamily="49" charset="-122"/>
              <a:ea typeface="华康俪金黑W8" pitchFamily="49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8530658" y="151468"/>
            <a:ext cx="379100" cy="548074"/>
            <a:chOff x="8530658" y="151468"/>
            <a:chExt cx="379100" cy="548074"/>
          </a:xfrm>
        </p:grpSpPr>
        <p:grpSp>
          <p:nvGrpSpPr>
            <p:cNvPr id="31" name="组合 30"/>
            <p:cNvGrpSpPr/>
            <p:nvPr/>
          </p:nvGrpSpPr>
          <p:grpSpPr>
            <a:xfrm>
              <a:off x="8530658" y="151468"/>
              <a:ext cx="379100" cy="463734"/>
              <a:chOff x="8293265" y="411510"/>
              <a:chExt cx="379100" cy="463734"/>
            </a:xfrm>
          </p:grpSpPr>
          <p:sp>
            <p:nvSpPr>
              <p:cNvPr id="33" name="矩形 32"/>
              <p:cNvSpPr/>
              <p:nvPr/>
            </p:nvSpPr>
            <p:spPr>
              <a:xfrm>
                <a:off x="8293265" y="627534"/>
                <a:ext cx="379100" cy="247710"/>
              </a:xfrm>
              <a:prstGeom prst="rect">
                <a:avLst/>
              </a:prstGeom>
              <a:solidFill>
                <a:srgbClr val="2F2715"/>
              </a:solidFill>
              <a:ln>
                <a:solidFill>
                  <a:srgbClr val="2F271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等腰三角形 33"/>
              <p:cNvSpPr/>
              <p:nvPr/>
            </p:nvSpPr>
            <p:spPr>
              <a:xfrm>
                <a:off x="8293265" y="411510"/>
                <a:ext cx="379100" cy="227705"/>
              </a:xfrm>
              <a:prstGeom prst="triangle">
                <a:avLst/>
              </a:prstGeom>
              <a:solidFill>
                <a:srgbClr val="2F2715"/>
              </a:solidFill>
              <a:ln>
                <a:solidFill>
                  <a:srgbClr val="2F271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2" name="TextBox 31"/>
            <p:cNvSpPr txBox="1"/>
            <p:nvPr/>
          </p:nvSpPr>
          <p:spPr>
            <a:xfrm>
              <a:off x="8550720" y="237877"/>
              <a:ext cx="3417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 smtClean="0">
                  <a:solidFill>
                    <a:schemeClr val="bg1"/>
                  </a:solidFill>
                  <a:latin typeface="华康俪金黑W8" pitchFamily="49" charset="-122"/>
                  <a:ea typeface="华康俪金黑W8" pitchFamily="49" charset="-122"/>
                </a:rPr>
                <a:t>3</a:t>
              </a:r>
              <a:endParaRPr lang="zh-CN" altLang="en-US" sz="2400" dirty="0">
                <a:solidFill>
                  <a:schemeClr val="bg1"/>
                </a:solidFill>
                <a:latin typeface="华康俪金黑W8" pitchFamily="49" charset="-122"/>
                <a:ea typeface="华康俪金黑W8" pitchFamily="49" charset="-122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2203115" y="987574"/>
            <a:ext cx="47377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400" dirty="0" smtClean="0">
                <a:solidFill>
                  <a:srgbClr val="2F2715"/>
                </a:solidFill>
                <a:latin typeface="Impact" pitchFamily="34" charset="0"/>
              </a:rPr>
              <a:t>Everyone is using it </a:t>
            </a:r>
          </a:p>
        </p:txBody>
      </p:sp>
      <p:sp>
        <p:nvSpPr>
          <p:cNvPr id="46" name="矩形 45"/>
          <p:cNvSpPr/>
          <p:nvPr/>
        </p:nvSpPr>
        <p:spPr>
          <a:xfrm>
            <a:off x="3296939" y="1779662"/>
            <a:ext cx="2550122" cy="584775"/>
          </a:xfrm>
          <a:prstGeom prst="rect">
            <a:avLst/>
          </a:prstGeom>
          <a:solidFill>
            <a:srgbClr val="FFC000"/>
          </a:solidFill>
          <a:ln w="38100">
            <a:solidFill>
              <a:srgbClr val="FFC000"/>
            </a:solidFill>
            <a:prstDash val="dash"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sz="3200" dirty="0">
                <a:solidFill>
                  <a:srgbClr val="2F2715"/>
                </a:solidFill>
                <a:latin typeface="Impact" pitchFamily="34" charset="0"/>
              </a:rPr>
              <a:t>We all need </a:t>
            </a:r>
            <a:r>
              <a:rPr lang="en-US" altLang="zh-CN" sz="3200" dirty="0" smtClean="0">
                <a:solidFill>
                  <a:srgbClr val="2F2715"/>
                </a:solidFill>
                <a:latin typeface="Impact" pitchFamily="34" charset="0"/>
              </a:rPr>
              <a:t>it</a:t>
            </a:r>
            <a:endParaRPr lang="zh-CN" altLang="en-US" sz="3200" dirty="0">
              <a:solidFill>
                <a:srgbClr val="2F2715"/>
              </a:solidFill>
              <a:latin typeface="Impact" pitchFamily="34" charset="0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611560" y="2283718"/>
            <a:ext cx="504056" cy="504056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/>
          <p:cNvSpPr/>
          <p:nvPr/>
        </p:nvSpPr>
        <p:spPr>
          <a:xfrm>
            <a:off x="976888" y="2258437"/>
            <a:ext cx="2295545" cy="2295545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/>
          <p:cNvSpPr/>
          <p:nvPr/>
        </p:nvSpPr>
        <p:spPr>
          <a:xfrm>
            <a:off x="3771872" y="3269828"/>
            <a:ext cx="1539265" cy="1539265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椭圆 49"/>
          <p:cNvSpPr/>
          <p:nvPr/>
        </p:nvSpPr>
        <p:spPr>
          <a:xfrm>
            <a:off x="6115491" y="2394465"/>
            <a:ext cx="1946228" cy="1946228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椭圆 50"/>
          <p:cNvSpPr/>
          <p:nvPr/>
        </p:nvSpPr>
        <p:spPr>
          <a:xfrm>
            <a:off x="2997177" y="4520082"/>
            <a:ext cx="252028" cy="252028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/>
          <p:cNvSpPr/>
          <p:nvPr/>
        </p:nvSpPr>
        <p:spPr>
          <a:xfrm>
            <a:off x="5406985" y="3679207"/>
            <a:ext cx="449382" cy="449382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椭圆 52"/>
          <p:cNvSpPr/>
          <p:nvPr/>
        </p:nvSpPr>
        <p:spPr>
          <a:xfrm>
            <a:off x="5238742" y="4507887"/>
            <a:ext cx="528446" cy="528446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椭圆 53"/>
          <p:cNvSpPr/>
          <p:nvPr/>
        </p:nvSpPr>
        <p:spPr>
          <a:xfrm>
            <a:off x="8404644" y="2535746"/>
            <a:ext cx="252028" cy="252028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椭圆 54"/>
          <p:cNvSpPr/>
          <p:nvPr/>
        </p:nvSpPr>
        <p:spPr>
          <a:xfrm>
            <a:off x="8010382" y="4381873"/>
            <a:ext cx="126014" cy="126014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983485" y="3111126"/>
            <a:ext cx="2313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rgbClr val="2B2412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b="1" dirty="0" smtClean="0">
                <a:solidFill>
                  <a:srgbClr val="2B2412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b="1" dirty="0" smtClean="0">
                <a:solidFill>
                  <a:srgbClr val="2B2412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endParaRPr lang="zh-CN" altLang="en-US" b="1" dirty="0">
              <a:solidFill>
                <a:srgbClr val="2B241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570662" y="3435846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2B2412"/>
                </a:solidFill>
                <a:latin typeface="微软雅黑" pitchFamily="34" charset="-122"/>
                <a:ea typeface="微软雅黑" pitchFamily="34" charset="-122"/>
              </a:rPr>
              <a:t>学员习题</a:t>
            </a:r>
            <a:endParaRPr lang="en-US" altLang="zh-CN" dirty="0" smtClean="0">
              <a:solidFill>
                <a:srgbClr val="2B2412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dirty="0">
                <a:solidFill>
                  <a:srgbClr val="2B2412"/>
                </a:solidFill>
                <a:latin typeface="微软雅黑" pitchFamily="34" charset="-122"/>
                <a:ea typeface="微软雅黑" pitchFamily="34" charset="-122"/>
              </a:rPr>
              <a:t>微</a:t>
            </a:r>
            <a:r>
              <a:rPr lang="zh-CN" altLang="en-US" dirty="0" smtClean="0">
                <a:solidFill>
                  <a:srgbClr val="2B2412"/>
                </a:solidFill>
                <a:latin typeface="微软雅黑" pitchFamily="34" charset="-122"/>
                <a:ea typeface="微软雅黑" pitchFamily="34" charset="-122"/>
              </a:rPr>
              <a:t>博传播</a:t>
            </a:r>
            <a:endParaRPr lang="zh-CN" altLang="en-US" dirty="0">
              <a:solidFill>
                <a:srgbClr val="2B241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851757" y="3795886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rgbClr val="2B2412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b="1" dirty="0" smtClean="0">
                <a:solidFill>
                  <a:srgbClr val="2B2412"/>
                </a:solidFill>
                <a:latin typeface="微软雅黑" pitchFamily="34" charset="-122"/>
                <a:ea typeface="微软雅黑" pitchFamily="34" charset="-122"/>
              </a:rPr>
              <a:t>学员分享</a:t>
            </a:r>
            <a:r>
              <a:rPr lang="en-US" altLang="zh-CN" b="1" dirty="0" smtClean="0">
                <a:solidFill>
                  <a:srgbClr val="2B2412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endParaRPr lang="zh-CN" altLang="en-US" b="1" dirty="0">
              <a:solidFill>
                <a:srgbClr val="2B241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069298" y="4147215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>
                <a:solidFill>
                  <a:srgbClr val="2B2412"/>
                </a:solidFill>
                <a:latin typeface="微软雅黑" pitchFamily="34" charset="-122"/>
                <a:ea typeface="微软雅黑" pitchFamily="34" charset="-122"/>
              </a:rPr>
              <a:t>修改过程</a:t>
            </a:r>
            <a:endParaRPr lang="en-US" altLang="zh-CN" sz="1600" dirty="0" smtClean="0">
              <a:solidFill>
                <a:srgbClr val="2B2412"/>
              </a:solidFill>
              <a:latin typeface="微软雅黑" pitchFamily="34" charset="-122"/>
              <a:ea typeface="微软雅黑" pitchFamily="34" charset="-122"/>
            </a:endParaRPr>
          </a:p>
          <a:p>
            <a:r>
              <a:rPr lang="zh-CN" altLang="en-US" sz="1600" dirty="0" smtClean="0">
                <a:solidFill>
                  <a:srgbClr val="2B2412"/>
                </a:solidFill>
                <a:latin typeface="微软雅黑" pitchFamily="34" charset="-122"/>
                <a:ea typeface="微软雅黑" pitchFamily="34" charset="-122"/>
              </a:rPr>
              <a:t>总结分享</a:t>
            </a:r>
            <a:endParaRPr lang="zh-CN" altLang="en-US" sz="1600" dirty="0">
              <a:solidFill>
                <a:srgbClr val="2B241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156176" y="3147814"/>
            <a:ext cx="1851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rgbClr val="2B2412"/>
                </a:solidFill>
                <a:latin typeface="微软雅黑" pitchFamily="34" charset="-122"/>
                <a:ea typeface="微软雅黑" pitchFamily="34" charset="-122"/>
              </a:rPr>
              <a:t>#PPT</a:t>
            </a:r>
            <a:r>
              <a:rPr lang="zh-CN" altLang="en-US" b="1" dirty="0">
                <a:solidFill>
                  <a:srgbClr val="2B2412"/>
                </a:solidFill>
                <a:latin typeface="微软雅黑" pitchFamily="34" charset="-122"/>
                <a:ea typeface="微软雅黑" pitchFamily="34" charset="-122"/>
              </a:rPr>
              <a:t>读书</a:t>
            </a:r>
            <a:r>
              <a:rPr lang="zh-CN" altLang="en-US" b="1" dirty="0" smtClean="0">
                <a:solidFill>
                  <a:srgbClr val="2B2412"/>
                </a:solidFill>
                <a:latin typeface="微软雅黑" pitchFamily="34" charset="-122"/>
                <a:ea typeface="微软雅黑" pitchFamily="34" charset="-122"/>
              </a:rPr>
              <a:t>笔记</a:t>
            </a:r>
            <a:r>
              <a:rPr lang="en-US" altLang="zh-CN" b="1" dirty="0" smtClean="0">
                <a:solidFill>
                  <a:srgbClr val="2B2412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endParaRPr lang="zh-CN" altLang="en-US" b="1" dirty="0">
              <a:solidFill>
                <a:srgbClr val="2B241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476776" y="3507854"/>
            <a:ext cx="12105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 smtClean="0">
                <a:solidFill>
                  <a:srgbClr val="2B2412"/>
                </a:solidFill>
                <a:latin typeface="微软雅黑" pitchFamily="34" charset="-122"/>
                <a:ea typeface="微软雅黑" pitchFamily="34" charset="-122"/>
              </a:rPr>
              <a:t>爱上阅读</a:t>
            </a:r>
            <a:endParaRPr lang="en-US" altLang="zh-CN" sz="1600" dirty="0" smtClean="0">
              <a:solidFill>
                <a:srgbClr val="2B2412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/>
            <a:r>
              <a:rPr lang="zh-CN" altLang="en-US" sz="1600" dirty="0" smtClean="0">
                <a:solidFill>
                  <a:srgbClr val="2B2412"/>
                </a:solidFill>
                <a:latin typeface="微软雅黑" pitchFamily="34" charset="-122"/>
                <a:ea typeface="微软雅黑" pitchFamily="34" charset="-122"/>
              </a:rPr>
              <a:t>整合出版社</a:t>
            </a:r>
            <a:endParaRPr lang="zh-CN" altLang="en-US" sz="1600" dirty="0">
              <a:solidFill>
                <a:srgbClr val="2B241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40694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886269" y="493243"/>
            <a:ext cx="4168982" cy="3175728"/>
            <a:chOff x="2498993" y="598118"/>
            <a:chExt cx="4168982" cy="3175728"/>
          </a:xfrm>
        </p:grpSpPr>
        <p:grpSp>
          <p:nvGrpSpPr>
            <p:cNvPr id="4" name="组合 3"/>
            <p:cNvGrpSpPr/>
            <p:nvPr/>
          </p:nvGrpSpPr>
          <p:grpSpPr>
            <a:xfrm>
              <a:off x="2498993" y="598118"/>
              <a:ext cx="3816478" cy="3175728"/>
              <a:chOff x="3313485" y="916143"/>
              <a:chExt cx="2478505" cy="2062388"/>
            </a:xfrm>
          </p:grpSpPr>
          <p:sp>
            <p:nvSpPr>
              <p:cNvPr id="5" name="直角三角形 4"/>
              <p:cNvSpPr/>
              <p:nvPr/>
            </p:nvSpPr>
            <p:spPr>
              <a:xfrm rot="10568149">
                <a:off x="3820795" y="2282985"/>
                <a:ext cx="421121" cy="695546"/>
              </a:xfrm>
              <a:prstGeom prst="rtTriangle">
                <a:avLst/>
              </a:pr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任意多边形 5"/>
              <p:cNvSpPr/>
              <p:nvPr/>
            </p:nvSpPr>
            <p:spPr>
              <a:xfrm>
                <a:off x="4318000" y="1066800"/>
                <a:ext cx="603250" cy="1333500"/>
              </a:xfrm>
              <a:custGeom>
                <a:avLst/>
                <a:gdLst>
                  <a:gd name="connsiteX0" fmla="*/ 247650 w 603250"/>
                  <a:gd name="connsiteY0" fmla="*/ 0 h 1333500"/>
                  <a:gd name="connsiteX1" fmla="*/ 0 w 603250"/>
                  <a:gd name="connsiteY1" fmla="*/ 749300 h 1333500"/>
                  <a:gd name="connsiteX2" fmla="*/ 406400 w 603250"/>
                  <a:gd name="connsiteY2" fmla="*/ 1333500 h 1333500"/>
                  <a:gd name="connsiteX3" fmla="*/ 603250 w 603250"/>
                  <a:gd name="connsiteY3" fmla="*/ 101600 h 1333500"/>
                  <a:gd name="connsiteX4" fmla="*/ 247650 w 603250"/>
                  <a:gd name="connsiteY4" fmla="*/ 0 h 1333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3250" h="1333500">
                    <a:moveTo>
                      <a:pt x="247650" y="0"/>
                    </a:moveTo>
                    <a:lnTo>
                      <a:pt x="0" y="749300"/>
                    </a:lnTo>
                    <a:lnTo>
                      <a:pt x="406400" y="1333500"/>
                    </a:lnTo>
                    <a:lnTo>
                      <a:pt x="603250" y="101600"/>
                    </a:lnTo>
                    <a:lnTo>
                      <a:pt x="247650" y="0"/>
                    </a:ln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" name="组合 6"/>
              <p:cNvGrpSpPr/>
              <p:nvPr/>
            </p:nvGrpSpPr>
            <p:grpSpPr>
              <a:xfrm>
                <a:off x="3313485" y="916143"/>
                <a:ext cx="2478505" cy="1037510"/>
                <a:chOff x="3111445" y="736419"/>
                <a:chExt cx="2478505" cy="1037510"/>
              </a:xfrm>
            </p:grpSpPr>
            <p:sp>
              <p:nvSpPr>
                <p:cNvPr id="10" name="任意多边形 9"/>
                <p:cNvSpPr/>
                <p:nvPr/>
              </p:nvSpPr>
              <p:spPr>
                <a:xfrm>
                  <a:off x="3111445" y="736419"/>
                  <a:ext cx="2478505" cy="1037510"/>
                </a:xfrm>
                <a:custGeom>
                  <a:avLst/>
                  <a:gdLst>
                    <a:gd name="connsiteX0" fmla="*/ 108284 w 2478505"/>
                    <a:gd name="connsiteY0" fmla="*/ 0 h 1227221"/>
                    <a:gd name="connsiteX1" fmla="*/ 0 w 2478505"/>
                    <a:gd name="connsiteY1" fmla="*/ 782052 h 1227221"/>
                    <a:gd name="connsiteX2" fmla="*/ 2249905 w 2478505"/>
                    <a:gd name="connsiteY2" fmla="*/ 1227221 h 1227221"/>
                    <a:gd name="connsiteX3" fmla="*/ 2478505 w 2478505"/>
                    <a:gd name="connsiteY3" fmla="*/ 649705 h 1227221"/>
                    <a:gd name="connsiteX4" fmla="*/ 108284 w 2478505"/>
                    <a:gd name="connsiteY4" fmla="*/ 0 h 12272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78505" h="1227221">
                      <a:moveTo>
                        <a:pt x="108284" y="0"/>
                      </a:moveTo>
                      <a:lnTo>
                        <a:pt x="0" y="782052"/>
                      </a:lnTo>
                      <a:lnTo>
                        <a:pt x="2249905" y="1227221"/>
                      </a:lnTo>
                      <a:lnTo>
                        <a:pt x="2478505" y="649705"/>
                      </a:lnTo>
                      <a:lnTo>
                        <a:pt x="108284" y="0"/>
                      </a:lnTo>
                      <a:close/>
                    </a:path>
                  </a:pathLst>
                </a:cu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" name="TextBox 10"/>
                <p:cNvSpPr txBox="1"/>
                <p:nvPr/>
              </p:nvSpPr>
              <p:spPr>
                <a:xfrm rot="769140">
                  <a:off x="3642368" y="1147113"/>
                  <a:ext cx="1325433" cy="41974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lvl="0" algn="ctr"/>
                  <a:r>
                    <a:rPr lang="zh-CN" altLang="en-US" sz="3600" dirty="0" smtClean="0">
                      <a:solidFill>
                        <a:sysClr val="windowText" lastClr="000000"/>
                      </a:solidFill>
                      <a:latin typeface="华康俪金黑W8" pitchFamily="49" charset="-122"/>
                      <a:ea typeface="华康俪金黑W8" pitchFamily="49" charset="-122"/>
                    </a:rPr>
                    <a:t>引 爆 点</a:t>
                  </a:r>
                  <a:endParaRPr lang="zh-CN" altLang="en-US" sz="3600" dirty="0">
                    <a:solidFill>
                      <a:sysClr val="windowText" lastClr="000000"/>
                    </a:solidFill>
                    <a:latin typeface="华康俪金黑W8" pitchFamily="49" charset="-122"/>
                    <a:ea typeface="华康俪金黑W8" pitchFamily="49" charset="-122"/>
                  </a:endParaRPr>
                </a:p>
              </p:txBody>
            </p:sp>
          </p:grpSp>
          <p:sp>
            <p:nvSpPr>
              <p:cNvPr id="8" name="直角三角形 7"/>
              <p:cNvSpPr/>
              <p:nvPr/>
            </p:nvSpPr>
            <p:spPr>
              <a:xfrm rot="9058504" flipH="1" flipV="1">
                <a:off x="4609937" y="987410"/>
                <a:ext cx="261222" cy="261222"/>
              </a:xfrm>
              <a:prstGeom prst="rtTriangle">
                <a:avLst/>
              </a:prstGeom>
              <a:solidFill>
                <a:srgbClr val="CF99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平行四边形 8"/>
              <p:cNvSpPr/>
              <p:nvPr/>
            </p:nvSpPr>
            <p:spPr>
              <a:xfrm rot="14077217">
                <a:off x="3939239" y="1990489"/>
                <a:ext cx="636355" cy="703838"/>
              </a:xfrm>
              <a:prstGeom prst="parallelogram">
                <a:avLst/>
              </a:prstGeom>
              <a:solidFill>
                <a:srgbClr val="CF99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" name="TextBox 2"/>
            <p:cNvSpPr txBox="1"/>
            <p:nvPr/>
          </p:nvSpPr>
          <p:spPr>
            <a:xfrm rot="1042654">
              <a:off x="5622445" y="967883"/>
              <a:ext cx="563789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600" dirty="0" smtClean="0">
                  <a:latin typeface="华康俪金黑W8" pitchFamily="49" charset="-122"/>
                  <a:ea typeface="华康俪金黑W8" pitchFamily="49" charset="-122"/>
                </a:rPr>
                <a:t>？</a:t>
              </a:r>
              <a:endParaRPr lang="zh-CN" altLang="en-US" sz="6600" dirty="0">
                <a:latin typeface="华康俪金黑W8" pitchFamily="49" charset="-122"/>
                <a:ea typeface="华康俪金黑W8" pitchFamily="49" charset="-122"/>
              </a:endParaRPr>
            </a:p>
          </p:txBody>
        </p:sp>
        <p:sp>
          <p:nvSpPr>
            <p:cNvPr id="12" name="TextBox 17"/>
            <p:cNvSpPr txBox="1"/>
            <p:nvPr/>
          </p:nvSpPr>
          <p:spPr>
            <a:xfrm rot="2924971">
              <a:off x="5832082" y="1161223"/>
              <a:ext cx="563789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6600" dirty="0" smtClean="0">
                  <a:latin typeface="华康俪金黑W8" pitchFamily="49" charset="-122"/>
                  <a:ea typeface="华康俪金黑W8" pitchFamily="49" charset="-122"/>
                </a:rPr>
                <a:t>？</a:t>
              </a:r>
              <a:endParaRPr lang="zh-CN" altLang="en-US" sz="6600" dirty="0">
                <a:latin typeface="华康俪金黑W8" pitchFamily="49" charset="-122"/>
                <a:ea typeface="华康俪金黑W8" pitchFamily="49" charset="-122"/>
              </a:endParaRPr>
            </a:p>
          </p:txBody>
        </p:sp>
      </p:grpSp>
      <p:cxnSp>
        <p:nvCxnSpPr>
          <p:cNvPr id="15" name="直接连接符 14"/>
          <p:cNvCxnSpPr/>
          <p:nvPr/>
        </p:nvCxnSpPr>
        <p:spPr>
          <a:xfrm>
            <a:off x="2339763" y="3613857"/>
            <a:ext cx="3552715" cy="0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6029383" y="2831488"/>
            <a:ext cx="1496748" cy="1496748"/>
            <a:chOff x="2627784" y="1510862"/>
            <a:chExt cx="1152128" cy="1152128"/>
          </a:xfrm>
        </p:grpSpPr>
        <p:sp>
          <p:nvSpPr>
            <p:cNvPr id="18" name="椭圆 17"/>
            <p:cNvSpPr/>
            <p:nvPr/>
          </p:nvSpPr>
          <p:spPr>
            <a:xfrm>
              <a:off x="2627784" y="1510862"/>
              <a:ext cx="1152128" cy="1152128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弦形 18"/>
            <p:cNvSpPr/>
            <p:nvPr/>
          </p:nvSpPr>
          <p:spPr>
            <a:xfrm>
              <a:off x="2627784" y="1510862"/>
              <a:ext cx="1152000" cy="1152000"/>
            </a:xfrm>
            <a:prstGeom prst="chord">
              <a:avLst>
                <a:gd name="adj1" fmla="val 3728209"/>
                <a:gd name="adj2" fmla="val 13333495"/>
              </a:avLst>
            </a:prstGeom>
            <a:solidFill>
              <a:srgbClr val="CF9901">
                <a:alpha val="2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0" name="TextBox 19"/>
          <p:cNvSpPr txBox="1"/>
          <p:nvPr/>
        </p:nvSpPr>
        <p:spPr>
          <a:xfrm rot="18717450">
            <a:off x="5569313" y="2706011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solidFill>
                  <a:schemeClr val="bg1">
                    <a:lumMod val="75000"/>
                  </a:schemeClr>
                </a:solidFill>
                <a:latin typeface="华康俪金黑W8" pitchFamily="49" charset="-122"/>
                <a:ea typeface="华康俪金黑W8" pitchFamily="49" charset="-122"/>
              </a:rPr>
              <a:t>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066" y="2187564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chemeClr val="bg1">
                    <a:lumMod val="75000"/>
                  </a:schemeClr>
                </a:solidFill>
                <a:latin typeface="华康俪金黑W8" pitchFamily="49" charset="-122"/>
                <a:ea typeface="华康俪金黑W8" pitchFamily="49" charset="-122"/>
              </a:rPr>
              <a:t>我</a:t>
            </a:r>
            <a:endParaRPr lang="zh-CN" altLang="en-US" sz="3600" dirty="0">
              <a:solidFill>
                <a:schemeClr val="bg1">
                  <a:lumMod val="75000"/>
                </a:schemeClr>
              </a:solidFill>
              <a:latin typeface="华康俪金黑W8" pitchFamily="49" charset="-122"/>
              <a:ea typeface="华康俪金黑W8" pitchFamily="49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 rot="1653100">
            <a:off x="7349127" y="2628226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 smtClean="0">
                <a:solidFill>
                  <a:schemeClr val="bg1">
                    <a:lumMod val="75000"/>
                  </a:schemeClr>
                </a:solidFill>
                <a:latin typeface="华康俪金黑W8" pitchFamily="49" charset="-122"/>
                <a:ea typeface="华康俪金黑W8" pitchFamily="49" charset="-122"/>
              </a:rPr>
              <a:t>他</a:t>
            </a:r>
            <a:endParaRPr lang="zh-CN" altLang="en-US" sz="3600" dirty="0">
              <a:solidFill>
                <a:schemeClr val="bg1">
                  <a:lumMod val="75000"/>
                </a:schemeClr>
              </a:solidFill>
              <a:latin typeface="华康俪金黑W8" pitchFamily="49" charset="-122"/>
              <a:ea typeface="华康俪金黑W8" pitchFamily="49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5738" y="4227934"/>
            <a:ext cx="960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1">
                    <a:lumMod val="75000"/>
                  </a:schemeClr>
                </a:solidFill>
                <a:latin typeface="Impact" pitchFamily="34" charset="0"/>
                <a:ea typeface="华康俪金黑W8" pitchFamily="49" charset="-122"/>
              </a:rPr>
              <a:t>anytime</a:t>
            </a:r>
            <a:endParaRPr lang="zh-CN" altLang="en-US" dirty="0">
              <a:solidFill>
                <a:schemeClr val="bg1">
                  <a:lumMod val="75000"/>
                </a:schemeClr>
              </a:solidFill>
              <a:latin typeface="Impact" pitchFamily="34" charset="0"/>
              <a:ea typeface="华康俪金黑W8" pitchFamily="49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97510" y="4565000"/>
            <a:ext cx="105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1">
                    <a:lumMod val="75000"/>
                  </a:schemeClr>
                </a:solidFill>
                <a:latin typeface="Impact" pitchFamily="34" charset="0"/>
                <a:ea typeface="华康俪金黑W8" pitchFamily="49" charset="-122"/>
              </a:rPr>
              <a:t>anyplace</a:t>
            </a:r>
            <a:endParaRPr lang="zh-CN" altLang="en-US" dirty="0">
              <a:solidFill>
                <a:schemeClr val="bg1">
                  <a:lumMod val="75000"/>
                </a:schemeClr>
              </a:solidFill>
              <a:latin typeface="Impact" pitchFamily="34" charset="0"/>
              <a:ea typeface="华康俪金黑W8" pitchFamily="49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259660" y="4310383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1">
                    <a:lumMod val="75000"/>
                  </a:schemeClr>
                </a:solidFill>
                <a:latin typeface="Impact" pitchFamily="34" charset="0"/>
                <a:ea typeface="华康俪金黑W8" pitchFamily="49" charset="-122"/>
              </a:rPr>
              <a:t>anyone</a:t>
            </a:r>
            <a:endParaRPr lang="zh-CN" altLang="en-US" dirty="0">
              <a:solidFill>
                <a:schemeClr val="bg1">
                  <a:lumMod val="75000"/>
                </a:schemeClr>
              </a:solidFill>
              <a:latin typeface="Impact" pitchFamily="34" charset="0"/>
              <a:ea typeface="华康俪金黑W8" pitchFamily="49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334043" y="3072846"/>
            <a:ext cx="87876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latin typeface="Impact" pitchFamily="34" charset="0"/>
                <a:ea typeface="华康俪金黑W8" pitchFamily="49" charset="-122"/>
              </a:rPr>
              <a:t>So</a:t>
            </a:r>
          </a:p>
          <a:p>
            <a:r>
              <a:rPr lang="en-US" altLang="zh-CN" sz="2800" dirty="0" smtClean="0">
                <a:latin typeface="Impact" pitchFamily="34" charset="0"/>
                <a:ea typeface="华康俪金黑W8" pitchFamily="49" charset="-122"/>
              </a:rPr>
              <a:t>easy</a:t>
            </a:r>
            <a:endParaRPr lang="zh-CN" altLang="en-US" sz="2800" dirty="0">
              <a:latin typeface="Impact" pitchFamily="34" charset="0"/>
              <a:ea typeface="华康俪金黑W8" pitchFamily="49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 rot="1042654">
            <a:off x="7073918" y="3304883"/>
            <a:ext cx="5637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latin typeface="华康俪金黑W8" pitchFamily="49" charset="-122"/>
                <a:ea typeface="华康俪金黑W8" pitchFamily="49" charset="-122"/>
              </a:rPr>
              <a:t>!</a:t>
            </a:r>
            <a:endParaRPr lang="zh-CN" altLang="en-US" sz="4400" dirty="0">
              <a:latin typeface="华康俪金黑W8" pitchFamily="49" charset="-122"/>
              <a:ea typeface="华康俪金黑W8" pitchFamily="49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59033" y="3231571"/>
            <a:ext cx="5637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latin typeface="华康俪金黑W8" pitchFamily="49" charset="-122"/>
                <a:ea typeface="华康俪金黑W8" pitchFamily="49" charset="-122"/>
              </a:rPr>
              <a:t>!</a:t>
            </a:r>
            <a:endParaRPr lang="zh-CN" altLang="en-US" sz="4400" dirty="0">
              <a:latin typeface="华康俪金黑W8" pitchFamily="49" charset="-122"/>
              <a:ea typeface="华康俪金黑W8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99403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接连接符 16"/>
          <p:cNvCxnSpPr>
            <a:endCxn id="2" idx="6"/>
          </p:cNvCxnSpPr>
          <p:nvPr/>
        </p:nvCxnSpPr>
        <p:spPr>
          <a:xfrm flipV="1">
            <a:off x="7164288" y="1012213"/>
            <a:ext cx="1440160" cy="263393"/>
          </a:xfrm>
          <a:prstGeom prst="line">
            <a:avLst/>
          </a:prstGeom>
          <a:ln>
            <a:solidFill>
              <a:srgbClr val="E5023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0" y="2139702"/>
            <a:ext cx="9175846" cy="100811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Picture 2" descr="http://img3.douban.com/lpic/s380687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1136194"/>
            <a:ext cx="2208263" cy="3015128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516216" y="2643758"/>
            <a:ext cx="14879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 smtClean="0">
                <a:solidFill>
                  <a:srgbClr val="2F2715"/>
                </a:solidFill>
                <a:latin typeface="微软雅黑" pitchFamily="34" charset="-122"/>
                <a:ea typeface="微软雅黑" pitchFamily="34" charset="-122"/>
              </a:rPr>
              <a:t>—《</a:t>
            </a:r>
            <a:r>
              <a:rPr lang="zh-CN" altLang="en-US" sz="2000" b="1" dirty="0" smtClean="0">
                <a:solidFill>
                  <a:srgbClr val="2F2715"/>
                </a:solidFill>
                <a:latin typeface="微软雅黑" pitchFamily="34" charset="-122"/>
                <a:ea typeface="微软雅黑" pitchFamily="34" charset="-122"/>
              </a:rPr>
              <a:t>异类</a:t>
            </a:r>
            <a:r>
              <a:rPr lang="en-US" altLang="zh-CN" sz="2000" b="1" dirty="0" smtClean="0">
                <a:solidFill>
                  <a:srgbClr val="2F2715"/>
                </a:solidFill>
                <a:latin typeface="微软雅黑" pitchFamily="34" charset="-122"/>
                <a:ea typeface="微软雅黑" pitchFamily="34" charset="-122"/>
              </a:rPr>
              <a:t>》</a:t>
            </a:r>
          </a:p>
          <a:p>
            <a:pPr algn="ctr"/>
            <a:endParaRPr lang="en-US" altLang="zh-CN" sz="2000" b="1" dirty="0" smtClean="0">
              <a:solidFill>
                <a:srgbClr val="2F271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242" name="Picture 2" descr="http://imgt0.bdstatic.com/it/u=159819620,2861801506&amp;fm=23&amp;gp=0.jpg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866" b="98134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71787" y="958785"/>
            <a:ext cx="3384376" cy="2212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/>
          <p:nvPr/>
        </p:nvSpPr>
        <p:spPr>
          <a:xfrm>
            <a:off x="5076135" y="2274426"/>
            <a:ext cx="28248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 smtClean="0">
                <a:solidFill>
                  <a:srgbClr val="2F2715"/>
                </a:solidFill>
                <a:latin typeface="微软雅黑" pitchFamily="34" charset="-122"/>
                <a:ea typeface="微软雅黑" pitchFamily="34" charset="-122"/>
              </a:rPr>
              <a:t>马尔科姆</a:t>
            </a:r>
            <a:r>
              <a:rPr lang="en-US" altLang="zh-CN" b="1" dirty="0" smtClean="0">
                <a:solidFill>
                  <a:srgbClr val="2F2715"/>
                </a:solidFill>
                <a:latin typeface="微软雅黑" pitchFamily="34" charset="-122"/>
                <a:ea typeface="微软雅黑" pitchFamily="34" charset="-122"/>
              </a:rPr>
              <a:t>·</a:t>
            </a:r>
            <a:r>
              <a:rPr lang="zh-CN" altLang="en-US" b="1" dirty="0" smtClean="0">
                <a:solidFill>
                  <a:srgbClr val="2F2715"/>
                </a:solidFill>
                <a:latin typeface="微软雅黑" pitchFamily="34" charset="-122"/>
                <a:ea typeface="微软雅黑" pitchFamily="34" charset="-122"/>
              </a:rPr>
              <a:t>格拉德威尔新作</a:t>
            </a:r>
            <a:endParaRPr lang="zh-CN" altLang="en-US" b="1" dirty="0">
              <a:solidFill>
                <a:srgbClr val="2F2715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椭圆 1"/>
          <p:cNvSpPr/>
          <p:nvPr/>
        </p:nvSpPr>
        <p:spPr>
          <a:xfrm>
            <a:off x="7357582" y="388780"/>
            <a:ext cx="1246866" cy="1246866"/>
          </a:xfrm>
          <a:prstGeom prst="ellipse">
            <a:avLst/>
          </a:prstGeom>
          <a:noFill/>
          <a:ln>
            <a:solidFill>
              <a:srgbClr val="EA01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>
            <a:stCxn id="2" idx="1"/>
          </p:cNvCxnSpPr>
          <p:nvPr/>
        </p:nvCxnSpPr>
        <p:spPr>
          <a:xfrm flipV="1">
            <a:off x="7540181" y="460790"/>
            <a:ext cx="704227" cy="11058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stCxn id="2" idx="2"/>
          </p:cNvCxnSpPr>
          <p:nvPr/>
        </p:nvCxnSpPr>
        <p:spPr>
          <a:xfrm flipV="1">
            <a:off x="7357582" y="771551"/>
            <a:ext cx="1191076" cy="240662"/>
          </a:xfrm>
          <a:prstGeom prst="line">
            <a:avLst/>
          </a:prstGeom>
          <a:ln>
            <a:solidFill>
              <a:srgbClr val="E5023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椭圆 15"/>
          <p:cNvSpPr/>
          <p:nvPr/>
        </p:nvSpPr>
        <p:spPr>
          <a:xfrm>
            <a:off x="7452320" y="475510"/>
            <a:ext cx="1080120" cy="1080120"/>
          </a:xfrm>
          <a:prstGeom prst="ellipse">
            <a:avLst/>
          </a:prstGeom>
          <a:noFill/>
          <a:ln>
            <a:solidFill>
              <a:srgbClr val="EA0131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连接符 20"/>
          <p:cNvCxnSpPr>
            <a:stCxn id="16" idx="3"/>
          </p:cNvCxnSpPr>
          <p:nvPr/>
        </p:nvCxnSpPr>
        <p:spPr>
          <a:xfrm flipV="1">
            <a:off x="7610500" y="1215441"/>
            <a:ext cx="921940" cy="182009"/>
          </a:xfrm>
          <a:prstGeom prst="line">
            <a:avLst/>
          </a:prstGeom>
          <a:ln>
            <a:solidFill>
              <a:srgbClr val="E5023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V="1">
            <a:off x="7164288" y="891882"/>
            <a:ext cx="1440160" cy="263393"/>
          </a:xfrm>
          <a:prstGeom prst="line">
            <a:avLst/>
          </a:prstGeom>
          <a:ln>
            <a:solidFill>
              <a:srgbClr val="E5023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 rot="20950554">
            <a:off x="7521832" y="543286"/>
            <a:ext cx="9573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dirty="0" smtClean="0">
                <a:solidFill>
                  <a:srgbClr val="2B2412"/>
                </a:solidFill>
                <a:latin typeface="华康俪金黑W8" pitchFamily="49" charset="-122"/>
                <a:ea typeface="华康俪金黑W8" pitchFamily="49" charset="-122"/>
              </a:rPr>
              <a:t>延 伸</a:t>
            </a:r>
            <a:endParaRPr lang="en-US" altLang="zh-CN" sz="2400" dirty="0" smtClean="0">
              <a:solidFill>
                <a:srgbClr val="2B2412"/>
              </a:solidFill>
              <a:latin typeface="华康俪金黑W8" pitchFamily="49" charset="-122"/>
              <a:ea typeface="华康俪金黑W8" pitchFamily="49" charset="-122"/>
            </a:endParaRPr>
          </a:p>
          <a:p>
            <a:pPr algn="ctr"/>
            <a:r>
              <a:rPr lang="zh-CN" altLang="en-US" sz="2400" dirty="0" smtClean="0">
                <a:solidFill>
                  <a:srgbClr val="2B2412"/>
                </a:solidFill>
                <a:latin typeface="华康俪金黑W8" pitchFamily="49" charset="-122"/>
                <a:ea typeface="华康俪金黑W8" pitchFamily="49" charset="-122"/>
              </a:rPr>
              <a:t>阅 读</a:t>
            </a:r>
            <a:endParaRPr lang="zh-CN" altLang="en-US" sz="2400" dirty="0">
              <a:solidFill>
                <a:srgbClr val="2B2412"/>
              </a:solidFill>
              <a:latin typeface="华康俪金黑W8" pitchFamily="49" charset="-122"/>
              <a:ea typeface="华康俪金黑W8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90129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1520" y="7715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1635645"/>
            <a:ext cx="9144000" cy="155737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94" b="100000" l="100" r="100000">
                        <a14:foregroundMark x1="83916" y1="11445" x2="83916" y2="11445"/>
                        <a14:foregroundMark x1="41858" y1="1734" x2="41858" y2="1734"/>
                        <a14:foregroundMark x1="35465" y1="6358" x2="35465" y2="6358"/>
                        <a14:foregroundMark x1="21479" y1="28671" x2="21479" y2="28671"/>
                        <a14:foregroundMark x1="2298" y1="58266" x2="2298" y2="58266"/>
                        <a14:foregroundMark x1="10490" y1="85318" x2="10490" y2="85318"/>
                        <a14:foregroundMark x1="19880" y1="70289" x2="19880" y2="70289"/>
                        <a14:foregroundMark x1="59441" y1="88786" x2="59441" y2="88786"/>
                        <a14:foregroundMark x1="77922" y1="69364" x2="77922" y2="69364"/>
                        <a14:foregroundMark x1="84316" y1="57341" x2="84316" y2="57341"/>
                        <a14:foregroundMark x1="87113" y1="45549" x2="87113" y2="45549"/>
                        <a14:foregroundMark x1="84116" y1="44624" x2="84116" y2="44624"/>
                        <a14:foregroundMark x1="63736" y1="11908" x2="63736" y2="11908"/>
                        <a14:foregroundMark x1="22877" y1="16532" x2="22877" y2="1653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3086" y="1923678"/>
            <a:ext cx="2937827" cy="253868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47664" y="1923678"/>
            <a:ext cx="405752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800" dirty="0" smtClean="0">
                <a:solidFill>
                  <a:schemeClr val="bg1"/>
                </a:solidFill>
                <a:latin typeface="方正喵呜体" pitchFamily="2" charset="-122"/>
                <a:ea typeface="方正喵呜体" pitchFamily="2" charset="-122"/>
              </a:rPr>
              <a:t>THE END</a:t>
            </a:r>
            <a:endParaRPr lang="zh-CN" altLang="en-US" sz="8800" dirty="0">
              <a:solidFill>
                <a:schemeClr val="bg1"/>
              </a:solidFill>
              <a:latin typeface="方正喵呜体" pitchFamily="2" charset="-122"/>
              <a:ea typeface="方正喵呜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2579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94874" y="807838"/>
            <a:ext cx="5554256" cy="3166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8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3180579" y="2134942"/>
            <a:ext cx="87481" cy="16277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94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4521824" y="2134942"/>
            <a:ext cx="87481" cy="16277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94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5921516" y="2134942"/>
            <a:ext cx="87481" cy="162770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94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60097" y="2990071"/>
            <a:ext cx="5554256" cy="1344599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>
              <a:spcBef>
                <a:spcPts val="1094"/>
              </a:spcBef>
            </a:pP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094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094"/>
              </a:spcBef>
            </a:pP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094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729"/>
              </a:spcBef>
            </a:pP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729"/>
              </a:spcBef>
            </a:pP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729"/>
              </a:spcBef>
            </a:pP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09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991318" y="3227856"/>
            <a:ext cx="51613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1860098" y="1718815"/>
            <a:ext cx="1180991" cy="814781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94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0" y="2382196"/>
              <a:ext cx="1728240" cy="9836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094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094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094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0"/>
              <a:ext cx="504070" cy="4292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3241230" y="1718817"/>
            <a:ext cx="1180991" cy="982937"/>
            <a:chOff x="107380" y="2024805"/>
            <a:chExt cx="1944270" cy="1618211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94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0" y="2382194"/>
              <a:ext cx="1728240" cy="126082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094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094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4292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599743" y="1718815"/>
            <a:ext cx="1180991" cy="814781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94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0" y="2382196"/>
              <a:ext cx="1728240" cy="9836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094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0"/>
              <a:ext cx="504070" cy="4292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5965254" y="1718815"/>
            <a:ext cx="1180991" cy="814781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94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0" y="2382196"/>
              <a:ext cx="1728240" cy="9836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0"/>
              <a:ext cx="504070" cy="42921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094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7329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797292" y="2965403"/>
            <a:ext cx="5569445" cy="985849"/>
            <a:chOff x="0" y="3359571"/>
            <a:chExt cx="9169004" cy="1623009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2" cy="58312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55877">
                <a:defRPr/>
              </a:pPr>
              <a:r>
                <a:rPr lang="en-US" altLang="zh-CN" sz="851" kern="0" dirty="0">
                  <a:solidFill>
                    <a:prstClr val="black"/>
                  </a:solidFill>
                </a:rPr>
                <a:t/>
              </a:r>
              <a:br>
                <a:rPr lang="en-US" altLang="zh-CN" sz="851" kern="0" dirty="0">
                  <a:solidFill>
                    <a:prstClr val="black"/>
                  </a:solidFill>
                </a:rPr>
              </a:br>
              <a:endParaRPr lang="en-US" altLang="zh-CN" sz="851" kern="0" dirty="0">
                <a:solidFill>
                  <a:prstClr val="black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416572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21" kern="0">
                <a:solidFill>
                  <a:prstClr val="white"/>
                </a:solidFill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416572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639" kern="0">
                <a:solidFill>
                  <a:prstClr val="white"/>
                </a:solidFill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3" y="3613174"/>
              <a:ext cx="594123" cy="6138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165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823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3644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70" y="3441723"/>
              <a:ext cx="3618640" cy="966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165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458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1458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2735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1458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1458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1458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1458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4165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endParaRPr lang="zh-CN" altLang="en-US" sz="47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16572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639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16572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639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16572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639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110678" y="4188245"/>
              <a:ext cx="1709734" cy="4755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16572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277" kern="0" dirty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416572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639" kern="0">
                <a:solidFill>
                  <a:prstClr val="white"/>
                </a:solidFill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16572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639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16572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639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8" y="4183481"/>
              <a:ext cx="757239" cy="7990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16572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1277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416572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21" kern="0">
                <a:solidFill>
                  <a:prstClr val="white"/>
                </a:solidFill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416572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21" kern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5"/>
              <a:ext cx="3193757" cy="3830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4165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zh-CN" altLang="en-US" sz="912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2625534" y="1040881"/>
            <a:ext cx="3892936" cy="1787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87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187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2187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>
              <a:spcBef>
                <a:spcPts val="1823"/>
              </a:spcBef>
            </a:pPr>
            <a:r>
              <a:rPr lang="zh-CN" altLang="en-US" sz="2673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学员寒假读书笔记</a:t>
            </a:r>
            <a:r>
              <a:rPr lang="en-US" altLang="zh-CN" sz="2673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103</a:t>
            </a:r>
            <a:r>
              <a:rPr lang="zh-CN" altLang="en-US" sz="2673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2673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1823"/>
              </a:spcBef>
            </a:pPr>
            <a:r>
              <a:rPr lang="zh-CN" altLang="en-US" sz="1701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1701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1701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1701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5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145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5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500496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4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2964</TotalTime>
  <Words>841</Words>
  <Application>Microsoft Office PowerPoint</Application>
  <PresentationFormat>全屏显示(16:9)</PresentationFormat>
  <Paragraphs>167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31" baseType="lpstr">
      <vt:lpstr>Broadway BT</vt:lpstr>
      <vt:lpstr>方正喵呜体</vt:lpstr>
      <vt:lpstr>方正正黑简体</vt:lpstr>
      <vt:lpstr>方正正中黑简体</vt:lpstr>
      <vt:lpstr>华康俪金黑W8</vt:lpstr>
      <vt:lpstr>华文行楷</vt:lpstr>
      <vt:lpstr>宋体</vt:lpstr>
      <vt:lpstr>微软雅黑</vt:lpstr>
      <vt:lpstr>Arial</vt:lpstr>
      <vt:lpstr>Calibri</vt:lpstr>
      <vt:lpstr>Calibri Light</vt:lpstr>
      <vt:lpstr>Impact</vt:lpstr>
      <vt:lpstr>Wingdings</vt:lpstr>
      <vt:lpstr>Office 主题​​</vt:lpstr>
      <vt:lpstr>4_Office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用户</dc:creator>
  <cp:lastModifiedBy>小巴</cp:lastModifiedBy>
  <cp:revision>43</cp:revision>
  <dcterms:created xsi:type="dcterms:W3CDTF">2014-04-25T08:36:34Z</dcterms:created>
  <dcterms:modified xsi:type="dcterms:W3CDTF">2014-05-11T01:32:53Z</dcterms:modified>
</cp:coreProperties>
</file>