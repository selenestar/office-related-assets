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20"/>
  </p:notesMasterIdLst>
  <p:sldIdLst>
    <p:sldId id="256" r:id="rId4"/>
    <p:sldId id="258" r:id="rId5"/>
    <p:sldId id="259" r:id="rId6"/>
    <p:sldId id="273" r:id="rId7"/>
    <p:sldId id="260" r:id="rId8"/>
    <p:sldId id="272" r:id="rId9"/>
    <p:sldId id="262" r:id="rId10"/>
    <p:sldId id="275" r:id="rId11"/>
    <p:sldId id="263" r:id="rId12"/>
    <p:sldId id="264" r:id="rId13"/>
    <p:sldId id="265" r:id="rId14"/>
    <p:sldId id="274" r:id="rId15"/>
    <p:sldId id="276" r:id="rId16"/>
    <p:sldId id="279" r:id="rId17"/>
    <p:sldId id="277" r:id="rId18"/>
    <p:sldId id="278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DDC5"/>
    <a:srgbClr val="0094AF"/>
    <a:srgbClr val="528770"/>
    <a:srgbClr val="2B2825"/>
    <a:srgbClr val="29B5CE"/>
    <a:srgbClr val="009D8C"/>
    <a:srgbClr val="42A5CE"/>
    <a:srgbClr val="8B9CA4"/>
    <a:srgbClr val="6B8583"/>
    <a:srgbClr val="5273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03" autoAdjust="0"/>
    <p:restoredTop sz="94118" autoAdjust="0"/>
  </p:normalViewPr>
  <p:slideViewPr>
    <p:cSldViewPr snapToGrid="0">
      <p:cViewPr varScale="1">
        <p:scale>
          <a:sx n="67" d="100"/>
          <a:sy n="67" d="100"/>
        </p:scale>
        <p:origin x="96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3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3" d="100"/>
          <a:sy n="43" d="100"/>
        </p:scale>
        <p:origin x="2294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9B265F-9462-4CA9-9193-32774D9460B8}" type="datetimeFigureOut">
              <a:rPr lang="zh-CN" altLang="en-US" smtClean="0"/>
              <a:t>2014/2/25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6EF003-DEA6-4B6D-BB13-680D11EEDA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594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6EF003-DEA6-4B6D-BB13-680D11EEDA3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2631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6EF003-DEA6-4B6D-BB13-680D11EEDA3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285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4C1CF-DD1A-4DE3-9B69-CFB815A3AC18}" type="datetimeFigureOut">
              <a:rPr lang="zh-CN" altLang="en-US" smtClean="0"/>
              <a:t>2014/2/25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9BD1-2995-4F3D-890B-822219C56B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3098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4C1CF-DD1A-4DE3-9B69-CFB815A3AC18}" type="datetimeFigureOut">
              <a:rPr lang="zh-CN" altLang="en-US" smtClean="0"/>
              <a:t>2014/2/25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9BD1-2995-4F3D-890B-822219C56B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132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4C1CF-DD1A-4DE3-9B69-CFB815A3AC18}" type="datetimeFigureOut">
              <a:rPr lang="zh-CN" altLang="en-US" smtClean="0"/>
              <a:t>2014/2/25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9BD1-2995-4F3D-890B-822219C56B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6712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4C1CF-DD1A-4DE3-9B69-CFB815A3AC18}" type="datetimeFigureOut">
              <a:rPr lang="zh-CN" altLang="en-US" smtClean="0"/>
              <a:t>2014/2/25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9BD1-2995-4F3D-890B-822219C56B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1248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4C1CF-DD1A-4DE3-9B69-CFB815A3AC18}" type="datetimeFigureOut">
              <a:rPr lang="zh-CN" altLang="en-US" smtClean="0"/>
              <a:t>2014/2/25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9BD1-2995-4F3D-890B-822219C56B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419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4C1CF-DD1A-4DE3-9B69-CFB815A3AC18}" type="datetimeFigureOut">
              <a:rPr lang="zh-CN" altLang="en-US" smtClean="0"/>
              <a:t>2014/2/25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9BD1-2995-4F3D-890B-822219C56B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7839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4C1CF-DD1A-4DE3-9B69-CFB815A3AC18}" type="datetimeFigureOut">
              <a:rPr lang="zh-CN" altLang="en-US" smtClean="0"/>
              <a:t>2014/2/25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9BD1-2995-4F3D-890B-822219C56B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1733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4C1CF-DD1A-4DE3-9B69-CFB815A3AC18}" type="datetimeFigureOut">
              <a:rPr lang="zh-CN" altLang="en-US" smtClean="0"/>
              <a:t>2014/2/25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9BD1-2995-4F3D-890B-822219C56B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6465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4C1CF-DD1A-4DE3-9B69-CFB815A3AC18}" type="datetimeFigureOut">
              <a:rPr lang="zh-CN" altLang="en-US" smtClean="0"/>
              <a:t>2014/2/25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9BD1-2995-4F3D-890B-822219C56B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355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4C1CF-DD1A-4DE3-9B69-CFB815A3AC18}" type="datetimeFigureOut">
              <a:rPr lang="zh-CN" altLang="en-US" smtClean="0"/>
              <a:t>2014/2/25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9BD1-2995-4F3D-890B-822219C56B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565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4C1CF-DD1A-4DE3-9B69-CFB815A3AC18}" type="datetimeFigureOut">
              <a:rPr lang="zh-CN" altLang="en-US" smtClean="0"/>
              <a:t>2014/2/25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9BD1-2995-4F3D-890B-822219C56B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10731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29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1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3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1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0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5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25568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6059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2"/>
            <a:ext cx="10363200" cy="1362076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1439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878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317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75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19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633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072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51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36156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3"/>
            <a:ext cx="5384800" cy="4525963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2485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39" indent="0">
              <a:buNone/>
              <a:defRPr sz="1800" b="1"/>
            </a:lvl2pPr>
            <a:lvl3pPr marL="822878" indent="0">
              <a:buNone/>
              <a:defRPr sz="1620" b="1"/>
            </a:lvl3pPr>
            <a:lvl4pPr marL="1234317" indent="0">
              <a:buNone/>
              <a:defRPr sz="1440" b="1"/>
            </a:lvl4pPr>
            <a:lvl5pPr marL="1645755" indent="0">
              <a:buNone/>
              <a:defRPr sz="1440" b="1"/>
            </a:lvl5pPr>
            <a:lvl6pPr marL="2057194" indent="0">
              <a:buNone/>
              <a:defRPr sz="1440" b="1"/>
            </a:lvl6pPr>
            <a:lvl7pPr marL="2468633" indent="0">
              <a:buNone/>
              <a:defRPr sz="1440" b="1"/>
            </a:lvl7pPr>
            <a:lvl8pPr marL="2880072" indent="0">
              <a:buNone/>
              <a:defRPr sz="1440" b="1"/>
            </a:lvl8pPr>
            <a:lvl9pPr marL="3291511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39" indent="0">
              <a:buNone/>
              <a:defRPr sz="1800" b="1"/>
            </a:lvl2pPr>
            <a:lvl3pPr marL="822878" indent="0">
              <a:buNone/>
              <a:defRPr sz="1620" b="1"/>
            </a:lvl3pPr>
            <a:lvl4pPr marL="1234317" indent="0">
              <a:buNone/>
              <a:defRPr sz="1440" b="1"/>
            </a:lvl4pPr>
            <a:lvl5pPr marL="1645755" indent="0">
              <a:buNone/>
              <a:defRPr sz="1440" b="1"/>
            </a:lvl5pPr>
            <a:lvl6pPr marL="2057194" indent="0">
              <a:buNone/>
              <a:defRPr sz="1440" b="1"/>
            </a:lvl6pPr>
            <a:lvl7pPr marL="2468633" indent="0">
              <a:buNone/>
              <a:defRPr sz="1440" b="1"/>
            </a:lvl7pPr>
            <a:lvl8pPr marL="2880072" indent="0">
              <a:buNone/>
              <a:defRPr sz="1440" b="1"/>
            </a:lvl8pPr>
            <a:lvl9pPr marL="3291511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21445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06571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52670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1"/>
            <a:ext cx="4011084" cy="1162050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54"/>
            <a:ext cx="6815667" cy="5853113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260"/>
            </a:lvl1pPr>
            <a:lvl2pPr marL="411439" indent="0">
              <a:buNone/>
              <a:defRPr sz="1080"/>
            </a:lvl2pPr>
            <a:lvl3pPr marL="822878" indent="0">
              <a:buNone/>
              <a:defRPr sz="900"/>
            </a:lvl3pPr>
            <a:lvl4pPr marL="1234317" indent="0">
              <a:buNone/>
              <a:defRPr sz="810"/>
            </a:lvl4pPr>
            <a:lvl5pPr marL="1645755" indent="0">
              <a:buNone/>
              <a:defRPr sz="810"/>
            </a:lvl5pPr>
            <a:lvl6pPr marL="2057194" indent="0">
              <a:buNone/>
              <a:defRPr sz="810"/>
            </a:lvl6pPr>
            <a:lvl7pPr marL="2468633" indent="0">
              <a:buNone/>
              <a:defRPr sz="810"/>
            </a:lvl7pPr>
            <a:lvl8pPr marL="2880072" indent="0">
              <a:buNone/>
              <a:defRPr sz="810"/>
            </a:lvl8pPr>
            <a:lvl9pPr marL="3291511" indent="0">
              <a:buNone/>
              <a:defRPr sz="81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47475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880"/>
            </a:lvl1pPr>
            <a:lvl2pPr marL="411439" indent="0">
              <a:buNone/>
              <a:defRPr sz="2520"/>
            </a:lvl2pPr>
            <a:lvl3pPr marL="822878" indent="0">
              <a:buNone/>
              <a:defRPr sz="2160"/>
            </a:lvl3pPr>
            <a:lvl4pPr marL="1234317" indent="0">
              <a:buNone/>
              <a:defRPr sz="1800"/>
            </a:lvl4pPr>
            <a:lvl5pPr marL="1645755" indent="0">
              <a:buNone/>
              <a:defRPr sz="1800"/>
            </a:lvl5pPr>
            <a:lvl6pPr marL="2057194" indent="0">
              <a:buNone/>
              <a:defRPr sz="1800"/>
            </a:lvl6pPr>
            <a:lvl7pPr marL="2468633" indent="0">
              <a:buNone/>
              <a:defRPr sz="1800"/>
            </a:lvl7pPr>
            <a:lvl8pPr marL="2880072" indent="0">
              <a:buNone/>
              <a:defRPr sz="1800"/>
            </a:lvl8pPr>
            <a:lvl9pPr marL="3291511" indent="0">
              <a:buNone/>
              <a:defRPr sz="18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260"/>
            </a:lvl1pPr>
            <a:lvl2pPr marL="411439" indent="0">
              <a:buNone/>
              <a:defRPr sz="1080"/>
            </a:lvl2pPr>
            <a:lvl3pPr marL="822878" indent="0">
              <a:buNone/>
              <a:defRPr sz="900"/>
            </a:lvl3pPr>
            <a:lvl4pPr marL="1234317" indent="0">
              <a:buNone/>
              <a:defRPr sz="810"/>
            </a:lvl4pPr>
            <a:lvl5pPr marL="1645755" indent="0">
              <a:buNone/>
              <a:defRPr sz="810"/>
            </a:lvl5pPr>
            <a:lvl6pPr marL="2057194" indent="0">
              <a:buNone/>
              <a:defRPr sz="810"/>
            </a:lvl6pPr>
            <a:lvl7pPr marL="2468633" indent="0">
              <a:buNone/>
              <a:defRPr sz="810"/>
            </a:lvl7pPr>
            <a:lvl8pPr marL="2880072" indent="0">
              <a:buNone/>
              <a:defRPr sz="810"/>
            </a:lvl8pPr>
            <a:lvl9pPr marL="3291511" indent="0">
              <a:buNone/>
              <a:defRPr sz="81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98482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29541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2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98179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29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1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3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1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0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5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62970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980728"/>
            <a:ext cx="10972800" cy="1143000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" y="0"/>
            <a:ext cx="12192000" cy="62068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371500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68916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2"/>
            <a:ext cx="10363200" cy="1362076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1439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878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317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75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19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633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072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51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5006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3"/>
            <a:ext cx="5384800" cy="4525963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17194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39" indent="0">
              <a:buNone/>
              <a:defRPr sz="1800" b="1"/>
            </a:lvl2pPr>
            <a:lvl3pPr marL="822878" indent="0">
              <a:buNone/>
              <a:defRPr sz="1620" b="1"/>
            </a:lvl3pPr>
            <a:lvl4pPr marL="1234317" indent="0">
              <a:buNone/>
              <a:defRPr sz="1440" b="1"/>
            </a:lvl4pPr>
            <a:lvl5pPr marL="1645755" indent="0">
              <a:buNone/>
              <a:defRPr sz="1440" b="1"/>
            </a:lvl5pPr>
            <a:lvl6pPr marL="2057194" indent="0">
              <a:buNone/>
              <a:defRPr sz="1440" b="1"/>
            </a:lvl6pPr>
            <a:lvl7pPr marL="2468633" indent="0">
              <a:buNone/>
              <a:defRPr sz="1440" b="1"/>
            </a:lvl7pPr>
            <a:lvl8pPr marL="2880072" indent="0">
              <a:buNone/>
              <a:defRPr sz="1440" b="1"/>
            </a:lvl8pPr>
            <a:lvl9pPr marL="3291511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39" indent="0">
              <a:buNone/>
              <a:defRPr sz="1800" b="1"/>
            </a:lvl2pPr>
            <a:lvl3pPr marL="822878" indent="0">
              <a:buNone/>
              <a:defRPr sz="1620" b="1"/>
            </a:lvl3pPr>
            <a:lvl4pPr marL="1234317" indent="0">
              <a:buNone/>
              <a:defRPr sz="1440" b="1"/>
            </a:lvl4pPr>
            <a:lvl5pPr marL="1645755" indent="0">
              <a:buNone/>
              <a:defRPr sz="1440" b="1"/>
            </a:lvl5pPr>
            <a:lvl6pPr marL="2057194" indent="0">
              <a:buNone/>
              <a:defRPr sz="1440" b="1"/>
            </a:lvl6pPr>
            <a:lvl7pPr marL="2468633" indent="0">
              <a:buNone/>
              <a:defRPr sz="1440" b="1"/>
            </a:lvl7pPr>
            <a:lvl8pPr marL="2880072" indent="0">
              <a:buNone/>
              <a:defRPr sz="1440" b="1"/>
            </a:lvl8pPr>
            <a:lvl9pPr marL="3291511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99782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9228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5262" y="-51325"/>
            <a:ext cx="12186739" cy="706828"/>
          </a:xfrm>
          <a:prstGeom prst="rect">
            <a:avLst/>
          </a:prstGeom>
          <a:solidFill>
            <a:srgbClr val="9B743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6" name="椭圆 5"/>
          <p:cNvSpPr/>
          <p:nvPr userDrawn="1"/>
        </p:nvSpPr>
        <p:spPr>
          <a:xfrm>
            <a:off x="1193135" y="585521"/>
            <a:ext cx="624069" cy="468000"/>
          </a:xfrm>
          <a:prstGeom prst="ellipse">
            <a:avLst/>
          </a:prstGeom>
          <a:solidFill>
            <a:srgbClr val="D1B48C"/>
          </a:solidFill>
          <a:ln>
            <a:solidFill>
              <a:schemeClr val="bg1"/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5261" y="26340"/>
            <a:ext cx="1440000" cy="1080000"/>
          </a:xfrm>
          <a:prstGeom prst="ellipse">
            <a:avLst/>
          </a:prstGeom>
          <a:blipFill dpi="0" rotWithShape="1">
            <a:blip r:embed="rId2"/>
            <a:srcRect/>
            <a:tile tx="-177800" ty="-158750" sx="100000" sy="100000" flip="none" algn="tl"/>
          </a:blipFill>
          <a:ln>
            <a:solidFill>
              <a:schemeClr val="bg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374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1"/>
            <a:ext cx="4011084" cy="1162050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54"/>
            <a:ext cx="6815667" cy="5853113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260"/>
            </a:lvl1pPr>
            <a:lvl2pPr marL="411439" indent="0">
              <a:buNone/>
              <a:defRPr sz="1080"/>
            </a:lvl2pPr>
            <a:lvl3pPr marL="822878" indent="0">
              <a:buNone/>
              <a:defRPr sz="900"/>
            </a:lvl3pPr>
            <a:lvl4pPr marL="1234317" indent="0">
              <a:buNone/>
              <a:defRPr sz="810"/>
            </a:lvl4pPr>
            <a:lvl5pPr marL="1645755" indent="0">
              <a:buNone/>
              <a:defRPr sz="810"/>
            </a:lvl5pPr>
            <a:lvl6pPr marL="2057194" indent="0">
              <a:buNone/>
              <a:defRPr sz="810"/>
            </a:lvl6pPr>
            <a:lvl7pPr marL="2468633" indent="0">
              <a:buNone/>
              <a:defRPr sz="810"/>
            </a:lvl7pPr>
            <a:lvl8pPr marL="2880072" indent="0">
              <a:buNone/>
              <a:defRPr sz="810"/>
            </a:lvl8pPr>
            <a:lvl9pPr marL="3291511" indent="0">
              <a:buNone/>
              <a:defRPr sz="81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57132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880"/>
            </a:lvl1pPr>
            <a:lvl2pPr marL="411439" indent="0">
              <a:buNone/>
              <a:defRPr sz="2520"/>
            </a:lvl2pPr>
            <a:lvl3pPr marL="822878" indent="0">
              <a:buNone/>
              <a:defRPr sz="2160"/>
            </a:lvl3pPr>
            <a:lvl4pPr marL="1234317" indent="0">
              <a:buNone/>
              <a:defRPr sz="1800"/>
            </a:lvl4pPr>
            <a:lvl5pPr marL="1645755" indent="0">
              <a:buNone/>
              <a:defRPr sz="1800"/>
            </a:lvl5pPr>
            <a:lvl6pPr marL="2057194" indent="0">
              <a:buNone/>
              <a:defRPr sz="1800"/>
            </a:lvl6pPr>
            <a:lvl7pPr marL="2468633" indent="0">
              <a:buNone/>
              <a:defRPr sz="1800"/>
            </a:lvl7pPr>
            <a:lvl8pPr marL="2880072" indent="0">
              <a:buNone/>
              <a:defRPr sz="1800"/>
            </a:lvl8pPr>
            <a:lvl9pPr marL="3291511" indent="0">
              <a:buNone/>
              <a:defRPr sz="18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260"/>
            </a:lvl1pPr>
            <a:lvl2pPr marL="411439" indent="0">
              <a:buNone/>
              <a:defRPr sz="1080"/>
            </a:lvl2pPr>
            <a:lvl3pPr marL="822878" indent="0">
              <a:buNone/>
              <a:defRPr sz="900"/>
            </a:lvl3pPr>
            <a:lvl4pPr marL="1234317" indent="0">
              <a:buNone/>
              <a:defRPr sz="810"/>
            </a:lvl4pPr>
            <a:lvl5pPr marL="1645755" indent="0">
              <a:buNone/>
              <a:defRPr sz="810"/>
            </a:lvl5pPr>
            <a:lvl6pPr marL="2057194" indent="0">
              <a:buNone/>
              <a:defRPr sz="810"/>
            </a:lvl6pPr>
            <a:lvl7pPr marL="2468633" indent="0">
              <a:buNone/>
              <a:defRPr sz="810"/>
            </a:lvl7pPr>
            <a:lvl8pPr marL="2880072" indent="0">
              <a:buNone/>
              <a:defRPr sz="810"/>
            </a:lvl8pPr>
            <a:lvl9pPr marL="3291511" indent="0">
              <a:buNone/>
              <a:defRPr sz="81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247012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278757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2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1251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fld id="{1724C1CF-DD1A-4DE3-9B69-CFB815A3AC18}" type="datetimeFigureOut">
              <a:rPr lang="zh-CN" altLang="en-US" smtClean="0"/>
              <a:pPr/>
              <a:t>2014/2/25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fld id="{93BB9BD1-2995-4F3D-890B-822219C56B5A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163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1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1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1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1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6713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822878" rtl="0" eaLnBrk="1" latinLnBrk="0" hangingPunct="1"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8579" indent="-308579" algn="l" defTabSz="822878" rtl="0" eaLnBrk="1" latinLnBrk="0" hangingPunct="1">
        <a:spcBef>
          <a:spcPct val="20000"/>
        </a:spcBef>
        <a:buFont typeface="Arial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668589" indent="-257150" algn="l" defTabSz="822878" rtl="0" eaLnBrk="1" latinLnBrk="0" hangingPunct="1">
        <a:spcBef>
          <a:spcPct val="20000"/>
        </a:spcBef>
        <a:buFont typeface="Arial" pitchFamily="34" charset="0"/>
        <a:buChar char="–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028597" indent="-205719" algn="l" defTabSz="822878" rtl="0" eaLnBrk="1" latinLnBrk="0" hangingPunct="1">
        <a:spcBef>
          <a:spcPct val="20000"/>
        </a:spcBef>
        <a:buFont typeface="Arial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440036" indent="-205719" algn="l" defTabSz="822878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51475" indent="-205719" algn="l" defTabSz="822878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62914" indent="-205719" algn="l" defTabSz="82287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353" indent="-205719" algn="l" defTabSz="82287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5791" indent="-205719" algn="l" defTabSz="82287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230" indent="-205719" algn="l" defTabSz="82287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39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878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317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755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194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633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072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511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1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1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1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1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094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ctr" defTabSz="822878" rtl="0" eaLnBrk="1" latinLnBrk="0" hangingPunct="1"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8579" indent="-308579" algn="l" defTabSz="822878" rtl="0" eaLnBrk="1" latinLnBrk="0" hangingPunct="1">
        <a:spcBef>
          <a:spcPct val="20000"/>
        </a:spcBef>
        <a:buFont typeface="Arial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668589" indent="-257150" algn="l" defTabSz="822878" rtl="0" eaLnBrk="1" latinLnBrk="0" hangingPunct="1">
        <a:spcBef>
          <a:spcPct val="20000"/>
        </a:spcBef>
        <a:buFont typeface="Arial" pitchFamily="34" charset="0"/>
        <a:buChar char="–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028597" indent="-205719" algn="l" defTabSz="822878" rtl="0" eaLnBrk="1" latinLnBrk="0" hangingPunct="1">
        <a:spcBef>
          <a:spcPct val="20000"/>
        </a:spcBef>
        <a:buFont typeface="Arial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440036" indent="-205719" algn="l" defTabSz="822878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51475" indent="-205719" algn="l" defTabSz="822878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62914" indent="-205719" algn="l" defTabSz="82287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353" indent="-205719" algn="l" defTabSz="82287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5791" indent="-205719" algn="l" defTabSz="82287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230" indent="-205719" algn="l" defTabSz="82287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39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878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317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755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194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633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072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511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626252" y="1657873"/>
            <a:ext cx="3590099" cy="1281523"/>
          </a:xfrm>
        </p:spPr>
        <p:txBody>
          <a:bodyPr>
            <a:normAutofit fontScale="90000"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67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真北团队</a:t>
            </a:r>
            <a:r>
              <a:rPr lang="en-US" altLang="zh-CN" sz="6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/>
            </a:r>
            <a:br>
              <a:rPr lang="en-US" altLang="zh-CN" sz="6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</a:br>
            <a:r>
              <a:rPr lang="en-US" altLang="zh-CN" sz="3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 North Groups</a:t>
            </a:r>
            <a:endParaRPr lang="zh-CN" altLang="en-US" sz="49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642101" y="3568700"/>
            <a:ext cx="3517900" cy="1522926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著</a:t>
            </a:r>
            <a:r>
              <a:rPr lang="zh-CN" alt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：比尔</a:t>
            </a:r>
            <a:r>
              <a:rPr lang="en-US" altLang="zh-CN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乔治  </a:t>
            </a:r>
            <a:r>
              <a:rPr lang="en-US" altLang="zh-CN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 </a:t>
            </a:r>
            <a:r>
              <a:rPr lang="zh-CN" alt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道格</a:t>
            </a:r>
            <a:r>
              <a:rPr lang="en-US" altLang="zh-CN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贝克</a:t>
            </a:r>
          </a:p>
          <a:p>
            <a:pPr algn="l">
              <a:lnSpc>
                <a:spcPct val="100000"/>
              </a:lnSpc>
            </a:pPr>
            <a:r>
              <a:rPr lang="zh-CN" alt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译：吴振阳等</a:t>
            </a:r>
            <a:endParaRPr lang="en-US" altLang="zh-CN" sz="2000" b="1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制作：</a:t>
            </a:r>
            <a:r>
              <a:rPr lang="en-US" altLang="zh-CN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en-US" altLang="zh-CN" sz="20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Eline</a:t>
            </a:r>
            <a:r>
              <a:rPr lang="zh-CN" alt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若蓝</a:t>
            </a:r>
            <a:endParaRPr lang="en-US" altLang="zh-CN" sz="2000" b="1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8" name="矩形 827"/>
          <p:cNvSpPr/>
          <p:nvPr/>
        </p:nvSpPr>
        <p:spPr>
          <a:xfrm>
            <a:off x="0" y="1566332"/>
            <a:ext cx="6604000" cy="128152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28770"/>
              </a:solidFill>
            </a:endParaRPr>
          </a:p>
        </p:txBody>
      </p:sp>
      <p:sp>
        <p:nvSpPr>
          <p:cNvPr id="829" name="矩形 828"/>
          <p:cNvSpPr/>
          <p:nvPr/>
        </p:nvSpPr>
        <p:spPr>
          <a:xfrm>
            <a:off x="10248900" y="1566331"/>
            <a:ext cx="1943100" cy="128152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70C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63" r="14757"/>
          <a:stretch/>
        </p:blipFill>
        <p:spPr>
          <a:xfrm>
            <a:off x="1959664" y="1221525"/>
            <a:ext cx="3145736" cy="39219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48291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943100" y="1631950"/>
            <a:ext cx="8267700" cy="3473450"/>
            <a:chOff x="2700338" y="2000250"/>
            <a:chExt cx="6829426" cy="2857499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00338" y="2000250"/>
              <a:ext cx="6829426" cy="285749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4" name="文本框 3"/>
            <p:cNvSpPr txBox="1"/>
            <p:nvPr/>
          </p:nvSpPr>
          <p:spPr>
            <a:xfrm>
              <a:off x="3424193" y="3947720"/>
              <a:ext cx="1982736" cy="4810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32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True North</a:t>
              </a:r>
              <a:endPara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4462467" y="2843128"/>
              <a:ext cx="944463" cy="914959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北</a:t>
              </a:r>
              <a:endParaRPr lang="zh-CN" altLang="en-US" sz="7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3424194" y="2669662"/>
              <a:ext cx="1038273" cy="1095635"/>
            </a:xfrm>
            <a:prstGeom prst="rect">
              <a:avLst/>
            </a:prstGeom>
            <a:noFill/>
            <a:ln w="25400"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7200" b="1" dirty="0" smtClean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真</a:t>
              </a:r>
              <a:endParaRPr lang="zh-CN" altLang="en-US" sz="7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9" name="直接连接符 18"/>
            <p:cNvCxnSpPr/>
            <p:nvPr/>
          </p:nvCxnSpPr>
          <p:spPr>
            <a:xfrm>
              <a:off x="3424194" y="3939439"/>
              <a:ext cx="1982736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/>
          <p:cNvSpPr txBox="1"/>
          <p:nvPr/>
        </p:nvSpPr>
        <p:spPr>
          <a:xfrm>
            <a:off x="5479924" y="3091180"/>
            <a:ext cx="4032376" cy="164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代表：</a:t>
            </a:r>
            <a:endParaRPr lang="en-US" altLang="zh-CN" sz="24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人生</a:t>
            </a:r>
            <a:r>
              <a:rPr lang="zh-CN" altLang="en-US" sz="2000" dirty="0">
                <a:solidFill>
                  <a:srgbClr val="0070C0"/>
                </a:solidFill>
                <a:ea typeface="微软雅黑" panose="020B0503020204020204" pitchFamily="34" charset="-122"/>
              </a:rPr>
              <a:t>信念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 dirty="0">
                <a:solidFill>
                  <a:srgbClr val="0070C0"/>
                </a:solidFill>
                <a:ea typeface="微软雅黑" panose="020B0503020204020204" pitchFamily="34" charset="-122"/>
              </a:rPr>
              <a:t>价值观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</a:t>
            </a:r>
            <a:r>
              <a:rPr lang="zh-CN" altLang="en-US" sz="2000" dirty="0">
                <a:solidFill>
                  <a:srgbClr val="0070C0"/>
                </a:solidFill>
                <a:ea typeface="微软雅黑" panose="020B0503020204020204" pitchFamily="34" charset="-122"/>
              </a:rPr>
              <a:t>激情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2000" dirty="0">
                <a:solidFill>
                  <a:srgbClr val="0070C0"/>
                </a:solidFill>
                <a:ea typeface="微软雅黑" panose="020B0503020204020204" pitchFamily="34" charset="-122"/>
              </a:rPr>
              <a:t>动力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</a:t>
            </a:r>
            <a:r>
              <a:rPr lang="zh-CN" altLang="en-US" sz="2000" dirty="0">
                <a:solidFill>
                  <a:srgbClr val="0070C0"/>
                </a:solidFill>
                <a:ea typeface="微软雅黑" panose="020B0503020204020204" pitchFamily="34" charset="-122"/>
              </a:rPr>
              <a:t>幸福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源泉，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简言之就是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正确的人生方向</a:t>
            </a:r>
            <a:r>
              <a:rPr lang="zh-CN" altLang="en-US" sz="2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2819400" y="4559186"/>
            <a:ext cx="2400299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660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742949"/>
            <a:ext cx="8204200" cy="53006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447550" y="1529678"/>
            <a:ext cx="3212500" cy="933115"/>
          </a:xfrm>
          <a:ln>
            <a:noFill/>
            <a:prstDash val="dash"/>
          </a:ln>
        </p:spPr>
        <p:txBody>
          <a:bodyPr>
            <a:noAutofit/>
          </a:bodyPr>
          <a:lstStyle/>
          <a:p>
            <a:r>
              <a:rPr lang="en-US" altLang="zh-CN" b="1" dirty="0" smtClean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b="1" dirty="0" smtClean="0">
                <a:solidFill>
                  <a:srgbClr val="0070C0"/>
                </a:solidFill>
              </a:rPr>
              <a:t>团队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124549" y="2462793"/>
            <a:ext cx="5909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Powerful Path to personal and Leadership Development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2195733" y="996251"/>
            <a:ext cx="1828800" cy="183587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真北</a:t>
            </a:r>
            <a:endParaRPr lang="zh-CN" altLang="en-US" sz="4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172200" y="50035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0566684"/>
              </p:ext>
            </p:extLst>
          </p:nvPr>
        </p:nvGraphicFramePr>
        <p:xfrm>
          <a:off x="2700338" y="3369943"/>
          <a:ext cx="7319714" cy="277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81301"/>
                <a:gridCol w="5938413"/>
              </a:tblGrid>
              <a:tr h="857852">
                <a:tc rowSpan="3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定义 </a:t>
                      </a:r>
                      <a:r>
                        <a:rPr lang="en-US" altLang="zh-CN" sz="2800" dirty="0" smtClean="0">
                          <a:solidFill>
                            <a:srgbClr val="0070C0"/>
                          </a:solidFill>
                          <a:latin typeface="+mn-ea"/>
                        </a:rPr>
                        <a:t>·</a:t>
                      </a:r>
                      <a:endParaRPr lang="zh-CN" altLang="en-US" sz="2800" dirty="0" smtClean="0">
                        <a:solidFill>
                          <a:srgbClr val="0070C0"/>
                        </a:solidFill>
                        <a:latin typeface="+mn-ea"/>
                      </a:endParaRPr>
                    </a:p>
                    <a:p>
                      <a:endParaRPr lang="zh-CN" altLang="en-US" sz="28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意义 </a:t>
                      </a:r>
                      <a:r>
                        <a:rPr lang="en-US" altLang="zh-CN" sz="2800" dirty="0" smtClean="0">
                          <a:solidFill>
                            <a:srgbClr val="0070C0"/>
                          </a:solidFill>
                          <a:latin typeface="+mn-ea"/>
                        </a:rPr>
                        <a:t>·</a:t>
                      </a:r>
                      <a:endParaRPr lang="zh-CN" altLang="en-US" sz="2800" dirty="0" smtClean="0">
                        <a:solidFill>
                          <a:srgbClr val="0070C0"/>
                        </a:solidFill>
                        <a:latin typeface="+mn-ea"/>
                      </a:endParaRPr>
                    </a:p>
                    <a:p>
                      <a:endParaRPr lang="zh-CN" altLang="en-US" sz="2800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特色 </a:t>
                      </a:r>
                      <a:r>
                        <a:rPr lang="en-US" altLang="zh-CN" sz="2800" dirty="0" smtClean="0">
                          <a:solidFill>
                            <a:srgbClr val="0070C0"/>
                          </a:solidFill>
                          <a:latin typeface="+mn-ea"/>
                        </a:rPr>
                        <a:t>·</a:t>
                      </a:r>
                      <a:endParaRPr lang="zh-CN" altLang="en-US" sz="28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endParaRPr lang="zh-CN" altLang="en-US" dirty="0"/>
                    </a:p>
                  </a:txBody>
                  <a:tcPr anchor="ctr">
                    <a:lnL w="28575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由</a:t>
                      </a:r>
                      <a:r>
                        <a:rPr lang="en-US" altLang="zh-CN" sz="1800" dirty="0" smtClean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6-8</a:t>
                      </a:r>
                      <a:r>
                        <a:rPr lang="zh-CN" altLang="en-US" sz="1800" dirty="0" smtClean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</a:t>
                      </a:r>
                      <a:r>
                        <a:rPr lang="zh-CN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组成，成员</a:t>
                      </a:r>
                      <a:r>
                        <a:rPr lang="zh-CN" altLang="en-US" sz="1800" dirty="0" smtClean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定期会面</a:t>
                      </a:r>
                      <a:r>
                        <a:rPr lang="zh-CN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，共同</a:t>
                      </a:r>
                      <a:r>
                        <a:rPr lang="zh-CN" altLang="en-US" sz="1800" dirty="0" smtClean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分享</a:t>
                      </a:r>
                      <a:r>
                        <a:rPr lang="zh-CN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个人面临的</a:t>
                      </a:r>
                      <a:r>
                        <a:rPr lang="zh-CN" altLang="en-US" sz="1800" dirty="0" smtClean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挑战</a:t>
                      </a:r>
                      <a:r>
                        <a:rPr lang="zh-CN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并</a:t>
                      </a:r>
                      <a:r>
                        <a:rPr lang="zh-CN" altLang="en-US" sz="1800" dirty="0" smtClean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讨论</a:t>
                      </a:r>
                      <a:r>
                        <a:rPr lang="zh-CN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各自生活中的重要</a:t>
                      </a:r>
                      <a:r>
                        <a:rPr lang="zh-CN" altLang="en-US" sz="1800" dirty="0" smtClean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</a:t>
                      </a:r>
                      <a:r>
                        <a:rPr lang="zh-CN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en-US" altLang="zh-CN" sz="18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28575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70C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127846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rgbClr val="0070C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70C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70C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70C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提供一个</a:t>
                      </a:r>
                      <a:r>
                        <a:rPr lang="zh-CN" altLang="en-US" sz="1800" dirty="0" smtClean="0">
                          <a:solidFill>
                            <a:srgbClr val="0070C0"/>
                          </a:solidFill>
                          <a:ea typeface="微软雅黑" panose="020B0503020204020204" pitchFamily="34" charset="-122"/>
                        </a:rPr>
                        <a:t>安全</a:t>
                      </a:r>
                      <a:r>
                        <a:rPr lang="zh-CN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</a:t>
                      </a:r>
                      <a:r>
                        <a:rPr lang="zh-CN" altLang="en-US" sz="1800" dirty="0" smtClean="0">
                          <a:solidFill>
                            <a:srgbClr val="0070C0"/>
                          </a:solidFill>
                          <a:ea typeface="微软雅黑" panose="020B0503020204020204" pitchFamily="34" charset="-122"/>
                        </a:rPr>
                        <a:t>场所</a:t>
                      </a:r>
                      <a:r>
                        <a:rPr lang="zh-CN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来探讨</a:t>
                      </a:r>
                      <a:r>
                        <a:rPr lang="zh-CN" altLang="en-US" sz="1800" dirty="0" smtClean="0">
                          <a:solidFill>
                            <a:srgbClr val="0070C0"/>
                          </a:solidFill>
                          <a:ea typeface="微软雅黑" panose="020B0503020204020204" pitchFamily="34" charset="-122"/>
                        </a:rPr>
                        <a:t>情感</a:t>
                      </a:r>
                      <a:r>
                        <a:rPr lang="en-US" altLang="zh-CN" sz="1800" dirty="0" smtClean="0">
                          <a:solidFill>
                            <a:srgbClr val="2B2825"/>
                          </a:solidFill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800" dirty="0" smtClean="0">
                          <a:solidFill>
                            <a:srgbClr val="0070C0"/>
                          </a:solidFill>
                          <a:ea typeface="微软雅黑" panose="020B0503020204020204" pitchFamily="34" charset="-122"/>
                        </a:rPr>
                        <a:t>归属</a:t>
                      </a:r>
                      <a:r>
                        <a:rPr lang="zh-CN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需求、</a:t>
                      </a:r>
                      <a:r>
                        <a:rPr lang="zh-CN" altLang="en-US" sz="1800" dirty="0" smtClean="0">
                          <a:solidFill>
                            <a:srgbClr val="0070C0"/>
                          </a:solidFill>
                          <a:ea typeface="微软雅黑" panose="020B0503020204020204" pitchFamily="34" charset="-122"/>
                        </a:rPr>
                        <a:t>尊重</a:t>
                      </a:r>
                      <a:r>
                        <a:rPr lang="zh-CN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需求和</a:t>
                      </a:r>
                      <a:r>
                        <a:rPr lang="zh-CN" altLang="en-US" sz="1800" dirty="0" smtClean="0">
                          <a:solidFill>
                            <a:srgbClr val="0070C0"/>
                          </a:solidFill>
                          <a:ea typeface="微软雅黑" panose="020B0503020204020204" pitchFamily="34" charset="-122"/>
                        </a:rPr>
                        <a:t>自我实现</a:t>
                      </a:r>
                      <a:r>
                        <a:rPr lang="zh-CN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需求；帮助成员确定</a:t>
                      </a:r>
                      <a:r>
                        <a:rPr lang="zh-CN" altLang="en-US" sz="1800" dirty="0" smtClean="0">
                          <a:solidFill>
                            <a:srgbClr val="0070C0"/>
                          </a:solidFill>
                          <a:ea typeface="微软雅黑" panose="020B0503020204020204" pitchFamily="34" charset="-122"/>
                        </a:rPr>
                        <a:t>价值观</a:t>
                      </a:r>
                      <a:r>
                        <a:rPr lang="zh-CN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</a:t>
                      </a:r>
                      <a:r>
                        <a:rPr lang="zh-CN" altLang="en-US" sz="1800" dirty="0" smtClean="0">
                          <a:solidFill>
                            <a:srgbClr val="0070C0"/>
                          </a:solidFill>
                          <a:ea typeface="微软雅黑" panose="020B0503020204020204" pitchFamily="34" charset="-122"/>
                        </a:rPr>
                        <a:t>信仰</a:t>
                      </a:r>
                      <a:r>
                        <a:rPr lang="zh-CN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，深入</a:t>
                      </a:r>
                      <a:r>
                        <a:rPr lang="zh-CN" altLang="en-US" sz="1800" dirty="0" smtClean="0">
                          <a:solidFill>
                            <a:srgbClr val="0070C0"/>
                          </a:solidFill>
                          <a:ea typeface="微软雅黑" panose="020B0503020204020204" pitchFamily="34" charset="-122"/>
                        </a:rPr>
                        <a:t>认识自己</a:t>
                      </a:r>
                      <a:r>
                        <a:rPr lang="zh-CN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，提高</a:t>
                      </a:r>
                      <a:r>
                        <a:rPr lang="zh-CN" altLang="en-US" sz="1800" dirty="0" smtClean="0">
                          <a:solidFill>
                            <a:srgbClr val="0070C0"/>
                          </a:solidFill>
                          <a:ea typeface="微软雅黑" panose="020B0503020204020204" pitchFamily="34" charset="-122"/>
                        </a:rPr>
                        <a:t>自我认知</a:t>
                      </a:r>
                      <a:r>
                        <a:rPr lang="zh-CN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en-US" altLang="zh-CN" sz="18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28575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70C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70C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86302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rgbClr val="0070C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70C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70C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70C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成员之间</a:t>
                      </a:r>
                      <a:r>
                        <a:rPr lang="zh-CN" altLang="en-US" sz="1800" dirty="0" smtClean="0">
                          <a:solidFill>
                            <a:srgbClr val="0070C0"/>
                          </a:solidFill>
                          <a:ea typeface="微软雅黑" panose="020B0503020204020204" pitchFamily="34" charset="-122"/>
                        </a:rPr>
                        <a:t>高度信任</a:t>
                      </a:r>
                      <a:r>
                        <a:rPr lang="zh-CN" altLang="en-US" sz="18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en-US" altLang="zh-CN" sz="18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28575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70C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5848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274" y="2255241"/>
            <a:ext cx="8090116" cy="3413025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38100" dir="18900000" sy="23000" kx="-1200000" algn="bl" rotWithShape="0">
              <a:prstClr val="black">
                <a:alpha val="22000"/>
              </a:prst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1462" y="657225"/>
            <a:ext cx="4186238" cy="514350"/>
          </a:xfrm>
        </p:spPr>
        <p:txBody>
          <a:bodyPr>
            <a:normAutofit/>
          </a:bodyPr>
          <a:lstStyle/>
          <a:p>
            <a:r>
              <a:rPr lang="zh-CN" altLang="en-US" sz="2800" b="1" dirty="0" smtClean="0"/>
              <a:t>为什么需要这样的团队？</a:t>
            </a:r>
            <a:endParaRPr lang="zh-CN" altLang="en-US" sz="2800" b="1" dirty="0"/>
          </a:p>
        </p:txBody>
      </p:sp>
      <p:sp>
        <p:nvSpPr>
          <p:cNvPr id="4" name="矩形 3"/>
          <p:cNvSpPr/>
          <p:nvPr/>
        </p:nvSpPr>
        <p:spPr>
          <a:xfrm>
            <a:off x="0" y="557213"/>
            <a:ext cx="142872" cy="714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70C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138766" y="2317372"/>
            <a:ext cx="7950631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很多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时候，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我们知道自己的真北是什么，但常会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因为外部的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因素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，如金钱、权力和认可等，而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偏离真北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</a:t>
            </a:r>
            <a:r>
              <a:rPr lang="zh-CN" altLang="zh-CN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渴望分享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真实的自我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生活故事，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却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在身边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找不到可以完全坦诚相对的人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不管我们经历过多少事情，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认识上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依旧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存在盲点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，无法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全面地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看待面临的问题，如果没有他人的建议，我们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很容易做出错误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决定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我们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会参加书友会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、体育团队以及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宗教团体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等来满足自己的精神需求，但这些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都是亲和团体，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成员因为共同的兴趣爱好走到一起，团体聚会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中心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议题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也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围绕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着这些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兴趣爱好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虽然团队有时也会进行较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深入的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交流探讨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但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仅在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特定的领域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与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如上团队不同，真北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团队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不仅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讨论信仰与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信念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还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深入探讨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个人生活中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各个方面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。谈话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中也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不存在</a:t>
            </a:r>
            <a:r>
              <a:rPr lang="zh-CN" altLang="zh-CN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自尊心</a:t>
            </a:r>
            <a:r>
              <a:rPr lang="zh-CN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方面的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冲突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，每个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成员</a:t>
            </a:r>
            <a:r>
              <a:rPr lang="zh-CN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坦诚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分享</a:t>
            </a:r>
            <a:r>
              <a:rPr lang="zh-CN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自己真实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感受而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不必担心受到居高临下的评判</a:t>
            </a:r>
            <a:r>
              <a:rPr lang="zh-CN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。团队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成员</a:t>
            </a:r>
            <a:r>
              <a:rPr lang="zh-CN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不同的角度分析问题</a:t>
            </a:r>
            <a:r>
              <a:rPr lang="zh-CN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又</a:t>
            </a:r>
            <a:r>
              <a:rPr lang="zh-CN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增添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了建议的力度。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748902" y="1855586"/>
            <a:ext cx="373858" cy="470299"/>
            <a:chOff x="671511" y="1969292"/>
            <a:chExt cx="373858" cy="470299"/>
          </a:xfrm>
        </p:grpSpPr>
        <p:sp>
          <p:nvSpPr>
            <p:cNvPr id="33" name="矩形 32"/>
            <p:cNvSpPr/>
            <p:nvPr/>
          </p:nvSpPr>
          <p:spPr>
            <a:xfrm>
              <a:off x="802481" y="1969292"/>
              <a:ext cx="242888" cy="24288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671511" y="2196703"/>
              <a:ext cx="242888" cy="24288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1002564" y="5630166"/>
            <a:ext cx="364332" cy="485776"/>
            <a:chOff x="11087098" y="5413376"/>
            <a:chExt cx="364332" cy="485776"/>
          </a:xfrm>
          <a:solidFill>
            <a:srgbClr val="0070C0"/>
          </a:solidFill>
        </p:grpSpPr>
        <p:sp>
          <p:nvSpPr>
            <p:cNvPr id="35" name="矩形 34"/>
            <p:cNvSpPr/>
            <p:nvPr/>
          </p:nvSpPr>
          <p:spPr>
            <a:xfrm>
              <a:off x="11208542" y="5413376"/>
              <a:ext cx="242888" cy="24288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11087098" y="5656264"/>
              <a:ext cx="242888" cy="24288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37351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800" y="2830588"/>
            <a:ext cx="8242300" cy="24526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7" name="组合 6"/>
          <p:cNvGrpSpPr/>
          <p:nvPr/>
        </p:nvGrpSpPr>
        <p:grpSpPr>
          <a:xfrm>
            <a:off x="617498" y="459327"/>
            <a:ext cx="2729504" cy="1458860"/>
            <a:chOff x="837405" y="602834"/>
            <a:chExt cx="2729504" cy="1458860"/>
          </a:xfrm>
        </p:grpSpPr>
        <p:sp>
          <p:nvSpPr>
            <p:cNvPr id="5" name="矩形 4"/>
            <p:cNvSpPr/>
            <p:nvPr/>
          </p:nvSpPr>
          <p:spPr>
            <a:xfrm>
              <a:off x="837405" y="602834"/>
              <a:ext cx="1531578" cy="1458860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528770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1603194" y="1274233"/>
              <a:ext cx="1963715" cy="537066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团队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发展阶段</a:t>
              </a:r>
              <a:endPara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2590800" y="3298194"/>
            <a:ext cx="7035800" cy="1502406"/>
            <a:chOff x="2381117" y="3978576"/>
            <a:chExt cx="7866185" cy="1450322"/>
          </a:xfrm>
        </p:grpSpPr>
        <p:grpSp>
          <p:nvGrpSpPr>
            <p:cNvPr id="22" name="组合 21"/>
            <p:cNvGrpSpPr/>
            <p:nvPr/>
          </p:nvGrpSpPr>
          <p:grpSpPr>
            <a:xfrm>
              <a:off x="2381117" y="4443382"/>
              <a:ext cx="7866185" cy="532681"/>
              <a:chOff x="2381117" y="4443382"/>
              <a:chExt cx="7866185" cy="532681"/>
            </a:xfrm>
          </p:grpSpPr>
          <p:cxnSp>
            <p:nvCxnSpPr>
              <p:cNvPr id="12" name="直接连接符 11"/>
              <p:cNvCxnSpPr/>
              <p:nvPr/>
            </p:nvCxnSpPr>
            <p:spPr>
              <a:xfrm flipV="1">
                <a:off x="2381117" y="4714556"/>
                <a:ext cx="7866185" cy="23446"/>
              </a:xfrm>
              <a:prstGeom prst="line">
                <a:avLst/>
              </a:prstGeom>
              <a:solidFill>
                <a:schemeClr val="accent1"/>
              </a:solidFill>
              <a:ln w="41275">
                <a:solidFill>
                  <a:srgbClr val="0070C0"/>
                </a:solidFill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3" name="等腰三角形 2"/>
              <p:cNvSpPr/>
              <p:nvPr/>
            </p:nvSpPr>
            <p:spPr>
              <a:xfrm>
                <a:off x="2914997" y="4461164"/>
                <a:ext cx="271548" cy="266641"/>
              </a:xfrm>
              <a:prstGeom prst="triangle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等腰三角形 13"/>
              <p:cNvSpPr/>
              <p:nvPr/>
            </p:nvSpPr>
            <p:spPr>
              <a:xfrm>
                <a:off x="5822374" y="4464870"/>
                <a:ext cx="273626" cy="262935"/>
              </a:xfrm>
              <a:prstGeom prst="triangle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等腰三角形 14"/>
              <p:cNvSpPr/>
              <p:nvPr/>
            </p:nvSpPr>
            <p:spPr>
              <a:xfrm>
                <a:off x="8653920" y="4443382"/>
                <a:ext cx="296116" cy="271596"/>
              </a:xfrm>
              <a:prstGeom prst="triangle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" name="等腰三角形 3"/>
              <p:cNvSpPr/>
              <p:nvPr/>
            </p:nvSpPr>
            <p:spPr>
              <a:xfrm flipH="1" flipV="1">
                <a:off x="4243273" y="4753384"/>
                <a:ext cx="320179" cy="222679"/>
              </a:xfrm>
              <a:prstGeom prst="triangle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等腰三角形 15"/>
              <p:cNvSpPr/>
              <p:nvPr/>
            </p:nvSpPr>
            <p:spPr>
              <a:xfrm flipH="1" flipV="1">
                <a:off x="7269692" y="4723542"/>
                <a:ext cx="320040" cy="228600"/>
              </a:xfrm>
              <a:prstGeom prst="triangle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7" name="文本框 16"/>
            <p:cNvSpPr txBox="1"/>
            <p:nvPr/>
          </p:nvSpPr>
          <p:spPr>
            <a:xfrm>
              <a:off x="3988348" y="4997366"/>
              <a:ext cx="983672" cy="431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规范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2666520" y="4009521"/>
              <a:ext cx="983672" cy="431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组建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5556312" y="3981717"/>
              <a:ext cx="983672" cy="431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风暴</a:t>
              </a: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6741113" y="4976063"/>
              <a:ext cx="1578514" cy="431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高效运作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8402757" y="3978576"/>
              <a:ext cx="983672" cy="431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重组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3621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801" y="1487838"/>
            <a:ext cx="8318500" cy="48113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文本框 2"/>
          <p:cNvSpPr txBox="1"/>
          <p:nvPr/>
        </p:nvSpPr>
        <p:spPr>
          <a:xfrm>
            <a:off x="250164" y="652790"/>
            <a:ext cx="55312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如何组建这样的团队？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24300" y="1652668"/>
            <a:ext cx="6197600" cy="454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  <a:spcAft>
                <a:spcPts val="1600"/>
              </a:spcAft>
            </a:pPr>
            <a:r>
              <a:rPr lang="zh-CN" altLang="zh-CN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一两个觉得合适的人一起探讨</a:t>
            </a:r>
            <a:r>
              <a:rPr lang="zh-CN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需要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哪种类型的团队及各自对团队的期盼。然后各自写出</a:t>
            </a:r>
            <a:r>
              <a:rPr lang="zh-CN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理想成员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的特征</a:t>
            </a:r>
            <a:r>
              <a:rPr lang="zh-CN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，汇总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成表</a:t>
            </a:r>
            <a:r>
              <a:rPr lang="zh-CN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讨论确定</a:t>
            </a:r>
            <a:r>
              <a:rPr lang="zh-CN" altLang="zh-CN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理想成员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zh-CN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后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每人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列一张可能的候选人</a:t>
            </a:r>
            <a:r>
              <a:rPr lang="zh-CN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名单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邀请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候选</a:t>
            </a:r>
            <a:r>
              <a:rPr lang="zh-CN" altLang="zh-CN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参加团队成立</a:t>
            </a:r>
            <a:r>
              <a:rPr lang="zh-CN" altLang="zh-CN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会议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，最终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确定团队人数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建议团队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最终人数为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5-10</a:t>
            </a:r>
            <a:r>
              <a:rPr lang="zh-CN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  <a:spcAft>
                <a:spcPts val="1600"/>
              </a:spcAft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zh-CN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分享生活故事开始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，分享自己迷失的岁月，具有挑战性的经历及其经验</a:t>
            </a:r>
            <a:r>
              <a:rPr lang="zh-CN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教训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，来拉近成员之间的距离。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话题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灵活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性有助于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个性的发展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畅所欲言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，彼此之间的差异迸发</a:t>
            </a:r>
            <a:r>
              <a:rPr lang="zh-CN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出思想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火花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  <a:spcAft>
                <a:spcPts val="1600"/>
              </a:spcAft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可以选择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成员轮流主持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专业人员主持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成员专人主持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三种领导模式的任意一种，但</a:t>
            </a:r>
            <a:r>
              <a:rPr lang="zh-CN" altLang="zh-CN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成员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轮流</a:t>
            </a:r>
            <a:r>
              <a:rPr lang="zh-CN" altLang="zh-CN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担当主持人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不仅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</a:t>
            </a:r>
            <a:r>
              <a:rPr lang="zh-CN" altLang="zh-CN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每个人都感到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需要对团队承担同等的</a:t>
            </a:r>
            <a:r>
              <a:rPr lang="zh-CN" altLang="zh-CN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责任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，也是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提高成员领导力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的最好模式。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  <a:spcAft>
                <a:spcPts val="1600"/>
              </a:spcAft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为了节约时间，聚会一般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只提供茶水和咖啡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，同时为了避免服务生的打扰，聚会地点不要设在餐厅和咖啡厅，应当选择在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温暖舒适的私密环境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，聚会频率以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每周一次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每隔一周一次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为宜。</a:t>
            </a:r>
            <a:endParaRPr lang="zh-CN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557213"/>
            <a:ext cx="142872" cy="714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70C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082876" y="2100565"/>
            <a:ext cx="1621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选择成员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2042751" y="3310530"/>
            <a:ext cx="1621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 startAt="2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团队议题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2042751" y="4416131"/>
            <a:ext cx="1621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 startAt="3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领导模式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2034175" y="5501165"/>
            <a:ext cx="1621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 startAt="4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后勤保障</a:t>
            </a:r>
            <a:endParaRPr lang="zh-CN" altLang="en-US" dirty="0"/>
          </a:p>
        </p:txBody>
      </p:sp>
      <p:sp>
        <p:nvSpPr>
          <p:cNvPr id="5" name="燕尾形 4"/>
          <p:cNvSpPr/>
          <p:nvPr/>
        </p:nvSpPr>
        <p:spPr>
          <a:xfrm>
            <a:off x="3551974" y="2129752"/>
            <a:ext cx="228602" cy="310958"/>
          </a:xfrm>
          <a:prstGeom prst="chevron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燕尾形 11"/>
          <p:cNvSpPr/>
          <p:nvPr/>
        </p:nvSpPr>
        <p:spPr>
          <a:xfrm>
            <a:off x="3554073" y="3339717"/>
            <a:ext cx="228602" cy="310958"/>
          </a:xfrm>
          <a:prstGeom prst="chevron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燕尾形 12"/>
          <p:cNvSpPr/>
          <p:nvPr/>
        </p:nvSpPr>
        <p:spPr>
          <a:xfrm>
            <a:off x="3551974" y="4445318"/>
            <a:ext cx="228602" cy="310958"/>
          </a:xfrm>
          <a:prstGeom prst="chevron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燕尾形 13"/>
          <p:cNvSpPr/>
          <p:nvPr/>
        </p:nvSpPr>
        <p:spPr>
          <a:xfrm>
            <a:off x="3551974" y="5530352"/>
            <a:ext cx="228602" cy="310958"/>
          </a:xfrm>
          <a:prstGeom prst="chevron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1869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300" y="1890167"/>
            <a:ext cx="7099300" cy="37920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矩形 2"/>
          <p:cNvSpPr/>
          <p:nvPr/>
        </p:nvSpPr>
        <p:spPr>
          <a:xfrm>
            <a:off x="278620" y="652790"/>
            <a:ext cx="37753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团队需要怎样的</a:t>
            </a:r>
            <a:r>
              <a:rPr lang="zh-CN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规范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028918"/>
              </p:ext>
            </p:extLst>
          </p:nvPr>
        </p:nvGraphicFramePr>
        <p:xfrm>
          <a:off x="2933700" y="2057402"/>
          <a:ext cx="6350000" cy="34670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9484"/>
                <a:gridCol w="4510516"/>
              </a:tblGrid>
              <a:tr h="3852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规范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理由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2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保密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信任和坦诚的重要保障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852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坦诚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探索个人经历的前提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852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信任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进行深入探讨的基础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852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差异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尊重他人的独特之处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852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倾听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积极参与，换位思考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852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  评判他人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aseline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</a:t>
                      </a:r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对别人的信念不做评价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852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反馈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aseline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              </a:t>
                      </a:r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提出建设性的意见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852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参与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对团队的团结必不可少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0" y="557213"/>
            <a:ext cx="142872" cy="714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7369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6200" y="2526226"/>
            <a:ext cx="6934200" cy="249522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2890" y="604842"/>
            <a:ext cx="4229098" cy="709610"/>
          </a:xfrm>
        </p:spPr>
        <p:txBody>
          <a:bodyPr>
            <a:normAutofit/>
          </a:bodyPr>
          <a:lstStyle/>
          <a:p>
            <a:r>
              <a:rPr lang="zh-CN" altLang="zh-CN" sz="2800" b="1" dirty="0" smtClean="0"/>
              <a:t>为什么</a:t>
            </a:r>
            <a:r>
              <a:rPr lang="zh-CN" altLang="en-US" sz="2800" b="1" dirty="0" smtClean="0"/>
              <a:t>需</a:t>
            </a:r>
            <a:r>
              <a:rPr lang="zh-CN" altLang="zh-CN" sz="2800" b="1" dirty="0" smtClean="0"/>
              <a:t>要</a:t>
            </a:r>
            <a:r>
              <a:rPr lang="zh-CN" altLang="zh-CN" sz="2800" b="1" dirty="0"/>
              <a:t>这样的规范</a:t>
            </a:r>
            <a:r>
              <a:rPr lang="zh-CN" altLang="zh-CN" sz="2800" b="1" dirty="0" smtClean="0"/>
              <a:t>？</a:t>
            </a:r>
            <a:endParaRPr lang="zh-CN" altLang="en-US" sz="36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16200" y="2528347"/>
            <a:ext cx="6934200" cy="2524099"/>
          </a:xfrm>
          <a:ln w="76200">
            <a:noFill/>
          </a:ln>
        </p:spPr>
        <p:txBody>
          <a:bodyPr>
            <a:noAutofit/>
          </a:bodyPr>
          <a:lstStyle/>
          <a:p>
            <a:pPr marL="0" indent="0" algn="just">
              <a:lnSpc>
                <a:spcPct val="140000"/>
              </a:lnSpc>
              <a:buNone/>
            </a:pPr>
            <a:r>
              <a:rPr lang="en-US" altLang="zh-CN" sz="1600" dirty="0" smtClean="0">
                <a:solidFill>
                  <a:srgbClr val="0070C0"/>
                </a:solidFill>
                <a:latin typeface="微软雅黑" pitchFamily="34" charset="-122"/>
              </a:rPr>
              <a:t>       </a:t>
            </a:r>
            <a:r>
              <a:rPr lang="zh-CN" altLang="zh-CN" sz="1600" dirty="0" smtClean="0">
                <a:solidFill>
                  <a:srgbClr val="0070C0"/>
                </a:solidFill>
                <a:latin typeface="微软雅黑" pitchFamily="34" charset="-122"/>
              </a:rPr>
              <a:t>如果</a:t>
            </a:r>
            <a:r>
              <a:rPr lang="zh-CN" altLang="zh-CN" sz="1600" dirty="0">
                <a:solidFill>
                  <a:srgbClr val="0070C0"/>
                </a:solidFill>
                <a:latin typeface="微软雅黑" pitchFamily="34" charset="-122"/>
              </a:rPr>
              <a:t>缺少明确的团队基本规则，团队成员会在是否需要遵守一些规则上产生</a:t>
            </a:r>
            <a:r>
              <a:rPr lang="zh-CN" altLang="zh-CN" sz="1600" dirty="0" smtClean="0">
                <a:solidFill>
                  <a:srgbClr val="0070C0"/>
                </a:solidFill>
                <a:latin typeface="微软雅黑" pitchFamily="34" charset="-122"/>
              </a:rPr>
              <a:t>分歧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itchFamily="34" charset="-122"/>
              </a:rPr>
              <a:t>。</a:t>
            </a:r>
            <a:r>
              <a:rPr lang="zh-CN" altLang="zh-CN" sz="1600" dirty="0" smtClean="0">
                <a:latin typeface="微软雅黑" pitchFamily="34" charset="-122"/>
              </a:rPr>
              <a:t>尤其是团队</a:t>
            </a:r>
            <a:r>
              <a:rPr lang="zh-CN" altLang="zh-CN" sz="1600" dirty="0">
                <a:latin typeface="微软雅黑" pitchFamily="34" charset="-122"/>
              </a:rPr>
              <a:t>成立</a:t>
            </a:r>
            <a:r>
              <a:rPr lang="zh-CN" altLang="zh-CN" sz="1600" dirty="0" smtClean="0">
                <a:latin typeface="微软雅黑" pitchFamily="34" charset="-122"/>
              </a:rPr>
              <a:t>初期，</a:t>
            </a:r>
            <a:r>
              <a:rPr lang="zh-CN" altLang="zh-CN" sz="1600" dirty="0">
                <a:latin typeface="微软雅黑" pitchFamily="34" charset="-122"/>
              </a:rPr>
              <a:t>如果</a:t>
            </a:r>
            <a:r>
              <a:rPr lang="zh-CN" altLang="zh-CN" sz="1600" dirty="0" smtClean="0">
                <a:latin typeface="微软雅黑" pitchFamily="34" charset="-122"/>
              </a:rPr>
              <a:t>期望成员坦诚</a:t>
            </a:r>
            <a:r>
              <a:rPr lang="zh-CN" altLang="zh-CN" sz="1600" dirty="0">
                <a:latin typeface="微软雅黑" pitchFamily="34" charset="-122"/>
              </a:rPr>
              <a:t>分享高度私密的问题，他们就必须相信其他成员会对自己谈论的隐私问题严格保密，所以每个成员都必须遵守保密规则。没有严格的保密规则，就不可能建立成员之间的信任与凝聚力</a:t>
            </a:r>
            <a:r>
              <a:rPr lang="zh-CN" altLang="zh-CN" sz="1600" dirty="0" smtClean="0">
                <a:latin typeface="微软雅黑" pitchFamily="34" charset="-122"/>
              </a:rPr>
              <a:t>。</a:t>
            </a:r>
            <a:r>
              <a:rPr lang="zh-CN" altLang="zh-CN" sz="1600" kern="0" dirty="0">
                <a:solidFill>
                  <a:srgbClr val="0070C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明确了成员间互动的规则，</a:t>
            </a:r>
            <a:r>
              <a:rPr lang="zh-CN" altLang="zh-CN" sz="1600" kern="0" dirty="0" smtClean="0">
                <a:solidFill>
                  <a:srgbClr val="0070C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团队</a:t>
            </a:r>
            <a:r>
              <a:rPr lang="zh-CN" altLang="en-US" sz="1600" kern="0" dirty="0" smtClean="0">
                <a:solidFill>
                  <a:srgbClr val="0070C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才</a:t>
            </a:r>
            <a:r>
              <a:rPr lang="zh-CN" altLang="zh-CN" sz="1600" kern="0" dirty="0" smtClean="0">
                <a:solidFill>
                  <a:srgbClr val="0070C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有</a:t>
            </a:r>
            <a:r>
              <a:rPr lang="zh-CN" altLang="zh-CN" sz="1600" kern="0" dirty="0">
                <a:solidFill>
                  <a:srgbClr val="0070C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可能取得长期持续的成功</a:t>
            </a:r>
            <a:r>
              <a:rPr lang="zh-CN" altLang="zh-CN" sz="1600" kern="0" dirty="0" smtClean="0">
                <a:solidFill>
                  <a:srgbClr val="0070C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。</a:t>
            </a:r>
            <a:r>
              <a:rPr lang="zh-CN" altLang="zh-CN" sz="1600" dirty="0" smtClean="0">
                <a:latin typeface="微软雅黑" pitchFamily="34" charset="-122"/>
              </a:rPr>
              <a:t>想</a:t>
            </a:r>
            <a:r>
              <a:rPr lang="zh-CN" altLang="zh-CN" sz="1600" dirty="0">
                <a:latin typeface="微软雅黑" pitchFamily="34" charset="-122"/>
              </a:rPr>
              <a:t>要在团队里建立良好的气氛</a:t>
            </a:r>
            <a:r>
              <a:rPr lang="zh-CN" altLang="zh-CN" sz="1600" dirty="0" smtClean="0">
                <a:latin typeface="微软雅黑" pitchFamily="34" charset="-122"/>
              </a:rPr>
              <a:t>，</a:t>
            </a:r>
            <a:r>
              <a:rPr lang="zh-CN" altLang="en-US" sz="1600" dirty="0" smtClean="0">
                <a:latin typeface="微软雅黑" pitchFamily="34" charset="-122"/>
              </a:rPr>
              <a:t>除了要遵守已制定的规范外，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itchFamily="34" charset="-122"/>
              </a:rPr>
              <a:t>还要</a:t>
            </a:r>
            <a:r>
              <a:rPr lang="zh-CN" altLang="zh-CN" sz="1600" dirty="0" smtClean="0">
                <a:solidFill>
                  <a:srgbClr val="0070C0"/>
                </a:solidFill>
                <a:latin typeface="微软雅黑" pitchFamily="34" charset="-122"/>
              </a:rPr>
              <a:t>遵守</a:t>
            </a:r>
            <a:r>
              <a:rPr lang="zh-CN" altLang="zh-CN" sz="1600" dirty="0">
                <a:solidFill>
                  <a:srgbClr val="0070C0"/>
                </a:solidFill>
                <a:latin typeface="微软雅黑" pitchFamily="34" charset="-122"/>
              </a:rPr>
              <a:t>没有明确的规范</a:t>
            </a:r>
            <a:r>
              <a:rPr lang="zh-CN" altLang="zh-CN" sz="1600" dirty="0">
                <a:latin typeface="微软雅黑" pitchFamily="34" charset="-122"/>
              </a:rPr>
              <a:t>，如积极倾听，每次都出席</a:t>
            </a:r>
            <a:r>
              <a:rPr lang="zh-CN" altLang="zh-CN" sz="1600" dirty="0" smtClean="0">
                <a:latin typeface="微软雅黑" pitchFamily="34" charset="-122"/>
              </a:rPr>
              <a:t>，集中注意力</a:t>
            </a:r>
            <a:r>
              <a:rPr lang="zh-CN" altLang="en-US" sz="1600" dirty="0" smtClean="0">
                <a:latin typeface="微软雅黑" pitchFamily="34" charset="-122"/>
              </a:rPr>
              <a:t>等</a:t>
            </a:r>
            <a:r>
              <a:rPr lang="zh-CN" altLang="zh-CN" sz="1600" dirty="0" smtClean="0">
                <a:latin typeface="微软雅黑" pitchFamily="34" charset="-122"/>
              </a:rPr>
              <a:t>。</a:t>
            </a:r>
            <a:endParaRPr lang="zh-CN" altLang="zh-CN" sz="1600" dirty="0">
              <a:latin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557213"/>
            <a:ext cx="142872" cy="714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70C0"/>
              </a:solidFill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0745391" y="5244403"/>
            <a:ext cx="364332" cy="485776"/>
            <a:chOff x="11087098" y="5413376"/>
            <a:chExt cx="364332" cy="485776"/>
          </a:xfrm>
          <a:solidFill>
            <a:srgbClr val="0070C0"/>
          </a:solidFill>
        </p:grpSpPr>
        <p:sp>
          <p:nvSpPr>
            <p:cNvPr id="11" name="矩形 10"/>
            <p:cNvSpPr/>
            <p:nvPr/>
          </p:nvSpPr>
          <p:spPr>
            <a:xfrm>
              <a:off x="11208542" y="5413376"/>
              <a:ext cx="242888" cy="24288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11087098" y="5656264"/>
              <a:ext cx="242888" cy="24288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106089" y="1884161"/>
            <a:ext cx="373858" cy="470299"/>
            <a:chOff x="671511" y="1969292"/>
            <a:chExt cx="373858" cy="470299"/>
          </a:xfrm>
        </p:grpSpPr>
        <p:sp>
          <p:nvSpPr>
            <p:cNvPr id="14" name="矩形 13"/>
            <p:cNvSpPr/>
            <p:nvPr/>
          </p:nvSpPr>
          <p:spPr>
            <a:xfrm>
              <a:off x="802481" y="1969292"/>
              <a:ext cx="242888" cy="24288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671511" y="2196703"/>
              <a:ext cx="242888" cy="24288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4988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941" y="2526223"/>
            <a:ext cx="6965159" cy="249445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8" name="标题 1"/>
          <p:cNvSpPr txBox="1">
            <a:spLocks/>
          </p:cNvSpPr>
          <p:nvPr/>
        </p:nvSpPr>
        <p:spPr>
          <a:xfrm>
            <a:off x="142872" y="607219"/>
            <a:ext cx="4986338" cy="6143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zh-CN" sz="2800" b="1" dirty="0" smtClean="0"/>
              <a:t>如果团员不能适应会怎么办</a:t>
            </a:r>
            <a:r>
              <a:rPr lang="zh-CN" altLang="en-US" sz="2800" b="1" dirty="0" smtClean="0"/>
              <a:t>？</a:t>
            </a:r>
            <a:endParaRPr lang="zh-CN" altLang="en-US" sz="28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2628937" y="2522048"/>
            <a:ext cx="6876259" cy="278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新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团队处于蜜月期时，团队</a:t>
            </a:r>
            <a:r>
              <a:rPr lang="zh-CN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运作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顺利</a:t>
            </a:r>
            <a:r>
              <a:rPr lang="zh-CN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每个</a:t>
            </a:r>
            <a:r>
              <a:rPr lang="zh-CN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成员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也能和睦相处。但随着时间的推移，团队运作、成员行为等方面的</a:t>
            </a:r>
            <a:r>
              <a:rPr lang="zh-CN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逐渐暴露</a:t>
            </a:r>
            <a:r>
              <a:rPr lang="zh-CN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在事情不顺利</a:t>
            </a:r>
            <a:r>
              <a:rPr lang="zh-CN" altLang="zh-CN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</a:t>
            </a:r>
            <a:r>
              <a:rPr lang="zh-CN" altLang="zh-CN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比较紧张或</a:t>
            </a:r>
            <a:r>
              <a:rPr lang="zh-CN" altLang="zh-CN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有成员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觉得团队没有</a:t>
            </a:r>
            <a:r>
              <a:rPr lang="zh-CN" altLang="zh-CN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达到期望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时，往往就会产生矛盾冲突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。对此，需先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导致问题发生的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原因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，尽快和其他成员沟通，以确定是否需要在下次例会上进行讨论，也可以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定期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反馈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，让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成员轮流分享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关注的问题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。通常，只要对问题进行充分的探讨，就能避免采取不得已的重大行动措施，如迫使成员离开团队等。</a:t>
            </a:r>
          </a:p>
          <a:p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0" y="557213"/>
            <a:ext cx="142872" cy="714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70C0"/>
              </a:solidFill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106089" y="1884161"/>
            <a:ext cx="373858" cy="470299"/>
            <a:chOff x="671511" y="1969292"/>
            <a:chExt cx="373858" cy="470299"/>
          </a:xfrm>
        </p:grpSpPr>
        <p:sp>
          <p:nvSpPr>
            <p:cNvPr id="7" name="矩形 6"/>
            <p:cNvSpPr/>
            <p:nvPr/>
          </p:nvSpPr>
          <p:spPr>
            <a:xfrm>
              <a:off x="802481" y="1969292"/>
              <a:ext cx="242888" cy="24288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671511" y="2196703"/>
              <a:ext cx="242888" cy="24288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0766820" y="5244403"/>
            <a:ext cx="364332" cy="485776"/>
            <a:chOff x="11087098" y="5413376"/>
            <a:chExt cx="364332" cy="485776"/>
          </a:xfrm>
          <a:solidFill>
            <a:srgbClr val="0070C0"/>
          </a:solidFill>
        </p:grpSpPr>
        <p:sp>
          <p:nvSpPr>
            <p:cNvPr id="10" name="矩形 9"/>
            <p:cNvSpPr/>
            <p:nvPr/>
          </p:nvSpPr>
          <p:spPr>
            <a:xfrm>
              <a:off x="11208542" y="5413376"/>
              <a:ext cx="242888" cy="24288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11087098" y="5656264"/>
              <a:ext cx="242888" cy="24288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69253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514600" y="3871912"/>
            <a:ext cx="7143750" cy="2617787"/>
          </a:xfrm>
          <a:prstGeom prst="rect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2030533"/>
            <a:ext cx="7131049" cy="1224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9" name="标题 1"/>
          <p:cNvSpPr>
            <a:spLocks noGrp="1"/>
          </p:cNvSpPr>
          <p:nvPr>
            <p:ph type="ctrTitle"/>
          </p:nvPr>
        </p:nvSpPr>
        <p:spPr>
          <a:xfrm>
            <a:off x="0" y="621506"/>
            <a:ext cx="5715001" cy="585788"/>
          </a:xfrm>
        </p:spPr>
        <p:txBody>
          <a:bodyPr>
            <a:normAutofit/>
          </a:bodyPr>
          <a:lstStyle/>
          <a:p>
            <a:r>
              <a:rPr lang="zh-CN" altLang="en-US" sz="2800" b="1" dirty="0" smtClean="0"/>
              <a:t>高效运作</a:t>
            </a:r>
            <a:r>
              <a:rPr lang="zh-CN" altLang="zh-CN" sz="2800" b="1" dirty="0" smtClean="0"/>
              <a:t>的</a:t>
            </a:r>
            <a:r>
              <a:rPr lang="zh-CN" altLang="zh-CN" sz="2800" b="1" dirty="0"/>
              <a:t>真北</a:t>
            </a:r>
            <a:r>
              <a:rPr lang="zh-CN" altLang="zh-CN" sz="2800" b="1" dirty="0" smtClean="0"/>
              <a:t>团队是</a:t>
            </a:r>
            <a:r>
              <a:rPr lang="zh-CN" altLang="zh-CN" sz="2800" b="1" dirty="0"/>
              <a:t>怎样</a:t>
            </a:r>
            <a:r>
              <a:rPr lang="zh-CN" altLang="zh-CN" sz="2800" b="1" dirty="0" smtClean="0"/>
              <a:t>的</a:t>
            </a:r>
            <a:r>
              <a:rPr lang="zh-CN" altLang="en-US" sz="2800" b="1" dirty="0" smtClean="0"/>
              <a:t>？</a:t>
            </a:r>
            <a:endParaRPr lang="zh-CN" altLang="en-US" sz="2800" b="1" dirty="0"/>
          </a:p>
        </p:txBody>
      </p:sp>
      <p:sp>
        <p:nvSpPr>
          <p:cNvPr id="3" name="矩形 2"/>
          <p:cNvSpPr/>
          <p:nvPr/>
        </p:nvSpPr>
        <p:spPr>
          <a:xfrm>
            <a:off x="2616200" y="2075738"/>
            <a:ext cx="6921500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altLang="zh-CN" sz="16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      </a:t>
            </a:r>
            <a:r>
              <a:rPr lang="zh-CN" altLang="zh-CN" sz="16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真北</a:t>
            </a:r>
            <a:r>
              <a:rPr lang="zh-CN" altLang="zh-CN" sz="16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团队的</a:t>
            </a:r>
            <a:r>
              <a:rPr lang="zh-CN" altLang="zh-CN" sz="1600" kern="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核心</a:t>
            </a:r>
            <a:r>
              <a:rPr lang="zh-CN" altLang="en-US" sz="16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是</a:t>
            </a:r>
            <a:r>
              <a:rPr lang="zh-CN" altLang="zh-CN" sz="16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讨论</a:t>
            </a:r>
            <a:r>
              <a:rPr lang="zh-CN" altLang="zh-CN" sz="16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的内容，</a:t>
            </a:r>
            <a:r>
              <a:rPr lang="zh-CN" altLang="zh-CN" sz="16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目的</a:t>
            </a:r>
            <a:r>
              <a:rPr lang="zh-CN" altLang="zh-CN" sz="16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是帮助成员个人成长和领导力的发展</a:t>
            </a:r>
            <a:r>
              <a:rPr lang="zh-CN" altLang="zh-CN" sz="16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。</a:t>
            </a:r>
            <a:r>
              <a:rPr lang="zh-CN" altLang="en-US" sz="16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一个高效的真北团队，需要</a:t>
            </a:r>
            <a:r>
              <a:rPr lang="zh-CN" altLang="en-US" sz="1600" kern="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积极参与的队员</a:t>
            </a:r>
            <a:r>
              <a:rPr lang="zh-CN" altLang="en-US" sz="16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，精心安排</a:t>
            </a:r>
            <a:r>
              <a:rPr lang="zh-CN" altLang="en-US" sz="1600" kern="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能持续的活动方案</a:t>
            </a:r>
            <a:r>
              <a:rPr lang="zh-CN" altLang="en-US" sz="16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，还要</a:t>
            </a:r>
            <a:r>
              <a:rPr lang="zh-CN" altLang="en-US" sz="1600" kern="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坚持团队规范</a:t>
            </a:r>
            <a:r>
              <a:rPr lang="zh-CN" altLang="en-US" sz="16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。如果这些条件都能满足，成员就会有很高的满意度</a:t>
            </a:r>
            <a:r>
              <a:rPr lang="zh-CN" altLang="en-US" sz="1600" kern="0" dirty="0" smtClean="0">
                <a:solidFill>
                  <a:srgbClr val="000000"/>
                </a:solidFill>
                <a:latin typeface="Verdana" panose="020B0604030504040204" pitchFamily="34" charset="0"/>
                <a:cs typeface="宋体" panose="02010600030101010101" pitchFamily="2" charset="-122"/>
              </a:rPr>
              <a:t>。</a:t>
            </a:r>
            <a:endParaRPr lang="en-US" altLang="zh-CN" sz="1600" kern="0" dirty="0" smtClean="0">
              <a:solidFill>
                <a:srgbClr val="000000"/>
              </a:solidFill>
              <a:latin typeface="Verdana" panose="020B0604030504040204" pitchFamily="34" charset="0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zh-CN" altLang="en-US" sz="1600" dirty="0"/>
          </a:p>
        </p:txBody>
      </p:sp>
      <p:sp>
        <p:nvSpPr>
          <p:cNvPr id="5" name="文本框 4"/>
          <p:cNvSpPr txBox="1"/>
          <p:nvPr/>
        </p:nvSpPr>
        <p:spPr>
          <a:xfrm>
            <a:off x="2616201" y="3943354"/>
            <a:ext cx="6921500" cy="24929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1976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年，公司主管特德和律师林恩组建了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一支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真北团队。在过去的三十几年，团队每周聚会，每位成员每年组织四次活动。聚会时，先进行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分钟的静思，然后主持人开始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钟的讨论活动。通常来说，讨论很快就会转向大家特别感兴趣的话题，内容十分广泛。因为团队成员的共同兴趣爱好，团队经常去美国和欧洲各地滑雪，这使团队声名远扬。成员也经常反思讨论中存在的问题，及时发现并解决。多年的共处使团队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成员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之间建立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了诚挚的友谊、高度的尊重、信任和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关照，他们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共享人生的喜怒哀乐，在困难时期相互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支持，同时，团队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活动让成员获得了大量既有针对性也很有价值的学习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收获。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557213"/>
            <a:ext cx="142872" cy="714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70C0"/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048936" y="1631282"/>
            <a:ext cx="373858" cy="470299"/>
            <a:chOff x="671511" y="1969292"/>
            <a:chExt cx="373858" cy="470299"/>
          </a:xfrm>
        </p:grpSpPr>
        <p:sp>
          <p:nvSpPr>
            <p:cNvPr id="9" name="矩形 8"/>
            <p:cNvSpPr/>
            <p:nvPr/>
          </p:nvSpPr>
          <p:spPr>
            <a:xfrm>
              <a:off x="802481" y="1969292"/>
              <a:ext cx="242888" cy="24288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671511" y="2196703"/>
              <a:ext cx="242888" cy="24288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0813256" y="3234445"/>
            <a:ext cx="364332" cy="485776"/>
            <a:chOff x="11087098" y="5413376"/>
            <a:chExt cx="364332" cy="485776"/>
          </a:xfrm>
          <a:solidFill>
            <a:srgbClr val="0070C0"/>
          </a:solidFill>
        </p:grpSpPr>
        <p:sp>
          <p:nvSpPr>
            <p:cNvPr id="12" name="矩形 11"/>
            <p:cNvSpPr/>
            <p:nvPr/>
          </p:nvSpPr>
          <p:spPr>
            <a:xfrm>
              <a:off x="11208542" y="5413376"/>
              <a:ext cx="242888" cy="24288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11087098" y="5656264"/>
              <a:ext cx="242888" cy="24288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36414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8100" y="2067238"/>
            <a:ext cx="6997700" cy="344456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文本框 3"/>
          <p:cNvSpPr txBox="1"/>
          <p:nvPr/>
        </p:nvSpPr>
        <p:spPr>
          <a:xfrm>
            <a:off x="2578100" y="2720152"/>
            <a:ext cx="12821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重组原因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78100" y="4639140"/>
            <a:ext cx="1228535" cy="350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重组过程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等腰三角形 8"/>
          <p:cNvSpPr/>
          <p:nvPr/>
        </p:nvSpPr>
        <p:spPr>
          <a:xfrm rot="5400000">
            <a:off x="4581823" y="3833992"/>
            <a:ext cx="535728" cy="263509"/>
          </a:xfrm>
          <a:prstGeom prst="triangl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3819072" y="4143797"/>
            <a:ext cx="5756728" cy="1341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在重组时，团队需先做口头或者书面的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调查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了解成员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对团队重建的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态度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所面临的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最具挑战性的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难题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制定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重组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是否需要调整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团队目标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讨论新成员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数量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标题 1"/>
          <p:cNvSpPr txBox="1">
            <a:spLocks/>
          </p:cNvSpPr>
          <p:nvPr/>
        </p:nvSpPr>
        <p:spPr>
          <a:xfrm>
            <a:off x="0" y="557213"/>
            <a:ext cx="3796198" cy="6387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zh-CN" sz="2800" b="1" dirty="0" smtClean="0"/>
              <a:t>何时团队需要重组</a:t>
            </a:r>
            <a:r>
              <a:rPr lang="zh-CN" altLang="en-US" sz="2800" b="1" dirty="0" smtClean="0"/>
              <a:t>？</a:t>
            </a:r>
            <a:endParaRPr lang="zh-CN" altLang="en-US" sz="28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812586" y="2058625"/>
            <a:ext cx="5763214" cy="1661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团队运作数年后，成员很容易</a:t>
            </a:r>
            <a:r>
              <a:rPr lang="zh-CN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满足现状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，滋生骄傲自满的情绪，无法</a:t>
            </a:r>
            <a:r>
              <a:rPr lang="zh-CN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激发出新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的活力和热情。因此，团队需要吸收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</a:t>
            </a:r>
            <a:r>
              <a:rPr lang="zh-CN" altLang="zh-CN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成员</a:t>
            </a:r>
            <a:r>
              <a:rPr lang="zh-CN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吸收</a:t>
            </a:r>
            <a:r>
              <a:rPr lang="zh-CN" altLang="zh-CN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新思想</a:t>
            </a:r>
            <a:r>
              <a:rPr lang="zh-CN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。充满生机活力的新成员通常来自年轻一代，</a:t>
            </a:r>
            <a:r>
              <a:rPr lang="zh-CN" altLang="zh-CN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加强团队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力量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，也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有助于挑战团队的规范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，尤其</a:t>
            </a:r>
            <a:r>
              <a:rPr lang="zh-CN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是没有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明确的规范</a:t>
            </a:r>
            <a:r>
              <a:rPr lang="zh-CN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0" y="557213"/>
            <a:ext cx="142872" cy="714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70C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586888" y="4246310"/>
            <a:ext cx="78786" cy="1151189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3586888" y="2169908"/>
            <a:ext cx="78786" cy="1489874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1807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1" y="2541722"/>
            <a:ext cx="7086600" cy="254172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38100" dir="18900000" sy="23000" kx="-1200000" algn="bl" rotWithShape="0">
              <a:prstClr val="black">
                <a:alpha val="22000"/>
              </a:prst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标题 1"/>
          <p:cNvSpPr txBox="1">
            <a:spLocks/>
          </p:cNvSpPr>
          <p:nvPr/>
        </p:nvSpPr>
        <p:spPr>
          <a:xfrm rot="10800000" flipV="1">
            <a:off x="300035" y="600273"/>
            <a:ext cx="6000753" cy="628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zh-CN" sz="2800" b="1" dirty="0" smtClean="0"/>
              <a:t>在中国为什么很难组织这样的团队？</a:t>
            </a:r>
            <a:endParaRPr lang="zh-CN" altLang="en-US" sz="2800" b="1" dirty="0"/>
          </a:p>
        </p:txBody>
      </p:sp>
      <p:sp>
        <p:nvSpPr>
          <p:cNvPr id="2" name="矩形 1"/>
          <p:cNvSpPr/>
          <p:nvPr/>
        </p:nvSpPr>
        <p:spPr>
          <a:xfrm>
            <a:off x="2667000" y="2567708"/>
            <a:ext cx="6832600" cy="2467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zh-CN" altLang="en-US" sz="1600" kern="0" dirty="0" smtClean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作者描述的真北团队是在美国成熟的</a:t>
            </a:r>
            <a:r>
              <a:rPr lang="zh-CN" altLang="en-US" sz="1600" kern="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文化沙龙</a:t>
            </a:r>
            <a:r>
              <a:rPr lang="zh-CN" altLang="en-US" sz="1600" kern="0" dirty="0" smtClean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基础上衍生而来的，而</a:t>
            </a:r>
            <a:r>
              <a:rPr lang="zh-CN" altLang="en-US" sz="1600" kern="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在中国</a:t>
            </a:r>
            <a:r>
              <a:rPr lang="zh-CN" altLang="en-US" sz="1600" kern="0" dirty="0" smtClean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16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并</a:t>
            </a:r>
            <a:r>
              <a:rPr lang="zh-CN" altLang="en-US" sz="1600" kern="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没有形成这种文化氛围</a:t>
            </a:r>
            <a:r>
              <a:rPr lang="zh-CN" altLang="en-US" sz="1600" kern="0" dirty="0" smtClean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。由于成员的受教育程度、工作性质、个人追求以及传统思想等因素的限制，</a:t>
            </a:r>
            <a:r>
              <a:rPr lang="zh-CN" altLang="en-US" sz="1600" kern="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很难做到对别人的完全信任，从而</a:t>
            </a:r>
            <a:r>
              <a:rPr lang="zh-CN" altLang="zh-CN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坦诚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分享自己的真实</a:t>
            </a:r>
            <a:r>
              <a:rPr lang="zh-CN" altLang="zh-CN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感受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。人与人之间刻意保持的安全距离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影响了团队的讨论议题以及进行更深入的探讨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。所以，要想在中国组建这样的团队，必须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结合本土文化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充分考虑要吸纳成员的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顾虑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，按照作者给出的建议，循序渐进。</a:t>
            </a:r>
            <a:endParaRPr lang="zh-CN" altLang="zh-CN" sz="16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557213"/>
            <a:ext cx="142872" cy="714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70C0"/>
              </a:solidFill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106089" y="1884161"/>
            <a:ext cx="373858" cy="470299"/>
            <a:chOff x="671511" y="1969292"/>
            <a:chExt cx="373858" cy="470299"/>
          </a:xfrm>
        </p:grpSpPr>
        <p:sp>
          <p:nvSpPr>
            <p:cNvPr id="7" name="矩形 6"/>
            <p:cNvSpPr/>
            <p:nvPr/>
          </p:nvSpPr>
          <p:spPr>
            <a:xfrm>
              <a:off x="802481" y="1969292"/>
              <a:ext cx="242888" cy="24288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671511" y="2196703"/>
              <a:ext cx="242888" cy="24288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0752532" y="5244403"/>
            <a:ext cx="364332" cy="485776"/>
            <a:chOff x="11087098" y="5413376"/>
            <a:chExt cx="364332" cy="485776"/>
          </a:xfrm>
          <a:solidFill>
            <a:srgbClr val="0070C0"/>
          </a:solidFill>
        </p:grpSpPr>
        <p:sp>
          <p:nvSpPr>
            <p:cNvPr id="10" name="矩形 9"/>
            <p:cNvSpPr/>
            <p:nvPr/>
          </p:nvSpPr>
          <p:spPr>
            <a:xfrm>
              <a:off x="11208542" y="5413376"/>
              <a:ext cx="242888" cy="24288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11087098" y="5656264"/>
              <a:ext cx="242888" cy="24288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81547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63" r="14757"/>
          <a:stretch/>
        </p:blipFill>
        <p:spPr>
          <a:xfrm>
            <a:off x="4943959" y="926494"/>
            <a:ext cx="2278250" cy="31185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副标题 2"/>
          <p:cNvSpPr txBox="1">
            <a:spLocks/>
          </p:cNvSpPr>
          <p:nvPr/>
        </p:nvSpPr>
        <p:spPr>
          <a:xfrm>
            <a:off x="4415509" y="4300662"/>
            <a:ext cx="3581621" cy="64711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rPr>
              <a:t>PPT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rPr>
              <a:t>分享：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rPr>
              <a:t>@</a:t>
            </a:r>
            <a:r>
              <a:rPr lang="en-US" altLang="zh-CN" sz="24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rPr>
              <a:t>Eline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rPr>
              <a:t>若蓝</a:t>
            </a:r>
            <a:endParaRPr lang="en-US" altLang="zh-CN" sz="2400" b="1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524753" y="4870284"/>
            <a:ext cx="3131413" cy="932268"/>
          </a:xfrm>
          <a:prstGeom prst="rect">
            <a:avLst/>
          </a:prstGeom>
          <a:solidFill>
            <a:srgbClr val="0070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b="1" dirty="0">
              <a:latin typeface="华康俪金黑W8(P)" charset="-122"/>
              <a:ea typeface="华康俪金黑W8(P)" charset="-122"/>
              <a:cs typeface="Meiryo UI" pitchFamily="34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48737" y="4902019"/>
            <a:ext cx="29609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eiryo UI" pitchFamily="34" charset="-128"/>
              </a:rPr>
              <a:t>谢谢观看</a:t>
            </a:r>
          </a:p>
        </p:txBody>
      </p:sp>
    </p:spTree>
    <p:extLst>
      <p:ext uri="{BB962C8B-B14F-4D97-AF65-F5344CB8AC3E}">
        <p14:creationId xmlns:p14="http://schemas.microsoft.com/office/powerpoint/2010/main" val="3194964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895" y="1605034"/>
            <a:ext cx="102108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572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81736" y="838043"/>
            <a:ext cx="8228528" cy="4246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034631" y="2781875"/>
            <a:ext cx="129601" cy="24114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1662" y="2781875"/>
            <a:ext cx="129601" cy="24114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8095280" y="2781875"/>
            <a:ext cx="129601" cy="24114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78365" y="4061256"/>
            <a:ext cx="8228528" cy="1966949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>
              <a:spcBef>
                <a:spcPts val="1620"/>
              </a:spcBef>
            </a:pP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62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62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62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08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108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108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272768" y="4401009"/>
            <a:ext cx="76464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078365" y="2165390"/>
            <a:ext cx="1749616" cy="1207081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09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124488" y="2165393"/>
            <a:ext cx="1749616" cy="1207082"/>
            <a:chOff x="107380" y="2024805"/>
            <a:chExt cx="1944270" cy="134137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7100" y="2165390"/>
            <a:ext cx="1749616" cy="1207081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09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8160078" y="2165390"/>
            <a:ext cx="1749616" cy="1207081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09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36156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985318" y="4012191"/>
            <a:ext cx="8251029" cy="1446421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0" cy="53347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82782">
                <a:defRPr/>
              </a:pPr>
              <a:r>
                <a:rPr lang="en-US" altLang="zh-CN" sz="1260" kern="0" dirty="0">
                  <a:solidFill>
                    <a:prstClr val="black"/>
                  </a:solidFill>
                </a:rPr>
                <a:t/>
              </a:r>
              <a:br>
                <a:rPr lang="en-US" altLang="zh-CN" sz="1260" kern="0" dirty="0">
                  <a:solidFill>
                    <a:prstClr val="black"/>
                  </a:solidFill>
                </a:rPr>
              </a:br>
              <a:endParaRPr lang="en-US" altLang="zh-CN" sz="1260" kern="0" dirty="0">
                <a:solidFill>
                  <a:prstClr val="black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617158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16" kern="0">
                <a:solidFill>
                  <a:prstClr val="white"/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15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46" kern="0">
                <a:solidFill>
                  <a:prstClr val="white"/>
                </a:solidFill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1" y="3613174"/>
              <a:ext cx="594123" cy="564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70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539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69" y="3441723"/>
              <a:ext cx="3519839" cy="916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216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405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216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2160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61715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70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5" y="4188246"/>
              <a:ext cx="1596629" cy="425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890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15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46" kern="0">
                <a:solidFill>
                  <a:prstClr val="white"/>
                </a:solidFill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3"/>
              <a:ext cx="757239" cy="425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890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15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16" kern="0">
                <a:solidFill>
                  <a:prstClr val="white"/>
                </a:solidFill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216" kern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090590" cy="333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350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212347" y="1161046"/>
            <a:ext cx="5767312" cy="2612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>
              <a:spcBef>
                <a:spcPts val="2700"/>
              </a:spcBef>
            </a:pPr>
            <a:r>
              <a:rPr lang="zh-CN" altLang="en-US" sz="39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396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032</a:t>
            </a:r>
            <a:r>
              <a:rPr lang="zh-CN" altLang="en-US" sz="396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96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2700"/>
              </a:spcBef>
            </a:pPr>
            <a:r>
              <a:rPr lang="zh-CN" altLang="en-US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52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2623312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4277</TotalTime>
  <Words>1486</Words>
  <Application>Microsoft Office PowerPoint</Application>
  <PresentationFormat>宽屏</PresentationFormat>
  <Paragraphs>103</Paragraphs>
  <Slides>16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Meiryo UI</vt:lpstr>
      <vt:lpstr>方正正黑简体</vt:lpstr>
      <vt:lpstr>方正正中黑简体</vt:lpstr>
      <vt:lpstr>华康俪金黑W8(P)</vt:lpstr>
      <vt:lpstr>宋体</vt:lpstr>
      <vt:lpstr>微软雅黑</vt:lpstr>
      <vt:lpstr>Arial</vt:lpstr>
      <vt:lpstr>Calibri</vt:lpstr>
      <vt:lpstr>Calibri Light</vt:lpstr>
      <vt:lpstr>Times New Roman</vt:lpstr>
      <vt:lpstr>Verdana</vt:lpstr>
      <vt:lpstr>Office 主题</vt:lpstr>
      <vt:lpstr>1_Office 主题​​</vt:lpstr>
      <vt:lpstr>Office 主题​​</vt:lpstr>
      <vt:lpstr>真北团队 True North Groups</vt:lpstr>
      <vt:lpstr>PowerPoint 演示文稿</vt:lpstr>
      <vt:lpstr>·团队</vt:lpstr>
      <vt:lpstr>为什么需要这样的团队？</vt:lpstr>
      <vt:lpstr>PowerPoint 演示文稿</vt:lpstr>
      <vt:lpstr>PowerPoint 演示文稿</vt:lpstr>
      <vt:lpstr>PowerPoint 演示文稿</vt:lpstr>
      <vt:lpstr>为什么需要这样的规范？</vt:lpstr>
      <vt:lpstr>PowerPoint 演示文稿</vt:lpstr>
      <vt:lpstr>高效运作的真北团队是怎样的？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Chinese ORG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Chinese User</dc:creator>
  <cp:lastModifiedBy>小巴</cp:lastModifiedBy>
  <cp:revision>232</cp:revision>
  <dcterms:created xsi:type="dcterms:W3CDTF">2014-01-02T01:32:29Z</dcterms:created>
  <dcterms:modified xsi:type="dcterms:W3CDTF">2014-02-25T13:53:12Z</dcterms:modified>
</cp:coreProperties>
</file>