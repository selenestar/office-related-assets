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80" r:id="rId23"/>
    <p:sldId id="281" r:id="rId24"/>
    <p:sldId id="282" r:id="rId25"/>
  </p:sldIdLst>
  <p:sldSz cx="11520488" cy="71993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18573C"/>
    <a:srgbClr val="7873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178222"/>
            <a:ext cx="8640366" cy="2506427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781306"/>
            <a:ext cx="8640366" cy="1738167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6550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7052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794830"/>
            <a:ext cx="9936421" cy="299471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817875"/>
            <a:ext cx="9936421" cy="1574849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05265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916484"/>
            <a:ext cx="4896207" cy="45678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916484"/>
            <a:ext cx="4896207" cy="45678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14105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83297"/>
            <a:ext cx="9936421" cy="13915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764832"/>
            <a:ext cx="4873706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629749"/>
            <a:ext cx="4873706" cy="38679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764832"/>
            <a:ext cx="4897708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629749"/>
            <a:ext cx="4897708" cy="38679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57297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67508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2868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1036569"/>
            <a:ext cx="5832247" cy="5116178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12507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1036569"/>
            <a:ext cx="5832247" cy="5116178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5724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37783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83297"/>
            <a:ext cx="2484105" cy="610108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83297"/>
            <a:ext cx="7308310" cy="610108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764856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0061" y="1178222"/>
            <a:ext cx="8640366" cy="2506427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0061" y="3781306"/>
            <a:ext cx="8640366" cy="1738167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82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147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033" y="1794830"/>
            <a:ext cx="9936421" cy="299471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6033" y="4817875"/>
            <a:ext cx="9936421" cy="1574849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429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92034" y="1916484"/>
            <a:ext cx="4896207" cy="45678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2247" y="1916484"/>
            <a:ext cx="4896207" cy="45678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50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34" y="383297"/>
            <a:ext cx="9936421" cy="13915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3535" y="1764832"/>
            <a:ext cx="4873706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93535" y="2629749"/>
            <a:ext cx="4873706" cy="38679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32247" y="1764832"/>
            <a:ext cx="4897708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32247" y="2629749"/>
            <a:ext cx="4897708" cy="38679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317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711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233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7708" y="1036569"/>
            <a:ext cx="5832247" cy="5116178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8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897708" y="1036569"/>
            <a:ext cx="5832247" cy="5116178"/>
          </a:xfrm>
        </p:spPr>
        <p:txBody>
          <a:bodyPr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47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62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244349" y="383297"/>
            <a:ext cx="2484105" cy="610108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2033" y="383297"/>
            <a:ext cx="7308310" cy="610108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0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83297"/>
            <a:ext cx="9936421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916484"/>
            <a:ext cx="9936421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7F0D5-5CE1-4B89-830C-DDDBDF266F46}" type="datetimeFigureOut">
              <a:rPr lang="zh-CN" altLang="en-US" smtClean="0"/>
              <a:t>2014/3/25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672697"/>
            <a:ext cx="388816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579A6-373D-4370-BFC7-0E47DA212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18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034" y="383297"/>
            <a:ext cx="9936421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034" y="1916484"/>
            <a:ext cx="9936421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033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6162" y="6672697"/>
            <a:ext cx="388816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345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61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4736063"/>
            <a:ext cx="11520488" cy="246324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732522" y="2043055"/>
            <a:ext cx="5314162" cy="2693008"/>
            <a:chOff x="630254" y="2134984"/>
            <a:chExt cx="5314162" cy="2693008"/>
          </a:xfrm>
        </p:grpSpPr>
        <p:grpSp>
          <p:nvGrpSpPr>
            <p:cNvPr id="35" name="组合 34"/>
            <p:cNvGrpSpPr/>
            <p:nvPr/>
          </p:nvGrpSpPr>
          <p:grpSpPr>
            <a:xfrm>
              <a:off x="630255" y="2198421"/>
              <a:ext cx="5286451" cy="1823771"/>
              <a:chOff x="441997" y="1896035"/>
              <a:chExt cx="4856143" cy="1823771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441997" y="1896035"/>
                <a:ext cx="4856143" cy="18237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9600" dirty="0" smtClean="0">
                    <a:solidFill>
                      <a:schemeClr val="bg1"/>
                    </a:solidFill>
                    <a:latin typeface="方正大黑简体" panose="02000000000000000000" pitchFamily="2" charset="-122"/>
                    <a:ea typeface="方正大黑简体" panose="02000000000000000000" pitchFamily="2" charset="-122"/>
                  </a:rPr>
                  <a:t>大象</a:t>
                </a:r>
                <a:endParaRPr lang="en-US" altLang="zh-CN" sz="9600" dirty="0" smtClean="0">
                  <a:solidFill>
                    <a:schemeClr val="bg1"/>
                  </a:solidFill>
                  <a:latin typeface="方正大黑简体" panose="02000000000000000000" pitchFamily="2" charset="-122"/>
                  <a:ea typeface="方正大黑简体" panose="02000000000000000000" pitchFamily="2" charset="-122"/>
                </a:endParaRPr>
              </a:p>
              <a:p>
                <a:r>
                  <a:rPr lang="zh-CN" altLang="en-US" sz="6600" dirty="0" smtClean="0">
                    <a:solidFill>
                      <a:srgbClr val="C8000A"/>
                    </a:solidFill>
                    <a:latin typeface="方正兰亭中黑简体" panose="02000000000000000000" pitchFamily="2" charset="-122"/>
                    <a:ea typeface="方正兰亭中黑简体" panose="02000000000000000000" pitchFamily="2" charset="-122"/>
                  </a:rPr>
                  <a:t>为什么不长毛</a:t>
                </a:r>
                <a:endParaRPr lang="zh-CN" altLang="en-US" sz="6600" dirty="0">
                  <a:solidFill>
                    <a:srgbClr val="C8000A"/>
                  </a:solidFill>
                  <a:latin typeface="方正兰亭中黑简体" panose="02000000000000000000" pitchFamily="2" charset="-122"/>
                  <a:ea typeface="方正兰亭中黑简体" panose="02000000000000000000" pitchFamily="2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2779270" y="1985004"/>
                <a:ext cx="0" cy="564776"/>
              </a:xfrm>
              <a:prstGeom prst="line">
                <a:avLst/>
              </a:prstGeom>
              <a:ln w="38100">
                <a:solidFill>
                  <a:srgbClr val="C8000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5117396" y="1985004"/>
                <a:ext cx="0" cy="564776"/>
              </a:xfrm>
              <a:prstGeom prst="line">
                <a:avLst/>
              </a:prstGeom>
              <a:ln w="38100">
                <a:solidFill>
                  <a:srgbClr val="C8000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/>
              <p:cNvSpPr/>
              <p:nvPr/>
            </p:nvSpPr>
            <p:spPr>
              <a:xfrm>
                <a:off x="3405504" y="1992216"/>
                <a:ext cx="1654966" cy="5647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@</a:t>
                </a:r>
                <a:r>
                  <a:rPr lang="zh-CN" altLang="en-US" sz="20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读书笔记</a:t>
                </a:r>
                <a:r>
                  <a:rPr lang="en-US" altLang="zh-CN" sz="20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PPT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2988496" y="2791108"/>
              <a:ext cx="2955920" cy="5647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方正兰亭纤黑_GBK" panose="02000000000000000000" pitchFamily="2" charset="-122"/>
                </a:rPr>
                <a:t>Why Elephants Don’t Have Hairs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630254" y="4263216"/>
              <a:ext cx="3886327" cy="5647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宋三简体" panose="02000000000000000000" pitchFamily="2" charset="-122"/>
                  <a:ea typeface="方正宋三简体" panose="02000000000000000000" pitchFamily="2" charset="-122"/>
                </a:rPr>
                <a:t>方舟子破解科学谜题</a:t>
              </a:r>
              <a:endPara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宋三简体" panose="02000000000000000000" pitchFamily="2" charset="-122"/>
                <a:ea typeface="方正宋三简体" panose="02000000000000000000" pitchFamily="2" charset="-122"/>
              </a:endParaRPr>
            </a:p>
          </p:txBody>
        </p:sp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5050" b="46535" l="6911" r="367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5" t="15389" r="63477" b="54008"/>
            <a:stretch/>
          </p:blipFill>
          <p:spPr>
            <a:xfrm>
              <a:off x="641245" y="2134984"/>
              <a:ext cx="2288647" cy="1188000"/>
            </a:xfrm>
            <a:prstGeom prst="rect">
              <a:avLst/>
            </a:prstGeom>
            <a:effectLst>
              <a:softEdge rad="12700"/>
            </a:effectLst>
          </p:spPr>
        </p:pic>
      </p:grpSp>
      <p:sp>
        <p:nvSpPr>
          <p:cNvPr id="41" name="矩形 40"/>
          <p:cNvSpPr/>
          <p:nvPr/>
        </p:nvSpPr>
        <p:spPr>
          <a:xfrm>
            <a:off x="765106" y="5182543"/>
            <a:ext cx="6119773" cy="1616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作者：</a:t>
            </a:r>
            <a:r>
              <a:rPr lang="en-US" altLang="zh-CN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@</a:t>
            </a: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方舟子 </a:t>
            </a:r>
            <a:endParaRPr lang="en-US" altLang="zh-CN" sz="2000" dirty="0" smtClean="0">
              <a:solidFill>
                <a:schemeClr val="bg1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出版：</a:t>
            </a:r>
            <a:r>
              <a:rPr lang="en-US" altLang="zh-CN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@</a:t>
            </a: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海豚</a:t>
            </a: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出版社</a:t>
            </a:r>
            <a:endParaRPr lang="en-US" altLang="zh-CN" sz="2000" dirty="0" smtClean="0">
              <a:solidFill>
                <a:schemeClr val="bg1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制作：</a:t>
            </a:r>
            <a:r>
              <a:rPr lang="en-US" altLang="zh-CN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@</a:t>
            </a:r>
            <a:r>
              <a:rPr lang="zh-CN" altLang="en-US" sz="20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嗯呢先生</a:t>
            </a:r>
            <a:endParaRPr lang="en-US" altLang="zh-CN" sz="2000" dirty="0" smtClean="0">
              <a:solidFill>
                <a:schemeClr val="bg1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101353" y="4437767"/>
            <a:ext cx="7419135" cy="180000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t="5487" r="1037" b="7256"/>
          <a:stretch/>
        </p:blipFill>
        <p:spPr>
          <a:xfrm>
            <a:off x="6366505" y="853472"/>
            <a:ext cx="4450976" cy="3913094"/>
          </a:xfrm>
          <a:prstGeom prst="roundRect">
            <a:avLst>
              <a:gd name="adj" fmla="val 50000"/>
            </a:avLst>
          </a:prstGeom>
        </p:spPr>
      </p:pic>
      <p:sp>
        <p:nvSpPr>
          <p:cNvPr id="47" name="矩形 46"/>
          <p:cNvSpPr/>
          <p:nvPr/>
        </p:nvSpPr>
        <p:spPr>
          <a:xfrm>
            <a:off x="0" y="4427169"/>
            <a:ext cx="792000" cy="180000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46" y="2156506"/>
            <a:ext cx="627681" cy="62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99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 37"/>
          <p:cNvSpPr/>
          <p:nvPr/>
        </p:nvSpPr>
        <p:spPr>
          <a:xfrm rot="5400000">
            <a:off x="3490427" y="5349078"/>
            <a:ext cx="3492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剪去单角的矩形 19"/>
          <p:cNvSpPr/>
          <p:nvPr/>
        </p:nvSpPr>
        <p:spPr>
          <a:xfrm>
            <a:off x="5354887" y="4244698"/>
            <a:ext cx="6047403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108000" bIns="28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与现代</a:t>
            </a:r>
            <a:r>
              <a: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大象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体形相仿甚至更大的猛犸象，却为什么进化出了更浓密的体毛？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9" name="对角圆角矩形 18"/>
          <p:cNvSpPr/>
          <p:nvPr/>
        </p:nvSpPr>
        <p:spPr>
          <a:xfrm>
            <a:off x="4686791" y="4244699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2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02500" y="-2450"/>
            <a:ext cx="7861737" cy="3414169"/>
            <a:chOff x="202500" y="-2451"/>
            <a:chExt cx="7861737" cy="3414169"/>
          </a:xfrm>
        </p:grpSpPr>
        <p:sp>
          <p:nvSpPr>
            <p:cNvPr id="31" name="矩形 30"/>
            <p:cNvSpPr/>
            <p:nvPr/>
          </p:nvSpPr>
          <p:spPr>
            <a:xfrm rot="5400000">
              <a:off x="112818" y="599089"/>
              <a:ext cx="1440000" cy="236919"/>
            </a:xfrm>
            <a:prstGeom prst="rect">
              <a:avLst/>
            </a:prstGeom>
            <a:solidFill>
              <a:srgbClr val="185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937424" y="576033"/>
              <a:ext cx="7126813" cy="2835685"/>
              <a:chOff x="2882223" y="118833"/>
              <a:chExt cx="7006688" cy="2835685"/>
            </a:xfrm>
          </p:grpSpPr>
          <p:sp>
            <p:nvSpPr>
              <p:cNvPr id="34" name="剪去单角的矩形 33"/>
              <p:cNvSpPr/>
              <p:nvPr/>
            </p:nvSpPr>
            <p:spPr>
              <a:xfrm>
                <a:off x="2882223" y="118833"/>
                <a:ext cx="7006688" cy="2721350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tIns="0" rIns="828000" bIns="1224000" rtlCol="0" anchor="ctr"/>
              <a:lstStyle/>
              <a:p>
                <a:r>
                  <a:rPr lang="zh-CN" altLang="en-US" sz="2400" dirty="0" smtClean="0">
                    <a:solidFill>
                      <a:srgbClr val="7F7F7F"/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始祖象进化成大象后</a:t>
                </a:r>
                <a:r>
                  <a:rPr lang="zh-CN" altLang="en-US" sz="2400" b="1" dirty="0" smtClean="0">
                    <a:solidFill>
                      <a:srgbClr val="7F7F7F"/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体形增大</a:t>
                </a:r>
                <a:r>
                  <a:rPr lang="zh-CN" altLang="en-US" sz="2400" dirty="0" smtClean="0">
                    <a:solidFill>
                      <a:srgbClr val="7F7F7F"/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，导致毛囊</a:t>
                </a:r>
                <a:r>
                  <a:rPr lang="zh-CN" altLang="en-US" sz="2400" b="1" dirty="0" smtClean="0">
                    <a:solidFill>
                      <a:srgbClr val="7F7F7F"/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密度降低</a:t>
                </a:r>
                <a:r>
                  <a:rPr lang="zh-CN" altLang="en-US" sz="2400" dirty="0" smtClean="0">
                    <a:solidFill>
                      <a:srgbClr val="7F7F7F"/>
                    </a:solidFill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。所以大象体毛变稀疏了。</a:t>
                </a:r>
                <a:endParaRPr lang="zh-CN" altLang="en-US" sz="2400" dirty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E7E5D9"/>
                  </a:clrFrom>
                  <a:clrTo>
                    <a:srgbClr val="E7E5D9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48" t="43206" r="35619" b="37307"/>
              <a:stretch/>
            </p:blipFill>
            <p:spPr>
              <a:xfrm>
                <a:off x="3567235" y="1610626"/>
                <a:ext cx="5777345" cy="1343892"/>
              </a:xfrm>
              <a:prstGeom prst="rect">
                <a:avLst/>
              </a:prstGeom>
            </p:spPr>
          </p:pic>
        </p:grpSp>
        <p:sp>
          <p:nvSpPr>
            <p:cNvPr id="33" name="对角圆角矩形 32"/>
            <p:cNvSpPr/>
            <p:nvPr/>
          </p:nvSpPr>
          <p:spPr>
            <a:xfrm>
              <a:off x="202500" y="593529"/>
              <a:ext cx="1336193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>
            <a:off x="4365827" y="2009686"/>
            <a:ext cx="1741201" cy="1711852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rIns="828000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066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剪去单角的矩形 19"/>
          <p:cNvSpPr/>
          <p:nvPr/>
        </p:nvSpPr>
        <p:spPr>
          <a:xfrm flipH="1">
            <a:off x="2528915" y="2583412"/>
            <a:ext cx="7868533" cy="3375304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0" rIns="684000" bIns="1944000" rtlCol="0" anchor="ctr"/>
          <a:lstStyle/>
          <a:p>
            <a:r>
              <a: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和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现代大象共同在热带生活的斑马、狮子等动物都有毛发，为什么单单大象体毛发生了严重的退化呢？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0" t="6228" r="19691" b="2863"/>
          <a:stretch/>
        </p:blipFill>
        <p:spPr>
          <a:xfrm>
            <a:off x="3958100" y="3844863"/>
            <a:ext cx="2319735" cy="193694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 rot="5400000">
            <a:off x="7635908" y="4210887"/>
            <a:ext cx="576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>
            <a:off x="5435568" y="364242"/>
            <a:ext cx="5869742" cy="1272395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108000" bIns="108000"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猛犸象生活在</a:t>
            </a:r>
            <a:r>
              <a:rPr lang="zh-CN" altLang="en-US" sz="24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寒带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，需要毛发御寒；现代大象生活在</a:t>
            </a:r>
            <a:r>
              <a:rPr lang="zh-CN" altLang="en-US" sz="24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热带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，所以没有这个必要。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9" name="对角圆角矩形 18"/>
          <p:cNvSpPr/>
          <p:nvPr/>
        </p:nvSpPr>
        <p:spPr>
          <a:xfrm>
            <a:off x="9886899" y="2562903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3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sp>
        <p:nvSpPr>
          <p:cNvPr id="31" name="矩形 30"/>
          <p:cNvSpPr/>
          <p:nvPr/>
        </p:nvSpPr>
        <p:spPr>
          <a:xfrm rot="5400000">
            <a:off x="4408428" y="709542"/>
            <a:ext cx="165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对角圆角矩形 32"/>
          <p:cNvSpPr/>
          <p:nvPr/>
        </p:nvSpPr>
        <p:spPr>
          <a:xfrm>
            <a:off x="4686790" y="368124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2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286018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rot="5400000">
            <a:off x="9794471" y="494803"/>
            <a:ext cx="144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596752" y="426937"/>
            <a:ext cx="9785995" cy="4063058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36000" bIns="1980000" rtlCol="0" anchor="ctr"/>
          <a:lstStyle/>
          <a:p>
            <a:r>
              <a:rPr lang="zh-CN" altLang="en-US" sz="24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大象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是恒温动物，体温须维持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36</a:t>
            </a:r>
            <a:r>
              <a:rPr lang="zh-CN" altLang="en-US" sz="1200" baseline="100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〇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C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，否则会威胁生命。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热是在细胞代谢过程总产生的，总量与细胞量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(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动物的体积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)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成正比，基本上是固定的。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体形增大时，体积按照立方增大，表面积按照平方增大。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9727914" y="422547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3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4656993" y="2689410"/>
            <a:ext cx="5045104" cy="1466531"/>
            <a:chOff x="-2011347" y="518039"/>
            <a:chExt cx="11690868" cy="3398346"/>
          </a:xfrm>
        </p:grpSpPr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3083209" y="518039"/>
              <a:ext cx="6596312" cy="1527193"/>
              <a:chOff x="2428304" y="518002"/>
              <a:chExt cx="9798913" cy="2268683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2428304" y="518002"/>
                <a:ext cx="6625936" cy="1149928"/>
                <a:chOff x="2428304" y="518002"/>
                <a:chExt cx="6625936" cy="1149928"/>
              </a:xfrm>
            </p:grpSpPr>
            <p:grpSp>
              <p:nvGrpSpPr>
                <p:cNvPr id="114" name="组合 113"/>
                <p:cNvGrpSpPr/>
                <p:nvPr/>
              </p:nvGrpSpPr>
              <p:grpSpPr>
                <a:xfrm>
                  <a:off x="2428304" y="518002"/>
                  <a:ext cx="3366655" cy="1149928"/>
                  <a:chOff x="7221977" y="2594837"/>
                  <a:chExt cx="3366655" cy="1149928"/>
                </a:xfrm>
              </p:grpSpPr>
              <p:pic>
                <p:nvPicPr>
                  <p:cNvPr id="121" name="图片 120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22197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22" name="图片 121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23" name="图片 122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24" name="图片 123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25" name="图片 124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84048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15" name="组合 114"/>
                <p:cNvGrpSpPr/>
                <p:nvPr/>
              </p:nvGrpSpPr>
              <p:grpSpPr>
                <a:xfrm>
                  <a:off x="5791202" y="518002"/>
                  <a:ext cx="3263038" cy="1149928"/>
                  <a:chOff x="7325594" y="2594837"/>
                  <a:chExt cx="3263038" cy="1149928"/>
                </a:xfrm>
              </p:grpSpPr>
              <p:pic>
                <p:nvPicPr>
                  <p:cNvPr id="116" name="图片 115"/>
                  <p:cNvPicPr>
                    <a:picLocks noChangeAspect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4185" t="43166" r="21604" b="2863"/>
                  <a:stretch/>
                </p:blipFill>
                <p:spPr>
                  <a:xfrm>
                    <a:off x="7325594" y="2594837"/>
                    <a:ext cx="568036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7" name="图片 116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8" name="图片 117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9" name="图片 118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20" name="图片 119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84048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</p:grpSp>
          <p:grpSp>
            <p:nvGrpSpPr>
              <p:cNvPr id="89" name="组合 88"/>
              <p:cNvGrpSpPr/>
              <p:nvPr/>
            </p:nvGrpSpPr>
            <p:grpSpPr>
              <a:xfrm flipH="1">
                <a:off x="2428304" y="1605584"/>
                <a:ext cx="6625936" cy="1149928"/>
                <a:chOff x="2428304" y="518002"/>
                <a:chExt cx="6625936" cy="1149928"/>
              </a:xfrm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2428304" y="518002"/>
                  <a:ext cx="3366655" cy="1149928"/>
                  <a:chOff x="7221977" y="2594837"/>
                  <a:chExt cx="3366655" cy="1149928"/>
                </a:xfrm>
              </p:grpSpPr>
              <p:pic>
                <p:nvPicPr>
                  <p:cNvPr id="109" name="图片 108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22197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0" name="图片 109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1" name="图片 110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2" name="图片 111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13" name="图片 112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84048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03" name="组合 102"/>
                <p:cNvGrpSpPr/>
                <p:nvPr/>
              </p:nvGrpSpPr>
              <p:grpSpPr>
                <a:xfrm>
                  <a:off x="5791202" y="518002"/>
                  <a:ext cx="3263038" cy="1149928"/>
                  <a:chOff x="7325594" y="2594837"/>
                  <a:chExt cx="3263038" cy="1149928"/>
                </a:xfrm>
              </p:grpSpPr>
              <p:pic>
                <p:nvPicPr>
                  <p:cNvPr id="104" name="图片 103"/>
                  <p:cNvPicPr>
                    <a:picLocks noChangeAspect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4185" t="43166" r="21604" b="2863"/>
                  <a:stretch/>
                </p:blipFill>
                <p:spPr>
                  <a:xfrm>
                    <a:off x="7325594" y="2594837"/>
                    <a:ext cx="568036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05" name="图片 104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06" name="图片 105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07" name="图片 106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08" name="图片 107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84048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</p:grpSp>
          <p:grpSp>
            <p:nvGrpSpPr>
              <p:cNvPr id="90" name="组合 89"/>
              <p:cNvGrpSpPr/>
              <p:nvPr/>
            </p:nvGrpSpPr>
            <p:grpSpPr>
              <a:xfrm flipH="1">
                <a:off x="8960718" y="1636757"/>
                <a:ext cx="3266499" cy="1149928"/>
                <a:chOff x="7221977" y="2594837"/>
                <a:chExt cx="3266499" cy="1149928"/>
              </a:xfrm>
            </p:grpSpPr>
            <p:pic>
              <p:nvPicPr>
                <p:cNvPr id="97" name="图片 96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221977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8" name="图片 97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876604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9" name="图片 98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8531231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00" name="图片 99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185858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01" name="图片 100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3939" t="43166" r="22196" b="2863"/>
                <a:stretch/>
              </p:blipFill>
              <p:spPr>
                <a:xfrm>
                  <a:off x="9934293" y="2594837"/>
                  <a:ext cx="554183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91" name="组合 90"/>
              <p:cNvGrpSpPr/>
              <p:nvPr/>
            </p:nvGrpSpPr>
            <p:grpSpPr>
              <a:xfrm>
                <a:off x="8960718" y="518002"/>
                <a:ext cx="3263038" cy="1149928"/>
                <a:chOff x="7325594" y="2594837"/>
                <a:chExt cx="3263038" cy="1149928"/>
              </a:xfrm>
            </p:grpSpPr>
            <p:pic>
              <p:nvPicPr>
                <p:cNvPr id="92" name="图片 91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185" t="43166" r="21604" b="2863"/>
                <a:stretch/>
              </p:blipFill>
              <p:spPr>
                <a:xfrm>
                  <a:off x="7325594" y="2594837"/>
                  <a:ext cx="568036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3" name="图片 92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876604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4" name="图片 93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8531231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5" name="图片 94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185858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96" name="图片 95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840487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5" name="组合 14"/>
            <p:cNvGrpSpPr/>
            <p:nvPr/>
          </p:nvGrpSpPr>
          <p:grpSpPr>
            <a:xfrm>
              <a:off x="3002344" y="2378700"/>
              <a:ext cx="6596312" cy="1537685"/>
              <a:chOff x="1503796" y="2200097"/>
              <a:chExt cx="6596312" cy="1537685"/>
            </a:xfrm>
          </p:grpSpPr>
          <p:grpSp>
            <p:nvGrpSpPr>
              <p:cNvPr id="36" name="组合 35"/>
              <p:cNvGrpSpPr>
                <a:grpSpLocks noChangeAspect="1"/>
              </p:cNvGrpSpPr>
              <p:nvPr/>
            </p:nvGrpSpPr>
            <p:grpSpPr>
              <a:xfrm>
                <a:off x="1503796" y="2210589"/>
                <a:ext cx="6596312" cy="1527193"/>
                <a:chOff x="2428304" y="518002"/>
                <a:chExt cx="9798913" cy="2268683"/>
              </a:xfrm>
            </p:grpSpPr>
            <p:grpSp>
              <p:nvGrpSpPr>
                <p:cNvPr id="50" name="组合 49"/>
                <p:cNvGrpSpPr/>
                <p:nvPr/>
              </p:nvGrpSpPr>
              <p:grpSpPr>
                <a:xfrm>
                  <a:off x="2428304" y="518002"/>
                  <a:ext cx="6625936" cy="1149928"/>
                  <a:chOff x="2428304" y="518002"/>
                  <a:chExt cx="6625936" cy="1149928"/>
                </a:xfrm>
              </p:grpSpPr>
              <p:grpSp>
                <p:nvGrpSpPr>
                  <p:cNvPr id="76" name="组合 75"/>
                  <p:cNvGrpSpPr/>
                  <p:nvPr/>
                </p:nvGrpSpPr>
                <p:grpSpPr>
                  <a:xfrm>
                    <a:off x="2428304" y="518002"/>
                    <a:ext cx="3366655" cy="1149928"/>
                    <a:chOff x="7221977" y="2594837"/>
                    <a:chExt cx="3366655" cy="1149928"/>
                  </a:xfrm>
                </p:grpSpPr>
                <p:pic>
                  <p:nvPicPr>
                    <p:cNvPr id="83" name="图片 82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22197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4" name="图片 83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876604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5" name="图片 84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8531231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6" name="图片 85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185858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7" name="图片 86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84048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</p:grpSp>
              <p:grpSp>
                <p:nvGrpSpPr>
                  <p:cNvPr id="77" name="组合 76"/>
                  <p:cNvGrpSpPr/>
                  <p:nvPr/>
                </p:nvGrpSpPr>
                <p:grpSpPr>
                  <a:xfrm>
                    <a:off x="5791202" y="518002"/>
                    <a:ext cx="3263038" cy="1149928"/>
                    <a:chOff x="7325594" y="2594837"/>
                    <a:chExt cx="3263038" cy="1149928"/>
                  </a:xfrm>
                </p:grpSpPr>
                <p:pic>
                  <p:nvPicPr>
                    <p:cNvPr id="78" name="图片 77"/>
                    <p:cNvPicPr>
                      <a:picLocks noChangeAspect="1"/>
                    </p:cNvPicPr>
                    <p:nvPr/>
                  </p:nvPicPr>
                  <p:blipFill rotWithShape="1">
                    <a:blip r:embed="rId3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185" t="43166" r="21604" b="2863"/>
                    <a:stretch/>
                  </p:blipFill>
                  <p:spPr>
                    <a:xfrm>
                      <a:off x="7325594" y="2594837"/>
                      <a:ext cx="568036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9" name="图片 78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876604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0" name="图片 79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8531231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1" name="图片 80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185858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82" name="图片 81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84048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</p:grpSp>
            </p:grpSp>
            <p:grpSp>
              <p:nvGrpSpPr>
                <p:cNvPr id="51" name="组合 50"/>
                <p:cNvGrpSpPr/>
                <p:nvPr/>
              </p:nvGrpSpPr>
              <p:grpSpPr>
                <a:xfrm flipH="1">
                  <a:off x="2428304" y="1605584"/>
                  <a:ext cx="6625936" cy="1149928"/>
                  <a:chOff x="2428304" y="518002"/>
                  <a:chExt cx="6625936" cy="1149928"/>
                </a:xfrm>
              </p:grpSpPr>
              <p:grpSp>
                <p:nvGrpSpPr>
                  <p:cNvPr id="64" name="组合 63"/>
                  <p:cNvGrpSpPr/>
                  <p:nvPr/>
                </p:nvGrpSpPr>
                <p:grpSpPr>
                  <a:xfrm>
                    <a:off x="2428304" y="518002"/>
                    <a:ext cx="3366655" cy="1149928"/>
                    <a:chOff x="7221977" y="2594837"/>
                    <a:chExt cx="3366655" cy="1149928"/>
                  </a:xfrm>
                </p:grpSpPr>
                <p:pic>
                  <p:nvPicPr>
                    <p:cNvPr id="71" name="图片 70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22197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2" name="图片 71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876604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3" name="图片 72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8531231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4" name="图片 73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185858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5" name="图片 74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84048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</p:grpSp>
              <p:grpSp>
                <p:nvGrpSpPr>
                  <p:cNvPr id="65" name="组合 64"/>
                  <p:cNvGrpSpPr/>
                  <p:nvPr/>
                </p:nvGrpSpPr>
                <p:grpSpPr>
                  <a:xfrm>
                    <a:off x="5791202" y="518002"/>
                    <a:ext cx="3263038" cy="1149928"/>
                    <a:chOff x="7325594" y="2594837"/>
                    <a:chExt cx="3263038" cy="1149928"/>
                  </a:xfrm>
                </p:grpSpPr>
                <p:pic>
                  <p:nvPicPr>
                    <p:cNvPr id="66" name="图片 65"/>
                    <p:cNvPicPr>
                      <a:picLocks noChangeAspect="1"/>
                    </p:cNvPicPr>
                    <p:nvPr/>
                  </p:nvPicPr>
                  <p:blipFill rotWithShape="1">
                    <a:blip r:embed="rId3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4185" t="43166" r="21604" b="2863"/>
                    <a:stretch/>
                  </p:blipFill>
                  <p:spPr>
                    <a:xfrm>
                      <a:off x="7325594" y="2594837"/>
                      <a:ext cx="568036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67" name="图片 66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7876604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68" name="图片 67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8531231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69" name="图片 68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185858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  <p:pic>
                  <p:nvPicPr>
                    <p:cNvPr id="70" name="图片 69"/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duotone>
                        <a:schemeClr val="bg2">
                          <a:shade val="45000"/>
                          <a:satMod val="135000"/>
                        </a:schemeClr>
                        <a:prstClr val="white"/>
                      </a:duoton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61592" t="43166" r="19690" b="2863"/>
                    <a:stretch/>
                  </p:blipFill>
                  <p:spPr>
                    <a:xfrm>
                      <a:off x="9840487" y="2594837"/>
                      <a:ext cx="748145" cy="1149928"/>
                    </a:xfrm>
                    <a:custGeom>
                      <a:avLst/>
                      <a:gdLst>
                        <a:gd name="connsiteX0" fmla="*/ 0 w 748145"/>
                        <a:gd name="connsiteY0" fmla="*/ 0 h 1149928"/>
                        <a:gd name="connsiteX1" fmla="*/ 748145 w 748145"/>
                        <a:gd name="connsiteY1" fmla="*/ 0 h 1149928"/>
                        <a:gd name="connsiteX2" fmla="*/ 748145 w 748145"/>
                        <a:gd name="connsiteY2" fmla="*/ 1149928 h 1149928"/>
                        <a:gd name="connsiteX3" fmla="*/ 0 w 748145"/>
                        <a:gd name="connsiteY3" fmla="*/ 1149928 h 114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48145" h="1149928">
                          <a:moveTo>
                            <a:pt x="0" y="0"/>
                          </a:moveTo>
                          <a:lnTo>
                            <a:pt x="748145" y="0"/>
                          </a:lnTo>
                          <a:lnTo>
                            <a:pt x="748145" y="1149928"/>
                          </a:lnTo>
                          <a:lnTo>
                            <a:pt x="0" y="1149928"/>
                          </a:lnTo>
                          <a:close/>
                        </a:path>
                      </a:pathLst>
                    </a:custGeom>
                  </p:spPr>
                </p:pic>
              </p:grpSp>
            </p:grpSp>
            <p:grpSp>
              <p:nvGrpSpPr>
                <p:cNvPr id="52" name="组合 51"/>
                <p:cNvGrpSpPr/>
                <p:nvPr/>
              </p:nvGrpSpPr>
              <p:grpSpPr>
                <a:xfrm flipH="1">
                  <a:off x="8960718" y="1636757"/>
                  <a:ext cx="3266499" cy="1149928"/>
                  <a:chOff x="7221977" y="2594837"/>
                  <a:chExt cx="3266499" cy="1149928"/>
                </a:xfrm>
              </p:grpSpPr>
              <p:pic>
                <p:nvPicPr>
                  <p:cNvPr id="59" name="图片 58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22197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60" name="图片 59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61" name="图片 60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62" name="图片 61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63" name="图片 62"/>
                  <p:cNvPicPr>
                    <a:picLocks noChangeAspect="1"/>
                  </p:cNvPicPr>
                  <p:nvPr/>
                </p:nvPicPr>
                <p:blipFill rotWithShape="1">
                  <a:blip r:embed="rId4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3939" t="43166" r="22196" b="2863"/>
                  <a:stretch/>
                </p:blipFill>
                <p:spPr>
                  <a:xfrm>
                    <a:off x="9934293" y="2594837"/>
                    <a:ext cx="554183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8960718" y="518002"/>
                  <a:ext cx="3263038" cy="1149928"/>
                  <a:chOff x="7325594" y="2594837"/>
                  <a:chExt cx="3263038" cy="1149928"/>
                </a:xfrm>
              </p:grpSpPr>
              <p:pic>
                <p:nvPicPr>
                  <p:cNvPr id="54" name="图片 53"/>
                  <p:cNvPicPr>
                    <a:picLocks noChangeAspect="1"/>
                  </p:cNvPicPr>
                  <p:nvPr/>
                </p:nvPicPr>
                <p:blipFill rotWithShape="1">
                  <a:blip r:embed="rId3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4185" t="43166" r="21604" b="2863"/>
                  <a:stretch/>
                </p:blipFill>
                <p:spPr>
                  <a:xfrm>
                    <a:off x="7325594" y="2594837"/>
                    <a:ext cx="568036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55" name="图片 54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7876604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56" name="图片 55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8531231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57" name="图片 56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185858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58" name="图片 57"/>
                  <p:cNvPicPr>
                    <a:picLocks noChangeAspect="1"/>
                  </p:cNvPicPr>
                  <p:nvPr/>
                </p:nvPicPr>
                <p:blipFill rotWithShape="1">
                  <a:blip r:embed="rId2" cstate="print">
                    <a:duotone>
                      <a:schemeClr val="bg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592" t="43166" r="19690" b="2863"/>
                  <a:stretch/>
                </p:blipFill>
                <p:spPr>
                  <a:xfrm>
                    <a:off x="9840487" y="2594837"/>
                    <a:ext cx="748145" cy="1149928"/>
                  </a:xfrm>
                  <a:custGeom>
                    <a:avLst/>
                    <a:gdLst>
                      <a:gd name="connsiteX0" fmla="*/ 0 w 748145"/>
                      <a:gd name="connsiteY0" fmla="*/ 0 h 1149928"/>
                      <a:gd name="connsiteX1" fmla="*/ 748145 w 748145"/>
                      <a:gd name="connsiteY1" fmla="*/ 0 h 1149928"/>
                      <a:gd name="connsiteX2" fmla="*/ 748145 w 748145"/>
                      <a:gd name="connsiteY2" fmla="*/ 1149928 h 1149928"/>
                      <a:gd name="connsiteX3" fmla="*/ 0 w 748145"/>
                      <a:gd name="connsiteY3" fmla="*/ 1149928 h 114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145" h="1149928">
                        <a:moveTo>
                          <a:pt x="0" y="0"/>
                        </a:moveTo>
                        <a:lnTo>
                          <a:pt x="748145" y="0"/>
                        </a:lnTo>
                        <a:lnTo>
                          <a:pt x="748145" y="1149928"/>
                        </a:lnTo>
                        <a:lnTo>
                          <a:pt x="0" y="1149928"/>
                        </a:lnTo>
                        <a:close/>
                      </a:path>
                    </a:pathLst>
                  </a:custGeom>
                </p:spPr>
              </p:pic>
            </p:grpSp>
          </p:grpSp>
          <p:grpSp>
            <p:nvGrpSpPr>
              <p:cNvPr id="37" name="组合 36"/>
              <p:cNvGrpSpPr/>
              <p:nvPr/>
            </p:nvGrpSpPr>
            <p:grpSpPr>
              <a:xfrm>
                <a:off x="1503796" y="2200097"/>
                <a:ext cx="2266323" cy="774089"/>
                <a:chOff x="7221977" y="2594837"/>
                <a:chExt cx="3366655" cy="1149928"/>
              </a:xfrm>
            </p:grpSpPr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221977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6" name="图片 45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876604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7" name="图片 46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8531231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8" name="图片 47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185858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9" name="图片 48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840487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8" name="组合 37"/>
              <p:cNvGrpSpPr/>
              <p:nvPr/>
            </p:nvGrpSpPr>
            <p:grpSpPr>
              <a:xfrm flipH="1">
                <a:off x="1503796" y="2932217"/>
                <a:ext cx="2196572" cy="774089"/>
                <a:chOff x="7325594" y="2594837"/>
                <a:chExt cx="3263038" cy="1149928"/>
              </a:xfrm>
            </p:grpSpPr>
            <p:pic>
              <p:nvPicPr>
                <p:cNvPr id="40" name="图片 39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185" t="43166" r="21604" b="2863"/>
                <a:stretch/>
              </p:blipFill>
              <p:spPr>
                <a:xfrm>
                  <a:off x="7325594" y="2594837"/>
                  <a:ext cx="568036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1" name="图片 40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7876604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2" name="图片 41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8531231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3" name="图片 42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185858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44" name="图片 43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592" t="43166" r="19690" b="2863"/>
                <a:stretch/>
              </p:blipFill>
              <p:spPr>
                <a:xfrm>
                  <a:off x="9840487" y="2594837"/>
                  <a:ext cx="748145" cy="1149928"/>
                </a:xfrm>
                <a:custGeom>
                  <a:avLst/>
                  <a:gdLst>
                    <a:gd name="connsiteX0" fmla="*/ 0 w 748145"/>
                    <a:gd name="connsiteY0" fmla="*/ 0 h 1149928"/>
                    <a:gd name="connsiteX1" fmla="*/ 748145 w 748145"/>
                    <a:gd name="connsiteY1" fmla="*/ 0 h 1149928"/>
                    <a:gd name="connsiteX2" fmla="*/ 748145 w 748145"/>
                    <a:gd name="connsiteY2" fmla="*/ 1149928 h 1149928"/>
                    <a:gd name="connsiteX3" fmla="*/ 0 w 748145"/>
                    <a:gd name="connsiteY3" fmla="*/ 1149928 h 1149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8145" h="1149928">
                      <a:moveTo>
                        <a:pt x="0" y="0"/>
                      </a:moveTo>
                      <a:lnTo>
                        <a:pt x="748145" y="0"/>
                      </a:lnTo>
                      <a:lnTo>
                        <a:pt x="748145" y="1149928"/>
                      </a:lnTo>
                      <a:lnTo>
                        <a:pt x="0" y="1149928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7" name="组合 16"/>
            <p:cNvGrpSpPr/>
            <p:nvPr/>
          </p:nvGrpSpPr>
          <p:grpSpPr>
            <a:xfrm>
              <a:off x="-1533323" y="518039"/>
              <a:ext cx="5210566" cy="1442705"/>
              <a:chOff x="-1533323" y="518039"/>
              <a:chExt cx="5210566" cy="1442705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-1533323" y="518039"/>
                <a:ext cx="3846328" cy="1442705"/>
                <a:chOff x="-1851978" y="518039"/>
                <a:chExt cx="3846328" cy="1442705"/>
              </a:xfrm>
            </p:grpSpPr>
            <p:pic>
              <p:nvPicPr>
                <p:cNvPr id="34" name="图片 33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07" t="6228" r="19690" b="2863"/>
                <a:stretch/>
              </p:blipFill>
              <p:spPr>
                <a:xfrm>
                  <a:off x="484912" y="518039"/>
                  <a:ext cx="1509438" cy="1442705"/>
                </a:xfrm>
                <a:custGeom>
                  <a:avLst/>
                  <a:gdLst>
                    <a:gd name="connsiteX0" fmla="*/ 0 w 2026523"/>
                    <a:gd name="connsiteY0" fmla="*/ 0 h 1936941"/>
                    <a:gd name="connsiteX1" fmla="*/ 2026523 w 2026523"/>
                    <a:gd name="connsiteY1" fmla="*/ 0 h 1936941"/>
                    <a:gd name="connsiteX2" fmla="*/ 2026523 w 2026523"/>
                    <a:gd name="connsiteY2" fmla="*/ 787013 h 1936941"/>
                    <a:gd name="connsiteX3" fmla="*/ 1278378 w 2026523"/>
                    <a:gd name="connsiteY3" fmla="*/ 787013 h 1936941"/>
                    <a:gd name="connsiteX4" fmla="*/ 1278378 w 2026523"/>
                    <a:gd name="connsiteY4" fmla="*/ 1936941 h 1936941"/>
                    <a:gd name="connsiteX5" fmla="*/ 249382 w 2026523"/>
                    <a:gd name="connsiteY5" fmla="*/ 1936941 h 1936941"/>
                    <a:gd name="connsiteX6" fmla="*/ 249382 w 2026523"/>
                    <a:gd name="connsiteY6" fmla="*/ 662325 h 1936941"/>
                    <a:gd name="connsiteX7" fmla="*/ 0 w 2026523"/>
                    <a:gd name="connsiteY7" fmla="*/ 662325 h 19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26523" h="1936941">
                      <a:moveTo>
                        <a:pt x="0" y="0"/>
                      </a:moveTo>
                      <a:lnTo>
                        <a:pt x="2026523" y="0"/>
                      </a:lnTo>
                      <a:lnTo>
                        <a:pt x="2026523" y="787013"/>
                      </a:lnTo>
                      <a:lnTo>
                        <a:pt x="1278378" y="787013"/>
                      </a:lnTo>
                      <a:lnTo>
                        <a:pt x="1278378" y="1936941"/>
                      </a:lnTo>
                      <a:lnTo>
                        <a:pt x="249382" y="1936941"/>
                      </a:lnTo>
                      <a:lnTo>
                        <a:pt x="249382" y="662325"/>
                      </a:lnTo>
                      <a:lnTo>
                        <a:pt x="0" y="662325"/>
                      </a:lnTo>
                      <a:close/>
                    </a:path>
                  </a:pathLst>
                </a:custGeom>
              </p:spPr>
            </p:pic>
            <p:sp>
              <p:nvSpPr>
                <p:cNvPr id="35" name="矩形 34"/>
                <p:cNvSpPr/>
                <p:nvPr/>
              </p:nvSpPr>
              <p:spPr>
                <a:xfrm>
                  <a:off x="-1851978" y="1013991"/>
                  <a:ext cx="2026788" cy="35694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zh-CN" altLang="en-US" sz="2400" b="1" dirty="0" smtClean="0">
                      <a:solidFill>
                        <a:srgbClr val="18573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方正兰亭纤黑_GBK" panose="02000000000000000000" pitchFamily="2" charset="-122"/>
                      <a:ea typeface="方正兰亭纤黑_GBK" panose="02000000000000000000" pitchFamily="2" charset="-122"/>
                    </a:rPr>
                    <a:t>体积</a:t>
                  </a:r>
                  <a:endParaRPr lang="zh-CN" altLang="en-US" sz="2400" b="1" dirty="0">
                    <a:solidFill>
                      <a:srgbClr val="18573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兰亭纤黑_GBK" panose="02000000000000000000" pitchFamily="2" charset="-122"/>
                    <a:ea typeface="方正兰亭纤黑_GBK" panose="02000000000000000000" pitchFamily="2" charset="-122"/>
                  </a:endParaRPr>
                </a:p>
              </p:txBody>
            </p:sp>
          </p:grpSp>
          <p:sp>
            <p:nvSpPr>
              <p:cNvPr id="32" name="矩形 31"/>
              <p:cNvSpPr/>
              <p:nvPr/>
            </p:nvSpPr>
            <p:spPr>
              <a:xfrm>
                <a:off x="2100297" y="814666"/>
                <a:ext cx="1576946" cy="5562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 b="1" dirty="0" smtClean="0">
                    <a:solidFill>
                      <a:srgbClr val="18573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=</a:t>
                </a:r>
                <a:endParaRPr lang="zh-CN" altLang="en-US" sz="3600" b="1" dirty="0">
                  <a:solidFill>
                    <a:srgbClr val="18573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兰亭纤黑_GBK" panose="02000000000000000000" pitchFamily="2" charset="-122"/>
                  <a:ea typeface="方正兰亭纤黑_GBK" panose="02000000000000000000" pitchFamily="2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-2011347" y="2378700"/>
              <a:ext cx="5688590" cy="1442705"/>
              <a:chOff x="-2011347" y="518039"/>
              <a:chExt cx="5688590" cy="1442705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-2011347" y="518039"/>
                <a:ext cx="4324352" cy="1442705"/>
                <a:chOff x="-2330002" y="518039"/>
                <a:chExt cx="4324352" cy="1442705"/>
              </a:xfrm>
            </p:grpSpPr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07" t="6228" r="19690" b="2863"/>
                <a:stretch/>
              </p:blipFill>
              <p:spPr>
                <a:xfrm>
                  <a:off x="484912" y="518039"/>
                  <a:ext cx="1509438" cy="1442705"/>
                </a:xfrm>
                <a:custGeom>
                  <a:avLst/>
                  <a:gdLst>
                    <a:gd name="connsiteX0" fmla="*/ 0 w 2026523"/>
                    <a:gd name="connsiteY0" fmla="*/ 0 h 1936941"/>
                    <a:gd name="connsiteX1" fmla="*/ 2026523 w 2026523"/>
                    <a:gd name="connsiteY1" fmla="*/ 0 h 1936941"/>
                    <a:gd name="connsiteX2" fmla="*/ 2026523 w 2026523"/>
                    <a:gd name="connsiteY2" fmla="*/ 787013 h 1936941"/>
                    <a:gd name="connsiteX3" fmla="*/ 1278378 w 2026523"/>
                    <a:gd name="connsiteY3" fmla="*/ 787013 h 1936941"/>
                    <a:gd name="connsiteX4" fmla="*/ 1278378 w 2026523"/>
                    <a:gd name="connsiteY4" fmla="*/ 1936941 h 1936941"/>
                    <a:gd name="connsiteX5" fmla="*/ 249382 w 2026523"/>
                    <a:gd name="connsiteY5" fmla="*/ 1936941 h 1936941"/>
                    <a:gd name="connsiteX6" fmla="*/ 249382 w 2026523"/>
                    <a:gd name="connsiteY6" fmla="*/ 662325 h 1936941"/>
                    <a:gd name="connsiteX7" fmla="*/ 0 w 2026523"/>
                    <a:gd name="connsiteY7" fmla="*/ 662325 h 19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26523" h="1936941">
                      <a:moveTo>
                        <a:pt x="0" y="0"/>
                      </a:moveTo>
                      <a:lnTo>
                        <a:pt x="2026523" y="0"/>
                      </a:lnTo>
                      <a:lnTo>
                        <a:pt x="2026523" y="787013"/>
                      </a:lnTo>
                      <a:lnTo>
                        <a:pt x="1278378" y="787013"/>
                      </a:lnTo>
                      <a:lnTo>
                        <a:pt x="1278378" y="1936941"/>
                      </a:lnTo>
                      <a:lnTo>
                        <a:pt x="249382" y="1936941"/>
                      </a:lnTo>
                      <a:lnTo>
                        <a:pt x="249382" y="662325"/>
                      </a:lnTo>
                      <a:lnTo>
                        <a:pt x="0" y="662325"/>
                      </a:lnTo>
                      <a:close/>
                    </a:path>
                  </a:pathLst>
                </a:custGeom>
              </p:spPr>
            </p:pic>
            <p:sp>
              <p:nvSpPr>
                <p:cNvPr id="29" name="矩形 28"/>
                <p:cNvSpPr/>
                <p:nvPr/>
              </p:nvSpPr>
              <p:spPr>
                <a:xfrm>
                  <a:off x="-2330002" y="1370933"/>
                  <a:ext cx="2745326" cy="56465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zh-CN" altLang="en-US" sz="2400" b="1" dirty="0" smtClean="0">
                      <a:solidFill>
                        <a:srgbClr val="18573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方正兰亭纤黑_GBK" panose="02000000000000000000" pitchFamily="2" charset="-122"/>
                      <a:ea typeface="方正兰亭纤黑_GBK" panose="02000000000000000000" pitchFamily="2" charset="-122"/>
                    </a:rPr>
                    <a:t>表面积</a:t>
                  </a:r>
                  <a:endParaRPr lang="zh-CN" altLang="en-US" sz="2400" b="1" dirty="0">
                    <a:solidFill>
                      <a:srgbClr val="18573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兰亭纤黑_GBK" panose="02000000000000000000" pitchFamily="2" charset="-122"/>
                    <a:ea typeface="方正兰亭纤黑_GBK" panose="02000000000000000000" pitchFamily="2" charset="-122"/>
                  </a:endParaRPr>
                </a:p>
              </p:txBody>
            </p:sp>
          </p:grpSp>
          <p:sp>
            <p:nvSpPr>
              <p:cNvPr id="20" name="矩形 19"/>
              <p:cNvSpPr/>
              <p:nvPr/>
            </p:nvSpPr>
            <p:spPr>
              <a:xfrm>
                <a:off x="2100297" y="814666"/>
                <a:ext cx="1576946" cy="5562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600" b="1" dirty="0" smtClean="0">
                    <a:solidFill>
                      <a:srgbClr val="18573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兰亭纤黑_GBK" panose="02000000000000000000" pitchFamily="2" charset="-122"/>
                    <a:ea typeface="方正兰亭纤黑_GBK" panose="02000000000000000000" pitchFamily="2" charset="-122"/>
                  </a:rPr>
                  <a:t>=</a:t>
                </a:r>
                <a:endParaRPr lang="zh-CN" altLang="en-US" sz="3600" b="1" dirty="0">
                  <a:solidFill>
                    <a:srgbClr val="18573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兰亭纤黑_GBK" panose="02000000000000000000" pitchFamily="2" charset="-122"/>
                  <a:ea typeface="方正兰亭纤黑_GBK" panose="02000000000000000000" pitchFamily="2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902484" y="2689411"/>
            <a:ext cx="3575642" cy="18409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zh-CN" altLang="en-US" sz="28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因此，大象不能像狮子那样保留着妨碍散热的体毛。</a:t>
            </a:r>
            <a:endParaRPr lang="en-US" altLang="zh-CN" sz="28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30" name="剪去单角的矩形 129"/>
          <p:cNvSpPr/>
          <p:nvPr/>
        </p:nvSpPr>
        <p:spPr>
          <a:xfrm>
            <a:off x="1457807" y="4884387"/>
            <a:ext cx="7297183" cy="1272395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108000" bIns="10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同样因为散热的原因，</a:t>
            </a:r>
            <a:r>
              <a:rPr lang="en-US" altLang="zh-CN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《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格利佛游记</a:t>
            </a:r>
            <a:r>
              <a:rPr lang="en-US" altLang="zh-CN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》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里</a:t>
            </a:r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大人国是不可能存在的，对吗？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31" name="矩形 130"/>
          <p:cNvSpPr/>
          <p:nvPr/>
        </p:nvSpPr>
        <p:spPr>
          <a:xfrm rot="5400000">
            <a:off x="-521501" y="5752983"/>
            <a:ext cx="273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对角圆角矩形 131"/>
          <p:cNvSpPr/>
          <p:nvPr/>
        </p:nvSpPr>
        <p:spPr>
          <a:xfrm>
            <a:off x="709030" y="4888269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4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47021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 37"/>
          <p:cNvSpPr/>
          <p:nvPr/>
        </p:nvSpPr>
        <p:spPr>
          <a:xfrm rot="5400000">
            <a:off x="3022427" y="4874969"/>
            <a:ext cx="4428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剪去单角的矩形 19"/>
          <p:cNvSpPr/>
          <p:nvPr/>
        </p:nvSpPr>
        <p:spPr>
          <a:xfrm>
            <a:off x="5354887" y="4244698"/>
            <a:ext cx="6047403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108000" bIns="28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小人国不存在重力太大的问题吧？</a:t>
            </a:r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那小人国是否存在呢？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9" name="对角圆角矩形 18"/>
          <p:cNvSpPr/>
          <p:nvPr/>
        </p:nvSpPr>
        <p:spPr>
          <a:xfrm>
            <a:off x="4686791" y="4244699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5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02500" y="-12367"/>
            <a:ext cx="7890313" cy="3252601"/>
            <a:chOff x="202500" y="44782"/>
            <a:chExt cx="7890313" cy="3252601"/>
          </a:xfrm>
        </p:grpSpPr>
        <p:sp>
          <p:nvSpPr>
            <p:cNvPr id="31" name="矩形 30"/>
            <p:cNvSpPr/>
            <p:nvPr/>
          </p:nvSpPr>
          <p:spPr>
            <a:xfrm rot="5400000">
              <a:off x="306499" y="466322"/>
              <a:ext cx="1080000" cy="236919"/>
            </a:xfrm>
            <a:prstGeom prst="rect">
              <a:avLst/>
            </a:prstGeom>
            <a:solidFill>
              <a:srgbClr val="185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剪去单角的矩形 33"/>
            <p:cNvSpPr/>
            <p:nvPr/>
          </p:nvSpPr>
          <p:spPr>
            <a:xfrm>
              <a:off x="966000" y="576033"/>
              <a:ext cx="7126813" cy="2721350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tIns="0" rIns="828000" bIns="504000" rtlCol="0" anchor="ctr"/>
            <a:lstStyle/>
            <a:p>
              <a:pPr algn="just"/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除了体热问题无法解决外，还有一个严重的问题：把人放大</a:t>
              </a:r>
              <a:r>
                <a:rPr lang="en-US" altLang="zh-CN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12</a:t>
              </a:r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倍，体积将增到到</a:t>
              </a:r>
              <a:r>
                <a:rPr lang="en-US" altLang="zh-CN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1728</a:t>
              </a:r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倍，而大腿的横截面面积只增到</a:t>
              </a:r>
              <a:r>
                <a:rPr lang="en-US" altLang="zh-CN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144</a:t>
              </a:r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倍，这样的巨人会被重力压垮而站不起来的。</a:t>
              </a:r>
              <a:endPara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 algn="just"/>
              <a:r>
                <a:rPr lang="zh-CN" altLang="en-US" sz="2800" b="1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因此，大人国不存在。</a:t>
              </a:r>
              <a:endParaRPr lang="zh-CN" altLang="en-US" sz="2800" b="1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33" name="对角圆角矩形 32"/>
            <p:cNvSpPr/>
            <p:nvPr/>
          </p:nvSpPr>
          <p:spPr>
            <a:xfrm>
              <a:off x="202500" y="593529"/>
              <a:ext cx="1336193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4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2756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剪去单角的矩形 19"/>
          <p:cNvSpPr/>
          <p:nvPr/>
        </p:nvSpPr>
        <p:spPr>
          <a:xfrm flipH="1">
            <a:off x="2528914" y="3740541"/>
            <a:ext cx="7868533" cy="2877077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0" rIns="684000" bIns="1404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小臭鼩是世界上体重最小的哺乳动物，</a:t>
            </a:r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体重</a:t>
            </a:r>
            <a:r>
              <a:rPr lang="en-US" altLang="zh-CN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1.8g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，体长</a:t>
            </a:r>
            <a:r>
              <a:rPr lang="en-US" altLang="zh-CN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4.5cm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。</a:t>
            </a:r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比小人国里的人还小，它怎么解决保温的问题？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 rot="5400000">
            <a:off x="7635908" y="4210887"/>
            <a:ext cx="576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>
            <a:off x="5435568" y="364242"/>
            <a:ext cx="5869742" cy="3099394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108000" bIns="108000"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不好意思，小人国也不存在。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小人国人体产生的热量只有原来的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1/1728,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但身体表面积却有原来的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1/144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，因此，小人国的人散热比我们快得多。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小人国的人无法维持体温恒定。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 rot="5400000">
            <a:off x="4408428" y="709542"/>
            <a:ext cx="165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对角圆角矩形 32"/>
          <p:cNvSpPr/>
          <p:nvPr/>
        </p:nvSpPr>
        <p:spPr>
          <a:xfrm>
            <a:off x="4686790" y="368124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5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sp>
        <p:nvSpPr>
          <p:cNvPr id="9" name="对角圆角矩形 8"/>
          <p:cNvSpPr/>
          <p:nvPr/>
        </p:nvSpPr>
        <p:spPr>
          <a:xfrm>
            <a:off x="9886899" y="3740542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6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pic>
        <p:nvPicPr>
          <p:cNvPr id="1026" name="Picture 2" descr="http://www.sxkp.com/dzb/kxzy/res/1/20081015/55601224062295343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2667" r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450" y="5526771"/>
            <a:ext cx="1487518" cy="109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412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rot="5400000">
            <a:off x="9686471" y="602803"/>
            <a:ext cx="165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596753" y="722771"/>
            <a:ext cx="9785995" cy="3768548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36000" bIns="360000"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哺乳动物解决保温问题的重要方法是长出厚厚的皮毛，但这会让小臭鼩变成一个无法动弹的小毛球。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</a:t>
            </a:r>
            <a:r>
              <a:rPr lang="zh-CN" altLang="en-US" sz="24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臭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鼩只能够采用增加体热产生的方式，来弥补体热的散失。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400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9727914" y="731828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6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sp>
        <p:nvSpPr>
          <p:cNvPr id="131" name="矩形 130"/>
          <p:cNvSpPr/>
          <p:nvPr/>
        </p:nvSpPr>
        <p:spPr>
          <a:xfrm rot="5400000">
            <a:off x="-521501" y="5752983"/>
            <a:ext cx="273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57800" y="2864223"/>
            <a:ext cx="4249270" cy="941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小臭鼩：      食物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/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体重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=2.00</a:t>
            </a: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大象：          食物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/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体重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=0.04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383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rot="5400000">
            <a:off x="7173398" y="5100853"/>
            <a:ext cx="3960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 rot="5400000">
            <a:off x="216499" y="511541"/>
            <a:ext cx="126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剪去单角的矩形 2"/>
          <p:cNvSpPr/>
          <p:nvPr/>
        </p:nvSpPr>
        <p:spPr>
          <a:xfrm>
            <a:off x="950871" y="576034"/>
            <a:ext cx="10076940" cy="5717190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288000" bIns="720000" rtlCol="0" anchor="ctr"/>
          <a:lstStyle/>
          <a:p>
            <a:r>
              <a: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那些</a:t>
            </a:r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我们熟视无睹的现象里，蕴藏着我们忽视了的事实；</a:t>
            </a:r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怀疑是迈入真理之门的第一步。</a:t>
            </a:r>
          </a:p>
          <a:p>
            <a:endParaRPr lang="en-US" altLang="zh-CN" sz="24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endParaRPr lang="en-US" altLang="zh-CN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那些号称能够电解产生有益健康的“碱性离子水”的饮水机，你怀疑过吗？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0871" y="4736063"/>
            <a:ext cx="10076940" cy="2463249"/>
          </a:xfrm>
          <a:prstGeom prst="rect">
            <a:avLst/>
          </a:prstGeom>
          <a:solidFill>
            <a:srgbClr val="18573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t="5487" r="1037" b="7256"/>
          <a:stretch/>
        </p:blipFill>
        <p:spPr>
          <a:xfrm>
            <a:off x="9524905" y="443751"/>
            <a:ext cx="1995583" cy="1754425"/>
          </a:xfrm>
          <a:prstGeom prst="roundRect">
            <a:avLst>
              <a:gd name="adj" fmla="val 50000"/>
            </a:avLst>
          </a:prstGeom>
        </p:spPr>
      </p:pic>
      <p:sp>
        <p:nvSpPr>
          <p:cNvPr id="17" name="对角圆角矩形 16"/>
          <p:cNvSpPr/>
          <p:nvPr/>
        </p:nvSpPr>
        <p:spPr>
          <a:xfrm>
            <a:off x="458194" y="580482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7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93712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7090097" y="3330122"/>
            <a:ext cx="2232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 rot="5400000">
            <a:off x="9254471" y="1034803"/>
            <a:ext cx="252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3361764" y="722771"/>
            <a:ext cx="7020982" cy="164391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36000" bIns="360000"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水电解成为氢气的时候，同时也要生成氧气，所以电解是不能改变水的酸碱度的。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9727914" y="745275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7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sp>
        <p:nvSpPr>
          <p:cNvPr id="131" name="矩形 130"/>
          <p:cNvSpPr/>
          <p:nvPr/>
        </p:nvSpPr>
        <p:spPr>
          <a:xfrm rot="5400000">
            <a:off x="863334" y="5672511"/>
            <a:ext cx="2844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剪去单角的矩形 10"/>
          <p:cNvSpPr/>
          <p:nvPr/>
        </p:nvSpPr>
        <p:spPr>
          <a:xfrm flipH="1">
            <a:off x="1502596" y="3702569"/>
            <a:ext cx="6047403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52000" bIns="28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以其他方法把水变成弱碱性，就可以喝到有中和酸毒效果的健康水了吧？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3" name="对角圆角矩形 12"/>
          <p:cNvSpPr/>
          <p:nvPr/>
        </p:nvSpPr>
        <p:spPr>
          <a:xfrm>
            <a:off x="7306090" y="3702570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8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151123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rot="5400000">
            <a:off x="1349334" y="817541"/>
            <a:ext cx="1872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rot="5400000">
            <a:off x="2973333" y="2953925"/>
            <a:ext cx="2340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 rot="5400000">
            <a:off x="3370814" y="5470707"/>
            <a:ext cx="324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1641336" y="602929"/>
            <a:ext cx="7861737" cy="1299456"/>
            <a:chOff x="202500" y="576034"/>
            <a:chExt cx="7861737" cy="1299456"/>
          </a:xfrm>
        </p:grpSpPr>
        <p:sp>
          <p:nvSpPr>
            <p:cNvPr id="34" name="剪去单角的矩形 33"/>
            <p:cNvSpPr/>
            <p:nvPr/>
          </p:nvSpPr>
          <p:spPr>
            <a:xfrm>
              <a:off x="937424" y="576034"/>
              <a:ext cx="7126813" cy="1299456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tIns="0" rIns="576000" bIns="0" rtlCol="0" anchor="ctr"/>
            <a:lstStyle/>
            <a:p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即使喝弱碱性水，喝到胃里也会被胃酸变成强酸性。原有的弱碱性是没有用处的。</a:t>
              </a:r>
              <a:endPara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endParaRPr lang="zh-CN" altLang="en-US" sz="24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33" name="对角圆角矩形 32"/>
            <p:cNvSpPr/>
            <p:nvPr/>
          </p:nvSpPr>
          <p:spPr>
            <a:xfrm>
              <a:off x="202500" y="593529"/>
              <a:ext cx="1336193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8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 rot="5400000">
            <a:off x="3891334" y="3856474"/>
            <a:ext cx="504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499336" y="2967715"/>
            <a:ext cx="7861737" cy="2303540"/>
            <a:chOff x="202500" y="576034"/>
            <a:chExt cx="7861737" cy="2303540"/>
          </a:xfrm>
        </p:grpSpPr>
        <p:sp>
          <p:nvSpPr>
            <p:cNvPr id="12" name="剪去单角的矩形 11"/>
            <p:cNvSpPr/>
            <p:nvPr/>
          </p:nvSpPr>
          <p:spPr>
            <a:xfrm>
              <a:off x="937424" y="576034"/>
              <a:ext cx="7126813" cy="2303540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tIns="0" rIns="576000" bIns="0" rtlCol="0" anchor="ctr"/>
            <a:lstStyle/>
            <a:p>
              <a:r>
                <a:rPr lang="zh-CN" altLang="en-US" sz="2400" b="1" dirty="0" smtClean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胃酸这么强悍，那不就意味着我买的益生菌酸奶中的益生菌其实活不下来？</a:t>
              </a:r>
              <a:endPara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3" name="对角圆角矩形 12"/>
            <p:cNvSpPr/>
            <p:nvPr/>
          </p:nvSpPr>
          <p:spPr>
            <a:xfrm>
              <a:off x="202500" y="593529"/>
              <a:ext cx="1336193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Q</a:t>
              </a:r>
              <a:r>
                <a:rPr lang="en-US" altLang="zh-CN" sz="4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9</a:t>
              </a:r>
              <a:endPara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436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 rot="5400000">
            <a:off x="863334" y="5672511"/>
            <a:ext cx="2844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4162814" y="709541"/>
            <a:ext cx="165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465728" y="1651052"/>
            <a:ext cx="9757364" cy="3321782"/>
            <a:chOff x="1465728" y="1449347"/>
            <a:chExt cx="9757364" cy="3321782"/>
          </a:xfrm>
        </p:grpSpPr>
        <p:sp>
          <p:nvSpPr>
            <p:cNvPr id="20" name="剪去单角的矩形 19"/>
            <p:cNvSpPr/>
            <p:nvPr/>
          </p:nvSpPr>
          <p:spPr>
            <a:xfrm flipH="1">
              <a:off x="1465728" y="2591371"/>
              <a:ext cx="8931715" cy="2179758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4000" tIns="0" rIns="504000" bIns="0" rtlCol="0" anchor="ctr"/>
            <a:lstStyle/>
            <a:p>
              <a:r>
                <a:rPr lang="zh-CN" altLang="en-US" sz="2400" b="1" dirty="0" smtClean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我们讨论益生菌是认为益生菌对人体有益，</a:t>
              </a:r>
              <a:endParaRPr lang="en-US" altLang="zh-CN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r>
                <a:rPr lang="zh-CN" altLang="en-US" sz="2400" b="1" dirty="0" smtClean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但是益生菌真的益生吗？</a:t>
              </a:r>
              <a:endPara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9399908" y="2446887"/>
              <a:ext cx="2232000" cy="236919"/>
            </a:xfrm>
            <a:prstGeom prst="rect">
              <a:avLst/>
            </a:prstGeom>
            <a:solidFill>
              <a:srgbClr val="185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对角圆角矩形 18"/>
            <p:cNvSpPr/>
            <p:nvPr/>
          </p:nvSpPr>
          <p:spPr>
            <a:xfrm>
              <a:off x="9886899" y="2562903"/>
              <a:ext cx="1336193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Q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10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12" name="剪去单角的矩形 11"/>
          <p:cNvSpPr/>
          <p:nvPr/>
        </p:nvSpPr>
        <p:spPr>
          <a:xfrm>
            <a:off x="5109274" y="364242"/>
            <a:ext cx="6196036" cy="1975546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8000" tIns="0" rIns="108000" bIns="108000" rtlCol="0" anchor="ctr"/>
          <a:lstStyle/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在人体内，适合细菌生存的地方是结肠。在益生菌到达之前早已经被强酸性的胃液、小肠的胆汁酸与消化酶还有小肠的碱性环境给消灭了。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4686790" y="368124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9</a:t>
            </a:r>
            <a:endParaRPr lang="zh-CN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67666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6498954" y="4956684"/>
            <a:ext cx="4248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1331334" y="835541"/>
            <a:ext cx="1908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flipH="1">
            <a:off x="1594820" y="1003899"/>
            <a:ext cx="9041803" cy="2492336"/>
            <a:chOff x="1407336" y="2562903"/>
            <a:chExt cx="9815756" cy="2492336"/>
          </a:xfrm>
        </p:grpSpPr>
        <p:sp>
          <p:nvSpPr>
            <p:cNvPr id="20" name="剪去单角的矩形 19"/>
            <p:cNvSpPr/>
            <p:nvPr/>
          </p:nvSpPr>
          <p:spPr>
            <a:xfrm flipH="1">
              <a:off x="1407336" y="2591371"/>
              <a:ext cx="8931715" cy="2463868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很</a:t>
              </a: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抱歉，截至目前益生菌的保健作用仍旧缺乏严格临床试验的验证，仅仅只是个案或者传闻。</a:t>
              </a:r>
              <a:endParaRPr lang="en-US" altLang="zh-CN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不过，仍旧推荐你喝酸奶，因为酸奶中的乳杆菌把乳糖转化成了乳酸，使得酸奶比牛奶更容易消化，风味也更独特。</a:t>
              </a:r>
              <a:endParaRPr lang="zh-CN" altLang="en-US" sz="20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9" name="对角圆角矩形 18"/>
            <p:cNvSpPr/>
            <p:nvPr/>
          </p:nvSpPr>
          <p:spPr>
            <a:xfrm flipH="1">
              <a:off x="9728246" y="2562903"/>
              <a:ext cx="1494846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10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14" name="剪去单角的矩形 13"/>
          <p:cNvSpPr/>
          <p:nvPr/>
        </p:nvSpPr>
        <p:spPr>
          <a:xfrm flipH="1">
            <a:off x="1048871" y="4576624"/>
            <a:ext cx="6917985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144000" bIns="28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除了酸奶呢，市面上那么多的牛奶有推荐吗？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6" name="对角圆角矩形 15"/>
          <p:cNvSpPr/>
          <p:nvPr/>
        </p:nvSpPr>
        <p:spPr>
          <a:xfrm>
            <a:off x="7722947" y="4576625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11</a:t>
            </a:r>
            <a:endParaRPr lang="zh-CN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203394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 rot="5400000">
            <a:off x="-252666" y="4556303"/>
            <a:ext cx="507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rot="5400000">
            <a:off x="7740954" y="723200"/>
            <a:ext cx="1764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537880" y="400043"/>
            <a:ext cx="7948835" cy="2612098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36000" bIns="360000" rtlCol="0" anchor="ctr"/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推荐你喝巴氏杀菌奶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(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即“鲜牛奶”</a:t>
            </a:r>
            <a:r>
              <a: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)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。</a:t>
            </a:r>
            <a:endParaRPr lang="en-US" altLang="zh-CN" sz="24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巴氏</a:t>
            </a:r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杀菌的牛奶因低温条件无法完全杀菌而必须冷藏，否则就会变质。但巴氏杀菌奶最大限度的保留了牛奶的营养价值、口感和风味。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7831885" y="422547"/>
            <a:ext cx="1392797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7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11</a:t>
            </a:r>
            <a:endParaRPr lang="zh-CN" altLang="en-US" sz="11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grpSp>
        <p:nvGrpSpPr>
          <p:cNvPr id="14" name="组合 13"/>
          <p:cNvGrpSpPr/>
          <p:nvPr/>
        </p:nvGrpSpPr>
        <p:grpSpPr>
          <a:xfrm flipH="1">
            <a:off x="1594820" y="4298429"/>
            <a:ext cx="9041803" cy="1281960"/>
            <a:chOff x="1407336" y="2562903"/>
            <a:chExt cx="9815756" cy="1281960"/>
          </a:xfrm>
        </p:grpSpPr>
        <p:sp>
          <p:nvSpPr>
            <p:cNvPr id="15" name="剪去单角的矩形 14"/>
            <p:cNvSpPr/>
            <p:nvPr/>
          </p:nvSpPr>
          <p:spPr>
            <a:xfrm flipH="1">
              <a:off x="1407336" y="2591371"/>
              <a:ext cx="8931715" cy="1253492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0" rIns="0" bIns="0" rtlCol="0" anchor="ctr"/>
            <a:lstStyle/>
            <a:p>
              <a:r>
                <a:rPr lang="zh-CN" altLang="en-US" sz="2400" b="1" dirty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巴氏</a:t>
              </a:r>
              <a:r>
                <a:rPr lang="zh-CN" altLang="en-US" sz="2400" b="1" dirty="0" smtClean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杀菌奶会不会也是三聚氰胺味儿？</a:t>
              </a:r>
              <a:endParaRPr lang="zh-CN" altLang="en-US" sz="2400" b="1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6" name="对角圆角矩形 15"/>
            <p:cNvSpPr/>
            <p:nvPr/>
          </p:nvSpPr>
          <p:spPr>
            <a:xfrm flipH="1">
              <a:off x="9728246" y="2562903"/>
              <a:ext cx="1494846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Q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12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80898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8551800" y="4942188"/>
            <a:ext cx="4284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1331334" y="835541"/>
            <a:ext cx="1908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flipH="1">
            <a:off x="1594820" y="1003899"/>
            <a:ext cx="9512451" cy="4038748"/>
            <a:chOff x="896402" y="2562903"/>
            <a:chExt cx="10326690" cy="4038748"/>
          </a:xfrm>
        </p:grpSpPr>
        <p:sp>
          <p:nvSpPr>
            <p:cNvPr id="20" name="剪去单角的矩形 19"/>
            <p:cNvSpPr/>
            <p:nvPr/>
          </p:nvSpPr>
          <p:spPr>
            <a:xfrm flipH="1">
              <a:off x="896402" y="2591371"/>
              <a:ext cx="9442649" cy="4010280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4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三聚氰胺掺进牛奶只能够让牛奶的蛋白含量达标，为了使牛奶的脂肪含量、比重等也达标，还需要掺入植物油、增稠剂等，但这都会使得牛奶有异味儿，加入牛奶香精可以掩盖，但又会使得牛奶过于香浓。</a:t>
              </a:r>
              <a:endParaRPr lang="en-US" altLang="zh-CN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b="1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鲜奶只有淡淡的清香，带有一点儿膻味。</a:t>
              </a:r>
              <a:endParaRPr lang="en-US" altLang="zh-CN" sz="28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b="1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所以，掺假的奶可以骗过机器，也骗不过你。</a:t>
              </a:r>
              <a:endParaRPr lang="zh-CN" altLang="en-US" sz="2800" b="1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9" name="对角圆角矩形 18"/>
            <p:cNvSpPr/>
            <p:nvPr/>
          </p:nvSpPr>
          <p:spPr>
            <a:xfrm flipH="1">
              <a:off x="9728246" y="2562903"/>
              <a:ext cx="1494846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12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0336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rot="5400000">
            <a:off x="9955800" y="592647"/>
            <a:ext cx="1476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>
            <a:off x="7173398" y="5100853"/>
            <a:ext cx="3960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剪去单角的矩形 2"/>
          <p:cNvSpPr/>
          <p:nvPr/>
        </p:nvSpPr>
        <p:spPr>
          <a:xfrm flipH="1">
            <a:off x="484095" y="576034"/>
            <a:ext cx="10086119" cy="5717190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tIns="0" rIns="288000" bIns="720000" rtlCol="0" anchor="ctr"/>
          <a:lstStyle/>
          <a:p>
            <a:r>
              <a:rPr lang="zh-CN" altLang="en-US" sz="28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那些我们想当然的答案里，</a:t>
            </a:r>
            <a:endParaRPr lang="en-US" altLang="zh-CN" sz="2800" b="1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8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显示着我们对于世界的无知；</a:t>
            </a:r>
            <a:endParaRPr lang="en-US" altLang="zh-CN" sz="2800" b="1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8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怀疑是迈入真理之门的第一步。</a:t>
            </a:r>
          </a:p>
          <a:p>
            <a:endParaRPr lang="en-US" altLang="zh-CN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4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在地震前，动物会出现异常行为，所以动物可以预感地震，这写入中国地震局科普材料里的话，你怀疑过吗？</a:t>
            </a:r>
            <a:endParaRPr lang="zh-CN" altLang="en-US" sz="24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4095" y="4736063"/>
            <a:ext cx="10086119" cy="2463249"/>
          </a:xfrm>
          <a:prstGeom prst="rect">
            <a:avLst/>
          </a:prstGeom>
          <a:solidFill>
            <a:srgbClr val="18573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t="5487" r="1037" b="7256"/>
          <a:stretch/>
        </p:blipFill>
        <p:spPr>
          <a:xfrm>
            <a:off x="26894" y="443751"/>
            <a:ext cx="1995583" cy="1754425"/>
          </a:xfrm>
          <a:prstGeom prst="roundRect">
            <a:avLst>
              <a:gd name="adj" fmla="val 50000"/>
            </a:avLst>
          </a:prstGeom>
        </p:spPr>
      </p:pic>
      <p:sp>
        <p:nvSpPr>
          <p:cNvPr id="17" name="对角圆角矩形 16"/>
          <p:cNvSpPr/>
          <p:nvPr/>
        </p:nvSpPr>
        <p:spPr>
          <a:xfrm>
            <a:off x="9560860" y="580482"/>
            <a:ext cx="1466952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altLang="zh-CN" sz="7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13</a:t>
            </a:r>
            <a:endParaRPr lang="zh-CN" altLang="en-US" sz="11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327911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7090097" y="3330122"/>
            <a:ext cx="2232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 rot="5400000">
            <a:off x="9552425" y="494803"/>
            <a:ext cx="1440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685800" y="722771"/>
            <a:ext cx="9454899" cy="3123088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936000" bIns="360000"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动物行为出现异常的原因有很多种：饥饿、发情、遇到天敌、受到惊吓等。无法证明震前动物异常行为不是由这些更为常见的因素引起。</a:t>
            </a:r>
            <a:endParaRPr lang="en-US" altLang="zh-CN" sz="20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异常的动物行为只是某地某时的个别行为，如果把时间和范围扩大，那么异常行为就变得非常常见了。</a:t>
            </a:r>
            <a:endParaRPr lang="en-US" altLang="zh-CN" sz="2000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目前</a:t>
            </a:r>
            <a:r>
              <a:rPr lang="zh-CN" altLang="en-US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仍未发现地震发生前有相同和可靠的动物异常行为，也未发现有何机理能够对此作出解释。</a:t>
            </a:r>
            <a:endParaRPr lang="zh-CN" altLang="en-US" sz="2000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33" name="对角圆角矩形 32"/>
          <p:cNvSpPr/>
          <p:nvPr/>
        </p:nvSpPr>
        <p:spPr>
          <a:xfrm>
            <a:off x="9727914" y="745275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altLang="zh-CN" sz="7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13</a:t>
            </a:r>
            <a:endParaRPr lang="zh-CN" altLang="en-US" sz="11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  <p:sp>
        <p:nvSpPr>
          <p:cNvPr id="131" name="矩形 130"/>
          <p:cNvSpPr/>
          <p:nvPr/>
        </p:nvSpPr>
        <p:spPr>
          <a:xfrm rot="5400000">
            <a:off x="881334" y="5694852"/>
            <a:ext cx="2808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剪去单角的矩形 10"/>
          <p:cNvSpPr/>
          <p:nvPr/>
        </p:nvSpPr>
        <p:spPr>
          <a:xfrm flipH="1">
            <a:off x="927845" y="4374919"/>
            <a:ext cx="6622153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52000" bIns="288000" rtlCol="0" anchor="ctr"/>
          <a:lstStyle/>
          <a:p>
            <a:r>
              <a:rPr lang="zh-CN" altLang="en-US" sz="28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动物无法预测地震，那专家可以吗？</a:t>
            </a:r>
            <a:endParaRPr lang="zh-CN" altLang="en-US" sz="28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3" name="对角圆角矩形 12"/>
          <p:cNvSpPr/>
          <p:nvPr/>
        </p:nvSpPr>
        <p:spPr>
          <a:xfrm>
            <a:off x="7306090" y="4374920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7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14</a:t>
            </a:r>
            <a:endParaRPr lang="zh-CN" altLang="en-US" sz="11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246566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6498954" y="4956684"/>
            <a:ext cx="4248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1331334" y="835541"/>
            <a:ext cx="1908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flipH="1">
            <a:off x="1594820" y="1003899"/>
            <a:ext cx="9041803" cy="3366394"/>
            <a:chOff x="1407336" y="2562903"/>
            <a:chExt cx="9815756" cy="3366394"/>
          </a:xfrm>
        </p:grpSpPr>
        <p:sp>
          <p:nvSpPr>
            <p:cNvPr id="20" name="剪去单角的矩形 19"/>
            <p:cNvSpPr/>
            <p:nvPr/>
          </p:nvSpPr>
          <p:spPr>
            <a:xfrm flipH="1">
              <a:off x="1407336" y="2591370"/>
              <a:ext cx="8931715" cy="3337927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很</a:t>
              </a: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抱歉，</a:t>
              </a:r>
              <a:r>
                <a:rPr lang="en-US" altLang="zh-CN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1996</a:t>
              </a: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年</a:t>
              </a:r>
              <a:r>
                <a:rPr lang="en-US" altLang="zh-CN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11</a:t>
              </a: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月的“地震预测框架评估”国际会议上，与会者达成了一个共识：地震本质上是不可预测的，不仅现在没法预测，将来也同样无法预测。地球处于自组织的临界状态，任何微小的地震都有可能演变成大地震。</a:t>
              </a:r>
              <a:endParaRPr lang="en-US" altLang="zh-CN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这种演变是高度敏感的、非线性的，其初始条件不明，很难预测。</a:t>
              </a:r>
              <a:endParaRPr lang="en-US" altLang="zh-CN" sz="2000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rgbClr val="7F7F7F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就目前的知识而言，要可靠而准确地对地震作出确定性预测是不可能的。</a:t>
              </a:r>
              <a:endParaRPr lang="zh-CN" altLang="en-US" sz="2000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9" name="对角圆角矩形 18"/>
            <p:cNvSpPr/>
            <p:nvPr/>
          </p:nvSpPr>
          <p:spPr>
            <a:xfrm flipH="1">
              <a:off x="9728246" y="2562903"/>
              <a:ext cx="1494846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A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14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9" name="剪去单角的矩形 8"/>
          <p:cNvSpPr/>
          <p:nvPr/>
        </p:nvSpPr>
        <p:spPr>
          <a:xfrm flipH="1">
            <a:off x="1048871" y="5060716"/>
            <a:ext cx="6917985" cy="1281961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144000" bIns="288000" rtlCol="0" anchor="ctr"/>
          <a:lstStyle/>
          <a:p>
            <a:r>
              <a:rPr lang="zh-CN" altLang="en-US" sz="24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什么是自组织临界状态？这关地震什么事？</a:t>
            </a:r>
            <a:endParaRPr lang="zh-CN" altLang="en-US" sz="2400" b="1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2" name="对角圆角矩形 11"/>
          <p:cNvSpPr/>
          <p:nvPr/>
        </p:nvSpPr>
        <p:spPr>
          <a:xfrm>
            <a:off x="7722947" y="5060717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Q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15</a:t>
            </a:r>
            <a:endParaRPr lang="zh-CN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37678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 rot="5400000">
            <a:off x="-252666" y="4556303"/>
            <a:ext cx="5076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rot="5400000">
            <a:off x="7740954" y="723200"/>
            <a:ext cx="1764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剪去单角的矩形 11"/>
          <p:cNvSpPr/>
          <p:nvPr/>
        </p:nvSpPr>
        <p:spPr>
          <a:xfrm flipH="1">
            <a:off x="537878" y="400042"/>
            <a:ext cx="8203535" cy="6054545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252000" bIns="648000" rtlCol="0" anchor="ctr"/>
          <a:lstStyle/>
          <a:p>
            <a:pPr>
              <a:lnSpc>
                <a:spcPct val="120000"/>
              </a:lnSpc>
            </a:pPr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目前，自组织临界理论还没有一个准确的定义，</a:t>
            </a:r>
            <a:endParaRPr lang="en-US" altLang="zh-CN" sz="2400" b="1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我们可以用“沙堆模型”来进行解释：</a:t>
            </a:r>
            <a:endParaRPr lang="en-US" altLang="zh-CN" sz="2400" b="1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让沙子一粒一粒落在桌上，当沙堆增高到一定程度，落下一粒沙却可能导致整个沙堆发生坍塌。沙堆的结构将随每粒新沙落下而变得脆弱，最终发生结构性失衡</a:t>
            </a:r>
            <a:r>
              <a:rPr lang="en-US" altLang="zh-CN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——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坍塌。无法预测是哪一粒沙落下的时候，出现沙崩。</a:t>
            </a:r>
            <a:endParaRPr lang="en-US" altLang="zh-CN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坍塌遵循幂律：规模越大，则发生的频率越低，参与崩塌的沙子数目增加</a:t>
            </a:r>
            <a:r>
              <a:rPr lang="en-US" altLang="zh-CN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倍，发生的频率降低</a:t>
            </a:r>
            <a:r>
              <a:rPr lang="en-US" altLang="zh-CN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2.14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倍。</a:t>
            </a:r>
            <a:endParaRPr lang="en-US" altLang="zh-CN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地震前及地震时，地球也处于这样的临界状态，任何微小的地震都有可能演变成大地震。</a:t>
            </a:r>
            <a:endParaRPr lang="zh-CN" altLang="en-US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192" t="-53197"/>
          <a:stretch>
            <a:fillRect/>
          </a:stretch>
        </p:blipFill>
        <p:spPr>
          <a:xfrm>
            <a:off x="520099" y="-610243"/>
            <a:ext cx="2442056" cy="2903804"/>
          </a:xfrm>
          <a:custGeom>
            <a:avLst/>
            <a:gdLst>
              <a:gd name="connsiteX0" fmla="*/ 1172342 w 2442056"/>
              <a:gd name="connsiteY0" fmla="*/ 1008329 h 2903804"/>
              <a:gd name="connsiteX1" fmla="*/ 2442056 w 2442056"/>
              <a:gd name="connsiteY1" fmla="*/ 1008329 h 2903804"/>
              <a:gd name="connsiteX2" fmla="*/ 2442056 w 2442056"/>
              <a:gd name="connsiteY2" fmla="*/ 2903804 h 2903804"/>
              <a:gd name="connsiteX3" fmla="*/ 537056 w 2442056"/>
              <a:gd name="connsiteY3" fmla="*/ 2903804 h 2903804"/>
              <a:gd name="connsiteX4" fmla="*/ 537056 w 2442056"/>
              <a:gd name="connsiteY4" fmla="*/ 1315440 h 2903804"/>
              <a:gd name="connsiteX5" fmla="*/ 675866 w 2442056"/>
              <a:gd name="connsiteY5" fmla="*/ 1466014 h 2903804"/>
              <a:gd name="connsiteX6" fmla="*/ 866646 w 2442056"/>
              <a:gd name="connsiteY6" fmla="*/ 138 h 2903804"/>
              <a:gd name="connsiteX7" fmla="*/ 982088 w 2442056"/>
              <a:gd name="connsiteY7" fmla="*/ 53548 h 2903804"/>
              <a:gd name="connsiteX8" fmla="*/ 1545308 w 2442056"/>
              <a:gd name="connsiteY8" fmla="*/ 664504 h 2903804"/>
              <a:gd name="connsiteX9" fmla="*/ 1172342 w 2442056"/>
              <a:gd name="connsiteY9" fmla="*/ 1008329 h 2903804"/>
              <a:gd name="connsiteX10" fmla="*/ 537056 w 2442056"/>
              <a:gd name="connsiteY10" fmla="*/ 1008329 h 2903804"/>
              <a:gd name="connsiteX11" fmla="*/ 537056 w 2442056"/>
              <a:gd name="connsiteY11" fmla="*/ 1315440 h 2903804"/>
              <a:gd name="connsiteX12" fmla="*/ 0 w 2442056"/>
              <a:gd name="connsiteY12" fmla="*/ 732865 h 2903804"/>
              <a:gd name="connsiteX13" fmla="*/ 747249 w 2442056"/>
              <a:gd name="connsiteY13" fmla="*/ 44001 h 2903804"/>
              <a:gd name="connsiteX14" fmla="*/ 866646 w 2442056"/>
              <a:gd name="connsiteY14" fmla="*/ 138 h 2903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2056" h="2903804">
                <a:moveTo>
                  <a:pt x="1172342" y="1008329"/>
                </a:moveTo>
                <a:lnTo>
                  <a:pt x="2442056" y="1008329"/>
                </a:lnTo>
                <a:lnTo>
                  <a:pt x="2442056" y="2903804"/>
                </a:lnTo>
                <a:lnTo>
                  <a:pt x="537056" y="2903804"/>
                </a:lnTo>
                <a:lnTo>
                  <a:pt x="537056" y="1315440"/>
                </a:lnTo>
                <a:lnTo>
                  <a:pt x="675866" y="1466014"/>
                </a:lnTo>
                <a:close/>
                <a:moveTo>
                  <a:pt x="866646" y="138"/>
                </a:moveTo>
                <a:cubicBezTo>
                  <a:pt x="909144" y="1866"/>
                  <a:pt x="950982" y="19806"/>
                  <a:pt x="982088" y="53548"/>
                </a:cubicBezTo>
                <a:lnTo>
                  <a:pt x="1545308" y="664504"/>
                </a:lnTo>
                <a:lnTo>
                  <a:pt x="1172342" y="1008329"/>
                </a:lnTo>
                <a:lnTo>
                  <a:pt x="537056" y="1008329"/>
                </a:lnTo>
                <a:lnTo>
                  <a:pt x="537056" y="1315440"/>
                </a:lnTo>
                <a:lnTo>
                  <a:pt x="0" y="732865"/>
                </a:lnTo>
                <a:lnTo>
                  <a:pt x="747249" y="44001"/>
                </a:lnTo>
                <a:cubicBezTo>
                  <a:pt x="780991" y="12895"/>
                  <a:pt x="824148" y="-1590"/>
                  <a:pt x="866646" y="138"/>
                </a:cubicBezTo>
                <a:close/>
              </a:path>
            </a:pathLst>
          </a:custGeom>
        </p:spPr>
      </p:pic>
      <p:sp>
        <p:nvSpPr>
          <p:cNvPr id="33" name="对角圆角矩形 32"/>
          <p:cNvSpPr/>
          <p:nvPr/>
        </p:nvSpPr>
        <p:spPr>
          <a:xfrm>
            <a:off x="7831885" y="422547"/>
            <a:ext cx="1392797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7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15</a:t>
            </a:r>
            <a:endParaRPr lang="zh-CN" altLang="en-US" sz="11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861775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>
            <a:off x="8173800" y="4559310"/>
            <a:ext cx="5040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1331334" y="835541"/>
            <a:ext cx="1908000" cy="23691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flipH="1">
            <a:off x="1594820" y="1003898"/>
            <a:ext cx="9283851" cy="1281961"/>
            <a:chOff x="1144569" y="2562902"/>
            <a:chExt cx="10078523" cy="1281961"/>
          </a:xfrm>
        </p:grpSpPr>
        <p:sp>
          <p:nvSpPr>
            <p:cNvPr id="20" name="剪去单角的矩形 19"/>
            <p:cNvSpPr/>
            <p:nvPr/>
          </p:nvSpPr>
          <p:spPr>
            <a:xfrm flipH="1">
              <a:off x="1144569" y="2562902"/>
              <a:ext cx="9194482" cy="1281961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0" tIns="0" rIns="0" bIns="0" rtlCol="0" anchor="ctr"/>
            <a:lstStyle/>
            <a:p>
              <a:r>
                <a:rPr lang="zh-CN" altLang="en-US" sz="2400" dirty="0" smtClean="0">
                  <a:solidFill>
                    <a:srgbClr val="18573C"/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地震不可预测，那同样不可预测的森林大火也可以用这个理论解释吗？</a:t>
              </a:r>
              <a:endParaRPr lang="zh-CN" altLang="en-US" sz="2400" dirty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  <p:sp>
          <p:nvSpPr>
            <p:cNvPr id="19" name="对角圆角矩形 18"/>
            <p:cNvSpPr/>
            <p:nvPr/>
          </p:nvSpPr>
          <p:spPr>
            <a:xfrm flipH="1">
              <a:off x="9728246" y="2562903"/>
              <a:ext cx="1494846" cy="1281960"/>
            </a:xfrm>
            <a:prstGeom prst="round2DiagRect">
              <a:avLst/>
            </a:prstGeom>
            <a:solidFill>
              <a:schemeClr val="bg1">
                <a:lumMod val="50000"/>
              </a:schemeClr>
            </a:solidFill>
            <a:ln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2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Q</a:t>
              </a:r>
              <a:r>
                <a:rPr lang="en-US" altLang="zh-CN" sz="4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ea typeface="方正兰亭纤黑_GBK" panose="02000000000000000000" pitchFamily="2" charset="-122"/>
                  <a:cs typeface="Aharoni" panose="02010803020104030203" pitchFamily="2" charset="-79"/>
                </a:rPr>
                <a:t>16</a:t>
              </a:r>
              <a:endPara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endParaRPr>
            </a:p>
          </p:txBody>
        </p:sp>
      </p:grpSp>
      <p:sp>
        <p:nvSpPr>
          <p:cNvPr id="14" name="剪去单角的矩形 13"/>
          <p:cNvSpPr/>
          <p:nvPr/>
        </p:nvSpPr>
        <p:spPr>
          <a:xfrm flipH="1">
            <a:off x="699246" y="2662518"/>
            <a:ext cx="9876093" cy="4437529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828000" bIns="288000" rtlCol="0" anchor="ctr"/>
          <a:lstStyle/>
          <a:p>
            <a:r>
              <a:rPr lang="zh-CN" altLang="en-US" sz="4000" b="1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是的！</a:t>
            </a:r>
            <a:endParaRPr lang="en-US" altLang="zh-CN" sz="4000" b="1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1998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年，美国康奈尔大学研究人员用计算机模型对森林野火进行了模拟，他们在网格上随机的种树，然后每隔一定数量的步骤，程序就往网格上随机扔下一根虚拟的火柴。结果发现，野火的规模越大，发生的频率越低，即遵循幂律。</a:t>
            </a:r>
            <a:endParaRPr lang="en-US" altLang="zh-CN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此外，还发现，点火的频率越低，发生大火的频率就越高。在每</a:t>
            </a:r>
            <a:r>
              <a:rPr lang="en-US" altLang="zh-CN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2000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棵树才扔火柴时，多数情况下会烧光所有的树木。</a:t>
            </a:r>
            <a:endParaRPr lang="en-US" altLang="zh-CN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这</a:t>
            </a: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就意味着，野火是不可能完全制止的，零容忍政策只会推迟其爆发，推迟的越久，后果就可能越严重。</a:t>
            </a:r>
            <a:endParaRPr lang="en-US" altLang="zh-CN" dirty="0" smtClean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rgbClr val="7F7F7F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也许美国林业部门早点放弃零容忍政策，黄石公园大火就可以避免。</a:t>
            </a:r>
            <a:endParaRPr lang="zh-CN" altLang="en-US" dirty="0">
              <a:solidFill>
                <a:srgbClr val="7F7F7F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6" name="对角圆角矩形 15"/>
          <p:cNvSpPr/>
          <p:nvPr/>
        </p:nvSpPr>
        <p:spPr>
          <a:xfrm>
            <a:off x="9907243" y="2680598"/>
            <a:ext cx="1336193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A</a:t>
            </a:r>
            <a:r>
              <a:rPr lang="en-US" altLang="zh-CN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16</a:t>
            </a:r>
            <a:endParaRPr lang="zh-CN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451604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rot="5400000">
            <a:off x="9955800" y="592647"/>
            <a:ext cx="1476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5400000">
            <a:off x="7173398" y="5100853"/>
            <a:ext cx="3960000" cy="236919"/>
          </a:xfrm>
          <a:custGeom>
            <a:avLst/>
            <a:gdLst>
              <a:gd name="connsiteX0" fmla="*/ 0 w 3346041"/>
              <a:gd name="connsiteY0" fmla="*/ 0 h 236919"/>
              <a:gd name="connsiteX1" fmla="*/ 3346041 w 3346041"/>
              <a:gd name="connsiteY1" fmla="*/ 0 h 236919"/>
              <a:gd name="connsiteX2" fmla="*/ 3346041 w 3346041"/>
              <a:gd name="connsiteY2" fmla="*/ 236919 h 236919"/>
              <a:gd name="connsiteX3" fmla="*/ 4550 w 3346041"/>
              <a:gd name="connsiteY3" fmla="*/ 236919 h 236919"/>
              <a:gd name="connsiteX4" fmla="*/ 14016 w 3346041"/>
              <a:gd name="connsiteY4" fmla="*/ 141416 h 23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041" h="236919">
                <a:moveTo>
                  <a:pt x="0" y="0"/>
                </a:moveTo>
                <a:lnTo>
                  <a:pt x="3346041" y="0"/>
                </a:lnTo>
                <a:lnTo>
                  <a:pt x="3346041" y="236919"/>
                </a:lnTo>
                <a:lnTo>
                  <a:pt x="4550" y="236919"/>
                </a:lnTo>
                <a:lnTo>
                  <a:pt x="14016" y="141416"/>
                </a:lnTo>
                <a:close/>
              </a:path>
            </a:pathLst>
          </a:cu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剪去单角的矩形 2"/>
          <p:cNvSpPr/>
          <p:nvPr/>
        </p:nvSpPr>
        <p:spPr>
          <a:xfrm flipH="1">
            <a:off x="484095" y="576034"/>
            <a:ext cx="10086119" cy="5717190"/>
          </a:xfrm>
          <a:prstGeom prst="snip1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0" tIns="324000" rIns="900000" bIns="720000" rtlCol="0" anchor="ctr"/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日常生活中有很多我们熟视无睹、习以为常的“常识”，一经科学的推敲，竟发现它们误导我们太久、太久，如婴儿该不该用学步车、眼保健操是否有用等等。</a:t>
            </a:r>
            <a:endParaRPr lang="en-US" altLang="zh-CN" sz="20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那些随处可见的难题、误解、谜题，需要我们炼就一双慧眼，用科学而不是迷信、盲从去分辨是非。</a:t>
            </a:r>
            <a:endParaRPr lang="en-US" altLang="zh-CN" sz="20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8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怀疑是迈入真理之门的第一步。</a:t>
            </a:r>
            <a:endParaRPr lang="en-US" altLang="zh-CN" sz="2800" b="1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r>
              <a:rPr lang="zh-CN" altLang="en-US" sz="2800" b="1" dirty="0" smtClean="0">
                <a:solidFill>
                  <a:srgbClr val="18573C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而这本书，正是真理之门的敲门砖。</a:t>
            </a:r>
          </a:p>
          <a:p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endParaRPr lang="en-US" altLang="zh-CN" sz="2400" dirty="0" smtClean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  <a:p>
            <a:endParaRPr lang="zh-CN" altLang="en-US" sz="2400" dirty="0">
              <a:solidFill>
                <a:srgbClr val="18573C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4095" y="4736063"/>
            <a:ext cx="10086119" cy="2463249"/>
          </a:xfrm>
          <a:prstGeom prst="rect">
            <a:avLst/>
          </a:prstGeom>
          <a:solidFill>
            <a:srgbClr val="18573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t="5487" r="1037" b="7256"/>
          <a:stretch/>
        </p:blipFill>
        <p:spPr>
          <a:xfrm>
            <a:off x="0" y="344249"/>
            <a:ext cx="1995583" cy="1754425"/>
          </a:xfrm>
          <a:prstGeom prst="roundRect">
            <a:avLst>
              <a:gd name="adj" fmla="val 50000"/>
            </a:avLst>
          </a:prstGeom>
        </p:spPr>
      </p:pic>
      <p:sp>
        <p:nvSpPr>
          <p:cNvPr id="17" name="对角圆角矩形 16"/>
          <p:cNvSpPr/>
          <p:nvPr/>
        </p:nvSpPr>
        <p:spPr>
          <a:xfrm>
            <a:off x="9689452" y="580482"/>
            <a:ext cx="1466952" cy="1281960"/>
          </a:xfrm>
          <a:prstGeom prst="round2DiagRect">
            <a:avLst/>
          </a:prstGeom>
          <a:solidFill>
            <a:schemeClr val="bg1">
              <a:lumMod val="50000"/>
            </a:schemeClr>
          </a:solidFill>
          <a:ln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zh-CN" alt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方正兰亭纤黑_GBK" panose="02000000000000000000" pitchFamily="2" charset="-122"/>
                <a:cs typeface="Aharoni" panose="02010803020104030203" pitchFamily="2" charset="-79"/>
              </a:rPr>
              <a:t>结语</a:t>
            </a:r>
            <a:endParaRPr lang="zh-CN" altLang="en-US" sz="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方正兰亭纤黑_GBK" panose="02000000000000000000" pitchFamily="2" charset="-122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953694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4736063"/>
            <a:ext cx="11520488" cy="2463249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7404620" y="3029667"/>
            <a:ext cx="2545310" cy="571988"/>
            <a:chOff x="2779270" y="1985004"/>
            <a:chExt cx="2338126" cy="571988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2779270" y="1985004"/>
              <a:ext cx="0" cy="564776"/>
            </a:xfrm>
            <a:prstGeom prst="line">
              <a:avLst/>
            </a:prstGeom>
            <a:ln w="38100">
              <a:solidFill>
                <a:srgbClr val="C8000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5117396" y="1985004"/>
              <a:ext cx="0" cy="564776"/>
            </a:xfrm>
            <a:prstGeom prst="line">
              <a:avLst/>
            </a:prstGeom>
            <a:ln w="38100">
              <a:solidFill>
                <a:srgbClr val="C8000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3405504" y="1992216"/>
              <a:ext cx="1654966" cy="5647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@</a:t>
              </a:r>
              <a:r>
                <a:rPr lang="zh-CN" altLang="en-US" sz="2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读书笔记</a:t>
              </a:r>
              <a:r>
                <a:rPr lang="en-US" altLang="zh-CN" sz="2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兰亭纤黑_GBK" panose="02000000000000000000" pitchFamily="2" charset="-122"/>
                  <a:ea typeface="方正兰亭纤黑_GBK" panose="02000000000000000000" pitchFamily="2" charset="-122"/>
                </a:rPr>
                <a:t>PPT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218480" y="3533385"/>
            <a:ext cx="2955920" cy="564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方正兰亭纤黑_GBK" panose="02000000000000000000" pitchFamily="2" charset="-122"/>
              </a:rPr>
              <a:t>Why Elephants Don’t Have Hairs</a:t>
            </a:r>
          </a:p>
        </p:txBody>
      </p:sp>
      <p:sp>
        <p:nvSpPr>
          <p:cNvPr id="39" name="矩形 38"/>
          <p:cNvSpPr/>
          <p:nvPr/>
        </p:nvSpPr>
        <p:spPr>
          <a:xfrm>
            <a:off x="732522" y="4171287"/>
            <a:ext cx="3886327" cy="564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宋三简体" panose="02000000000000000000" pitchFamily="2" charset="-122"/>
                <a:ea typeface="方正宋三简体" panose="02000000000000000000" pitchFamily="2" charset="-122"/>
              </a:rPr>
              <a:t>方舟子破解科学谜题</a:t>
            </a:r>
            <a:endParaRPr lang="en-US" altLang="zh-CN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方正宋三简体" panose="02000000000000000000" pitchFamily="2" charset="-122"/>
              <a:ea typeface="方正宋三简体" panose="02000000000000000000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408082" y="5300839"/>
            <a:ext cx="6119773" cy="10787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4800" dirty="0" smtClean="0">
                <a:solidFill>
                  <a:schemeClr val="bg1"/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感谢观看！</a:t>
            </a:r>
            <a:endParaRPr lang="en-US" altLang="zh-CN" sz="4800" dirty="0" smtClean="0">
              <a:solidFill>
                <a:schemeClr val="bg1"/>
              </a:solidFill>
              <a:latin typeface="方正兰亭纤黑_GBK" panose="02000000000000000000" pitchFamily="2" charset="-122"/>
              <a:ea typeface="方正兰亭纤黑_GBK" panose="02000000000000000000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101353" y="4437767"/>
            <a:ext cx="7419135" cy="180000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t="5487" r="1037" b="7256"/>
          <a:stretch/>
        </p:blipFill>
        <p:spPr>
          <a:xfrm>
            <a:off x="3242481" y="391433"/>
            <a:ext cx="4450976" cy="3913094"/>
          </a:xfrm>
          <a:prstGeom prst="roundRect">
            <a:avLst>
              <a:gd name="adj" fmla="val 50000"/>
            </a:avLst>
          </a:prstGeom>
        </p:spPr>
      </p:pic>
      <p:sp>
        <p:nvSpPr>
          <p:cNvPr id="47" name="矩形 46"/>
          <p:cNvSpPr/>
          <p:nvPr/>
        </p:nvSpPr>
        <p:spPr>
          <a:xfrm>
            <a:off x="0" y="4427169"/>
            <a:ext cx="792000" cy="180000"/>
          </a:xfrm>
          <a:prstGeom prst="rect">
            <a:avLst/>
          </a:prstGeom>
          <a:solidFill>
            <a:srgbClr val="185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062" y="2990712"/>
            <a:ext cx="627681" cy="62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832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72586" y="1148852"/>
            <a:ext cx="7775316" cy="4063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4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04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04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812412" y="2988174"/>
            <a:ext cx="122463" cy="22785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5690001" y="2988174"/>
            <a:ext cx="122463" cy="22785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649408" y="2988174"/>
            <a:ext cx="122463" cy="22785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63893" y="4202745"/>
            <a:ext cx="7775316" cy="1847301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531"/>
              </a:spcBef>
            </a:pP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53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531"/>
              </a:spcBef>
            </a:pP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53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20"/>
              </a:spcBef>
            </a:pP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20"/>
              </a:spcBef>
            </a:pP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20"/>
              </a:spcBef>
            </a:pP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53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147588" y="4518129"/>
            <a:ext cx="722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963893" y="2405644"/>
            <a:ext cx="1653250" cy="114059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97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85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897319" y="2405646"/>
            <a:ext cx="1653250" cy="1140598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9397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85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799081" y="2405644"/>
            <a:ext cx="1653250" cy="114059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97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53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85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710637" y="2405644"/>
            <a:ext cx="1653250" cy="114059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97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85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3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6860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75971" y="4150726"/>
            <a:ext cx="7796578" cy="1366755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961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8221">
                <a:defRPr/>
              </a:pPr>
              <a:r>
                <a:rPr lang="en-US" altLang="zh-CN" sz="1191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91" kern="0" dirty="0">
                  <a:solidFill>
                    <a:prstClr val="black"/>
                  </a:solidFill>
                </a:rPr>
              </a:br>
              <a:endParaRPr lang="en-US" altLang="zh-CN" sz="1191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8315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49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8315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94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3"/>
              <a:ext cx="594123" cy="570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8315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55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10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25662" cy="922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8315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41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041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82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041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041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041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041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8315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67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94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94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94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1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8315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86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8315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94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94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94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3"/>
              <a:ext cx="757239" cy="431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8315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86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8315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49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8315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149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1495" cy="339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8315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35417" y="1456617"/>
            <a:ext cx="5449659" cy="2486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61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061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061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551"/>
              </a:spcBef>
            </a:pPr>
            <a:r>
              <a:rPr lang="zh-CN" altLang="en-US" sz="3742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742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061</a:t>
            </a:r>
            <a:r>
              <a:rPr lang="zh-CN" altLang="en-US" sz="3742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742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551"/>
              </a:spcBef>
            </a:pPr>
            <a:r>
              <a:rPr lang="zh-CN" altLang="en-US" sz="238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38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38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38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4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04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4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123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1790</Words>
  <Application>Microsoft Office PowerPoint</Application>
  <PresentationFormat>自定义</PresentationFormat>
  <Paragraphs>154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方正大黑简体</vt:lpstr>
      <vt:lpstr>方正兰亭纤黑_GBK</vt:lpstr>
      <vt:lpstr>方正兰亭中黑简体</vt:lpstr>
      <vt:lpstr>方正宋三简体</vt:lpstr>
      <vt:lpstr>方正正黑简体</vt:lpstr>
      <vt:lpstr>方正正中黑简体</vt:lpstr>
      <vt:lpstr>宋体</vt:lpstr>
      <vt:lpstr>微软雅黑</vt:lpstr>
      <vt:lpstr>Aharoni</vt:lpstr>
      <vt:lpstr>Arial</vt:lpstr>
      <vt:lpstr>Calibri</vt:lpstr>
      <vt:lpstr>Calibri Light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LL H</dc:creator>
  <cp:lastModifiedBy>小巴</cp:lastModifiedBy>
  <cp:revision>51</cp:revision>
  <dcterms:created xsi:type="dcterms:W3CDTF">2014-03-15T10:36:17Z</dcterms:created>
  <dcterms:modified xsi:type="dcterms:W3CDTF">2014-03-25T12:05:28Z</dcterms:modified>
</cp:coreProperties>
</file>