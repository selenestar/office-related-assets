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4" r:id="rId3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88" r:id="rId9"/>
    <p:sldId id="266" r:id="rId10"/>
    <p:sldId id="267" r:id="rId11"/>
    <p:sldId id="268" r:id="rId12"/>
    <p:sldId id="289" r:id="rId13"/>
    <p:sldId id="270" r:id="rId14"/>
    <p:sldId id="271" r:id="rId15"/>
    <p:sldId id="272" r:id="rId16"/>
    <p:sldId id="290" r:id="rId17"/>
    <p:sldId id="274" r:id="rId18"/>
    <p:sldId id="275" r:id="rId19"/>
    <p:sldId id="276" r:id="rId20"/>
    <p:sldId id="291" r:id="rId21"/>
    <p:sldId id="279" r:id="rId22"/>
    <p:sldId id="280" r:id="rId23"/>
    <p:sldId id="287" r:id="rId24"/>
    <p:sldId id="292" r:id="rId25"/>
    <p:sldId id="293" r:id="rId26"/>
    <p:sldId id="294" r:id="rId27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5D4F"/>
    <a:srgbClr val="302F29"/>
    <a:srgbClr val="FFF109"/>
    <a:srgbClr val="FFF63B"/>
    <a:srgbClr val="815166"/>
    <a:srgbClr val="CDC6A7"/>
    <a:srgbClr val="FFF000"/>
    <a:srgbClr val="F2F2F2"/>
    <a:srgbClr val="E5E2D1"/>
    <a:srgbClr val="C5B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83" autoAdjust="0"/>
    <p:restoredTop sz="93277" autoAdjust="0"/>
  </p:normalViewPr>
  <p:slideViewPr>
    <p:cSldViewPr snapToGrid="0">
      <p:cViewPr varScale="1">
        <p:scale>
          <a:sx n="74" d="100"/>
          <a:sy n="74" d="100"/>
        </p:scale>
        <p:origin x="90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487BD-D457-4D62-9F86-AF6C132A759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7B12E-7E83-4292-BC9D-45C12855FF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2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B12E-7E83-4292-BC9D-45C12855FF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609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B12E-7E83-4292-BC9D-45C12855FF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432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B12E-7E83-4292-BC9D-45C12855FFC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5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B12E-7E83-4292-BC9D-45C12855FFC3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24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7B12E-7E83-4292-BC9D-45C12855FFC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81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F34A-567B-481B-ABFD-537C7F2EFC50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88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369" y="603121"/>
            <a:ext cx="6914981" cy="712112"/>
          </a:xfrm>
        </p:spPr>
        <p:txBody>
          <a:bodyPr>
            <a:normAutofit/>
          </a:bodyPr>
          <a:lstStyle>
            <a:lvl1pPr>
              <a:defRPr sz="36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0285"/>
            <a:ext cx="7886700" cy="4836678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EB0D8-29F6-4E78-9739-FB30C6DE8180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42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C29-2C18-4162-A54E-B2B72DF7EFB3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698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EEEE8-1602-4F10-B8C8-4373F629797A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791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B587-1C61-49C2-90F4-A5895A25CD98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125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8ACB3-56DD-4BB4-BEA7-98166F07E93A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94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8D45-E9E1-4AF0-9118-FADE85CA7F20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79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6544-420A-42CC-8B4C-6863D83442A0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64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6FAA-44E6-4DF3-AB65-CA9AF8325F47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381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79DF-4EFC-412E-BDFF-6A4C33384E43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6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4B8B-E63D-4883-BFC4-BDB2635F3D32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63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828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07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090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89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008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81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44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571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177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558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699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61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28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36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146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330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358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706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7" y="-51325"/>
            <a:ext cx="9140054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2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337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10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06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6742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88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D98">
            <a:alpha val="8470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8081D-04E2-4068-A323-9DC703E5F6FD}" type="datetime1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62744-FA74-4356-83DE-9D57CED63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02F29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50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02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5BD98"/>
            </a:gs>
            <a:gs pos="57000">
              <a:schemeClr val="bg1">
                <a:lumMod val="99000"/>
                <a:lumOff val="1000"/>
              </a:schemeClr>
            </a:gs>
            <a:gs pos="100000">
              <a:srgbClr val="C5BD9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2146848"/>
            <a:ext cx="9144000" cy="2411896"/>
          </a:xfrm>
          <a:prstGeom prst="rect">
            <a:avLst/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04856" y="2078530"/>
            <a:ext cx="4241247" cy="2189682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600" b="1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青春不应被浪费</a:t>
            </a:r>
            <a:r>
              <a:rPr lang="en-US" altLang="zh-CN" sz="3600" b="1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3100" b="1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100" b="1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200" dirty="0">
              <a:solidFill>
                <a:srgbClr val="302F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9" t="770" r="10513" b="1"/>
          <a:stretch/>
        </p:blipFill>
        <p:spPr>
          <a:xfrm>
            <a:off x="278296" y="788501"/>
            <a:ext cx="4028662" cy="5128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4127679" y="38013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zh-CN" altLang="en-US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袁岳 著</a:t>
            </a:r>
            <a:r>
              <a:rPr lang="en-US" altLang="zh-CN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筱</a:t>
            </a:r>
            <a:r>
              <a:rPr lang="en-US" altLang="zh-CN" dirty="0" err="1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</a:t>
            </a:r>
            <a:r>
              <a:rPr lang="zh-CN" altLang="en-US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312" y="222330"/>
            <a:ext cx="1286367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5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14" y="3048476"/>
            <a:ext cx="5714286" cy="3809524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1308099" y="1972134"/>
            <a:ext cx="6340143" cy="1071171"/>
          </a:xfrm>
          <a:prstGeom prst="wedgeRoundRectCallout">
            <a:avLst>
              <a:gd name="adj1" fmla="val 37545"/>
              <a:gd name="adj2" fmla="val 69172"/>
              <a:gd name="adj3" fmla="val 16667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 smtClean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</a:t>
            </a:r>
            <a:r>
              <a:rPr lang="zh-CN" altLang="en-US" sz="3600" b="1" dirty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在江湖漂，你得有把</a:t>
            </a:r>
            <a:r>
              <a:rPr lang="zh-CN" altLang="en-US" sz="3600" b="1" dirty="0" smtClean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刀</a:t>
            </a:r>
            <a:endParaRPr lang="zh-CN" altLang="en-US" sz="3600" b="1" dirty="0">
              <a:solidFill>
                <a:srgbClr val="302F2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4155053">
            <a:off x="2921159" y="1285847"/>
            <a:ext cx="727175" cy="236570"/>
          </a:xfrm>
          <a:prstGeom prst="triangle">
            <a:avLst>
              <a:gd name="adj" fmla="val 0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8375535">
            <a:off x="2814859" y="1194000"/>
            <a:ext cx="277665" cy="695254"/>
          </a:xfrm>
          <a:prstGeom prst="trapezoid">
            <a:avLst>
              <a:gd name="adj" fmla="val 27756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37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813079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109"/>
                </a:solidFill>
              </a:rPr>
              <a:t>常在江湖</a:t>
            </a:r>
            <a:r>
              <a:rPr lang="zh-CN" altLang="en-US" dirty="0" smtClean="0">
                <a:solidFill>
                  <a:srgbClr val="FFF109"/>
                </a:solidFill>
              </a:rPr>
              <a:t>飘，你得有把刀</a:t>
            </a:r>
            <a:endParaRPr lang="zh-CN" altLang="en-US" dirty="0">
              <a:solidFill>
                <a:srgbClr val="FFF109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186" y="2028379"/>
            <a:ext cx="7886700" cy="2517914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当一个年轻人能说清楚自己要什么，能回答自己的爱好是什么，能弄明白自己的追求是什么，以及准备用怎样的奋斗来把目标分清楚时，这样的人必定会比万千个迷茫、搞不清楚方向、麻木的人里脱颖而出。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55739" y="5408884"/>
            <a:ext cx="7449102" cy="540000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了解自己要什么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是走向成功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的第一步</a:t>
            </a:r>
            <a:r>
              <a:rPr lang="zh-CN" altLang="en-US" sz="2000" dirty="0" smtClean="0">
                <a:solidFill>
                  <a:srgbClr val="8151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  <a:endParaRPr lang="zh-CN" altLang="en-US" sz="2000" dirty="0">
              <a:solidFill>
                <a:srgbClr val="8151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11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597608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常在江湖飘，你得有把刀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739" y="2135070"/>
            <a:ext cx="7886700" cy="2014331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重要的是你要显示出一些东西出来，要让人家能够告知你的存在和价值。我们生存在这个时代，第一要有点儿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本事</a:t>
            </a:r>
            <a:r>
              <a:rPr lang="zh-CN" altLang="en-US" sz="2400" dirty="0" smtClean="0"/>
              <a:t>，第二有点儿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高调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5739" y="5106979"/>
            <a:ext cx="7449102" cy="540000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自己要有料，还要让人知道你有料。</a:t>
            </a:r>
          </a:p>
        </p:txBody>
      </p:sp>
    </p:spTree>
    <p:extLst>
      <p:ext uri="{BB962C8B-B14F-4D97-AF65-F5344CB8AC3E}">
        <p14:creationId xmlns:p14="http://schemas.microsoft.com/office/powerpoint/2010/main" val="68379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451834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常在江湖飘，你得有把刀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00" y="2088049"/>
            <a:ext cx="7856850" cy="1875735"/>
          </a:xfrm>
        </p:spPr>
        <p:txBody>
          <a:bodyPr>
            <a:normAutofit lnSpcReduction="10000"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你是一个好人并没有多么了不起，你要是一个好玩的人儿就真是很了不起，而你是一个说话、做事都很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好玩</a:t>
            </a:r>
            <a:r>
              <a:rPr lang="zh-CN" altLang="en-US" sz="2400" dirty="0" smtClean="0"/>
              <a:t>的人，那你将是一个伟大的领导。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8" name="矩形 6"/>
          <p:cNvSpPr/>
          <p:nvPr/>
        </p:nvSpPr>
        <p:spPr>
          <a:xfrm>
            <a:off x="615398" y="4736601"/>
            <a:ext cx="7899952" cy="924681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“好玩”是一种境界，一个人在把事情做得  “玩似的”前肯定做过不同寻常的努力。</a:t>
            </a:r>
          </a:p>
        </p:txBody>
      </p:sp>
    </p:spTree>
    <p:extLst>
      <p:ext uri="{BB962C8B-B14F-4D97-AF65-F5344CB8AC3E}">
        <p14:creationId xmlns:p14="http://schemas.microsoft.com/office/powerpoint/2010/main" val="343154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14" y="3048476"/>
            <a:ext cx="5714286" cy="3809524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824005" y="1950755"/>
            <a:ext cx="7109760" cy="1071171"/>
          </a:xfrm>
          <a:prstGeom prst="wedgeRoundRectCallout">
            <a:avLst>
              <a:gd name="adj1" fmla="val 37545"/>
              <a:gd name="adj2" fmla="val 69172"/>
              <a:gd name="adj3" fmla="val 16667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社会就是这样，和虚伪没关系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4155053">
            <a:off x="2692558" y="1311150"/>
            <a:ext cx="727175" cy="236570"/>
          </a:xfrm>
          <a:prstGeom prst="triangle">
            <a:avLst>
              <a:gd name="adj" fmla="val 0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8375535">
            <a:off x="2586258" y="1219303"/>
            <a:ext cx="277665" cy="695254"/>
          </a:xfrm>
          <a:prstGeom prst="trapezoid">
            <a:avLst>
              <a:gd name="adj" fmla="val 27756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93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54553" y="2228022"/>
            <a:ext cx="8267700" cy="1908495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社会就是这样，和虚伪没关系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739" y="2456541"/>
            <a:ext cx="7886700" cy="1510748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人与人之间的交往在于平衡，而不是功利。交易并不可耻，只</a:t>
            </a:r>
            <a:r>
              <a:rPr lang="zh-CN" altLang="en-US" sz="2400" dirty="0"/>
              <a:t>要</a:t>
            </a:r>
            <a:r>
              <a:rPr lang="zh-CN" altLang="en-US" sz="2400" dirty="0" smtClean="0"/>
              <a:t>是公平的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</a:t>
            </a:r>
            <a:r>
              <a:rPr lang="zh-CN" altLang="en-US" sz="2400" dirty="0" smtClean="0"/>
              <a:t>，那就是光明正大的。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61408" y="5029854"/>
            <a:ext cx="184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100" dirty="0">
              <a:solidFill>
                <a:srgbClr val="8151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6"/>
          <p:cNvSpPr/>
          <p:nvPr/>
        </p:nvSpPr>
        <p:spPr>
          <a:xfrm>
            <a:off x="655738" y="4620658"/>
            <a:ext cx="7859611" cy="973317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人与人的交往本来就是一场交易，要以平常心看待，当然不能有功利之心。</a:t>
            </a:r>
          </a:p>
        </p:txBody>
      </p:sp>
    </p:spTree>
    <p:extLst>
      <p:ext uri="{BB962C8B-B14F-4D97-AF65-F5344CB8AC3E}">
        <p14:creationId xmlns:p14="http://schemas.microsoft.com/office/powerpoint/2010/main" val="211907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597608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社会就是这样，和虚伪没关系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398" y="2091638"/>
            <a:ext cx="7886700" cy="2014331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问题在于如何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管理陌生人</a:t>
            </a:r>
            <a:r>
              <a:rPr lang="zh-CN" altLang="en-US" sz="2400" dirty="0" smtClean="0"/>
              <a:t>，才能减少陌生人的不确定性让我们产生的畏惧，又施以恰当的选择，最终把陌生人巨大的社会资本释放在我们可以借助的领域中。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8" name="矩形 6"/>
          <p:cNvSpPr/>
          <p:nvPr/>
        </p:nvSpPr>
        <p:spPr>
          <a:xfrm>
            <a:off x="511898" y="4802784"/>
            <a:ext cx="8003452" cy="1066509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熟人都是从陌生人发展而来的，不要害怕， 勇敢去与人交流；当然也要给人留下好的第一印象。</a:t>
            </a:r>
            <a:endParaRPr lang="zh-CN" altLang="en-US" sz="2000" dirty="0">
              <a:solidFill>
                <a:srgbClr val="8151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73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451834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社会就是这样，和虚伪没关系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398" y="2144647"/>
            <a:ext cx="7886700" cy="1762539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朴素的领导力包括三个部分：一是积极地做事情；二是积极地做自己热爱的事情；三是能与多少有点儿不喜欢的人一起自己喜欢的事情。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5398" y="4857554"/>
            <a:ext cx="7449102" cy="540000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做好自己喜欢做的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事。</a:t>
            </a:r>
            <a:endParaRPr lang="zh-CN" altLang="en-US" sz="2000" dirty="0">
              <a:solidFill>
                <a:srgbClr val="8151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779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14" y="3048476"/>
            <a:ext cx="5714286" cy="3809524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1308099" y="1972134"/>
            <a:ext cx="6340143" cy="1071171"/>
          </a:xfrm>
          <a:prstGeom prst="wedgeRoundRectCallout">
            <a:avLst>
              <a:gd name="adj1" fmla="val 37545"/>
              <a:gd name="adj2" fmla="val 69172"/>
              <a:gd name="adj3" fmla="val 16667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提高情商，才是正经事儿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4155053">
            <a:off x="2921159" y="1285847"/>
            <a:ext cx="727175" cy="236570"/>
          </a:xfrm>
          <a:prstGeom prst="triangle">
            <a:avLst>
              <a:gd name="adj" fmla="val 0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8375535">
            <a:off x="2814859" y="1194000"/>
            <a:ext cx="277665" cy="695254"/>
          </a:xfrm>
          <a:prstGeom prst="trapezoid">
            <a:avLst>
              <a:gd name="adj" fmla="val 27756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39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438582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提高情商，才是正经事儿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739" y="2173515"/>
            <a:ext cx="7886700" cy="1904357"/>
          </a:xfrm>
        </p:spPr>
        <p:txBody>
          <a:bodyPr>
            <a:normAutofit fontScale="92500" lnSpcReduction="20000"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600" dirty="0" smtClean="0"/>
              <a:t>不管从哪所学校毕业，你要证明自己比别的学生强，就要在社会的</a:t>
            </a:r>
            <a:r>
              <a:rPr lang="zh-CN" altLang="en-US" sz="35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了解程度</a:t>
            </a:r>
            <a:r>
              <a:rPr lang="zh-CN" altLang="en-US" sz="2600" dirty="0" smtClean="0"/>
              <a:t>、在某个领域的</a:t>
            </a:r>
            <a:r>
              <a:rPr lang="zh-CN" altLang="en-US" sz="35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热爱程度</a:t>
            </a:r>
            <a:r>
              <a:rPr lang="zh-CN" altLang="en-US" sz="2600" dirty="0" smtClean="0"/>
              <a:t>上比他们</a:t>
            </a:r>
            <a:r>
              <a:rPr lang="zh-CN" altLang="en-US" sz="35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  <a:r>
              <a:rPr lang="zh-CN" altLang="en-US" sz="2600" dirty="0" smtClean="0"/>
              <a:t>，这是能够证明的。</a:t>
            </a: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9" name="矩形 6"/>
          <p:cNvSpPr/>
          <p:nvPr/>
        </p:nvSpPr>
        <p:spPr>
          <a:xfrm>
            <a:off x="435389" y="4723349"/>
            <a:ext cx="8079961" cy="1055846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有职业爱好与专长者往往能在社会竞争中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脱颖而出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。也是因为他们足够了解这个社会，足够热爱他们的爱好吧。</a:t>
            </a:r>
          </a:p>
        </p:txBody>
      </p:sp>
    </p:spTree>
    <p:extLst>
      <p:ext uri="{BB962C8B-B14F-4D97-AF65-F5344CB8AC3E}">
        <p14:creationId xmlns:p14="http://schemas.microsoft.com/office/powerpoint/2010/main" val="30500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663701"/>
            <a:ext cx="8267700" cy="3390900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提高情商，才是正经事儿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739" y="1922043"/>
            <a:ext cx="8079961" cy="2835965"/>
          </a:xfrm>
        </p:spPr>
        <p:txBody>
          <a:bodyPr>
            <a:no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去实习、去尝试兼职、在社会上听讲座、做志愿者、搞学生活动、读杂书、尝试创业</a:t>
            </a:r>
            <a:r>
              <a:rPr lang="en-US" altLang="zh-CN" sz="2400" dirty="0" smtClean="0"/>
              <a:t>……</a:t>
            </a:r>
            <a:r>
              <a:rPr lang="zh-CN" altLang="en-US" sz="2400" dirty="0" smtClean="0"/>
              <a:t>通过这些活动去约略地判定自己的职业喜好，增加社会知识与社会适应，交往社会上的良师益友，扩大社会网络，</a:t>
            </a:r>
            <a:r>
              <a:rPr lang="zh-CN" altLang="en-US" sz="2400" dirty="0"/>
              <a:t>形成</a:t>
            </a:r>
            <a:r>
              <a:rPr lang="zh-CN" altLang="en-US" sz="2400" dirty="0" smtClean="0"/>
              <a:t>自己初步的职业行为模式，然后反过来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sz="2400" dirty="0" smtClean="0"/>
              <a:t>对校园知识价值的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判断能力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655739" y="5408883"/>
            <a:ext cx="7449102" cy="782651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学校只能教我们知识，要想真正了解自己，了解社会，还是得自己去实践，去“折腾”。</a:t>
            </a:r>
          </a:p>
        </p:txBody>
      </p:sp>
    </p:spTree>
    <p:extLst>
      <p:ext uri="{BB962C8B-B14F-4D97-AF65-F5344CB8AC3E}">
        <p14:creationId xmlns:p14="http://schemas.microsoft.com/office/powerpoint/2010/main" val="29714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067520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提高情商，才是正经事儿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00" y="2194287"/>
            <a:ext cx="7886700" cy="1484244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当你有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</a:t>
            </a:r>
            <a:r>
              <a:rPr lang="zh-CN" altLang="en-US" sz="2400" dirty="0" smtClean="0"/>
              <a:t>的时候，总会找到同道，总能整合资源，这就是一种主动成长模式。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9" name="矩形 6"/>
          <p:cNvSpPr/>
          <p:nvPr/>
        </p:nvSpPr>
        <p:spPr>
          <a:xfrm>
            <a:off x="658500" y="4510780"/>
            <a:ext cx="7641096" cy="1202310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与其说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，当你有梦想时，全世界都会为你让路；倒不如说当你有梦想时，你的心里总会有一座灯塔指引你，你总会找到船和双桨往亮灯的彼岸划去。</a:t>
            </a:r>
          </a:p>
        </p:txBody>
      </p:sp>
    </p:spTree>
    <p:extLst>
      <p:ext uri="{BB962C8B-B14F-4D97-AF65-F5344CB8AC3E}">
        <p14:creationId xmlns:p14="http://schemas.microsoft.com/office/powerpoint/2010/main" val="80551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14" y="3048476"/>
            <a:ext cx="5714286" cy="3809524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1308099" y="1972134"/>
            <a:ext cx="6340143" cy="1071171"/>
          </a:xfrm>
          <a:prstGeom prst="wedgeRoundRectCallout">
            <a:avLst>
              <a:gd name="adj1" fmla="val 37545"/>
              <a:gd name="adj2" fmla="val 69172"/>
              <a:gd name="adj3" fmla="val 16667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世上无难事，只要肯折腾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4155053">
            <a:off x="2921159" y="1285847"/>
            <a:ext cx="727175" cy="236570"/>
          </a:xfrm>
          <a:prstGeom prst="triangle">
            <a:avLst>
              <a:gd name="adj" fmla="val 0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8375535">
            <a:off x="2814859" y="1194000"/>
            <a:ext cx="277665" cy="695254"/>
          </a:xfrm>
          <a:prstGeom prst="trapezoid">
            <a:avLst>
              <a:gd name="adj" fmla="val 27756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53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3087939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世上无难事，只要肯折腾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085012"/>
            <a:ext cx="7886700" cy="2517914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正是因为有人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折腾</a:t>
            </a:r>
            <a:r>
              <a:rPr lang="zh-CN" altLang="en-US" sz="2400" dirty="0" smtClean="0"/>
              <a:t>，世界才会有进步，社会上的危机才会有人去担当。而且在折腾的过程中，人们可能会发现自己的潜能与优势，找到成就感与自我认同，也能得到别人的赞许与辨别。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655739" y="5244703"/>
            <a:ext cx="7449102" cy="898387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选择值得自己“折腾”的事，做好准备，就去折腾，在折腾中活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学受到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挫折，但这何尝不是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一种成长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呢？</a:t>
            </a:r>
          </a:p>
        </p:txBody>
      </p:sp>
    </p:spTree>
    <p:extLst>
      <p:ext uri="{BB962C8B-B14F-4D97-AF65-F5344CB8AC3E}">
        <p14:creationId xmlns:p14="http://schemas.microsoft.com/office/powerpoint/2010/main" val="423475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1961503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世上无难事，只要肯折腾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00" y="2085012"/>
            <a:ext cx="7886700" cy="1391478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年轻人在大学里天然的权利就是</a:t>
            </a:r>
            <a:r>
              <a:rPr lang="zh-CN" altLang="en-US" sz="32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增长阅历</a:t>
            </a:r>
            <a:r>
              <a:rPr lang="zh-CN" altLang="en-US" sz="2400" dirty="0" smtClean="0"/>
              <a:t>，去试一试，试过了之后发现自己不合适，才能心甘情愿。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658500" y="4437530"/>
            <a:ext cx="7449102" cy="960025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常听迷茫的人问不知道这个适不适合我，那个适不适合我，那就去试呗，不试怎么知道适合不合适呢？</a:t>
            </a:r>
          </a:p>
        </p:txBody>
      </p:sp>
    </p:spTree>
    <p:extLst>
      <p:ext uri="{BB962C8B-B14F-4D97-AF65-F5344CB8AC3E}">
        <p14:creationId xmlns:p14="http://schemas.microsoft.com/office/powerpoint/2010/main" val="386978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43416" y="1693265"/>
            <a:ext cx="8267700" cy="2667181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世上无难事，只要肯折腾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2436" y="1842532"/>
            <a:ext cx="7886700" cy="2517914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社会版大学生会比其他学生率先适应社会上的情况与规则，从而占据时间点上的优势。因为他们较早拥有意识与社会参与经验，能避开更多的误解、埋怨和心里反差，从而更快地得到认可。更强地得到推崇。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615397" y="4738478"/>
            <a:ext cx="7923739" cy="1363437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我们终究是要进入社会的，早点了解社会能帮助我们早点适应社会。我还是一名在校生，在努力读书的同时也不能忘了找时间出去接触社会，了解社会。</a:t>
            </a:r>
          </a:p>
        </p:txBody>
      </p:sp>
    </p:spTree>
    <p:extLst>
      <p:ext uri="{BB962C8B-B14F-4D97-AF65-F5344CB8AC3E}">
        <p14:creationId xmlns:p14="http://schemas.microsoft.com/office/powerpoint/2010/main" val="193561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714" y="3048476"/>
            <a:ext cx="5714286" cy="3809524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>
          <a:xfrm>
            <a:off x="1308099" y="1972134"/>
            <a:ext cx="6340143" cy="1071171"/>
          </a:xfrm>
          <a:prstGeom prst="wedgeRoundRectCallout">
            <a:avLst>
              <a:gd name="adj1" fmla="val 37545"/>
              <a:gd name="adj2" fmla="val 69172"/>
              <a:gd name="adj3" fmla="val 16667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302F2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找到你钟爱一生的事业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5" r="2416" b="12929"/>
          <a:stretch/>
        </p:blipFill>
        <p:spPr>
          <a:xfrm>
            <a:off x="371867" y="179761"/>
            <a:ext cx="1398890" cy="1135471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4155053">
            <a:off x="2921159" y="1285847"/>
            <a:ext cx="727175" cy="236570"/>
          </a:xfrm>
          <a:prstGeom prst="triangle">
            <a:avLst>
              <a:gd name="adj" fmla="val 0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rot="8375535">
            <a:off x="2814859" y="1194000"/>
            <a:ext cx="277665" cy="695254"/>
          </a:xfrm>
          <a:prstGeom prst="trapezoid">
            <a:avLst>
              <a:gd name="adj" fmla="val 27756"/>
            </a:avLst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93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678977"/>
            <a:ext cx="8267700" cy="2935996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找到你钟爱一生的事业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097" y="1886778"/>
            <a:ext cx="7886700" cy="2849218"/>
          </a:xfrm>
        </p:spPr>
        <p:txBody>
          <a:bodyPr>
            <a:normAutofit fontScale="92500" lnSpcReduction="20000"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也许年轻一代所做的自我选择，不能带来父母或者社会所期待的，甚至自己所追求的所谓成功，但是</a:t>
            </a:r>
            <a:r>
              <a:rPr lang="zh-CN" altLang="en-US" sz="3500" b="1" dirty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自我选择成就</a:t>
            </a:r>
            <a:r>
              <a:rPr lang="zh-CN" altLang="en-US" sz="2400" dirty="0" smtClean="0"/>
              <a:t>的自我意志与主体感，本身就是一种真正的成功。这种能力与能量，使得一个个体能够发出真正属于自己的声音，这才是人生真正的目的。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468000" y="5003622"/>
            <a:ext cx="8047349" cy="1085103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1905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每个人都是独立的个体，最亲的父母都不能代替自己做决定，所以要多听听自己内心的声音，勇敢选择想要的生活。</a:t>
            </a:r>
          </a:p>
        </p:txBody>
      </p:sp>
    </p:spTree>
    <p:extLst>
      <p:ext uri="{BB962C8B-B14F-4D97-AF65-F5344CB8AC3E}">
        <p14:creationId xmlns:p14="http://schemas.microsoft.com/office/powerpoint/2010/main" val="128209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角圆角矩形 4"/>
          <p:cNvSpPr/>
          <p:nvPr/>
        </p:nvSpPr>
        <p:spPr>
          <a:xfrm>
            <a:off x="468000" y="1800000"/>
            <a:ext cx="8267700" cy="2451834"/>
          </a:xfrm>
          <a:prstGeom prst="round2DiagRect">
            <a:avLst/>
          </a:prstGeom>
          <a:solidFill>
            <a:srgbClr val="F7F6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rgbClr val="FFF109"/>
                </a:solidFill>
              </a:rPr>
              <a:t>找到你钟爱一生的事业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00" y="2046397"/>
            <a:ext cx="7886700" cy="1999888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 smtClean="0"/>
              <a:t>我们要坚持自己的</a:t>
            </a:r>
            <a:r>
              <a:rPr lang="zh-CN" altLang="en-US" sz="3200" b="1" dirty="0" smtClean="0">
                <a:solidFill>
                  <a:srgbClr val="776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</a:t>
            </a:r>
            <a:r>
              <a:rPr lang="zh-CN" altLang="en-US" sz="2400" dirty="0" smtClean="0"/>
              <a:t>，因为也许你不能实现你的理想，但你将拥有那些没有理想的人从来没想象过的机会与经验，你会有一个不会遗憾的人生。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8" name="矩形 6"/>
          <p:cNvSpPr/>
          <p:nvPr/>
        </p:nvSpPr>
        <p:spPr>
          <a:xfrm>
            <a:off x="655738" y="4982998"/>
            <a:ext cx="7846359" cy="965885"/>
          </a:xfrm>
          <a:custGeom>
            <a:avLst/>
            <a:gdLst>
              <a:gd name="connsiteX0" fmla="*/ 0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0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449102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  <a:gd name="connsiteX0" fmla="*/ 255494 w 7449102"/>
              <a:gd name="connsiteY0" fmla="*/ 0 h 540000"/>
              <a:gd name="connsiteX1" fmla="*/ 7449102 w 7449102"/>
              <a:gd name="connsiteY1" fmla="*/ 0 h 540000"/>
              <a:gd name="connsiteX2" fmla="*/ 7287737 w 7449102"/>
              <a:gd name="connsiteY2" fmla="*/ 540000 h 540000"/>
              <a:gd name="connsiteX3" fmla="*/ 0 w 7449102"/>
              <a:gd name="connsiteY3" fmla="*/ 540000 h 540000"/>
              <a:gd name="connsiteX4" fmla="*/ 255494 w 7449102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9102" h="540000">
                <a:moveTo>
                  <a:pt x="255494" y="0"/>
                </a:moveTo>
                <a:lnTo>
                  <a:pt x="7449102" y="0"/>
                </a:lnTo>
                <a:lnTo>
                  <a:pt x="7287737" y="540000"/>
                </a:lnTo>
                <a:lnTo>
                  <a:pt x="0" y="540000"/>
                </a:lnTo>
                <a:lnTo>
                  <a:pt x="255494" y="0"/>
                </a:lnTo>
                <a:close/>
              </a:path>
            </a:pathLst>
          </a:custGeom>
          <a:solidFill>
            <a:srgbClr val="FFF109"/>
          </a:solidFill>
          <a:ln>
            <a:noFill/>
          </a:ln>
          <a:effectLst>
            <a:outerShdw dist="215900" dir="5400000" algn="tl" rotWithShape="0">
              <a:schemeClr val="bg1">
                <a:alpha val="25000"/>
              </a:scheme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457200" algn="ctr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微感悟</a:t>
            </a:r>
            <a:r>
              <a:rPr lang="zh-CN" altLang="en-US" sz="24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有理想就要坚持，哪怕最后不能实现，你的</a:t>
            </a:r>
            <a:r>
              <a:rPr lang="zh-CN" altLang="en-US" sz="2000" dirty="0" smtClean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  也</a:t>
            </a:r>
            <a:r>
              <a:rPr lang="zh-CN" altLang="en-US" sz="2000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会因理想而散发出不一样的光芒。</a:t>
            </a:r>
          </a:p>
        </p:txBody>
      </p:sp>
    </p:spTree>
    <p:extLst>
      <p:ext uri="{BB962C8B-B14F-4D97-AF65-F5344CB8AC3E}">
        <p14:creationId xmlns:p14="http://schemas.microsoft.com/office/powerpoint/2010/main" val="323684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5BD98"/>
            </a:gs>
            <a:gs pos="57000">
              <a:schemeClr val="bg1">
                <a:lumMod val="99000"/>
                <a:lumOff val="1000"/>
              </a:schemeClr>
            </a:gs>
            <a:gs pos="100000">
              <a:srgbClr val="C5BD9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" y="2146848"/>
            <a:ext cx="9144000" cy="2411896"/>
          </a:xfrm>
          <a:prstGeom prst="rect">
            <a:avLst/>
          </a:prstGeom>
          <a:solidFill>
            <a:srgbClr val="FFF1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9" t="770" r="10513" b="1"/>
          <a:stretch/>
        </p:blipFill>
        <p:spPr>
          <a:xfrm>
            <a:off x="278296" y="788501"/>
            <a:ext cx="4028662" cy="5128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4885504" y="2257955"/>
            <a:ext cx="4258496" cy="2189682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谢谢聆听！</a:t>
            </a:r>
            <a:r>
              <a:rPr lang="en-US" altLang="zh-CN" sz="320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b="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筱</a:t>
            </a:r>
            <a:r>
              <a:rPr lang="en-US" altLang="zh-CN" sz="2000" b="0" dirty="0" err="1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</a:t>
            </a:r>
            <a:r>
              <a:rPr lang="zh-CN" altLang="en-US" sz="2000" b="0" dirty="0" smtClean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</a:t>
            </a:r>
            <a:endParaRPr lang="zh-CN" altLang="en-US" sz="2000" b="0" dirty="0">
              <a:solidFill>
                <a:srgbClr val="302F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312" y="222330"/>
            <a:ext cx="1286367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5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2744-FA74-4356-83DE-9D57CED638A7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8" name="矩形 6"/>
          <p:cNvSpPr/>
          <p:nvPr/>
        </p:nvSpPr>
        <p:spPr>
          <a:xfrm>
            <a:off x="0" y="511196"/>
            <a:ext cx="9144000" cy="965885"/>
          </a:xfrm>
          <a:prstGeom prst="rect">
            <a:avLst/>
          </a:prstGeom>
          <a:solidFill>
            <a:srgbClr val="FFF10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2" algn="ctr"/>
            <a:r>
              <a:rPr lang="zh-CN" altLang="en-US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_1990 </a:t>
            </a:r>
            <a:r>
              <a:rPr lang="zh-CN" altLang="en-US" sz="2800" b="1" dirty="0">
                <a:solidFill>
                  <a:srgbClr val="8151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的细心、反复指导！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4572000" y="1982297"/>
            <a:ext cx="0" cy="3468178"/>
          </a:xfrm>
          <a:prstGeom prst="line">
            <a:avLst/>
          </a:prstGeom>
          <a:ln w="28575">
            <a:solidFill>
              <a:srgbClr val="302F29">
                <a:alpha val="69804"/>
              </a:srgb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4" y="2266907"/>
            <a:ext cx="3743999" cy="280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818" y="2266907"/>
            <a:ext cx="3744000" cy="280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1719185" y="54030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575516" y="540306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302F2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修改后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78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14742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5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8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1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896366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7" y="41580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2481293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2481295"/>
            <a:ext cx="1312212" cy="1081437"/>
            <a:chOff x="107380" y="2024805"/>
            <a:chExt cx="1944270" cy="160233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2481293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2481293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32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866394"/>
            <a:ext cx="6188273" cy="1084816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6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5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0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2" y="4188246"/>
              <a:ext cx="1787129" cy="46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409260" y="172803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069</a:t>
            </a:r>
            <a:r>
              <a:rPr lang="zh-CN" altLang="en-US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02307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6ae4c4e4bcb9e26c26be263fc6b2c779257c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</TotalTime>
  <Words>1447</Words>
  <Application>Microsoft Office PowerPoint</Application>
  <PresentationFormat>全屏显示(4:3)</PresentationFormat>
  <Paragraphs>105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方正正黑简体</vt:lpstr>
      <vt:lpstr>方正正中黑简体</vt:lpstr>
      <vt:lpstr>华文行楷</vt:lpstr>
      <vt:lpstr>华文中宋</vt:lpstr>
      <vt:lpstr>宋体</vt:lpstr>
      <vt:lpstr>微软雅黑</vt:lpstr>
      <vt:lpstr>Arial</vt:lpstr>
      <vt:lpstr>Calibri</vt:lpstr>
      <vt:lpstr>Wingdings</vt:lpstr>
      <vt:lpstr>Office 主题</vt:lpstr>
      <vt:lpstr>1_Office 主题​​</vt:lpstr>
      <vt:lpstr>2_Office 主题​​</vt:lpstr>
      <vt:lpstr>《青春不应被浪费》 </vt:lpstr>
      <vt:lpstr>PowerPoint 演示文稿</vt:lpstr>
      <vt:lpstr>常在江湖飘，你得有把刀</vt:lpstr>
      <vt:lpstr>常在江湖飘，你得有把刀</vt:lpstr>
      <vt:lpstr>常在江湖飘，你得有把刀</vt:lpstr>
      <vt:lpstr>PowerPoint 演示文稿</vt:lpstr>
      <vt:lpstr>社会就是这样，和虚伪没关系</vt:lpstr>
      <vt:lpstr>社会就是这样，和虚伪没关系</vt:lpstr>
      <vt:lpstr>社会就是这样，和虚伪没关系</vt:lpstr>
      <vt:lpstr>PowerPoint 演示文稿</vt:lpstr>
      <vt:lpstr>提高情商，才是正经事儿</vt:lpstr>
      <vt:lpstr>提高情商，才是正经事儿</vt:lpstr>
      <vt:lpstr>提高情商，才是正经事儿</vt:lpstr>
      <vt:lpstr>PowerPoint 演示文稿</vt:lpstr>
      <vt:lpstr>世上无难事，只要肯折腾</vt:lpstr>
      <vt:lpstr>世上无难事，只要肯折腾</vt:lpstr>
      <vt:lpstr>世上无难事，只要肯折腾</vt:lpstr>
      <vt:lpstr>PowerPoint 演示文稿</vt:lpstr>
      <vt:lpstr>找到你钟爱一生的事业</vt:lpstr>
      <vt:lpstr>找到你钟爱一生的事业</vt:lpstr>
      <vt:lpstr>谢谢聆听！ @筱dan丹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xiaodan zheng</dc:creator>
  <cp:lastModifiedBy>小巴</cp:lastModifiedBy>
  <cp:revision>80</cp:revision>
  <dcterms:created xsi:type="dcterms:W3CDTF">2014-03-10T08:52:25Z</dcterms:created>
  <dcterms:modified xsi:type="dcterms:W3CDTF">2014-04-02T13:53:59Z</dcterms:modified>
</cp:coreProperties>
</file>