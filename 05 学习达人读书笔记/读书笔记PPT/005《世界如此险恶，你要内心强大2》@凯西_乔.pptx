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  <p:sldMasterId id="2147483673" r:id="rId3"/>
    <p:sldMasterId id="2147483685" r:id="rId4"/>
  </p:sldMasterIdLst>
  <p:sldIdLst>
    <p:sldId id="279" r:id="rId5"/>
    <p:sldId id="256" r:id="rId6"/>
    <p:sldId id="257" r:id="rId7"/>
    <p:sldId id="266" r:id="rId8"/>
    <p:sldId id="274" r:id="rId9"/>
    <p:sldId id="267" r:id="rId10"/>
    <p:sldId id="275" r:id="rId11"/>
    <p:sldId id="268" r:id="rId12"/>
    <p:sldId id="276" r:id="rId13"/>
    <p:sldId id="269" r:id="rId14"/>
    <p:sldId id="271" r:id="rId15"/>
    <p:sldId id="270" r:id="rId16"/>
    <p:sldId id="277" r:id="rId17"/>
    <p:sldId id="278" r:id="rId18"/>
    <p:sldId id="273" r:id="rId19"/>
    <p:sldId id="280" r:id="rId20"/>
    <p:sldId id="281" r:id="rId21"/>
  </p:sldIdLst>
  <p:sldSz cx="9144000" cy="5715000" type="screen16x10"/>
  <p:notesSz cx="6858000" cy="9144000"/>
  <p:embeddedFontLst>
    <p:embeddedFont>
      <p:font typeface="方正正黑简体" panose="02000000000000000000" pitchFamily="2" charset="-122"/>
      <p:regular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微软雅黑" panose="020B0503020204020204" pitchFamily="34" charset="-122"/>
      <p:regular r:id="rId27"/>
      <p:bold r:id="rId28"/>
    </p:embeddedFont>
    <p:embeddedFont>
      <p:font typeface="方正正中黑简体" panose="02000000000000000000" pitchFamily="2" charset="-122"/>
      <p:regular r:id="rId29"/>
    </p:embeddedFont>
    <p:embeddedFont>
      <p:font typeface="华康俪金黑W8(P)" panose="020B0800000000000000" pitchFamily="34" charset="-122"/>
      <p:regular r:id="rId30"/>
    </p:embeddedFont>
    <p:embeddedFont>
      <p:font typeface="方正咆哮简体" panose="02010600030101010101" charset="-122"/>
      <p:regular r:id="rId3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82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480" userDrawn="1">
          <p15:clr>
            <a:srgbClr val="A4A3A4"/>
          </p15:clr>
        </p15:guide>
        <p15:guide id="4" orient="horz" pos="2707" userDrawn="1">
          <p15:clr>
            <a:srgbClr val="A4A3A4"/>
          </p15:clr>
        </p15:guide>
        <p15:guide id="5" orient="horz" pos="13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A1423F"/>
    <a:srgbClr val="A88000"/>
    <a:srgbClr val="FFD85D"/>
    <a:srgbClr val="DAA600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57" autoAdjust="0"/>
    <p:restoredTop sz="94660"/>
  </p:normalViewPr>
  <p:slideViewPr>
    <p:cSldViewPr>
      <p:cViewPr varScale="1">
        <p:scale>
          <a:sx n="89" d="100"/>
          <a:sy n="89" d="100"/>
        </p:scale>
        <p:origin x="810" y="78"/>
      </p:cViewPr>
      <p:guideLst>
        <p:guide orient="horz" pos="1482"/>
        <p:guide pos="2880"/>
        <p:guide orient="horz" pos="2480"/>
        <p:guide orient="horz" pos="2707"/>
        <p:guide orient="horz" pos="134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5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0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33501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33501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279261"/>
            <a:ext cx="4041775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2014/1/20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2014/1/20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27541"/>
            <a:ext cx="3008313" cy="96837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27543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195918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28866"/>
            <a:ext cx="2057400" cy="487627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8866"/>
            <a:ext cx="6019800" cy="487627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2014/1/20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8560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817273"/>
            <a:ext cx="8229600" cy="952500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9144000" cy="51724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292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71599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3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0706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33501"/>
            <a:ext cx="4038600" cy="377163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33501"/>
            <a:ext cx="4038600" cy="377163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9540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54633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94749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3946" y="-42771"/>
            <a:ext cx="9140054" cy="589023"/>
          </a:xfrm>
          <a:prstGeom prst="rect">
            <a:avLst/>
          </a:prstGeom>
          <a:solidFill>
            <a:srgbClr val="9B743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6" name="椭圆 5"/>
          <p:cNvSpPr/>
          <p:nvPr userDrawn="1"/>
        </p:nvSpPr>
        <p:spPr>
          <a:xfrm>
            <a:off x="894851" y="487934"/>
            <a:ext cx="468052" cy="390000"/>
          </a:xfrm>
          <a:prstGeom prst="ellipse">
            <a:avLst/>
          </a:prstGeom>
          <a:solidFill>
            <a:srgbClr val="D1B48C"/>
          </a:solidFill>
          <a:ln>
            <a:solidFill>
              <a:schemeClr val="bg1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3946" y="21950"/>
            <a:ext cx="1080000" cy="900000"/>
          </a:xfrm>
          <a:prstGeom prst="ellipse">
            <a:avLst/>
          </a:prstGeom>
          <a:blipFill dpi="0" rotWithShape="1">
            <a:blip r:embed="rId2"/>
            <a:srcRect/>
            <a:tile tx="-177800" ty="-158750" sx="100000" sy="100000" flip="none" algn="tl"/>
          </a:blipFill>
          <a:ln>
            <a:solidFill>
              <a:schemeClr val="bg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7692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27543"/>
            <a:ext cx="5111750" cy="487759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195918"/>
            <a:ext cx="3008313" cy="390921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89107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95196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71511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28866"/>
            <a:ext cx="2057400" cy="487627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8866"/>
            <a:ext cx="6019800" cy="487627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46813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CF77FA-927F-47BE-9657-0B35BBFE60F1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06315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941B99-67D5-4E06-A73E-7A5D4651971D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43389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3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66B6F0-CF22-4087-8E46-9C9032A03274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0835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33501"/>
            <a:ext cx="4038600" cy="377163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33501"/>
            <a:ext cx="4038600" cy="377163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5B26F0-872F-447A-A6FB-6247331B5E7E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72933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11EC07-D10C-4069-AFAA-4D2DF02FDC21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80630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DC7256-13C5-4557-AD5C-68B05989E298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6447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82FABA-9D9B-4D6E-9B95-84A3F9A50936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970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27543"/>
            <a:ext cx="5111750" cy="487759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195918"/>
            <a:ext cx="3008313" cy="390921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12EF73-7560-4941-A9E9-DEBF48F39B14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65053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C50ED6-157C-4D36-9180-609C1B67D955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9908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393E45-9D44-4BA8-AA79-B5EACAECC418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25548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28866"/>
            <a:ext cx="2057400" cy="487627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8866"/>
            <a:ext cx="6019800" cy="487627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F01A01-4D5A-4518-87B4-FE35402B52A0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35484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271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8895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3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28153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33501"/>
            <a:ext cx="4038600" cy="377163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33501"/>
            <a:ext cx="4038600" cy="377163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1199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8610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675832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671610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27543"/>
            <a:ext cx="5111750" cy="487759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195918"/>
            <a:ext cx="3008313" cy="390921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99302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02931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706218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28866"/>
            <a:ext cx="2057400" cy="487627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8866"/>
            <a:ext cx="6019800" cy="487627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406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2014/1/20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960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865"/>
            <a:ext cx="8229600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33501"/>
            <a:ext cx="8229600" cy="3771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单击此处编辑母版文本样式</a:t>
            </a:r>
          </a:p>
          <a:p>
            <a:pPr lvl="1"/>
            <a:r>
              <a:rPr lang="zh-CN" altLang="zh-CN" smtClean="0"/>
              <a:t>第二级</a:t>
            </a:r>
          </a:p>
          <a:p>
            <a:pPr lvl="2"/>
            <a:r>
              <a:rPr lang="zh-CN" altLang="zh-CN" smtClean="0"/>
              <a:t>第三级</a:t>
            </a:r>
          </a:p>
          <a:p>
            <a:pPr lvl="3"/>
            <a:r>
              <a:rPr lang="zh-CN" altLang="zh-CN" smtClean="0"/>
              <a:t>第四级</a:t>
            </a:r>
          </a:p>
          <a:p>
            <a:pPr lvl="4"/>
            <a:r>
              <a:rPr lang="zh-CN" altLang="zh-CN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5204354"/>
            <a:ext cx="2133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50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5204354"/>
            <a:ext cx="2895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50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5204354"/>
            <a:ext cx="2133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5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fld id="{0454DAA0-6D13-49F9-BE14-162B94357E04}" type="slidenum">
              <a:rPr lang="zh-CN" altLang="en-U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92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0344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145984" y="3343554"/>
            <a:ext cx="6876753" cy="1205508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0" cy="55399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68992">
                <a:defRPr/>
              </a:pPr>
              <a:r>
                <a:rPr lang="en-US" altLang="zh-CN" sz="1050" kern="0" dirty="0">
                  <a:solidFill>
                    <a:prstClr val="black"/>
                  </a:solidFill>
                </a:rPr>
                <a:t/>
              </a:r>
              <a:br>
                <a:rPr lang="en-US" altLang="zh-CN" sz="1050" kern="0" dirty="0">
                  <a:solidFill>
                    <a:prstClr val="black"/>
                  </a:solidFill>
                </a:rPr>
              </a:br>
              <a:endParaRPr lang="en-US" altLang="zh-CN" sz="1050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51435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13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1435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88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1" y="3613174"/>
              <a:ext cx="594123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1435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225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500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69" y="3441723"/>
              <a:ext cx="3554819" cy="936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1435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80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80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375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80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80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80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80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51435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endParaRPr lang="zh-CN" altLang="en-US" sz="59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1435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88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1435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88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1435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88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6"/>
              <a:ext cx="1596629" cy="446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1435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575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1435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88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1435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88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1435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88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9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1435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575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1435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13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1435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13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2"/>
              <a:ext cx="3131627" cy="3539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1435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125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2168642" y="967290"/>
            <a:ext cx="4806719" cy="2205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70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70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70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2250"/>
              </a:spcBef>
            </a:pPr>
            <a:r>
              <a:rPr lang="zh-CN" altLang="en-US" sz="33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33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005</a:t>
            </a:r>
            <a:r>
              <a:rPr lang="zh-CN" altLang="en-US" sz="33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3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2250"/>
              </a:spcBef>
            </a:pPr>
            <a:r>
              <a:rPr lang="zh-CN" altLang="en-US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1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2312501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493" y="3577580"/>
            <a:ext cx="9144000" cy="1672178"/>
          </a:xfrm>
          <a:prstGeom prst="rect">
            <a:avLst/>
          </a:prstGeom>
          <a:gradFill>
            <a:gsLst>
              <a:gs pos="4000">
                <a:schemeClr val="tx1">
                  <a:lumMod val="75000"/>
                  <a:lumOff val="25000"/>
                </a:schemeClr>
              </a:gs>
              <a:gs pos="50000">
                <a:schemeClr val="tx1">
                  <a:lumMod val="85000"/>
                  <a:lumOff val="15000"/>
                </a:schemeClr>
              </a:gs>
              <a:gs pos="97000">
                <a:schemeClr val="tx1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-5595" y="3305542"/>
            <a:ext cx="9144000" cy="281844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753433"/>
            <a:ext cx="2027414" cy="2838379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367661" y="889192"/>
            <a:ext cx="5604418" cy="18312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(P)" pitchFamily="34" charset="-122"/>
                <a:ea typeface="华康俪金黑W8(P)" pitchFamily="34" charset="-122"/>
              </a:rPr>
              <a:t>那些</a:t>
            </a:r>
            <a:r>
              <a:rPr lang="zh-CN" alt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(P)" pitchFamily="34" charset="-122"/>
                <a:ea typeface="华康俪金黑W8(P)" pitchFamily="34" charset="-122"/>
              </a:rPr>
              <a:t>让我们栽倒</a:t>
            </a:r>
            <a:r>
              <a:rPr lang="zh-CN" altLang="en-US" sz="4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(P)" pitchFamily="34" charset="-122"/>
                <a:ea typeface="华康俪金黑W8(P)" pitchFamily="34" charset="-122"/>
              </a:rPr>
              <a:t>的</a:t>
            </a:r>
            <a:endParaRPr lang="en-US" altLang="zh-CN" sz="4400" dirty="0" smtClean="0">
              <a:solidFill>
                <a:schemeClr val="tx1">
                  <a:lumMod val="75000"/>
                  <a:lumOff val="25000"/>
                </a:schemeClr>
              </a:solidFill>
              <a:latin typeface="华康俪金黑W8(P)" pitchFamily="34" charset="-122"/>
              <a:ea typeface="华康俪金黑W8(P)" pitchFamily="34" charset="-122"/>
            </a:endParaRPr>
          </a:p>
          <a:p>
            <a:pPr algn="ctr"/>
            <a:r>
              <a:rPr lang="zh-CN" altLang="en-US" sz="6900" b="1" dirty="0"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方正咆哮简体" pitchFamily="2" charset="-122"/>
                <a:ea typeface="方正咆哮简体" pitchFamily="2" charset="-122"/>
              </a:rPr>
              <a:t> </a:t>
            </a:r>
            <a:r>
              <a:rPr lang="zh-CN" altLang="en-US" sz="6900" b="1" dirty="0" smtClean="0"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方正咆哮简体" pitchFamily="2" charset="-122"/>
                <a:ea typeface="方正咆哮简体" pitchFamily="2" charset="-122"/>
              </a:rPr>
              <a:t>     心理陷阱 </a:t>
            </a:r>
            <a:endParaRPr lang="zh-CN" altLang="en-US" sz="6900" b="1" dirty="0"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方正咆哮简体" pitchFamily="2" charset="-122"/>
              <a:ea typeface="方正咆哮简体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79712" y="3842090"/>
            <a:ext cx="6528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 smtClean="0">
                <a:solidFill>
                  <a:srgbClr val="FFC000"/>
                </a:solidFill>
                <a:latin typeface="华康俪金黑W8(P)" pitchFamily="34" charset="-122"/>
                <a:ea typeface="华康俪金黑W8(P)" pitchFamily="34" charset="-122"/>
              </a:rPr>
              <a:t>《</a:t>
            </a:r>
            <a:r>
              <a:rPr lang="zh-CN" altLang="en-US" dirty="0" smtClean="0">
                <a:solidFill>
                  <a:srgbClr val="FFC000"/>
                </a:solidFill>
                <a:latin typeface="华康俪金黑W8(P)" pitchFamily="34" charset="-122"/>
                <a:ea typeface="华康俪金黑W8(P)" pitchFamily="34" charset="-122"/>
              </a:rPr>
              <a:t>世界如此险恶，你要内心强大</a:t>
            </a:r>
            <a:r>
              <a:rPr lang="en-US" altLang="zh-CN" dirty="0" smtClean="0">
                <a:solidFill>
                  <a:srgbClr val="FFC000"/>
                </a:solidFill>
                <a:latin typeface="华康俪金黑W8(P)" pitchFamily="34" charset="-122"/>
                <a:ea typeface="华康俪金黑W8(P)" pitchFamily="34" charset="-122"/>
              </a:rPr>
              <a:t>2——</a:t>
            </a:r>
            <a:r>
              <a:rPr lang="zh-CN" altLang="en-US" dirty="0" smtClean="0">
                <a:solidFill>
                  <a:srgbClr val="FFC000"/>
                </a:solidFill>
                <a:latin typeface="华康俪金黑W8(P)" pitchFamily="34" charset="-122"/>
                <a:ea typeface="华康俪金黑W8(P)" pitchFamily="34" charset="-122"/>
              </a:rPr>
              <a:t>方法</a:t>
            </a:r>
            <a:r>
              <a:rPr lang="en-US" altLang="zh-CN" dirty="0">
                <a:solidFill>
                  <a:srgbClr val="FFC000"/>
                </a:solidFill>
                <a:latin typeface="华康俪金黑W8(P)" pitchFamily="34" charset="-122"/>
                <a:ea typeface="华康俪金黑W8(P)" pitchFamily="34" charset="-122"/>
              </a:rPr>
              <a:t>·</a:t>
            </a:r>
            <a:r>
              <a:rPr lang="zh-CN" altLang="en-US" dirty="0" smtClean="0">
                <a:solidFill>
                  <a:srgbClr val="FFC000"/>
                </a:solidFill>
                <a:latin typeface="华康俪金黑W8(P)" pitchFamily="34" charset="-122"/>
                <a:ea typeface="华康俪金黑W8(P)" pitchFamily="34" charset="-122"/>
              </a:rPr>
              <a:t>实战篇</a:t>
            </a:r>
            <a:r>
              <a:rPr lang="en-US" altLang="zh-CN" dirty="0" smtClean="0">
                <a:solidFill>
                  <a:srgbClr val="FFC000"/>
                </a:solidFill>
                <a:latin typeface="华康俪金黑W8(P)" pitchFamily="34" charset="-122"/>
                <a:ea typeface="华康俪金黑W8(P)" pitchFamily="34" charset="-122"/>
              </a:rPr>
              <a:t>》</a:t>
            </a:r>
            <a:r>
              <a:rPr lang="zh-CN" altLang="en-US" dirty="0" smtClean="0">
                <a:solidFill>
                  <a:srgbClr val="FFC000"/>
                </a:solidFill>
                <a:latin typeface="华康俪金黑W8(P)" pitchFamily="34" charset="-122"/>
                <a:ea typeface="华康俪金黑W8(P)" pitchFamily="34" charset="-122"/>
              </a:rPr>
              <a:t>读书笔记</a:t>
            </a:r>
            <a:endParaRPr lang="en-US" altLang="zh-CN" dirty="0" smtClean="0">
              <a:solidFill>
                <a:srgbClr val="FFC000"/>
              </a:solidFill>
              <a:latin typeface="华康俪金黑W8(P)" pitchFamily="34" charset="-122"/>
              <a:ea typeface="华康俪金黑W8(P)" pitchFamily="34" charset="-122"/>
            </a:endParaRPr>
          </a:p>
          <a:p>
            <a:pPr algn="r"/>
            <a:endParaRPr lang="en-US" altLang="zh-CN" dirty="0">
              <a:solidFill>
                <a:srgbClr val="FFC000"/>
              </a:solidFill>
              <a:latin typeface="华康俪金黑W8(P)" pitchFamily="34" charset="-122"/>
              <a:ea typeface="华康俪金黑W8(P)" pitchFamily="34" charset="-122"/>
            </a:endParaRPr>
          </a:p>
          <a:p>
            <a:pPr algn="r"/>
            <a:r>
              <a:rPr lang="en-US" altLang="zh-CN" dirty="0" smtClean="0">
                <a:solidFill>
                  <a:srgbClr val="FFC000"/>
                </a:solidFill>
                <a:latin typeface="华康俪金黑W8(P)" pitchFamily="34" charset="-122"/>
                <a:ea typeface="华康俪金黑W8(P)" pitchFamily="34" charset="-122"/>
              </a:rPr>
              <a:t>@</a:t>
            </a:r>
            <a:r>
              <a:rPr lang="zh-CN" altLang="en-US" dirty="0" smtClean="0">
                <a:solidFill>
                  <a:srgbClr val="FFC000"/>
                </a:solidFill>
                <a:latin typeface="华康俪金黑W8(P)" pitchFamily="34" charset="-122"/>
                <a:ea typeface="华康俪金黑W8(P)" pitchFamily="34" charset="-122"/>
              </a:rPr>
              <a:t>凯西</a:t>
            </a:r>
            <a:r>
              <a:rPr lang="en-US" altLang="zh-CN" dirty="0" smtClean="0">
                <a:solidFill>
                  <a:srgbClr val="FFC000"/>
                </a:solidFill>
                <a:latin typeface="华康俪金黑W8(P)" pitchFamily="34" charset="-122"/>
                <a:ea typeface="华康俪金黑W8(P)" pitchFamily="34" charset="-122"/>
              </a:rPr>
              <a:t>_</a:t>
            </a:r>
            <a:r>
              <a:rPr lang="zh-CN" altLang="en-US" dirty="0" smtClean="0">
                <a:solidFill>
                  <a:srgbClr val="FFC000"/>
                </a:solidFill>
                <a:latin typeface="华康俪金黑W8(P)" pitchFamily="34" charset="-122"/>
                <a:ea typeface="华康俪金黑W8(P)" pitchFamily="34" charset="-122"/>
              </a:rPr>
              <a:t>乔</a:t>
            </a:r>
            <a:endParaRPr lang="zh-CN" altLang="en-US" dirty="0">
              <a:solidFill>
                <a:srgbClr val="FFC000"/>
              </a:solidFill>
              <a:latin typeface="华康俪金黑W8(P)" pitchFamily="34" charset="-122"/>
              <a:ea typeface="华康俪金黑W8(P)" pitchFamily="34" charset="-122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1"/>
            <a:ext cx="720079" cy="407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953891" y="0"/>
            <a:ext cx="22712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时间卡片读书计划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6948263" y="351314"/>
            <a:ext cx="2190142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6948263" y="352104"/>
            <a:ext cx="2190142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948263" y="384766"/>
            <a:ext cx="2190142" cy="0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283" y="319537"/>
            <a:ext cx="1584325" cy="1268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2770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93" y="5210944"/>
            <a:ext cx="9144000" cy="504056"/>
          </a:xfrm>
          <a:prstGeom prst="rect">
            <a:avLst/>
          </a:prstGeom>
          <a:gradFill>
            <a:gsLst>
              <a:gs pos="4000">
                <a:schemeClr val="tx1">
                  <a:lumMod val="75000"/>
                  <a:lumOff val="25000"/>
                </a:schemeClr>
              </a:gs>
              <a:gs pos="50000">
                <a:schemeClr val="tx1">
                  <a:lumMod val="85000"/>
                  <a:lumOff val="15000"/>
                </a:schemeClr>
              </a:gs>
              <a:gs pos="97000">
                <a:schemeClr val="tx1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493" y="5135584"/>
            <a:ext cx="9144000" cy="84958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1115616" y="625252"/>
            <a:ext cx="4824536" cy="33452"/>
            <a:chOff x="611560" y="337220"/>
            <a:chExt cx="4824536" cy="33452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11560" y="337220"/>
              <a:ext cx="4824536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611560" y="338010"/>
              <a:ext cx="4824536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611560" y="370672"/>
              <a:ext cx="4824536" cy="0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/>
          <p:cNvSpPr txBox="1"/>
          <p:nvPr/>
        </p:nvSpPr>
        <p:spPr>
          <a:xfrm>
            <a:off x="161509" y="553244"/>
            <a:ext cx="954107" cy="187220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5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华康俪金黑W8(P)" pitchFamily="34" charset="-122"/>
                <a:ea typeface="华康俪金黑W8(P)" pitchFamily="34" charset="-122"/>
              </a:rPr>
              <a:t>目录</a:t>
            </a:r>
            <a:endParaRPr lang="zh-CN" altLang="en-US" sz="5000" dirty="0">
              <a:solidFill>
                <a:schemeClr val="tx1">
                  <a:lumMod val="75000"/>
                  <a:lumOff val="25000"/>
                </a:schemeClr>
              </a:solidFill>
              <a:latin typeface="华康俪金黑W8(P)" pitchFamily="34" charset="-122"/>
              <a:ea typeface="华康俪金黑W8(P)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629713" y="2076005"/>
            <a:ext cx="28497" cy="2203704"/>
            <a:chOff x="1691679" y="974153"/>
            <a:chExt cx="28497" cy="2203704"/>
          </a:xfrm>
        </p:grpSpPr>
        <p:cxnSp>
          <p:nvCxnSpPr>
            <p:cNvPr id="12" name="直接连接符 11"/>
            <p:cNvCxnSpPr/>
            <p:nvPr/>
          </p:nvCxnSpPr>
          <p:spPr>
            <a:xfrm rot="16200000">
              <a:off x="617245" y="2076005"/>
              <a:ext cx="2203704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rot="16200000">
              <a:off x="618324" y="2076005"/>
              <a:ext cx="2203704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6200000">
              <a:off x="589827" y="2076005"/>
              <a:ext cx="2203704" cy="0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1132505" y="1409366"/>
            <a:ext cx="5400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陷阱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无法洞察自己正在犯下愚蠢的错误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陷阱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即使知道自己正在犯错也不阻止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陷阱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忽视别人内心的语言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陷阱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在心理上自我下套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陷阱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无法澄清自己的言行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679504" y="5324472"/>
            <a:ext cx="446449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世界如此险恶，你要内心强大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2——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方法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·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实战篇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</a:p>
        </p:txBody>
      </p:sp>
      <p:pic>
        <p:nvPicPr>
          <p:cNvPr id="1026" name="Picture 2" descr="http://pic.pimg.tw/mygod0328/a20ba032366c9423da20412004da4c2c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533105" y="1498254"/>
            <a:ext cx="2322751" cy="2773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280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5859518" y="842356"/>
            <a:ext cx="3032962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5859518" y="878369"/>
            <a:ext cx="3032962" cy="0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61509" y="499187"/>
            <a:ext cx="954107" cy="187220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5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陷阱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629713" y="2021948"/>
            <a:ext cx="28497" cy="2203704"/>
            <a:chOff x="1691679" y="974153"/>
            <a:chExt cx="28497" cy="2203704"/>
          </a:xfrm>
        </p:grpSpPr>
        <p:cxnSp>
          <p:nvCxnSpPr>
            <p:cNvPr id="12" name="直接连接符 11"/>
            <p:cNvCxnSpPr/>
            <p:nvPr/>
          </p:nvCxnSpPr>
          <p:spPr>
            <a:xfrm rot="16200000">
              <a:off x="617245" y="2076005"/>
              <a:ext cx="2203704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rot="16200000">
              <a:off x="618324" y="2076005"/>
              <a:ext cx="2203704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6200000">
              <a:off x="589827" y="2076005"/>
              <a:ext cx="2203704" cy="0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691680" y="633911"/>
            <a:ext cx="4104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无法洞察自己正在犯下愚蠢的错误</a:t>
            </a:r>
            <a:endParaRPr lang="zh-CN" altLang="en-US" sz="2000" dirty="0"/>
          </a:p>
        </p:txBody>
      </p:sp>
      <p:sp>
        <p:nvSpPr>
          <p:cNvPr id="26" name="TextBox 25"/>
          <p:cNvSpPr txBox="1"/>
          <p:nvPr/>
        </p:nvSpPr>
        <p:spPr>
          <a:xfrm>
            <a:off x="1061400" y="315682"/>
            <a:ext cx="8640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endParaRPr lang="zh-CN" altLang="en-US" sz="6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26" name="Picture 2" descr="http://www.flaticon.com/png/64/1221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547369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36"/>
          <p:cNvSpPr txBox="1"/>
          <p:nvPr/>
        </p:nvSpPr>
        <p:spPr>
          <a:xfrm>
            <a:off x="1818459" y="170537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恐惧 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（犯错误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后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害怕面对批评）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下箭头 37"/>
          <p:cNvSpPr/>
          <p:nvPr/>
        </p:nvSpPr>
        <p:spPr>
          <a:xfrm>
            <a:off x="1301786" y="2276689"/>
            <a:ext cx="237259" cy="259488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3493" y="5210944"/>
            <a:ext cx="9144000" cy="504056"/>
          </a:xfrm>
          <a:prstGeom prst="rect">
            <a:avLst/>
          </a:prstGeom>
          <a:gradFill>
            <a:gsLst>
              <a:gs pos="4000">
                <a:schemeClr val="tx1">
                  <a:lumMod val="75000"/>
                  <a:lumOff val="25000"/>
                </a:schemeClr>
              </a:gs>
              <a:gs pos="50000">
                <a:schemeClr val="tx1">
                  <a:lumMod val="85000"/>
                  <a:lumOff val="15000"/>
                </a:schemeClr>
              </a:gs>
              <a:gs pos="97000">
                <a:schemeClr val="tx1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3493" y="5135584"/>
            <a:ext cx="9144000" cy="84958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4679504" y="5324472"/>
            <a:ext cx="446449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世界如此险恶，你要内心强大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2——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方法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·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实战篇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</a:p>
        </p:txBody>
      </p:sp>
      <p:pic>
        <p:nvPicPr>
          <p:cNvPr id="1028" name="Picture 4" descr="http://www.flaticon.com/png/64/266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668796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extBox 43"/>
          <p:cNvSpPr txBox="1"/>
          <p:nvPr/>
        </p:nvSpPr>
        <p:spPr>
          <a:xfrm>
            <a:off x="1835696" y="2788930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心理保护 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（拒绝接受批评）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" name="下箭头 44"/>
          <p:cNvSpPr/>
          <p:nvPr/>
        </p:nvSpPr>
        <p:spPr>
          <a:xfrm>
            <a:off x="1301786" y="3354380"/>
            <a:ext cx="237259" cy="259488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1835696" y="3812065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借口托辞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（成为恐惧的傀儡）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30" name="Picture 6" descr="http://www.flaticon.com/png/64/1844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1923" y="3691931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/>
          <p:cNvSpPr txBox="1"/>
          <p:nvPr/>
        </p:nvSpPr>
        <p:spPr>
          <a:xfrm>
            <a:off x="5675434" y="2478282"/>
            <a:ext cx="297770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积极面对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承认错误，寻找原因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微软雅黑" pitchFamily="34" charset="-122"/>
              </a:rPr>
              <a:t>TIPS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微软雅黑" pitchFamily="34" charset="-122"/>
              </a:rPr>
              <a:t>：</a:t>
            </a:r>
            <a:endParaRPr lang="en-US" altLang="zh-CN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微软雅黑" pitchFamily="3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越早认识到错误，损失越小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！</a:t>
            </a:r>
          </a:p>
        </p:txBody>
      </p:sp>
      <p:sp>
        <p:nvSpPr>
          <p:cNvPr id="51" name="矩形 50"/>
          <p:cNvSpPr/>
          <p:nvPr/>
        </p:nvSpPr>
        <p:spPr>
          <a:xfrm>
            <a:off x="5436096" y="2205473"/>
            <a:ext cx="3456384" cy="202017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7859891" y="1940809"/>
            <a:ext cx="918000" cy="46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zh-CN" altLang="en-US" sz="3400" dirty="0">
                <a:solidFill>
                  <a:srgbClr val="FFC000"/>
                </a:solidFill>
                <a:latin typeface="华康俪金黑W8(P)" pitchFamily="34" charset="-122"/>
                <a:ea typeface="华康俪金黑W8(P)" pitchFamily="34" charset="-122"/>
              </a:rPr>
              <a:t>强大</a:t>
            </a:r>
          </a:p>
        </p:txBody>
      </p:sp>
    </p:spTree>
    <p:extLst>
      <p:ext uri="{BB962C8B-B14F-4D97-AF65-F5344CB8AC3E}">
        <p14:creationId xmlns:p14="http://schemas.microsoft.com/office/powerpoint/2010/main" val="269580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5859518" y="842356"/>
            <a:ext cx="3032962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5859518" y="878369"/>
            <a:ext cx="3032962" cy="0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61509" y="499187"/>
            <a:ext cx="954107" cy="187220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5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陷阱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629713" y="2021948"/>
            <a:ext cx="28497" cy="2203704"/>
            <a:chOff x="1691679" y="974153"/>
            <a:chExt cx="28497" cy="2203704"/>
          </a:xfrm>
        </p:grpSpPr>
        <p:cxnSp>
          <p:nvCxnSpPr>
            <p:cNvPr id="12" name="直接连接符 11"/>
            <p:cNvCxnSpPr/>
            <p:nvPr/>
          </p:nvCxnSpPr>
          <p:spPr>
            <a:xfrm rot="16200000">
              <a:off x="617245" y="2076005"/>
              <a:ext cx="2203704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rot="16200000">
              <a:off x="618324" y="2076005"/>
              <a:ext cx="2203704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6200000">
              <a:off x="589827" y="2076005"/>
              <a:ext cx="2203704" cy="0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691680" y="633911"/>
            <a:ext cx="4104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无法洞察自己正在犯下愚蠢的错误</a:t>
            </a:r>
            <a:endParaRPr lang="zh-CN" altLang="en-US" sz="2000" dirty="0"/>
          </a:p>
        </p:txBody>
      </p:sp>
      <p:sp>
        <p:nvSpPr>
          <p:cNvPr id="26" name="TextBox 25"/>
          <p:cNvSpPr txBox="1"/>
          <p:nvPr/>
        </p:nvSpPr>
        <p:spPr>
          <a:xfrm>
            <a:off x="1061400" y="315682"/>
            <a:ext cx="8640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endParaRPr lang="zh-CN" altLang="en-US" sz="6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493" y="5210944"/>
            <a:ext cx="9144000" cy="504056"/>
          </a:xfrm>
          <a:prstGeom prst="rect">
            <a:avLst/>
          </a:prstGeom>
          <a:gradFill>
            <a:gsLst>
              <a:gs pos="4000">
                <a:schemeClr val="tx1">
                  <a:lumMod val="75000"/>
                  <a:lumOff val="25000"/>
                </a:schemeClr>
              </a:gs>
              <a:gs pos="50000">
                <a:schemeClr val="tx1">
                  <a:lumMod val="85000"/>
                  <a:lumOff val="15000"/>
                </a:schemeClr>
              </a:gs>
              <a:gs pos="97000">
                <a:schemeClr val="tx1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3493" y="5135584"/>
            <a:ext cx="9144000" cy="84958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4679504" y="5324472"/>
            <a:ext cx="446449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世界如此险恶，你要内心强大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2——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方法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·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实战篇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</a:p>
        </p:txBody>
      </p:sp>
      <p:pic>
        <p:nvPicPr>
          <p:cNvPr id="2050" name="Picture 2" descr="http://www.flaticon.com/png/64/428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985" y="1614891"/>
            <a:ext cx="674931" cy="919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4567462" y="1642370"/>
            <a:ext cx="432000" cy="2880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200" b="1" dirty="0" smtClean="0">
                <a:solidFill>
                  <a:srgbClr val="C00000"/>
                </a:solidFill>
              </a:rPr>
              <a:t>LOSE</a:t>
            </a:r>
            <a:endParaRPr lang="zh-CN" altLang="en-US" sz="1200" b="1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27862" y="2533946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带来损失的订单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763688" y="2185363"/>
            <a:ext cx="1832126" cy="607102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害怕被老板责备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甚至失去工作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052" name="Picture 4" descr="http://www.flaticon.com/png/64/176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8888" y="1880562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121150" y="1714840"/>
            <a:ext cx="116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部门经理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下箭头 31"/>
          <p:cNvSpPr/>
          <p:nvPr/>
        </p:nvSpPr>
        <p:spPr>
          <a:xfrm>
            <a:off x="2461478" y="2929020"/>
            <a:ext cx="237259" cy="259488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763688" y="3188508"/>
            <a:ext cx="20481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“客户太狡猾”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“合同拟得有问题”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“小张没盯紧”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……</a:t>
            </a:r>
          </a:p>
          <a:p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（反正不是我的错）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210932" y="2186611"/>
            <a:ext cx="1832126" cy="607102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重要的不是损失，</a:t>
            </a: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而是造成损失后的态度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58943" y="1716088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BOSS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下箭头 35"/>
          <p:cNvSpPr/>
          <p:nvPr/>
        </p:nvSpPr>
        <p:spPr>
          <a:xfrm>
            <a:off x="6908722" y="2930268"/>
            <a:ext cx="237259" cy="259488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TextBox 38"/>
          <p:cNvSpPr txBox="1"/>
          <p:nvPr/>
        </p:nvSpPr>
        <p:spPr>
          <a:xfrm>
            <a:off x="6210932" y="3189756"/>
            <a:ext cx="20481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这样的态度，他以后会不会继续犯错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……</a:t>
            </a:r>
          </a:p>
        </p:txBody>
      </p:sp>
      <p:pic>
        <p:nvPicPr>
          <p:cNvPr id="2054" name="Picture 6" descr="http://www.flaticon.com/png/64/182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136" y="1817554"/>
            <a:ext cx="682092" cy="682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下箭头 42"/>
          <p:cNvSpPr/>
          <p:nvPr/>
        </p:nvSpPr>
        <p:spPr>
          <a:xfrm rot="16200000" flipH="1">
            <a:off x="4809333" y="3408830"/>
            <a:ext cx="237259" cy="259488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下箭头 45"/>
          <p:cNvSpPr/>
          <p:nvPr/>
        </p:nvSpPr>
        <p:spPr>
          <a:xfrm>
            <a:off x="6908722" y="3848985"/>
            <a:ext cx="237259" cy="259488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6220354" y="4165056"/>
            <a:ext cx="2225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是时候换个部门经理了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0472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61509" y="499187"/>
            <a:ext cx="954107" cy="187220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5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陷阱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629713" y="2021948"/>
            <a:ext cx="28497" cy="2203704"/>
            <a:chOff x="1691679" y="974153"/>
            <a:chExt cx="28497" cy="2203704"/>
          </a:xfrm>
        </p:grpSpPr>
        <p:cxnSp>
          <p:nvCxnSpPr>
            <p:cNvPr id="12" name="直接连接符 11"/>
            <p:cNvCxnSpPr/>
            <p:nvPr/>
          </p:nvCxnSpPr>
          <p:spPr>
            <a:xfrm rot="16200000">
              <a:off x="617245" y="2076005"/>
              <a:ext cx="2203704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rot="16200000">
              <a:off x="618324" y="2076005"/>
              <a:ext cx="2203704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6200000">
              <a:off x="589827" y="2076005"/>
              <a:ext cx="2203704" cy="0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691680" y="633911"/>
            <a:ext cx="4104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即使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知道自己正在犯错也不阻止</a:t>
            </a:r>
            <a:endParaRPr lang="zh-CN" altLang="en-US" sz="2000" dirty="0"/>
          </a:p>
        </p:txBody>
      </p:sp>
      <p:sp>
        <p:nvSpPr>
          <p:cNvPr id="26" name="TextBox 25"/>
          <p:cNvSpPr txBox="1"/>
          <p:nvPr/>
        </p:nvSpPr>
        <p:spPr>
          <a:xfrm>
            <a:off x="1061400" y="299530"/>
            <a:ext cx="8640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zh-CN" altLang="en-US" sz="6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493" y="5210944"/>
            <a:ext cx="9144000" cy="504056"/>
          </a:xfrm>
          <a:prstGeom prst="rect">
            <a:avLst/>
          </a:prstGeom>
          <a:gradFill>
            <a:gsLst>
              <a:gs pos="4000">
                <a:schemeClr val="tx1">
                  <a:lumMod val="75000"/>
                  <a:lumOff val="25000"/>
                </a:schemeClr>
              </a:gs>
              <a:gs pos="50000">
                <a:schemeClr val="tx1">
                  <a:lumMod val="85000"/>
                  <a:lumOff val="15000"/>
                </a:schemeClr>
              </a:gs>
              <a:gs pos="97000">
                <a:schemeClr val="tx1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3493" y="5135584"/>
            <a:ext cx="9144000" cy="84958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4679504" y="5324472"/>
            <a:ext cx="446449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世界如此险恶，你要内心强大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2——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方法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·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实战篇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</a:p>
        </p:txBody>
      </p:sp>
      <p:grpSp>
        <p:nvGrpSpPr>
          <p:cNvPr id="21" name="组合 20"/>
          <p:cNvGrpSpPr/>
          <p:nvPr/>
        </p:nvGrpSpPr>
        <p:grpSpPr>
          <a:xfrm rot="10800000">
            <a:off x="1259633" y="2111101"/>
            <a:ext cx="2114550" cy="2114550"/>
            <a:chOff x="1473286" y="1563916"/>
            <a:chExt cx="2114550" cy="2114550"/>
          </a:xfrm>
        </p:grpSpPr>
        <p:sp>
          <p:nvSpPr>
            <p:cNvPr id="27" name="Oval 16"/>
            <p:cNvSpPr>
              <a:spLocks noChangeArrowheads="1"/>
            </p:cNvSpPr>
            <p:nvPr/>
          </p:nvSpPr>
          <p:spPr bwMode="gray">
            <a:xfrm>
              <a:off x="1473286" y="1563916"/>
              <a:ext cx="2114550" cy="2114550"/>
            </a:xfrm>
            <a:prstGeom prst="ellipse">
              <a:avLst/>
            </a:prstGeom>
            <a:solidFill>
              <a:srgbClr val="FFD85D"/>
            </a:solidFill>
            <a:ln w="9525" algn="ctr">
              <a:solidFill>
                <a:srgbClr val="FFFFFF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pPr algn="ctr" eaLnBrk="0" hangingPunct="0"/>
              <a:endParaRPr lang="zh-CN" altLang="zh-CN" sz="1000">
                <a:cs typeface="Arial" charset="0"/>
              </a:endParaRPr>
            </a:p>
          </p:txBody>
        </p:sp>
        <p:sp>
          <p:nvSpPr>
            <p:cNvPr id="28" name="Oval 17"/>
            <p:cNvSpPr>
              <a:spLocks noChangeArrowheads="1"/>
            </p:cNvSpPr>
            <p:nvPr/>
          </p:nvSpPr>
          <p:spPr bwMode="gray">
            <a:xfrm>
              <a:off x="1707919" y="2034323"/>
              <a:ext cx="1645285" cy="1644143"/>
            </a:xfrm>
            <a:prstGeom prst="ellipse">
              <a:avLst/>
            </a:prstGeom>
            <a:solidFill>
              <a:srgbClr val="FFC000"/>
            </a:solidFill>
            <a:ln w="9525" algn="ctr">
              <a:solidFill>
                <a:srgbClr val="FFFFFF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pPr algn="ctr" eaLnBrk="0" hangingPunct="0"/>
              <a:endParaRPr lang="zh-CN" altLang="zh-CN" sz="1000">
                <a:cs typeface="Arial" charset="0"/>
              </a:endParaRPr>
            </a:p>
          </p:txBody>
        </p:sp>
        <p:sp>
          <p:nvSpPr>
            <p:cNvPr id="29" name="Oval 18"/>
            <p:cNvSpPr>
              <a:spLocks noChangeArrowheads="1"/>
            </p:cNvSpPr>
            <p:nvPr/>
          </p:nvSpPr>
          <p:spPr bwMode="gray">
            <a:xfrm>
              <a:off x="1942552" y="2502447"/>
              <a:ext cx="1176019" cy="1176019"/>
            </a:xfrm>
            <a:prstGeom prst="ellipse">
              <a:avLst/>
            </a:prstGeom>
            <a:solidFill>
              <a:srgbClr val="A88000"/>
            </a:solidFill>
            <a:ln w="9525" algn="ctr">
              <a:solidFill>
                <a:srgbClr val="FFFFFF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pPr algn="ctr" eaLnBrk="0" hangingPunct="0"/>
              <a:endParaRPr lang="zh-CN" altLang="zh-CN" sz="1000">
                <a:cs typeface="Arial" charset="0"/>
              </a:endParaRPr>
            </a:p>
          </p:txBody>
        </p:sp>
      </p:grpSp>
      <p:cxnSp>
        <p:nvCxnSpPr>
          <p:cNvPr id="31" name="直接连接符 30"/>
          <p:cNvCxnSpPr/>
          <p:nvPr/>
        </p:nvCxnSpPr>
        <p:spPr>
          <a:xfrm>
            <a:off x="2316907" y="2699111"/>
            <a:ext cx="2473488" cy="0"/>
          </a:xfrm>
          <a:prstGeom prst="line">
            <a:avLst/>
          </a:prstGeom>
          <a:ln w="28575">
            <a:solidFill>
              <a:srgbClr val="A88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653290" y="2274361"/>
            <a:ext cx="12001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犯了个错误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4" name="直接连接符 33"/>
          <p:cNvCxnSpPr/>
          <p:nvPr/>
        </p:nvCxnSpPr>
        <p:spPr>
          <a:xfrm>
            <a:off x="2331720" y="3476693"/>
            <a:ext cx="2473488" cy="0"/>
          </a:xfrm>
          <a:prstGeom prst="line">
            <a:avLst/>
          </a:prstGeom>
          <a:ln w="28575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490616" y="2875988"/>
            <a:ext cx="15255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用一个新错误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来掩盖老错误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2316907" y="4124765"/>
            <a:ext cx="2473488" cy="0"/>
          </a:xfrm>
          <a:prstGeom prst="line">
            <a:avLst/>
          </a:prstGeom>
          <a:ln w="28575">
            <a:solidFill>
              <a:srgbClr val="FFD85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475803" y="3524060"/>
            <a:ext cx="15255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错误越包越厚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老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错误不见了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0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515" y="2090014"/>
            <a:ext cx="1584325" cy="1268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" name="TextBox 40"/>
          <p:cNvSpPr txBox="1"/>
          <p:nvPr/>
        </p:nvSpPr>
        <p:spPr>
          <a:xfrm>
            <a:off x="5675434" y="2398487"/>
            <a:ext cx="2977707" cy="1772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心理分析：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错误已经犯下，不会因为新的错误而有任何改变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微软雅黑" pitchFamily="34" charset="-122"/>
              </a:rPr>
              <a:t>TIPS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微软雅黑" pitchFamily="34" charset="-122"/>
              </a:rPr>
              <a:t>：</a:t>
            </a:r>
            <a:endParaRPr lang="en-US" altLang="zh-CN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微软雅黑" pitchFamily="3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抓住源头，纠正第一个错误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！</a:t>
            </a:r>
          </a:p>
        </p:txBody>
      </p:sp>
      <p:sp>
        <p:nvSpPr>
          <p:cNvPr id="42" name="矩形 41"/>
          <p:cNvSpPr/>
          <p:nvPr/>
        </p:nvSpPr>
        <p:spPr>
          <a:xfrm>
            <a:off x="5436096" y="2186060"/>
            <a:ext cx="3456384" cy="202017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7859891" y="1921396"/>
            <a:ext cx="918000" cy="46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zh-CN" altLang="en-US" sz="3400" dirty="0">
                <a:solidFill>
                  <a:srgbClr val="FFC000"/>
                </a:solidFill>
                <a:latin typeface="华康俪金黑W8(P)" pitchFamily="34" charset="-122"/>
                <a:ea typeface="华康俪金黑W8(P)" pitchFamily="34" charset="-122"/>
              </a:rPr>
              <a:t>强大</a:t>
            </a:r>
          </a:p>
        </p:txBody>
      </p:sp>
      <p:cxnSp>
        <p:nvCxnSpPr>
          <p:cNvPr id="44" name="直接连接符 43"/>
          <p:cNvCxnSpPr/>
          <p:nvPr/>
        </p:nvCxnSpPr>
        <p:spPr>
          <a:xfrm>
            <a:off x="5508104" y="842356"/>
            <a:ext cx="3384376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5508104" y="878369"/>
            <a:ext cx="3384376" cy="0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12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61509" y="499187"/>
            <a:ext cx="954107" cy="187220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5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陷阱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629713" y="2021948"/>
            <a:ext cx="28497" cy="2203704"/>
            <a:chOff x="1691679" y="974153"/>
            <a:chExt cx="28497" cy="2203704"/>
          </a:xfrm>
        </p:grpSpPr>
        <p:cxnSp>
          <p:nvCxnSpPr>
            <p:cNvPr id="12" name="直接连接符 11"/>
            <p:cNvCxnSpPr/>
            <p:nvPr/>
          </p:nvCxnSpPr>
          <p:spPr>
            <a:xfrm rot="16200000">
              <a:off x="617245" y="2076005"/>
              <a:ext cx="2203704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rot="16200000">
              <a:off x="618324" y="2076005"/>
              <a:ext cx="2203704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6200000">
              <a:off x="589827" y="2076005"/>
              <a:ext cx="2203704" cy="0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691680" y="633911"/>
            <a:ext cx="4104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即使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知道自己正在犯错也不阻止</a:t>
            </a:r>
            <a:endParaRPr lang="zh-CN" altLang="en-US" sz="2000" dirty="0"/>
          </a:p>
        </p:txBody>
      </p:sp>
      <p:sp>
        <p:nvSpPr>
          <p:cNvPr id="26" name="TextBox 25"/>
          <p:cNvSpPr txBox="1"/>
          <p:nvPr/>
        </p:nvSpPr>
        <p:spPr>
          <a:xfrm>
            <a:off x="1061400" y="299530"/>
            <a:ext cx="8640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zh-CN" altLang="en-US" sz="6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493" y="5210944"/>
            <a:ext cx="9144000" cy="504056"/>
          </a:xfrm>
          <a:prstGeom prst="rect">
            <a:avLst/>
          </a:prstGeom>
          <a:gradFill>
            <a:gsLst>
              <a:gs pos="4000">
                <a:schemeClr val="tx1">
                  <a:lumMod val="75000"/>
                  <a:lumOff val="25000"/>
                </a:schemeClr>
              </a:gs>
              <a:gs pos="50000">
                <a:schemeClr val="tx1">
                  <a:lumMod val="85000"/>
                  <a:lumOff val="15000"/>
                </a:schemeClr>
              </a:gs>
              <a:gs pos="97000">
                <a:schemeClr val="tx1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3493" y="5135584"/>
            <a:ext cx="9144000" cy="84958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4679504" y="5324472"/>
            <a:ext cx="446449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世界如此险恶，你要内心强大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2——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方法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·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实战篇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</a:p>
        </p:txBody>
      </p:sp>
      <p:cxnSp>
        <p:nvCxnSpPr>
          <p:cNvPr id="44" name="直接连接符 43"/>
          <p:cNvCxnSpPr/>
          <p:nvPr/>
        </p:nvCxnSpPr>
        <p:spPr>
          <a:xfrm>
            <a:off x="5508104" y="842356"/>
            <a:ext cx="3384376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5508104" y="878369"/>
            <a:ext cx="3384376" cy="0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/>
          <p:cNvGrpSpPr/>
          <p:nvPr/>
        </p:nvGrpSpPr>
        <p:grpSpPr>
          <a:xfrm rot="10800000">
            <a:off x="1290540" y="1417340"/>
            <a:ext cx="2114550" cy="2114550"/>
            <a:chOff x="1473286" y="1563916"/>
            <a:chExt cx="2114550" cy="2114550"/>
          </a:xfrm>
        </p:grpSpPr>
        <p:sp>
          <p:nvSpPr>
            <p:cNvPr id="28" name="Oval 16"/>
            <p:cNvSpPr>
              <a:spLocks noChangeArrowheads="1"/>
            </p:cNvSpPr>
            <p:nvPr/>
          </p:nvSpPr>
          <p:spPr bwMode="gray">
            <a:xfrm>
              <a:off x="1473286" y="1563916"/>
              <a:ext cx="2114550" cy="2114550"/>
            </a:xfrm>
            <a:prstGeom prst="ellipse">
              <a:avLst/>
            </a:prstGeom>
            <a:solidFill>
              <a:srgbClr val="FFD85D"/>
            </a:solidFill>
            <a:ln w="9525" algn="ctr">
              <a:solidFill>
                <a:srgbClr val="FFFFFF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pPr algn="ctr" eaLnBrk="0" hangingPunct="0"/>
              <a:endParaRPr lang="zh-CN" altLang="zh-CN" sz="1000">
                <a:cs typeface="Arial" charset="0"/>
              </a:endParaRPr>
            </a:p>
          </p:txBody>
        </p:sp>
        <p:sp>
          <p:nvSpPr>
            <p:cNvPr id="29" name="Oval 17"/>
            <p:cNvSpPr>
              <a:spLocks noChangeArrowheads="1"/>
            </p:cNvSpPr>
            <p:nvPr/>
          </p:nvSpPr>
          <p:spPr bwMode="gray">
            <a:xfrm>
              <a:off x="1707919" y="2034323"/>
              <a:ext cx="1645285" cy="1644143"/>
            </a:xfrm>
            <a:prstGeom prst="ellipse">
              <a:avLst/>
            </a:prstGeom>
            <a:solidFill>
              <a:srgbClr val="FFC000"/>
            </a:solidFill>
            <a:ln w="9525" algn="ctr">
              <a:solidFill>
                <a:srgbClr val="FFFFFF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pPr algn="ctr" eaLnBrk="0" hangingPunct="0"/>
              <a:endParaRPr lang="zh-CN" altLang="zh-CN" sz="1000">
                <a:cs typeface="Arial" charset="0"/>
              </a:endParaRPr>
            </a:p>
          </p:txBody>
        </p:sp>
        <p:sp>
          <p:nvSpPr>
            <p:cNvPr id="30" name="Oval 18"/>
            <p:cNvSpPr>
              <a:spLocks noChangeArrowheads="1"/>
            </p:cNvSpPr>
            <p:nvPr/>
          </p:nvSpPr>
          <p:spPr bwMode="gray">
            <a:xfrm>
              <a:off x="1942552" y="2502447"/>
              <a:ext cx="1176019" cy="1176019"/>
            </a:xfrm>
            <a:prstGeom prst="ellipse">
              <a:avLst/>
            </a:prstGeom>
            <a:solidFill>
              <a:srgbClr val="A88000"/>
            </a:solidFill>
            <a:ln w="9525" algn="ctr">
              <a:solidFill>
                <a:srgbClr val="FFFFFF"/>
              </a:solidFill>
              <a:round/>
              <a:headEnd/>
              <a:tailEnd/>
            </a:ln>
            <a:effectLst/>
            <a:extLst/>
          </p:spPr>
          <p:txBody>
            <a:bodyPr/>
            <a:lstStyle/>
            <a:p>
              <a:pPr algn="ctr" eaLnBrk="0" hangingPunct="0"/>
              <a:endParaRPr lang="zh-CN" altLang="zh-CN" sz="1000">
                <a:cs typeface="Arial" charset="0"/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5364088" y="1580600"/>
            <a:ext cx="30480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我爸妈不管我，是不是我犯了错？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364088" y="2182227"/>
            <a:ext cx="32255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偶尔一次逃学，爸妈批评我了，他们终于管我了！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347814" y="2005350"/>
            <a:ext cx="6180229" cy="0"/>
          </a:xfrm>
          <a:prstGeom prst="line">
            <a:avLst/>
          </a:prstGeom>
          <a:ln w="28575">
            <a:solidFill>
              <a:srgbClr val="A88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2363531" y="2782932"/>
            <a:ext cx="6164512" cy="0"/>
          </a:xfrm>
          <a:prstGeom prst="line">
            <a:avLst/>
          </a:prstGeom>
          <a:ln w="28575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2347814" y="3431004"/>
            <a:ext cx="6181200" cy="0"/>
          </a:xfrm>
          <a:prstGeom prst="line">
            <a:avLst/>
          </a:prstGeom>
          <a:ln w="28575">
            <a:solidFill>
              <a:srgbClr val="FFD85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364088" y="2830299"/>
            <a:ext cx="32255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我再继续逃学、不写作业、打架，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爸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妈为我着急，每天都关注我！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1" name="Picture 4" descr="http://www.flaticon.com/png/64/2747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6426" y="3567957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://www.flaticon.com/png/64/3019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731" y="1670202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50"/>
          <p:cNvSpPr txBox="1"/>
          <p:nvPr/>
        </p:nvSpPr>
        <p:spPr>
          <a:xfrm>
            <a:off x="5364088" y="3636295"/>
            <a:ext cx="32255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我是因为什么而叛逆？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不管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了，那就继续叛逆吧！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2908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61509" y="499187"/>
            <a:ext cx="954107" cy="187220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5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陷阱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629713" y="2021948"/>
            <a:ext cx="28497" cy="2203704"/>
            <a:chOff x="1691679" y="974153"/>
            <a:chExt cx="28497" cy="2203704"/>
          </a:xfrm>
        </p:grpSpPr>
        <p:cxnSp>
          <p:nvCxnSpPr>
            <p:cNvPr id="12" name="直接连接符 11"/>
            <p:cNvCxnSpPr/>
            <p:nvPr/>
          </p:nvCxnSpPr>
          <p:spPr>
            <a:xfrm rot="16200000">
              <a:off x="617245" y="2076005"/>
              <a:ext cx="2203704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rot="16200000">
              <a:off x="618324" y="2076005"/>
              <a:ext cx="2203704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6200000">
              <a:off x="589827" y="2076005"/>
              <a:ext cx="2203704" cy="0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691680" y="633911"/>
            <a:ext cx="4104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忽视别人内心的语言</a:t>
            </a:r>
            <a:endParaRPr lang="zh-CN" altLang="en-US" sz="2000" dirty="0"/>
          </a:p>
        </p:txBody>
      </p:sp>
      <p:sp>
        <p:nvSpPr>
          <p:cNvPr id="26" name="TextBox 25"/>
          <p:cNvSpPr txBox="1"/>
          <p:nvPr/>
        </p:nvSpPr>
        <p:spPr>
          <a:xfrm>
            <a:off x="1061400" y="315682"/>
            <a:ext cx="8640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lang="zh-CN" altLang="en-US" sz="6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493" y="5210944"/>
            <a:ext cx="9144000" cy="504056"/>
          </a:xfrm>
          <a:prstGeom prst="rect">
            <a:avLst/>
          </a:prstGeom>
          <a:gradFill>
            <a:gsLst>
              <a:gs pos="4000">
                <a:schemeClr val="tx1">
                  <a:lumMod val="75000"/>
                  <a:lumOff val="25000"/>
                </a:schemeClr>
              </a:gs>
              <a:gs pos="50000">
                <a:schemeClr val="tx1">
                  <a:lumMod val="85000"/>
                  <a:lumOff val="15000"/>
                </a:schemeClr>
              </a:gs>
              <a:gs pos="97000">
                <a:schemeClr val="tx1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3493" y="5135584"/>
            <a:ext cx="9144000" cy="84958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4679504" y="5324472"/>
            <a:ext cx="446449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世界如此险恶，你要内心强大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2——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方法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·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实战篇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</a:p>
        </p:txBody>
      </p:sp>
      <p:cxnSp>
        <p:nvCxnSpPr>
          <p:cNvPr id="20" name="直接连接符 19"/>
          <p:cNvCxnSpPr/>
          <p:nvPr/>
        </p:nvCxnSpPr>
        <p:spPr>
          <a:xfrm>
            <a:off x="4220518" y="842356"/>
            <a:ext cx="4671962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4220518" y="878369"/>
            <a:ext cx="4671962" cy="0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http://www.flaticon.com/png/64/1849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8168" y="1795654"/>
            <a:ext cx="448816" cy="448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://www.flaticon.com/png/64/436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2226" y="1978619"/>
            <a:ext cx="676194" cy="786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直接连接符 9"/>
          <p:cNvCxnSpPr/>
          <p:nvPr/>
        </p:nvCxnSpPr>
        <p:spPr>
          <a:xfrm flipV="1">
            <a:off x="3626452" y="1691708"/>
            <a:ext cx="1008112" cy="419245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3698460" y="2372041"/>
            <a:ext cx="1044116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云形标注 22"/>
          <p:cNvSpPr/>
          <p:nvPr/>
        </p:nvSpPr>
        <p:spPr>
          <a:xfrm>
            <a:off x="1259632" y="1361809"/>
            <a:ext cx="1296144" cy="882661"/>
          </a:xfrm>
          <a:prstGeom prst="cloudCallout">
            <a:avLst>
              <a:gd name="adj1" fmla="val 47718"/>
              <a:gd name="adj2" fmla="val 53704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怪人！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方正咆哮简体" pitchFamily="2" charset="-122"/>
              <a:ea typeface="方正咆哮简体" pitchFamily="2" charset="-122"/>
            </a:endParaRPr>
          </a:p>
        </p:txBody>
      </p:sp>
      <p:sp>
        <p:nvSpPr>
          <p:cNvPr id="28" name="下箭头 27"/>
          <p:cNvSpPr/>
          <p:nvPr/>
        </p:nvSpPr>
        <p:spPr>
          <a:xfrm>
            <a:off x="1699323" y="2609224"/>
            <a:ext cx="237259" cy="259488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1493448" y="2969264"/>
            <a:ext cx="2934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下定义：“这个人不正常”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下箭头 29"/>
          <p:cNvSpPr/>
          <p:nvPr/>
        </p:nvSpPr>
        <p:spPr>
          <a:xfrm>
            <a:off x="1699323" y="3451588"/>
            <a:ext cx="237259" cy="259488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1510700" y="3833360"/>
            <a:ext cx="2934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疏离、歧视“怪人”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675434" y="2563271"/>
            <a:ext cx="2977707" cy="142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破译对方内心语言：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如果我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是他，我会怎样？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微软雅黑" pitchFamily="34" charset="-122"/>
              </a:rPr>
              <a:t>TIPS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微软雅黑" pitchFamily="34" charset="-122"/>
              </a:rPr>
              <a:t>：</a:t>
            </a:r>
            <a:endParaRPr lang="en-US" altLang="zh-CN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微软雅黑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理解“怪”行为，针对性心理补偿！</a:t>
            </a:r>
          </a:p>
        </p:txBody>
      </p:sp>
      <p:sp>
        <p:nvSpPr>
          <p:cNvPr id="38" name="矩形 37"/>
          <p:cNvSpPr/>
          <p:nvPr/>
        </p:nvSpPr>
        <p:spPr>
          <a:xfrm>
            <a:off x="5436096" y="2191070"/>
            <a:ext cx="3456384" cy="202017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7859891" y="1926406"/>
            <a:ext cx="918000" cy="46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zh-CN" altLang="en-US" sz="3400" dirty="0">
                <a:solidFill>
                  <a:srgbClr val="FFC000"/>
                </a:solidFill>
                <a:latin typeface="华康俪金黑W8(P)" pitchFamily="34" charset="-122"/>
                <a:ea typeface="华康俪金黑W8(P)" pitchFamily="34" charset="-122"/>
              </a:rPr>
              <a:t>强大</a:t>
            </a:r>
          </a:p>
        </p:txBody>
      </p:sp>
      <p:pic>
        <p:nvPicPr>
          <p:cNvPr id="5126" name="Picture 6" descr="http://www.flaticon.com/png/64/11336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0608" y="1849388"/>
            <a:ext cx="504825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112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61509" y="499187"/>
            <a:ext cx="954107" cy="187220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5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陷阱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629713" y="2021948"/>
            <a:ext cx="28497" cy="2203704"/>
            <a:chOff x="1691679" y="974153"/>
            <a:chExt cx="28497" cy="2203704"/>
          </a:xfrm>
        </p:grpSpPr>
        <p:cxnSp>
          <p:nvCxnSpPr>
            <p:cNvPr id="12" name="直接连接符 11"/>
            <p:cNvCxnSpPr/>
            <p:nvPr/>
          </p:nvCxnSpPr>
          <p:spPr>
            <a:xfrm rot="16200000">
              <a:off x="617245" y="2076005"/>
              <a:ext cx="2203704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rot="16200000">
              <a:off x="618324" y="2076005"/>
              <a:ext cx="2203704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6200000">
              <a:off x="589827" y="2076005"/>
              <a:ext cx="2203704" cy="0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691680" y="633911"/>
            <a:ext cx="4104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忽视别人内心的语言</a:t>
            </a:r>
            <a:endParaRPr lang="zh-CN" altLang="en-US" sz="2000" dirty="0"/>
          </a:p>
        </p:txBody>
      </p:sp>
      <p:sp>
        <p:nvSpPr>
          <p:cNvPr id="26" name="TextBox 25"/>
          <p:cNvSpPr txBox="1"/>
          <p:nvPr/>
        </p:nvSpPr>
        <p:spPr>
          <a:xfrm>
            <a:off x="1061400" y="315682"/>
            <a:ext cx="8640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lang="zh-CN" altLang="en-US" sz="6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493" y="5210944"/>
            <a:ext cx="9144000" cy="504056"/>
          </a:xfrm>
          <a:prstGeom prst="rect">
            <a:avLst/>
          </a:prstGeom>
          <a:gradFill>
            <a:gsLst>
              <a:gs pos="4000">
                <a:schemeClr val="tx1">
                  <a:lumMod val="75000"/>
                  <a:lumOff val="25000"/>
                </a:schemeClr>
              </a:gs>
              <a:gs pos="50000">
                <a:schemeClr val="tx1">
                  <a:lumMod val="85000"/>
                  <a:lumOff val="15000"/>
                </a:schemeClr>
              </a:gs>
              <a:gs pos="97000">
                <a:schemeClr val="tx1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3493" y="5135584"/>
            <a:ext cx="9144000" cy="84958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4679504" y="5324472"/>
            <a:ext cx="446449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世界如此险恶，你要内心强大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2——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方法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·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实战篇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</a:p>
        </p:txBody>
      </p:sp>
      <p:cxnSp>
        <p:nvCxnSpPr>
          <p:cNvPr id="20" name="直接连接符 19"/>
          <p:cNvCxnSpPr/>
          <p:nvPr/>
        </p:nvCxnSpPr>
        <p:spPr>
          <a:xfrm>
            <a:off x="4220518" y="842356"/>
            <a:ext cx="4671962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4220518" y="878369"/>
            <a:ext cx="4671962" cy="0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ttp://www.flaticon.com/png/64/1065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544" y="158548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082467" y="1888325"/>
            <a:ext cx="29345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</a:t>
            </a:r>
            <a:r>
              <a:rPr lang="zh-CN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能力很强，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回家却会找妻子撒娇的男士</a:t>
            </a:r>
            <a:endParaRPr lang="zh-CN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8" name="Picture 4" descr="http://www.flaticon.com/png/64/3146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1633364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/>
          <p:cNvSpPr txBox="1"/>
          <p:nvPr/>
        </p:nvSpPr>
        <p:spPr>
          <a:xfrm>
            <a:off x="6201351" y="1880676"/>
            <a:ext cx="29345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以撒娇来表示自己很累，</a:t>
            </a:r>
            <a:endParaRPr lang="en-US" altLang="zh-CN" sz="15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寻求妻子的关爱</a:t>
            </a:r>
            <a:endParaRPr lang="zh-CN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30" name="Picture 6" descr="http://www.flaticon.com/png/64/1796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733" y="2570930"/>
            <a:ext cx="452406" cy="452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/>
          <p:cNvSpPr txBox="1"/>
          <p:nvPr/>
        </p:nvSpPr>
        <p:spPr>
          <a:xfrm>
            <a:off x="2082467" y="2841535"/>
            <a:ext cx="29345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成绩优异的孩子，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沉迷游戏后成绩一落千丈</a:t>
            </a:r>
            <a:endParaRPr lang="zh-CN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6" name="Picture 4" descr="http://www.flaticon.com/png/64/3146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2544384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/>
          <p:cNvSpPr txBox="1"/>
          <p:nvPr/>
        </p:nvSpPr>
        <p:spPr>
          <a:xfrm>
            <a:off x="6201351" y="2841535"/>
            <a:ext cx="29345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用游戏来逃避学习的压力，</a:t>
            </a:r>
            <a:endParaRPr lang="en-US" altLang="zh-CN" sz="15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或用叛逆吸引家长的注意力</a:t>
            </a:r>
            <a:endParaRPr lang="zh-CN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32" name="Picture 8" descr="http://www.flaticon.com/png/64/27474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544" y="3440087"/>
            <a:ext cx="531003" cy="53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/>
          <p:cNvSpPr txBox="1"/>
          <p:nvPr/>
        </p:nvSpPr>
        <p:spPr>
          <a:xfrm>
            <a:off x="2088663" y="3809519"/>
            <a:ext cx="29345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表示自己手头也很紧，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没</a:t>
            </a:r>
            <a:r>
              <a:rPr lang="zh-CN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办法借钱给你的同事</a:t>
            </a:r>
            <a:endParaRPr lang="zh-CN" altLang="en-US" sz="15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3" name="Picture 4" descr="http://www.flaticon.com/png/64/3146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2168" y="3499671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extBox 43"/>
          <p:cNvSpPr txBox="1"/>
          <p:nvPr/>
        </p:nvSpPr>
        <p:spPr>
          <a:xfrm>
            <a:off x="6221399" y="3796822"/>
            <a:ext cx="29345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他根本就不想借钱给你，</a:t>
            </a:r>
            <a:endParaRPr lang="en-US" altLang="zh-CN" sz="15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5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或许你们没有你想象的那么熟</a:t>
            </a:r>
            <a:endParaRPr lang="en-US" altLang="zh-CN" sz="15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1763688" y="3368241"/>
            <a:ext cx="71287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1763688" y="2434674"/>
            <a:ext cx="71287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1763688" y="4350820"/>
            <a:ext cx="71287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燕尾形 5"/>
          <p:cNvSpPr/>
          <p:nvPr/>
        </p:nvSpPr>
        <p:spPr>
          <a:xfrm>
            <a:off x="4860032" y="2522440"/>
            <a:ext cx="432048" cy="1271164"/>
          </a:xfrm>
          <a:prstGeom prst="chevron">
            <a:avLst>
              <a:gd name="adj" fmla="val 97310"/>
            </a:avLst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8" name="燕尾形 37"/>
          <p:cNvSpPr/>
          <p:nvPr/>
        </p:nvSpPr>
        <p:spPr>
          <a:xfrm>
            <a:off x="5004901" y="2510424"/>
            <a:ext cx="432048" cy="1271164"/>
          </a:xfrm>
          <a:prstGeom prst="chevron">
            <a:avLst>
              <a:gd name="adj" fmla="val 97310"/>
            </a:avLst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1917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61509" y="499187"/>
            <a:ext cx="954107" cy="187220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5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陷阱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629713" y="2021948"/>
            <a:ext cx="28497" cy="2203704"/>
            <a:chOff x="1691679" y="974153"/>
            <a:chExt cx="28497" cy="2203704"/>
          </a:xfrm>
        </p:grpSpPr>
        <p:cxnSp>
          <p:nvCxnSpPr>
            <p:cNvPr id="12" name="直接连接符 11"/>
            <p:cNvCxnSpPr/>
            <p:nvPr/>
          </p:nvCxnSpPr>
          <p:spPr>
            <a:xfrm rot="16200000">
              <a:off x="617245" y="2076005"/>
              <a:ext cx="2203704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rot="16200000">
              <a:off x="618324" y="2076005"/>
              <a:ext cx="2203704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6200000">
              <a:off x="589827" y="2076005"/>
              <a:ext cx="2203704" cy="0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691680" y="633911"/>
            <a:ext cx="4104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在心理上自我下套</a:t>
            </a:r>
            <a:endParaRPr lang="zh-CN" altLang="en-US" sz="2000" dirty="0"/>
          </a:p>
        </p:txBody>
      </p:sp>
      <p:sp>
        <p:nvSpPr>
          <p:cNvPr id="26" name="TextBox 25"/>
          <p:cNvSpPr txBox="1"/>
          <p:nvPr/>
        </p:nvSpPr>
        <p:spPr>
          <a:xfrm>
            <a:off x="1061400" y="315682"/>
            <a:ext cx="8640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zh-CN" altLang="en-US" sz="6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493" y="5210944"/>
            <a:ext cx="9144000" cy="504056"/>
          </a:xfrm>
          <a:prstGeom prst="rect">
            <a:avLst/>
          </a:prstGeom>
          <a:gradFill>
            <a:gsLst>
              <a:gs pos="4000">
                <a:schemeClr val="tx1">
                  <a:lumMod val="75000"/>
                  <a:lumOff val="25000"/>
                </a:schemeClr>
              </a:gs>
              <a:gs pos="50000">
                <a:schemeClr val="tx1">
                  <a:lumMod val="85000"/>
                  <a:lumOff val="15000"/>
                </a:schemeClr>
              </a:gs>
              <a:gs pos="97000">
                <a:schemeClr val="tx1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3493" y="5135584"/>
            <a:ext cx="9144000" cy="84958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4679504" y="5324472"/>
            <a:ext cx="446449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世界如此险恶，你要内心强大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2——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方法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·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实战篇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</a:p>
        </p:txBody>
      </p:sp>
      <p:cxnSp>
        <p:nvCxnSpPr>
          <p:cNvPr id="20" name="直接连接符 19"/>
          <p:cNvCxnSpPr/>
          <p:nvPr/>
        </p:nvCxnSpPr>
        <p:spPr>
          <a:xfrm>
            <a:off x="3995936" y="842356"/>
            <a:ext cx="4887918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3995936" y="878369"/>
            <a:ext cx="4896544" cy="0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http://www.flaticon.com/png/64/1110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7073" y="2382935"/>
            <a:ext cx="846509" cy="1593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矩形 26"/>
          <p:cNvSpPr/>
          <p:nvPr/>
        </p:nvSpPr>
        <p:spPr>
          <a:xfrm>
            <a:off x="1292875" y="2051439"/>
            <a:ext cx="3168352" cy="2203704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34" name="Picture 10" descr="http://www.flaticon.com/png/64/18447.png"/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675" y="1600545"/>
            <a:ext cx="734158" cy="854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矩形 28"/>
          <p:cNvSpPr/>
          <p:nvPr/>
        </p:nvSpPr>
        <p:spPr>
          <a:xfrm>
            <a:off x="5698647" y="2058215"/>
            <a:ext cx="3168352" cy="2203704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32" name="Picture 8" descr="http://www.flaticon.com/png/64/11094.png"/>
          <p:cNvPicPr>
            <a:picLocks noChangeAspect="1" noChangeArrowheads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3383" y="1751518"/>
            <a:ext cx="609600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/>
          <p:cNvSpPr txBox="1"/>
          <p:nvPr/>
        </p:nvSpPr>
        <p:spPr>
          <a:xfrm>
            <a:off x="1483520" y="2454943"/>
            <a:ext cx="2761683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“</a:t>
            </a: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哇，偶像好帅！</a:t>
            </a:r>
            <a:r>
              <a:rPr lang="en-US" altLang="zh-CN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”</a:t>
            </a:r>
          </a:p>
          <a:p>
            <a:pPr>
              <a:lnSpc>
                <a:spcPct val="140000"/>
              </a:lnSpc>
            </a:pP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“我好喜欢他呀！”</a:t>
            </a:r>
            <a:endParaRPr lang="en-US" altLang="zh-CN" b="1" dirty="0" smtClean="0">
              <a:solidFill>
                <a:schemeClr val="tx1">
                  <a:lumMod val="75000"/>
                  <a:lumOff val="25000"/>
                </a:schemeClr>
              </a:solidFill>
              <a:latin typeface="方正咆哮简体" pitchFamily="2" charset="-122"/>
              <a:ea typeface="方正咆哮简体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“人人都必须喜欢我偶像”</a:t>
            </a:r>
            <a:endParaRPr lang="en-US" altLang="zh-CN" b="1" dirty="0" smtClean="0">
              <a:solidFill>
                <a:schemeClr val="tx1">
                  <a:lumMod val="75000"/>
                  <a:lumOff val="25000"/>
                </a:schemeClr>
              </a:solidFill>
              <a:latin typeface="方正咆哮简体" pitchFamily="2" charset="-122"/>
              <a:ea typeface="方正咆哮简体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“我讨厌不喜欢他的人！”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方正咆哮简体" pitchFamily="2" charset="-122"/>
              <a:ea typeface="方正咆哮简体" pitchFamily="2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901981" y="2454943"/>
            <a:ext cx="2761683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“</a:t>
            </a: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哗众取宠的人！</a:t>
            </a:r>
            <a:r>
              <a:rPr lang="en-US" altLang="zh-CN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”</a:t>
            </a:r>
          </a:p>
          <a:p>
            <a:pPr>
              <a:lnSpc>
                <a:spcPct val="140000"/>
              </a:lnSpc>
            </a:pP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“装腔作势来骗粉丝！”</a:t>
            </a:r>
            <a:endParaRPr lang="en-US" altLang="zh-CN" b="1" dirty="0" smtClean="0">
              <a:solidFill>
                <a:schemeClr val="tx1">
                  <a:lumMod val="75000"/>
                  <a:lumOff val="25000"/>
                </a:schemeClr>
              </a:solidFill>
              <a:latin typeface="方正咆哮简体" pitchFamily="2" charset="-122"/>
              <a:ea typeface="方正咆哮简体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“怎么还有这么多人喜欢”</a:t>
            </a:r>
            <a:endParaRPr lang="en-US" altLang="zh-CN" b="1" dirty="0" smtClean="0">
              <a:solidFill>
                <a:schemeClr val="tx1">
                  <a:lumMod val="75000"/>
                  <a:lumOff val="25000"/>
                </a:schemeClr>
              </a:solidFill>
              <a:latin typeface="方正咆哮简体" pitchFamily="2" charset="-122"/>
              <a:ea typeface="方正咆哮简体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“我讨厌这个人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！</a:t>
            </a: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”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方正咆哮简体" pitchFamily="2" charset="-122"/>
              <a:ea typeface="方正咆哮简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112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61509" y="499187"/>
            <a:ext cx="954107" cy="187220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5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陷阱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629713" y="2021948"/>
            <a:ext cx="28497" cy="2203704"/>
            <a:chOff x="1691679" y="974153"/>
            <a:chExt cx="28497" cy="2203704"/>
          </a:xfrm>
        </p:grpSpPr>
        <p:cxnSp>
          <p:nvCxnSpPr>
            <p:cNvPr id="12" name="直接连接符 11"/>
            <p:cNvCxnSpPr/>
            <p:nvPr/>
          </p:nvCxnSpPr>
          <p:spPr>
            <a:xfrm rot="16200000">
              <a:off x="617245" y="2076005"/>
              <a:ext cx="2203704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rot="16200000">
              <a:off x="618324" y="2076005"/>
              <a:ext cx="2203704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6200000">
              <a:off x="589827" y="2076005"/>
              <a:ext cx="2203704" cy="0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691680" y="633911"/>
            <a:ext cx="4104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在心理上自我下套</a:t>
            </a:r>
            <a:endParaRPr lang="zh-CN" altLang="en-US" sz="2000" dirty="0"/>
          </a:p>
        </p:txBody>
      </p:sp>
      <p:sp>
        <p:nvSpPr>
          <p:cNvPr id="26" name="TextBox 25"/>
          <p:cNvSpPr txBox="1"/>
          <p:nvPr/>
        </p:nvSpPr>
        <p:spPr>
          <a:xfrm>
            <a:off x="1061400" y="315682"/>
            <a:ext cx="8640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zh-CN" altLang="en-US" sz="6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493" y="5210944"/>
            <a:ext cx="9144000" cy="504056"/>
          </a:xfrm>
          <a:prstGeom prst="rect">
            <a:avLst/>
          </a:prstGeom>
          <a:gradFill>
            <a:gsLst>
              <a:gs pos="4000">
                <a:schemeClr val="tx1">
                  <a:lumMod val="75000"/>
                  <a:lumOff val="25000"/>
                </a:schemeClr>
              </a:gs>
              <a:gs pos="50000">
                <a:schemeClr val="tx1">
                  <a:lumMod val="85000"/>
                  <a:lumOff val="15000"/>
                </a:schemeClr>
              </a:gs>
              <a:gs pos="97000">
                <a:schemeClr val="tx1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3493" y="5135584"/>
            <a:ext cx="9144000" cy="84958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4679504" y="5324472"/>
            <a:ext cx="446449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世界如此险恶，你要内心强大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2——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方法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·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实战篇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</a:p>
        </p:txBody>
      </p:sp>
      <p:cxnSp>
        <p:nvCxnSpPr>
          <p:cNvPr id="20" name="直接连接符 19"/>
          <p:cNvCxnSpPr/>
          <p:nvPr/>
        </p:nvCxnSpPr>
        <p:spPr>
          <a:xfrm>
            <a:off x="3995936" y="842356"/>
            <a:ext cx="4887918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3995936" y="878369"/>
            <a:ext cx="4896544" cy="0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4" name="Picture 10" descr="http://www.flaticon.com/png/64/18447.png"/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740" y="1708605"/>
            <a:ext cx="734158" cy="854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www.flaticon.com/png/64/11094.png"/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7448" y="1894461"/>
            <a:ext cx="609600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/>
          <p:cNvSpPr txBox="1"/>
          <p:nvPr/>
        </p:nvSpPr>
        <p:spPr>
          <a:xfrm>
            <a:off x="1583819" y="2156424"/>
            <a:ext cx="2761683" cy="443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“</a:t>
            </a: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哇，偶像好帅！</a:t>
            </a:r>
            <a:r>
              <a:rPr lang="en-US" altLang="zh-CN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”</a:t>
            </a:r>
          </a:p>
        </p:txBody>
      </p:sp>
      <p:sp>
        <p:nvSpPr>
          <p:cNvPr id="23" name="矩形 22"/>
          <p:cNvSpPr/>
          <p:nvPr/>
        </p:nvSpPr>
        <p:spPr>
          <a:xfrm rot="1167186">
            <a:off x="4493157" y="2919762"/>
            <a:ext cx="918000" cy="46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zh-CN" altLang="en-US" sz="3400" dirty="0">
                <a:solidFill>
                  <a:srgbClr val="FFC000"/>
                </a:solidFill>
                <a:latin typeface="华康俪金黑W8(P)" pitchFamily="34" charset="-122"/>
                <a:ea typeface="华康俪金黑W8(P)" pitchFamily="34" charset="-122"/>
              </a:rPr>
              <a:t>强大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67795" y="2687328"/>
            <a:ext cx="2977707" cy="997196"/>
          </a:xfrm>
          <a:prstGeom prst="rect">
            <a:avLst/>
          </a:prstGeom>
          <a:noFill/>
          <a:ln w="19050">
            <a:solidFill>
              <a:srgbClr val="A88000"/>
            </a:solidFill>
            <a:prstDash val="lgDashDot"/>
          </a:ln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心理分析：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自身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价值寄放在偶像身上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如果偶像倒下，自身价值会消失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050" name="Picture 2" descr="http://www.flaticon.com/png/64/1380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200" y="3823119"/>
            <a:ext cx="432048" cy="405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838973" y="3886282"/>
            <a:ext cx="2498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提高自己的自身价值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762099" y="2191307"/>
            <a:ext cx="2761683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“</a:t>
            </a:r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装腔作势骗粉丝！</a:t>
            </a:r>
            <a:r>
              <a:rPr lang="en-US" altLang="zh-CN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46075" y="2687328"/>
            <a:ext cx="2977707" cy="997196"/>
          </a:xfrm>
          <a:prstGeom prst="rect">
            <a:avLst/>
          </a:prstGeom>
          <a:noFill/>
          <a:ln w="19050">
            <a:solidFill>
              <a:srgbClr val="A88000"/>
            </a:solidFill>
            <a:prstDash val="lgDashDot"/>
          </a:ln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心理分析：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我们自己也被他“骗”了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我们恨的是自己的“被骗”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6" name="Picture 2" descr="http://www.flaticon.com/png/64/1380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092841" y="3795411"/>
            <a:ext cx="432048" cy="405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36"/>
          <p:cNvSpPr txBox="1"/>
          <p:nvPr/>
        </p:nvSpPr>
        <p:spPr>
          <a:xfrm>
            <a:off x="5839472" y="3851653"/>
            <a:ext cx="2498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提高自己的鉴赏能力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9311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61509" y="499187"/>
            <a:ext cx="954107" cy="187220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5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陷阱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629713" y="2021948"/>
            <a:ext cx="28497" cy="2203704"/>
            <a:chOff x="1691679" y="974153"/>
            <a:chExt cx="28497" cy="2203704"/>
          </a:xfrm>
        </p:grpSpPr>
        <p:cxnSp>
          <p:nvCxnSpPr>
            <p:cNvPr id="12" name="直接连接符 11"/>
            <p:cNvCxnSpPr/>
            <p:nvPr/>
          </p:nvCxnSpPr>
          <p:spPr>
            <a:xfrm rot="16200000">
              <a:off x="617245" y="2076005"/>
              <a:ext cx="2203704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rot="16200000">
              <a:off x="618324" y="2076005"/>
              <a:ext cx="2203704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6200000">
              <a:off x="589827" y="2076005"/>
              <a:ext cx="2203704" cy="0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691680" y="633911"/>
            <a:ext cx="4104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无法澄清自己的言行</a:t>
            </a:r>
            <a:endParaRPr lang="zh-CN" altLang="en-US" sz="2000" dirty="0"/>
          </a:p>
        </p:txBody>
      </p:sp>
      <p:sp>
        <p:nvSpPr>
          <p:cNvPr id="26" name="TextBox 25"/>
          <p:cNvSpPr txBox="1"/>
          <p:nvPr/>
        </p:nvSpPr>
        <p:spPr>
          <a:xfrm>
            <a:off x="1061400" y="315682"/>
            <a:ext cx="8640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endParaRPr lang="zh-CN" altLang="en-US" sz="6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493" y="5210944"/>
            <a:ext cx="9144000" cy="504056"/>
          </a:xfrm>
          <a:prstGeom prst="rect">
            <a:avLst/>
          </a:prstGeom>
          <a:gradFill>
            <a:gsLst>
              <a:gs pos="4000">
                <a:schemeClr val="tx1">
                  <a:lumMod val="75000"/>
                  <a:lumOff val="25000"/>
                </a:schemeClr>
              </a:gs>
              <a:gs pos="50000">
                <a:schemeClr val="tx1">
                  <a:lumMod val="85000"/>
                  <a:lumOff val="15000"/>
                </a:schemeClr>
              </a:gs>
              <a:gs pos="97000">
                <a:schemeClr val="tx1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3493" y="5135584"/>
            <a:ext cx="9144000" cy="84958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4679504" y="5324472"/>
            <a:ext cx="446449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世界如此险恶，你要内心强大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2——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方法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·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实战篇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</a:p>
        </p:txBody>
      </p:sp>
      <p:cxnSp>
        <p:nvCxnSpPr>
          <p:cNvPr id="20" name="直接连接符 19"/>
          <p:cNvCxnSpPr/>
          <p:nvPr/>
        </p:nvCxnSpPr>
        <p:spPr>
          <a:xfrm>
            <a:off x="4211960" y="842356"/>
            <a:ext cx="468052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4211960" y="878369"/>
            <a:ext cx="4680520" cy="0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云形标注 6"/>
          <p:cNvSpPr/>
          <p:nvPr/>
        </p:nvSpPr>
        <p:spPr>
          <a:xfrm>
            <a:off x="1925496" y="1331345"/>
            <a:ext cx="1818412" cy="734067"/>
          </a:xfrm>
          <a:prstGeom prst="cloudCallout">
            <a:avLst>
              <a:gd name="adj1" fmla="val -63280"/>
              <a:gd name="adj2" fmla="val 66690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我懂很多道理！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方正咆哮简体" pitchFamily="2" charset="-122"/>
              <a:ea typeface="方正咆哮简体" pitchFamily="2" charset="-122"/>
            </a:endParaRPr>
          </a:p>
        </p:txBody>
      </p:sp>
      <p:pic>
        <p:nvPicPr>
          <p:cNvPr id="3076" name="Picture 4" descr="http://www.flaticon.com/png/64/2038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0033" y="1666740"/>
            <a:ext cx="629344" cy="629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/>
          <p:cNvSpPr txBox="1"/>
          <p:nvPr/>
        </p:nvSpPr>
        <p:spPr>
          <a:xfrm>
            <a:off x="5519864" y="2580085"/>
            <a:ext cx="3272261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我只是在对 “道理”进行审美！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20000"/>
              </a:lnSpc>
              <a:buFont typeface="Arial" pitchFamily="34" charset="0"/>
              <a:buChar char="•"/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这些句子只具有临时性安慰作用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20000"/>
              </a:lnSpc>
              <a:buFont typeface="Arial" pitchFamily="34" charset="0"/>
              <a:buChar char="•"/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只是作为外在的供我们欣赏的东西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20000"/>
              </a:lnSpc>
              <a:buFont typeface="Arial" pitchFamily="34" charset="0"/>
              <a:buChar char="•"/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并不能从根本上改变我们的想法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20000"/>
              </a:lnSpc>
              <a:buFont typeface="Arial" pitchFamily="34" charset="0"/>
              <a:buChar char="•"/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甚至我们根本无从理解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436096" y="2170161"/>
            <a:ext cx="3456384" cy="202017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7859891" y="1905497"/>
            <a:ext cx="918000" cy="46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zh-CN" altLang="en-US" sz="3400" dirty="0">
                <a:solidFill>
                  <a:srgbClr val="FFC000"/>
                </a:solidFill>
                <a:latin typeface="华康俪金黑W8(P)" pitchFamily="34" charset="-122"/>
                <a:ea typeface="华康俪金黑W8(P)" pitchFamily="34" charset="-122"/>
              </a:rPr>
              <a:t>强大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3093" y="1686484"/>
            <a:ext cx="1548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澄清一下！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074" name="Picture 2" descr="http://www.flaticon.com/png/64/1134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182" y="2242305"/>
            <a:ext cx="523875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0440" y="2170161"/>
            <a:ext cx="2388523" cy="2228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112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61509" y="499187"/>
            <a:ext cx="954107" cy="187220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5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陷阱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629713" y="2021948"/>
            <a:ext cx="28497" cy="2203704"/>
            <a:chOff x="1691679" y="974153"/>
            <a:chExt cx="28497" cy="2203704"/>
          </a:xfrm>
        </p:grpSpPr>
        <p:cxnSp>
          <p:nvCxnSpPr>
            <p:cNvPr id="12" name="直接连接符 11"/>
            <p:cNvCxnSpPr/>
            <p:nvPr/>
          </p:nvCxnSpPr>
          <p:spPr>
            <a:xfrm rot="16200000">
              <a:off x="617245" y="2076005"/>
              <a:ext cx="2203704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rot="16200000">
              <a:off x="618324" y="2076005"/>
              <a:ext cx="2203704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6200000">
              <a:off x="589827" y="2076005"/>
              <a:ext cx="2203704" cy="0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691680" y="633911"/>
            <a:ext cx="4104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无法澄清自己的言行</a:t>
            </a:r>
            <a:endParaRPr lang="zh-CN" altLang="en-US" sz="2000" dirty="0"/>
          </a:p>
        </p:txBody>
      </p:sp>
      <p:sp>
        <p:nvSpPr>
          <p:cNvPr id="26" name="TextBox 25"/>
          <p:cNvSpPr txBox="1"/>
          <p:nvPr/>
        </p:nvSpPr>
        <p:spPr>
          <a:xfrm>
            <a:off x="1061400" y="315682"/>
            <a:ext cx="8640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endParaRPr lang="zh-CN" altLang="en-US" sz="6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493" y="5210944"/>
            <a:ext cx="9144000" cy="504056"/>
          </a:xfrm>
          <a:prstGeom prst="rect">
            <a:avLst/>
          </a:prstGeom>
          <a:gradFill>
            <a:gsLst>
              <a:gs pos="4000">
                <a:schemeClr val="tx1">
                  <a:lumMod val="75000"/>
                  <a:lumOff val="25000"/>
                </a:schemeClr>
              </a:gs>
              <a:gs pos="50000">
                <a:schemeClr val="tx1">
                  <a:lumMod val="85000"/>
                  <a:lumOff val="15000"/>
                </a:schemeClr>
              </a:gs>
              <a:gs pos="97000">
                <a:schemeClr val="tx1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3493" y="5135584"/>
            <a:ext cx="9144000" cy="84958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4679504" y="5324472"/>
            <a:ext cx="446449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世界如此险恶，你要内心强大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2——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方法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·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实战篇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</a:p>
        </p:txBody>
      </p:sp>
      <p:cxnSp>
        <p:nvCxnSpPr>
          <p:cNvPr id="20" name="直接连接符 19"/>
          <p:cNvCxnSpPr/>
          <p:nvPr/>
        </p:nvCxnSpPr>
        <p:spPr>
          <a:xfrm>
            <a:off x="4211960" y="842356"/>
            <a:ext cx="468052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4211960" y="878369"/>
            <a:ext cx="4680520" cy="0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http://www.flaticon.com/png/64/1134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182" y="2242305"/>
            <a:ext cx="523875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云形标注 6"/>
          <p:cNvSpPr/>
          <p:nvPr/>
        </p:nvSpPr>
        <p:spPr>
          <a:xfrm>
            <a:off x="1925496" y="1331345"/>
            <a:ext cx="1818412" cy="734067"/>
          </a:xfrm>
          <a:prstGeom prst="cloudCallout">
            <a:avLst>
              <a:gd name="adj1" fmla="val -63280"/>
              <a:gd name="adj2" fmla="val 66690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我一定会成功！</a:t>
            </a:r>
          </a:p>
        </p:txBody>
      </p:sp>
      <p:pic>
        <p:nvPicPr>
          <p:cNvPr id="3076" name="Picture 4" descr="http://www.flaticon.com/png/64/2038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0033" y="1702304"/>
            <a:ext cx="629344" cy="629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/>
          <p:cNvSpPr txBox="1"/>
          <p:nvPr/>
        </p:nvSpPr>
        <p:spPr>
          <a:xfrm>
            <a:off x="5519864" y="2615649"/>
            <a:ext cx="3272261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我只是逼自己“一定要成功”！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一方面我对是否能成功有焦虑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另一方面现实压力太大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只有成功，才能得到解脱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436096" y="2205725"/>
            <a:ext cx="3456384" cy="202017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7859891" y="1941061"/>
            <a:ext cx="918000" cy="46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zh-CN" altLang="en-US" sz="3400" dirty="0">
                <a:solidFill>
                  <a:srgbClr val="FFC000"/>
                </a:solidFill>
                <a:latin typeface="华康俪金黑W8(P)" pitchFamily="34" charset="-122"/>
                <a:ea typeface="华康俪金黑W8(P)" pitchFamily="34" charset="-122"/>
              </a:rPr>
              <a:t>强大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3093" y="1722048"/>
            <a:ext cx="1548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澄清一下！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51720" y="2839838"/>
            <a:ext cx="208028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有了这种心理暗示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我给了自己信心和力量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成功的几率大大提高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心形 3"/>
          <p:cNvSpPr/>
          <p:nvPr/>
        </p:nvSpPr>
        <p:spPr>
          <a:xfrm>
            <a:off x="1683096" y="2445415"/>
            <a:ext cx="2600872" cy="1924253"/>
          </a:xfrm>
          <a:prstGeom prst="hear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978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61509" y="499187"/>
            <a:ext cx="954107" cy="187220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5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陷阱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629713" y="2021948"/>
            <a:ext cx="28497" cy="2203704"/>
            <a:chOff x="1691679" y="974153"/>
            <a:chExt cx="28497" cy="2203704"/>
          </a:xfrm>
        </p:grpSpPr>
        <p:cxnSp>
          <p:nvCxnSpPr>
            <p:cNvPr id="12" name="直接连接符 11"/>
            <p:cNvCxnSpPr/>
            <p:nvPr/>
          </p:nvCxnSpPr>
          <p:spPr>
            <a:xfrm rot="16200000">
              <a:off x="617245" y="2076005"/>
              <a:ext cx="2203704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rot="16200000">
              <a:off x="618324" y="2076005"/>
              <a:ext cx="2203704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6200000">
              <a:off x="589827" y="2076005"/>
              <a:ext cx="2203704" cy="0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691680" y="633911"/>
            <a:ext cx="4104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无法澄清自己的言行</a:t>
            </a:r>
            <a:endParaRPr lang="zh-CN" altLang="en-US" sz="2000" dirty="0"/>
          </a:p>
        </p:txBody>
      </p:sp>
      <p:sp>
        <p:nvSpPr>
          <p:cNvPr id="26" name="TextBox 25"/>
          <p:cNvSpPr txBox="1"/>
          <p:nvPr/>
        </p:nvSpPr>
        <p:spPr>
          <a:xfrm>
            <a:off x="1061400" y="315682"/>
            <a:ext cx="8640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endParaRPr lang="zh-CN" altLang="en-US" sz="6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493" y="5210944"/>
            <a:ext cx="9144000" cy="504056"/>
          </a:xfrm>
          <a:prstGeom prst="rect">
            <a:avLst/>
          </a:prstGeom>
          <a:gradFill>
            <a:gsLst>
              <a:gs pos="4000">
                <a:schemeClr val="tx1">
                  <a:lumMod val="75000"/>
                  <a:lumOff val="25000"/>
                </a:schemeClr>
              </a:gs>
              <a:gs pos="50000">
                <a:schemeClr val="tx1">
                  <a:lumMod val="85000"/>
                  <a:lumOff val="15000"/>
                </a:schemeClr>
              </a:gs>
              <a:gs pos="97000">
                <a:schemeClr val="tx1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3493" y="5135584"/>
            <a:ext cx="9144000" cy="84958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4679504" y="5324472"/>
            <a:ext cx="446449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世界如此险恶，你要内心强大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2——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方法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·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实战篇</a:t>
            </a:r>
            <a:r>
              <a:rPr lang="en-US" altLang="zh-CN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sz="12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</a:p>
        </p:txBody>
      </p:sp>
      <p:cxnSp>
        <p:nvCxnSpPr>
          <p:cNvPr id="20" name="直接连接符 19"/>
          <p:cNvCxnSpPr/>
          <p:nvPr/>
        </p:nvCxnSpPr>
        <p:spPr>
          <a:xfrm>
            <a:off x="4211960" y="842356"/>
            <a:ext cx="468052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4211960" y="878369"/>
            <a:ext cx="4680520" cy="0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http://www.flaticon.com/png/64/1134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182" y="2242305"/>
            <a:ext cx="523875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云形标注 6"/>
          <p:cNvSpPr/>
          <p:nvPr/>
        </p:nvSpPr>
        <p:spPr>
          <a:xfrm>
            <a:off x="1925496" y="1331345"/>
            <a:ext cx="1818412" cy="734067"/>
          </a:xfrm>
          <a:prstGeom prst="cloudCallout">
            <a:avLst>
              <a:gd name="adj1" fmla="val -63280"/>
              <a:gd name="adj2" fmla="val 66690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咆哮简体" pitchFamily="2" charset="-122"/>
                <a:ea typeface="方正咆哮简体" pitchFamily="2" charset="-122"/>
              </a:rPr>
              <a:t>我想出轨！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方正咆哮简体" pitchFamily="2" charset="-122"/>
              <a:ea typeface="方正咆哮简体" pitchFamily="2" charset="-122"/>
            </a:endParaRPr>
          </a:p>
        </p:txBody>
      </p:sp>
      <p:pic>
        <p:nvPicPr>
          <p:cNvPr id="3076" name="Picture 4" descr="http://www.flaticon.com/png/64/2038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288" y="1648538"/>
            <a:ext cx="629344" cy="629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/>
          <p:cNvSpPr txBox="1"/>
          <p:nvPr/>
        </p:nvSpPr>
        <p:spPr>
          <a:xfrm>
            <a:off x="5421119" y="2561883"/>
            <a:ext cx="3272261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我只是想寻求自我补偿！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自己的老婆并非一点优点都没有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我并不是不爱自己的老婆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弥补和报复是不能得到真正满足的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337351" y="2151959"/>
            <a:ext cx="3456384" cy="202017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7761146" y="1887295"/>
            <a:ext cx="918000" cy="46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zh-CN" altLang="en-US" sz="3400" dirty="0">
                <a:solidFill>
                  <a:srgbClr val="FFC000"/>
                </a:solidFill>
                <a:latin typeface="华康俪金黑W8(P)" pitchFamily="34" charset="-122"/>
                <a:ea typeface="华康俪金黑W8(P)" pitchFamily="34" charset="-122"/>
              </a:rPr>
              <a:t>强大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4348" y="1668282"/>
            <a:ext cx="1548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澄清一下！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835696" y="2839838"/>
            <a:ext cx="229631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为什么别人的老婆很温柔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而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我被老婆管得这么紧</a:t>
            </a:r>
            <a:endParaRPr lang="en-US" altLang="zh-CN" sz="1400" dirty="0" smtClean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我要对自己好一点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心形 28"/>
          <p:cNvSpPr/>
          <p:nvPr/>
        </p:nvSpPr>
        <p:spPr>
          <a:xfrm>
            <a:off x="1683096" y="2445415"/>
            <a:ext cx="2600872" cy="1924253"/>
          </a:xfrm>
          <a:prstGeom prst="hear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978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493" y="3577580"/>
            <a:ext cx="9144000" cy="1672178"/>
          </a:xfrm>
          <a:prstGeom prst="rect">
            <a:avLst/>
          </a:prstGeom>
          <a:gradFill>
            <a:gsLst>
              <a:gs pos="4000">
                <a:schemeClr val="tx1">
                  <a:lumMod val="75000"/>
                  <a:lumOff val="25000"/>
                </a:schemeClr>
              </a:gs>
              <a:gs pos="50000">
                <a:schemeClr val="tx1">
                  <a:lumMod val="85000"/>
                  <a:lumOff val="15000"/>
                </a:schemeClr>
              </a:gs>
              <a:gs pos="97000">
                <a:schemeClr val="tx1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-5595" y="3305542"/>
            <a:ext cx="9144000" cy="281844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265364" y="762602"/>
            <a:ext cx="5771132" cy="115416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zh-CN" altLang="en-US" sz="6900" b="1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方正咆哮简体" pitchFamily="2" charset="-122"/>
                <a:ea typeface="方正咆哮简体" pitchFamily="2" charset="-122"/>
              </a:rPr>
              <a:t>跨越</a:t>
            </a:r>
            <a:r>
              <a:rPr lang="zh-CN" altLang="en-US" sz="6900" b="1" dirty="0" smtClean="0"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方正咆哮简体" pitchFamily="2" charset="-122"/>
                <a:ea typeface="方正咆哮简体" pitchFamily="2" charset="-122"/>
              </a:rPr>
              <a:t>心理</a:t>
            </a:r>
            <a:r>
              <a:rPr lang="zh-CN" altLang="en-US" sz="6900" b="1" dirty="0"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方正咆哮简体" pitchFamily="2" charset="-122"/>
                <a:ea typeface="方正咆哮简体" pitchFamily="2" charset="-122"/>
              </a:rPr>
              <a:t>陷阱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5736" y="4213810"/>
            <a:ext cx="65527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 smtClean="0">
                <a:solidFill>
                  <a:srgbClr val="FFC000"/>
                </a:solidFill>
                <a:latin typeface="华康俪金黑W8(P)" pitchFamily="34" charset="-122"/>
                <a:ea typeface="华康俪金黑W8(P)" pitchFamily="34" charset="-122"/>
              </a:rPr>
              <a:t>《</a:t>
            </a:r>
            <a:r>
              <a:rPr lang="zh-CN" altLang="en-US" dirty="0" smtClean="0">
                <a:solidFill>
                  <a:srgbClr val="FFC000"/>
                </a:solidFill>
                <a:latin typeface="华康俪金黑W8(P)" pitchFamily="34" charset="-122"/>
                <a:ea typeface="华康俪金黑W8(P)" pitchFamily="34" charset="-122"/>
              </a:rPr>
              <a:t>世界如此险恶，你要内心强大</a:t>
            </a:r>
            <a:r>
              <a:rPr lang="en-US" altLang="zh-CN" dirty="0" smtClean="0">
                <a:solidFill>
                  <a:srgbClr val="FFC000"/>
                </a:solidFill>
                <a:latin typeface="华康俪金黑W8(P)" pitchFamily="34" charset="-122"/>
                <a:ea typeface="华康俪金黑W8(P)" pitchFamily="34" charset="-122"/>
              </a:rPr>
              <a:t>2——</a:t>
            </a:r>
            <a:r>
              <a:rPr lang="zh-CN" altLang="en-US" dirty="0" smtClean="0">
                <a:solidFill>
                  <a:srgbClr val="FFC000"/>
                </a:solidFill>
                <a:latin typeface="华康俪金黑W8(P)" pitchFamily="34" charset="-122"/>
                <a:ea typeface="华康俪金黑W8(P)" pitchFamily="34" charset="-122"/>
              </a:rPr>
              <a:t>方法</a:t>
            </a:r>
            <a:r>
              <a:rPr lang="en-US" altLang="zh-CN" dirty="0">
                <a:solidFill>
                  <a:srgbClr val="FFC000"/>
                </a:solidFill>
                <a:latin typeface="华康俪金黑W8(P)" pitchFamily="34" charset="-122"/>
                <a:ea typeface="华康俪金黑W8(P)" pitchFamily="34" charset="-122"/>
              </a:rPr>
              <a:t>·</a:t>
            </a:r>
            <a:r>
              <a:rPr lang="zh-CN" altLang="en-US" dirty="0" smtClean="0">
                <a:solidFill>
                  <a:srgbClr val="FFC000"/>
                </a:solidFill>
                <a:latin typeface="华康俪金黑W8(P)" pitchFamily="34" charset="-122"/>
                <a:ea typeface="华康俪金黑W8(P)" pitchFamily="34" charset="-122"/>
              </a:rPr>
              <a:t>实战篇</a:t>
            </a:r>
            <a:r>
              <a:rPr lang="en-US" altLang="zh-CN" dirty="0" smtClean="0">
                <a:solidFill>
                  <a:srgbClr val="FFC000"/>
                </a:solidFill>
                <a:latin typeface="华康俪金黑W8(P)" pitchFamily="34" charset="-122"/>
                <a:ea typeface="华康俪金黑W8(P)" pitchFamily="34" charset="-122"/>
              </a:rPr>
              <a:t>》</a:t>
            </a:r>
            <a:r>
              <a:rPr lang="zh-CN" altLang="en-US" dirty="0" smtClean="0">
                <a:solidFill>
                  <a:srgbClr val="FFC000"/>
                </a:solidFill>
                <a:latin typeface="华康俪金黑W8(P)" pitchFamily="34" charset="-122"/>
                <a:ea typeface="华康俪金黑W8(P)" pitchFamily="34" charset="-122"/>
              </a:rPr>
              <a:t>读书笔记</a:t>
            </a:r>
            <a:endParaRPr lang="en-US" altLang="zh-CN" dirty="0" smtClean="0">
              <a:solidFill>
                <a:srgbClr val="FFC000"/>
              </a:solidFill>
              <a:latin typeface="华康俪金黑W8(P)" pitchFamily="34" charset="-122"/>
              <a:ea typeface="华康俪金黑W8(P)" pitchFamily="34" charset="-122"/>
            </a:endParaRPr>
          </a:p>
          <a:p>
            <a:pPr algn="r"/>
            <a:endParaRPr lang="en-US" altLang="zh-CN" dirty="0">
              <a:solidFill>
                <a:srgbClr val="FFC000"/>
              </a:solidFill>
              <a:latin typeface="华康俪金黑W8(P)" pitchFamily="34" charset="-122"/>
              <a:ea typeface="华康俪金黑W8(P)" pitchFamily="34" charset="-122"/>
            </a:endParaRPr>
          </a:p>
          <a:p>
            <a:pPr algn="r"/>
            <a:r>
              <a:rPr lang="en-US" altLang="zh-CN" dirty="0">
                <a:solidFill>
                  <a:srgbClr val="FFC000"/>
                </a:solidFill>
                <a:latin typeface="华康俪金黑W8(P)" pitchFamily="34" charset="-122"/>
                <a:ea typeface="华康俪金黑W8(P)" pitchFamily="34" charset="-122"/>
              </a:rPr>
              <a:t>@</a:t>
            </a:r>
            <a:r>
              <a:rPr lang="zh-CN" altLang="en-US" dirty="0">
                <a:solidFill>
                  <a:srgbClr val="FFC000"/>
                </a:solidFill>
                <a:latin typeface="华康俪金黑W8(P)" pitchFamily="34" charset="-122"/>
                <a:ea typeface="华康俪金黑W8(P)" pitchFamily="34" charset="-122"/>
              </a:rPr>
              <a:t>凯西</a:t>
            </a:r>
            <a:r>
              <a:rPr lang="en-US" altLang="zh-CN" dirty="0">
                <a:solidFill>
                  <a:srgbClr val="FFC000"/>
                </a:solidFill>
                <a:latin typeface="华康俪金黑W8(P)" pitchFamily="34" charset="-122"/>
                <a:ea typeface="华康俪金黑W8(P)" pitchFamily="34" charset="-122"/>
              </a:rPr>
              <a:t>_</a:t>
            </a:r>
            <a:r>
              <a:rPr lang="zh-CN" altLang="en-US" dirty="0" smtClean="0">
                <a:solidFill>
                  <a:srgbClr val="FFC000"/>
                </a:solidFill>
                <a:latin typeface="华康俪金黑W8(P)" pitchFamily="34" charset="-122"/>
                <a:ea typeface="华康俪金黑W8(P)" pitchFamily="34" charset="-122"/>
              </a:rPr>
              <a:t>乔</a:t>
            </a:r>
            <a:endParaRPr lang="zh-CN" altLang="en-US" dirty="0">
              <a:solidFill>
                <a:srgbClr val="FFC000"/>
              </a:solidFill>
              <a:latin typeface="华康俪金黑W8(P)" pitchFamily="34" charset="-122"/>
              <a:ea typeface="华康俪金黑W8(P)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265364" y="2030080"/>
            <a:ext cx="5616625" cy="115416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zh-CN" altLang="en-US" sz="69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方正咆哮简体" pitchFamily="2" charset="-122"/>
                <a:ea typeface="方正咆哮简体" pitchFamily="2" charset="-122"/>
              </a:rPr>
              <a:t>锻炼</a:t>
            </a:r>
            <a:r>
              <a:rPr lang="zh-CN" altLang="en-US" sz="6900" b="1" dirty="0" smtClean="0">
                <a:solidFill>
                  <a:srgbClr val="A1423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方正咆哮简体" pitchFamily="2" charset="-122"/>
                <a:ea typeface="方正咆哮简体" pitchFamily="2" charset="-122"/>
              </a:rPr>
              <a:t>强大内心</a:t>
            </a:r>
            <a:endParaRPr lang="zh-CN" altLang="en-US" sz="6900" b="1" dirty="0">
              <a:solidFill>
                <a:srgbClr val="A1423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方正咆哮简体" pitchFamily="2" charset="-122"/>
              <a:ea typeface="方正咆哮简体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563321"/>
            <a:ext cx="1152128" cy="1612979"/>
          </a:xfrm>
          <a:prstGeom prst="rect">
            <a:avLst/>
          </a:prstGeom>
        </p:spPr>
      </p:pic>
      <p:pic>
        <p:nvPicPr>
          <p:cNvPr id="11" name="Picture 4" descr="Person runn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99592" y="923156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组合 11"/>
          <p:cNvGrpSpPr/>
          <p:nvPr/>
        </p:nvGrpSpPr>
        <p:grpSpPr>
          <a:xfrm>
            <a:off x="683568" y="2877458"/>
            <a:ext cx="1872208" cy="558812"/>
            <a:chOff x="2555776" y="3649588"/>
            <a:chExt cx="1872208" cy="55881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3" name="椭圆 12"/>
            <p:cNvSpPr/>
            <p:nvPr/>
          </p:nvSpPr>
          <p:spPr>
            <a:xfrm>
              <a:off x="2555776" y="3649588"/>
              <a:ext cx="1872208" cy="50405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2555776" y="3704344"/>
              <a:ext cx="1872208" cy="504056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098" name="Picture 2" descr="http://www.flaticon.com/png/64/17258.pn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823" y="1821351"/>
            <a:ext cx="232792" cy="232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7256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矩形 12"/>
          <p:cNvSpPr>
            <a:spLocks noChangeArrowheads="1"/>
          </p:cNvSpPr>
          <p:nvPr/>
        </p:nvSpPr>
        <p:spPr bwMode="auto">
          <a:xfrm>
            <a:off x="284090" y="751285"/>
            <a:ext cx="8501847" cy="107989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21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64" name="圆角矩形 6"/>
          <p:cNvSpPr>
            <a:spLocks noChangeArrowheads="1"/>
          </p:cNvSpPr>
          <p:nvPr/>
        </p:nvSpPr>
        <p:spPr bwMode="auto">
          <a:xfrm>
            <a:off x="823376" y="4611006"/>
            <a:ext cx="2753916" cy="32385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1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修改前</a:t>
            </a:r>
          </a:p>
        </p:txBody>
      </p:sp>
      <p:sp>
        <p:nvSpPr>
          <p:cNvPr id="15365" name="圆角矩形 9"/>
          <p:cNvSpPr>
            <a:spLocks noChangeArrowheads="1"/>
          </p:cNvSpPr>
          <p:nvPr/>
        </p:nvSpPr>
        <p:spPr bwMode="auto">
          <a:xfrm>
            <a:off x="5350972" y="4611006"/>
            <a:ext cx="2753916" cy="32385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1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修改后</a:t>
            </a:r>
          </a:p>
        </p:txBody>
      </p:sp>
      <p:sp>
        <p:nvSpPr>
          <p:cNvPr id="15366" name="TextBox 8"/>
          <p:cNvSpPr txBox="1">
            <a:spLocks noChangeArrowheads="1"/>
          </p:cNvSpPr>
          <p:nvPr/>
        </p:nvSpPr>
        <p:spPr bwMode="auto">
          <a:xfrm>
            <a:off x="1546622" y="838200"/>
            <a:ext cx="5995988" cy="9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</a:t>
            </a:r>
            <a:r>
              <a:rPr lang="en-US" altLang="zh-CN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秋叶 大叔，</a:t>
            </a:r>
            <a:r>
              <a:rPr lang="en-US" altLang="zh-CN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小巴</a:t>
            </a:r>
            <a:r>
              <a:rPr lang="en-US" altLang="zh-CN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_199</a:t>
            </a:r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反复指导</a:t>
            </a:r>
            <a:endParaRPr lang="en-US" altLang="zh-CN" sz="24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ts val="900"/>
              </a:spcBef>
              <a:spcAft>
                <a:spcPct val="0"/>
              </a:spcAft>
              <a:buNone/>
            </a:pPr>
            <a:r>
              <a:rPr lang="en-US" altLang="zh-CN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我在网易云课堂等你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585" y="2263559"/>
            <a:ext cx="3107258" cy="193242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2251826"/>
            <a:ext cx="3109735" cy="193853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9639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" y="690393"/>
            <a:ext cx="685800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2853967" y="2318158"/>
            <a:ext cx="108015" cy="20097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4510042" y="2318158"/>
            <a:ext cx="108015" cy="20097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6238282" y="2318158"/>
            <a:ext cx="108015" cy="20097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23535" y="3375684"/>
            <a:ext cx="6858000" cy="1656864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350"/>
              </a:spcBef>
            </a:pPr>
            <a:r>
              <a:rPr lang="zh-CN" altLang="en-US" sz="135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35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350"/>
              </a:spcBef>
            </a:pPr>
            <a:r>
              <a:rPr lang="en-US" altLang="zh-CN" sz="135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35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35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35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35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35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35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900"/>
              </a:spcBef>
            </a:pPr>
            <a:r>
              <a:rPr lang="en-US" altLang="zh-CN" sz="135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35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35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#PPT</a:t>
            </a:r>
            <a:r>
              <a:rPr lang="zh-CN" altLang="en-US" sz="135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35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35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标签，可以看到其它学员已经提交的读书</a:t>
            </a:r>
            <a:r>
              <a:rPr lang="en-US" altLang="zh-CN" sz="135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900"/>
              </a:spcBef>
            </a:pPr>
            <a:r>
              <a:rPr lang="en-US" altLang="zh-CN" sz="135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35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35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35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35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35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35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900"/>
              </a:spcBef>
            </a:pPr>
            <a:r>
              <a:rPr lang="en-US" altLang="zh-CN" sz="135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35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35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35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385558" y="3667613"/>
            <a:ext cx="63728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223535" y="1804354"/>
            <a:ext cx="1458203" cy="1006032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6"/>
              <a:ext cx="1728239" cy="9541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3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3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3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35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3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35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3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3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35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4001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3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928859" y="1804355"/>
            <a:ext cx="1458203" cy="1191374"/>
            <a:chOff x="107380" y="2024805"/>
            <a:chExt cx="1944270" cy="1588498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6"/>
              <a:ext cx="1728239" cy="1231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3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3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3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35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3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3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3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35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0"/>
              <a:ext cx="504070" cy="4001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3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606254" y="1804354"/>
            <a:ext cx="1458203" cy="1006032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6"/>
              <a:ext cx="1728239" cy="9541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3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35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4001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3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292289" y="1804354"/>
            <a:ext cx="1458203" cy="1006032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6"/>
              <a:ext cx="1728239" cy="9541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3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3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3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3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4001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35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4124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1298</Words>
  <Application>Microsoft Office PowerPoint</Application>
  <PresentationFormat>全屏显示(16:10)</PresentationFormat>
  <Paragraphs>199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宋体</vt:lpstr>
      <vt:lpstr>方正正黑简体</vt:lpstr>
      <vt:lpstr>Calibri</vt:lpstr>
      <vt:lpstr>微软雅黑</vt:lpstr>
      <vt:lpstr>方正正中黑简体</vt:lpstr>
      <vt:lpstr>Arial</vt:lpstr>
      <vt:lpstr>华康俪金黑W8(P)</vt:lpstr>
      <vt:lpstr>方正咆哮简体</vt:lpstr>
      <vt:lpstr>Office 主题</vt:lpstr>
      <vt:lpstr>Office 主题​​</vt:lpstr>
      <vt:lpstr>默认设计模板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xiaoba ba</cp:lastModifiedBy>
  <cp:revision>55</cp:revision>
  <dcterms:modified xsi:type="dcterms:W3CDTF">2014-01-20T05:32:22Z</dcterms:modified>
</cp:coreProperties>
</file>