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xlsx" ContentType="application/ks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sldIdLst>
    <p:sldId id="295" r:id="rId4"/>
    <p:sldId id="258" r:id="rId5"/>
    <p:sldId id="257" r:id="rId6"/>
    <p:sldId id="325" r:id="rId7"/>
    <p:sldId id="326" r:id="rId8"/>
    <p:sldId id="331" r:id="rId9"/>
    <p:sldId id="332" r:id="rId10"/>
    <p:sldId id="333" r:id="rId11"/>
    <p:sldId id="346" r:id="rId12"/>
    <p:sldId id="347" r:id="rId13"/>
    <p:sldId id="350" r:id="rId14"/>
    <p:sldId id="301" r:id="rId15"/>
    <p:sldId id="349" r:id="rId16"/>
    <p:sldId id="348" r:id="rId17"/>
    <p:sldId id="288" r:id="rId18"/>
    <p:sldId id="352" r:id="rId19"/>
    <p:sldId id="272" r:id="rId20"/>
    <p:sldId id="339" r:id="rId21"/>
    <p:sldId id="294" r:id="rId22"/>
    <p:sldId id="311" r:id="rId23"/>
    <p:sldId id="312" r:id="rId24"/>
    <p:sldId id="368" r:id="rId25"/>
    <p:sldId id="307" r:id="rId26"/>
    <p:sldId id="363" r:id="rId27"/>
    <p:sldId id="364" r:id="rId28"/>
    <p:sldId id="366" r:id="rId29"/>
    <p:sldId id="342" r:id="rId30"/>
    <p:sldId id="302" r:id="rId31"/>
    <p:sldId id="305" r:id="rId32"/>
    <p:sldId id="335" r:id="rId33"/>
    <p:sldId id="276" r:id="rId34"/>
    <p:sldId id="351" r:id="rId35"/>
    <p:sldId id="360" r:id="rId36"/>
    <p:sldId id="362" r:id="rId37"/>
    <p:sldId id="340" r:id="rId38"/>
    <p:sldId id="337" r:id="rId39"/>
    <p:sldId id="344" r:id="rId40"/>
    <p:sldId id="345" r:id="rId41"/>
    <p:sldId id="367" r:id="rId42"/>
    <p:sldId id="336" r:id="rId43"/>
    <p:sldId id="277" r:id="rId44"/>
    <p:sldId id="341" r:id="rId45"/>
    <p:sldId id="280" r:id="rId46"/>
    <p:sldId id="357" r:id="rId47"/>
    <p:sldId id="343" r:id="rId48"/>
    <p:sldId id="292" r:id="rId49"/>
    <p:sldId id="369" r:id="rId50"/>
    <p:sldId id="370" r:id="rId51"/>
  </p:sldIdLst>
  <p:sldSz cx="9144000" cy="6858000" type="screen4x3"/>
  <p:notesSz cx="6858000" cy="9144000"/>
  <p:custDataLst>
    <p:tags r:id="rId5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34"/>
    <a:srgbClr val="E2CE84"/>
    <a:srgbClr val="CC161F"/>
    <a:srgbClr val="6E4818"/>
    <a:srgbClr val="C6121D"/>
    <a:srgbClr val="DFCE88"/>
    <a:srgbClr val="CF252E"/>
    <a:srgbClr val="96794D"/>
    <a:srgbClr val="633C12"/>
    <a:srgbClr val="BB93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20" autoAdjust="0"/>
  </p:normalViewPr>
  <p:slideViewPr>
    <p:cSldViewPr>
      <p:cViewPr varScale="1">
        <p:scale>
          <a:sx n="70" d="100"/>
          <a:sy n="70" d="100"/>
        </p:scale>
        <p:origin x="1380" y="6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gs" Target="tags/tag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Office_Excel_2007_Workbook111111111111111111111111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Office_Excel_2007_Workbook222222112111122222222222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cap="all" spc="150" baseline="0">
                <a:solidFill>
                  <a:schemeClr val="tx1"/>
                </a:solidFill>
                <a:latin typeface="+mn-lt"/>
                <a:ea typeface="+mn-ea"/>
                <a:cs typeface="+mn-cs"/>
              </a:defRPr>
            </a:pPr>
            <a:r>
              <a:rPr lang="en-US" sz="2800"/>
              <a:t>1978</a:t>
            </a:r>
            <a:r>
              <a:rPr lang="zh-CN" sz="2800"/>
              <a:t>到</a:t>
            </a:r>
            <a:r>
              <a:rPr lang="en-US" sz="2800"/>
              <a:t>1983</a:t>
            </a:r>
            <a:r>
              <a:rPr lang="zh-CN" sz="2800"/>
              <a:t>中国</a:t>
            </a:r>
            <a:r>
              <a:rPr lang="en-US" sz="2800"/>
              <a:t>GDP</a:t>
            </a:r>
            <a:r>
              <a:rPr lang="zh-CN" sz="2800"/>
              <a:t>走势图</a:t>
            </a:r>
          </a:p>
        </c:rich>
      </c:tx>
      <c:layout>
        <c:manualLayout>
          <c:xMode val="edge"/>
          <c:yMode val="edge"/>
          <c:x val="0.28327021595753427"/>
          <c:y val="4.7330852127541401E-2"/>
        </c:manualLayout>
      </c:layout>
      <c:overlay val="0"/>
      <c:spPr>
        <a:noFill/>
        <a:ln>
          <a:noFill/>
        </a:ln>
        <a:effectLst/>
      </c:spPr>
    </c:title>
    <c:autoTitleDeleted val="0"/>
    <c:view3D>
      <c:rotX val="0"/>
      <c:rotY val="0"/>
      <c:depthPercent val="100"/>
      <c:rAngAx val="0"/>
    </c:view3D>
    <c:floor>
      <c:thickness val="0"/>
      <c:spPr>
        <a:solidFill>
          <a:schemeClr val="lt1"/>
        </a:solid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7852383045708728"/>
          <c:y val="0.28225822130874351"/>
          <c:w val="0.70317889549542378"/>
          <c:h val="0.607431350220346"/>
        </c:manualLayout>
      </c:layout>
      <c:bar3DChart>
        <c:barDir val="col"/>
        <c:grouping val="clustered"/>
        <c:varyColors val="0"/>
        <c:ser>
          <c:idx val="0"/>
          <c:order val="0"/>
          <c:tx>
            <c:strRef>
              <c:f>Sheet1!$B$1</c:f>
              <c:strCache>
                <c:ptCount val="1"/>
                <c:pt idx="0">
                  <c:v>GDP(亿元)</c:v>
                </c:pt>
              </c:strCache>
            </c:strRef>
          </c:tx>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Sheet1!$A$2:$A$7</c:f>
              <c:numCache>
                <c:formatCode>General</c:formatCode>
                <c:ptCount val="6"/>
                <c:pt idx="0">
                  <c:v>1978</c:v>
                </c:pt>
                <c:pt idx="1">
                  <c:v>1979</c:v>
                </c:pt>
                <c:pt idx="2">
                  <c:v>1980</c:v>
                </c:pt>
                <c:pt idx="3">
                  <c:v>1981</c:v>
                </c:pt>
                <c:pt idx="4">
                  <c:v>1982</c:v>
                </c:pt>
                <c:pt idx="5">
                  <c:v>1983</c:v>
                </c:pt>
              </c:numCache>
            </c:numRef>
          </c:cat>
          <c:val>
            <c:numRef>
              <c:f>Sheet1!$B$2:$B$7</c:f>
              <c:numCache>
                <c:formatCode>General</c:formatCode>
                <c:ptCount val="6"/>
                <c:pt idx="0">
                  <c:v>3624.1</c:v>
                </c:pt>
                <c:pt idx="1">
                  <c:v>4038.2</c:v>
                </c:pt>
                <c:pt idx="2">
                  <c:v>4517.8</c:v>
                </c:pt>
                <c:pt idx="3">
                  <c:v>4862.4000000000005</c:v>
                </c:pt>
                <c:pt idx="4">
                  <c:v>5294.7</c:v>
                </c:pt>
                <c:pt idx="5">
                  <c:v>5934.5</c:v>
                </c:pt>
              </c:numCache>
            </c:numRef>
          </c:val>
        </c:ser>
        <c:dLbls>
          <c:showLegendKey val="0"/>
          <c:showVal val="1"/>
          <c:showCatName val="0"/>
          <c:showSerName val="0"/>
          <c:showPercent val="0"/>
          <c:showBubbleSize val="0"/>
        </c:dLbls>
        <c:gapWidth val="160"/>
        <c:gapDepth val="0"/>
        <c:shape val="cylinder"/>
        <c:axId val="339113024"/>
        <c:axId val="339114200"/>
        <c:axId val="0"/>
      </c:bar3DChart>
      <c:catAx>
        <c:axId val="33911302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zh-CN"/>
          </a:p>
        </c:txPr>
        <c:crossAx val="339114200"/>
        <c:crosses val="autoZero"/>
        <c:auto val="1"/>
        <c:lblAlgn val="ctr"/>
        <c:lblOffset val="100"/>
        <c:noMultiLvlLbl val="0"/>
      </c:catAx>
      <c:valAx>
        <c:axId val="339114200"/>
        <c:scaling>
          <c:orientation val="minMax"/>
        </c:scaling>
        <c:delete val="1"/>
        <c:axPos val="l"/>
        <c:numFmt formatCode="General" sourceLinked="1"/>
        <c:majorTickMark val="none"/>
        <c:minorTickMark val="none"/>
        <c:tickLblPos val="none"/>
        <c:crossAx val="339113024"/>
        <c:crosses val="autoZero"/>
        <c:crossBetween val="between"/>
        <c:majorUnit val="2000"/>
        <c:minorUnit val="1000"/>
      </c:valAx>
      <c:spPr>
        <a:noFill/>
        <a:ln>
          <a:noFill/>
        </a:ln>
        <a:effectLst/>
      </c:spPr>
    </c:plotArea>
    <c:legend>
      <c:legendPos val="t"/>
      <c:layout>
        <c:manualLayout>
          <c:xMode val="edge"/>
          <c:yMode val="edge"/>
          <c:x val="0.82116090931736241"/>
          <c:y val="9.8193719216383354E-2"/>
          <c:w val="0.12711665865032043"/>
          <c:h val="6.7370060733992515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zh-CN"/>
        </a:p>
      </c:txPr>
    </c:legend>
    <c:plotVisOnly val="1"/>
    <c:dispBlanksAs val="gap"/>
    <c:showDLblsOverMax val="0"/>
  </c:chart>
  <c:spPr>
    <a:noFill/>
    <a:ln>
      <a:noFill/>
    </a:ln>
    <a:effectLst/>
  </c:spPr>
  <c:txPr>
    <a:bodyPr/>
    <a:lstStyle/>
    <a:p>
      <a:pPr>
        <a:defRPr sz="1400">
          <a:solidFill>
            <a:schemeClr val="tx1"/>
          </a:solidFill>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cap="all" spc="150" baseline="0">
                <a:solidFill>
                  <a:schemeClr val="tx1"/>
                </a:solidFill>
                <a:latin typeface="+mn-lt"/>
                <a:ea typeface="+mn-ea"/>
                <a:cs typeface="+mn-cs"/>
              </a:defRPr>
            </a:pPr>
            <a:r>
              <a:rPr lang="en-US" sz="2800"/>
              <a:t>1984</a:t>
            </a:r>
            <a:r>
              <a:rPr lang="zh-CN" sz="2800"/>
              <a:t>到</a:t>
            </a:r>
            <a:r>
              <a:rPr lang="en-US" sz="2800"/>
              <a:t>1992</a:t>
            </a:r>
            <a:r>
              <a:rPr lang="zh-CN" sz="2800"/>
              <a:t>中国</a:t>
            </a:r>
            <a:r>
              <a:rPr lang="en-US" sz="2800"/>
              <a:t>GDP</a:t>
            </a:r>
            <a:r>
              <a:rPr lang="zh-CN" sz="2800"/>
              <a:t>走势图</a:t>
            </a:r>
          </a:p>
        </c:rich>
      </c:tx>
      <c:layout>
        <c:manualLayout>
          <c:xMode val="edge"/>
          <c:yMode val="edge"/>
          <c:x val="0.31168411836295012"/>
          <c:y val="1.7935860233985305E-2"/>
        </c:manualLayout>
      </c:layout>
      <c:overlay val="0"/>
      <c:spPr>
        <a:noFill/>
        <a:ln>
          <a:noFill/>
        </a:ln>
        <a:effectLst/>
      </c:spPr>
    </c:title>
    <c:autoTitleDeleted val="0"/>
    <c:view3D>
      <c:rotX val="0"/>
      <c:rotY val="0"/>
      <c:depthPercent val="100"/>
      <c:rAngAx val="0"/>
    </c:view3D>
    <c:floor>
      <c:thickness val="0"/>
      <c:spPr>
        <a:solidFill>
          <a:schemeClr val="lt1"/>
        </a:solid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5965222518250249"/>
          <c:y val="0.18555400624036125"/>
          <c:w val="0.70317889549542378"/>
          <c:h val="0.72207137060100679"/>
        </c:manualLayout>
      </c:layout>
      <c:bar3DChart>
        <c:barDir val="col"/>
        <c:grouping val="clustered"/>
        <c:varyColors val="0"/>
        <c:ser>
          <c:idx val="0"/>
          <c:order val="0"/>
          <c:tx>
            <c:strRef>
              <c:f>Sheet1!$B$1</c:f>
              <c:strCache>
                <c:ptCount val="1"/>
                <c:pt idx="0">
                  <c:v>GDP(亿元)</c:v>
                </c:pt>
              </c:strCache>
            </c:strRef>
          </c:tx>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Sheet1!$A$2:$A$10</c:f>
              <c:numCache>
                <c:formatCode>General</c:formatCode>
                <c:ptCount val="9"/>
                <c:pt idx="0">
                  <c:v>1984</c:v>
                </c:pt>
                <c:pt idx="1">
                  <c:v>1985</c:v>
                </c:pt>
                <c:pt idx="2">
                  <c:v>1986</c:v>
                </c:pt>
                <c:pt idx="3">
                  <c:v>1987</c:v>
                </c:pt>
                <c:pt idx="4">
                  <c:v>1988</c:v>
                </c:pt>
                <c:pt idx="5">
                  <c:v>1989</c:v>
                </c:pt>
                <c:pt idx="6">
                  <c:v>1990</c:v>
                </c:pt>
                <c:pt idx="7">
                  <c:v>1991</c:v>
                </c:pt>
                <c:pt idx="8">
                  <c:v>1992</c:v>
                </c:pt>
              </c:numCache>
            </c:numRef>
          </c:cat>
          <c:val>
            <c:numRef>
              <c:f>Sheet1!$B$2:$B$10</c:f>
              <c:numCache>
                <c:formatCode>General</c:formatCode>
                <c:ptCount val="9"/>
                <c:pt idx="0">
                  <c:v>7171</c:v>
                </c:pt>
                <c:pt idx="1">
                  <c:v>8964.4</c:v>
                </c:pt>
                <c:pt idx="2">
                  <c:v>10202.200000000003</c:v>
                </c:pt>
                <c:pt idx="3">
                  <c:v>11962.5</c:v>
                </c:pt>
                <c:pt idx="4">
                  <c:v>14928.3</c:v>
                </c:pt>
                <c:pt idx="5">
                  <c:v>16909.2</c:v>
                </c:pt>
                <c:pt idx="6">
                  <c:v>18547.900000000001</c:v>
                </c:pt>
                <c:pt idx="7">
                  <c:v>21617.8</c:v>
                </c:pt>
                <c:pt idx="8">
                  <c:v>26638.1</c:v>
                </c:pt>
              </c:numCache>
            </c:numRef>
          </c:val>
        </c:ser>
        <c:dLbls>
          <c:showLegendKey val="0"/>
          <c:showVal val="0"/>
          <c:showCatName val="0"/>
          <c:showSerName val="0"/>
          <c:showPercent val="0"/>
          <c:showBubbleSize val="0"/>
        </c:dLbls>
        <c:gapWidth val="160"/>
        <c:gapDepth val="0"/>
        <c:shape val="cylinder"/>
        <c:axId val="681538816"/>
        <c:axId val="681536072"/>
        <c:axId val="0"/>
      </c:bar3DChart>
      <c:catAx>
        <c:axId val="68153881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zh-CN"/>
          </a:p>
        </c:txPr>
        <c:crossAx val="681536072"/>
        <c:crosses val="autoZero"/>
        <c:auto val="1"/>
        <c:lblAlgn val="ctr"/>
        <c:lblOffset val="100"/>
        <c:noMultiLvlLbl val="0"/>
      </c:catAx>
      <c:valAx>
        <c:axId val="681536072"/>
        <c:scaling>
          <c:orientation val="minMax"/>
        </c:scaling>
        <c:delete val="1"/>
        <c:axPos val="l"/>
        <c:numFmt formatCode="General" sourceLinked="1"/>
        <c:majorTickMark val="none"/>
        <c:minorTickMark val="none"/>
        <c:tickLblPos val="none"/>
        <c:crossAx val="681538816"/>
        <c:crosses val="autoZero"/>
        <c:crossBetween val="between"/>
        <c:majorUnit val="10000"/>
        <c:minorUnit val="1000"/>
      </c:valAx>
      <c:spPr>
        <a:noFill/>
        <a:ln>
          <a:noFill/>
        </a:ln>
        <a:effectLst/>
      </c:spPr>
    </c:plotArea>
    <c:legend>
      <c:legendPos val="t"/>
      <c:layout>
        <c:manualLayout>
          <c:xMode val="edge"/>
          <c:yMode val="edge"/>
          <c:x val="0.85913089690005062"/>
          <c:y val="0.15125908797327606"/>
          <c:w val="0.12899518966127707"/>
          <c:h val="6.8511926170161899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zh-CN"/>
        </a:p>
      </c:txPr>
    </c:legend>
    <c:plotVisOnly val="1"/>
    <c:dispBlanksAs val="gap"/>
    <c:showDLblsOverMax val="0"/>
  </c:chart>
  <c:spPr>
    <a:noFill/>
    <a:ln>
      <a:noFill/>
    </a:ln>
    <a:effectLst/>
  </c:spPr>
  <c:txPr>
    <a:bodyPr/>
    <a:lstStyle/>
    <a:p>
      <a:pPr>
        <a:defRPr sz="1400">
          <a:solidFill>
            <a:schemeClr val="tx1"/>
          </a:solidFill>
        </a:defRPr>
      </a:pPr>
      <a:endParaRPr lang="zh-CN"/>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712240-5477-4322-90BF-329EFBF2DCB6}" type="doc">
      <dgm:prSet loTypeId="urn:microsoft.com/office/officeart/2008/layout/VerticalCurvedList" loCatId="list" qsTypeId="urn:microsoft.com/office/officeart/2005/8/quickstyle/simple3" qsCatId="simple" csTypeId="urn:microsoft.com/office/officeart/2005/8/colors/accent1_2" csCatId="accent1" phldr="1"/>
      <dgm:spPr/>
      <dgm:t>
        <a:bodyPr/>
        <a:lstStyle/>
        <a:p>
          <a:endParaRPr lang="zh-CN" altLang="en-US"/>
        </a:p>
      </dgm:t>
    </dgm:pt>
    <dgm:pt modelId="{B6F91CDC-ECBA-40D9-B0C8-B2890C072190}">
      <dgm:prSet phldrT="[文本]" custT="1"/>
      <dgm:spPr>
        <a:solidFill>
          <a:srgbClr val="D42B35"/>
        </a:solidFill>
      </dgm:spPr>
      <dgm:t>
        <a:bodyPr/>
        <a:lstStyle/>
        <a:p>
          <a:r>
            <a:rPr lang="zh-CN" altLang="en-US" sz="2400" dirty="0" smtClean="0">
              <a:solidFill>
                <a:schemeClr val="bg1"/>
              </a:solidFill>
              <a:latin typeface="微软雅黑" pitchFamily="34" charset="-122"/>
              <a:ea typeface="微软雅黑" pitchFamily="34" charset="-122"/>
            </a:rPr>
            <a:t>第一部           没有规则的骚动</a:t>
          </a:r>
          <a:endParaRPr lang="zh-CN" altLang="en-US" sz="2400" dirty="0">
            <a:solidFill>
              <a:schemeClr val="bg1"/>
            </a:solidFill>
            <a:latin typeface="微软雅黑" pitchFamily="34" charset="-122"/>
            <a:ea typeface="微软雅黑" pitchFamily="34" charset="-122"/>
          </a:endParaRPr>
        </a:p>
      </dgm:t>
    </dgm:pt>
    <dgm:pt modelId="{58A780E1-7BBB-4EC2-9A3E-D9E507534F3D}" type="parTrans" cxnId="{03920FF3-CA9F-4931-AA76-5650C365D3EC}">
      <dgm:prSet/>
      <dgm:spPr/>
      <dgm:t>
        <a:bodyPr/>
        <a:lstStyle/>
        <a:p>
          <a:endParaRPr lang="zh-CN" altLang="en-US" sz="2000">
            <a:solidFill>
              <a:schemeClr val="bg1"/>
            </a:solidFill>
          </a:endParaRPr>
        </a:p>
      </dgm:t>
    </dgm:pt>
    <dgm:pt modelId="{D2F88906-F966-4AAC-9B97-DA5941480EB4}" type="sibTrans" cxnId="{03920FF3-CA9F-4931-AA76-5650C365D3EC}">
      <dgm:prSet/>
      <dgm:spPr/>
      <dgm:t>
        <a:bodyPr/>
        <a:lstStyle/>
        <a:p>
          <a:endParaRPr lang="zh-CN" altLang="en-US" sz="2000">
            <a:solidFill>
              <a:schemeClr val="bg1"/>
            </a:solidFill>
          </a:endParaRPr>
        </a:p>
      </dgm:t>
    </dgm:pt>
    <dgm:pt modelId="{FB090C4C-C284-4B00-9685-E075DFE0B067}">
      <dgm:prSet phldrT="[文本]" custT="1"/>
      <dgm:spPr>
        <a:solidFill>
          <a:srgbClr val="D42B35"/>
        </a:solidFill>
      </dgm:spPr>
      <dgm:t>
        <a:bodyPr/>
        <a:lstStyle/>
        <a:p>
          <a:r>
            <a:rPr lang="zh-CN" altLang="en-US" sz="2400" dirty="0" smtClean="0">
              <a:solidFill>
                <a:schemeClr val="bg1"/>
              </a:solidFill>
              <a:latin typeface="微软雅黑" pitchFamily="34" charset="-122"/>
              <a:ea typeface="微软雅黑" pitchFamily="34" charset="-122"/>
            </a:rPr>
            <a:t>第二</a:t>
          </a:r>
          <a:r>
            <a:rPr lang="zh-CN" altLang="en-US" sz="2400" smtClean="0">
              <a:solidFill>
                <a:schemeClr val="bg1"/>
              </a:solidFill>
              <a:latin typeface="微软雅黑" pitchFamily="34" charset="-122"/>
              <a:ea typeface="微软雅黑" pitchFamily="34" charset="-122"/>
            </a:rPr>
            <a:t>部       被</a:t>
          </a:r>
          <a:r>
            <a:rPr lang="zh-CN" altLang="en-US" sz="2400" dirty="0" smtClean="0">
              <a:solidFill>
                <a:schemeClr val="bg1"/>
              </a:solidFill>
              <a:latin typeface="微软雅黑" pitchFamily="34" charset="-122"/>
              <a:ea typeface="微软雅黑" pitchFamily="34" charset="-122"/>
            </a:rPr>
            <a:t>释放的精灵</a:t>
          </a:r>
          <a:endParaRPr lang="zh-CN" altLang="en-US" sz="2400" dirty="0">
            <a:solidFill>
              <a:schemeClr val="bg1"/>
            </a:solidFill>
            <a:latin typeface="微软雅黑" pitchFamily="34" charset="-122"/>
            <a:ea typeface="微软雅黑" pitchFamily="34" charset="-122"/>
          </a:endParaRPr>
        </a:p>
      </dgm:t>
    </dgm:pt>
    <dgm:pt modelId="{DC247E61-5310-403F-A8B5-065B03F3CF9B}" type="parTrans" cxnId="{A91DB974-8701-4EBD-AB4C-A9E7B1674AF9}">
      <dgm:prSet/>
      <dgm:spPr/>
      <dgm:t>
        <a:bodyPr/>
        <a:lstStyle/>
        <a:p>
          <a:endParaRPr lang="zh-CN" altLang="en-US" sz="2000">
            <a:solidFill>
              <a:schemeClr val="bg1"/>
            </a:solidFill>
          </a:endParaRPr>
        </a:p>
      </dgm:t>
    </dgm:pt>
    <dgm:pt modelId="{24F28704-FDFD-46A1-A819-04A7E8488C28}" type="sibTrans" cxnId="{A91DB974-8701-4EBD-AB4C-A9E7B1674AF9}">
      <dgm:prSet/>
      <dgm:spPr/>
      <dgm:t>
        <a:bodyPr/>
        <a:lstStyle/>
        <a:p>
          <a:endParaRPr lang="zh-CN" altLang="en-US" sz="2000">
            <a:solidFill>
              <a:schemeClr val="bg1"/>
            </a:solidFill>
          </a:endParaRPr>
        </a:p>
      </dgm:t>
    </dgm:pt>
    <dgm:pt modelId="{3975C62E-CA4D-4CB4-969B-13284BD34F1D}">
      <dgm:prSet phldrT="[文本]" custT="1"/>
      <dgm:spPr>
        <a:solidFill>
          <a:srgbClr val="D32A34"/>
        </a:solidFill>
      </dgm:spPr>
      <dgm:t>
        <a:bodyPr/>
        <a:lstStyle/>
        <a:p>
          <a:r>
            <a:rPr lang="zh-CN" altLang="en-US" sz="2400" dirty="0" smtClean="0">
              <a:solidFill>
                <a:schemeClr val="bg1">
                  <a:lumMod val="50000"/>
                </a:schemeClr>
              </a:solidFill>
              <a:latin typeface="微软雅黑" pitchFamily="34" charset="-122"/>
              <a:ea typeface="微软雅黑" pitchFamily="34" charset="-122"/>
            </a:rPr>
            <a:t>第三部      民族品牌进行曲</a:t>
          </a:r>
          <a:endParaRPr lang="zh-CN" altLang="en-US" sz="2400" dirty="0">
            <a:solidFill>
              <a:schemeClr val="bg1">
                <a:lumMod val="50000"/>
              </a:schemeClr>
            </a:solidFill>
            <a:latin typeface="微软雅黑" pitchFamily="34" charset="-122"/>
            <a:ea typeface="微软雅黑" pitchFamily="34" charset="-122"/>
          </a:endParaRPr>
        </a:p>
      </dgm:t>
    </dgm:pt>
    <dgm:pt modelId="{738B7008-F793-4B46-953A-07B0783E69E3}" type="parTrans" cxnId="{9E7C2E25-3F80-4D2D-8AD4-78EAED23B70B}">
      <dgm:prSet/>
      <dgm:spPr/>
      <dgm:t>
        <a:bodyPr/>
        <a:lstStyle/>
        <a:p>
          <a:endParaRPr lang="zh-CN" altLang="en-US" sz="2000">
            <a:solidFill>
              <a:schemeClr val="bg1"/>
            </a:solidFill>
          </a:endParaRPr>
        </a:p>
      </dgm:t>
    </dgm:pt>
    <dgm:pt modelId="{FA654797-CB4B-4A49-A36C-A6AFC1E0BB30}" type="sibTrans" cxnId="{9E7C2E25-3F80-4D2D-8AD4-78EAED23B70B}">
      <dgm:prSet/>
      <dgm:spPr/>
      <dgm:t>
        <a:bodyPr/>
        <a:lstStyle/>
        <a:p>
          <a:endParaRPr lang="zh-CN" altLang="en-US" sz="2000">
            <a:solidFill>
              <a:schemeClr val="bg1"/>
            </a:solidFill>
          </a:endParaRPr>
        </a:p>
      </dgm:t>
    </dgm:pt>
    <dgm:pt modelId="{D8814816-9209-417B-BCFB-80F8CF67FE54}">
      <dgm:prSet phldrT="[文本]" custT="1"/>
      <dgm:spPr>
        <a:solidFill>
          <a:srgbClr val="D32A34"/>
        </a:solidFill>
      </dgm:spPr>
      <dgm:t>
        <a:bodyPr/>
        <a:lstStyle/>
        <a:p>
          <a:r>
            <a:rPr lang="zh-CN" altLang="en-US" sz="2400" dirty="0" smtClean="0">
              <a:solidFill>
                <a:schemeClr val="bg1">
                  <a:lumMod val="50000"/>
                </a:schemeClr>
              </a:solidFill>
              <a:latin typeface="微软雅黑" pitchFamily="34" charset="-122"/>
              <a:ea typeface="微软雅黑" pitchFamily="34" charset="-122"/>
            </a:rPr>
            <a:t>第四部       在暴风雨中转折</a:t>
          </a:r>
          <a:endParaRPr lang="zh-CN" altLang="en-US" sz="2400" dirty="0">
            <a:solidFill>
              <a:schemeClr val="bg1">
                <a:lumMod val="50000"/>
              </a:schemeClr>
            </a:solidFill>
            <a:latin typeface="微软雅黑" pitchFamily="34" charset="-122"/>
            <a:ea typeface="微软雅黑" pitchFamily="34" charset="-122"/>
          </a:endParaRPr>
        </a:p>
      </dgm:t>
    </dgm:pt>
    <dgm:pt modelId="{EB7574A2-0611-4021-88E5-1042EC2FFF3B}" type="parTrans" cxnId="{F674A451-32F3-4194-AFA5-117BE30D0E32}">
      <dgm:prSet/>
      <dgm:spPr/>
      <dgm:t>
        <a:bodyPr/>
        <a:lstStyle/>
        <a:p>
          <a:endParaRPr lang="zh-CN" altLang="en-US" sz="2000">
            <a:solidFill>
              <a:schemeClr val="bg1"/>
            </a:solidFill>
          </a:endParaRPr>
        </a:p>
      </dgm:t>
    </dgm:pt>
    <dgm:pt modelId="{4A46BF71-9FE0-4E1C-A589-76B4D12D23D5}" type="sibTrans" cxnId="{F674A451-32F3-4194-AFA5-117BE30D0E32}">
      <dgm:prSet/>
      <dgm:spPr/>
      <dgm:t>
        <a:bodyPr/>
        <a:lstStyle/>
        <a:p>
          <a:endParaRPr lang="zh-CN" altLang="en-US" sz="2000">
            <a:solidFill>
              <a:schemeClr val="bg1"/>
            </a:solidFill>
          </a:endParaRPr>
        </a:p>
      </dgm:t>
    </dgm:pt>
    <dgm:pt modelId="{2DEC866F-0A8C-4DA2-B63B-E0D2F2783BBE}">
      <dgm:prSet phldrT="[文本]" custT="1"/>
      <dgm:spPr>
        <a:solidFill>
          <a:srgbClr val="D32A34"/>
        </a:solidFill>
      </dgm:spPr>
      <dgm:t>
        <a:bodyPr/>
        <a:lstStyle/>
        <a:p>
          <a:r>
            <a:rPr lang="zh-CN" altLang="en-US" sz="2400" dirty="0" smtClean="0">
              <a:solidFill>
                <a:schemeClr val="bg1">
                  <a:lumMod val="50000"/>
                </a:schemeClr>
              </a:solidFill>
              <a:latin typeface="微软雅黑" pitchFamily="34" charset="-122"/>
              <a:ea typeface="微软雅黑" pitchFamily="34" charset="-122"/>
            </a:rPr>
            <a:t>第五部           大国梦想成真</a:t>
          </a:r>
          <a:endParaRPr lang="zh-CN" altLang="en-US" sz="2400" dirty="0">
            <a:solidFill>
              <a:schemeClr val="bg1">
                <a:lumMod val="50000"/>
              </a:schemeClr>
            </a:solidFill>
            <a:latin typeface="微软雅黑" pitchFamily="34" charset="-122"/>
            <a:ea typeface="微软雅黑" pitchFamily="34" charset="-122"/>
          </a:endParaRPr>
        </a:p>
      </dgm:t>
    </dgm:pt>
    <dgm:pt modelId="{190A7B4E-5179-433E-9E23-8B7B64A8183F}" type="parTrans" cxnId="{2F821C20-368B-4A17-80AB-A772D0849E49}">
      <dgm:prSet/>
      <dgm:spPr/>
      <dgm:t>
        <a:bodyPr/>
        <a:lstStyle/>
        <a:p>
          <a:endParaRPr lang="zh-CN" altLang="en-US" sz="2000">
            <a:solidFill>
              <a:schemeClr val="bg1"/>
            </a:solidFill>
          </a:endParaRPr>
        </a:p>
      </dgm:t>
    </dgm:pt>
    <dgm:pt modelId="{F53E95EC-9F6A-4D60-A1D1-D71C64A4FAA2}" type="sibTrans" cxnId="{2F821C20-368B-4A17-80AB-A772D0849E49}">
      <dgm:prSet/>
      <dgm:spPr/>
      <dgm:t>
        <a:bodyPr/>
        <a:lstStyle/>
        <a:p>
          <a:endParaRPr lang="zh-CN" altLang="en-US" sz="2000">
            <a:solidFill>
              <a:schemeClr val="bg1"/>
            </a:solidFill>
          </a:endParaRPr>
        </a:p>
      </dgm:t>
    </dgm:pt>
    <dgm:pt modelId="{2E217CC4-CCEB-44C8-8B82-128B00B0D91F}" type="pres">
      <dgm:prSet presAssocID="{A5712240-5477-4322-90BF-329EFBF2DCB6}" presName="Name0" presStyleCnt="0">
        <dgm:presLayoutVars>
          <dgm:chMax val="7"/>
          <dgm:chPref val="7"/>
          <dgm:dir/>
        </dgm:presLayoutVars>
      </dgm:prSet>
      <dgm:spPr/>
      <dgm:t>
        <a:bodyPr/>
        <a:lstStyle/>
        <a:p>
          <a:endParaRPr lang="zh-CN" altLang="en-US"/>
        </a:p>
      </dgm:t>
    </dgm:pt>
    <dgm:pt modelId="{C3D55E91-FB0E-4091-A43C-6C24A6F4B505}" type="pres">
      <dgm:prSet presAssocID="{A5712240-5477-4322-90BF-329EFBF2DCB6}" presName="Name1" presStyleCnt="0"/>
      <dgm:spPr/>
    </dgm:pt>
    <dgm:pt modelId="{81E869E9-19E6-4A63-A3D7-331022F494E9}" type="pres">
      <dgm:prSet presAssocID="{A5712240-5477-4322-90BF-329EFBF2DCB6}" presName="cycle" presStyleCnt="0"/>
      <dgm:spPr/>
    </dgm:pt>
    <dgm:pt modelId="{CBFDA4E4-0046-4A30-968C-253F597E6DDC}" type="pres">
      <dgm:prSet presAssocID="{A5712240-5477-4322-90BF-329EFBF2DCB6}" presName="srcNode" presStyleLbl="node1" presStyleIdx="0" presStyleCnt="5"/>
      <dgm:spPr/>
    </dgm:pt>
    <dgm:pt modelId="{05BDDB37-C44B-4E6A-BC75-62A12ED96641}" type="pres">
      <dgm:prSet presAssocID="{A5712240-5477-4322-90BF-329EFBF2DCB6}" presName="conn" presStyleLbl="parChTrans1D2" presStyleIdx="0" presStyleCnt="1"/>
      <dgm:spPr/>
      <dgm:t>
        <a:bodyPr/>
        <a:lstStyle/>
        <a:p>
          <a:endParaRPr lang="zh-CN" altLang="en-US"/>
        </a:p>
      </dgm:t>
    </dgm:pt>
    <dgm:pt modelId="{33FD2944-4A27-44E9-923C-E4BEBF9663FF}" type="pres">
      <dgm:prSet presAssocID="{A5712240-5477-4322-90BF-329EFBF2DCB6}" presName="extraNode" presStyleLbl="node1" presStyleIdx="0" presStyleCnt="5"/>
      <dgm:spPr/>
    </dgm:pt>
    <dgm:pt modelId="{988F9A41-22C6-4E24-8AE5-E03C07DD799E}" type="pres">
      <dgm:prSet presAssocID="{A5712240-5477-4322-90BF-329EFBF2DCB6}" presName="dstNode" presStyleLbl="node1" presStyleIdx="0" presStyleCnt="5"/>
      <dgm:spPr/>
    </dgm:pt>
    <dgm:pt modelId="{E12DC230-2470-4F9A-B9EF-AB8BA407B29C}" type="pres">
      <dgm:prSet presAssocID="{B6F91CDC-ECBA-40D9-B0C8-B2890C072190}" presName="text_1" presStyleLbl="node1" presStyleIdx="0" presStyleCnt="5">
        <dgm:presLayoutVars>
          <dgm:bulletEnabled val="1"/>
        </dgm:presLayoutVars>
      </dgm:prSet>
      <dgm:spPr/>
      <dgm:t>
        <a:bodyPr/>
        <a:lstStyle/>
        <a:p>
          <a:endParaRPr lang="zh-CN" altLang="en-US"/>
        </a:p>
      </dgm:t>
    </dgm:pt>
    <dgm:pt modelId="{2826AD08-7311-474E-BE23-1C490DA4AB71}" type="pres">
      <dgm:prSet presAssocID="{B6F91CDC-ECBA-40D9-B0C8-B2890C072190}" presName="accent_1" presStyleCnt="0"/>
      <dgm:spPr/>
    </dgm:pt>
    <dgm:pt modelId="{FF6BEE4B-DEB6-46CF-862F-CDEA25324986}" type="pres">
      <dgm:prSet presAssocID="{B6F91CDC-ECBA-40D9-B0C8-B2890C072190}" presName="accentRepeatNode" presStyleLbl="solidFgAcc1" presStyleIdx="0" presStyleCnt="5"/>
      <dgm:spPr>
        <a:ln>
          <a:solidFill>
            <a:srgbClr val="E2CE84"/>
          </a:solidFill>
        </a:ln>
        <a:effectLst>
          <a:outerShdw blurRad="50800" dist="38100" dir="5400000" algn="t" rotWithShape="0">
            <a:prstClr val="black">
              <a:alpha val="40000"/>
            </a:prstClr>
          </a:outerShdw>
        </a:effectLst>
      </dgm:spPr>
      <dgm:t>
        <a:bodyPr/>
        <a:lstStyle/>
        <a:p>
          <a:endParaRPr lang="zh-CN" altLang="en-US"/>
        </a:p>
      </dgm:t>
    </dgm:pt>
    <dgm:pt modelId="{B3F298F7-44EE-4FDC-928E-7ED6B3CBBE68}" type="pres">
      <dgm:prSet presAssocID="{FB090C4C-C284-4B00-9685-E075DFE0B067}" presName="text_2" presStyleLbl="node1" presStyleIdx="1" presStyleCnt="5">
        <dgm:presLayoutVars>
          <dgm:bulletEnabled val="1"/>
        </dgm:presLayoutVars>
      </dgm:prSet>
      <dgm:spPr/>
      <dgm:t>
        <a:bodyPr/>
        <a:lstStyle/>
        <a:p>
          <a:endParaRPr lang="zh-CN" altLang="en-US"/>
        </a:p>
      </dgm:t>
    </dgm:pt>
    <dgm:pt modelId="{B54157E8-994F-464B-9693-9095E1BD1C48}" type="pres">
      <dgm:prSet presAssocID="{FB090C4C-C284-4B00-9685-E075DFE0B067}" presName="accent_2" presStyleCnt="0"/>
      <dgm:spPr/>
    </dgm:pt>
    <dgm:pt modelId="{CBBEE223-413D-4368-AC94-BBAEF49889BA}" type="pres">
      <dgm:prSet presAssocID="{FB090C4C-C284-4B00-9685-E075DFE0B067}" presName="accentRepeatNode" presStyleLbl="solidFgAcc1" presStyleIdx="1" presStyleCnt="5"/>
      <dgm:spPr>
        <a:ln>
          <a:solidFill>
            <a:srgbClr val="E2CE84"/>
          </a:solidFill>
        </a:ln>
        <a:effectLst>
          <a:outerShdw blurRad="50800" dist="38100" dir="5400000" algn="t" rotWithShape="0">
            <a:prstClr val="black">
              <a:alpha val="40000"/>
            </a:prstClr>
          </a:outerShdw>
        </a:effectLst>
      </dgm:spPr>
      <dgm:t>
        <a:bodyPr/>
        <a:lstStyle/>
        <a:p>
          <a:endParaRPr lang="zh-CN" altLang="en-US"/>
        </a:p>
      </dgm:t>
    </dgm:pt>
    <dgm:pt modelId="{2731DAAF-6659-4BC2-9D9C-23BD1C7D61DA}" type="pres">
      <dgm:prSet presAssocID="{3975C62E-CA4D-4CB4-969B-13284BD34F1D}" presName="text_3" presStyleLbl="node1" presStyleIdx="2" presStyleCnt="5">
        <dgm:presLayoutVars>
          <dgm:bulletEnabled val="1"/>
        </dgm:presLayoutVars>
      </dgm:prSet>
      <dgm:spPr/>
      <dgm:t>
        <a:bodyPr/>
        <a:lstStyle/>
        <a:p>
          <a:endParaRPr lang="zh-CN" altLang="en-US"/>
        </a:p>
      </dgm:t>
    </dgm:pt>
    <dgm:pt modelId="{018A1A93-BF31-4C1C-81AF-7D250EE02BC1}" type="pres">
      <dgm:prSet presAssocID="{3975C62E-CA4D-4CB4-969B-13284BD34F1D}" presName="accent_3" presStyleCnt="0"/>
      <dgm:spPr/>
    </dgm:pt>
    <dgm:pt modelId="{86D088C0-4935-41CC-9A22-03F20318F110}" type="pres">
      <dgm:prSet presAssocID="{3975C62E-CA4D-4CB4-969B-13284BD34F1D}" presName="accentRepeatNode" presStyleLbl="solidFgAcc1" presStyleIdx="2" presStyleCnt="5"/>
      <dgm:spPr>
        <a:ln>
          <a:solidFill>
            <a:srgbClr val="E2CE84"/>
          </a:solidFill>
        </a:ln>
        <a:effectLst>
          <a:outerShdw blurRad="50800" dist="38100" dir="5400000" algn="t" rotWithShape="0">
            <a:prstClr val="black">
              <a:alpha val="40000"/>
            </a:prstClr>
          </a:outerShdw>
        </a:effectLst>
      </dgm:spPr>
      <dgm:t>
        <a:bodyPr/>
        <a:lstStyle/>
        <a:p>
          <a:endParaRPr lang="zh-CN" altLang="en-US"/>
        </a:p>
      </dgm:t>
    </dgm:pt>
    <dgm:pt modelId="{7582D9B5-926C-4B9D-8232-501AEF3F4CFE}" type="pres">
      <dgm:prSet presAssocID="{D8814816-9209-417B-BCFB-80F8CF67FE54}" presName="text_4" presStyleLbl="node1" presStyleIdx="3" presStyleCnt="5">
        <dgm:presLayoutVars>
          <dgm:bulletEnabled val="1"/>
        </dgm:presLayoutVars>
      </dgm:prSet>
      <dgm:spPr/>
      <dgm:t>
        <a:bodyPr/>
        <a:lstStyle/>
        <a:p>
          <a:endParaRPr lang="zh-CN" altLang="en-US"/>
        </a:p>
      </dgm:t>
    </dgm:pt>
    <dgm:pt modelId="{D5E597DF-730D-42A6-AE13-23004F20604C}" type="pres">
      <dgm:prSet presAssocID="{D8814816-9209-417B-BCFB-80F8CF67FE54}" presName="accent_4" presStyleCnt="0"/>
      <dgm:spPr/>
    </dgm:pt>
    <dgm:pt modelId="{63D05291-3EE1-4740-A321-C7E956B63899}" type="pres">
      <dgm:prSet presAssocID="{D8814816-9209-417B-BCFB-80F8CF67FE54}" presName="accentRepeatNode" presStyleLbl="solidFgAcc1" presStyleIdx="3" presStyleCnt="5"/>
      <dgm:spPr>
        <a:ln>
          <a:solidFill>
            <a:srgbClr val="E2CE84"/>
          </a:solidFill>
        </a:ln>
        <a:effectLst>
          <a:outerShdw blurRad="50800" dist="38100" dir="5400000" algn="t" rotWithShape="0">
            <a:prstClr val="black">
              <a:alpha val="40000"/>
            </a:prstClr>
          </a:outerShdw>
        </a:effectLst>
      </dgm:spPr>
      <dgm:t>
        <a:bodyPr/>
        <a:lstStyle/>
        <a:p>
          <a:endParaRPr lang="zh-CN" altLang="en-US"/>
        </a:p>
      </dgm:t>
    </dgm:pt>
    <dgm:pt modelId="{F3F4FB28-B684-4902-9AE7-4A5C94EE279E}" type="pres">
      <dgm:prSet presAssocID="{2DEC866F-0A8C-4DA2-B63B-E0D2F2783BBE}" presName="text_5" presStyleLbl="node1" presStyleIdx="4" presStyleCnt="5">
        <dgm:presLayoutVars>
          <dgm:bulletEnabled val="1"/>
        </dgm:presLayoutVars>
      </dgm:prSet>
      <dgm:spPr/>
      <dgm:t>
        <a:bodyPr/>
        <a:lstStyle/>
        <a:p>
          <a:endParaRPr lang="zh-CN" altLang="en-US"/>
        </a:p>
      </dgm:t>
    </dgm:pt>
    <dgm:pt modelId="{9082631C-9BAD-48A7-91C6-540F2F8EEA4C}" type="pres">
      <dgm:prSet presAssocID="{2DEC866F-0A8C-4DA2-B63B-E0D2F2783BBE}" presName="accent_5" presStyleCnt="0"/>
      <dgm:spPr/>
    </dgm:pt>
    <dgm:pt modelId="{E8AF30A7-EEB4-4123-A487-E26456FD491B}" type="pres">
      <dgm:prSet presAssocID="{2DEC866F-0A8C-4DA2-B63B-E0D2F2783BBE}" presName="accentRepeatNode" presStyleLbl="solidFgAcc1" presStyleIdx="4" presStyleCnt="5"/>
      <dgm:spPr>
        <a:ln>
          <a:solidFill>
            <a:srgbClr val="E2CE84"/>
          </a:solidFill>
        </a:ln>
        <a:effectLst>
          <a:outerShdw blurRad="50800" dist="38100" dir="5400000" algn="t" rotWithShape="0">
            <a:prstClr val="black">
              <a:alpha val="40000"/>
            </a:prstClr>
          </a:outerShdw>
        </a:effectLst>
      </dgm:spPr>
      <dgm:t>
        <a:bodyPr/>
        <a:lstStyle/>
        <a:p>
          <a:endParaRPr lang="zh-CN" altLang="en-US"/>
        </a:p>
      </dgm:t>
    </dgm:pt>
  </dgm:ptLst>
  <dgm:cxnLst>
    <dgm:cxn modelId="{2F821C20-368B-4A17-80AB-A772D0849E49}" srcId="{A5712240-5477-4322-90BF-329EFBF2DCB6}" destId="{2DEC866F-0A8C-4DA2-B63B-E0D2F2783BBE}" srcOrd="4" destOrd="0" parTransId="{190A7B4E-5179-433E-9E23-8B7B64A8183F}" sibTransId="{F53E95EC-9F6A-4D60-A1D1-D71C64A4FAA2}"/>
    <dgm:cxn modelId="{4C7C31AE-5ECE-49C3-B4CD-F9C4C5501868}" type="presOf" srcId="{B6F91CDC-ECBA-40D9-B0C8-B2890C072190}" destId="{E12DC230-2470-4F9A-B9EF-AB8BA407B29C}" srcOrd="0" destOrd="0" presId="urn:microsoft.com/office/officeart/2008/layout/VerticalCurvedList"/>
    <dgm:cxn modelId="{9E7C2E25-3F80-4D2D-8AD4-78EAED23B70B}" srcId="{A5712240-5477-4322-90BF-329EFBF2DCB6}" destId="{3975C62E-CA4D-4CB4-969B-13284BD34F1D}" srcOrd="2" destOrd="0" parTransId="{738B7008-F793-4B46-953A-07B0783E69E3}" sibTransId="{FA654797-CB4B-4A49-A36C-A6AFC1E0BB30}"/>
    <dgm:cxn modelId="{594F2B33-1A6A-4DDB-8483-C7FCCACC4008}" type="presOf" srcId="{A5712240-5477-4322-90BF-329EFBF2DCB6}" destId="{2E217CC4-CCEB-44C8-8B82-128B00B0D91F}" srcOrd="0" destOrd="0" presId="urn:microsoft.com/office/officeart/2008/layout/VerticalCurvedList"/>
    <dgm:cxn modelId="{F674A451-32F3-4194-AFA5-117BE30D0E32}" srcId="{A5712240-5477-4322-90BF-329EFBF2DCB6}" destId="{D8814816-9209-417B-BCFB-80F8CF67FE54}" srcOrd="3" destOrd="0" parTransId="{EB7574A2-0611-4021-88E5-1042EC2FFF3B}" sibTransId="{4A46BF71-9FE0-4E1C-A589-76B4D12D23D5}"/>
    <dgm:cxn modelId="{3B7A923F-FA6E-4B07-BE72-06BF5EF82CB4}" type="presOf" srcId="{2DEC866F-0A8C-4DA2-B63B-E0D2F2783BBE}" destId="{F3F4FB28-B684-4902-9AE7-4A5C94EE279E}" srcOrd="0" destOrd="0" presId="urn:microsoft.com/office/officeart/2008/layout/VerticalCurvedList"/>
    <dgm:cxn modelId="{74461416-B267-429E-8558-11198EA54D58}" type="presOf" srcId="{D8814816-9209-417B-BCFB-80F8CF67FE54}" destId="{7582D9B5-926C-4B9D-8232-501AEF3F4CFE}" srcOrd="0" destOrd="0" presId="urn:microsoft.com/office/officeart/2008/layout/VerticalCurvedList"/>
    <dgm:cxn modelId="{F5A6790F-7304-452D-A3FE-67475CFE715F}" type="presOf" srcId="{D2F88906-F966-4AAC-9B97-DA5941480EB4}" destId="{05BDDB37-C44B-4E6A-BC75-62A12ED96641}" srcOrd="0" destOrd="0" presId="urn:microsoft.com/office/officeart/2008/layout/VerticalCurvedList"/>
    <dgm:cxn modelId="{A91DB974-8701-4EBD-AB4C-A9E7B1674AF9}" srcId="{A5712240-5477-4322-90BF-329EFBF2DCB6}" destId="{FB090C4C-C284-4B00-9685-E075DFE0B067}" srcOrd="1" destOrd="0" parTransId="{DC247E61-5310-403F-A8B5-065B03F3CF9B}" sibTransId="{24F28704-FDFD-46A1-A819-04A7E8488C28}"/>
    <dgm:cxn modelId="{A7F17B09-3B30-4E40-B97C-6854A66C867E}" type="presOf" srcId="{FB090C4C-C284-4B00-9685-E075DFE0B067}" destId="{B3F298F7-44EE-4FDC-928E-7ED6B3CBBE68}" srcOrd="0" destOrd="0" presId="urn:microsoft.com/office/officeart/2008/layout/VerticalCurvedList"/>
    <dgm:cxn modelId="{5124A98F-F023-4518-8A7C-48A9770DE920}" type="presOf" srcId="{3975C62E-CA4D-4CB4-969B-13284BD34F1D}" destId="{2731DAAF-6659-4BC2-9D9C-23BD1C7D61DA}" srcOrd="0" destOrd="0" presId="urn:microsoft.com/office/officeart/2008/layout/VerticalCurvedList"/>
    <dgm:cxn modelId="{03920FF3-CA9F-4931-AA76-5650C365D3EC}" srcId="{A5712240-5477-4322-90BF-329EFBF2DCB6}" destId="{B6F91CDC-ECBA-40D9-B0C8-B2890C072190}" srcOrd="0" destOrd="0" parTransId="{58A780E1-7BBB-4EC2-9A3E-D9E507534F3D}" sibTransId="{D2F88906-F966-4AAC-9B97-DA5941480EB4}"/>
    <dgm:cxn modelId="{C7EEC84B-AB37-4C2B-9096-FD39E01C0A3C}" type="presParOf" srcId="{2E217CC4-CCEB-44C8-8B82-128B00B0D91F}" destId="{C3D55E91-FB0E-4091-A43C-6C24A6F4B505}" srcOrd="0" destOrd="0" presId="urn:microsoft.com/office/officeart/2008/layout/VerticalCurvedList"/>
    <dgm:cxn modelId="{A60875BC-91C0-4043-B00E-3D07C92537D9}" type="presParOf" srcId="{C3D55E91-FB0E-4091-A43C-6C24A6F4B505}" destId="{81E869E9-19E6-4A63-A3D7-331022F494E9}" srcOrd="0" destOrd="0" presId="urn:microsoft.com/office/officeart/2008/layout/VerticalCurvedList"/>
    <dgm:cxn modelId="{D4617FAC-A5D3-41D4-8125-34F802141695}" type="presParOf" srcId="{81E869E9-19E6-4A63-A3D7-331022F494E9}" destId="{CBFDA4E4-0046-4A30-968C-253F597E6DDC}" srcOrd="0" destOrd="0" presId="urn:microsoft.com/office/officeart/2008/layout/VerticalCurvedList"/>
    <dgm:cxn modelId="{031C16A1-2F41-48AF-83BA-01CDA19EF465}" type="presParOf" srcId="{81E869E9-19E6-4A63-A3D7-331022F494E9}" destId="{05BDDB37-C44B-4E6A-BC75-62A12ED96641}" srcOrd="1" destOrd="0" presId="urn:microsoft.com/office/officeart/2008/layout/VerticalCurvedList"/>
    <dgm:cxn modelId="{DC37FF14-F472-4CC1-9498-581DE108FBB9}" type="presParOf" srcId="{81E869E9-19E6-4A63-A3D7-331022F494E9}" destId="{33FD2944-4A27-44E9-923C-E4BEBF9663FF}" srcOrd="2" destOrd="0" presId="urn:microsoft.com/office/officeart/2008/layout/VerticalCurvedList"/>
    <dgm:cxn modelId="{6BADD0A7-8F55-4BE9-BA1F-F557F02F7360}" type="presParOf" srcId="{81E869E9-19E6-4A63-A3D7-331022F494E9}" destId="{988F9A41-22C6-4E24-8AE5-E03C07DD799E}" srcOrd="3" destOrd="0" presId="urn:microsoft.com/office/officeart/2008/layout/VerticalCurvedList"/>
    <dgm:cxn modelId="{EE15D3C0-799C-4E92-9C0B-E7B8FA76017E}" type="presParOf" srcId="{C3D55E91-FB0E-4091-A43C-6C24A6F4B505}" destId="{E12DC230-2470-4F9A-B9EF-AB8BA407B29C}" srcOrd="1" destOrd="0" presId="urn:microsoft.com/office/officeart/2008/layout/VerticalCurvedList"/>
    <dgm:cxn modelId="{39A91BDA-FFC3-4DD3-88AC-F17C510555CE}" type="presParOf" srcId="{C3D55E91-FB0E-4091-A43C-6C24A6F4B505}" destId="{2826AD08-7311-474E-BE23-1C490DA4AB71}" srcOrd="2" destOrd="0" presId="urn:microsoft.com/office/officeart/2008/layout/VerticalCurvedList"/>
    <dgm:cxn modelId="{C875FD4A-C3C0-469D-9F43-50966C7CEE96}" type="presParOf" srcId="{2826AD08-7311-474E-BE23-1C490DA4AB71}" destId="{FF6BEE4B-DEB6-46CF-862F-CDEA25324986}" srcOrd="0" destOrd="0" presId="urn:microsoft.com/office/officeart/2008/layout/VerticalCurvedList"/>
    <dgm:cxn modelId="{2E0917E0-ABE1-4175-93C4-EFC3432E5B91}" type="presParOf" srcId="{C3D55E91-FB0E-4091-A43C-6C24A6F4B505}" destId="{B3F298F7-44EE-4FDC-928E-7ED6B3CBBE68}" srcOrd="3" destOrd="0" presId="urn:microsoft.com/office/officeart/2008/layout/VerticalCurvedList"/>
    <dgm:cxn modelId="{FFF33B3C-82E1-42F3-8558-119C8FF09580}" type="presParOf" srcId="{C3D55E91-FB0E-4091-A43C-6C24A6F4B505}" destId="{B54157E8-994F-464B-9693-9095E1BD1C48}" srcOrd="4" destOrd="0" presId="urn:microsoft.com/office/officeart/2008/layout/VerticalCurvedList"/>
    <dgm:cxn modelId="{73433CCE-8F93-4808-A0AE-58C77D52D052}" type="presParOf" srcId="{B54157E8-994F-464B-9693-9095E1BD1C48}" destId="{CBBEE223-413D-4368-AC94-BBAEF49889BA}" srcOrd="0" destOrd="0" presId="urn:microsoft.com/office/officeart/2008/layout/VerticalCurvedList"/>
    <dgm:cxn modelId="{81EE795B-F7C7-42B5-891B-4F1186A19ACC}" type="presParOf" srcId="{C3D55E91-FB0E-4091-A43C-6C24A6F4B505}" destId="{2731DAAF-6659-4BC2-9D9C-23BD1C7D61DA}" srcOrd="5" destOrd="0" presId="urn:microsoft.com/office/officeart/2008/layout/VerticalCurvedList"/>
    <dgm:cxn modelId="{0C9CC720-FF6C-4B76-A8EB-520CC79683A5}" type="presParOf" srcId="{C3D55E91-FB0E-4091-A43C-6C24A6F4B505}" destId="{018A1A93-BF31-4C1C-81AF-7D250EE02BC1}" srcOrd="6" destOrd="0" presId="urn:microsoft.com/office/officeart/2008/layout/VerticalCurvedList"/>
    <dgm:cxn modelId="{5D9550E0-29B5-4C24-B370-09BC0FC5870B}" type="presParOf" srcId="{018A1A93-BF31-4C1C-81AF-7D250EE02BC1}" destId="{86D088C0-4935-41CC-9A22-03F20318F110}" srcOrd="0" destOrd="0" presId="urn:microsoft.com/office/officeart/2008/layout/VerticalCurvedList"/>
    <dgm:cxn modelId="{61981DDE-C1EE-405A-8FC4-041F84161997}" type="presParOf" srcId="{C3D55E91-FB0E-4091-A43C-6C24A6F4B505}" destId="{7582D9B5-926C-4B9D-8232-501AEF3F4CFE}" srcOrd="7" destOrd="0" presId="urn:microsoft.com/office/officeart/2008/layout/VerticalCurvedList"/>
    <dgm:cxn modelId="{6F0E6C80-84A9-4261-AD9E-D515D272B168}" type="presParOf" srcId="{C3D55E91-FB0E-4091-A43C-6C24A6F4B505}" destId="{D5E597DF-730D-42A6-AE13-23004F20604C}" srcOrd="8" destOrd="0" presId="urn:microsoft.com/office/officeart/2008/layout/VerticalCurvedList"/>
    <dgm:cxn modelId="{FA3548C8-347D-46BE-9FA3-3A40F60A4E8C}" type="presParOf" srcId="{D5E597DF-730D-42A6-AE13-23004F20604C}" destId="{63D05291-3EE1-4740-A321-C7E956B63899}" srcOrd="0" destOrd="0" presId="urn:microsoft.com/office/officeart/2008/layout/VerticalCurvedList"/>
    <dgm:cxn modelId="{7FBA1934-C077-451B-B2C4-81155C127BC3}" type="presParOf" srcId="{C3D55E91-FB0E-4091-A43C-6C24A6F4B505}" destId="{F3F4FB28-B684-4902-9AE7-4A5C94EE279E}" srcOrd="9" destOrd="0" presId="urn:microsoft.com/office/officeart/2008/layout/VerticalCurvedList"/>
    <dgm:cxn modelId="{9BD7B3A0-605E-40CE-A674-66CF861DAA49}" type="presParOf" srcId="{C3D55E91-FB0E-4091-A43C-6C24A6F4B505}" destId="{9082631C-9BAD-48A7-91C6-540F2F8EEA4C}" srcOrd="10" destOrd="0" presId="urn:microsoft.com/office/officeart/2008/layout/VerticalCurvedList"/>
    <dgm:cxn modelId="{56C8E36D-5292-4813-B74A-3E1B3F19E7EF}" type="presParOf" srcId="{9082631C-9BAD-48A7-91C6-540F2F8EEA4C}" destId="{E8AF30A7-EEB4-4123-A487-E26456FD491B}" srcOrd="0" destOrd="0" presId="urn:microsoft.com/office/officeart/2008/layout/VerticalCurvedList"/>
  </dgm:cxnLst>
  <dgm:bg>
    <a:noFill/>
  </dgm:bg>
  <dgm:whole>
    <a:ln>
      <a:noFill/>
    </a:ln>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F2614165-BD51-4C3F-B310-F8E4DF9ECDB3}" type="datetimeFigureOut">
              <a:rPr lang="zh-CN" altLang="en-US" smtClean="0"/>
              <a:pPr/>
              <a:t>2014/4/25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EAB24C-1E21-44B1-89CE-C139F7B66366}" type="slidenum">
              <a:rPr lang="zh-CN" altLang="en-US" smtClean="0"/>
              <a:pPr/>
              <a:t>‹#›</a:t>
            </a:fld>
            <a:endParaRPr lang="zh-CN" altLang="en-US"/>
          </a:p>
        </p:txBody>
      </p:sp>
    </p:spTree>
    <p:extLst>
      <p:ext uri="{BB962C8B-B14F-4D97-AF65-F5344CB8AC3E}">
        <p14:creationId xmlns:p14="http://schemas.microsoft.com/office/powerpoint/2010/main" val="414427903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2614165-BD51-4C3F-B310-F8E4DF9ECDB3}" type="datetimeFigureOut">
              <a:rPr lang="zh-CN" altLang="en-US" smtClean="0"/>
              <a:pPr/>
              <a:t>2014/4/25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EAB24C-1E21-44B1-89CE-C139F7B66366}" type="slidenum">
              <a:rPr lang="zh-CN" altLang="en-US" smtClean="0"/>
              <a:pPr/>
              <a:t>‹#›</a:t>
            </a:fld>
            <a:endParaRPr lang="zh-CN" altLang="en-US"/>
          </a:p>
        </p:txBody>
      </p:sp>
    </p:spTree>
    <p:extLst>
      <p:ext uri="{BB962C8B-B14F-4D97-AF65-F5344CB8AC3E}">
        <p14:creationId xmlns:p14="http://schemas.microsoft.com/office/powerpoint/2010/main" val="410018315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F2614165-BD51-4C3F-B310-F8E4DF9ECDB3}" type="datetimeFigureOut">
              <a:rPr lang="zh-CN" altLang="en-US" smtClean="0"/>
              <a:pPr/>
              <a:t>2014/4/25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EAB24C-1E21-44B1-89CE-C139F7B66366}" type="slidenum">
              <a:rPr lang="zh-CN" altLang="en-US" smtClean="0"/>
              <a:pPr/>
              <a:t>‹#›</a:t>
            </a:fld>
            <a:endParaRPr lang="zh-CN" altLang="en-US"/>
          </a:p>
        </p:txBody>
      </p:sp>
    </p:spTree>
    <p:extLst>
      <p:ext uri="{BB962C8B-B14F-4D97-AF65-F5344CB8AC3E}">
        <p14:creationId xmlns:p14="http://schemas.microsoft.com/office/powerpoint/2010/main" val="446282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2614165-BD51-4C3F-B310-F8E4DF9ECDB3}" type="datetimeFigureOut">
              <a:rPr lang="zh-CN" altLang="en-US" smtClean="0"/>
              <a:pPr/>
              <a:t>2014/4/25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EAB24C-1E21-44B1-89CE-C139F7B66366}" type="slidenum">
              <a:rPr lang="zh-CN" altLang="en-US" smtClean="0"/>
              <a:pPr/>
              <a:t>‹#›</a:t>
            </a:fld>
            <a:endParaRPr lang="zh-CN" altLang="en-US"/>
          </a:p>
        </p:txBody>
      </p:sp>
    </p:spTree>
    <p:extLst>
      <p:ext uri="{BB962C8B-B14F-4D97-AF65-F5344CB8AC3E}">
        <p14:creationId xmlns:p14="http://schemas.microsoft.com/office/powerpoint/2010/main" val="1058372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2614165-BD51-4C3F-B310-F8E4DF9ECDB3}" type="datetimeFigureOut">
              <a:rPr lang="zh-CN" altLang="en-US" smtClean="0"/>
              <a:pPr/>
              <a:t>2014/4/25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6EAB24C-1E21-44B1-89CE-C139F7B66366}" type="slidenum">
              <a:rPr lang="zh-CN" altLang="en-US" smtClean="0"/>
              <a:pPr/>
              <a:t>‹#›</a:t>
            </a:fld>
            <a:endParaRPr lang="zh-CN" altLang="en-US"/>
          </a:p>
        </p:txBody>
      </p:sp>
    </p:spTree>
    <p:extLst>
      <p:ext uri="{BB962C8B-B14F-4D97-AF65-F5344CB8AC3E}">
        <p14:creationId xmlns:p14="http://schemas.microsoft.com/office/powerpoint/2010/main" val="16812218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F2614165-BD51-4C3F-B310-F8E4DF9ECDB3}" type="datetimeFigureOut">
              <a:rPr lang="zh-CN" altLang="en-US" smtClean="0"/>
              <a:pPr/>
              <a:t>2014/4/25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6EAB24C-1E21-44B1-89CE-C139F7B66366}" type="slidenum">
              <a:rPr lang="zh-CN" altLang="en-US" smtClean="0"/>
              <a:pPr/>
              <a:t>‹#›</a:t>
            </a:fld>
            <a:endParaRPr lang="zh-CN" altLang="en-US"/>
          </a:p>
        </p:txBody>
      </p:sp>
    </p:spTree>
    <p:extLst>
      <p:ext uri="{BB962C8B-B14F-4D97-AF65-F5344CB8AC3E}">
        <p14:creationId xmlns:p14="http://schemas.microsoft.com/office/powerpoint/2010/main" val="263150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p:cNvSpPr/>
          <p:nvPr userDrawn="1"/>
        </p:nvSpPr>
        <p:spPr>
          <a:xfrm>
            <a:off x="-8012" y="5165074"/>
            <a:ext cx="9152012" cy="1692925"/>
          </a:xfrm>
          <a:prstGeom prst="rect">
            <a:avLst/>
          </a:prstGeom>
          <a:solidFill>
            <a:srgbClr val="D32A3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2" name="日期占位符 1"/>
          <p:cNvSpPr>
            <a:spLocks noGrp="1"/>
          </p:cNvSpPr>
          <p:nvPr>
            <p:ph type="dt" sz="half" idx="10"/>
          </p:nvPr>
        </p:nvSpPr>
        <p:spPr/>
        <p:txBody>
          <a:bodyPr/>
          <a:lstStyle/>
          <a:p>
            <a:fld id="{F2614165-BD51-4C3F-B310-F8E4DF9ECDB3}" type="datetimeFigureOut">
              <a:rPr lang="zh-CN" altLang="en-US" smtClean="0"/>
              <a:pPr/>
              <a:t>2014/4/25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6EAB24C-1E21-44B1-89CE-C139F7B66366}" type="slidenum">
              <a:rPr lang="zh-CN" altLang="en-US" smtClean="0"/>
              <a:pPr/>
              <a:t>‹#›</a:t>
            </a:fld>
            <a:endParaRPr lang="zh-CN" altLang="en-US"/>
          </a:p>
        </p:txBody>
      </p:sp>
    </p:spTree>
    <p:extLst>
      <p:ext uri="{BB962C8B-B14F-4D97-AF65-F5344CB8AC3E}">
        <p14:creationId xmlns:p14="http://schemas.microsoft.com/office/powerpoint/2010/main" val="138939780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2614165-BD51-4C3F-B310-F8E4DF9ECDB3}" type="datetimeFigureOut">
              <a:rPr lang="zh-CN" altLang="en-US" smtClean="0"/>
              <a:pPr/>
              <a:t>2014/4/25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EAB24C-1E21-44B1-89CE-C139F7B66366}" type="slidenum">
              <a:rPr lang="zh-CN" altLang="en-US" smtClean="0"/>
              <a:pPr/>
              <a:t>‹#›</a:t>
            </a:fld>
            <a:endParaRPr lang="zh-CN" altLang="en-US"/>
          </a:p>
        </p:txBody>
      </p:sp>
    </p:spTree>
    <p:extLst>
      <p:ext uri="{BB962C8B-B14F-4D97-AF65-F5344CB8AC3E}">
        <p14:creationId xmlns:p14="http://schemas.microsoft.com/office/powerpoint/2010/main" val="3678443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2614165-BD51-4C3F-B310-F8E4DF9ECDB3}" type="datetimeFigureOut">
              <a:rPr lang="zh-CN" altLang="en-US" smtClean="0"/>
              <a:pPr/>
              <a:t>2014/4/25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EAB24C-1E21-44B1-89CE-C139F7B66366}" type="slidenum">
              <a:rPr lang="zh-CN" altLang="en-US" smtClean="0"/>
              <a:pPr/>
              <a:t>‹#›</a:t>
            </a:fld>
            <a:endParaRPr lang="zh-CN" altLang="en-US"/>
          </a:p>
        </p:txBody>
      </p:sp>
    </p:spTree>
    <p:extLst>
      <p:ext uri="{BB962C8B-B14F-4D97-AF65-F5344CB8AC3E}">
        <p14:creationId xmlns:p14="http://schemas.microsoft.com/office/powerpoint/2010/main" val="521845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2614165-BD51-4C3F-B310-F8E4DF9ECDB3}" type="datetimeFigureOut">
              <a:rPr lang="zh-CN" altLang="en-US" smtClean="0"/>
              <a:pPr/>
              <a:t>2014/4/25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EAB24C-1E21-44B1-89CE-C139F7B66366}" type="slidenum">
              <a:rPr lang="zh-CN" altLang="en-US" smtClean="0"/>
              <a:pPr/>
              <a:t>‹#›</a:t>
            </a:fld>
            <a:endParaRPr lang="zh-CN" altLang="en-US"/>
          </a:p>
        </p:txBody>
      </p:sp>
    </p:spTree>
    <p:extLst>
      <p:ext uri="{BB962C8B-B14F-4D97-AF65-F5344CB8AC3E}">
        <p14:creationId xmlns:p14="http://schemas.microsoft.com/office/powerpoint/2010/main" val="79977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2614165-BD51-4C3F-B310-F8E4DF9ECDB3}" type="datetimeFigureOut">
              <a:rPr lang="zh-CN" altLang="en-US" smtClean="0"/>
              <a:pPr/>
              <a:t>2014/4/25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EAB24C-1E21-44B1-89CE-C139F7B66366}" type="slidenum">
              <a:rPr lang="zh-CN" altLang="en-US" smtClean="0"/>
              <a:pPr/>
              <a:t>‹#›</a:t>
            </a:fld>
            <a:endParaRPr lang="zh-CN" altLang="en-US"/>
          </a:p>
        </p:txBody>
      </p:sp>
    </p:spTree>
    <p:extLst>
      <p:ext uri="{BB962C8B-B14F-4D97-AF65-F5344CB8AC3E}">
        <p14:creationId xmlns:p14="http://schemas.microsoft.com/office/powerpoint/2010/main" val="3318057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1" y="2130433"/>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1" y="3886200"/>
            <a:ext cx="6400800" cy="1752600"/>
          </a:xfrm>
        </p:spPr>
        <p:txBody>
          <a:bodyPr/>
          <a:lstStyle>
            <a:lvl1pPr marL="0" indent="0" algn="ctr">
              <a:buNone/>
              <a:defRPr>
                <a:solidFill>
                  <a:schemeClr val="tx1">
                    <a:tint val="75000"/>
                  </a:schemeClr>
                </a:solidFill>
              </a:defRPr>
            </a:lvl1pPr>
            <a:lvl2pPr marL="257132" indent="0" algn="ctr">
              <a:buNone/>
              <a:defRPr>
                <a:solidFill>
                  <a:schemeClr val="tx1">
                    <a:tint val="75000"/>
                  </a:schemeClr>
                </a:solidFill>
              </a:defRPr>
            </a:lvl2pPr>
            <a:lvl3pPr marL="514266" indent="0" algn="ctr">
              <a:buNone/>
              <a:defRPr>
                <a:solidFill>
                  <a:schemeClr val="tx1">
                    <a:tint val="75000"/>
                  </a:schemeClr>
                </a:solidFill>
              </a:defRPr>
            </a:lvl3pPr>
            <a:lvl4pPr marL="771398" indent="0" algn="ctr">
              <a:buNone/>
              <a:defRPr>
                <a:solidFill>
                  <a:schemeClr val="tx1">
                    <a:tint val="75000"/>
                  </a:schemeClr>
                </a:solidFill>
              </a:defRPr>
            </a:lvl4pPr>
            <a:lvl5pPr marL="1028531" indent="0" algn="ctr">
              <a:buNone/>
              <a:defRPr>
                <a:solidFill>
                  <a:schemeClr val="tx1">
                    <a:tint val="75000"/>
                  </a:schemeClr>
                </a:solidFill>
              </a:defRPr>
            </a:lvl5pPr>
            <a:lvl6pPr marL="1285663" indent="0" algn="ctr">
              <a:buNone/>
              <a:defRPr>
                <a:solidFill>
                  <a:schemeClr val="tx1">
                    <a:tint val="75000"/>
                  </a:schemeClr>
                </a:solidFill>
              </a:defRPr>
            </a:lvl6pPr>
            <a:lvl7pPr marL="1542796" indent="0" algn="ctr">
              <a:buNone/>
              <a:defRPr>
                <a:solidFill>
                  <a:schemeClr val="tx1">
                    <a:tint val="75000"/>
                  </a:schemeClr>
                </a:solidFill>
              </a:defRPr>
            </a:lvl7pPr>
            <a:lvl8pPr marL="1799928" indent="0" algn="ctr">
              <a:buNone/>
              <a:defRPr>
                <a:solidFill>
                  <a:schemeClr val="tx1">
                    <a:tint val="75000"/>
                  </a:schemeClr>
                </a:solidFill>
              </a:defRPr>
            </a:lvl8pPr>
            <a:lvl9pPr marL="205706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184260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86926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4" y="4406903"/>
            <a:ext cx="7772400" cy="1362076"/>
          </a:xfrm>
        </p:spPr>
        <p:txBody>
          <a:bodyPr anchor="t"/>
          <a:lstStyle>
            <a:lvl1pPr algn="l">
              <a:defRPr sz="225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4" y="2906713"/>
            <a:ext cx="7772400" cy="1500187"/>
          </a:xfrm>
        </p:spPr>
        <p:txBody>
          <a:bodyPr anchor="b"/>
          <a:lstStyle>
            <a:lvl1pPr marL="0" indent="0">
              <a:buNone/>
              <a:defRPr sz="1125">
                <a:solidFill>
                  <a:schemeClr val="tx1">
                    <a:tint val="75000"/>
                  </a:schemeClr>
                </a:solidFill>
              </a:defRPr>
            </a:lvl1pPr>
            <a:lvl2pPr marL="257132" indent="0">
              <a:buNone/>
              <a:defRPr sz="1012">
                <a:solidFill>
                  <a:schemeClr val="tx1">
                    <a:tint val="75000"/>
                  </a:schemeClr>
                </a:solidFill>
              </a:defRPr>
            </a:lvl2pPr>
            <a:lvl3pPr marL="514266" indent="0">
              <a:buNone/>
              <a:defRPr sz="900">
                <a:solidFill>
                  <a:schemeClr val="tx1">
                    <a:tint val="75000"/>
                  </a:schemeClr>
                </a:solidFill>
              </a:defRPr>
            </a:lvl3pPr>
            <a:lvl4pPr marL="771398" indent="0">
              <a:buNone/>
              <a:defRPr sz="787">
                <a:solidFill>
                  <a:schemeClr val="tx1">
                    <a:tint val="75000"/>
                  </a:schemeClr>
                </a:solidFill>
              </a:defRPr>
            </a:lvl4pPr>
            <a:lvl5pPr marL="1028531" indent="0">
              <a:buNone/>
              <a:defRPr sz="787">
                <a:solidFill>
                  <a:schemeClr val="tx1">
                    <a:tint val="75000"/>
                  </a:schemeClr>
                </a:solidFill>
              </a:defRPr>
            </a:lvl5pPr>
            <a:lvl6pPr marL="1285663" indent="0">
              <a:buNone/>
              <a:defRPr sz="787">
                <a:solidFill>
                  <a:schemeClr val="tx1">
                    <a:tint val="75000"/>
                  </a:schemeClr>
                </a:solidFill>
              </a:defRPr>
            </a:lvl6pPr>
            <a:lvl7pPr marL="1542796" indent="0">
              <a:buNone/>
              <a:defRPr sz="787">
                <a:solidFill>
                  <a:schemeClr val="tx1">
                    <a:tint val="75000"/>
                  </a:schemeClr>
                </a:solidFill>
              </a:defRPr>
            </a:lvl7pPr>
            <a:lvl8pPr marL="1799928" indent="0">
              <a:buNone/>
              <a:defRPr sz="787">
                <a:solidFill>
                  <a:schemeClr val="tx1">
                    <a:tint val="75000"/>
                  </a:schemeClr>
                </a:solidFill>
              </a:defRPr>
            </a:lvl8pPr>
            <a:lvl9pPr marL="2057060" indent="0">
              <a:buNone/>
              <a:defRPr sz="787">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94630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1" y="1600206"/>
            <a:ext cx="4038600" cy="4525963"/>
          </a:xfrm>
        </p:spPr>
        <p:txBody>
          <a:bodyPr/>
          <a:lstStyle>
            <a:lvl1pPr>
              <a:defRPr sz="1575"/>
            </a:lvl1pPr>
            <a:lvl2pPr>
              <a:defRPr sz="1350"/>
            </a:lvl2pPr>
            <a:lvl3pPr>
              <a:defRPr sz="1125"/>
            </a:lvl3pPr>
            <a:lvl4pPr>
              <a:defRPr sz="1012"/>
            </a:lvl4pPr>
            <a:lvl5pPr>
              <a:defRPr sz="1012"/>
            </a:lvl5pPr>
            <a:lvl6pPr>
              <a:defRPr sz="1012"/>
            </a:lvl6pPr>
            <a:lvl7pPr>
              <a:defRPr sz="1012"/>
            </a:lvl7pPr>
            <a:lvl8pPr>
              <a:defRPr sz="1012"/>
            </a:lvl8pPr>
            <a:lvl9pPr>
              <a:defRPr sz="101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6"/>
            <a:ext cx="4038600" cy="4525963"/>
          </a:xfrm>
        </p:spPr>
        <p:txBody>
          <a:bodyPr/>
          <a:lstStyle>
            <a:lvl1pPr>
              <a:defRPr sz="1575"/>
            </a:lvl1pPr>
            <a:lvl2pPr>
              <a:defRPr sz="1350"/>
            </a:lvl2pPr>
            <a:lvl3pPr>
              <a:defRPr sz="1125"/>
            </a:lvl3pPr>
            <a:lvl4pPr>
              <a:defRPr sz="1012"/>
            </a:lvl4pPr>
            <a:lvl5pPr>
              <a:defRPr sz="1012"/>
            </a:lvl5pPr>
            <a:lvl6pPr>
              <a:defRPr sz="1012"/>
            </a:lvl6pPr>
            <a:lvl7pPr>
              <a:defRPr sz="1012"/>
            </a:lvl7pPr>
            <a:lvl8pPr>
              <a:defRPr sz="1012"/>
            </a:lvl8pPr>
            <a:lvl9pPr>
              <a:defRPr sz="101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770718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5"/>
            <a:ext cx="4040188" cy="639763"/>
          </a:xfrm>
        </p:spPr>
        <p:txBody>
          <a:bodyPr anchor="b"/>
          <a:lstStyle>
            <a:lvl1pPr marL="0" indent="0">
              <a:buNone/>
              <a:defRPr sz="1350" b="1"/>
            </a:lvl1pPr>
            <a:lvl2pPr marL="257132" indent="0">
              <a:buNone/>
              <a:defRPr sz="1125" b="1"/>
            </a:lvl2pPr>
            <a:lvl3pPr marL="514266" indent="0">
              <a:buNone/>
              <a:defRPr sz="1012" b="1"/>
            </a:lvl3pPr>
            <a:lvl4pPr marL="771398" indent="0">
              <a:buNone/>
              <a:defRPr sz="900" b="1"/>
            </a:lvl4pPr>
            <a:lvl5pPr marL="1028531" indent="0">
              <a:buNone/>
              <a:defRPr sz="900" b="1"/>
            </a:lvl5pPr>
            <a:lvl6pPr marL="1285663" indent="0">
              <a:buNone/>
              <a:defRPr sz="900" b="1"/>
            </a:lvl6pPr>
            <a:lvl7pPr marL="1542796" indent="0">
              <a:buNone/>
              <a:defRPr sz="900" b="1"/>
            </a:lvl7pPr>
            <a:lvl8pPr marL="1799928" indent="0">
              <a:buNone/>
              <a:defRPr sz="900" b="1"/>
            </a:lvl8pPr>
            <a:lvl9pPr marL="2057060" indent="0">
              <a:buNone/>
              <a:defRPr sz="9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350"/>
            </a:lvl1pPr>
            <a:lvl2pPr>
              <a:defRPr sz="1125"/>
            </a:lvl2pPr>
            <a:lvl3pPr>
              <a:defRPr sz="1012"/>
            </a:lvl3pPr>
            <a:lvl4pPr>
              <a:defRPr sz="900"/>
            </a:lvl4pPr>
            <a:lvl5pPr>
              <a:defRPr sz="900"/>
            </a:lvl5pPr>
            <a:lvl6pPr>
              <a:defRPr sz="900"/>
            </a:lvl6pPr>
            <a:lvl7pPr>
              <a:defRPr sz="900"/>
            </a:lvl7pPr>
            <a:lvl8pPr>
              <a:defRPr sz="900"/>
            </a:lvl8pPr>
            <a:lvl9pPr>
              <a:defRPr sz="9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30" y="1535115"/>
            <a:ext cx="4041775" cy="639763"/>
          </a:xfrm>
        </p:spPr>
        <p:txBody>
          <a:bodyPr anchor="b"/>
          <a:lstStyle>
            <a:lvl1pPr marL="0" indent="0">
              <a:buNone/>
              <a:defRPr sz="1350" b="1"/>
            </a:lvl1pPr>
            <a:lvl2pPr marL="257132" indent="0">
              <a:buNone/>
              <a:defRPr sz="1125" b="1"/>
            </a:lvl2pPr>
            <a:lvl3pPr marL="514266" indent="0">
              <a:buNone/>
              <a:defRPr sz="1012" b="1"/>
            </a:lvl3pPr>
            <a:lvl4pPr marL="771398" indent="0">
              <a:buNone/>
              <a:defRPr sz="900" b="1"/>
            </a:lvl4pPr>
            <a:lvl5pPr marL="1028531" indent="0">
              <a:buNone/>
              <a:defRPr sz="900" b="1"/>
            </a:lvl5pPr>
            <a:lvl6pPr marL="1285663" indent="0">
              <a:buNone/>
              <a:defRPr sz="900" b="1"/>
            </a:lvl6pPr>
            <a:lvl7pPr marL="1542796" indent="0">
              <a:buNone/>
              <a:defRPr sz="900" b="1"/>
            </a:lvl7pPr>
            <a:lvl8pPr marL="1799928" indent="0">
              <a:buNone/>
              <a:defRPr sz="900" b="1"/>
            </a:lvl8pPr>
            <a:lvl9pPr marL="2057060" indent="0">
              <a:buNone/>
              <a:defRPr sz="900" b="1"/>
            </a:lvl9pPr>
          </a:lstStyle>
          <a:p>
            <a:pPr lvl="0"/>
            <a:r>
              <a:rPr lang="zh-CN" altLang="en-US" smtClean="0"/>
              <a:t>单击此处编辑母版文本样式</a:t>
            </a:r>
          </a:p>
        </p:txBody>
      </p:sp>
      <p:sp>
        <p:nvSpPr>
          <p:cNvPr id="6" name="内容占位符 5"/>
          <p:cNvSpPr>
            <a:spLocks noGrp="1"/>
          </p:cNvSpPr>
          <p:nvPr>
            <p:ph sz="quarter" idx="4"/>
          </p:nvPr>
        </p:nvSpPr>
        <p:spPr>
          <a:xfrm>
            <a:off x="4645030" y="2174875"/>
            <a:ext cx="4041775" cy="3951288"/>
          </a:xfrm>
        </p:spPr>
        <p:txBody>
          <a:bodyPr/>
          <a:lstStyle>
            <a:lvl1pPr>
              <a:defRPr sz="1350"/>
            </a:lvl1pPr>
            <a:lvl2pPr>
              <a:defRPr sz="1125"/>
            </a:lvl2pPr>
            <a:lvl3pPr>
              <a:defRPr sz="1012"/>
            </a:lvl3pPr>
            <a:lvl4pPr>
              <a:defRPr sz="900"/>
            </a:lvl4pPr>
            <a:lvl5pPr>
              <a:defRPr sz="900"/>
            </a:lvl5pPr>
            <a:lvl6pPr>
              <a:defRPr sz="900"/>
            </a:lvl6pPr>
            <a:lvl7pPr>
              <a:defRPr sz="900"/>
            </a:lvl7pPr>
            <a:lvl8pPr>
              <a:defRPr sz="900"/>
            </a:lvl8pPr>
            <a:lvl9pPr>
              <a:defRPr sz="9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142387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547062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7395653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4" y="273053"/>
            <a:ext cx="3008313" cy="1162051"/>
          </a:xfrm>
        </p:spPr>
        <p:txBody>
          <a:bodyPr anchor="b"/>
          <a:lstStyle>
            <a:lvl1pPr algn="l">
              <a:defRPr sz="1125"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2" y="273058"/>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4" y="1435104"/>
            <a:ext cx="3008313" cy="4691063"/>
          </a:xfrm>
        </p:spPr>
        <p:txBody>
          <a:bodyPr/>
          <a:lstStyle>
            <a:lvl1pPr marL="0" indent="0">
              <a:buNone/>
              <a:defRPr sz="787"/>
            </a:lvl1pPr>
            <a:lvl2pPr marL="257132" indent="0">
              <a:buNone/>
              <a:defRPr sz="675"/>
            </a:lvl2pPr>
            <a:lvl3pPr marL="514266" indent="0">
              <a:buNone/>
              <a:defRPr sz="562"/>
            </a:lvl3pPr>
            <a:lvl4pPr marL="771398" indent="0">
              <a:buNone/>
              <a:defRPr sz="507"/>
            </a:lvl4pPr>
            <a:lvl5pPr marL="1028531" indent="0">
              <a:buNone/>
              <a:defRPr sz="507"/>
            </a:lvl5pPr>
            <a:lvl6pPr marL="1285663" indent="0">
              <a:buNone/>
              <a:defRPr sz="507"/>
            </a:lvl6pPr>
            <a:lvl7pPr marL="1542796" indent="0">
              <a:buNone/>
              <a:defRPr sz="507"/>
            </a:lvl7pPr>
            <a:lvl8pPr marL="1799928" indent="0">
              <a:buNone/>
              <a:defRPr sz="507"/>
            </a:lvl8pPr>
            <a:lvl9pPr marL="2057060" indent="0">
              <a:buNone/>
              <a:defRPr sz="507"/>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847194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2"/>
            <a:ext cx="5486400" cy="566740"/>
          </a:xfrm>
        </p:spPr>
        <p:txBody>
          <a:bodyPr anchor="b"/>
          <a:lstStyle>
            <a:lvl1pPr algn="l">
              <a:defRPr sz="1125"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1800"/>
            </a:lvl1pPr>
            <a:lvl2pPr marL="257132" indent="0">
              <a:buNone/>
              <a:defRPr sz="1575"/>
            </a:lvl2pPr>
            <a:lvl3pPr marL="514266" indent="0">
              <a:buNone/>
              <a:defRPr sz="1350"/>
            </a:lvl3pPr>
            <a:lvl4pPr marL="771398" indent="0">
              <a:buNone/>
              <a:defRPr sz="1125"/>
            </a:lvl4pPr>
            <a:lvl5pPr marL="1028531" indent="0">
              <a:buNone/>
              <a:defRPr sz="1125"/>
            </a:lvl5pPr>
            <a:lvl6pPr marL="1285663" indent="0">
              <a:buNone/>
              <a:defRPr sz="1125"/>
            </a:lvl6pPr>
            <a:lvl7pPr marL="1542796" indent="0">
              <a:buNone/>
              <a:defRPr sz="1125"/>
            </a:lvl7pPr>
            <a:lvl8pPr marL="1799928" indent="0">
              <a:buNone/>
              <a:defRPr sz="1125"/>
            </a:lvl8pPr>
            <a:lvl9pPr marL="2057060" indent="0">
              <a:buNone/>
              <a:defRPr sz="1125"/>
            </a:lvl9pPr>
          </a:lstStyle>
          <a:p>
            <a:endParaRPr lang="zh-CN" altLang="en-US"/>
          </a:p>
        </p:txBody>
      </p:sp>
      <p:sp>
        <p:nvSpPr>
          <p:cNvPr id="4" name="文本占位符 3"/>
          <p:cNvSpPr>
            <a:spLocks noGrp="1"/>
          </p:cNvSpPr>
          <p:nvPr>
            <p:ph type="body" sz="half" idx="2"/>
          </p:nvPr>
        </p:nvSpPr>
        <p:spPr>
          <a:xfrm>
            <a:off x="1792288" y="5367340"/>
            <a:ext cx="5486400" cy="804863"/>
          </a:xfrm>
        </p:spPr>
        <p:txBody>
          <a:bodyPr/>
          <a:lstStyle>
            <a:lvl1pPr marL="0" indent="0">
              <a:buNone/>
              <a:defRPr sz="787"/>
            </a:lvl1pPr>
            <a:lvl2pPr marL="257132" indent="0">
              <a:buNone/>
              <a:defRPr sz="675"/>
            </a:lvl2pPr>
            <a:lvl3pPr marL="514266" indent="0">
              <a:buNone/>
              <a:defRPr sz="562"/>
            </a:lvl3pPr>
            <a:lvl4pPr marL="771398" indent="0">
              <a:buNone/>
              <a:defRPr sz="507"/>
            </a:lvl4pPr>
            <a:lvl5pPr marL="1028531" indent="0">
              <a:buNone/>
              <a:defRPr sz="507"/>
            </a:lvl5pPr>
            <a:lvl6pPr marL="1285663" indent="0">
              <a:buNone/>
              <a:defRPr sz="507"/>
            </a:lvl6pPr>
            <a:lvl7pPr marL="1542796" indent="0">
              <a:buNone/>
              <a:defRPr sz="507"/>
            </a:lvl7pPr>
            <a:lvl8pPr marL="1799928" indent="0">
              <a:buNone/>
              <a:defRPr sz="507"/>
            </a:lvl8pPr>
            <a:lvl9pPr marL="2057060" indent="0">
              <a:buNone/>
              <a:defRPr sz="507"/>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14913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506584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5"/>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1" y="274645"/>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8D27441-63DE-4ADF-BAF3-45B112D3498E}"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91183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1" y="2130433"/>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1" y="3886200"/>
            <a:ext cx="6400800" cy="1752600"/>
          </a:xfrm>
        </p:spPr>
        <p:txBody>
          <a:bodyPr/>
          <a:lstStyle>
            <a:lvl1pPr marL="0" indent="0" algn="ctr">
              <a:buNone/>
              <a:defRPr>
                <a:solidFill>
                  <a:schemeClr val="tx1">
                    <a:tint val="75000"/>
                  </a:schemeClr>
                </a:solidFill>
              </a:defRPr>
            </a:lvl1pPr>
            <a:lvl2pPr marL="257132" indent="0" algn="ctr">
              <a:buNone/>
              <a:defRPr>
                <a:solidFill>
                  <a:schemeClr val="tx1">
                    <a:tint val="75000"/>
                  </a:schemeClr>
                </a:solidFill>
              </a:defRPr>
            </a:lvl2pPr>
            <a:lvl3pPr marL="514266" indent="0" algn="ctr">
              <a:buNone/>
              <a:defRPr>
                <a:solidFill>
                  <a:schemeClr val="tx1">
                    <a:tint val="75000"/>
                  </a:schemeClr>
                </a:solidFill>
              </a:defRPr>
            </a:lvl3pPr>
            <a:lvl4pPr marL="771398" indent="0" algn="ctr">
              <a:buNone/>
              <a:defRPr>
                <a:solidFill>
                  <a:schemeClr val="tx1">
                    <a:tint val="75000"/>
                  </a:schemeClr>
                </a:solidFill>
              </a:defRPr>
            </a:lvl4pPr>
            <a:lvl5pPr marL="1028531" indent="0" algn="ctr">
              <a:buNone/>
              <a:defRPr>
                <a:solidFill>
                  <a:schemeClr val="tx1">
                    <a:tint val="75000"/>
                  </a:schemeClr>
                </a:solidFill>
              </a:defRPr>
            </a:lvl5pPr>
            <a:lvl6pPr marL="1285663" indent="0" algn="ctr">
              <a:buNone/>
              <a:defRPr>
                <a:solidFill>
                  <a:schemeClr val="tx1">
                    <a:tint val="75000"/>
                  </a:schemeClr>
                </a:solidFill>
              </a:defRPr>
            </a:lvl6pPr>
            <a:lvl7pPr marL="1542796" indent="0" algn="ctr">
              <a:buNone/>
              <a:defRPr>
                <a:solidFill>
                  <a:schemeClr val="tx1">
                    <a:tint val="75000"/>
                  </a:schemeClr>
                </a:solidFill>
              </a:defRPr>
            </a:lvl7pPr>
            <a:lvl8pPr marL="1799928" indent="0" algn="ctr">
              <a:buNone/>
              <a:defRPr>
                <a:solidFill>
                  <a:schemeClr val="tx1">
                    <a:tint val="75000"/>
                  </a:schemeClr>
                </a:solidFill>
              </a:defRPr>
            </a:lvl8pPr>
            <a:lvl9pPr marL="205706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873760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1" y="980728"/>
            <a:ext cx="8229600" cy="1143000"/>
          </a:xfrm>
        </p:spPr>
        <p:txBody>
          <a:bodyPr/>
          <a:lstStyle/>
          <a:p>
            <a:r>
              <a:rPr lang="zh-CN" altLang="en-US" dirty="0" smtClean="0"/>
              <a:t>单击此处编辑母版标题样式</a:t>
            </a:r>
            <a:endParaRPr lang="zh-CN" altLang="en-US" dirty="0"/>
          </a:p>
        </p:txBody>
      </p:sp>
      <p:sp>
        <p:nvSpPr>
          <p:cNvPr id="3" name="日期占位符 2"/>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
        <p:nvSpPr>
          <p:cNvPr id="6" name="矩形 5"/>
          <p:cNvSpPr/>
          <p:nvPr userDrawn="1"/>
        </p:nvSpPr>
        <p:spPr>
          <a:xfrm>
            <a:off x="1" y="0"/>
            <a:ext cx="9144000" cy="620688"/>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solidFill>
                <a:prstClr val="white"/>
              </a:solidFill>
            </a:endParaRPr>
          </a:p>
        </p:txBody>
      </p:sp>
    </p:spTree>
    <p:extLst>
      <p:ext uri="{BB962C8B-B14F-4D97-AF65-F5344CB8AC3E}">
        <p14:creationId xmlns:p14="http://schemas.microsoft.com/office/powerpoint/2010/main" val="42556775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869654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4" y="4406903"/>
            <a:ext cx="7772400" cy="1362076"/>
          </a:xfrm>
        </p:spPr>
        <p:txBody>
          <a:bodyPr anchor="t"/>
          <a:lstStyle>
            <a:lvl1pPr algn="l">
              <a:defRPr sz="225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4" y="2906713"/>
            <a:ext cx="7772400" cy="1500187"/>
          </a:xfrm>
        </p:spPr>
        <p:txBody>
          <a:bodyPr anchor="b"/>
          <a:lstStyle>
            <a:lvl1pPr marL="0" indent="0">
              <a:buNone/>
              <a:defRPr sz="1125">
                <a:solidFill>
                  <a:schemeClr val="tx1">
                    <a:tint val="75000"/>
                  </a:schemeClr>
                </a:solidFill>
              </a:defRPr>
            </a:lvl1pPr>
            <a:lvl2pPr marL="257132" indent="0">
              <a:buNone/>
              <a:defRPr sz="1012">
                <a:solidFill>
                  <a:schemeClr val="tx1">
                    <a:tint val="75000"/>
                  </a:schemeClr>
                </a:solidFill>
              </a:defRPr>
            </a:lvl2pPr>
            <a:lvl3pPr marL="514266" indent="0">
              <a:buNone/>
              <a:defRPr sz="900">
                <a:solidFill>
                  <a:schemeClr val="tx1">
                    <a:tint val="75000"/>
                  </a:schemeClr>
                </a:solidFill>
              </a:defRPr>
            </a:lvl3pPr>
            <a:lvl4pPr marL="771398" indent="0">
              <a:buNone/>
              <a:defRPr sz="787">
                <a:solidFill>
                  <a:schemeClr val="tx1">
                    <a:tint val="75000"/>
                  </a:schemeClr>
                </a:solidFill>
              </a:defRPr>
            </a:lvl4pPr>
            <a:lvl5pPr marL="1028531" indent="0">
              <a:buNone/>
              <a:defRPr sz="787">
                <a:solidFill>
                  <a:schemeClr val="tx1">
                    <a:tint val="75000"/>
                  </a:schemeClr>
                </a:solidFill>
              </a:defRPr>
            </a:lvl5pPr>
            <a:lvl6pPr marL="1285663" indent="0">
              <a:buNone/>
              <a:defRPr sz="787">
                <a:solidFill>
                  <a:schemeClr val="tx1">
                    <a:tint val="75000"/>
                  </a:schemeClr>
                </a:solidFill>
              </a:defRPr>
            </a:lvl6pPr>
            <a:lvl7pPr marL="1542796" indent="0">
              <a:buNone/>
              <a:defRPr sz="787">
                <a:solidFill>
                  <a:schemeClr val="tx1">
                    <a:tint val="75000"/>
                  </a:schemeClr>
                </a:solidFill>
              </a:defRPr>
            </a:lvl7pPr>
            <a:lvl8pPr marL="1799928" indent="0">
              <a:buNone/>
              <a:defRPr sz="787">
                <a:solidFill>
                  <a:schemeClr val="tx1">
                    <a:tint val="75000"/>
                  </a:schemeClr>
                </a:solidFill>
              </a:defRPr>
            </a:lvl8pPr>
            <a:lvl9pPr marL="2057060" indent="0">
              <a:buNone/>
              <a:defRPr sz="787">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161499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1" y="1600206"/>
            <a:ext cx="4038600" cy="4525963"/>
          </a:xfrm>
        </p:spPr>
        <p:txBody>
          <a:bodyPr/>
          <a:lstStyle>
            <a:lvl1pPr>
              <a:defRPr sz="1575"/>
            </a:lvl1pPr>
            <a:lvl2pPr>
              <a:defRPr sz="1350"/>
            </a:lvl2pPr>
            <a:lvl3pPr>
              <a:defRPr sz="1125"/>
            </a:lvl3pPr>
            <a:lvl4pPr>
              <a:defRPr sz="1012"/>
            </a:lvl4pPr>
            <a:lvl5pPr>
              <a:defRPr sz="1012"/>
            </a:lvl5pPr>
            <a:lvl6pPr>
              <a:defRPr sz="1012"/>
            </a:lvl6pPr>
            <a:lvl7pPr>
              <a:defRPr sz="1012"/>
            </a:lvl7pPr>
            <a:lvl8pPr>
              <a:defRPr sz="1012"/>
            </a:lvl8pPr>
            <a:lvl9pPr>
              <a:defRPr sz="101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6"/>
            <a:ext cx="4038600" cy="4525963"/>
          </a:xfrm>
        </p:spPr>
        <p:txBody>
          <a:bodyPr/>
          <a:lstStyle>
            <a:lvl1pPr>
              <a:defRPr sz="1575"/>
            </a:lvl1pPr>
            <a:lvl2pPr>
              <a:defRPr sz="1350"/>
            </a:lvl2pPr>
            <a:lvl3pPr>
              <a:defRPr sz="1125"/>
            </a:lvl3pPr>
            <a:lvl4pPr>
              <a:defRPr sz="1012"/>
            </a:lvl4pPr>
            <a:lvl5pPr>
              <a:defRPr sz="1012"/>
            </a:lvl5pPr>
            <a:lvl6pPr>
              <a:defRPr sz="1012"/>
            </a:lvl6pPr>
            <a:lvl7pPr>
              <a:defRPr sz="1012"/>
            </a:lvl7pPr>
            <a:lvl8pPr>
              <a:defRPr sz="1012"/>
            </a:lvl8pPr>
            <a:lvl9pPr>
              <a:defRPr sz="1012"/>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953765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5"/>
            <a:ext cx="4040188" cy="639763"/>
          </a:xfrm>
        </p:spPr>
        <p:txBody>
          <a:bodyPr anchor="b"/>
          <a:lstStyle>
            <a:lvl1pPr marL="0" indent="0">
              <a:buNone/>
              <a:defRPr sz="1350" b="1"/>
            </a:lvl1pPr>
            <a:lvl2pPr marL="257132" indent="0">
              <a:buNone/>
              <a:defRPr sz="1125" b="1"/>
            </a:lvl2pPr>
            <a:lvl3pPr marL="514266" indent="0">
              <a:buNone/>
              <a:defRPr sz="1012" b="1"/>
            </a:lvl3pPr>
            <a:lvl4pPr marL="771398" indent="0">
              <a:buNone/>
              <a:defRPr sz="900" b="1"/>
            </a:lvl4pPr>
            <a:lvl5pPr marL="1028531" indent="0">
              <a:buNone/>
              <a:defRPr sz="900" b="1"/>
            </a:lvl5pPr>
            <a:lvl6pPr marL="1285663" indent="0">
              <a:buNone/>
              <a:defRPr sz="900" b="1"/>
            </a:lvl6pPr>
            <a:lvl7pPr marL="1542796" indent="0">
              <a:buNone/>
              <a:defRPr sz="900" b="1"/>
            </a:lvl7pPr>
            <a:lvl8pPr marL="1799928" indent="0">
              <a:buNone/>
              <a:defRPr sz="900" b="1"/>
            </a:lvl8pPr>
            <a:lvl9pPr marL="2057060" indent="0">
              <a:buNone/>
              <a:defRPr sz="9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350"/>
            </a:lvl1pPr>
            <a:lvl2pPr>
              <a:defRPr sz="1125"/>
            </a:lvl2pPr>
            <a:lvl3pPr>
              <a:defRPr sz="1012"/>
            </a:lvl3pPr>
            <a:lvl4pPr>
              <a:defRPr sz="900"/>
            </a:lvl4pPr>
            <a:lvl5pPr>
              <a:defRPr sz="900"/>
            </a:lvl5pPr>
            <a:lvl6pPr>
              <a:defRPr sz="900"/>
            </a:lvl6pPr>
            <a:lvl7pPr>
              <a:defRPr sz="900"/>
            </a:lvl7pPr>
            <a:lvl8pPr>
              <a:defRPr sz="900"/>
            </a:lvl8pPr>
            <a:lvl9pPr>
              <a:defRPr sz="9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30" y="1535115"/>
            <a:ext cx="4041775" cy="639763"/>
          </a:xfrm>
        </p:spPr>
        <p:txBody>
          <a:bodyPr anchor="b"/>
          <a:lstStyle>
            <a:lvl1pPr marL="0" indent="0">
              <a:buNone/>
              <a:defRPr sz="1350" b="1"/>
            </a:lvl1pPr>
            <a:lvl2pPr marL="257132" indent="0">
              <a:buNone/>
              <a:defRPr sz="1125" b="1"/>
            </a:lvl2pPr>
            <a:lvl3pPr marL="514266" indent="0">
              <a:buNone/>
              <a:defRPr sz="1012" b="1"/>
            </a:lvl3pPr>
            <a:lvl4pPr marL="771398" indent="0">
              <a:buNone/>
              <a:defRPr sz="900" b="1"/>
            </a:lvl4pPr>
            <a:lvl5pPr marL="1028531" indent="0">
              <a:buNone/>
              <a:defRPr sz="900" b="1"/>
            </a:lvl5pPr>
            <a:lvl6pPr marL="1285663" indent="0">
              <a:buNone/>
              <a:defRPr sz="900" b="1"/>
            </a:lvl6pPr>
            <a:lvl7pPr marL="1542796" indent="0">
              <a:buNone/>
              <a:defRPr sz="900" b="1"/>
            </a:lvl7pPr>
            <a:lvl8pPr marL="1799928" indent="0">
              <a:buNone/>
              <a:defRPr sz="900" b="1"/>
            </a:lvl8pPr>
            <a:lvl9pPr marL="2057060" indent="0">
              <a:buNone/>
              <a:defRPr sz="900" b="1"/>
            </a:lvl9pPr>
          </a:lstStyle>
          <a:p>
            <a:pPr lvl="0"/>
            <a:r>
              <a:rPr lang="zh-CN" altLang="en-US" smtClean="0"/>
              <a:t>单击此处编辑母版文本样式</a:t>
            </a:r>
          </a:p>
        </p:txBody>
      </p:sp>
      <p:sp>
        <p:nvSpPr>
          <p:cNvPr id="6" name="内容占位符 5"/>
          <p:cNvSpPr>
            <a:spLocks noGrp="1"/>
          </p:cNvSpPr>
          <p:nvPr>
            <p:ph sz="quarter" idx="4"/>
          </p:nvPr>
        </p:nvSpPr>
        <p:spPr>
          <a:xfrm>
            <a:off x="4645030" y="2174875"/>
            <a:ext cx="4041775" cy="3951288"/>
          </a:xfrm>
        </p:spPr>
        <p:txBody>
          <a:bodyPr/>
          <a:lstStyle>
            <a:lvl1pPr>
              <a:defRPr sz="1350"/>
            </a:lvl1pPr>
            <a:lvl2pPr>
              <a:defRPr sz="1125"/>
            </a:lvl2pPr>
            <a:lvl3pPr>
              <a:defRPr sz="1012"/>
            </a:lvl3pPr>
            <a:lvl4pPr>
              <a:defRPr sz="900"/>
            </a:lvl4pPr>
            <a:lvl5pPr>
              <a:defRPr sz="900"/>
            </a:lvl5pPr>
            <a:lvl6pPr>
              <a:defRPr sz="900"/>
            </a:lvl6pPr>
            <a:lvl7pPr>
              <a:defRPr sz="900"/>
            </a:lvl7pPr>
            <a:lvl8pPr>
              <a:defRPr sz="900"/>
            </a:lvl8pPr>
            <a:lvl9pPr>
              <a:defRPr sz="9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664779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192559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
        <p:nvSpPr>
          <p:cNvPr id="5" name="矩形 4"/>
          <p:cNvSpPr/>
          <p:nvPr userDrawn="1"/>
        </p:nvSpPr>
        <p:spPr>
          <a:xfrm>
            <a:off x="3947" y="-51325"/>
            <a:ext cx="9140054" cy="706828"/>
          </a:xfrm>
          <a:prstGeom prst="rect">
            <a:avLst/>
          </a:prstGeom>
          <a:solidFill>
            <a:srgbClr val="9B743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solidFill>
                <a:prstClr val="white"/>
              </a:solidFill>
            </a:endParaRPr>
          </a:p>
        </p:txBody>
      </p:sp>
      <p:sp>
        <p:nvSpPr>
          <p:cNvPr id="6" name="椭圆 5"/>
          <p:cNvSpPr/>
          <p:nvPr userDrawn="1"/>
        </p:nvSpPr>
        <p:spPr>
          <a:xfrm>
            <a:off x="894852" y="585521"/>
            <a:ext cx="468052" cy="468000"/>
          </a:xfrm>
          <a:prstGeom prst="ellipse">
            <a:avLst/>
          </a:prstGeom>
          <a:solidFill>
            <a:srgbClr val="D1B48C"/>
          </a:solidFill>
          <a:ln>
            <a:solidFill>
              <a:schemeClr val="bg1"/>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solidFill>
                <a:prstClr val="white"/>
              </a:solidFill>
            </a:endParaRPr>
          </a:p>
        </p:txBody>
      </p:sp>
      <p:sp>
        <p:nvSpPr>
          <p:cNvPr id="7" name="椭圆 6"/>
          <p:cNvSpPr/>
          <p:nvPr userDrawn="1"/>
        </p:nvSpPr>
        <p:spPr>
          <a:xfrm>
            <a:off x="3946" y="26340"/>
            <a:ext cx="1080000" cy="1080000"/>
          </a:xfrm>
          <a:prstGeom prst="ellipse">
            <a:avLst/>
          </a:prstGeom>
          <a:blipFill dpi="0" rotWithShape="1">
            <a:blip r:embed="rId2"/>
            <a:srcRect/>
            <a:tile tx="-177800" ty="-158750" sx="100000" sy="100000" flip="none" algn="tl"/>
          </a:blipFill>
          <a:ln>
            <a:solidFill>
              <a:schemeClr val="bg1"/>
            </a:solidFill>
            <a:prstDash val="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solidFill>
                <a:prstClr val="white"/>
              </a:solidFill>
            </a:endParaRPr>
          </a:p>
        </p:txBody>
      </p:sp>
    </p:spTree>
    <p:extLst>
      <p:ext uri="{BB962C8B-B14F-4D97-AF65-F5344CB8AC3E}">
        <p14:creationId xmlns:p14="http://schemas.microsoft.com/office/powerpoint/2010/main" val="2241820462"/>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4" y="273053"/>
            <a:ext cx="3008313" cy="1162051"/>
          </a:xfrm>
        </p:spPr>
        <p:txBody>
          <a:bodyPr anchor="b"/>
          <a:lstStyle>
            <a:lvl1pPr algn="l">
              <a:defRPr sz="1125"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2" y="273058"/>
            <a:ext cx="5111750" cy="5853113"/>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4" y="1435104"/>
            <a:ext cx="3008313" cy="4691063"/>
          </a:xfrm>
        </p:spPr>
        <p:txBody>
          <a:bodyPr/>
          <a:lstStyle>
            <a:lvl1pPr marL="0" indent="0">
              <a:buNone/>
              <a:defRPr sz="787"/>
            </a:lvl1pPr>
            <a:lvl2pPr marL="257132" indent="0">
              <a:buNone/>
              <a:defRPr sz="675"/>
            </a:lvl2pPr>
            <a:lvl3pPr marL="514266" indent="0">
              <a:buNone/>
              <a:defRPr sz="562"/>
            </a:lvl3pPr>
            <a:lvl4pPr marL="771398" indent="0">
              <a:buNone/>
              <a:defRPr sz="507"/>
            </a:lvl4pPr>
            <a:lvl5pPr marL="1028531" indent="0">
              <a:buNone/>
              <a:defRPr sz="507"/>
            </a:lvl5pPr>
            <a:lvl6pPr marL="1285663" indent="0">
              <a:buNone/>
              <a:defRPr sz="507"/>
            </a:lvl6pPr>
            <a:lvl7pPr marL="1542796" indent="0">
              <a:buNone/>
              <a:defRPr sz="507"/>
            </a:lvl7pPr>
            <a:lvl8pPr marL="1799928" indent="0">
              <a:buNone/>
              <a:defRPr sz="507"/>
            </a:lvl8pPr>
            <a:lvl9pPr marL="2057060" indent="0">
              <a:buNone/>
              <a:defRPr sz="507"/>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035290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2"/>
            <a:ext cx="5486400" cy="566740"/>
          </a:xfrm>
        </p:spPr>
        <p:txBody>
          <a:bodyPr anchor="b"/>
          <a:lstStyle>
            <a:lvl1pPr algn="l">
              <a:defRPr sz="1125"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1800"/>
            </a:lvl1pPr>
            <a:lvl2pPr marL="257132" indent="0">
              <a:buNone/>
              <a:defRPr sz="1575"/>
            </a:lvl2pPr>
            <a:lvl3pPr marL="514266" indent="0">
              <a:buNone/>
              <a:defRPr sz="1350"/>
            </a:lvl3pPr>
            <a:lvl4pPr marL="771398" indent="0">
              <a:buNone/>
              <a:defRPr sz="1125"/>
            </a:lvl4pPr>
            <a:lvl5pPr marL="1028531" indent="0">
              <a:buNone/>
              <a:defRPr sz="1125"/>
            </a:lvl5pPr>
            <a:lvl6pPr marL="1285663" indent="0">
              <a:buNone/>
              <a:defRPr sz="1125"/>
            </a:lvl6pPr>
            <a:lvl7pPr marL="1542796" indent="0">
              <a:buNone/>
              <a:defRPr sz="1125"/>
            </a:lvl7pPr>
            <a:lvl8pPr marL="1799928" indent="0">
              <a:buNone/>
              <a:defRPr sz="1125"/>
            </a:lvl8pPr>
            <a:lvl9pPr marL="2057060" indent="0">
              <a:buNone/>
              <a:defRPr sz="1125"/>
            </a:lvl9pPr>
          </a:lstStyle>
          <a:p>
            <a:endParaRPr lang="zh-CN" altLang="en-US"/>
          </a:p>
        </p:txBody>
      </p:sp>
      <p:sp>
        <p:nvSpPr>
          <p:cNvPr id="4" name="文本占位符 3"/>
          <p:cNvSpPr>
            <a:spLocks noGrp="1"/>
          </p:cNvSpPr>
          <p:nvPr>
            <p:ph type="body" sz="half" idx="2"/>
          </p:nvPr>
        </p:nvSpPr>
        <p:spPr>
          <a:xfrm>
            <a:off x="1792288" y="5367340"/>
            <a:ext cx="5486400" cy="804863"/>
          </a:xfrm>
        </p:spPr>
        <p:txBody>
          <a:bodyPr/>
          <a:lstStyle>
            <a:lvl1pPr marL="0" indent="0">
              <a:buNone/>
              <a:defRPr sz="787"/>
            </a:lvl1pPr>
            <a:lvl2pPr marL="257132" indent="0">
              <a:buNone/>
              <a:defRPr sz="675"/>
            </a:lvl2pPr>
            <a:lvl3pPr marL="514266" indent="0">
              <a:buNone/>
              <a:defRPr sz="562"/>
            </a:lvl3pPr>
            <a:lvl4pPr marL="771398" indent="0">
              <a:buNone/>
              <a:defRPr sz="507"/>
            </a:lvl4pPr>
            <a:lvl5pPr marL="1028531" indent="0">
              <a:buNone/>
              <a:defRPr sz="507"/>
            </a:lvl5pPr>
            <a:lvl6pPr marL="1285663" indent="0">
              <a:buNone/>
              <a:defRPr sz="507"/>
            </a:lvl6pPr>
            <a:lvl7pPr marL="1542796" indent="0">
              <a:buNone/>
              <a:defRPr sz="507"/>
            </a:lvl7pPr>
            <a:lvl8pPr marL="1799928" indent="0">
              <a:buNone/>
              <a:defRPr sz="507"/>
            </a:lvl8pPr>
            <a:lvl9pPr marL="2057060" indent="0">
              <a:buNone/>
              <a:defRPr sz="507"/>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887881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881271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5"/>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1" y="274645"/>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9F66714-2674-4B81-913D-D82F31896798}"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37004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2CE84"/>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614165-BD51-4C3F-B310-F8E4DF9ECDB3}" type="datetimeFigureOut">
              <a:rPr lang="zh-CN" altLang="en-US" smtClean="0"/>
              <a:pPr/>
              <a:t>2014/4/25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EAB24C-1E21-44B1-89CE-C139F7B66366}" type="slidenum">
              <a:rPr lang="zh-CN" altLang="en-US" smtClean="0"/>
              <a:pPr/>
              <a:t>‹#›</a:t>
            </a:fld>
            <a:endParaRPr lang="zh-CN" altLang="en-US"/>
          </a:p>
        </p:txBody>
      </p:sp>
    </p:spTree>
    <p:extLst>
      <p:ext uri="{BB962C8B-B14F-4D97-AF65-F5344CB8AC3E}">
        <p14:creationId xmlns:p14="http://schemas.microsoft.com/office/powerpoint/2010/main" val="655704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74639"/>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1" y="1600206"/>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1" y="6356359"/>
            <a:ext cx="2133600" cy="365125"/>
          </a:xfrm>
          <a:prstGeom prst="rect">
            <a:avLst/>
          </a:prstGeom>
        </p:spPr>
        <p:txBody>
          <a:bodyPr vert="horz" lIns="91440" tIns="45720" rIns="91440" bIns="45720" rtlCol="0" anchor="ctr"/>
          <a:lstStyle>
            <a:lvl1pPr algn="l">
              <a:defRPr sz="675">
                <a:solidFill>
                  <a:schemeClr val="tx1">
                    <a:tint val="75000"/>
                  </a:schemeClr>
                </a:solidFill>
              </a:defRPr>
            </a:lvl1pPr>
          </a:lstStyle>
          <a:p>
            <a:fld id="{F8D27441-63DE-4ADF-BAF3-45B112D3498E}"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3"/>
          </p:nvPr>
        </p:nvSpPr>
        <p:spPr>
          <a:xfrm>
            <a:off x="3124201" y="6356359"/>
            <a:ext cx="28956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3201" y="6356359"/>
            <a:ext cx="21336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2274ACB2-54B4-4246-A664-42F2E8CEA13C}"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024408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514266" rtl="0" eaLnBrk="1" latinLnBrk="0" hangingPunct="1">
        <a:spcBef>
          <a:spcPct val="0"/>
        </a:spcBef>
        <a:buNone/>
        <a:defRPr sz="2475" kern="1200">
          <a:solidFill>
            <a:schemeClr val="tx1"/>
          </a:solidFill>
          <a:latin typeface="+mj-lt"/>
          <a:ea typeface="+mj-ea"/>
          <a:cs typeface="+mj-cs"/>
        </a:defRPr>
      </a:lvl1pPr>
    </p:titleStyle>
    <p:bodyStyle>
      <a:lvl1pPr marL="192849" indent="-192849" algn="l" defTabSz="514266" rtl="0" eaLnBrk="1" latinLnBrk="0" hangingPunct="1">
        <a:spcBef>
          <a:spcPct val="20000"/>
        </a:spcBef>
        <a:buFont typeface="Arial" pitchFamily="34" charset="0"/>
        <a:buChar char="•"/>
        <a:defRPr sz="1800" kern="1200">
          <a:solidFill>
            <a:schemeClr val="tx1"/>
          </a:solidFill>
          <a:latin typeface="+mn-lt"/>
          <a:ea typeface="+mn-ea"/>
          <a:cs typeface="+mn-cs"/>
        </a:defRPr>
      </a:lvl1pPr>
      <a:lvl2pPr marL="417842" indent="-160709" algn="l" defTabSz="514266" rtl="0" eaLnBrk="1" latinLnBrk="0" hangingPunct="1">
        <a:spcBef>
          <a:spcPct val="20000"/>
        </a:spcBef>
        <a:buFont typeface="Arial" pitchFamily="34" charset="0"/>
        <a:buChar char="–"/>
        <a:defRPr sz="1575" kern="1200">
          <a:solidFill>
            <a:schemeClr val="tx1"/>
          </a:solidFill>
          <a:latin typeface="+mn-lt"/>
          <a:ea typeface="+mn-ea"/>
          <a:cs typeface="+mn-cs"/>
        </a:defRPr>
      </a:lvl2pPr>
      <a:lvl3pPr marL="642832" indent="-128567" algn="l" defTabSz="514266" rtl="0" eaLnBrk="1" latinLnBrk="0" hangingPunct="1">
        <a:spcBef>
          <a:spcPct val="20000"/>
        </a:spcBef>
        <a:buFont typeface="Arial" pitchFamily="34" charset="0"/>
        <a:buChar char="•"/>
        <a:defRPr sz="1350" kern="1200">
          <a:solidFill>
            <a:schemeClr val="tx1"/>
          </a:solidFill>
          <a:latin typeface="+mn-lt"/>
          <a:ea typeface="+mn-ea"/>
          <a:cs typeface="+mn-cs"/>
        </a:defRPr>
      </a:lvl3pPr>
      <a:lvl4pPr marL="899964" indent="-128567" algn="l" defTabSz="514266" rtl="0" eaLnBrk="1" latinLnBrk="0" hangingPunct="1">
        <a:spcBef>
          <a:spcPct val="20000"/>
        </a:spcBef>
        <a:buFont typeface="Arial" pitchFamily="34" charset="0"/>
        <a:buChar char="–"/>
        <a:defRPr sz="1125" kern="1200">
          <a:solidFill>
            <a:schemeClr val="tx1"/>
          </a:solidFill>
          <a:latin typeface="+mn-lt"/>
          <a:ea typeface="+mn-ea"/>
          <a:cs typeface="+mn-cs"/>
        </a:defRPr>
      </a:lvl4pPr>
      <a:lvl5pPr marL="1157096" indent="-128567" algn="l" defTabSz="514266" rtl="0" eaLnBrk="1" latinLnBrk="0" hangingPunct="1">
        <a:spcBef>
          <a:spcPct val="20000"/>
        </a:spcBef>
        <a:buFont typeface="Arial" pitchFamily="34" charset="0"/>
        <a:buChar char="»"/>
        <a:defRPr sz="1125" kern="1200">
          <a:solidFill>
            <a:schemeClr val="tx1"/>
          </a:solidFill>
          <a:latin typeface="+mn-lt"/>
          <a:ea typeface="+mn-ea"/>
          <a:cs typeface="+mn-cs"/>
        </a:defRPr>
      </a:lvl5pPr>
      <a:lvl6pPr marL="1414230" indent="-128567" algn="l" defTabSz="514266"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362" indent="-128567" algn="l" defTabSz="514266"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495" indent="-128567" algn="l" defTabSz="514266"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627" indent="-128567" algn="l" defTabSz="514266"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zh-CN"/>
      </a:defPPr>
      <a:lvl1pPr marL="0" algn="l" defTabSz="514266" rtl="0" eaLnBrk="1" latinLnBrk="0" hangingPunct="1">
        <a:defRPr sz="1012" kern="1200">
          <a:solidFill>
            <a:schemeClr val="tx1"/>
          </a:solidFill>
          <a:latin typeface="+mn-lt"/>
          <a:ea typeface="+mn-ea"/>
          <a:cs typeface="+mn-cs"/>
        </a:defRPr>
      </a:lvl1pPr>
      <a:lvl2pPr marL="257132" algn="l" defTabSz="514266" rtl="0" eaLnBrk="1" latinLnBrk="0" hangingPunct="1">
        <a:defRPr sz="1012" kern="1200">
          <a:solidFill>
            <a:schemeClr val="tx1"/>
          </a:solidFill>
          <a:latin typeface="+mn-lt"/>
          <a:ea typeface="+mn-ea"/>
          <a:cs typeface="+mn-cs"/>
        </a:defRPr>
      </a:lvl2pPr>
      <a:lvl3pPr marL="514266" algn="l" defTabSz="514266" rtl="0" eaLnBrk="1" latinLnBrk="0" hangingPunct="1">
        <a:defRPr sz="1012" kern="1200">
          <a:solidFill>
            <a:schemeClr val="tx1"/>
          </a:solidFill>
          <a:latin typeface="+mn-lt"/>
          <a:ea typeface="+mn-ea"/>
          <a:cs typeface="+mn-cs"/>
        </a:defRPr>
      </a:lvl3pPr>
      <a:lvl4pPr marL="771398" algn="l" defTabSz="514266" rtl="0" eaLnBrk="1" latinLnBrk="0" hangingPunct="1">
        <a:defRPr sz="1012" kern="1200">
          <a:solidFill>
            <a:schemeClr val="tx1"/>
          </a:solidFill>
          <a:latin typeface="+mn-lt"/>
          <a:ea typeface="+mn-ea"/>
          <a:cs typeface="+mn-cs"/>
        </a:defRPr>
      </a:lvl4pPr>
      <a:lvl5pPr marL="1028531" algn="l" defTabSz="514266" rtl="0" eaLnBrk="1" latinLnBrk="0" hangingPunct="1">
        <a:defRPr sz="1012" kern="1200">
          <a:solidFill>
            <a:schemeClr val="tx1"/>
          </a:solidFill>
          <a:latin typeface="+mn-lt"/>
          <a:ea typeface="+mn-ea"/>
          <a:cs typeface="+mn-cs"/>
        </a:defRPr>
      </a:lvl5pPr>
      <a:lvl6pPr marL="1285663" algn="l" defTabSz="514266" rtl="0" eaLnBrk="1" latinLnBrk="0" hangingPunct="1">
        <a:defRPr sz="1012" kern="1200">
          <a:solidFill>
            <a:schemeClr val="tx1"/>
          </a:solidFill>
          <a:latin typeface="+mn-lt"/>
          <a:ea typeface="+mn-ea"/>
          <a:cs typeface="+mn-cs"/>
        </a:defRPr>
      </a:lvl6pPr>
      <a:lvl7pPr marL="1542796" algn="l" defTabSz="514266" rtl="0" eaLnBrk="1" latinLnBrk="0" hangingPunct="1">
        <a:defRPr sz="1012" kern="1200">
          <a:solidFill>
            <a:schemeClr val="tx1"/>
          </a:solidFill>
          <a:latin typeface="+mn-lt"/>
          <a:ea typeface="+mn-ea"/>
          <a:cs typeface="+mn-cs"/>
        </a:defRPr>
      </a:lvl7pPr>
      <a:lvl8pPr marL="1799928" algn="l" defTabSz="514266" rtl="0" eaLnBrk="1" latinLnBrk="0" hangingPunct="1">
        <a:defRPr sz="1012" kern="1200">
          <a:solidFill>
            <a:schemeClr val="tx1"/>
          </a:solidFill>
          <a:latin typeface="+mn-lt"/>
          <a:ea typeface="+mn-ea"/>
          <a:cs typeface="+mn-cs"/>
        </a:defRPr>
      </a:lvl8pPr>
      <a:lvl9pPr marL="2057060" algn="l" defTabSz="514266" rtl="0" eaLnBrk="1" latinLnBrk="0" hangingPunct="1">
        <a:defRPr sz="101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74639"/>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1" y="1600206"/>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1" y="6356359"/>
            <a:ext cx="2133600" cy="365125"/>
          </a:xfrm>
          <a:prstGeom prst="rect">
            <a:avLst/>
          </a:prstGeom>
        </p:spPr>
        <p:txBody>
          <a:bodyPr vert="horz" lIns="91440" tIns="45720" rIns="91440" bIns="45720" rtlCol="0" anchor="ctr"/>
          <a:lstStyle>
            <a:lvl1pPr algn="l">
              <a:defRPr sz="675">
                <a:solidFill>
                  <a:schemeClr val="tx1">
                    <a:tint val="75000"/>
                  </a:schemeClr>
                </a:solidFill>
              </a:defRPr>
            </a:lvl1pPr>
          </a:lstStyle>
          <a:p>
            <a:fld id="{59F66714-2674-4B81-913D-D82F31896798}" type="datetimeFigureOut">
              <a:rPr lang="zh-CN" altLang="en-US" smtClean="0">
                <a:solidFill>
                  <a:prstClr val="black">
                    <a:tint val="75000"/>
                  </a:prstClr>
                </a:solidFill>
              </a:rPr>
              <a:pPr/>
              <a:t>2014/4/25</a:t>
            </a:fld>
            <a:endParaRPr lang="zh-CN" altLang="en-US">
              <a:solidFill>
                <a:prstClr val="black">
                  <a:tint val="75000"/>
                </a:prstClr>
              </a:solidFill>
            </a:endParaRPr>
          </a:p>
        </p:txBody>
      </p:sp>
      <p:sp>
        <p:nvSpPr>
          <p:cNvPr id="5" name="页脚占位符 4"/>
          <p:cNvSpPr>
            <a:spLocks noGrp="1"/>
          </p:cNvSpPr>
          <p:nvPr>
            <p:ph type="ftr" sz="quarter" idx="3"/>
          </p:nvPr>
        </p:nvSpPr>
        <p:spPr>
          <a:xfrm>
            <a:off x="3124201" y="6356359"/>
            <a:ext cx="2895600" cy="365125"/>
          </a:xfrm>
          <a:prstGeom prst="rect">
            <a:avLst/>
          </a:prstGeom>
        </p:spPr>
        <p:txBody>
          <a:bodyPr vert="horz" lIns="91440" tIns="45720" rIns="91440" bIns="45720" rtlCol="0" anchor="ctr"/>
          <a:lstStyle>
            <a:lvl1pPr algn="ctr">
              <a:defRPr sz="675">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3201" y="6356359"/>
            <a:ext cx="21336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9383D111-EA0E-4985-9B7C-7CB22BE07734}"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2004294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ctr" defTabSz="514266" rtl="0" eaLnBrk="1" latinLnBrk="0" hangingPunct="1">
        <a:spcBef>
          <a:spcPct val="0"/>
        </a:spcBef>
        <a:buNone/>
        <a:defRPr sz="2475" kern="1200">
          <a:solidFill>
            <a:schemeClr val="tx1"/>
          </a:solidFill>
          <a:latin typeface="+mj-lt"/>
          <a:ea typeface="+mj-ea"/>
          <a:cs typeface="+mj-cs"/>
        </a:defRPr>
      </a:lvl1pPr>
    </p:titleStyle>
    <p:bodyStyle>
      <a:lvl1pPr marL="192849" indent="-192849" algn="l" defTabSz="514266" rtl="0" eaLnBrk="1" latinLnBrk="0" hangingPunct="1">
        <a:spcBef>
          <a:spcPct val="20000"/>
        </a:spcBef>
        <a:buFont typeface="Arial" pitchFamily="34" charset="0"/>
        <a:buChar char="•"/>
        <a:defRPr sz="1800" kern="1200">
          <a:solidFill>
            <a:schemeClr val="tx1"/>
          </a:solidFill>
          <a:latin typeface="+mn-lt"/>
          <a:ea typeface="+mn-ea"/>
          <a:cs typeface="+mn-cs"/>
        </a:defRPr>
      </a:lvl1pPr>
      <a:lvl2pPr marL="417842" indent="-160709" algn="l" defTabSz="514266" rtl="0" eaLnBrk="1" latinLnBrk="0" hangingPunct="1">
        <a:spcBef>
          <a:spcPct val="20000"/>
        </a:spcBef>
        <a:buFont typeface="Arial" pitchFamily="34" charset="0"/>
        <a:buChar char="–"/>
        <a:defRPr sz="1575" kern="1200">
          <a:solidFill>
            <a:schemeClr val="tx1"/>
          </a:solidFill>
          <a:latin typeface="+mn-lt"/>
          <a:ea typeface="+mn-ea"/>
          <a:cs typeface="+mn-cs"/>
        </a:defRPr>
      </a:lvl2pPr>
      <a:lvl3pPr marL="642832" indent="-128567" algn="l" defTabSz="514266" rtl="0" eaLnBrk="1" latinLnBrk="0" hangingPunct="1">
        <a:spcBef>
          <a:spcPct val="20000"/>
        </a:spcBef>
        <a:buFont typeface="Arial" pitchFamily="34" charset="0"/>
        <a:buChar char="•"/>
        <a:defRPr sz="1350" kern="1200">
          <a:solidFill>
            <a:schemeClr val="tx1"/>
          </a:solidFill>
          <a:latin typeface="+mn-lt"/>
          <a:ea typeface="+mn-ea"/>
          <a:cs typeface="+mn-cs"/>
        </a:defRPr>
      </a:lvl3pPr>
      <a:lvl4pPr marL="899964" indent="-128567" algn="l" defTabSz="514266" rtl="0" eaLnBrk="1" latinLnBrk="0" hangingPunct="1">
        <a:spcBef>
          <a:spcPct val="20000"/>
        </a:spcBef>
        <a:buFont typeface="Arial" pitchFamily="34" charset="0"/>
        <a:buChar char="–"/>
        <a:defRPr sz="1125" kern="1200">
          <a:solidFill>
            <a:schemeClr val="tx1"/>
          </a:solidFill>
          <a:latin typeface="+mn-lt"/>
          <a:ea typeface="+mn-ea"/>
          <a:cs typeface="+mn-cs"/>
        </a:defRPr>
      </a:lvl4pPr>
      <a:lvl5pPr marL="1157096" indent="-128567" algn="l" defTabSz="514266" rtl="0" eaLnBrk="1" latinLnBrk="0" hangingPunct="1">
        <a:spcBef>
          <a:spcPct val="20000"/>
        </a:spcBef>
        <a:buFont typeface="Arial" pitchFamily="34" charset="0"/>
        <a:buChar char="»"/>
        <a:defRPr sz="1125" kern="1200">
          <a:solidFill>
            <a:schemeClr val="tx1"/>
          </a:solidFill>
          <a:latin typeface="+mn-lt"/>
          <a:ea typeface="+mn-ea"/>
          <a:cs typeface="+mn-cs"/>
        </a:defRPr>
      </a:lvl5pPr>
      <a:lvl6pPr marL="1414230" indent="-128567" algn="l" defTabSz="514266"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362" indent="-128567" algn="l" defTabSz="514266"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495" indent="-128567" algn="l" defTabSz="514266"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627" indent="-128567" algn="l" defTabSz="514266"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zh-CN"/>
      </a:defPPr>
      <a:lvl1pPr marL="0" algn="l" defTabSz="514266" rtl="0" eaLnBrk="1" latinLnBrk="0" hangingPunct="1">
        <a:defRPr sz="1012" kern="1200">
          <a:solidFill>
            <a:schemeClr val="tx1"/>
          </a:solidFill>
          <a:latin typeface="+mn-lt"/>
          <a:ea typeface="+mn-ea"/>
          <a:cs typeface="+mn-cs"/>
        </a:defRPr>
      </a:lvl1pPr>
      <a:lvl2pPr marL="257132" algn="l" defTabSz="514266" rtl="0" eaLnBrk="1" latinLnBrk="0" hangingPunct="1">
        <a:defRPr sz="1012" kern="1200">
          <a:solidFill>
            <a:schemeClr val="tx1"/>
          </a:solidFill>
          <a:latin typeface="+mn-lt"/>
          <a:ea typeface="+mn-ea"/>
          <a:cs typeface="+mn-cs"/>
        </a:defRPr>
      </a:lvl2pPr>
      <a:lvl3pPr marL="514266" algn="l" defTabSz="514266" rtl="0" eaLnBrk="1" latinLnBrk="0" hangingPunct="1">
        <a:defRPr sz="1012" kern="1200">
          <a:solidFill>
            <a:schemeClr val="tx1"/>
          </a:solidFill>
          <a:latin typeface="+mn-lt"/>
          <a:ea typeface="+mn-ea"/>
          <a:cs typeface="+mn-cs"/>
        </a:defRPr>
      </a:lvl3pPr>
      <a:lvl4pPr marL="771398" algn="l" defTabSz="514266" rtl="0" eaLnBrk="1" latinLnBrk="0" hangingPunct="1">
        <a:defRPr sz="1012" kern="1200">
          <a:solidFill>
            <a:schemeClr val="tx1"/>
          </a:solidFill>
          <a:latin typeface="+mn-lt"/>
          <a:ea typeface="+mn-ea"/>
          <a:cs typeface="+mn-cs"/>
        </a:defRPr>
      </a:lvl4pPr>
      <a:lvl5pPr marL="1028531" algn="l" defTabSz="514266" rtl="0" eaLnBrk="1" latinLnBrk="0" hangingPunct="1">
        <a:defRPr sz="1012" kern="1200">
          <a:solidFill>
            <a:schemeClr val="tx1"/>
          </a:solidFill>
          <a:latin typeface="+mn-lt"/>
          <a:ea typeface="+mn-ea"/>
          <a:cs typeface="+mn-cs"/>
        </a:defRPr>
      </a:lvl5pPr>
      <a:lvl6pPr marL="1285663" algn="l" defTabSz="514266" rtl="0" eaLnBrk="1" latinLnBrk="0" hangingPunct="1">
        <a:defRPr sz="1012" kern="1200">
          <a:solidFill>
            <a:schemeClr val="tx1"/>
          </a:solidFill>
          <a:latin typeface="+mn-lt"/>
          <a:ea typeface="+mn-ea"/>
          <a:cs typeface="+mn-cs"/>
        </a:defRPr>
      </a:lvl6pPr>
      <a:lvl7pPr marL="1542796" algn="l" defTabSz="514266" rtl="0" eaLnBrk="1" latinLnBrk="0" hangingPunct="1">
        <a:defRPr sz="1012" kern="1200">
          <a:solidFill>
            <a:schemeClr val="tx1"/>
          </a:solidFill>
          <a:latin typeface="+mn-lt"/>
          <a:ea typeface="+mn-ea"/>
          <a:cs typeface="+mn-cs"/>
        </a:defRPr>
      </a:lvl7pPr>
      <a:lvl8pPr marL="1799928" algn="l" defTabSz="514266" rtl="0" eaLnBrk="1" latinLnBrk="0" hangingPunct="1">
        <a:defRPr sz="1012" kern="1200">
          <a:solidFill>
            <a:schemeClr val="tx1"/>
          </a:solidFill>
          <a:latin typeface="+mn-lt"/>
          <a:ea typeface="+mn-ea"/>
          <a:cs typeface="+mn-cs"/>
        </a:defRPr>
      </a:lvl8pPr>
      <a:lvl9pPr marL="2057060" algn="l" defTabSz="514266" rtl="0" eaLnBrk="1" latinLnBrk="0" hangingPunct="1">
        <a:defRPr sz="101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2.gi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32A34"/>
        </a:solidFill>
        <a:effectLst/>
      </p:bgPr>
    </p:bg>
    <p:spTree>
      <p:nvGrpSpPr>
        <p:cNvPr id="1" name=""/>
        <p:cNvGrpSpPr/>
        <p:nvPr/>
      </p:nvGrpSpPr>
      <p:grpSpPr>
        <a:xfrm>
          <a:off x="0" y="0"/>
          <a:ext cx="0" cy="0"/>
          <a:chOff x="0" y="0"/>
          <a:chExt cx="0" cy="0"/>
        </a:xfrm>
      </p:grpSpPr>
      <p:sp>
        <p:nvSpPr>
          <p:cNvPr id="5" name="矩形 4"/>
          <p:cNvSpPr/>
          <p:nvPr/>
        </p:nvSpPr>
        <p:spPr>
          <a:xfrm>
            <a:off x="0" y="4257392"/>
            <a:ext cx="9144000" cy="2700000"/>
          </a:xfrm>
          <a:prstGeom prst="rect">
            <a:avLst/>
          </a:prstGeom>
          <a:solidFill>
            <a:srgbClr val="E2CE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a:blip r:embed="rId2" cstate="print">
            <a:extLst>
              <a:ext uri="{BEBA8EAE-BF5A-486C-A8C5-ECC9F3942E4B}">
                <a14:imgProps xmlns:a14="http://schemas.microsoft.com/office/drawing/2010/main">
                  <a14:imgLayer r:embed="rId3">
                    <a14:imgEffect>
                      <a14:backgroundRemoval t="200" b="99400" l="19439" r="79960"/>
                    </a14:imgEffect>
                  </a14:imgLayer>
                </a14:imgProps>
              </a:ext>
              <a:ext uri="{28A0092B-C50C-407E-A947-70E740481C1C}">
                <a14:useLocalDpi xmlns:a14="http://schemas.microsoft.com/office/drawing/2010/main" val="0"/>
              </a:ext>
            </a:extLst>
          </a:blip>
          <a:stretch>
            <a:fillRect/>
          </a:stretch>
        </p:blipFill>
        <p:spPr>
          <a:xfrm>
            <a:off x="-601480" y="909304"/>
            <a:ext cx="5245488" cy="5256000"/>
          </a:xfrm>
          <a:prstGeom prst="rect">
            <a:avLst/>
          </a:prstGeom>
        </p:spPr>
      </p:pic>
      <p:sp>
        <p:nvSpPr>
          <p:cNvPr id="11" name="TextBox 10"/>
          <p:cNvSpPr txBox="1"/>
          <p:nvPr/>
        </p:nvSpPr>
        <p:spPr>
          <a:xfrm>
            <a:off x="6187241" y="3367558"/>
            <a:ext cx="2294106" cy="523220"/>
          </a:xfrm>
          <a:prstGeom prst="rect">
            <a:avLst/>
          </a:prstGeom>
          <a:noFill/>
        </p:spPr>
        <p:txBody>
          <a:bodyPr wrap="square" rtlCol="0">
            <a:spAutoFit/>
          </a:bodyPr>
          <a:lstStyle/>
          <a:p>
            <a:r>
              <a:rPr lang="zh-CN" altLang="en-US" sz="2800" dirty="0" smtClean="0">
                <a:solidFill>
                  <a:schemeClr val="bg1"/>
                </a:solidFill>
                <a:latin typeface="微软雅黑" pitchFamily="34" charset="-122"/>
                <a:ea typeface="微软雅黑" pitchFamily="34" charset="-122"/>
              </a:rPr>
              <a:t>吴晓波</a:t>
            </a:r>
            <a:r>
              <a:rPr lang="en-US" altLang="zh-CN" sz="2800" dirty="0" smtClean="0">
                <a:solidFill>
                  <a:schemeClr val="bg1"/>
                </a:solidFill>
                <a:latin typeface="微软雅黑" pitchFamily="34" charset="-122"/>
                <a:ea typeface="微软雅黑" pitchFamily="34" charset="-122"/>
              </a:rPr>
              <a:t>/</a:t>
            </a:r>
            <a:r>
              <a:rPr lang="zh-CN" altLang="en-US" sz="2800" dirty="0" smtClean="0">
                <a:solidFill>
                  <a:schemeClr val="bg1"/>
                </a:solidFill>
                <a:latin typeface="微软雅黑" pitchFamily="34" charset="-122"/>
                <a:ea typeface="微软雅黑" pitchFamily="34" charset="-122"/>
              </a:rPr>
              <a:t>著</a:t>
            </a:r>
            <a:endParaRPr lang="zh-CN" altLang="en-US" sz="2800" dirty="0">
              <a:solidFill>
                <a:schemeClr val="bg1"/>
              </a:solidFill>
              <a:latin typeface="微软雅黑" pitchFamily="34" charset="-122"/>
              <a:ea typeface="微软雅黑" pitchFamily="34" charset="-122"/>
            </a:endParaRPr>
          </a:p>
        </p:txBody>
      </p:sp>
      <p:sp>
        <p:nvSpPr>
          <p:cNvPr id="3" name="矩形 2"/>
          <p:cNvSpPr/>
          <p:nvPr/>
        </p:nvSpPr>
        <p:spPr>
          <a:xfrm>
            <a:off x="3457599" y="1113562"/>
            <a:ext cx="5508103" cy="1862048"/>
          </a:xfrm>
          <a:prstGeom prst="rect">
            <a:avLst/>
          </a:prstGeom>
          <a:noFill/>
        </p:spPr>
        <p:txBody>
          <a:bodyPr wrap="squar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zh-CN" altLang="en-US" sz="11500" b="1" cap="none" spc="0" dirty="0" smtClean="0">
                <a:ln/>
                <a:solidFill>
                  <a:srgbClr val="E2CE84"/>
                </a:solidFill>
                <a:effectLst>
                  <a:outerShdw blurRad="38100" dist="38100" dir="2700000" algn="tl">
                    <a:srgbClr val="000000">
                      <a:alpha val="43137"/>
                    </a:srgbClr>
                  </a:outerShdw>
                </a:effectLst>
                <a:latin typeface="叶根友刀锋黑草" panose="02010601030101010101" pitchFamily="2" charset="-122"/>
                <a:ea typeface="叶根友刀锋黑草" panose="02010601030101010101" pitchFamily="2" charset="-122"/>
              </a:rPr>
              <a:t>激荡</a:t>
            </a:r>
            <a:r>
              <a:rPr lang="zh-CN" altLang="en-US" sz="5400" b="1" cap="none" spc="0" dirty="0">
                <a:ln/>
                <a:solidFill>
                  <a:srgbClr val="E2CE84"/>
                </a:solidFill>
                <a:effectLst>
                  <a:outerShdw blurRad="38100" dist="38100" dir="2700000" algn="tl">
                    <a:srgbClr val="000000">
                      <a:alpha val="43137"/>
                    </a:srgbClr>
                  </a:outerShdw>
                </a:effectLst>
                <a:latin typeface="叶根友刀锋黑草" panose="02010601030101010101" pitchFamily="2" charset="-122"/>
                <a:ea typeface="叶根友刀锋黑草" panose="02010601030101010101" pitchFamily="2" charset="-122"/>
              </a:rPr>
              <a:t>三十年</a:t>
            </a:r>
            <a:endParaRPr lang="zh-CN" altLang="en-US" sz="5400" b="1" cap="none" spc="0" dirty="0">
              <a:ln/>
              <a:solidFill>
                <a:srgbClr val="E2CE84"/>
              </a:solidFill>
              <a:effectLst>
                <a:outerShdw blurRad="38100" dist="38100" dir="2700000" algn="tl">
                  <a:srgbClr val="000000">
                    <a:alpha val="43137"/>
                  </a:srgbClr>
                </a:outerShdw>
              </a:effectLst>
            </a:endParaRPr>
          </a:p>
        </p:txBody>
      </p:sp>
      <p:sp>
        <p:nvSpPr>
          <p:cNvPr id="6" name="矩形 5"/>
          <p:cNvSpPr/>
          <p:nvPr/>
        </p:nvSpPr>
        <p:spPr>
          <a:xfrm>
            <a:off x="3868928" y="3204576"/>
            <a:ext cx="1620957" cy="830997"/>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zh-CN" altLang="en-US" sz="2800" b="1" cap="none" spc="0" dirty="0" smtClean="0">
                <a:ln/>
                <a:solidFill>
                  <a:srgbClr val="E2CE84"/>
                </a:solidFill>
                <a:effectLst/>
                <a:latin typeface="微软雅黑" panose="020B0503020204020204" pitchFamily="34" charset="-122"/>
                <a:ea typeface="微软雅黑" panose="020B0503020204020204" pitchFamily="34" charset="-122"/>
              </a:rPr>
              <a:t>中国企业</a:t>
            </a:r>
            <a:endParaRPr lang="en-US" altLang="zh-CN" sz="2800" b="1" cap="none" spc="0" dirty="0" smtClean="0">
              <a:ln/>
              <a:solidFill>
                <a:srgbClr val="E2CE84"/>
              </a:solidFill>
              <a:effectLst/>
              <a:latin typeface="微软雅黑" panose="020B0503020204020204" pitchFamily="34" charset="-122"/>
              <a:ea typeface="微软雅黑" panose="020B0503020204020204" pitchFamily="34" charset="-122"/>
            </a:endParaRPr>
          </a:p>
          <a:p>
            <a:pPr algn="ctr"/>
            <a:r>
              <a:rPr lang="en-US" altLang="zh-CN" sz="2000" b="1" cap="none" spc="0" dirty="0" smtClean="0">
                <a:ln/>
                <a:solidFill>
                  <a:srgbClr val="E2CE84"/>
                </a:solidFill>
                <a:effectLst/>
                <a:latin typeface="微软雅黑" panose="020B0503020204020204" pitchFamily="34" charset="-122"/>
                <a:ea typeface="微软雅黑" panose="020B0503020204020204" pitchFamily="34" charset="-122"/>
              </a:rPr>
              <a:t>1978-2008</a:t>
            </a:r>
            <a:endParaRPr lang="zh-CN" altLang="en-US" sz="2000" b="1" cap="none" spc="0" dirty="0">
              <a:ln/>
              <a:solidFill>
                <a:srgbClr val="E2CE84"/>
              </a:solidFill>
              <a:effectLst/>
            </a:endParaRPr>
          </a:p>
        </p:txBody>
      </p:sp>
      <p:grpSp>
        <p:nvGrpSpPr>
          <p:cNvPr id="2" name="组合 1"/>
          <p:cNvGrpSpPr/>
          <p:nvPr/>
        </p:nvGrpSpPr>
        <p:grpSpPr>
          <a:xfrm>
            <a:off x="5458115" y="3307003"/>
            <a:ext cx="626053" cy="626053"/>
            <a:chOff x="5458115" y="3307003"/>
            <a:chExt cx="626053" cy="626053"/>
          </a:xfrm>
        </p:grpSpPr>
        <p:sp>
          <p:nvSpPr>
            <p:cNvPr id="7" name="椭圆 6"/>
            <p:cNvSpPr/>
            <p:nvPr/>
          </p:nvSpPr>
          <p:spPr>
            <a:xfrm>
              <a:off x="5458115" y="3307003"/>
              <a:ext cx="626053" cy="626053"/>
            </a:xfrm>
            <a:prstGeom prst="ellipse">
              <a:avLst/>
            </a:prstGeom>
            <a:solidFill>
              <a:srgbClr val="E2CE84"/>
            </a:solidFill>
            <a:ln>
              <a:solidFill>
                <a:srgbClr val="E2CE84"/>
              </a:solidFill>
            </a:ln>
            <a:scene3d>
              <a:camera prst="orthographicFront"/>
              <a:lightRig rig="threePt" dir="t"/>
            </a:scene3d>
            <a:sp3d>
              <a:bevelT prst="relaxedInset"/>
              <a:bevelB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E2CE84"/>
                </a:solidFill>
              </a:endParaRPr>
            </a:p>
          </p:txBody>
        </p:sp>
        <p:sp>
          <p:nvSpPr>
            <p:cNvPr id="8" name="文本框 7"/>
            <p:cNvSpPr txBox="1"/>
            <p:nvPr/>
          </p:nvSpPr>
          <p:spPr>
            <a:xfrm>
              <a:off x="5508104" y="3356992"/>
              <a:ext cx="576064" cy="523220"/>
            </a:xfrm>
            <a:prstGeom prst="rect">
              <a:avLst/>
            </a:prstGeom>
            <a:noFill/>
          </p:spPr>
          <p:txBody>
            <a:bodyPr wrap="square" rtlCol="0">
              <a:spAutoFit/>
              <a:scene3d>
                <a:camera prst="orthographicFront"/>
                <a:lightRig rig="threePt" dir="t"/>
              </a:scene3d>
              <a:sp3d extrusionH="57150">
                <a:bevelT w="38100" h="38100"/>
                <a:bevelB w="38100" h="38100" prst="angle"/>
              </a:sp3d>
            </a:bodyPr>
            <a:lstStyle/>
            <a:p>
              <a:r>
                <a:rPr lang="zh-CN" altLang="en-US" sz="2800" b="1" dirty="0" smtClean="0">
                  <a:solidFill>
                    <a:srgbClr val="C00000"/>
                  </a:solidFill>
                  <a:latin typeface="方正兰亭粗黑简体" panose="02000000000000000000" pitchFamily="2" charset="-122"/>
                  <a:ea typeface="方正兰亭粗黑简体" panose="02000000000000000000" pitchFamily="2" charset="-122"/>
                </a:rPr>
                <a:t>上</a:t>
              </a:r>
              <a:endParaRPr lang="zh-CN" altLang="en-US" sz="2800" b="1" dirty="0">
                <a:solidFill>
                  <a:srgbClr val="C00000"/>
                </a:solidFill>
                <a:latin typeface="方正兰亭粗黑简体" panose="02000000000000000000" pitchFamily="2" charset="-122"/>
                <a:ea typeface="方正兰亭粗黑简体" panose="02000000000000000000" pitchFamily="2" charset="-122"/>
              </a:endParaRPr>
            </a:p>
          </p:txBody>
        </p:sp>
      </p:grpSp>
      <p:sp>
        <p:nvSpPr>
          <p:cNvPr id="12" name="文本框 11"/>
          <p:cNvSpPr txBox="1"/>
          <p:nvPr/>
        </p:nvSpPr>
        <p:spPr>
          <a:xfrm>
            <a:off x="3707904" y="5445224"/>
            <a:ext cx="5329806" cy="923330"/>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值得每一个中国人了解的中国企业史</a:t>
            </a:r>
            <a:endParaRPr lang="en-US" altLang="zh-CN" dirty="0" smtClean="0">
              <a:latin typeface="微软雅黑" pitchFamily="34" charset="-122"/>
              <a:ea typeface="微软雅黑" pitchFamily="34" charset="-122"/>
            </a:endParaRPr>
          </a:p>
          <a:p>
            <a:r>
              <a:rPr lang="en-US" altLang="zh-CN" dirty="0" smtClean="0">
                <a:latin typeface="微软雅黑" pitchFamily="34" charset="-122"/>
                <a:ea typeface="微软雅黑" pitchFamily="34" charset="-122"/>
              </a:rPr>
              <a:t>PPT</a:t>
            </a:r>
            <a:r>
              <a:rPr lang="zh-CN" altLang="en-US" dirty="0" smtClean="0">
                <a:latin typeface="微软雅黑" pitchFamily="34" charset="-122"/>
                <a:ea typeface="微软雅黑" pitchFamily="34" charset="-122"/>
              </a:rPr>
              <a:t>设计：</a:t>
            </a:r>
            <a:endParaRPr lang="en-US" altLang="zh-CN" dirty="0" smtClean="0">
              <a:latin typeface="微软雅黑" pitchFamily="34" charset="-122"/>
              <a:ea typeface="微软雅黑" pitchFamily="34" charset="-122"/>
            </a:endParaRPr>
          </a:p>
          <a:p>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石</a:t>
            </a:r>
            <a:r>
              <a:rPr lang="zh-CN" altLang="en-US" dirty="0">
                <a:latin typeface="微软雅黑" pitchFamily="34" charset="-122"/>
                <a:ea typeface="微软雅黑" pitchFamily="34" charset="-122"/>
              </a:rPr>
              <a:t>石刻刻</a:t>
            </a:r>
            <a:r>
              <a:rPr lang="en-US" altLang="zh-CN" dirty="0" smtClean="0">
                <a:latin typeface="微软雅黑" pitchFamily="34" charset="-122"/>
                <a:ea typeface="微软雅黑" pitchFamily="34" charset="-122"/>
              </a:rPr>
              <a:t> </a:t>
            </a:r>
            <a:r>
              <a:rPr lang="en-US" altLang="zh-CN" dirty="0" err="1" smtClean="0">
                <a:latin typeface="微软雅黑" pitchFamily="34" charset="-122"/>
                <a:ea typeface="微软雅黑" pitchFamily="34" charset="-122"/>
              </a:rPr>
              <a:t>everytime</a:t>
            </a:r>
            <a:r>
              <a:rPr lang="en-US" altLang="zh-CN" dirty="0" smtClean="0">
                <a:latin typeface="微软雅黑" pitchFamily="34" charset="-122"/>
                <a:ea typeface="微软雅黑" pitchFamily="34" charset="-122"/>
              </a:rPr>
              <a:t>    @Charles</a:t>
            </a:r>
            <a:r>
              <a:rPr lang="zh-CN" altLang="en-US" dirty="0" smtClean="0">
                <a:latin typeface="微软雅黑" pitchFamily="34" charset="-122"/>
                <a:ea typeface="微软雅黑" pitchFamily="34" charset="-122"/>
              </a:rPr>
              <a:t>远仁要做</a:t>
            </a:r>
            <a:r>
              <a:rPr lang="en-US" altLang="zh-CN" dirty="0" err="1" smtClean="0">
                <a:latin typeface="微软雅黑" pitchFamily="34" charset="-122"/>
                <a:ea typeface="微软雅黑" pitchFamily="34" charset="-122"/>
              </a:rPr>
              <a:t>PPTer</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904764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17" y="-4447"/>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42B35"/>
              </a:solidFill>
            </a:endParaRPr>
          </a:p>
        </p:txBody>
      </p:sp>
      <p:sp>
        <p:nvSpPr>
          <p:cNvPr id="7" name="TextBox 6"/>
          <p:cNvSpPr txBox="1"/>
          <p:nvPr/>
        </p:nvSpPr>
        <p:spPr>
          <a:xfrm>
            <a:off x="826667" y="-125526"/>
            <a:ext cx="1192945" cy="1754326"/>
          </a:xfrm>
          <a:prstGeom prst="rect">
            <a:avLst/>
          </a:prstGeom>
          <a:noFill/>
        </p:spPr>
        <p:txBody>
          <a:bodyPr wrap="square" rtlCol="0">
            <a:spAutoFit/>
          </a:bodyPr>
          <a:lstStyle/>
          <a:p>
            <a:r>
              <a:rPr lang="zh-CN" altLang="en-US" sz="5400" dirty="0" smtClean="0">
                <a:latin typeface="华文行楷" panose="02010800040101010101" pitchFamily="2" charset="-122"/>
                <a:ea typeface="华文行楷" panose="02010800040101010101" pitchFamily="2" charset="-122"/>
              </a:rPr>
              <a:t>作者</a:t>
            </a:r>
            <a:endParaRPr lang="zh-CN" altLang="en-US" sz="5400" dirty="0">
              <a:latin typeface="华文行楷" panose="02010800040101010101" pitchFamily="2" charset="-122"/>
              <a:ea typeface="华文行楷" panose="02010800040101010101" pitchFamily="2" charset="-122"/>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2016" y="2209429"/>
            <a:ext cx="1756096" cy="2340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10" name="TextBox 9"/>
          <p:cNvSpPr txBox="1"/>
          <p:nvPr/>
        </p:nvSpPr>
        <p:spPr>
          <a:xfrm>
            <a:off x="3347864" y="3442291"/>
            <a:ext cx="5112568" cy="1015663"/>
          </a:xfrm>
          <a:prstGeom prst="rect">
            <a:avLst/>
          </a:prstGeom>
          <a:noFill/>
        </p:spPr>
        <p:txBody>
          <a:bodyPr wrap="square" rtlCol="0">
            <a:spAutoFit/>
          </a:bodyPr>
          <a:lstStyle/>
          <a:p>
            <a:r>
              <a:rPr lang="zh-CN" altLang="en-US" sz="2000" dirty="0" smtClean="0">
                <a:latin typeface="微软雅黑" pitchFamily="34" charset="-122"/>
                <a:ea typeface="微软雅黑" pitchFamily="34" charset="-122"/>
              </a:rPr>
              <a:t>       著名</a:t>
            </a:r>
            <a:r>
              <a:rPr lang="zh-CN" altLang="en-US" sz="2000" dirty="0">
                <a:latin typeface="微软雅黑" pitchFamily="34" charset="-122"/>
                <a:ea typeface="微软雅黑" pitchFamily="34" charset="-122"/>
              </a:rPr>
              <a:t>财经作家，毕业于复旦大学新闻系。财经作家，哈佛大学访问学者，浙江省中科商学研究院副理事长、</a:t>
            </a:r>
            <a:r>
              <a:rPr lang="zh-CN" altLang="en-US" sz="2000" dirty="0" smtClean="0">
                <a:latin typeface="微软雅黑" pitchFamily="34" charset="-122"/>
                <a:ea typeface="微软雅黑" pitchFamily="34" charset="-122"/>
              </a:rPr>
              <a:t>创办人。</a:t>
            </a:r>
            <a:endParaRPr lang="zh-CN" altLang="en-US" sz="2000" dirty="0">
              <a:latin typeface="微软雅黑" pitchFamily="34" charset="-122"/>
              <a:ea typeface="微软雅黑" pitchFamily="34" charset="-122"/>
            </a:endParaRPr>
          </a:p>
        </p:txBody>
      </p:sp>
      <p:sp>
        <p:nvSpPr>
          <p:cNvPr id="11" name="TextBox 10"/>
          <p:cNvSpPr txBox="1"/>
          <p:nvPr/>
        </p:nvSpPr>
        <p:spPr>
          <a:xfrm>
            <a:off x="2858324" y="5157192"/>
            <a:ext cx="5705138" cy="1569660"/>
          </a:xfrm>
          <a:prstGeom prst="rect">
            <a:avLst/>
          </a:prstGeom>
          <a:noFill/>
        </p:spPr>
        <p:txBody>
          <a:bodyPr wrap="square" rtlCol="0">
            <a:spAutoFit/>
          </a:bodyPr>
          <a:lstStyle/>
          <a:p>
            <a:r>
              <a:rPr lang="zh-CN" altLang="en-US" sz="1600" dirty="0" smtClean="0">
                <a:solidFill>
                  <a:srgbClr val="E2CE84"/>
                </a:solidFill>
                <a:latin typeface="微软雅黑" pitchFamily="34" charset="-122"/>
                <a:ea typeface="微软雅黑" pitchFamily="34" charset="-122"/>
              </a:rPr>
              <a:t>著作：</a:t>
            </a:r>
            <a:endParaRPr lang="en-US" altLang="zh-CN" sz="1600" dirty="0" smtClean="0">
              <a:solidFill>
                <a:srgbClr val="E2CE84"/>
              </a:solidFill>
              <a:latin typeface="微软雅黑" pitchFamily="34" charset="-122"/>
              <a:ea typeface="微软雅黑" pitchFamily="34" charset="-122"/>
            </a:endParaRPr>
          </a:p>
          <a:p>
            <a:r>
              <a:rPr lang="en-US" altLang="zh-CN" sz="1600" b="1" dirty="0" smtClean="0">
                <a:solidFill>
                  <a:srgbClr val="E2CE84"/>
                </a:solidFill>
                <a:latin typeface="微软雅黑" panose="020B0503020204020204" pitchFamily="34" charset="-122"/>
                <a:ea typeface="微软雅黑" panose="020B0503020204020204" pitchFamily="34" charset="-122"/>
              </a:rPr>
              <a:t>    《</a:t>
            </a:r>
            <a:r>
              <a:rPr lang="zh-CN" altLang="en-US" sz="1600" b="1" dirty="0">
                <a:solidFill>
                  <a:srgbClr val="E2CE84"/>
                </a:solidFill>
                <a:latin typeface="微软雅黑" panose="020B0503020204020204" pitchFamily="34" charset="-122"/>
                <a:ea typeface="微软雅黑" panose="020B0503020204020204" pitchFamily="34" charset="-122"/>
              </a:rPr>
              <a:t>大败局</a:t>
            </a:r>
            <a:r>
              <a:rPr lang="en-US" altLang="zh-CN" sz="1600" b="1" dirty="0">
                <a:solidFill>
                  <a:srgbClr val="E2CE84"/>
                </a:solidFill>
                <a:latin typeface="微软雅黑" panose="020B0503020204020204" pitchFamily="34" charset="-122"/>
                <a:ea typeface="微软雅黑" panose="020B0503020204020204" pitchFamily="34" charset="-122"/>
              </a:rPr>
              <a:t>1</a:t>
            </a:r>
            <a:r>
              <a:rPr lang="zh-CN" altLang="en-US" sz="1600" b="1" dirty="0">
                <a:solidFill>
                  <a:srgbClr val="E2CE84"/>
                </a:solidFill>
                <a:latin typeface="微软雅黑" panose="020B0503020204020204" pitchFamily="34" charset="-122"/>
                <a:ea typeface="微软雅黑" panose="020B0503020204020204" pitchFamily="34" charset="-122"/>
              </a:rPr>
              <a:t>、</a:t>
            </a:r>
            <a:r>
              <a:rPr lang="en-US" altLang="zh-CN" sz="1600" b="1" dirty="0">
                <a:solidFill>
                  <a:srgbClr val="E2CE84"/>
                </a:solidFill>
                <a:latin typeface="微软雅黑" panose="020B0503020204020204" pitchFamily="34" charset="-122"/>
                <a:ea typeface="微软雅黑" panose="020B0503020204020204" pitchFamily="34" charset="-122"/>
              </a:rPr>
              <a:t>2</a:t>
            </a:r>
            <a:r>
              <a:rPr lang="en-US" altLang="zh-CN" sz="1600" b="1" dirty="0" smtClean="0">
                <a:solidFill>
                  <a:srgbClr val="E2CE84"/>
                </a:solidFill>
                <a:latin typeface="微软雅黑" panose="020B0503020204020204" pitchFamily="34" charset="-122"/>
                <a:ea typeface="微软雅黑" panose="020B0503020204020204" pitchFamily="34" charset="-122"/>
              </a:rPr>
              <a:t>》</a:t>
            </a:r>
          </a:p>
          <a:p>
            <a:r>
              <a:rPr lang="en-US" altLang="zh-CN" sz="1600" b="1" dirty="0" smtClean="0">
                <a:solidFill>
                  <a:srgbClr val="E2CE84"/>
                </a:solidFill>
                <a:latin typeface="微软雅黑" panose="020B0503020204020204" pitchFamily="34" charset="-122"/>
                <a:ea typeface="微软雅黑" panose="020B0503020204020204" pitchFamily="34" charset="-122"/>
              </a:rPr>
              <a:t>    《</a:t>
            </a:r>
            <a:r>
              <a:rPr lang="zh-CN" altLang="en-US" sz="1600" b="1" dirty="0">
                <a:solidFill>
                  <a:srgbClr val="E2CE84"/>
                </a:solidFill>
                <a:latin typeface="微软雅黑" panose="020B0503020204020204" pitchFamily="34" charset="-122"/>
                <a:ea typeface="微软雅黑" panose="020B0503020204020204" pitchFamily="34" charset="-122"/>
              </a:rPr>
              <a:t>激荡三十年：中国企业</a:t>
            </a:r>
            <a:r>
              <a:rPr lang="en-US" altLang="zh-CN" sz="1600" b="1" dirty="0">
                <a:solidFill>
                  <a:srgbClr val="E2CE84"/>
                </a:solidFill>
                <a:latin typeface="微软雅黑" panose="020B0503020204020204" pitchFamily="34" charset="-122"/>
                <a:ea typeface="微软雅黑" panose="020B0503020204020204" pitchFamily="34" charset="-122"/>
              </a:rPr>
              <a:t>1978—2008</a:t>
            </a:r>
            <a:r>
              <a:rPr lang="en-US" altLang="zh-CN" sz="1600" b="1" dirty="0" smtClean="0">
                <a:solidFill>
                  <a:srgbClr val="E2CE84"/>
                </a:solidFill>
                <a:latin typeface="微软雅黑" panose="020B0503020204020204" pitchFamily="34" charset="-122"/>
                <a:ea typeface="微软雅黑" panose="020B0503020204020204" pitchFamily="34" charset="-122"/>
              </a:rPr>
              <a:t>》</a:t>
            </a:r>
          </a:p>
          <a:p>
            <a:r>
              <a:rPr lang="en-US" altLang="zh-CN" sz="1600" b="1" dirty="0" smtClean="0">
                <a:solidFill>
                  <a:srgbClr val="E2CE84"/>
                </a:solidFill>
                <a:latin typeface="微软雅黑" panose="020B0503020204020204" pitchFamily="34" charset="-122"/>
                <a:ea typeface="微软雅黑" panose="020B0503020204020204" pitchFamily="34" charset="-122"/>
              </a:rPr>
              <a:t>    《</a:t>
            </a:r>
            <a:r>
              <a:rPr lang="zh-CN" altLang="en-US" sz="1600" b="1" dirty="0" smtClean="0">
                <a:solidFill>
                  <a:srgbClr val="E2CE84"/>
                </a:solidFill>
                <a:latin typeface="微软雅黑" panose="020B0503020204020204" pitchFamily="34" charset="-122"/>
                <a:ea typeface="微软雅黑" panose="020B0503020204020204" pitchFamily="34" charset="-122"/>
              </a:rPr>
              <a:t>吴敬琏传：一位中国经济学家的肖像</a:t>
            </a:r>
            <a:r>
              <a:rPr lang="en-US" altLang="zh-CN" sz="1600" b="1" dirty="0" smtClean="0">
                <a:solidFill>
                  <a:srgbClr val="E2CE84"/>
                </a:solidFill>
                <a:latin typeface="微软雅黑" panose="020B0503020204020204" pitchFamily="34" charset="-122"/>
                <a:ea typeface="微软雅黑" panose="020B0503020204020204" pitchFamily="34" charset="-122"/>
              </a:rPr>
              <a:t>》</a:t>
            </a:r>
          </a:p>
          <a:p>
            <a:r>
              <a:rPr lang="en-US" altLang="zh-CN" sz="1600" b="1" dirty="0" smtClean="0">
                <a:solidFill>
                  <a:srgbClr val="E2CE84"/>
                </a:solidFill>
                <a:latin typeface="微软雅黑" panose="020B0503020204020204" pitchFamily="34" charset="-122"/>
                <a:ea typeface="微软雅黑" panose="020B0503020204020204" pitchFamily="34" charset="-122"/>
              </a:rPr>
              <a:t>    《</a:t>
            </a:r>
            <a:r>
              <a:rPr lang="zh-CN" altLang="en-US" sz="1600" b="1" dirty="0">
                <a:solidFill>
                  <a:srgbClr val="E2CE84"/>
                </a:solidFill>
                <a:latin typeface="微软雅黑" panose="020B0503020204020204" pitchFamily="34" charset="-122"/>
                <a:ea typeface="微软雅黑" panose="020B0503020204020204" pitchFamily="34" charset="-122"/>
              </a:rPr>
              <a:t>浩荡两千年：中国企业公元前</a:t>
            </a:r>
            <a:r>
              <a:rPr lang="en-US" altLang="zh-CN" sz="1600" b="1" dirty="0">
                <a:solidFill>
                  <a:srgbClr val="E2CE84"/>
                </a:solidFill>
                <a:latin typeface="微软雅黑" panose="020B0503020204020204" pitchFamily="34" charset="-122"/>
                <a:ea typeface="微软雅黑" panose="020B0503020204020204" pitchFamily="34" charset="-122"/>
              </a:rPr>
              <a:t>7</a:t>
            </a:r>
            <a:r>
              <a:rPr lang="zh-CN" altLang="en-US" sz="1600" b="1" dirty="0">
                <a:solidFill>
                  <a:srgbClr val="E2CE84"/>
                </a:solidFill>
                <a:latin typeface="微软雅黑" panose="020B0503020204020204" pitchFamily="34" charset="-122"/>
                <a:ea typeface="微软雅黑" panose="020B0503020204020204" pitchFamily="34" charset="-122"/>
              </a:rPr>
              <a:t>世纪</a:t>
            </a:r>
            <a:r>
              <a:rPr lang="en-US" altLang="zh-CN" sz="1600" b="1" dirty="0">
                <a:solidFill>
                  <a:srgbClr val="E2CE84"/>
                </a:solidFill>
                <a:latin typeface="微软雅黑" panose="020B0503020204020204" pitchFamily="34" charset="-122"/>
                <a:ea typeface="微软雅黑" panose="020B0503020204020204" pitchFamily="34" charset="-122"/>
              </a:rPr>
              <a:t>—1869</a:t>
            </a:r>
            <a:r>
              <a:rPr lang="zh-CN" altLang="en-US" sz="1600" b="1" dirty="0">
                <a:solidFill>
                  <a:srgbClr val="E2CE84"/>
                </a:solidFill>
                <a:latin typeface="微软雅黑" panose="020B0503020204020204" pitchFamily="34" charset="-122"/>
                <a:ea typeface="微软雅黑" panose="020B0503020204020204" pitchFamily="34" charset="-122"/>
              </a:rPr>
              <a:t>年</a:t>
            </a:r>
            <a:r>
              <a:rPr lang="en-US" altLang="zh-CN" sz="1600" b="1" dirty="0" smtClean="0">
                <a:solidFill>
                  <a:srgbClr val="E2CE84"/>
                </a:solidFill>
                <a:latin typeface="微软雅黑" panose="020B0503020204020204" pitchFamily="34" charset="-122"/>
                <a:ea typeface="微软雅黑" panose="020B0503020204020204" pitchFamily="34" charset="-122"/>
              </a:rPr>
              <a:t>》</a:t>
            </a:r>
          </a:p>
          <a:p>
            <a:r>
              <a:rPr lang="en-US" altLang="zh-CN" sz="1600" b="1" dirty="0" smtClean="0">
                <a:solidFill>
                  <a:srgbClr val="E2CE84"/>
                </a:solidFill>
                <a:latin typeface="微软雅黑" panose="020B0503020204020204" pitchFamily="34" charset="-122"/>
                <a:ea typeface="微软雅黑" panose="020B0503020204020204" pitchFamily="34" charset="-122"/>
              </a:rPr>
              <a:t>    《</a:t>
            </a:r>
            <a:r>
              <a:rPr lang="zh-CN" altLang="en-US" sz="1600" b="1" dirty="0">
                <a:solidFill>
                  <a:srgbClr val="E2CE84"/>
                </a:solidFill>
                <a:latin typeface="微软雅黑" panose="020B0503020204020204" pitchFamily="34" charset="-122"/>
                <a:ea typeface="微软雅黑" panose="020B0503020204020204" pitchFamily="34" charset="-122"/>
              </a:rPr>
              <a:t>历代经济变革得失</a:t>
            </a:r>
            <a:r>
              <a:rPr lang="en-US" altLang="zh-CN" sz="1600" b="1" dirty="0">
                <a:solidFill>
                  <a:srgbClr val="E2CE84"/>
                </a:solidFill>
                <a:latin typeface="微软雅黑" panose="020B0503020204020204" pitchFamily="34" charset="-122"/>
                <a:ea typeface="微软雅黑" panose="020B0503020204020204" pitchFamily="34" charset="-122"/>
              </a:rPr>
              <a:t>》</a:t>
            </a:r>
            <a:endParaRPr lang="zh-CN" altLang="en-US" sz="1600" dirty="0">
              <a:solidFill>
                <a:srgbClr val="E2CE84"/>
              </a:solidFill>
              <a:latin typeface="微软雅黑" pitchFamily="34" charset="-122"/>
              <a:ea typeface="微软雅黑" pitchFamily="34" charset="-122"/>
            </a:endParaRPr>
          </a:p>
        </p:txBody>
      </p:sp>
      <p:sp>
        <p:nvSpPr>
          <p:cNvPr id="12" name="矩形 11"/>
          <p:cNvSpPr/>
          <p:nvPr/>
        </p:nvSpPr>
        <p:spPr>
          <a:xfrm>
            <a:off x="1700064" y="-4447"/>
            <a:ext cx="744393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2" name="矩形 1"/>
          <p:cNvSpPr/>
          <p:nvPr/>
        </p:nvSpPr>
        <p:spPr>
          <a:xfrm>
            <a:off x="2858324" y="2636912"/>
            <a:ext cx="1569660" cy="646331"/>
          </a:xfrm>
          <a:prstGeom prst="rect">
            <a:avLst/>
          </a:prstGeom>
        </p:spPr>
        <p:txBody>
          <a:bodyPr wrap="none">
            <a:spAutoFit/>
          </a:bodyPr>
          <a:lstStyle/>
          <a:p>
            <a:r>
              <a:rPr lang="zh-CN" altLang="en-US" sz="3600" dirty="0">
                <a:latin typeface="方正兰亭粗黑简体" panose="02000000000000000000" pitchFamily="2" charset="-122"/>
                <a:ea typeface="方正兰亭粗黑简体" panose="02000000000000000000" pitchFamily="2" charset="-122"/>
              </a:rPr>
              <a:t>吴晓波</a:t>
            </a:r>
          </a:p>
        </p:txBody>
      </p:sp>
    </p:spTree>
    <p:extLst>
      <p:ext uri="{BB962C8B-B14F-4D97-AF65-F5344CB8AC3E}">
        <p14:creationId xmlns:p14="http://schemas.microsoft.com/office/powerpoint/2010/main" val="40914210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653" y="0"/>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722534" y="0"/>
            <a:ext cx="7452320"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6" name="TextBox 5"/>
          <p:cNvSpPr txBox="1"/>
          <p:nvPr/>
        </p:nvSpPr>
        <p:spPr>
          <a:xfrm>
            <a:off x="848938" y="-121079"/>
            <a:ext cx="1192945"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目录</a:t>
            </a:r>
            <a:endParaRPr lang="zh-CN" altLang="en-US" sz="5400" b="1" dirty="0">
              <a:latin typeface="华文行楷" pitchFamily="2" charset="-122"/>
              <a:ea typeface="华文行楷" pitchFamily="2" charset="-122"/>
            </a:endParaRPr>
          </a:p>
        </p:txBody>
      </p:sp>
      <p:graphicFrame>
        <p:nvGraphicFramePr>
          <p:cNvPr id="7" name="图示 6"/>
          <p:cNvGraphicFramePr/>
          <p:nvPr>
            <p:extLst>
              <p:ext uri="{D42A27DB-BD31-4B8C-83A1-F6EECF244321}">
                <p14:modId xmlns:p14="http://schemas.microsoft.com/office/powerpoint/2010/main" val="964742261"/>
              </p:ext>
            </p:extLst>
          </p:nvPr>
        </p:nvGraphicFramePr>
        <p:xfrm>
          <a:off x="-72423" y="1844824"/>
          <a:ext cx="5508519" cy="414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p:cNvSpPr txBox="1"/>
          <p:nvPr/>
        </p:nvSpPr>
        <p:spPr>
          <a:xfrm>
            <a:off x="-36512" y="2226157"/>
            <a:ext cx="701824" cy="276999"/>
          </a:xfrm>
          <a:prstGeom prst="rect">
            <a:avLst/>
          </a:prstGeom>
          <a:noFill/>
        </p:spPr>
        <p:txBody>
          <a:bodyPr wrap="square" rtlCol="0">
            <a:spAutoFit/>
          </a:bodyPr>
          <a:lstStyle/>
          <a:p>
            <a:r>
              <a:rPr lang="en-US" altLang="zh-CN" sz="1200" b="1" dirty="0" smtClean="0">
                <a:latin typeface="微软雅黑" pitchFamily="34" charset="-122"/>
                <a:ea typeface="微软雅黑" pitchFamily="34" charset="-122"/>
              </a:rPr>
              <a:t>78~83</a:t>
            </a:r>
            <a:endParaRPr lang="zh-CN" altLang="en-US" sz="1200" b="1" dirty="0">
              <a:latin typeface="微软雅黑" pitchFamily="34" charset="-122"/>
              <a:ea typeface="微软雅黑" pitchFamily="34" charset="-122"/>
            </a:endParaRPr>
          </a:p>
        </p:txBody>
      </p:sp>
      <p:sp>
        <p:nvSpPr>
          <p:cNvPr id="11" name="TextBox 10"/>
          <p:cNvSpPr txBox="1"/>
          <p:nvPr/>
        </p:nvSpPr>
        <p:spPr>
          <a:xfrm>
            <a:off x="363429" y="2990516"/>
            <a:ext cx="824195" cy="276999"/>
          </a:xfrm>
          <a:prstGeom prst="rect">
            <a:avLst/>
          </a:prstGeom>
          <a:noFill/>
        </p:spPr>
        <p:txBody>
          <a:bodyPr wrap="square" rtlCol="0">
            <a:spAutoFit/>
          </a:bodyPr>
          <a:lstStyle/>
          <a:p>
            <a:r>
              <a:rPr lang="en-US" altLang="zh-CN" sz="1200" b="1" dirty="0" smtClean="0">
                <a:latin typeface="微软雅黑" pitchFamily="34" charset="-122"/>
                <a:ea typeface="微软雅黑" pitchFamily="34" charset="-122"/>
              </a:rPr>
              <a:t>84~92</a:t>
            </a:r>
            <a:endParaRPr lang="zh-CN" altLang="en-US" sz="1200" b="1" dirty="0">
              <a:latin typeface="微软雅黑" pitchFamily="34" charset="-122"/>
              <a:ea typeface="微软雅黑" pitchFamily="34" charset="-122"/>
            </a:endParaRPr>
          </a:p>
        </p:txBody>
      </p:sp>
      <p:sp>
        <p:nvSpPr>
          <p:cNvPr id="13" name="TextBox 12"/>
          <p:cNvSpPr txBox="1"/>
          <p:nvPr/>
        </p:nvSpPr>
        <p:spPr>
          <a:xfrm>
            <a:off x="485800" y="3789825"/>
            <a:ext cx="701824" cy="276999"/>
          </a:xfrm>
          <a:prstGeom prst="rect">
            <a:avLst/>
          </a:prstGeom>
          <a:noFill/>
        </p:spPr>
        <p:txBody>
          <a:bodyPr wrap="square" rtlCol="0">
            <a:spAutoFit/>
          </a:bodyPr>
          <a:lstStyle/>
          <a:p>
            <a:r>
              <a:rPr lang="en-US" altLang="zh-CN" sz="1200" b="1" dirty="0" smtClean="0">
                <a:latin typeface="微软雅黑" pitchFamily="34" charset="-122"/>
                <a:ea typeface="微软雅黑" pitchFamily="34" charset="-122"/>
              </a:rPr>
              <a:t>93~97</a:t>
            </a:r>
            <a:endParaRPr lang="zh-CN" altLang="en-US" sz="1200" b="1" dirty="0">
              <a:latin typeface="微软雅黑" pitchFamily="34" charset="-122"/>
              <a:ea typeface="微软雅黑" pitchFamily="34" charset="-122"/>
            </a:endParaRPr>
          </a:p>
        </p:txBody>
      </p:sp>
      <p:sp>
        <p:nvSpPr>
          <p:cNvPr id="14" name="TextBox 13"/>
          <p:cNvSpPr txBox="1"/>
          <p:nvPr/>
        </p:nvSpPr>
        <p:spPr>
          <a:xfrm>
            <a:off x="363429" y="4554184"/>
            <a:ext cx="701824" cy="276999"/>
          </a:xfrm>
          <a:prstGeom prst="rect">
            <a:avLst/>
          </a:prstGeom>
          <a:noFill/>
        </p:spPr>
        <p:txBody>
          <a:bodyPr wrap="square" rtlCol="0">
            <a:spAutoFit/>
          </a:bodyPr>
          <a:lstStyle/>
          <a:p>
            <a:r>
              <a:rPr lang="en-US" altLang="zh-CN" sz="1200" b="1" dirty="0" smtClean="0">
                <a:latin typeface="微软雅黑" pitchFamily="34" charset="-122"/>
                <a:ea typeface="微软雅黑" pitchFamily="34" charset="-122"/>
              </a:rPr>
              <a:t>98~02</a:t>
            </a:r>
            <a:endParaRPr lang="zh-CN" altLang="en-US" sz="1200" b="1" dirty="0">
              <a:latin typeface="微软雅黑" pitchFamily="34" charset="-122"/>
              <a:ea typeface="微软雅黑" pitchFamily="34" charset="-122"/>
            </a:endParaRPr>
          </a:p>
        </p:txBody>
      </p:sp>
      <p:sp>
        <p:nvSpPr>
          <p:cNvPr id="15" name="TextBox 14"/>
          <p:cNvSpPr txBox="1"/>
          <p:nvPr/>
        </p:nvSpPr>
        <p:spPr>
          <a:xfrm>
            <a:off x="-9128" y="5318543"/>
            <a:ext cx="701824" cy="276999"/>
          </a:xfrm>
          <a:prstGeom prst="rect">
            <a:avLst/>
          </a:prstGeom>
          <a:noFill/>
        </p:spPr>
        <p:txBody>
          <a:bodyPr wrap="square" rtlCol="0">
            <a:spAutoFit/>
          </a:bodyPr>
          <a:lstStyle/>
          <a:p>
            <a:r>
              <a:rPr lang="en-US" altLang="zh-CN" sz="1200" b="1" dirty="0" smtClean="0">
                <a:latin typeface="微软雅黑" pitchFamily="34" charset="-122"/>
                <a:ea typeface="微软雅黑" pitchFamily="34" charset="-122"/>
              </a:rPr>
              <a:t>03~08</a:t>
            </a:r>
            <a:endParaRPr lang="zh-CN" altLang="en-US" sz="1200" b="1" dirty="0">
              <a:latin typeface="微软雅黑" pitchFamily="34" charset="-122"/>
              <a:ea typeface="微软雅黑" pitchFamily="34" charset="-122"/>
            </a:endParaRPr>
          </a:p>
        </p:txBody>
      </p:sp>
      <p:sp>
        <p:nvSpPr>
          <p:cNvPr id="2" name="右大括号 1"/>
          <p:cNvSpPr/>
          <p:nvPr/>
        </p:nvSpPr>
        <p:spPr>
          <a:xfrm>
            <a:off x="5364088" y="2303682"/>
            <a:ext cx="360040" cy="963833"/>
          </a:xfrm>
          <a:prstGeom prst="rightBrace">
            <a:avLst>
              <a:gd name="adj1" fmla="val 8333"/>
              <a:gd name="adj2" fmla="val 47168"/>
            </a:avLst>
          </a:prstGeom>
          <a:noFill/>
          <a:ln>
            <a:solidFill>
              <a:srgbClr val="D32A3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右大括号 11"/>
          <p:cNvSpPr/>
          <p:nvPr/>
        </p:nvSpPr>
        <p:spPr>
          <a:xfrm>
            <a:off x="5364088" y="3872942"/>
            <a:ext cx="360040" cy="1599092"/>
          </a:xfrm>
          <a:prstGeom prst="rightBrace">
            <a:avLst/>
          </a:prstGeom>
          <a:ln>
            <a:solidFill>
              <a:srgbClr val="D32A3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6" name="组合 15"/>
          <p:cNvGrpSpPr/>
          <p:nvPr/>
        </p:nvGrpSpPr>
        <p:grpSpPr>
          <a:xfrm>
            <a:off x="5886400" y="2469717"/>
            <a:ext cx="1061864" cy="626053"/>
            <a:chOff x="5458115" y="3307003"/>
            <a:chExt cx="626053" cy="626053"/>
          </a:xfrm>
        </p:grpSpPr>
        <p:sp>
          <p:nvSpPr>
            <p:cNvPr id="17" name="椭圆 16"/>
            <p:cNvSpPr/>
            <p:nvPr/>
          </p:nvSpPr>
          <p:spPr>
            <a:xfrm>
              <a:off x="5458115" y="3307003"/>
              <a:ext cx="626053" cy="626053"/>
            </a:xfrm>
            <a:prstGeom prst="ellipse">
              <a:avLst/>
            </a:prstGeom>
            <a:solidFill>
              <a:srgbClr val="E2CE84"/>
            </a:solidFill>
            <a:ln>
              <a:solidFill>
                <a:srgbClr val="E2CE84"/>
              </a:solidFill>
            </a:ln>
            <a:scene3d>
              <a:camera prst="orthographicFront"/>
              <a:lightRig rig="threePt" dir="t"/>
            </a:scene3d>
            <a:sp3d>
              <a:bevelT prst="relaxedInset"/>
              <a:bevelB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E2CE84"/>
                </a:solidFill>
              </a:endParaRPr>
            </a:p>
          </p:txBody>
        </p:sp>
        <p:sp>
          <p:nvSpPr>
            <p:cNvPr id="18" name="文本框 17"/>
            <p:cNvSpPr txBox="1"/>
            <p:nvPr/>
          </p:nvSpPr>
          <p:spPr>
            <a:xfrm>
              <a:off x="5508104" y="3356992"/>
              <a:ext cx="576064" cy="523220"/>
            </a:xfrm>
            <a:prstGeom prst="rect">
              <a:avLst/>
            </a:prstGeom>
            <a:noFill/>
          </p:spPr>
          <p:txBody>
            <a:bodyPr wrap="square" rtlCol="0">
              <a:spAutoFit/>
              <a:scene3d>
                <a:camera prst="orthographicFront"/>
                <a:lightRig rig="threePt" dir="t"/>
              </a:scene3d>
              <a:sp3d extrusionH="57150">
                <a:bevelT w="38100" h="38100"/>
                <a:bevelB w="38100" h="38100" prst="angle"/>
              </a:sp3d>
            </a:bodyPr>
            <a:lstStyle/>
            <a:p>
              <a:r>
                <a:rPr lang="zh-CN" altLang="en-US" sz="2800" b="1" dirty="0" smtClean="0">
                  <a:solidFill>
                    <a:srgbClr val="C00000"/>
                  </a:solidFill>
                  <a:latin typeface="方正兰亭粗黑简体" panose="02000000000000000000" pitchFamily="2" charset="-122"/>
                  <a:ea typeface="方正兰亭粗黑简体" panose="02000000000000000000" pitchFamily="2" charset="-122"/>
                </a:rPr>
                <a:t>上册</a:t>
              </a:r>
              <a:endParaRPr lang="zh-CN" altLang="en-US" sz="2800" b="1" dirty="0">
                <a:solidFill>
                  <a:srgbClr val="C00000"/>
                </a:solidFill>
                <a:latin typeface="方正兰亭粗黑简体" panose="02000000000000000000" pitchFamily="2" charset="-122"/>
                <a:ea typeface="方正兰亭粗黑简体" panose="02000000000000000000" pitchFamily="2" charset="-122"/>
              </a:endParaRPr>
            </a:p>
          </p:txBody>
        </p:sp>
      </p:grpSp>
      <p:grpSp>
        <p:nvGrpSpPr>
          <p:cNvPr id="19" name="组合 18"/>
          <p:cNvGrpSpPr/>
          <p:nvPr/>
        </p:nvGrpSpPr>
        <p:grpSpPr>
          <a:xfrm>
            <a:off x="5940152" y="4359461"/>
            <a:ext cx="1061864" cy="626053"/>
            <a:chOff x="5458115" y="3307003"/>
            <a:chExt cx="626053" cy="626053"/>
          </a:xfrm>
        </p:grpSpPr>
        <p:sp>
          <p:nvSpPr>
            <p:cNvPr id="20" name="椭圆 19"/>
            <p:cNvSpPr/>
            <p:nvPr/>
          </p:nvSpPr>
          <p:spPr>
            <a:xfrm>
              <a:off x="5458115" y="3307003"/>
              <a:ext cx="626053" cy="626053"/>
            </a:xfrm>
            <a:prstGeom prst="ellipse">
              <a:avLst/>
            </a:prstGeom>
            <a:solidFill>
              <a:srgbClr val="E2CE84"/>
            </a:solidFill>
            <a:ln>
              <a:solidFill>
                <a:srgbClr val="E2CE84"/>
              </a:solidFill>
            </a:ln>
            <a:scene3d>
              <a:camera prst="orthographicFront"/>
              <a:lightRig rig="threePt" dir="t"/>
            </a:scene3d>
            <a:sp3d>
              <a:bevelT prst="relaxedInset"/>
              <a:bevelB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E2CE84"/>
                </a:solidFill>
              </a:endParaRPr>
            </a:p>
          </p:txBody>
        </p:sp>
        <p:sp>
          <p:nvSpPr>
            <p:cNvPr id="21" name="文本框 20"/>
            <p:cNvSpPr txBox="1"/>
            <p:nvPr/>
          </p:nvSpPr>
          <p:spPr>
            <a:xfrm>
              <a:off x="5508104" y="3356992"/>
              <a:ext cx="576064" cy="523220"/>
            </a:xfrm>
            <a:prstGeom prst="rect">
              <a:avLst/>
            </a:prstGeom>
            <a:noFill/>
          </p:spPr>
          <p:txBody>
            <a:bodyPr wrap="square" rtlCol="0">
              <a:spAutoFit/>
              <a:scene3d>
                <a:camera prst="orthographicFront"/>
                <a:lightRig rig="threePt" dir="t"/>
              </a:scene3d>
              <a:sp3d extrusionH="57150">
                <a:bevelT w="38100" h="38100"/>
                <a:bevelB w="38100" h="38100" prst="angle"/>
              </a:sp3d>
            </a:bodyPr>
            <a:lstStyle/>
            <a:p>
              <a:r>
                <a:rPr lang="zh-CN" altLang="en-US" sz="2800" b="1" dirty="0">
                  <a:solidFill>
                    <a:srgbClr val="C00000"/>
                  </a:solidFill>
                  <a:latin typeface="方正兰亭粗黑简体" panose="02000000000000000000" pitchFamily="2" charset="-122"/>
                  <a:ea typeface="方正兰亭粗黑简体" panose="02000000000000000000" pitchFamily="2" charset="-122"/>
                </a:rPr>
                <a:t>下</a:t>
              </a:r>
              <a:r>
                <a:rPr lang="zh-CN" altLang="en-US" sz="2800" b="1" dirty="0" smtClean="0">
                  <a:solidFill>
                    <a:srgbClr val="C00000"/>
                  </a:solidFill>
                  <a:latin typeface="方正兰亭粗黑简体" panose="02000000000000000000" pitchFamily="2" charset="-122"/>
                  <a:ea typeface="方正兰亭粗黑简体" panose="02000000000000000000" pitchFamily="2" charset="-122"/>
                </a:rPr>
                <a:t>册</a:t>
              </a:r>
              <a:endParaRPr lang="zh-CN" altLang="en-US" sz="2800" b="1" dirty="0">
                <a:solidFill>
                  <a:srgbClr val="C00000"/>
                </a:solidFill>
                <a:latin typeface="方正兰亭粗黑简体" panose="02000000000000000000" pitchFamily="2" charset="-122"/>
                <a:ea typeface="方正兰亭粗黑简体" panose="02000000000000000000" pitchFamily="2" charset="-122"/>
              </a:endParaRPr>
            </a:p>
          </p:txBody>
        </p:sp>
      </p:grpSp>
    </p:spTree>
    <p:extLst>
      <p:ext uri="{BB962C8B-B14F-4D97-AF65-F5344CB8AC3E}">
        <p14:creationId xmlns:p14="http://schemas.microsoft.com/office/powerpoint/2010/main" val="16354632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51520" y="121012"/>
            <a:ext cx="8892479" cy="787708"/>
            <a:chOff x="384538" y="253918"/>
            <a:chExt cx="5991199" cy="508162"/>
          </a:xfrm>
          <a:scene3d>
            <a:camera prst="orthographicFront"/>
            <a:lightRig rig="flat" dir="t"/>
          </a:scene3d>
        </p:grpSpPr>
        <p:sp>
          <p:nvSpPr>
            <p:cNvPr id="8" name="矩形 7"/>
            <p:cNvSpPr/>
            <p:nvPr/>
          </p:nvSpPr>
          <p:spPr>
            <a:xfrm>
              <a:off x="384538" y="253918"/>
              <a:ext cx="5991199" cy="508162"/>
            </a:xfrm>
            <a:prstGeom prst="rect">
              <a:avLst/>
            </a:prstGeom>
            <a:solidFill>
              <a:srgbClr val="D42B35"/>
            </a:solidFill>
            <a:sp3d prstMaterial="dkEdge">
              <a:bevelT w="8200" h="38100"/>
            </a:sp3d>
          </p:spPr>
          <p:style>
            <a:lnRef idx="0">
              <a:schemeClr val="lt1">
                <a:hueOff val="0"/>
                <a:satOff val="0"/>
                <a:lumOff val="0"/>
                <a:alphaOff val="0"/>
              </a:schemeClr>
            </a:lnRef>
            <a:fillRef idx="2">
              <a:scrgbClr r="0" g="0" b="0"/>
            </a:fillRef>
            <a:effectRef idx="1">
              <a:schemeClr val="accent1">
                <a:hueOff val="0"/>
                <a:satOff val="0"/>
                <a:lumOff val="0"/>
                <a:alphaOff val="0"/>
              </a:schemeClr>
            </a:effectRef>
            <a:fontRef idx="minor">
              <a:schemeClr val="dk1"/>
            </a:fontRef>
          </p:style>
        </p:sp>
        <p:sp>
          <p:nvSpPr>
            <p:cNvPr id="9" name="矩形 8"/>
            <p:cNvSpPr/>
            <p:nvPr/>
          </p:nvSpPr>
          <p:spPr>
            <a:xfrm>
              <a:off x="384538" y="253918"/>
              <a:ext cx="5656275" cy="508162"/>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403354" tIns="50800" rIns="50800" bIns="50800" numCol="1" spcCol="1270" anchor="ctr" anchorCtr="0">
              <a:noAutofit/>
            </a:bodyPr>
            <a:lstStyle/>
            <a:p>
              <a:pPr lvl="0" algn="l" defTabSz="889000">
                <a:lnSpc>
                  <a:spcPct val="150000"/>
                </a:lnSpc>
                <a:spcBef>
                  <a:spcPct val="0"/>
                </a:spcBef>
                <a:spcAft>
                  <a:spcPct val="35000"/>
                </a:spcAft>
              </a:pPr>
              <a:r>
                <a:rPr lang="zh-CN" altLang="en-US" sz="2800" kern="1200" dirty="0" smtClean="0">
                  <a:latin typeface="方正兰亭粗黑简体" panose="02000000000000000000" pitchFamily="2" charset="-122"/>
                  <a:ea typeface="方正兰亭粗黑简体" panose="02000000000000000000" pitchFamily="2" charset="-122"/>
                </a:rPr>
                <a:t>          </a:t>
              </a:r>
              <a:r>
                <a:rPr lang="zh-CN" altLang="en-US" sz="3200" b="1" kern="1200" dirty="0" smtClean="0">
                  <a:solidFill>
                    <a:srgbClr val="E1D08C"/>
                  </a:solidFill>
                  <a:latin typeface="方正兰亭粗黑简体" panose="02000000000000000000" pitchFamily="2" charset="-122"/>
                  <a:ea typeface="方正兰亭粗黑简体" panose="02000000000000000000" pitchFamily="2" charset="-122"/>
                </a:rPr>
                <a:t>第一部      没有规则的骚动</a:t>
              </a:r>
              <a:endParaRPr lang="zh-CN" altLang="en-US" sz="3200" b="1" kern="1200" dirty="0">
                <a:solidFill>
                  <a:srgbClr val="E1D08C"/>
                </a:solidFill>
                <a:latin typeface="方正兰亭粗黑简体" panose="02000000000000000000" pitchFamily="2" charset="-122"/>
                <a:ea typeface="方正兰亭粗黑简体" panose="02000000000000000000" pitchFamily="2" charset="-122"/>
              </a:endParaRPr>
            </a:p>
          </p:txBody>
        </p:sp>
      </p:grpSp>
      <p:sp>
        <p:nvSpPr>
          <p:cNvPr id="7" name="椭圆 6"/>
          <p:cNvSpPr/>
          <p:nvPr/>
        </p:nvSpPr>
        <p:spPr>
          <a:xfrm>
            <a:off x="-29556" y="-3907"/>
            <a:ext cx="942805" cy="984635"/>
          </a:xfrm>
          <a:prstGeom prst="ellipse">
            <a:avLst/>
          </a:prstGeom>
          <a:ln>
            <a:solidFill>
              <a:srgbClr val="E2CE84"/>
            </a:solidFill>
          </a:ln>
          <a:effectLst>
            <a:outerShdw blurRad="50800" dist="38100" dir="5400000" algn="t" rotWithShape="0">
              <a:prstClr val="black">
                <a:alpha val="40000"/>
              </a:prstClr>
            </a:outerShdw>
          </a:effectLst>
        </p:spPr>
        <p:style>
          <a:lnRef idx="1">
            <a:schemeClr val="accent1">
              <a:hueOff val="0"/>
              <a:satOff val="0"/>
              <a:lumOff val="0"/>
              <a:alphaOff val="0"/>
            </a:schemeClr>
          </a:lnRef>
          <a:fillRef idx="2">
            <a:schemeClr val="lt1">
              <a:hueOff val="0"/>
              <a:satOff val="0"/>
              <a:lumOff val="0"/>
              <a:alphaOff val="0"/>
            </a:schemeClr>
          </a:fillRef>
          <a:effectRef idx="0">
            <a:scrgbClr r="0" g="0" b="0"/>
          </a:effectRef>
          <a:fontRef idx="minor">
            <a:schemeClr val="dk1">
              <a:hueOff val="0"/>
              <a:satOff val="0"/>
              <a:lumOff val="0"/>
              <a:alphaOff val="0"/>
            </a:schemeClr>
          </a:fontRef>
        </p:style>
      </p:sp>
      <p:sp>
        <p:nvSpPr>
          <p:cNvPr id="10" name="矩形 9"/>
          <p:cNvSpPr/>
          <p:nvPr/>
        </p:nvSpPr>
        <p:spPr>
          <a:xfrm>
            <a:off x="-33083" y="323364"/>
            <a:ext cx="931665" cy="369332"/>
          </a:xfrm>
          <a:prstGeom prst="rect">
            <a:avLst/>
          </a:prstGeom>
        </p:spPr>
        <p:txBody>
          <a:bodyPr wrap="none">
            <a:spAutoFit/>
          </a:bodyPr>
          <a:lstStyle/>
          <a:p>
            <a:r>
              <a:rPr lang="en-US" altLang="zh-CN" b="1" dirty="0" smtClean="0">
                <a:latin typeface="微软雅黑" pitchFamily="34" charset="-122"/>
                <a:ea typeface="微软雅黑" pitchFamily="34" charset="-122"/>
              </a:rPr>
              <a:t>78~83</a:t>
            </a:r>
            <a:endParaRPr lang="zh-CN" altLang="en-US" b="1" dirty="0">
              <a:latin typeface="微软雅黑" pitchFamily="34" charset="-122"/>
              <a:ea typeface="微软雅黑" pitchFamily="34" charset="-122"/>
            </a:endParaRPr>
          </a:p>
        </p:txBody>
      </p:sp>
      <p:sp>
        <p:nvSpPr>
          <p:cNvPr id="2" name="矩形 1"/>
          <p:cNvSpPr/>
          <p:nvPr/>
        </p:nvSpPr>
        <p:spPr>
          <a:xfrm>
            <a:off x="-33083" y="5157192"/>
            <a:ext cx="9177083" cy="1700808"/>
          </a:xfrm>
          <a:prstGeom prst="rect">
            <a:avLst/>
          </a:prstGeom>
          <a:solidFill>
            <a:srgbClr val="E2CE84"/>
          </a:solidFill>
          <a:ln>
            <a:solidFill>
              <a:srgbClr val="E2CE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 name="图表 12"/>
          <p:cNvGraphicFramePr/>
          <p:nvPr>
            <p:extLst>
              <p:ext uri="{D42A27DB-BD31-4B8C-83A1-F6EECF244321}">
                <p14:modId xmlns:p14="http://schemas.microsoft.com/office/powerpoint/2010/main" val="279691902"/>
              </p:ext>
            </p:extLst>
          </p:nvPr>
        </p:nvGraphicFramePr>
        <p:xfrm>
          <a:off x="-139338" y="1196752"/>
          <a:ext cx="9177082" cy="432048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p:cNvSpPr txBox="1"/>
          <p:nvPr/>
        </p:nvSpPr>
        <p:spPr>
          <a:xfrm>
            <a:off x="1197142" y="5755303"/>
            <a:ext cx="7001234" cy="646331"/>
          </a:xfrm>
          <a:prstGeom prst="rect">
            <a:avLst/>
          </a:prstGeom>
          <a:noFill/>
        </p:spPr>
        <p:txBody>
          <a:bodyPr wrap="square" rtlCol="0">
            <a:spAutoFit/>
          </a:bodyPr>
          <a:lstStyle/>
          <a:p>
            <a:r>
              <a:rPr lang="zh-CN" altLang="en-US" b="1" dirty="0" smtClean="0">
                <a:latin typeface="微软雅黑" pitchFamily="34" charset="-122"/>
                <a:ea typeface="微软雅黑" pitchFamily="34" charset="-122"/>
              </a:rPr>
              <a:t>思考</a:t>
            </a:r>
            <a:r>
              <a:rPr lang="en-US" altLang="zh-CN" b="1" dirty="0">
                <a:latin typeface="微软雅黑" pitchFamily="34" charset="-122"/>
                <a:ea typeface="微软雅黑" pitchFamily="34" charset="-122"/>
              </a:rPr>
              <a:t>1</a:t>
            </a:r>
            <a:r>
              <a:rPr lang="zh-CN" altLang="en-US" b="1"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从</a:t>
            </a:r>
            <a:r>
              <a:rPr lang="en-US" altLang="zh-CN" dirty="0" smtClean="0">
                <a:latin typeface="微软雅黑" pitchFamily="34" charset="-122"/>
                <a:ea typeface="微软雅黑" pitchFamily="34" charset="-122"/>
              </a:rPr>
              <a:t>1978</a:t>
            </a:r>
            <a:r>
              <a:rPr lang="zh-CN" altLang="en-US" dirty="0" smtClean="0">
                <a:latin typeface="微软雅黑" pitchFamily="34" charset="-122"/>
                <a:ea typeface="微软雅黑" pitchFamily="34" charset="-122"/>
              </a:rPr>
              <a:t>到</a:t>
            </a:r>
            <a:r>
              <a:rPr lang="en-US" altLang="zh-CN" dirty="0" smtClean="0">
                <a:latin typeface="微软雅黑" pitchFamily="34" charset="-122"/>
                <a:ea typeface="微软雅黑" pitchFamily="34" charset="-122"/>
              </a:rPr>
              <a:t>1983</a:t>
            </a:r>
            <a:r>
              <a:rPr lang="zh-CN" altLang="en-US" dirty="0" smtClean="0">
                <a:latin typeface="微软雅黑" pitchFamily="34" charset="-122"/>
                <a:ea typeface="微软雅黑" pitchFamily="34" charset="-122"/>
              </a:rPr>
              <a:t>年，这一阶段经济的上升，主要的拉动力在哪？</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18591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1520" y="121012"/>
            <a:ext cx="8892479" cy="787708"/>
            <a:chOff x="384538" y="253918"/>
            <a:chExt cx="5991199" cy="508162"/>
          </a:xfrm>
          <a:scene3d>
            <a:camera prst="orthographicFront"/>
            <a:lightRig rig="flat" dir="t"/>
          </a:scene3d>
        </p:grpSpPr>
        <p:sp>
          <p:nvSpPr>
            <p:cNvPr id="3" name="矩形 2"/>
            <p:cNvSpPr/>
            <p:nvPr/>
          </p:nvSpPr>
          <p:spPr>
            <a:xfrm>
              <a:off x="384538" y="253918"/>
              <a:ext cx="5991199" cy="508162"/>
            </a:xfrm>
            <a:prstGeom prst="rect">
              <a:avLst/>
            </a:prstGeom>
            <a:solidFill>
              <a:srgbClr val="D42B35"/>
            </a:solidFill>
            <a:sp3d prstMaterial="dkEdge">
              <a:bevelT w="8200" h="38100"/>
            </a:sp3d>
          </p:spPr>
          <p:style>
            <a:lnRef idx="0">
              <a:schemeClr val="lt1">
                <a:hueOff val="0"/>
                <a:satOff val="0"/>
                <a:lumOff val="0"/>
                <a:alphaOff val="0"/>
              </a:schemeClr>
            </a:lnRef>
            <a:fillRef idx="2">
              <a:scrgbClr r="0" g="0" b="0"/>
            </a:fillRef>
            <a:effectRef idx="1">
              <a:schemeClr val="accent1">
                <a:hueOff val="0"/>
                <a:satOff val="0"/>
                <a:lumOff val="0"/>
                <a:alphaOff val="0"/>
              </a:schemeClr>
            </a:effectRef>
            <a:fontRef idx="minor">
              <a:schemeClr val="dk1"/>
            </a:fontRef>
          </p:style>
        </p:sp>
        <p:sp>
          <p:nvSpPr>
            <p:cNvPr id="4" name="矩形 3"/>
            <p:cNvSpPr/>
            <p:nvPr/>
          </p:nvSpPr>
          <p:spPr>
            <a:xfrm>
              <a:off x="384538" y="253918"/>
              <a:ext cx="5656275" cy="508162"/>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403354" tIns="50800" rIns="50800" bIns="50800" numCol="1" spcCol="1270" anchor="ctr" anchorCtr="0">
              <a:noAutofit/>
            </a:bodyPr>
            <a:lstStyle/>
            <a:p>
              <a:pPr lvl="0" algn="l" defTabSz="889000">
                <a:lnSpc>
                  <a:spcPct val="90000"/>
                </a:lnSpc>
                <a:spcBef>
                  <a:spcPct val="0"/>
                </a:spcBef>
                <a:spcAft>
                  <a:spcPct val="35000"/>
                </a:spcAft>
              </a:pPr>
              <a:r>
                <a:rPr lang="zh-CN" altLang="en-US" sz="2800" kern="1200" dirty="0" smtClean="0">
                  <a:latin typeface="微软雅黑" pitchFamily="34" charset="-122"/>
                  <a:ea typeface="微软雅黑" pitchFamily="34" charset="-122"/>
                </a:rPr>
                <a:t>          </a:t>
              </a:r>
              <a:r>
                <a:rPr lang="zh-CN" altLang="en-US" sz="3200" b="1" kern="1200" dirty="0" smtClean="0">
                  <a:solidFill>
                    <a:srgbClr val="E1D08C"/>
                  </a:solidFill>
                  <a:latin typeface="微软雅黑" pitchFamily="34" charset="-122"/>
                  <a:ea typeface="微软雅黑" pitchFamily="34" charset="-122"/>
                </a:rPr>
                <a:t>第二部           被释放的精灵</a:t>
              </a:r>
              <a:endParaRPr lang="zh-CN" altLang="en-US" sz="3200" b="1" kern="1200" dirty="0">
                <a:solidFill>
                  <a:srgbClr val="E1D08C"/>
                </a:solidFill>
                <a:latin typeface="微软雅黑" pitchFamily="34" charset="-122"/>
                <a:ea typeface="微软雅黑" pitchFamily="34" charset="-122"/>
              </a:endParaRPr>
            </a:p>
          </p:txBody>
        </p:sp>
      </p:grpSp>
      <p:sp>
        <p:nvSpPr>
          <p:cNvPr id="5" name="椭圆 4"/>
          <p:cNvSpPr/>
          <p:nvPr/>
        </p:nvSpPr>
        <p:spPr>
          <a:xfrm>
            <a:off x="-29556" y="-3907"/>
            <a:ext cx="942805" cy="984635"/>
          </a:xfrm>
          <a:prstGeom prst="ellipse">
            <a:avLst/>
          </a:prstGeom>
          <a:effectLst>
            <a:outerShdw blurRad="50800" dist="38100" dir="5400000" algn="t" rotWithShape="0">
              <a:prstClr val="black">
                <a:alpha val="40000"/>
              </a:prstClr>
            </a:outerShdw>
          </a:effectLst>
        </p:spPr>
        <p:style>
          <a:lnRef idx="1">
            <a:schemeClr val="accent1">
              <a:hueOff val="0"/>
              <a:satOff val="0"/>
              <a:lumOff val="0"/>
              <a:alphaOff val="0"/>
            </a:schemeClr>
          </a:lnRef>
          <a:fillRef idx="2">
            <a:schemeClr val="lt1">
              <a:hueOff val="0"/>
              <a:satOff val="0"/>
              <a:lumOff val="0"/>
              <a:alphaOff val="0"/>
            </a:schemeClr>
          </a:fillRef>
          <a:effectRef idx="0">
            <a:scrgbClr r="0" g="0" b="0"/>
          </a:effectRef>
          <a:fontRef idx="minor">
            <a:schemeClr val="dk1">
              <a:hueOff val="0"/>
              <a:satOff val="0"/>
              <a:lumOff val="0"/>
              <a:alphaOff val="0"/>
            </a:schemeClr>
          </a:fontRef>
        </p:style>
      </p:sp>
      <p:sp>
        <p:nvSpPr>
          <p:cNvPr id="6" name="矩形 5"/>
          <p:cNvSpPr/>
          <p:nvPr/>
        </p:nvSpPr>
        <p:spPr>
          <a:xfrm>
            <a:off x="-33083" y="323364"/>
            <a:ext cx="931665" cy="369332"/>
          </a:xfrm>
          <a:prstGeom prst="rect">
            <a:avLst/>
          </a:prstGeom>
        </p:spPr>
        <p:txBody>
          <a:bodyPr wrap="none">
            <a:spAutoFit/>
          </a:bodyPr>
          <a:lstStyle/>
          <a:p>
            <a:r>
              <a:rPr lang="en-US" altLang="zh-CN" b="1" dirty="0" smtClean="0">
                <a:latin typeface="微软雅黑" pitchFamily="34" charset="-122"/>
                <a:ea typeface="微软雅黑" pitchFamily="34" charset="-122"/>
              </a:rPr>
              <a:t>84~92</a:t>
            </a:r>
            <a:endParaRPr lang="zh-CN" altLang="en-US" b="1" dirty="0">
              <a:latin typeface="微软雅黑" pitchFamily="34" charset="-122"/>
              <a:ea typeface="微软雅黑" pitchFamily="34" charset="-122"/>
            </a:endParaRPr>
          </a:p>
        </p:txBody>
      </p:sp>
      <p:sp>
        <p:nvSpPr>
          <p:cNvPr id="8" name="矩形 7"/>
          <p:cNvSpPr/>
          <p:nvPr/>
        </p:nvSpPr>
        <p:spPr>
          <a:xfrm>
            <a:off x="0" y="5157192"/>
            <a:ext cx="9144000" cy="1700808"/>
          </a:xfrm>
          <a:prstGeom prst="rect">
            <a:avLst/>
          </a:prstGeom>
          <a:solidFill>
            <a:srgbClr val="E2CE84"/>
          </a:solidFill>
          <a:ln>
            <a:solidFill>
              <a:srgbClr val="E2CE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图表 6"/>
          <p:cNvGraphicFramePr/>
          <p:nvPr>
            <p:extLst>
              <p:ext uri="{D42A27DB-BD31-4B8C-83A1-F6EECF244321}">
                <p14:modId xmlns:p14="http://schemas.microsoft.com/office/powerpoint/2010/main" val="3366509599"/>
              </p:ext>
            </p:extLst>
          </p:nvPr>
        </p:nvGraphicFramePr>
        <p:xfrm>
          <a:off x="-396552" y="1104401"/>
          <a:ext cx="9043438" cy="4248472"/>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1136281" y="5684429"/>
            <a:ext cx="7122956" cy="646331"/>
          </a:xfrm>
          <a:prstGeom prst="rect">
            <a:avLst/>
          </a:prstGeom>
          <a:noFill/>
        </p:spPr>
        <p:txBody>
          <a:bodyPr wrap="square" rtlCol="0">
            <a:spAutoFit/>
          </a:bodyPr>
          <a:lstStyle/>
          <a:p>
            <a:r>
              <a:rPr lang="zh-CN" altLang="en-US" b="1" dirty="0" smtClean="0">
                <a:latin typeface="微软雅黑" pitchFamily="34" charset="-122"/>
                <a:ea typeface="微软雅黑" pitchFamily="34" charset="-122"/>
              </a:rPr>
              <a:t>思考</a:t>
            </a:r>
            <a:r>
              <a:rPr lang="en-US" altLang="zh-CN" b="1" dirty="0" smtClean="0">
                <a:latin typeface="微软雅黑" pitchFamily="34" charset="-122"/>
                <a:ea typeface="微软雅黑" pitchFamily="34" charset="-122"/>
              </a:rPr>
              <a:t>2</a:t>
            </a:r>
            <a:r>
              <a:rPr lang="zh-CN" altLang="en-US" b="1"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1984</a:t>
            </a:r>
            <a:r>
              <a:rPr lang="zh-CN" altLang="en-US" dirty="0" smtClean="0">
                <a:latin typeface="微软雅黑" pitchFamily="34" charset="-122"/>
                <a:ea typeface="微软雅黑" pitchFamily="34" charset="-122"/>
              </a:rPr>
              <a:t>到</a:t>
            </a:r>
            <a:r>
              <a:rPr lang="en-US" altLang="zh-CN" dirty="0" smtClean="0">
                <a:latin typeface="微软雅黑" pitchFamily="34" charset="-122"/>
                <a:ea typeface="微软雅黑" pitchFamily="34" charset="-122"/>
              </a:rPr>
              <a:t>1992</a:t>
            </a:r>
            <a:r>
              <a:rPr lang="zh-CN" altLang="en-US" dirty="0" smtClean="0">
                <a:latin typeface="微软雅黑" pitchFamily="34" charset="-122"/>
                <a:ea typeface="微软雅黑" pitchFamily="34" charset="-122"/>
              </a:rPr>
              <a:t>年中国经济，哪种经济体是中国经济的主要推动力呢？</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4391758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987824" y="-27384"/>
            <a:ext cx="615617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66980"/>
            <a:ext cx="2376264" cy="1323439"/>
          </a:xfrm>
          <a:prstGeom prst="rect">
            <a:avLst/>
          </a:prstGeom>
          <a:noFill/>
        </p:spPr>
        <p:txBody>
          <a:bodyPr wrap="square" rtlCol="0">
            <a:spAutoFit/>
          </a:bodyPr>
          <a:lstStyle/>
          <a:p>
            <a:r>
              <a:rPr lang="zh-CN" altLang="en-US" sz="4000" b="1" dirty="0" smtClean="0">
                <a:latin typeface="华文行楷" pitchFamily="2" charset="-122"/>
                <a:ea typeface="华文行楷" pitchFamily="2" charset="-122"/>
              </a:rPr>
              <a:t>  邓小平</a:t>
            </a:r>
            <a:endParaRPr lang="en-US" altLang="zh-CN" sz="4000" b="1" dirty="0" smtClean="0">
              <a:latin typeface="华文行楷" pitchFamily="2" charset="-122"/>
              <a:ea typeface="华文行楷" pitchFamily="2" charset="-122"/>
            </a:endParaRPr>
          </a:p>
          <a:p>
            <a:r>
              <a:rPr lang="zh-CN" altLang="en-US" sz="4000" b="1" dirty="0" smtClean="0">
                <a:latin typeface="华文行楷" pitchFamily="2" charset="-122"/>
                <a:ea typeface="华文行楷" pitchFamily="2" charset="-122"/>
              </a:rPr>
              <a:t>锐意改革</a:t>
            </a:r>
            <a:endParaRPr lang="zh-CN" altLang="en-US" sz="4000" b="1" dirty="0">
              <a:latin typeface="华文行楷" pitchFamily="2" charset="-122"/>
              <a:ea typeface="华文行楷" pitchFamily="2" charset="-122"/>
            </a:endParaRPr>
          </a:p>
        </p:txBody>
      </p:sp>
      <p:pic>
        <p:nvPicPr>
          <p:cNvPr id="5" name="图片 4"/>
          <p:cNvPicPr>
            <a:picLocks noChangeAspect="1"/>
          </p:cNvPicPr>
          <p:nvPr/>
        </p:nvPicPr>
        <p:blipFill rotWithShape="1">
          <a:blip r:embed="rId2" cstate="print">
            <a:extLst>
              <a:ext uri="{28A0092B-C50C-407E-A947-70E740481C1C}">
                <a14:useLocalDpi xmlns:a14="http://schemas.microsoft.com/office/drawing/2010/main" val="0"/>
              </a:ext>
            </a:extLst>
          </a:blip>
          <a:srcRect b="4901"/>
          <a:stretch/>
        </p:blipFill>
        <p:spPr>
          <a:xfrm>
            <a:off x="613546" y="2208277"/>
            <a:ext cx="3121541" cy="1980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6" name="TextBox 5"/>
          <p:cNvSpPr txBox="1"/>
          <p:nvPr/>
        </p:nvSpPr>
        <p:spPr>
          <a:xfrm>
            <a:off x="4354849" y="1988840"/>
            <a:ext cx="4476070" cy="2800767"/>
          </a:xfrm>
          <a:prstGeom prst="rect">
            <a:avLst/>
          </a:prstGeom>
          <a:noFill/>
        </p:spPr>
        <p:txBody>
          <a:bodyPr wrap="square" rtlCol="0">
            <a:spAutoFit/>
          </a:bodyPr>
          <a:lstStyle/>
          <a:p>
            <a:r>
              <a:rPr lang="en-US" altLang="zh-CN" sz="2400" dirty="0">
                <a:latin typeface="微软雅黑" pitchFamily="34" charset="-122"/>
                <a:ea typeface="微软雅黑" pitchFamily="34" charset="-122"/>
              </a:rPr>
              <a:t> </a:t>
            </a:r>
            <a:r>
              <a:rPr lang="en-US" altLang="zh-CN" sz="2400" dirty="0" smtClean="0">
                <a:latin typeface="微软雅黑" pitchFamily="34" charset="-122"/>
                <a:ea typeface="微软雅黑" pitchFamily="34" charset="-122"/>
              </a:rPr>
              <a:t>     </a:t>
            </a:r>
            <a:r>
              <a:rPr lang="zh-CN" altLang="en-US" sz="2400" dirty="0" smtClean="0">
                <a:latin typeface="微软雅黑" pitchFamily="34" charset="-122"/>
                <a:ea typeface="微软雅黑" pitchFamily="34" charset="-122"/>
              </a:rPr>
              <a:t>“非要走这条路不可，叫做引进外资！”</a:t>
            </a:r>
            <a:endParaRPr lang="en-US" altLang="zh-CN" sz="2400" dirty="0" smtClean="0">
              <a:latin typeface="微软雅黑" pitchFamily="34" charset="-122"/>
              <a:ea typeface="微软雅黑" pitchFamily="34" charset="-122"/>
            </a:endParaRPr>
          </a:p>
          <a:p>
            <a:pPr algn="r"/>
            <a:r>
              <a:rPr lang="en-US" altLang="zh-CN" sz="2400" dirty="0" smtClean="0">
                <a:latin typeface="微软雅黑" pitchFamily="34" charset="-122"/>
                <a:ea typeface="微软雅黑" pitchFamily="34" charset="-122"/>
              </a:rPr>
              <a:t>——</a:t>
            </a:r>
            <a:r>
              <a:rPr lang="zh-CN" altLang="en-US" sz="2400" dirty="0" smtClean="0">
                <a:latin typeface="微软雅黑" pitchFamily="34" charset="-122"/>
                <a:ea typeface="微软雅黑" pitchFamily="34" charset="-122"/>
              </a:rPr>
              <a:t>邓小平</a:t>
            </a:r>
            <a:endParaRPr lang="en-US" altLang="zh-CN" sz="2400" dirty="0">
              <a:latin typeface="微软雅黑" pitchFamily="34" charset="-122"/>
              <a:ea typeface="微软雅黑" pitchFamily="34" charset="-122"/>
            </a:endParaRPr>
          </a:p>
          <a:p>
            <a:endParaRPr lang="en-US" altLang="zh-CN" sz="2400" dirty="0" smtClean="0">
              <a:latin typeface="微软雅黑" pitchFamily="34" charset="-122"/>
              <a:ea typeface="微软雅黑" pitchFamily="34" charset="-122"/>
            </a:endParaRPr>
          </a:p>
          <a:p>
            <a:endParaRPr lang="en-US" altLang="zh-CN" sz="2400" dirty="0">
              <a:latin typeface="微软雅黑" pitchFamily="34" charset="-122"/>
              <a:ea typeface="微软雅黑" pitchFamily="34" charset="-122"/>
            </a:endParaRPr>
          </a:p>
          <a:p>
            <a:r>
              <a:rPr lang="zh-CN" altLang="en-US" dirty="0" smtClean="0">
                <a:latin typeface="微软雅黑" pitchFamily="34" charset="-122"/>
                <a:ea typeface="微软雅黑" pitchFamily="34" charset="-122"/>
              </a:rPr>
              <a:t>在这一部企业史的前半段中，如果要有一个“</a:t>
            </a:r>
            <a:r>
              <a:rPr lang="zh-CN" altLang="en-US" sz="2000" b="1" dirty="0" smtClean="0">
                <a:latin typeface="微软雅黑" pitchFamily="34" charset="-122"/>
                <a:ea typeface="微软雅黑" pitchFamily="34" charset="-122"/>
              </a:rPr>
              <a:t>主角</a:t>
            </a:r>
            <a:r>
              <a:rPr lang="zh-CN" altLang="en-US" dirty="0" smtClean="0">
                <a:latin typeface="微软雅黑" pitchFamily="34" charset="-122"/>
                <a:ea typeface="微软雅黑" pitchFamily="34" charset="-122"/>
              </a:rPr>
              <a:t>”的话，那就应该是</a:t>
            </a:r>
            <a:r>
              <a:rPr lang="zh-CN" altLang="en-US" sz="2000" b="1" dirty="0" smtClean="0">
                <a:latin typeface="微软雅黑" pitchFamily="34" charset="-122"/>
                <a:ea typeface="微软雅黑" pitchFamily="34" charset="-122"/>
              </a:rPr>
              <a:t>邓小平</a:t>
            </a:r>
            <a:r>
              <a:rPr lang="zh-CN" altLang="en-US" dirty="0" smtClean="0">
                <a:latin typeface="微软雅黑" pitchFamily="34" charset="-122"/>
                <a:ea typeface="微软雅黑" pitchFamily="34" charset="-122"/>
              </a:rPr>
              <a:t>。</a:t>
            </a:r>
            <a:endParaRPr lang="en-US" altLang="zh-CN" dirty="0" smtClean="0">
              <a:latin typeface="微软雅黑" pitchFamily="34" charset="-122"/>
              <a:ea typeface="微软雅黑" pitchFamily="34" charset="-122"/>
            </a:endParaRPr>
          </a:p>
          <a:p>
            <a:pPr algn="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吴</a:t>
            </a:r>
            <a:r>
              <a:rPr lang="zh-CN" altLang="en-US" dirty="0">
                <a:latin typeface="微软雅黑" pitchFamily="34" charset="-122"/>
                <a:ea typeface="微软雅黑" pitchFamily="34" charset="-122"/>
              </a:rPr>
              <a:t>晓</a:t>
            </a:r>
            <a:r>
              <a:rPr lang="zh-CN" altLang="en-US" dirty="0" smtClean="0">
                <a:latin typeface="微软雅黑" pitchFamily="34" charset="-122"/>
                <a:ea typeface="微软雅黑" pitchFamily="34" charset="-122"/>
              </a:rPr>
              <a:t>波</a:t>
            </a:r>
            <a:endParaRPr lang="zh-CN" altLang="en-US" dirty="0">
              <a:latin typeface="微软雅黑" pitchFamily="34" charset="-122"/>
              <a:ea typeface="微软雅黑" pitchFamily="34" charset="-122"/>
            </a:endParaRPr>
          </a:p>
        </p:txBody>
      </p:sp>
      <p:sp>
        <p:nvSpPr>
          <p:cNvPr id="12" name="矩形 11"/>
          <p:cNvSpPr/>
          <p:nvPr/>
        </p:nvSpPr>
        <p:spPr>
          <a:xfrm>
            <a:off x="-8012" y="5165074"/>
            <a:ext cx="9152012" cy="1692925"/>
          </a:xfrm>
          <a:prstGeom prst="rect">
            <a:avLst/>
          </a:prstGeom>
          <a:solidFill>
            <a:srgbClr val="D32A3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srgbClr val="E2CE84"/>
              </a:solidFill>
              <a:effectLst/>
              <a:uLnTx/>
              <a:uFillTx/>
              <a:latin typeface="Calibri" panose="020F0502020204030204"/>
              <a:ea typeface="宋体" panose="02010600030101010101" pitchFamily="2" charset="-122"/>
            </a:endParaRPr>
          </a:p>
        </p:txBody>
      </p:sp>
      <p:sp>
        <p:nvSpPr>
          <p:cNvPr id="14" name="矩形 13"/>
          <p:cNvSpPr/>
          <p:nvPr/>
        </p:nvSpPr>
        <p:spPr>
          <a:xfrm>
            <a:off x="3735087" y="5301208"/>
            <a:ext cx="2954655" cy="1255728"/>
          </a:xfrm>
          <a:prstGeom prst="rect">
            <a:avLst/>
          </a:prstGeom>
        </p:spPr>
        <p:txBody>
          <a:bodyPr wrap="none">
            <a:spAutoFit/>
          </a:bodyPr>
          <a:lstStyle/>
          <a:p>
            <a:pPr>
              <a:lnSpc>
                <a:spcPct val="140000"/>
              </a:lnSpc>
            </a:pPr>
            <a:r>
              <a:rPr lang="zh-CN" altLang="en-US" b="1" dirty="0">
                <a:solidFill>
                  <a:srgbClr val="E2CE84"/>
                </a:solidFill>
                <a:latin typeface="微软雅黑" pitchFamily="34" charset="-122"/>
                <a:ea typeface="微软雅黑" pitchFamily="34" charset="-122"/>
              </a:rPr>
              <a:t>奠定改革开放三大思想基石</a:t>
            </a:r>
            <a:endParaRPr lang="en-US" altLang="zh-CN" b="1" dirty="0">
              <a:solidFill>
                <a:srgbClr val="E2CE84"/>
              </a:solidFill>
              <a:latin typeface="微软雅黑" pitchFamily="34" charset="-122"/>
              <a:ea typeface="微软雅黑" pitchFamily="34" charset="-122"/>
            </a:endParaRPr>
          </a:p>
          <a:p>
            <a:pPr>
              <a:lnSpc>
                <a:spcPct val="140000"/>
              </a:lnSpc>
            </a:pPr>
            <a:r>
              <a:rPr lang="zh-CN" altLang="en-US" b="1" dirty="0" smtClean="0">
                <a:solidFill>
                  <a:srgbClr val="E2CE84"/>
                </a:solidFill>
                <a:latin typeface="微软雅黑" pitchFamily="34" charset="-122"/>
                <a:ea typeface="微软雅黑" pitchFamily="34" charset="-122"/>
              </a:rPr>
              <a:t>针对</a:t>
            </a:r>
            <a:r>
              <a:rPr lang="zh-CN" altLang="en-US" b="1" dirty="0">
                <a:solidFill>
                  <a:srgbClr val="E2CE84"/>
                </a:solidFill>
                <a:latin typeface="微软雅黑" pitchFamily="34" charset="-122"/>
                <a:ea typeface="微软雅黑" pitchFamily="34" charset="-122"/>
              </a:rPr>
              <a:t>雇工</a:t>
            </a:r>
            <a:r>
              <a:rPr lang="zh-CN" altLang="en-US" b="1" dirty="0" smtClean="0">
                <a:solidFill>
                  <a:srgbClr val="E2CE84"/>
                </a:solidFill>
                <a:latin typeface="微软雅黑" pitchFamily="34" charset="-122"/>
                <a:ea typeface="微软雅黑" pitchFamily="34" charset="-122"/>
              </a:rPr>
              <a:t>问题采取三</a:t>
            </a:r>
            <a:r>
              <a:rPr lang="zh-CN" altLang="en-US" b="1" dirty="0">
                <a:solidFill>
                  <a:srgbClr val="E2CE84"/>
                </a:solidFill>
                <a:latin typeface="微软雅黑" pitchFamily="34" charset="-122"/>
                <a:ea typeface="微软雅黑" pitchFamily="34" charset="-122"/>
              </a:rPr>
              <a:t>不</a:t>
            </a:r>
            <a:r>
              <a:rPr lang="zh-CN" altLang="en-US" b="1" dirty="0" smtClean="0">
                <a:solidFill>
                  <a:srgbClr val="E2CE84"/>
                </a:solidFill>
                <a:latin typeface="微软雅黑" pitchFamily="34" charset="-122"/>
                <a:ea typeface="微软雅黑" pitchFamily="34" charset="-122"/>
              </a:rPr>
              <a:t>原则</a:t>
            </a:r>
            <a:endParaRPr lang="en-US" altLang="zh-CN" b="1" dirty="0">
              <a:solidFill>
                <a:srgbClr val="E2CE84"/>
              </a:solidFill>
              <a:latin typeface="微软雅黑" pitchFamily="34" charset="-122"/>
              <a:ea typeface="微软雅黑" pitchFamily="34" charset="-122"/>
            </a:endParaRPr>
          </a:p>
          <a:p>
            <a:pPr>
              <a:lnSpc>
                <a:spcPct val="140000"/>
              </a:lnSpc>
            </a:pPr>
            <a:r>
              <a:rPr lang="zh-CN" altLang="en-US" b="1" dirty="0" smtClean="0">
                <a:solidFill>
                  <a:srgbClr val="E2CE84"/>
                </a:solidFill>
                <a:latin typeface="微软雅黑" pitchFamily="34" charset="-122"/>
                <a:ea typeface="微软雅黑" pitchFamily="34" charset="-122"/>
              </a:rPr>
              <a:t>多次南巡实地考察指导工作</a:t>
            </a:r>
            <a:endParaRPr lang="en-US" altLang="zh-CN" b="1" dirty="0">
              <a:solidFill>
                <a:srgbClr val="E2CE84"/>
              </a:solidFill>
              <a:latin typeface="微软雅黑" pitchFamily="34" charset="-122"/>
              <a:ea typeface="微软雅黑" pitchFamily="34" charset="-122"/>
            </a:endParaRPr>
          </a:p>
        </p:txBody>
      </p:sp>
      <p:grpSp>
        <p:nvGrpSpPr>
          <p:cNvPr id="21" name="组合 20"/>
          <p:cNvGrpSpPr/>
          <p:nvPr/>
        </p:nvGrpSpPr>
        <p:grpSpPr>
          <a:xfrm>
            <a:off x="2454095" y="5367777"/>
            <a:ext cx="1218623" cy="1206577"/>
            <a:chOff x="8474625" y="4950899"/>
            <a:chExt cx="1897185" cy="1897185"/>
          </a:xfrm>
        </p:grpSpPr>
        <p:sp>
          <p:nvSpPr>
            <p:cNvPr id="13" name="椭圆 12"/>
            <p:cNvSpPr/>
            <p:nvPr/>
          </p:nvSpPr>
          <p:spPr>
            <a:xfrm>
              <a:off x="8474625" y="4950899"/>
              <a:ext cx="1897185" cy="1897185"/>
            </a:xfrm>
            <a:prstGeom prst="ellipse">
              <a:avLst/>
            </a:prstGeom>
            <a:solidFill>
              <a:srgbClr val="E2CE8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srgbClr val="E2CE84"/>
                </a:solidFill>
                <a:effectLst/>
                <a:uLnTx/>
                <a:uFillTx/>
                <a:latin typeface="Calibri" panose="020F0502020204030204"/>
                <a:ea typeface="宋体" panose="02010600030101010101" pitchFamily="2" charset="-122"/>
              </a:endParaRPr>
            </a:p>
          </p:txBody>
        </p:sp>
        <p:sp>
          <p:nvSpPr>
            <p:cNvPr id="19" name="椭圆 18"/>
            <p:cNvSpPr/>
            <p:nvPr/>
          </p:nvSpPr>
          <p:spPr>
            <a:xfrm>
              <a:off x="8612090" y="5081544"/>
              <a:ext cx="1622256" cy="1622256"/>
            </a:xfrm>
            <a:prstGeom prst="ellipse">
              <a:avLst/>
            </a:prstGeom>
            <a:noFill/>
            <a:ln w="12700" cap="flat" cmpd="sng" algn="ctr">
              <a:solidFill>
                <a:sysClr val="window" lastClr="FFFFFF"/>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srgbClr val="E2CE84"/>
                </a:solidFill>
                <a:effectLst/>
                <a:uLnTx/>
                <a:uFillTx/>
                <a:latin typeface="Calibri" panose="020F0502020204030204"/>
                <a:ea typeface="宋体" panose="02010600030101010101" pitchFamily="2" charset="-122"/>
              </a:endParaRPr>
            </a:p>
          </p:txBody>
        </p:sp>
        <p:sp>
          <p:nvSpPr>
            <p:cNvPr id="20" name="矩形 19"/>
            <p:cNvSpPr/>
            <p:nvPr/>
          </p:nvSpPr>
          <p:spPr>
            <a:xfrm>
              <a:off x="8712412" y="5482954"/>
              <a:ext cx="1565238" cy="919482"/>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3200" kern="100" dirty="0">
                  <a:latin typeface="文鼎习字体" panose="020B0602010101010101" pitchFamily="33" charset="-122"/>
                  <a:ea typeface="文鼎习字体" panose="020B0602010101010101" pitchFamily="33" charset="-122"/>
                  <a:cs typeface="Times New Roman" panose="02020603050405020304" pitchFamily="18" charset="0"/>
                </a:rPr>
                <a:t>战略</a:t>
              </a:r>
              <a:endParaRPr kumimoji="0" lang="zh-CN" altLang="en-US" sz="3200" b="0" i="0" u="none" strike="noStrike" kern="0" cap="none" spc="0" normalizeH="0" baseline="0" noProof="0" dirty="0" smtClean="0">
                <a:ln>
                  <a:noFill/>
                </a:ln>
                <a:effectLst/>
                <a:uLnTx/>
                <a:uFillTx/>
                <a:latin typeface="文鼎习字体" panose="020B0602010101010101" pitchFamily="33" charset="-122"/>
                <a:ea typeface="文鼎习字体" panose="020B0602010101010101" pitchFamily="33" charset="-122"/>
              </a:endParaRPr>
            </a:p>
          </p:txBody>
        </p:sp>
      </p:grpSp>
      <p:cxnSp>
        <p:nvCxnSpPr>
          <p:cNvPr id="22" name="直接连接符 21"/>
          <p:cNvCxnSpPr/>
          <p:nvPr/>
        </p:nvCxnSpPr>
        <p:spPr>
          <a:xfrm>
            <a:off x="3564208" y="6093296"/>
            <a:ext cx="3132000" cy="0"/>
          </a:xfrm>
          <a:prstGeom prst="line">
            <a:avLst/>
          </a:prstGeom>
          <a:noFill/>
          <a:ln w="19050" cap="flat" cmpd="sng" algn="ctr">
            <a:solidFill>
              <a:sysClr val="window" lastClr="FFFFFF"/>
            </a:solidFill>
            <a:prstDash val="dash"/>
            <a:miter lim="800000"/>
          </a:ln>
          <a:effectLst/>
        </p:spPr>
      </p:cxnSp>
      <p:cxnSp>
        <p:nvCxnSpPr>
          <p:cNvPr id="23" name="直接连接符 22"/>
          <p:cNvCxnSpPr/>
          <p:nvPr/>
        </p:nvCxnSpPr>
        <p:spPr>
          <a:xfrm flipV="1">
            <a:off x="3204208" y="6488815"/>
            <a:ext cx="3492000" cy="6720"/>
          </a:xfrm>
          <a:prstGeom prst="line">
            <a:avLst/>
          </a:prstGeom>
          <a:noFill/>
          <a:ln w="19050" cap="flat" cmpd="sng" algn="ctr">
            <a:solidFill>
              <a:sysClr val="window" lastClr="FFFFFF"/>
            </a:solidFill>
            <a:prstDash val="dash"/>
            <a:miter lim="800000"/>
          </a:ln>
          <a:effectLst/>
        </p:spPr>
      </p:cxnSp>
      <p:cxnSp>
        <p:nvCxnSpPr>
          <p:cNvPr id="18" name="直接连接符 17"/>
          <p:cNvCxnSpPr/>
          <p:nvPr/>
        </p:nvCxnSpPr>
        <p:spPr>
          <a:xfrm>
            <a:off x="3492240" y="5696727"/>
            <a:ext cx="3240000" cy="0"/>
          </a:xfrm>
          <a:prstGeom prst="line">
            <a:avLst/>
          </a:prstGeom>
          <a:noFill/>
          <a:ln w="19050" cap="flat" cmpd="sng" algn="ctr">
            <a:solidFill>
              <a:sysClr val="window" lastClr="FFFFFF"/>
            </a:solidFill>
            <a:prstDash val="dash"/>
            <a:miter lim="800000"/>
          </a:ln>
          <a:effectLst/>
        </p:spPr>
      </p:cxnSp>
    </p:spTree>
    <p:extLst>
      <p:ext uri="{BB962C8B-B14F-4D97-AF65-F5344CB8AC3E}">
        <p14:creationId xmlns:p14="http://schemas.microsoft.com/office/powerpoint/2010/main" val="13577323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8012" y="5165074"/>
            <a:ext cx="9152012" cy="1692925"/>
          </a:xfrm>
          <a:prstGeom prst="rect">
            <a:avLst/>
          </a:prstGeom>
          <a:solidFill>
            <a:srgbClr val="D32A3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600" b="0" i="0" u="none" strike="noStrike" kern="0" cap="none" spc="0" normalizeH="0" baseline="0" noProof="0" smtClean="0">
              <a:ln>
                <a:noFill/>
              </a:ln>
              <a:solidFill>
                <a:prstClr val="white"/>
              </a:solidFill>
              <a:effectLst/>
              <a:uLnTx/>
              <a:uFillTx/>
              <a:latin typeface="Calibri" panose="020F0502020204030204"/>
              <a:ea typeface="宋体" panose="02010600030101010101" pitchFamily="2" charset="-122"/>
            </a:endParaRPr>
          </a:p>
        </p:txBody>
      </p:sp>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987824" y="-27384"/>
            <a:ext cx="615617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89337"/>
            <a:ext cx="2376264" cy="1323439"/>
          </a:xfrm>
          <a:prstGeom prst="rect">
            <a:avLst/>
          </a:prstGeom>
          <a:noFill/>
        </p:spPr>
        <p:txBody>
          <a:bodyPr wrap="square" rtlCol="0">
            <a:spAutoFit/>
          </a:bodyPr>
          <a:lstStyle/>
          <a:p>
            <a:r>
              <a:rPr lang="zh-CN" altLang="en-US" sz="4000" b="1" dirty="0" smtClean="0">
                <a:latin typeface="华文行楷" pitchFamily="2" charset="-122"/>
                <a:ea typeface="华文行楷" pitchFamily="2" charset="-122"/>
              </a:rPr>
              <a:t>  邓小平</a:t>
            </a:r>
            <a:endParaRPr lang="en-US" altLang="zh-CN" sz="4000" b="1" dirty="0" smtClean="0">
              <a:latin typeface="华文行楷" pitchFamily="2" charset="-122"/>
              <a:ea typeface="华文行楷" pitchFamily="2" charset="-122"/>
            </a:endParaRPr>
          </a:p>
          <a:p>
            <a:r>
              <a:rPr lang="zh-CN" altLang="en-US" sz="4000" b="1" dirty="0" smtClean="0">
                <a:latin typeface="华文行楷" pitchFamily="2" charset="-122"/>
                <a:ea typeface="华文行楷" pitchFamily="2" charset="-122"/>
              </a:rPr>
              <a:t>引进外资</a:t>
            </a:r>
            <a:endParaRPr lang="zh-CN" altLang="en-US" sz="4000" b="1" dirty="0">
              <a:latin typeface="华文行楷" pitchFamily="2" charset="-122"/>
              <a:ea typeface="华文行楷" pitchFamily="2" charset="-122"/>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04048" y="2060848"/>
            <a:ext cx="3351856" cy="1980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7" name="TextBox 6"/>
          <p:cNvSpPr txBox="1"/>
          <p:nvPr/>
        </p:nvSpPr>
        <p:spPr>
          <a:xfrm>
            <a:off x="827584" y="2060848"/>
            <a:ext cx="3798168" cy="2369880"/>
          </a:xfrm>
          <a:prstGeom prst="rect">
            <a:avLst/>
          </a:prstGeom>
          <a:noFill/>
        </p:spPr>
        <p:txBody>
          <a:bodyPr wrap="square" rtlCol="0">
            <a:spAutoFit/>
          </a:bodyPr>
          <a:lstStyle/>
          <a:p>
            <a:endParaRPr lang="en-US" altLang="zh-CN" sz="2000" dirty="0">
              <a:latin typeface="微软雅黑" pitchFamily="34" charset="-122"/>
              <a:ea typeface="微软雅黑" pitchFamily="34" charset="-122"/>
            </a:endParaRPr>
          </a:p>
          <a:p>
            <a:r>
              <a:rPr lang="zh-CN" altLang="en-US" sz="2000" dirty="0" smtClean="0">
                <a:latin typeface="微软雅黑" pitchFamily="34" charset="-122"/>
                <a:ea typeface="微软雅黑" pitchFamily="34" charset="-122"/>
              </a:rPr>
              <a:t>     “从国外吸引资金，引进先进技术，似有必要设立国际信托投资公司，几种统一吸收国外投资，按照国家计划、投资人医院，投入国家建设。”</a:t>
            </a:r>
            <a:endParaRPr lang="en-US" altLang="zh-CN" sz="2000" dirty="0" smtClean="0">
              <a:latin typeface="微软雅黑" pitchFamily="34" charset="-122"/>
              <a:ea typeface="微软雅黑" pitchFamily="34" charset="-122"/>
            </a:endParaRPr>
          </a:p>
          <a:p>
            <a:r>
              <a:rPr lang="en-US" altLang="zh-CN" sz="2000" dirty="0">
                <a:latin typeface="微软雅黑" pitchFamily="34" charset="-122"/>
                <a:ea typeface="微软雅黑" pitchFamily="34" charset="-122"/>
              </a:rPr>
              <a:t> </a:t>
            </a:r>
            <a:r>
              <a:rPr lang="en-US" altLang="zh-CN" sz="2000" dirty="0" smtClean="0">
                <a:latin typeface="微软雅黑" pitchFamily="34" charset="-122"/>
                <a:ea typeface="微软雅黑" pitchFamily="34" charset="-122"/>
              </a:rPr>
              <a:t>                         ——</a:t>
            </a:r>
            <a:r>
              <a:rPr lang="zh-CN" altLang="en-US" sz="2800" b="1" dirty="0" smtClean="0">
                <a:latin typeface="微软雅黑" pitchFamily="34" charset="-122"/>
                <a:ea typeface="微软雅黑" pitchFamily="34" charset="-122"/>
              </a:rPr>
              <a:t>荣毅仁</a:t>
            </a:r>
            <a:endParaRPr lang="zh-CN" altLang="en-US" sz="2400" dirty="0">
              <a:latin typeface="微软雅黑" pitchFamily="34" charset="-122"/>
              <a:ea typeface="微软雅黑" pitchFamily="34" charset="-122"/>
            </a:endParaRPr>
          </a:p>
        </p:txBody>
      </p:sp>
      <p:sp>
        <p:nvSpPr>
          <p:cNvPr id="8" name="TextBox 7"/>
          <p:cNvSpPr txBox="1"/>
          <p:nvPr/>
        </p:nvSpPr>
        <p:spPr>
          <a:xfrm>
            <a:off x="827584" y="5373216"/>
            <a:ext cx="7875621" cy="1138773"/>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       在荣毅仁的提案中，即将创办的公司名为</a:t>
            </a:r>
            <a:r>
              <a:rPr lang="zh-CN" altLang="en-US" sz="2400" dirty="0" smtClean="0">
                <a:solidFill>
                  <a:schemeClr val="bg1"/>
                </a:solidFill>
                <a:latin typeface="微软雅黑" pitchFamily="34" charset="-122"/>
                <a:ea typeface="微软雅黑" pitchFamily="34" charset="-122"/>
              </a:rPr>
              <a:t>中国国际信托投资公司</a:t>
            </a:r>
            <a:r>
              <a:rPr lang="zh-CN" altLang="en-US" sz="2000" dirty="0" smtClean="0">
                <a:solidFill>
                  <a:srgbClr val="E2CE84"/>
                </a:solidFill>
                <a:latin typeface="微软雅黑" pitchFamily="34" charset="-122"/>
                <a:ea typeface="微软雅黑" pitchFamily="34" charset="-122"/>
              </a:rPr>
              <a:t>，简称中信（</a:t>
            </a:r>
            <a:r>
              <a:rPr lang="en-US" altLang="zh-CN" sz="2000" dirty="0" smtClean="0">
                <a:solidFill>
                  <a:srgbClr val="E2CE84"/>
                </a:solidFill>
                <a:latin typeface="微软雅黑" pitchFamily="34" charset="-122"/>
                <a:ea typeface="微软雅黑" pitchFamily="34" charset="-122"/>
              </a:rPr>
              <a:t>CITIC</a:t>
            </a:r>
            <a:r>
              <a:rPr lang="zh-CN" altLang="en-US" sz="2000" dirty="0" smtClean="0">
                <a:solidFill>
                  <a:srgbClr val="E2CE84"/>
                </a:solidFill>
                <a:latin typeface="微软雅黑" pitchFamily="34" charset="-122"/>
                <a:ea typeface="微软雅黑" pitchFamily="34" charset="-122"/>
              </a:rPr>
              <a:t>）。</a:t>
            </a:r>
            <a:r>
              <a:rPr lang="en-US" altLang="zh-CN" sz="2000" dirty="0" smtClean="0">
                <a:solidFill>
                  <a:srgbClr val="E2CE84"/>
                </a:solidFill>
                <a:latin typeface="微软雅黑" pitchFamily="34" charset="-122"/>
                <a:ea typeface="微软雅黑" pitchFamily="34" charset="-122"/>
              </a:rPr>
              <a:t>1979</a:t>
            </a:r>
            <a:r>
              <a:rPr lang="zh-CN" altLang="en-US" sz="2000" dirty="0" smtClean="0">
                <a:solidFill>
                  <a:srgbClr val="E2CE84"/>
                </a:solidFill>
                <a:latin typeface="微软雅黑" pitchFamily="34" charset="-122"/>
                <a:ea typeface="微软雅黑" pitchFamily="34" charset="-122"/>
              </a:rPr>
              <a:t>年，中信公司正式成立，在相当长的一段时间里，它扮演了中国引进国际资本的中介角色。</a:t>
            </a:r>
            <a:endParaRPr lang="zh-CN" altLang="en-US" sz="2000" dirty="0">
              <a:solidFill>
                <a:srgbClr val="E2CE84"/>
              </a:solidFill>
              <a:latin typeface="微软雅黑" pitchFamily="34" charset="-122"/>
              <a:ea typeface="微软雅黑" pitchFamily="34" charset="-122"/>
            </a:endParaRPr>
          </a:p>
        </p:txBody>
      </p:sp>
      <p:sp>
        <p:nvSpPr>
          <p:cNvPr id="9" name="TextBox 8"/>
          <p:cNvSpPr txBox="1"/>
          <p:nvPr/>
        </p:nvSpPr>
        <p:spPr>
          <a:xfrm>
            <a:off x="4932041" y="4355812"/>
            <a:ext cx="3744415" cy="369332"/>
          </a:xfrm>
          <a:prstGeom prst="rect">
            <a:avLst/>
          </a:prstGeom>
          <a:noFill/>
        </p:spPr>
        <p:txBody>
          <a:bodyPr wrap="square" rtlCol="0">
            <a:spAutoFit/>
          </a:bodyPr>
          <a:lstStyle/>
          <a:p>
            <a:pPr algn="ctr"/>
            <a:r>
              <a:rPr lang="zh-CN" altLang="en-US" dirty="0" smtClean="0">
                <a:latin typeface="微软雅黑" pitchFamily="34" charset="-122"/>
                <a:ea typeface="微软雅黑" pitchFamily="34" charset="-122"/>
              </a:rPr>
              <a:t>右为荣毅仁 中国第一红色资本家</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7500305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059832" y="-27384"/>
            <a:ext cx="6084168"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817149" y="89337"/>
            <a:ext cx="2376264" cy="1323439"/>
          </a:xfrm>
          <a:prstGeom prst="rect">
            <a:avLst/>
          </a:prstGeom>
          <a:noFill/>
        </p:spPr>
        <p:txBody>
          <a:bodyPr wrap="square" rtlCol="0">
            <a:spAutoFit/>
          </a:bodyPr>
          <a:lstStyle/>
          <a:p>
            <a:r>
              <a:rPr lang="zh-CN" altLang="en-US" sz="4000" b="1" dirty="0" smtClean="0">
                <a:latin typeface="华文行楷" pitchFamily="2" charset="-122"/>
                <a:ea typeface="华文行楷" pitchFamily="2" charset="-122"/>
              </a:rPr>
              <a:t>蛇口试验</a:t>
            </a:r>
            <a:endParaRPr lang="en-US" altLang="zh-CN" sz="4000" b="1" dirty="0" smtClean="0">
              <a:latin typeface="华文行楷" pitchFamily="2" charset="-122"/>
              <a:ea typeface="华文行楷" pitchFamily="2" charset="-122"/>
            </a:endParaRPr>
          </a:p>
          <a:p>
            <a:r>
              <a:rPr lang="zh-CN" altLang="en-US" sz="4000" b="1" dirty="0">
                <a:latin typeface="华文行楷" pitchFamily="2" charset="-122"/>
                <a:ea typeface="华文行楷" pitchFamily="2" charset="-122"/>
              </a:rPr>
              <a:t>老板袁庚</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64088" y="2128124"/>
            <a:ext cx="3384376" cy="2020956"/>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6" name="TextBox 5"/>
          <p:cNvSpPr txBox="1"/>
          <p:nvPr/>
        </p:nvSpPr>
        <p:spPr>
          <a:xfrm>
            <a:off x="817149" y="1916832"/>
            <a:ext cx="4212499" cy="2431435"/>
          </a:xfrm>
          <a:prstGeom prst="rect">
            <a:avLst/>
          </a:prstGeom>
          <a:noFill/>
        </p:spPr>
        <p:txBody>
          <a:bodyPr wrap="square" rtlCol="0">
            <a:spAutoFit/>
          </a:bodyPr>
          <a:lstStyle/>
          <a:p>
            <a:r>
              <a:rPr lang="zh-CN" altLang="en-US" sz="2800" b="1" dirty="0" smtClean="0">
                <a:latin typeface="微软雅黑" pitchFamily="34" charset="-122"/>
                <a:ea typeface="微软雅黑" pitchFamily="34" charset="-122"/>
              </a:rPr>
              <a:t>袁庚</a:t>
            </a:r>
            <a:endParaRPr lang="en-US" altLang="zh-CN" sz="2000" dirty="0" smtClean="0">
              <a:latin typeface="微软雅黑" pitchFamily="34" charset="-122"/>
              <a:ea typeface="微软雅黑" pitchFamily="34" charset="-122"/>
            </a:endParaRPr>
          </a:p>
          <a:p>
            <a:r>
              <a:rPr lang="en-US" altLang="zh-CN" sz="2000" dirty="0">
                <a:latin typeface="微软雅黑" pitchFamily="34" charset="-122"/>
                <a:ea typeface="微软雅黑" pitchFamily="34" charset="-122"/>
              </a:rPr>
              <a:t> </a:t>
            </a:r>
            <a:r>
              <a:rPr lang="en-US" altLang="zh-CN" sz="2000" dirty="0" smtClean="0">
                <a:latin typeface="微软雅黑" pitchFamily="34" charset="-122"/>
                <a:ea typeface="微软雅黑" pitchFamily="34" charset="-122"/>
              </a:rPr>
              <a:t>       </a:t>
            </a:r>
            <a:r>
              <a:rPr lang="zh-CN" altLang="en-US" sz="2000" dirty="0" smtClean="0">
                <a:latin typeface="微软雅黑" pitchFamily="34" charset="-122"/>
                <a:ea typeface="微软雅黑" pitchFamily="34" charset="-122"/>
              </a:rPr>
              <a:t>花甲</a:t>
            </a:r>
            <a:r>
              <a:rPr lang="zh-CN" altLang="en-US" sz="2000" dirty="0">
                <a:latin typeface="微软雅黑" pitchFamily="34" charset="-122"/>
                <a:ea typeface="微软雅黑" pitchFamily="34" charset="-122"/>
              </a:rPr>
              <a:t>之年出任深圳蛇口工业区掌门人。执掌蛇口港的十几年里</a:t>
            </a:r>
            <a:r>
              <a:rPr lang="zh-CN" altLang="en-US" sz="2000" dirty="0" smtClean="0">
                <a:latin typeface="微软雅黑" pitchFamily="34" charset="-122"/>
                <a:ea typeface="微软雅黑" pitchFamily="34" charset="-122"/>
              </a:rPr>
              <a:t>，突破</a:t>
            </a:r>
            <a:r>
              <a:rPr lang="zh-CN" altLang="en-US" sz="2000" dirty="0">
                <a:latin typeface="微软雅黑" pitchFamily="34" charset="-122"/>
                <a:ea typeface="微软雅黑" pitchFamily="34" charset="-122"/>
              </a:rPr>
              <a:t>了僵化的计划经济体制，打碎了“大锅饭”，引入了</a:t>
            </a:r>
            <a:r>
              <a:rPr lang="zh-CN" altLang="en-US" sz="2000" dirty="0" smtClean="0">
                <a:latin typeface="微软雅黑" pitchFamily="34" charset="-122"/>
                <a:ea typeface="微软雅黑" pitchFamily="34" charset="-122"/>
              </a:rPr>
              <a:t>市场经济。</a:t>
            </a:r>
            <a:endParaRPr lang="en-US" altLang="zh-CN" sz="2000" dirty="0" smtClean="0">
              <a:latin typeface="微软雅黑" pitchFamily="34" charset="-122"/>
              <a:ea typeface="微软雅黑" pitchFamily="34" charset="-122"/>
            </a:endParaRPr>
          </a:p>
          <a:p>
            <a:endParaRPr lang="en-US" altLang="zh-CN" sz="2000" dirty="0">
              <a:latin typeface="微软雅黑" pitchFamily="34" charset="-122"/>
              <a:ea typeface="微软雅黑" pitchFamily="34" charset="-122"/>
            </a:endParaRPr>
          </a:p>
          <a:p>
            <a:r>
              <a:rPr lang="zh-CN" altLang="en-US" sz="2400" b="1" dirty="0" smtClean="0">
                <a:latin typeface="微软雅黑" pitchFamily="34" charset="-122"/>
                <a:ea typeface="微软雅黑" pitchFamily="34" charset="-122"/>
              </a:rPr>
              <a:t>时间就是金钱，效率就是生命</a:t>
            </a:r>
            <a:endParaRPr lang="en-US" altLang="zh-CN" sz="2400" b="1" dirty="0" smtClean="0">
              <a:latin typeface="微软雅黑" pitchFamily="34" charset="-122"/>
              <a:ea typeface="微软雅黑" pitchFamily="34" charset="-122"/>
            </a:endParaRPr>
          </a:p>
        </p:txBody>
      </p:sp>
      <p:sp>
        <p:nvSpPr>
          <p:cNvPr id="9" name="TextBox 8"/>
          <p:cNvSpPr txBox="1"/>
          <p:nvPr/>
        </p:nvSpPr>
        <p:spPr>
          <a:xfrm>
            <a:off x="817149" y="5201905"/>
            <a:ext cx="7272808" cy="1323439"/>
          </a:xfrm>
          <a:prstGeom prst="rect">
            <a:avLst/>
          </a:prstGeom>
          <a:noFill/>
        </p:spPr>
        <p:txBody>
          <a:bodyPr wrap="square" rtlCol="0">
            <a:spAutoFit/>
          </a:bodyPr>
          <a:lstStyle/>
          <a:p>
            <a:r>
              <a:rPr lang="zh-CN" altLang="en-US" sz="2000" b="1" dirty="0" smtClean="0">
                <a:solidFill>
                  <a:schemeClr val="bg1"/>
                </a:solidFill>
                <a:latin typeface="微软雅黑" pitchFamily="34" charset="-122"/>
                <a:ea typeface="微软雅黑" pitchFamily="34" charset="-122"/>
              </a:rPr>
              <a:t>“经济特区”悄然走向现实</a:t>
            </a:r>
          </a:p>
          <a:p>
            <a:r>
              <a:rPr lang="zh-CN" altLang="en-US" sz="2000" dirty="0" smtClean="0">
                <a:solidFill>
                  <a:srgbClr val="E2CE84"/>
                </a:solidFill>
                <a:latin typeface="微软雅黑" pitchFamily="34" charset="-122"/>
                <a:ea typeface="微软雅黑" pitchFamily="34" charset="-122"/>
              </a:rPr>
              <a:t>       在</a:t>
            </a:r>
            <a:r>
              <a:rPr lang="en-US" altLang="zh-CN" sz="2000" dirty="0" smtClean="0">
                <a:solidFill>
                  <a:srgbClr val="E2CE84"/>
                </a:solidFill>
                <a:latin typeface="微软雅黑" pitchFamily="34" charset="-122"/>
                <a:ea typeface="微软雅黑" pitchFamily="34" charset="-122"/>
              </a:rPr>
              <a:t>1979</a:t>
            </a:r>
            <a:r>
              <a:rPr lang="zh-CN" altLang="en-US" sz="2000" dirty="0" smtClean="0">
                <a:solidFill>
                  <a:srgbClr val="E2CE84"/>
                </a:solidFill>
                <a:latin typeface="微软雅黑" pitchFamily="34" charset="-122"/>
                <a:ea typeface="微软雅黑" pitchFamily="34" charset="-122"/>
              </a:rPr>
              <a:t>年的中国，蛇口和袁庚的出现，让铁幕般的计划经济被捅开了一个再也补不回去的</a:t>
            </a:r>
            <a:r>
              <a:rPr lang="zh-CN" altLang="en-US" sz="2000" dirty="0">
                <a:solidFill>
                  <a:srgbClr val="E2CE84"/>
                </a:solidFill>
                <a:latin typeface="微软雅黑" pitchFamily="34" charset="-122"/>
                <a:ea typeface="微软雅黑" pitchFamily="34" charset="-122"/>
              </a:rPr>
              <a:t>大洞</a:t>
            </a:r>
            <a:r>
              <a:rPr lang="zh-CN" altLang="en-US" sz="2000" dirty="0" smtClean="0">
                <a:solidFill>
                  <a:srgbClr val="E2CE84"/>
                </a:solidFill>
                <a:latin typeface="微软雅黑" pitchFamily="34" charset="-122"/>
                <a:ea typeface="微软雅黑" pitchFamily="34" charset="-122"/>
              </a:rPr>
              <a:t>。半年后，深圳特区开始建立。</a:t>
            </a:r>
            <a:r>
              <a:rPr lang="en-US" altLang="zh-CN" sz="2000" dirty="0">
                <a:solidFill>
                  <a:srgbClr val="E2CE84"/>
                </a:solidFill>
                <a:latin typeface="微软雅黑" pitchFamily="34" charset="-122"/>
                <a:ea typeface="微软雅黑" pitchFamily="34" charset="-122"/>
              </a:rPr>
              <a:t> </a:t>
            </a:r>
            <a:r>
              <a:rPr lang="en-US" altLang="zh-CN" sz="2000" dirty="0" smtClean="0">
                <a:solidFill>
                  <a:srgbClr val="E2CE84"/>
                </a:solidFill>
                <a:latin typeface="微软雅黑" pitchFamily="34" charset="-122"/>
                <a:ea typeface="微软雅黑" pitchFamily="34" charset="-122"/>
              </a:rPr>
              <a:t>                                                </a:t>
            </a:r>
            <a:r>
              <a:rPr lang="zh-CN" altLang="en-US" sz="2000" b="1" dirty="0" smtClean="0">
                <a:solidFill>
                  <a:srgbClr val="E2CE84"/>
                </a:solidFill>
                <a:latin typeface="微软雅黑" pitchFamily="34" charset="-122"/>
                <a:ea typeface="微软雅黑" pitchFamily="34" charset="-122"/>
              </a:rPr>
              <a:t>物质化的年代到来了！</a:t>
            </a:r>
            <a:endParaRPr lang="en-US" altLang="zh-CN" sz="2000" b="1" dirty="0" smtClean="0">
              <a:solidFill>
                <a:srgbClr val="E2CE84"/>
              </a:solidFill>
              <a:latin typeface="微软雅黑" pitchFamily="34" charset="-122"/>
              <a:ea typeface="微软雅黑" pitchFamily="34" charset="-122"/>
            </a:endParaRPr>
          </a:p>
        </p:txBody>
      </p:sp>
    </p:spTree>
    <p:extLst>
      <p:ext uri="{BB962C8B-B14F-4D97-AF65-F5344CB8AC3E}">
        <p14:creationId xmlns:p14="http://schemas.microsoft.com/office/powerpoint/2010/main" val="3306663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53518"/>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基层帝国</a:t>
            </a:r>
            <a:endParaRPr lang="zh-CN" altLang="en-US" sz="5400" b="1" dirty="0">
              <a:latin typeface="华文行楷" pitchFamily="2" charset="-122"/>
              <a:ea typeface="华文行楷" pitchFamily="2"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7884" y="2123531"/>
            <a:ext cx="2596724" cy="1728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7" name="TextBox 6"/>
          <p:cNvSpPr txBox="1"/>
          <p:nvPr/>
        </p:nvSpPr>
        <p:spPr>
          <a:xfrm>
            <a:off x="826155" y="2132856"/>
            <a:ext cx="4934433" cy="2000548"/>
          </a:xfrm>
          <a:prstGeom prst="rect">
            <a:avLst/>
          </a:prstGeom>
          <a:noFill/>
        </p:spPr>
        <p:txBody>
          <a:bodyPr wrap="square" rtlCol="0">
            <a:spAutoFit/>
          </a:bodyPr>
          <a:lstStyle/>
          <a:p>
            <a:r>
              <a:rPr lang="zh-CN" altLang="en-US" sz="2000" dirty="0" smtClean="0">
                <a:latin typeface="微软雅黑" pitchFamily="34" charset="-122"/>
                <a:ea typeface="微软雅黑" pitchFamily="34" charset="-122"/>
              </a:rPr>
              <a:t>       中国的某些乡村，如果有一个威权而无私的领导者，他</a:t>
            </a:r>
            <a:r>
              <a:rPr lang="zh-CN" altLang="en-US" sz="2000" dirty="0">
                <a:latin typeface="微软雅黑" pitchFamily="34" charset="-122"/>
                <a:ea typeface="微软雅黑" pitchFamily="34" charset="-122"/>
              </a:rPr>
              <a:t>同时</a:t>
            </a:r>
            <a:r>
              <a:rPr lang="zh-CN" altLang="en-US" sz="2000" dirty="0" smtClean="0">
                <a:latin typeface="微软雅黑" pitchFamily="34" charset="-122"/>
                <a:ea typeface="微软雅黑" pitchFamily="34" charset="-122"/>
              </a:rPr>
              <a:t>具备</a:t>
            </a:r>
            <a:r>
              <a:rPr lang="zh-CN" altLang="en-US" sz="2400" b="1" dirty="0" smtClean="0">
                <a:latin typeface="微软雅黑" pitchFamily="34" charset="-122"/>
                <a:ea typeface="微软雅黑" pitchFamily="34" charset="-122"/>
              </a:rPr>
              <a:t>两种能力</a:t>
            </a:r>
            <a:r>
              <a:rPr lang="zh-CN" altLang="en-US" sz="2000" dirty="0" smtClean="0">
                <a:latin typeface="微软雅黑" pitchFamily="34" charset="-122"/>
                <a:ea typeface="微软雅黑" pitchFamily="34" charset="-122"/>
              </a:rPr>
              <a:t>：</a:t>
            </a:r>
            <a:endParaRPr lang="en-US" altLang="zh-CN" sz="2000" dirty="0" smtClean="0">
              <a:latin typeface="微软雅黑" pitchFamily="34" charset="-122"/>
              <a:ea typeface="微软雅黑" pitchFamily="34" charset="-122"/>
            </a:endParaRPr>
          </a:p>
          <a:p>
            <a:pPr marL="342900" indent="-342900">
              <a:buFont typeface="+mj-lt"/>
              <a:buAutoNum type="arabicPeriod"/>
            </a:pPr>
            <a:r>
              <a:rPr lang="zh-CN" altLang="en-US" sz="2000" dirty="0" smtClean="0">
                <a:latin typeface="微软雅黑" pitchFamily="34" charset="-122"/>
                <a:ea typeface="微软雅黑" pitchFamily="34" charset="-122"/>
              </a:rPr>
              <a:t>善于利用一些优势和概念，为自己营造一个宽松而受扶持的执政氛围；</a:t>
            </a:r>
            <a:endParaRPr lang="en-US" altLang="zh-CN" sz="2000" dirty="0" smtClean="0">
              <a:latin typeface="微软雅黑" pitchFamily="34" charset="-122"/>
              <a:ea typeface="微软雅黑" pitchFamily="34" charset="-122"/>
            </a:endParaRPr>
          </a:p>
          <a:p>
            <a:pPr marL="342900" indent="-342900">
              <a:buFont typeface="+mj-lt"/>
              <a:buAutoNum type="arabicPeriod"/>
            </a:pPr>
            <a:r>
              <a:rPr lang="zh-CN" altLang="en-US" sz="2000" dirty="0" smtClean="0">
                <a:latin typeface="微软雅黑" pitchFamily="34" charset="-122"/>
                <a:ea typeface="微软雅黑" pitchFamily="34" charset="-122"/>
              </a:rPr>
              <a:t>他有相当的市场敏感性，往往就能够办起一家乃至若干家非常赚钱的工厂。</a:t>
            </a:r>
            <a:endParaRPr lang="en-US" altLang="zh-CN" sz="2000" dirty="0" smtClean="0">
              <a:latin typeface="微软雅黑" pitchFamily="34" charset="-122"/>
              <a:ea typeface="微软雅黑" pitchFamily="34" charset="-122"/>
            </a:endParaRPr>
          </a:p>
        </p:txBody>
      </p:sp>
      <p:sp>
        <p:nvSpPr>
          <p:cNvPr id="9" name="TextBox 8"/>
          <p:cNvSpPr txBox="1"/>
          <p:nvPr/>
        </p:nvSpPr>
        <p:spPr>
          <a:xfrm>
            <a:off x="829139" y="5517231"/>
            <a:ext cx="7782729" cy="830997"/>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在过去的</a:t>
            </a:r>
            <a:r>
              <a:rPr lang="en-US" altLang="zh-CN" sz="2000" dirty="0" smtClean="0">
                <a:solidFill>
                  <a:srgbClr val="E2CE84"/>
                </a:solidFill>
                <a:latin typeface="微软雅黑" pitchFamily="34" charset="-122"/>
                <a:ea typeface="微软雅黑" pitchFamily="34" charset="-122"/>
              </a:rPr>
              <a:t>30</a:t>
            </a:r>
            <a:r>
              <a:rPr lang="zh-CN" altLang="en-US" sz="2000" dirty="0" smtClean="0">
                <a:solidFill>
                  <a:srgbClr val="E2CE84"/>
                </a:solidFill>
                <a:latin typeface="微软雅黑" pitchFamily="34" charset="-122"/>
                <a:ea typeface="微软雅黑" pitchFamily="34" charset="-122"/>
              </a:rPr>
              <a:t>年中，这类著名的中国村庄有</a:t>
            </a:r>
            <a:r>
              <a:rPr lang="zh-CN" altLang="en-US" sz="2400" dirty="0" smtClean="0">
                <a:solidFill>
                  <a:schemeClr val="bg1"/>
                </a:solidFill>
                <a:latin typeface="微软雅黑" pitchFamily="34" charset="-122"/>
                <a:ea typeface="微软雅黑" pitchFamily="34" charset="-122"/>
              </a:rPr>
              <a:t>河南的</a:t>
            </a:r>
            <a:r>
              <a:rPr lang="zh-CN" altLang="en-US" sz="2400" b="1" dirty="0" smtClean="0">
                <a:solidFill>
                  <a:schemeClr val="bg1"/>
                </a:solidFill>
                <a:latin typeface="微软雅黑" pitchFamily="34" charset="-122"/>
                <a:ea typeface="微软雅黑" pitchFamily="34" charset="-122"/>
              </a:rPr>
              <a:t>刘庄</a:t>
            </a:r>
            <a:r>
              <a:rPr lang="zh-CN" altLang="en-US" sz="2000" dirty="0" smtClean="0">
                <a:solidFill>
                  <a:srgbClr val="E2CE84"/>
                </a:solidFill>
                <a:latin typeface="微软雅黑" pitchFamily="34" charset="-122"/>
                <a:ea typeface="微软雅黑" pitchFamily="34" charset="-122"/>
              </a:rPr>
              <a:t>和</a:t>
            </a:r>
            <a:r>
              <a:rPr lang="zh-CN" altLang="en-US" sz="2400" b="1" dirty="0" smtClean="0">
                <a:solidFill>
                  <a:schemeClr val="bg1"/>
                </a:solidFill>
                <a:latin typeface="微软雅黑" pitchFamily="34" charset="-122"/>
                <a:ea typeface="微软雅黑" pitchFamily="34" charset="-122"/>
              </a:rPr>
              <a:t>南街村</a:t>
            </a:r>
            <a:r>
              <a:rPr lang="zh-CN" altLang="en-US" sz="2000" dirty="0" smtClean="0">
                <a:solidFill>
                  <a:srgbClr val="E2CE84"/>
                </a:solidFill>
                <a:latin typeface="微软雅黑" pitchFamily="34" charset="-122"/>
                <a:ea typeface="微软雅黑" pitchFamily="34" charset="-122"/>
              </a:rPr>
              <a:t>，</a:t>
            </a:r>
            <a:r>
              <a:rPr lang="zh-CN" altLang="en-US" sz="2400" dirty="0" smtClean="0">
                <a:solidFill>
                  <a:schemeClr val="bg1"/>
                </a:solidFill>
                <a:latin typeface="微软雅黑" pitchFamily="34" charset="-122"/>
                <a:ea typeface="微软雅黑" pitchFamily="34" charset="-122"/>
              </a:rPr>
              <a:t>天津的</a:t>
            </a:r>
            <a:r>
              <a:rPr lang="zh-CN" altLang="en-US" sz="2400" b="1" dirty="0" smtClean="0">
                <a:solidFill>
                  <a:schemeClr val="bg1"/>
                </a:solidFill>
                <a:latin typeface="微软雅黑" pitchFamily="34" charset="-122"/>
                <a:ea typeface="微软雅黑" pitchFamily="34" charset="-122"/>
              </a:rPr>
              <a:t>大邱庄</a:t>
            </a:r>
            <a:r>
              <a:rPr lang="zh-CN" altLang="en-US" sz="2400" dirty="0" smtClean="0">
                <a:solidFill>
                  <a:schemeClr val="bg1"/>
                </a:solidFill>
                <a:latin typeface="微软雅黑" pitchFamily="34" charset="-122"/>
                <a:ea typeface="微软雅黑" pitchFamily="34" charset="-122"/>
              </a:rPr>
              <a:t>，江苏的</a:t>
            </a:r>
            <a:r>
              <a:rPr lang="zh-CN" altLang="en-US" sz="2400" b="1" dirty="0" smtClean="0">
                <a:solidFill>
                  <a:schemeClr val="bg1"/>
                </a:solidFill>
                <a:latin typeface="微软雅黑" pitchFamily="34" charset="-122"/>
                <a:ea typeface="微软雅黑" pitchFamily="34" charset="-122"/>
              </a:rPr>
              <a:t>华西村</a:t>
            </a:r>
            <a:r>
              <a:rPr lang="zh-CN" altLang="en-US" sz="2400" dirty="0" smtClean="0">
                <a:solidFill>
                  <a:schemeClr val="bg1"/>
                </a:solidFill>
                <a:latin typeface="微软雅黑" pitchFamily="34" charset="-122"/>
                <a:ea typeface="微软雅黑" pitchFamily="34" charset="-122"/>
              </a:rPr>
              <a:t>，浙江的</a:t>
            </a:r>
            <a:r>
              <a:rPr lang="zh-CN" altLang="en-US" sz="2400" b="1" dirty="0" smtClean="0">
                <a:solidFill>
                  <a:schemeClr val="bg1"/>
                </a:solidFill>
                <a:latin typeface="微软雅黑" pitchFamily="34" charset="-122"/>
                <a:ea typeface="微软雅黑" pitchFamily="34" charset="-122"/>
              </a:rPr>
              <a:t>横店</a:t>
            </a:r>
            <a:r>
              <a:rPr lang="zh-CN" altLang="en-US" sz="2400" dirty="0" smtClean="0">
                <a:solidFill>
                  <a:schemeClr val="bg1"/>
                </a:solidFill>
                <a:latin typeface="微软雅黑" pitchFamily="34" charset="-122"/>
                <a:ea typeface="微软雅黑" pitchFamily="34" charset="-122"/>
              </a:rPr>
              <a:t>。</a:t>
            </a:r>
            <a:endParaRPr lang="en-US" altLang="zh-CN" sz="2400" dirty="0" smtClean="0">
              <a:solidFill>
                <a:schemeClr val="bg1"/>
              </a:solidFill>
              <a:latin typeface="微软雅黑" pitchFamily="34" charset="-122"/>
              <a:ea typeface="微软雅黑" pitchFamily="34" charset="-122"/>
            </a:endParaRPr>
          </a:p>
        </p:txBody>
      </p:sp>
      <p:sp>
        <p:nvSpPr>
          <p:cNvPr id="8" name="矩形 7"/>
          <p:cNvSpPr/>
          <p:nvPr/>
        </p:nvSpPr>
        <p:spPr>
          <a:xfrm>
            <a:off x="6602740" y="4077072"/>
            <a:ext cx="1569660" cy="369332"/>
          </a:xfrm>
          <a:prstGeom prst="rect">
            <a:avLst/>
          </a:prstGeom>
        </p:spPr>
        <p:txBody>
          <a:bodyPr wrap="none">
            <a:spAutoFit/>
          </a:bodyPr>
          <a:lstStyle/>
          <a:p>
            <a:r>
              <a:rPr lang="zh-CN" altLang="en-US" dirty="0">
                <a:latin typeface="微软雅黑" pitchFamily="34" charset="-122"/>
                <a:ea typeface="微软雅黑" pitchFamily="34" charset="-122"/>
              </a:rPr>
              <a:t>江苏的华西村</a:t>
            </a:r>
            <a:endParaRPr lang="zh-CN" altLang="en-US" dirty="0"/>
          </a:p>
        </p:txBody>
      </p:sp>
    </p:spTree>
    <p:extLst>
      <p:ext uri="{BB962C8B-B14F-4D97-AF65-F5344CB8AC3E}">
        <p14:creationId xmlns:p14="http://schemas.microsoft.com/office/powerpoint/2010/main" val="30011342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95736" y="-27384"/>
            <a:ext cx="694826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3" name="TextBox 2"/>
          <p:cNvSpPr txBox="1"/>
          <p:nvPr/>
        </p:nvSpPr>
        <p:spPr>
          <a:xfrm>
            <a:off x="786846" y="-27384"/>
            <a:ext cx="1624914" cy="1569660"/>
          </a:xfrm>
          <a:prstGeom prst="rect">
            <a:avLst/>
          </a:prstGeom>
          <a:noFill/>
        </p:spPr>
        <p:txBody>
          <a:bodyPr wrap="square" rtlCol="0">
            <a:spAutoFit/>
          </a:bodyPr>
          <a:lstStyle/>
          <a:p>
            <a:r>
              <a:rPr lang="zh-CN" altLang="en-US" sz="4800" b="1" dirty="0" smtClean="0">
                <a:latin typeface="华文行楷" pitchFamily="2" charset="-122"/>
                <a:ea typeface="华文行楷" pitchFamily="2" charset="-122"/>
              </a:rPr>
              <a:t>国企改革</a:t>
            </a:r>
            <a:endParaRPr lang="en-US" altLang="zh-CN" sz="4800" b="1" dirty="0" smtClean="0">
              <a:latin typeface="华文行楷" pitchFamily="2" charset="-122"/>
              <a:ea typeface="华文行楷" pitchFamily="2" charset="-122"/>
            </a:endParaRPr>
          </a:p>
        </p:txBody>
      </p:sp>
      <p:sp>
        <p:nvSpPr>
          <p:cNvPr id="4" name="矩形 3"/>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5880597" y="4406309"/>
            <a:ext cx="2627732" cy="369332"/>
          </a:xfrm>
          <a:prstGeom prst="rect">
            <a:avLst/>
          </a:prstGeom>
          <a:noFill/>
        </p:spPr>
        <p:txBody>
          <a:bodyPr wrap="square" rtlCol="0">
            <a:spAutoFit/>
          </a:bodyPr>
          <a:lstStyle/>
          <a:p>
            <a:pPr algn="ctr"/>
            <a:r>
              <a:rPr lang="zh-CN" altLang="en-US" dirty="0" smtClean="0">
                <a:latin typeface="微软雅黑" pitchFamily="34" charset="-122"/>
                <a:ea typeface="微软雅黑" pitchFamily="34" charset="-122"/>
              </a:rPr>
              <a:t>如三国演义般</a:t>
            </a:r>
            <a:endParaRPr lang="zh-CN" altLang="en-US" dirty="0">
              <a:latin typeface="微软雅黑" pitchFamily="34" charset="-122"/>
              <a:ea typeface="微软雅黑" pitchFamily="34" charset="-122"/>
            </a:endParaRPr>
          </a:p>
        </p:txBody>
      </p:sp>
      <p:sp>
        <p:nvSpPr>
          <p:cNvPr id="7" name="TextBox 6"/>
          <p:cNvSpPr txBox="1"/>
          <p:nvPr/>
        </p:nvSpPr>
        <p:spPr>
          <a:xfrm>
            <a:off x="761113" y="2024699"/>
            <a:ext cx="4536504" cy="3016210"/>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从改革第一天就开始的</a:t>
            </a:r>
            <a:r>
              <a:rPr lang="zh-CN" altLang="en-US" sz="2400" b="1" dirty="0" smtClean="0">
                <a:latin typeface="微软雅黑" pitchFamily="34" charset="-122"/>
                <a:ea typeface="微软雅黑" pitchFamily="34" charset="-122"/>
              </a:rPr>
              <a:t>利益博弈</a:t>
            </a:r>
            <a:r>
              <a:rPr lang="zh-CN" altLang="en-US" b="1" dirty="0" smtClean="0">
                <a:latin typeface="微软雅黑" pitchFamily="34" charset="-122"/>
                <a:ea typeface="微软雅黑" pitchFamily="34" charset="-122"/>
              </a:rPr>
              <a:t>：</a:t>
            </a:r>
            <a:endParaRPr lang="en-US" altLang="zh-CN" b="1" dirty="0" smtClean="0">
              <a:latin typeface="微软雅黑" pitchFamily="34" charset="-122"/>
              <a:ea typeface="微软雅黑" pitchFamily="34" charset="-122"/>
            </a:endParaRPr>
          </a:p>
          <a:p>
            <a:endParaRPr lang="en-US" altLang="zh-CN" dirty="0">
              <a:latin typeface="微软雅黑" pitchFamily="34" charset="-122"/>
              <a:ea typeface="微软雅黑" pitchFamily="34" charset="-122"/>
            </a:endParaRPr>
          </a:p>
          <a:p>
            <a:r>
              <a:rPr lang="en-US" altLang="zh-CN" dirty="0" smtClean="0">
                <a:latin typeface="微软雅黑" pitchFamily="34" charset="-122"/>
                <a:ea typeface="微软雅黑" pitchFamily="34" charset="-122"/>
              </a:rPr>
              <a:t>1</a:t>
            </a:r>
            <a:r>
              <a:rPr lang="zh-CN" altLang="en-US" dirty="0" smtClean="0">
                <a:latin typeface="微软雅黑" pitchFamily="34" charset="-122"/>
                <a:ea typeface="微软雅黑" pitchFamily="34" charset="-122"/>
              </a:rPr>
              <a:t>被下放权力的企业，与管制其多年的政府之间的博弈。</a:t>
            </a:r>
            <a:endParaRPr lang="en-US" altLang="zh-CN" dirty="0" smtClean="0">
              <a:latin typeface="微软雅黑" pitchFamily="34" charset="-122"/>
              <a:ea typeface="微软雅黑" pitchFamily="34" charset="-122"/>
            </a:endParaRPr>
          </a:p>
          <a:p>
            <a:endParaRPr lang="en-US" altLang="zh-CN" dirty="0" smtClean="0">
              <a:latin typeface="微软雅黑" pitchFamily="34" charset="-122"/>
              <a:ea typeface="微软雅黑" pitchFamily="34" charset="-122"/>
            </a:endParaRPr>
          </a:p>
          <a:p>
            <a:r>
              <a:rPr lang="en-US" altLang="zh-CN" dirty="0" smtClean="0">
                <a:latin typeface="微软雅黑" pitchFamily="34" charset="-122"/>
                <a:ea typeface="微软雅黑" pitchFamily="34" charset="-122"/>
              </a:rPr>
              <a:t>2</a:t>
            </a:r>
            <a:r>
              <a:rPr lang="zh-CN" altLang="en-US" dirty="0" smtClean="0">
                <a:latin typeface="微软雅黑" pitchFamily="34" charset="-122"/>
                <a:ea typeface="微软雅黑" pitchFamily="34" charset="-122"/>
              </a:rPr>
              <a:t>、这些企业，与背靠政府政策支持或“意外”兴起的民营公司的博弈。</a:t>
            </a:r>
            <a:endParaRPr lang="en-US" altLang="zh-CN" dirty="0" smtClean="0">
              <a:latin typeface="微软雅黑" pitchFamily="34" charset="-122"/>
              <a:ea typeface="微软雅黑" pitchFamily="34" charset="-122"/>
            </a:endParaRPr>
          </a:p>
          <a:p>
            <a:endParaRPr lang="en-US" altLang="zh-CN" dirty="0" smtClean="0">
              <a:latin typeface="微软雅黑" pitchFamily="34" charset="-122"/>
              <a:ea typeface="微软雅黑" pitchFamily="34" charset="-122"/>
            </a:endParaRPr>
          </a:p>
          <a:p>
            <a:r>
              <a:rPr lang="en-US" altLang="zh-CN" dirty="0" smtClean="0">
                <a:latin typeface="微软雅黑" pitchFamily="34" charset="-122"/>
                <a:ea typeface="微软雅黑" pitchFamily="34" charset="-122"/>
              </a:rPr>
              <a:t>3</a:t>
            </a:r>
            <a:r>
              <a:rPr lang="zh-CN" altLang="en-US" dirty="0" smtClean="0">
                <a:latin typeface="微软雅黑" pitchFamily="34" charset="-122"/>
                <a:ea typeface="微软雅黑" pitchFamily="34" charset="-122"/>
              </a:rPr>
              <a:t>、跨国公司进入“搅局”。</a:t>
            </a:r>
            <a:endParaRPr lang="en-US" altLang="zh-CN" dirty="0" smtClean="0">
              <a:latin typeface="微软雅黑" pitchFamily="34" charset="-122"/>
              <a:ea typeface="微软雅黑" pitchFamily="34" charset="-122"/>
            </a:endParaRPr>
          </a:p>
          <a:p>
            <a:endParaRPr lang="en-US" altLang="zh-CN" sz="1100" dirty="0" smtClean="0">
              <a:latin typeface="微软雅黑" pitchFamily="34" charset="-122"/>
              <a:ea typeface="微软雅黑" pitchFamily="34" charset="-122"/>
            </a:endParaRPr>
          </a:p>
          <a:p>
            <a:endParaRPr lang="en-US" altLang="zh-CN" sz="1100" dirty="0">
              <a:latin typeface="微软雅黑" pitchFamily="34" charset="-122"/>
              <a:ea typeface="微软雅黑" pitchFamily="34"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69868" y="2024699"/>
            <a:ext cx="2956423" cy="2157214"/>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Tree>
    <p:extLst>
      <p:ext uri="{BB962C8B-B14F-4D97-AF65-F5344CB8AC3E}">
        <p14:creationId xmlns:p14="http://schemas.microsoft.com/office/powerpoint/2010/main" val="34911919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836672" y="-12868"/>
            <a:ext cx="1624914" cy="1569660"/>
          </a:xfrm>
          <a:prstGeom prst="rect">
            <a:avLst/>
          </a:prstGeom>
          <a:noFill/>
        </p:spPr>
        <p:txBody>
          <a:bodyPr wrap="square" rtlCol="0">
            <a:spAutoFit/>
          </a:bodyPr>
          <a:lstStyle/>
          <a:p>
            <a:r>
              <a:rPr lang="zh-CN" altLang="en-US" sz="4800" b="1" dirty="0" smtClean="0">
                <a:latin typeface="华文行楷" pitchFamily="2" charset="-122"/>
                <a:ea typeface="华文行楷" pitchFamily="2" charset="-122"/>
              </a:rPr>
              <a:t>宏观</a:t>
            </a:r>
            <a:endParaRPr lang="en-US" altLang="zh-CN" sz="4800" b="1" dirty="0" smtClean="0">
              <a:latin typeface="华文行楷" pitchFamily="2" charset="-122"/>
              <a:ea typeface="华文行楷" pitchFamily="2" charset="-122"/>
            </a:endParaRPr>
          </a:p>
          <a:p>
            <a:r>
              <a:rPr lang="zh-CN" altLang="en-US" sz="4800" b="1" dirty="0" smtClean="0">
                <a:latin typeface="华文行楷" pitchFamily="2" charset="-122"/>
                <a:ea typeface="华文行楷" pitchFamily="2" charset="-122"/>
              </a:rPr>
              <a:t>调控</a:t>
            </a:r>
            <a:endParaRPr lang="zh-CN" altLang="en-US" sz="4800" b="1" dirty="0">
              <a:latin typeface="华文行楷" pitchFamily="2" charset="-122"/>
              <a:ea typeface="华文行楷" pitchFamily="2" charset="-122"/>
            </a:endParaRPr>
          </a:p>
        </p:txBody>
      </p:sp>
      <p:sp>
        <p:nvSpPr>
          <p:cNvPr id="5" name="TextBox 4"/>
          <p:cNvSpPr txBox="1"/>
          <p:nvPr/>
        </p:nvSpPr>
        <p:spPr>
          <a:xfrm>
            <a:off x="827584" y="2204864"/>
            <a:ext cx="3789508" cy="2185214"/>
          </a:xfrm>
          <a:prstGeom prst="rect">
            <a:avLst/>
          </a:prstGeom>
          <a:noFill/>
        </p:spPr>
        <p:txBody>
          <a:bodyPr wrap="square" rtlCol="0">
            <a:spAutoFit/>
          </a:bodyPr>
          <a:lstStyle/>
          <a:p>
            <a:r>
              <a:rPr lang="zh-CN" altLang="en-US" sz="2000" dirty="0" smtClean="0">
                <a:latin typeface="微软雅黑" pitchFamily="34" charset="-122"/>
                <a:ea typeface="微软雅黑" pitchFamily="34" charset="-122"/>
              </a:rPr>
              <a:t>       本书中的改革史上出现过</a:t>
            </a:r>
            <a:r>
              <a:rPr lang="zh-CN" altLang="en-US" sz="2400" dirty="0" smtClean="0">
                <a:latin typeface="微软雅黑" pitchFamily="34" charset="-122"/>
                <a:ea typeface="微软雅黑" pitchFamily="34" charset="-122"/>
              </a:rPr>
              <a:t>三次</a:t>
            </a:r>
            <a:r>
              <a:rPr lang="zh-CN" altLang="en-US" sz="2000" dirty="0" smtClean="0">
                <a:latin typeface="微软雅黑" pitchFamily="34" charset="-122"/>
                <a:ea typeface="微软雅黑" pitchFamily="34" charset="-122"/>
              </a:rPr>
              <a:t>宏观调控，均是经济过热，政府运用国家力量进行干预。历次的宏观调控均有</a:t>
            </a:r>
            <a:r>
              <a:rPr lang="zh-CN" altLang="en-US" sz="2400" dirty="0" smtClean="0">
                <a:latin typeface="微软雅黑" pitchFamily="34" charset="-122"/>
                <a:ea typeface="微软雅黑" pitchFamily="34" charset="-122"/>
              </a:rPr>
              <a:t>一个特点</a:t>
            </a:r>
            <a:r>
              <a:rPr lang="zh-CN" altLang="en-US" sz="2000" dirty="0" smtClean="0">
                <a:latin typeface="微软雅黑" pitchFamily="34" charset="-122"/>
                <a:ea typeface="微软雅黑" pitchFamily="34" charset="-122"/>
              </a:rPr>
              <a:t>，那就是：</a:t>
            </a:r>
            <a:endParaRPr lang="en-US" altLang="zh-CN" sz="2000" dirty="0">
              <a:latin typeface="微软雅黑" pitchFamily="34" charset="-122"/>
              <a:ea typeface="微软雅黑" pitchFamily="34" charset="-122"/>
            </a:endParaRPr>
          </a:p>
          <a:p>
            <a:r>
              <a:rPr lang="zh-CN" altLang="en-US" sz="2800" b="1" dirty="0" smtClean="0">
                <a:latin typeface="微软雅黑" pitchFamily="34" charset="-122"/>
                <a:ea typeface="微软雅黑" pitchFamily="34" charset="-122"/>
              </a:rPr>
              <a:t>只说开始，不说结束。</a:t>
            </a:r>
            <a:endParaRPr lang="en-US" altLang="zh-CN" sz="2800" b="1" dirty="0" smtClean="0">
              <a:latin typeface="微软雅黑" pitchFamily="34" charset="-122"/>
              <a:ea typeface="微软雅黑" pitchFamily="34" charset="-122"/>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0072" y="2204864"/>
            <a:ext cx="3420000" cy="172045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8" name="矩形 7"/>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8"/>
          <p:cNvSpPr txBox="1"/>
          <p:nvPr/>
        </p:nvSpPr>
        <p:spPr>
          <a:xfrm>
            <a:off x="971600" y="5301208"/>
            <a:ext cx="7419191" cy="1446550"/>
          </a:xfrm>
          <a:prstGeom prst="rect">
            <a:avLst/>
          </a:prstGeom>
          <a:noFill/>
        </p:spPr>
        <p:txBody>
          <a:bodyPr wrap="square" rtlCol="0">
            <a:spAutoFit/>
          </a:bodyPr>
          <a:lstStyle/>
          <a:p>
            <a:r>
              <a:rPr lang="en-US" altLang="zh-CN" sz="2400" dirty="0" smtClean="0">
                <a:solidFill>
                  <a:srgbClr val="E2CE84"/>
                </a:solidFill>
                <a:latin typeface="微软雅黑" pitchFamily="34" charset="-122"/>
                <a:ea typeface="微软雅黑" pitchFamily="34" charset="-122"/>
              </a:rPr>
              <a:t>1981</a:t>
            </a:r>
            <a:r>
              <a:rPr lang="zh-CN" altLang="en-US" sz="2400" dirty="0" smtClean="0">
                <a:solidFill>
                  <a:srgbClr val="E2CE84"/>
                </a:solidFill>
                <a:latin typeface="微软雅黑" pitchFamily="34" charset="-122"/>
                <a:ea typeface="微软雅黑" pitchFamily="34" charset="-122"/>
              </a:rPr>
              <a:t>年影响</a:t>
            </a:r>
            <a:r>
              <a:rPr lang="zh-CN" altLang="en-US" sz="2000" dirty="0" smtClean="0">
                <a:solidFill>
                  <a:srgbClr val="E2CE84"/>
                </a:solidFill>
                <a:latin typeface="微软雅黑" pitchFamily="34" charset="-122"/>
                <a:ea typeface="微软雅黑" pitchFamily="34" charset="-122"/>
              </a:rPr>
              <a:t>：</a:t>
            </a:r>
            <a:endParaRPr lang="en-US" altLang="zh-CN" sz="2000" dirty="0" smtClean="0">
              <a:solidFill>
                <a:srgbClr val="E2CE84"/>
              </a:solidFill>
              <a:latin typeface="微软雅黑" pitchFamily="34" charset="-122"/>
              <a:ea typeface="微软雅黑" pitchFamily="34" charset="-122"/>
            </a:endParaRPr>
          </a:p>
          <a:p>
            <a:r>
              <a:rPr lang="zh-CN" altLang="en-US" sz="2000" dirty="0" smtClean="0">
                <a:solidFill>
                  <a:srgbClr val="E2CE84"/>
                </a:solidFill>
                <a:latin typeface="微软雅黑" pitchFamily="34" charset="-122"/>
                <a:ea typeface="微软雅黑" pitchFamily="34" charset="-122"/>
              </a:rPr>
              <a:t>       有效控制经济的方向，避免种种动荡与不安定；乡镇企业遭受第一次寒流。更让乡镇企业成为了“</a:t>
            </a:r>
            <a:r>
              <a:rPr lang="zh-CN" altLang="en-US" sz="2400" dirty="0" smtClean="0">
                <a:solidFill>
                  <a:schemeClr val="bg1"/>
                </a:solidFill>
                <a:latin typeface="微软雅黑" pitchFamily="34" charset="-122"/>
                <a:ea typeface="微软雅黑" pitchFamily="34" charset="-122"/>
              </a:rPr>
              <a:t>气候经济</a:t>
            </a:r>
            <a:r>
              <a:rPr lang="zh-CN" altLang="en-US" sz="2000" dirty="0" smtClean="0">
                <a:solidFill>
                  <a:srgbClr val="E2CE84"/>
                </a:solidFill>
                <a:latin typeface="微软雅黑" pitchFamily="34" charset="-122"/>
                <a:ea typeface="微软雅黑" pitchFamily="34" charset="-122"/>
              </a:rPr>
              <a:t>”。</a:t>
            </a:r>
            <a:endParaRPr lang="en-US" altLang="zh-CN" sz="2000" dirty="0" smtClean="0">
              <a:solidFill>
                <a:srgbClr val="E2CE84"/>
              </a:solidFill>
              <a:latin typeface="微软雅黑" pitchFamily="34" charset="-122"/>
              <a:ea typeface="微软雅黑" pitchFamily="34" charset="-122"/>
            </a:endParaRPr>
          </a:p>
          <a:p>
            <a:endParaRPr lang="zh-CN" altLang="en-US" sz="2000" dirty="0">
              <a:solidFill>
                <a:srgbClr val="E2CE84"/>
              </a:solidFill>
              <a:latin typeface="微软雅黑" pitchFamily="34" charset="-122"/>
              <a:ea typeface="微软雅黑" pitchFamily="34" charset="-122"/>
            </a:endParaRPr>
          </a:p>
        </p:txBody>
      </p:sp>
    </p:spTree>
    <p:extLst>
      <p:ext uri="{BB962C8B-B14F-4D97-AF65-F5344CB8AC3E}">
        <p14:creationId xmlns:p14="http://schemas.microsoft.com/office/powerpoint/2010/main" val="38046509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35696" y="2060848"/>
            <a:ext cx="5400600" cy="923330"/>
          </a:xfrm>
          <a:prstGeom prst="rect">
            <a:avLst/>
          </a:prstGeom>
          <a:noFill/>
        </p:spPr>
        <p:txBody>
          <a:bodyPr wrap="square" rtlCol="0">
            <a:spAutoFit/>
          </a:bodyPr>
          <a:lstStyle/>
          <a:p>
            <a:pPr algn="ctr"/>
            <a:r>
              <a:rPr lang="zh-CN" altLang="en-US" sz="5400" b="1" dirty="0" smtClean="0">
                <a:latin typeface="微软雅黑" pitchFamily="34" charset="-122"/>
                <a:ea typeface="微软雅黑" pitchFamily="34" charset="-122"/>
              </a:rPr>
              <a:t>国企改革进行曲</a:t>
            </a:r>
            <a:endParaRPr lang="zh-CN" altLang="en-US" sz="5400" b="1" dirty="0">
              <a:latin typeface="微软雅黑" pitchFamily="34" charset="-122"/>
              <a:ea typeface="微软雅黑" pitchFamily="34" charset="-122"/>
            </a:endParaRPr>
          </a:p>
        </p:txBody>
      </p:sp>
      <p:sp>
        <p:nvSpPr>
          <p:cNvPr id="3" name="TextBox 2"/>
          <p:cNvSpPr txBox="1"/>
          <p:nvPr/>
        </p:nvSpPr>
        <p:spPr>
          <a:xfrm>
            <a:off x="827584" y="5373216"/>
            <a:ext cx="7344816" cy="1077218"/>
          </a:xfrm>
          <a:prstGeom prst="rect">
            <a:avLst/>
          </a:prstGeom>
          <a:noFill/>
        </p:spPr>
        <p:txBody>
          <a:bodyPr wrap="square" rtlCol="0">
            <a:spAutoFit/>
          </a:bodyPr>
          <a:lstStyle/>
          <a:p>
            <a:r>
              <a:rPr lang="en-US" altLang="zh-CN" sz="2000" dirty="0">
                <a:solidFill>
                  <a:srgbClr val="E2CE84"/>
                </a:solidFill>
                <a:latin typeface="微软雅黑" pitchFamily="34" charset="-122"/>
                <a:ea typeface="微软雅黑" pitchFamily="34" charset="-122"/>
              </a:rPr>
              <a:t>30</a:t>
            </a:r>
            <a:r>
              <a:rPr lang="zh-CN" altLang="en-US" sz="2000" dirty="0">
                <a:solidFill>
                  <a:srgbClr val="E2CE84"/>
                </a:solidFill>
                <a:latin typeface="微软雅黑" pitchFamily="34" charset="-122"/>
                <a:ea typeface="微软雅黑" pitchFamily="34" charset="-122"/>
              </a:rPr>
              <a:t>年</a:t>
            </a:r>
            <a:r>
              <a:rPr lang="zh-CN" altLang="en-US" sz="2000" dirty="0" smtClean="0">
                <a:solidFill>
                  <a:srgbClr val="E2CE84"/>
                </a:solidFill>
                <a:latin typeface="微软雅黑" pitchFamily="34" charset="-122"/>
                <a:ea typeface="微软雅黑" pitchFamily="34" charset="-122"/>
              </a:rPr>
              <a:t>的企业改革史，</a:t>
            </a:r>
            <a:r>
              <a:rPr lang="zh-CN" altLang="en-US" sz="2000" dirty="0">
                <a:solidFill>
                  <a:srgbClr val="E2CE84"/>
                </a:solidFill>
                <a:latin typeface="微软雅黑" pitchFamily="34" charset="-122"/>
                <a:ea typeface="微软雅黑" pitchFamily="34" charset="-122"/>
              </a:rPr>
              <a:t>看上去千头万绪，杂乱无章，但是严格来说，其改革的</a:t>
            </a:r>
            <a:r>
              <a:rPr lang="zh-CN" altLang="en-US" sz="2400" b="1" dirty="0">
                <a:solidFill>
                  <a:schemeClr val="bg1"/>
                </a:solidFill>
                <a:latin typeface="微软雅黑" pitchFamily="34" charset="-122"/>
                <a:ea typeface="微软雅黑" pitchFamily="34" charset="-122"/>
              </a:rPr>
              <a:t>利益诉求</a:t>
            </a:r>
            <a:r>
              <a:rPr lang="zh-CN" altLang="en-US" sz="2000" dirty="0">
                <a:solidFill>
                  <a:srgbClr val="E2CE84"/>
                </a:solidFill>
                <a:latin typeface="微软雅黑" pitchFamily="34" charset="-122"/>
                <a:ea typeface="微软雅黑" pitchFamily="34" charset="-122"/>
              </a:rPr>
              <a:t>、</a:t>
            </a:r>
            <a:r>
              <a:rPr lang="zh-CN" altLang="en-US" sz="2400" b="1" dirty="0">
                <a:solidFill>
                  <a:schemeClr val="bg1"/>
                </a:solidFill>
                <a:latin typeface="微软雅黑" pitchFamily="34" charset="-122"/>
                <a:ea typeface="微软雅黑" pitchFamily="34" charset="-122"/>
              </a:rPr>
              <a:t>战略目标</a:t>
            </a:r>
            <a:r>
              <a:rPr lang="zh-CN" altLang="en-US" sz="2000" dirty="0">
                <a:solidFill>
                  <a:srgbClr val="E2CE84"/>
                </a:solidFill>
                <a:latin typeface="微软雅黑" pitchFamily="34" charset="-122"/>
                <a:ea typeface="微软雅黑" pitchFamily="34" charset="-122"/>
              </a:rPr>
              <a:t>则是非常清晰，而且从第一天起就没有动摇过。</a:t>
            </a:r>
            <a:endParaRPr lang="en-US" altLang="zh-CN" sz="2000" dirty="0">
              <a:solidFill>
                <a:srgbClr val="E2CE84"/>
              </a:solidFill>
              <a:latin typeface="微软雅黑" pitchFamily="34" charset="-122"/>
              <a:ea typeface="微软雅黑" pitchFamily="34" charset="-122"/>
            </a:endParaRPr>
          </a:p>
        </p:txBody>
      </p:sp>
    </p:spTree>
    <p:extLst>
      <p:ext uri="{BB962C8B-B14F-4D97-AF65-F5344CB8AC3E}">
        <p14:creationId xmlns:p14="http://schemas.microsoft.com/office/powerpoint/2010/main" val="280383963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95736" y="-27384"/>
            <a:ext cx="694826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3" name="TextBox 2"/>
          <p:cNvSpPr txBox="1"/>
          <p:nvPr/>
        </p:nvSpPr>
        <p:spPr>
          <a:xfrm>
            <a:off x="786846" y="-27384"/>
            <a:ext cx="1624914" cy="1569660"/>
          </a:xfrm>
          <a:prstGeom prst="rect">
            <a:avLst/>
          </a:prstGeom>
          <a:noFill/>
        </p:spPr>
        <p:txBody>
          <a:bodyPr wrap="square" rtlCol="0">
            <a:spAutoFit/>
          </a:bodyPr>
          <a:lstStyle/>
          <a:p>
            <a:r>
              <a:rPr lang="zh-CN" altLang="en-US" sz="4800" b="1" dirty="0" smtClean="0">
                <a:latin typeface="华文行楷" pitchFamily="2" charset="-122"/>
                <a:ea typeface="华文行楷" pitchFamily="2" charset="-122"/>
              </a:rPr>
              <a:t>国企改革</a:t>
            </a:r>
            <a:endParaRPr lang="en-US" altLang="zh-CN" sz="4800" b="1" dirty="0" smtClean="0">
              <a:latin typeface="华文行楷" pitchFamily="2" charset="-122"/>
              <a:ea typeface="华文行楷" pitchFamily="2" charset="-122"/>
            </a:endParaRPr>
          </a:p>
        </p:txBody>
      </p:sp>
      <p:sp>
        <p:nvSpPr>
          <p:cNvPr id="4" name="矩形 3"/>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5940152" y="4385052"/>
            <a:ext cx="2627732" cy="369332"/>
          </a:xfrm>
          <a:prstGeom prst="rect">
            <a:avLst/>
          </a:prstGeom>
          <a:noFill/>
        </p:spPr>
        <p:txBody>
          <a:bodyPr wrap="square" rtlCol="0">
            <a:spAutoFit/>
          </a:bodyPr>
          <a:lstStyle/>
          <a:p>
            <a:pPr algn="ctr"/>
            <a:r>
              <a:rPr lang="zh-CN" altLang="en-US" dirty="0">
                <a:latin typeface="微软雅黑" pitchFamily="34" charset="-122"/>
                <a:ea typeface="微软雅黑" pitchFamily="34" charset="-122"/>
              </a:rPr>
              <a:t>骡马大会</a:t>
            </a:r>
            <a:r>
              <a:rPr lang="zh-CN" altLang="en-US" dirty="0" smtClean="0">
                <a:latin typeface="微软雅黑" pitchFamily="34" charset="-122"/>
                <a:ea typeface="微软雅黑" pitchFamily="34" charset="-122"/>
              </a:rPr>
              <a:t>般的计划经济</a:t>
            </a:r>
            <a:endParaRPr lang="zh-CN" altLang="en-US" dirty="0">
              <a:latin typeface="微软雅黑" pitchFamily="34" charset="-122"/>
              <a:ea typeface="微软雅黑" pitchFamily="34" charset="-122"/>
            </a:endParaRPr>
          </a:p>
        </p:txBody>
      </p:sp>
      <p:sp>
        <p:nvSpPr>
          <p:cNvPr id="7" name="TextBox 6"/>
          <p:cNvSpPr txBox="1"/>
          <p:nvPr/>
        </p:nvSpPr>
        <p:spPr>
          <a:xfrm>
            <a:off x="761113" y="2024699"/>
            <a:ext cx="4536504" cy="3385542"/>
          </a:xfrm>
          <a:prstGeom prst="rect">
            <a:avLst/>
          </a:prstGeom>
          <a:noFill/>
        </p:spPr>
        <p:txBody>
          <a:bodyPr wrap="square" rtlCol="0">
            <a:spAutoFit/>
          </a:bodyPr>
          <a:lstStyle/>
          <a:p>
            <a:r>
              <a:rPr lang="zh-CN" altLang="en-US" dirty="0">
                <a:latin typeface="微软雅黑" pitchFamily="34" charset="-122"/>
                <a:ea typeface="微软雅黑" pitchFamily="34" charset="-122"/>
              </a:rPr>
              <a:t>第一</a:t>
            </a:r>
            <a:r>
              <a:rPr lang="zh-CN" altLang="en-US" dirty="0" smtClean="0">
                <a:latin typeface="微软雅黑" pitchFamily="34" charset="-122"/>
                <a:ea typeface="微软雅黑" pitchFamily="34" charset="-122"/>
              </a:rPr>
              <a:t>阶段（</a:t>
            </a:r>
            <a:r>
              <a:rPr lang="en-US" altLang="zh-CN" dirty="0" smtClean="0">
                <a:latin typeface="微软雅黑" pitchFamily="34" charset="-122"/>
                <a:ea typeface="微软雅黑" pitchFamily="34" charset="-122"/>
              </a:rPr>
              <a:t>1978~1993</a:t>
            </a:r>
            <a:r>
              <a:rPr lang="zh-CN" altLang="en-US" dirty="0" smtClean="0">
                <a:latin typeface="微软雅黑" pitchFamily="34" charset="-122"/>
                <a:ea typeface="微软雅黑" pitchFamily="34" charset="-122"/>
              </a:rPr>
              <a:t>）：以放权让利为主题为主线，探索国有企业改革模式阶段。</a:t>
            </a:r>
            <a:endParaRPr lang="en-US" altLang="zh-CN" dirty="0" smtClean="0">
              <a:latin typeface="微软雅黑" pitchFamily="34" charset="-122"/>
              <a:ea typeface="微软雅黑" pitchFamily="34" charset="-122"/>
            </a:endParaRPr>
          </a:p>
          <a:p>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第二阶段（</a:t>
            </a:r>
            <a:r>
              <a:rPr lang="en-US" altLang="zh-CN" dirty="0" smtClean="0">
                <a:latin typeface="微软雅黑" pitchFamily="34" charset="-122"/>
                <a:ea typeface="微软雅黑" pitchFamily="34" charset="-122"/>
              </a:rPr>
              <a:t>1994~2001</a:t>
            </a:r>
            <a:r>
              <a:rPr lang="zh-CN" altLang="en-US" dirty="0" smtClean="0">
                <a:latin typeface="微软雅黑" pitchFamily="34" charset="-122"/>
                <a:ea typeface="微软雅黑" pitchFamily="34" charset="-122"/>
              </a:rPr>
              <a:t>）：明确国有企业改革目标，尝试探索建立现代企业制度阶段。</a:t>
            </a:r>
            <a:endParaRPr lang="en-US" altLang="zh-CN" dirty="0" smtClean="0">
              <a:latin typeface="微软雅黑" pitchFamily="34" charset="-122"/>
              <a:ea typeface="微软雅黑" pitchFamily="34" charset="-122"/>
            </a:endParaRPr>
          </a:p>
          <a:p>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第三阶段（</a:t>
            </a:r>
            <a:r>
              <a:rPr lang="en-US" altLang="zh-CN" dirty="0" smtClean="0">
                <a:latin typeface="微软雅黑" pitchFamily="34" charset="-122"/>
                <a:ea typeface="微软雅黑" pitchFamily="34" charset="-122"/>
              </a:rPr>
              <a:t>2001</a:t>
            </a:r>
            <a:r>
              <a:rPr lang="zh-CN" altLang="en-US" dirty="0" smtClean="0">
                <a:latin typeface="微软雅黑" pitchFamily="34" charset="-122"/>
                <a:ea typeface="微软雅黑" pitchFamily="34" charset="-122"/>
              </a:rPr>
              <a:t>年以后）：改革国有资产管理新体制，建立健全现代产权制度，使股份制成为公有制的主要实现形式阶段。</a:t>
            </a:r>
            <a:endParaRPr lang="en-US" altLang="zh-CN" dirty="0">
              <a:latin typeface="微软雅黑" pitchFamily="34" charset="-122"/>
              <a:ea typeface="微软雅黑" pitchFamily="34" charset="-122"/>
            </a:endParaRPr>
          </a:p>
          <a:p>
            <a:endParaRPr lang="en-US" altLang="zh-CN" sz="1200" dirty="0" smtClean="0">
              <a:latin typeface="微软雅黑" pitchFamily="34" charset="-122"/>
              <a:ea typeface="微软雅黑" pitchFamily="34" charset="-122"/>
            </a:endParaRPr>
          </a:p>
          <a:p>
            <a:endParaRPr lang="en-US" altLang="zh-CN" sz="1100" dirty="0" smtClean="0">
              <a:latin typeface="微软雅黑" pitchFamily="34" charset="-122"/>
              <a:ea typeface="微软雅黑" pitchFamily="34" charset="-122"/>
            </a:endParaRPr>
          </a:p>
          <a:p>
            <a:endParaRPr lang="en-US" altLang="zh-CN" sz="1100" dirty="0">
              <a:latin typeface="微软雅黑" pitchFamily="34" charset="-122"/>
              <a:ea typeface="微软雅黑" pitchFamily="34"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43346" y="2204864"/>
            <a:ext cx="3000000" cy="1800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Tree>
    <p:extLst>
      <p:ext uri="{BB962C8B-B14F-4D97-AF65-F5344CB8AC3E}">
        <p14:creationId xmlns:p14="http://schemas.microsoft.com/office/powerpoint/2010/main" val="37624041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5" name="TextBox 4"/>
          <p:cNvSpPr txBox="1"/>
          <p:nvPr/>
        </p:nvSpPr>
        <p:spPr>
          <a:xfrm>
            <a:off x="786846" y="-12868"/>
            <a:ext cx="1624914" cy="1569660"/>
          </a:xfrm>
          <a:prstGeom prst="rect">
            <a:avLst/>
          </a:prstGeom>
          <a:noFill/>
        </p:spPr>
        <p:txBody>
          <a:bodyPr wrap="square" rtlCol="0">
            <a:spAutoFit/>
          </a:bodyPr>
          <a:lstStyle/>
          <a:p>
            <a:r>
              <a:rPr lang="zh-CN" altLang="en-US" sz="4800" b="1" dirty="0" smtClean="0">
                <a:latin typeface="华文行楷" pitchFamily="2" charset="-122"/>
                <a:ea typeface="华文行楷" pitchFamily="2" charset="-122"/>
              </a:rPr>
              <a:t>国企迷局</a:t>
            </a:r>
            <a:endParaRPr lang="zh-CN" altLang="en-US" sz="4800" b="1" dirty="0">
              <a:latin typeface="华文行楷" pitchFamily="2" charset="-122"/>
              <a:ea typeface="华文行楷" pitchFamily="2" charset="-122"/>
            </a:endParaRPr>
          </a:p>
        </p:txBody>
      </p:sp>
      <p:sp>
        <p:nvSpPr>
          <p:cNvPr id="7" name="TextBox 6"/>
          <p:cNvSpPr txBox="1"/>
          <p:nvPr/>
        </p:nvSpPr>
        <p:spPr>
          <a:xfrm>
            <a:off x="827584" y="1988840"/>
            <a:ext cx="4536504" cy="2677656"/>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自</a:t>
            </a:r>
            <a:r>
              <a:rPr lang="en-US" altLang="zh-CN" dirty="0" smtClean="0">
                <a:latin typeface="微软雅黑" pitchFamily="34" charset="-122"/>
                <a:ea typeface="微软雅黑" pitchFamily="34" charset="-122"/>
              </a:rPr>
              <a:t>1984</a:t>
            </a:r>
            <a:r>
              <a:rPr lang="zh-CN" altLang="en-US" dirty="0" smtClean="0">
                <a:latin typeface="微软雅黑" pitchFamily="34" charset="-122"/>
                <a:ea typeface="微软雅黑" pitchFamily="34" charset="-122"/>
              </a:rPr>
              <a:t>年起，对国企的各项改革措施年年创新，从利改税、承包制、政企分开、到优化组合、股份制、租赁制，药方开了很多，但是不见成效。</a:t>
            </a:r>
            <a:endParaRPr lang="en-US" altLang="zh-CN" dirty="0">
              <a:latin typeface="微软雅黑" pitchFamily="34" charset="-122"/>
              <a:ea typeface="微软雅黑" pitchFamily="34" charset="-122"/>
            </a:endParaRPr>
          </a:p>
          <a:p>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现实是：</a:t>
            </a:r>
            <a:endParaRPr lang="en-US" altLang="zh-CN" dirty="0" smtClean="0">
              <a:latin typeface="微软雅黑" pitchFamily="34" charset="-122"/>
              <a:ea typeface="微软雅黑" pitchFamily="34" charset="-122"/>
            </a:endParaRPr>
          </a:p>
          <a:p>
            <a:r>
              <a:rPr lang="en-US" altLang="zh-CN" b="1" dirty="0">
                <a:latin typeface="微软雅黑" pitchFamily="34" charset="-122"/>
                <a:ea typeface="微软雅黑" pitchFamily="34" charset="-122"/>
              </a:rPr>
              <a:t> </a:t>
            </a:r>
            <a:r>
              <a:rPr lang="en-US" altLang="zh-CN" b="1" dirty="0" smtClean="0">
                <a:latin typeface="微软雅黑" pitchFamily="34" charset="-122"/>
                <a:ea typeface="微软雅黑" pitchFamily="34" charset="-122"/>
              </a:rPr>
              <a:t>     </a:t>
            </a:r>
            <a:r>
              <a:rPr lang="zh-CN" altLang="en-US" sz="2000" b="1" dirty="0" smtClean="0">
                <a:latin typeface="微软雅黑" pitchFamily="34" charset="-122"/>
                <a:ea typeface="微软雅黑" pitchFamily="34" charset="-122"/>
              </a:rPr>
              <a:t>生产回升缓慢、效益下降、亏损翻翻等。</a:t>
            </a:r>
            <a:endParaRPr lang="en-US" altLang="zh-CN" sz="2000" b="1" dirty="0" smtClean="0">
              <a:latin typeface="微软雅黑" pitchFamily="34" charset="-122"/>
              <a:ea typeface="微软雅黑" pitchFamily="34" charset="-122"/>
            </a:endParaRPr>
          </a:p>
          <a:p>
            <a:endParaRPr lang="en-US" altLang="zh-CN" sz="2000" dirty="0">
              <a:latin typeface="微软雅黑" pitchFamily="34" charset="-122"/>
              <a:ea typeface="微软雅黑" pitchFamily="34" charset="-122"/>
            </a:endParaRPr>
          </a:p>
        </p:txBody>
      </p:sp>
      <p:sp>
        <p:nvSpPr>
          <p:cNvPr id="9" name="矩形 8"/>
          <p:cNvSpPr/>
          <p:nvPr/>
        </p:nvSpPr>
        <p:spPr>
          <a:xfrm>
            <a:off x="827584" y="5445224"/>
            <a:ext cx="7560840" cy="769441"/>
          </a:xfrm>
          <a:prstGeom prst="rect">
            <a:avLst/>
          </a:prstGeom>
        </p:spPr>
        <p:txBody>
          <a:bodyPr wrap="square">
            <a:spAutoFit/>
          </a:bodyPr>
          <a:lstStyle/>
          <a:p>
            <a:endParaRPr lang="en-US" altLang="zh-CN" sz="2000" dirty="0">
              <a:solidFill>
                <a:srgbClr val="E2CE84"/>
              </a:solidFill>
              <a:latin typeface="微软雅黑" pitchFamily="34" charset="-122"/>
              <a:ea typeface="微软雅黑" pitchFamily="34" charset="-122"/>
            </a:endParaRPr>
          </a:p>
          <a:p>
            <a:r>
              <a:rPr lang="zh-CN" altLang="en-US" sz="2000" dirty="0">
                <a:solidFill>
                  <a:srgbClr val="E2CE84"/>
                </a:solidFill>
                <a:latin typeface="微软雅黑" pitchFamily="34" charset="-122"/>
                <a:ea typeface="微软雅黑" pitchFamily="34" charset="-122"/>
              </a:rPr>
              <a:t>在今后的改革史上，还有连番好戏，</a:t>
            </a:r>
            <a:r>
              <a:rPr lang="zh-CN" altLang="en-US" sz="2000" dirty="0" smtClean="0">
                <a:solidFill>
                  <a:srgbClr val="E2CE84"/>
                </a:solidFill>
                <a:latin typeface="微软雅黑" pitchFamily="34" charset="-122"/>
                <a:ea typeface="微软雅黑" pitchFamily="34" charset="-122"/>
              </a:rPr>
              <a:t>“</a:t>
            </a:r>
            <a:r>
              <a:rPr lang="zh-CN" altLang="en-US" sz="2400" dirty="0">
                <a:solidFill>
                  <a:schemeClr val="bg1"/>
                </a:solidFill>
                <a:latin typeface="微软雅黑" pitchFamily="34" charset="-122"/>
                <a:ea typeface="微软雅黑" pitchFamily="34" charset="-122"/>
              </a:rPr>
              <a:t>国退民进</a:t>
            </a:r>
            <a:r>
              <a:rPr lang="zh-CN" altLang="en-US" sz="2000" dirty="0" smtClean="0">
                <a:solidFill>
                  <a:srgbClr val="E2CE84"/>
                </a:solidFill>
                <a:latin typeface="微软雅黑" pitchFamily="34" charset="-122"/>
                <a:ea typeface="微软雅黑" pitchFamily="34" charset="-122"/>
              </a:rPr>
              <a:t>”</a:t>
            </a:r>
            <a:r>
              <a:rPr lang="zh-CN" altLang="en-US" sz="2000" dirty="0">
                <a:solidFill>
                  <a:srgbClr val="E2CE84"/>
                </a:solidFill>
                <a:latin typeface="微软雅黑" pitchFamily="34" charset="-122"/>
                <a:ea typeface="微软雅黑" pitchFamily="34" charset="-122"/>
              </a:rPr>
              <a:t>将渐渐成形</a:t>
            </a:r>
            <a:r>
              <a:rPr lang="zh-CN" altLang="en-US" sz="2000" dirty="0" smtClean="0">
                <a:solidFill>
                  <a:srgbClr val="E2CE84"/>
                </a:solidFill>
                <a:latin typeface="微软雅黑" pitchFamily="34" charset="-122"/>
                <a:ea typeface="微软雅黑" pitchFamily="34" charset="-122"/>
              </a:rPr>
              <a:t>。</a:t>
            </a:r>
            <a:endParaRPr lang="en-US" altLang="zh-CN" sz="2000" dirty="0">
              <a:solidFill>
                <a:srgbClr val="E2CE84"/>
              </a:solidFill>
              <a:latin typeface="微软雅黑" pitchFamily="34" charset="-122"/>
              <a:ea typeface="微软雅黑" pitchFamily="34" charset="-122"/>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61414" y="2254187"/>
            <a:ext cx="2658717" cy="1656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Tree>
    <p:extLst>
      <p:ext uri="{BB962C8B-B14F-4D97-AF65-F5344CB8AC3E}">
        <p14:creationId xmlns:p14="http://schemas.microsoft.com/office/powerpoint/2010/main" val="7068502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195736" y="-27384"/>
            <a:ext cx="694826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3" name="TextBox 2"/>
          <p:cNvSpPr txBox="1"/>
          <p:nvPr/>
        </p:nvSpPr>
        <p:spPr>
          <a:xfrm>
            <a:off x="786846" y="-27384"/>
            <a:ext cx="1624914" cy="1569660"/>
          </a:xfrm>
          <a:prstGeom prst="rect">
            <a:avLst/>
          </a:prstGeom>
          <a:noFill/>
        </p:spPr>
        <p:txBody>
          <a:bodyPr wrap="square" rtlCol="0">
            <a:spAutoFit/>
          </a:bodyPr>
          <a:lstStyle/>
          <a:p>
            <a:r>
              <a:rPr lang="zh-CN" altLang="en-US" sz="4800" b="1" dirty="0" smtClean="0">
                <a:latin typeface="华文行楷" pitchFamily="2" charset="-122"/>
                <a:ea typeface="华文行楷" pitchFamily="2" charset="-122"/>
              </a:rPr>
              <a:t>首钢</a:t>
            </a:r>
            <a:endParaRPr lang="en-US" altLang="zh-CN" sz="4800" b="1" dirty="0" smtClean="0">
              <a:latin typeface="华文行楷" pitchFamily="2" charset="-122"/>
              <a:ea typeface="华文行楷" pitchFamily="2" charset="-122"/>
            </a:endParaRPr>
          </a:p>
          <a:p>
            <a:r>
              <a:rPr lang="zh-CN" altLang="en-US" sz="4800" b="1" dirty="0">
                <a:latin typeface="华文行楷" pitchFamily="2" charset="-122"/>
                <a:ea typeface="华文行楷" pitchFamily="2" charset="-122"/>
              </a:rPr>
              <a:t>承包</a:t>
            </a:r>
            <a:endParaRPr lang="en-US" altLang="zh-CN" sz="4800" b="1" dirty="0" smtClean="0">
              <a:latin typeface="华文行楷" pitchFamily="2" charset="-122"/>
              <a:ea typeface="华文行楷" pitchFamily="2" charset="-122"/>
            </a:endParaRPr>
          </a:p>
        </p:txBody>
      </p:sp>
      <p:sp>
        <p:nvSpPr>
          <p:cNvPr id="4" name="矩形 3"/>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69868" y="2060848"/>
            <a:ext cx="2754000" cy="1836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6" name="TextBox 5"/>
          <p:cNvSpPr txBox="1"/>
          <p:nvPr/>
        </p:nvSpPr>
        <p:spPr>
          <a:xfrm>
            <a:off x="5811855" y="4172653"/>
            <a:ext cx="2627732" cy="369332"/>
          </a:xfrm>
          <a:prstGeom prst="rect">
            <a:avLst/>
          </a:prstGeom>
          <a:noFill/>
        </p:spPr>
        <p:txBody>
          <a:bodyPr wrap="square" rtlCol="0">
            <a:spAutoFit/>
          </a:bodyPr>
          <a:lstStyle/>
          <a:p>
            <a:pPr algn="ctr"/>
            <a:r>
              <a:rPr lang="zh-CN" altLang="en-US" dirty="0" smtClean="0">
                <a:latin typeface="微软雅黑" pitchFamily="34" charset="-122"/>
                <a:ea typeface="微软雅黑" pitchFamily="34" charset="-122"/>
              </a:rPr>
              <a:t>首钢</a:t>
            </a:r>
            <a:r>
              <a:rPr lang="en-US" altLang="zh-CN" dirty="0" smtClean="0">
                <a:latin typeface="微软雅黑" pitchFamily="34" charset="-122"/>
                <a:ea typeface="微软雅黑" pitchFamily="34" charset="-122"/>
              </a:rPr>
              <a:t>——12</a:t>
            </a:r>
            <a:r>
              <a:rPr lang="zh-CN" altLang="en-US" dirty="0" smtClean="0">
                <a:latin typeface="微软雅黑" pitchFamily="34" charset="-122"/>
                <a:ea typeface="微软雅黑" pitchFamily="34" charset="-122"/>
              </a:rPr>
              <a:t>米钢铁雄鹰</a:t>
            </a:r>
            <a:endParaRPr lang="zh-CN" altLang="en-US" dirty="0">
              <a:latin typeface="微软雅黑" pitchFamily="34" charset="-122"/>
              <a:ea typeface="微软雅黑" pitchFamily="34" charset="-122"/>
            </a:endParaRPr>
          </a:p>
        </p:txBody>
      </p:sp>
      <p:sp>
        <p:nvSpPr>
          <p:cNvPr id="7" name="TextBox 6"/>
          <p:cNvSpPr txBox="1"/>
          <p:nvPr/>
        </p:nvSpPr>
        <p:spPr>
          <a:xfrm>
            <a:off x="801924" y="2027743"/>
            <a:ext cx="4536504" cy="2985433"/>
          </a:xfrm>
          <a:prstGeom prst="rect">
            <a:avLst/>
          </a:prstGeom>
          <a:noFill/>
        </p:spPr>
        <p:txBody>
          <a:bodyPr wrap="square" rtlCol="0">
            <a:spAutoFit/>
          </a:bodyPr>
          <a:lstStyle/>
          <a:p>
            <a:r>
              <a:rPr lang="zh-CN" altLang="en-US" sz="3200" b="1" dirty="0" smtClean="0">
                <a:latin typeface="微软雅黑" pitchFamily="34" charset="-122"/>
                <a:ea typeface="微软雅黑" pitchFamily="34" charset="-122"/>
              </a:rPr>
              <a:t>     </a:t>
            </a:r>
            <a:r>
              <a:rPr lang="zh-CN" altLang="en-US" sz="2400" b="1" dirty="0" smtClean="0">
                <a:latin typeface="微软雅黑" pitchFamily="34" charset="-122"/>
                <a:ea typeface="微软雅黑" pitchFamily="34" charset="-122"/>
              </a:rPr>
              <a:t>包死基数</a:t>
            </a:r>
            <a:endParaRPr lang="en-US" altLang="zh-CN" sz="2400" b="1" dirty="0" smtClean="0">
              <a:latin typeface="微软雅黑" pitchFamily="34" charset="-122"/>
              <a:ea typeface="微软雅黑" pitchFamily="34" charset="-122"/>
            </a:endParaRPr>
          </a:p>
          <a:p>
            <a:r>
              <a:rPr lang="zh-CN" altLang="en-US" sz="2400" b="1" dirty="0" smtClean="0">
                <a:latin typeface="微软雅黑" pitchFamily="34" charset="-122"/>
                <a:ea typeface="微软雅黑" pitchFamily="34" charset="-122"/>
              </a:rPr>
              <a:t>       确保上缴</a:t>
            </a:r>
            <a:endParaRPr lang="en-US" altLang="zh-CN" sz="2400" b="1" dirty="0" smtClean="0">
              <a:latin typeface="微软雅黑" pitchFamily="34" charset="-122"/>
              <a:ea typeface="微软雅黑" pitchFamily="34" charset="-122"/>
            </a:endParaRPr>
          </a:p>
          <a:p>
            <a:r>
              <a:rPr lang="zh-CN" altLang="en-US" sz="2400" b="1" dirty="0" smtClean="0">
                <a:latin typeface="微软雅黑" pitchFamily="34" charset="-122"/>
                <a:ea typeface="微软雅黑" pitchFamily="34" charset="-122"/>
              </a:rPr>
              <a:t>       超包全留</a:t>
            </a:r>
            <a:endParaRPr lang="en-US" altLang="zh-CN" sz="2400" b="1" dirty="0" smtClean="0">
              <a:latin typeface="微软雅黑" pitchFamily="34" charset="-122"/>
              <a:ea typeface="微软雅黑" pitchFamily="34" charset="-122"/>
            </a:endParaRPr>
          </a:p>
          <a:p>
            <a:r>
              <a:rPr lang="zh-CN" altLang="en-US" sz="2400" b="1" dirty="0" smtClean="0">
                <a:latin typeface="微软雅黑" pitchFamily="34" charset="-122"/>
                <a:ea typeface="微软雅黑" pitchFamily="34" charset="-122"/>
              </a:rPr>
              <a:t>       欠收自负</a:t>
            </a:r>
            <a:endParaRPr lang="en-US" altLang="zh-CN" sz="2400" b="1" dirty="0" smtClean="0">
              <a:latin typeface="微软雅黑" pitchFamily="34" charset="-122"/>
              <a:ea typeface="微软雅黑" pitchFamily="34" charset="-122"/>
            </a:endParaRPr>
          </a:p>
          <a:p>
            <a:r>
              <a:rPr lang="zh-CN" altLang="en-US" sz="2800" dirty="0" smtClean="0">
                <a:latin typeface="微软雅黑" pitchFamily="34" charset="-122"/>
                <a:ea typeface="微软雅黑" pitchFamily="34" charset="-122"/>
              </a:rPr>
              <a:t>        </a:t>
            </a:r>
            <a:r>
              <a:rPr lang="en-US" altLang="zh-CN" sz="2800" dirty="0" smtClean="0">
                <a:latin typeface="微软雅黑" pitchFamily="34" charset="-122"/>
                <a:ea typeface="微软雅黑" pitchFamily="34" charset="-122"/>
              </a:rPr>
              <a:t>——</a:t>
            </a:r>
            <a:r>
              <a:rPr lang="zh-CN" altLang="en-US" sz="2800" b="1" dirty="0" smtClean="0">
                <a:latin typeface="微软雅黑" pitchFamily="34" charset="-122"/>
                <a:ea typeface="微软雅黑" pitchFamily="34" charset="-122"/>
              </a:rPr>
              <a:t>周冠五</a:t>
            </a:r>
            <a:r>
              <a:rPr lang="zh-CN" altLang="en-US" sz="2000" dirty="0">
                <a:latin typeface="微软雅黑" pitchFamily="34" charset="-122"/>
                <a:ea typeface="微软雅黑" pitchFamily="34" charset="-122"/>
              </a:rPr>
              <a:t>提出的承包制</a:t>
            </a:r>
            <a:endParaRPr lang="en-US" altLang="zh-CN" sz="2000" dirty="0">
              <a:latin typeface="微软雅黑" pitchFamily="34" charset="-122"/>
              <a:ea typeface="微软雅黑" pitchFamily="34" charset="-122"/>
            </a:endParaRPr>
          </a:p>
          <a:p>
            <a:endParaRPr lang="en-US" altLang="zh-CN" sz="2000" b="1" dirty="0" smtClean="0">
              <a:latin typeface="微软雅黑" pitchFamily="34" charset="-122"/>
              <a:ea typeface="微软雅黑" pitchFamily="34" charset="-122"/>
            </a:endParaRPr>
          </a:p>
          <a:p>
            <a:endParaRPr lang="en-US" altLang="zh-CN" dirty="0" smtClean="0">
              <a:latin typeface="微软雅黑" pitchFamily="34" charset="-122"/>
              <a:ea typeface="微软雅黑" pitchFamily="34" charset="-122"/>
            </a:endParaRPr>
          </a:p>
          <a:p>
            <a:endParaRPr lang="en-US" altLang="zh-CN" dirty="0">
              <a:latin typeface="微软雅黑" pitchFamily="34" charset="-122"/>
              <a:ea typeface="微软雅黑" pitchFamily="34" charset="-122"/>
            </a:endParaRPr>
          </a:p>
        </p:txBody>
      </p:sp>
      <p:sp>
        <p:nvSpPr>
          <p:cNvPr id="8" name="矩形 7"/>
          <p:cNvSpPr/>
          <p:nvPr/>
        </p:nvSpPr>
        <p:spPr>
          <a:xfrm>
            <a:off x="827066" y="5476197"/>
            <a:ext cx="7056784" cy="830997"/>
          </a:xfrm>
          <a:prstGeom prst="rect">
            <a:avLst/>
          </a:prstGeom>
        </p:spPr>
        <p:txBody>
          <a:bodyPr wrap="square">
            <a:spAutoFit/>
          </a:bodyPr>
          <a:lstStyle/>
          <a:p>
            <a:pPr lvl="0"/>
            <a:r>
              <a:rPr lang="zh-CN" altLang="en-US" sz="2000" dirty="0">
                <a:solidFill>
                  <a:srgbClr val="E2CE84"/>
                </a:solidFill>
                <a:latin typeface="微软雅黑" pitchFamily="34" charset="-122"/>
                <a:ea typeface="微软雅黑" pitchFamily="34" charset="-122"/>
              </a:rPr>
              <a:t> 凶险的伏笔：</a:t>
            </a:r>
            <a:r>
              <a:rPr lang="zh-CN" altLang="en-US" sz="2800" b="1" dirty="0">
                <a:solidFill>
                  <a:srgbClr val="E2CE84"/>
                </a:solidFill>
                <a:latin typeface="微软雅黑" pitchFamily="34" charset="-122"/>
                <a:ea typeface="微软雅黑" pitchFamily="34" charset="-122"/>
              </a:rPr>
              <a:t>“</a:t>
            </a:r>
            <a:r>
              <a:rPr lang="zh-CN" altLang="en-US" sz="2800" b="1" dirty="0">
                <a:solidFill>
                  <a:schemeClr val="bg1"/>
                </a:solidFill>
                <a:latin typeface="微软雅黑" pitchFamily="34" charset="-122"/>
                <a:ea typeface="微软雅黑" pitchFamily="34" charset="-122"/>
              </a:rPr>
              <a:t>欠收自负</a:t>
            </a:r>
            <a:r>
              <a:rPr lang="zh-CN" altLang="en-US" sz="2800" b="1" dirty="0">
                <a:solidFill>
                  <a:srgbClr val="E2CE84"/>
                </a:solidFill>
                <a:latin typeface="微软雅黑" pitchFamily="34" charset="-122"/>
                <a:ea typeface="微软雅黑" pitchFamily="34" charset="-122"/>
              </a:rPr>
              <a:t>”</a:t>
            </a:r>
            <a:endParaRPr lang="en-US" altLang="zh-CN" sz="2800" b="1" dirty="0">
              <a:solidFill>
                <a:srgbClr val="E2CE84"/>
              </a:solidFill>
              <a:latin typeface="微软雅黑" pitchFamily="34" charset="-122"/>
              <a:ea typeface="微软雅黑" pitchFamily="34" charset="-122"/>
            </a:endParaRPr>
          </a:p>
          <a:p>
            <a:pPr lvl="0"/>
            <a:r>
              <a:rPr lang="zh-CN" altLang="en-US" sz="2000" dirty="0">
                <a:solidFill>
                  <a:srgbClr val="E2CE84"/>
                </a:solidFill>
                <a:latin typeface="微软雅黑" pitchFamily="34" charset="-122"/>
                <a:ea typeface="微软雅黑" pitchFamily="34" charset="-122"/>
              </a:rPr>
              <a:t>当企业真正出现“欠收”时，它的体制和功能能否真正自负</a:t>
            </a:r>
            <a:r>
              <a:rPr lang="zh-CN" altLang="en-US" sz="2000" dirty="0" smtClean="0">
                <a:solidFill>
                  <a:srgbClr val="E2CE84"/>
                </a:solidFill>
                <a:latin typeface="微软雅黑" pitchFamily="34" charset="-122"/>
                <a:ea typeface="微软雅黑" pitchFamily="34" charset="-122"/>
              </a:rPr>
              <a:t>？</a:t>
            </a:r>
            <a:endParaRPr lang="zh-CN" altLang="en-US" sz="2000" dirty="0">
              <a:solidFill>
                <a:srgbClr val="E2CE84"/>
              </a:solidFill>
            </a:endParaRPr>
          </a:p>
        </p:txBody>
      </p:sp>
    </p:spTree>
    <p:extLst>
      <p:ext uri="{BB962C8B-B14F-4D97-AF65-F5344CB8AC3E}">
        <p14:creationId xmlns:p14="http://schemas.microsoft.com/office/powerpoint/2010/main" val="42677393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53518"/>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利改</a:t>
            </a:r>
            <a:endParaRPr lang="en-US" altLang="zh-CN" sz="5400" b="1" dirty="0" smtClean="0">
              <a:latin typeface="华文行楷" pitchFamily="2" charset="-122"/>
              <a:ea typeface="华文行楷" pitchFamily="2" charset="-122"/>
            </a:endParaRPr>
          </a:p>
          <a:p>
            <a:pPr algn="ctr"/>
            <a:r>
              <a:rPr lang="zh-CN" altLang="en-US" sz="5400" b="1" dirty="0">
                <a:latin typeface="华文行楷" pitchFamily="2" charset="-122"/>
                <a:ea typeface="华文行楷" pitchFamily="2" charset="-122"/>
              </a:rPr>
              <a:t>税</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8492" y="2270577"/>
            <a:ext cx="2488150" cy="1656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6" name="TextBox 5"/>
          <p:cNvSpPr txBox="1"/>
          <p:nvPr/>
        </p:nvSpPr>
        <p:spPr>
          <a:xfrm>
            <a:off x="3820650" y="2046327"/>
            <a:ext cx="4734272" cy="1785104"/>
          </a:xfrm>
          <a:prstGeom prst="rect">
            <a:avLst/>
          </a:prstGeom>
          <a:noFill/>
        </p:spPr>
        <p:txBody>
          <a:bodyPr wrap="square" rtlCol="0">
            <a:spAutoFit/>
          </a:bodyPr>
          <a:lstStyle/>
          <a:p>
            <a:r>
              <a:rPr lang="zh-CN" altLang="en-US" sz="2000" b="1" dirty="0" smtClean="0">
                <a:latin typeface="微软雅黑" pitchFamily="34" charset="-122"/>
                <a:ea typeface="微软雅黑" pitchFamily="34" charset="-122"/>
              </a:rPr>
              <a:t>“利改税”</a:t>
            </a:r>
            <a:r>
              <a:rPr lang="zh-CN" altLang="en-US" dirty="0" smtClean="0">
                <a:latin typeface="微软雅黑" pitchFamily="34" charset="-122"/>
                <a:ea typeface="微软雅黑" pitchFamily="34" charset="-122"/>
              </a:rPr>
              <a:t>是国营企业向现代公司治理制度改革的第一个重要措施。</a:t>
            </a:r>
            <a:endParaRPr lang="en-US" altLang="zh-CN" dirty="0" smtClean="0">
              <a:latin typeface="微软雅黑" pitchFamily="34" charset="-122"/>
              <a:ea typeface="微软雅黑" pitchFamily="34" charset="-122"/>
            </a:endParaRPr>
          </a:p>
          <a:p>
            <a:pPr marL="285750" indent="-285750">
              <a:buFont typeface="Wingdings" panose="05000000000000000000" pitchFamily="2" charset="2"/>
              <a:buChar char="Ø"/>
            </a:pPr>
            <a:r>
              <a:rPr lang="zh-CN" altLang="en-US" dirty="0" smtClean="0">
                <a:latin typeface="微软雅黑" pitchFamily="34" charset="-122"/>
                <a:ea typeface="微软雅黑" pitchFamily="34" charset="-122"/>
              </a:rPr>
              <a:t>税种单一，难以发挥税收调节经济的杠杆作用。</a:t>
            </a:r>
            <a:endParaRPr lang="en-US" altLang="zh-CN" dirty="0" smtClean="0">
              <a:latin typeface="微软雅黑" pitchFamily="34" charset="-122"/>
              <a:ea typeface="微软雅黑" pitchFamily="34" charset="-122"/>
            </a:endParaRPr>
          </a:p>
          <a:p>
            <a:pPr marL="285750" indent="-285750">
              <a:buFont typeface="Wingdings" panose="05000000000000000000" pitchFamily="2" charset="2"/>
              <a:buChar char="Ø"/>
            </a:pPr>
            <a:r>
              <a:rPr lang="zh-CN" altLang="en-US" dirty="0" smtClean="0">
                <a:latin typeface="微软雅黑" pitchFamily="34" charset="-122"/>
                <a:ea typeface="微软雅黑" pitchFamily="34" charset="-122"/>
              </a:rPr>
              <a:t>没有涉及企业出现风险和亏损时，责任的界定。</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8928607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568"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笼子</a:t>
            </a:r>
            <a:endParaRPr lang="en-US" altLang="zh-CN" sz="5400" b="1" dirty="0" smtClean="0">
              <a:latin typeface="华文行楷" pitchFamily="2" charset="-122"/>
              <a:ea typeface="华文行楷" pitchFamily="2" charset="-122"/>
            </a:endParaRPr>
          </a:p>
          <a:p>
            <a:r>
              <a:rPr lang="zh-CN" altLang="en-US" sz="5400" b="1" dirty="0" smtClean="0">
                <a:latin typeface="华文行楷" pitchFamily="2" charset="-122"/>
                <a:ea typeface="华文行楷" pitchFamily="2" charset="-122"/>
              </a:rPr>
              <a:t>与鸟</a:t>
            </a:r>
            <a:endParaRPr lang="zh-CN" altLang="en-US" sz="5400" b="1" dirty="0">
              <a:latin typeface="华文行楷" pitchFamily="2" charset="-122"/>
              <a:ea typeface="华文行楷" pitchFamily="2" charset="-122"/>
            </a:endParaRPr>
          </a:p>
        </p:txBody>
      </p:sp>
      <p:pic>
        <p:nvPicPr>
          <p:cNvPr id="5" name="图片 4"/>
          <p:cNvPicPr>
            <a:picLocks noChangeAspect="1"/>
          </p:cNvPicPr>
          <p:nvPr/>
        </p:nvPicPr>
        <p:blipFill rotWithShape="1">
          <a:blip r:embed="rId2" cstate="print">
            <a:extLst>
              <a:ext uri="{28A0092B-C50C-407E-A947-70E740481C1C}">
                <a14:useLocalDpi xmlns:a14="http://schemas.microsoft.com/office/drawing/2010/main" val="0"/>
              </a:ext>
            </a:extLst>
          </a:blip>
          <a:srcRect t="4731" b="6882"/>
          <a:stretch/>
        </p:blipFill>
        <p:spPr>
          <a:xfrm>
            <a:off x="5669868" y="2060848"/>
            <a:ext cx="2844629" cy="1980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6" name="TextBox 5"/>
          <p:cNvSpPr txBox="1"/>
          <p:nvPr/>
        </p:nvSpPr>
        <p:spPr>
          <a:xfrm>
            <a:off x="827584" y="5503264"/>
            <a:ext cx="7200801" cy="1077218"/>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中国可能选择的道路，各种事件必须流经的渠道，比我们能够轻易想象到的更窄。</a:t>
            </a:r>
            <a:endParaRPr lang="en-US" altLang="zh-CN" sz="2000" dirty="0">
              <a:solidFill>
                <a:srgbClr val="E2CE84"/>
              </a:solidFill>
              <a:latin typeface="微软雅黑" pitchFamily="34" charset="-122"/>
              <a:ea typeface="微软雅黑" pitchFamily="34" charset="-122"/>
            </a:endParaRPr>
          </a:p>
          <a:p>
            <a:r>
              <a:rPr lang="en-US" altLang="zh-CN" sz="2000" dirty="0">
                <a:solidFill>
                  <a:srgbClr val="E2CE84"/>
                </a:solidFill>
                <a:latin typeface="微软雅黑" pitchFamily="34" charset="-122"/>
                <a:ea typeface="微软雅黑" pitchFamily="34" charset="-122"/>
              </a:rPr>
              <a:t> </a:t>
            </a:r>
            <a:r>
              <a:rPr lang="en-US" altLang="zh-CN" sz="2000" dirty="0" smtClean="0">
                <a:solidFill>
                  <a:srgbClr val="E2CE84"/>
                </a:solidFill>
                <a:latin typeface="微软雅黑" pitchFamily="34" charset="-122"/>
                <a:ea typeface="微软雅黑" pitchFamily="34" charset="-122"/>
              </a:rPr>
              <a:t>                                                 ——</a:t>
            </a:r>
            <a:r>
              <a:rPr lang="zh-CN" altLang="en-US" sz="2400" b="1" dirty="0" smtClean="0">
                <a:solidFill>
                  <a:srgbClr val="E2CE84"/>
                </a:solidFill>
                <a:latin typeface="微软雅黑" pitchFamily="34" charset="-122"/>
                <a:ea typeface="微软雅黑" pitchFamily="34" charset="-122"/>
              </a:rPr>
              <a:t>费正清</a:t>
            </a:r>
            <a:r>
              <a:rPr lang="en-US" altLang="zh-CN" sz="2000" dirty="0" smtClean="0">
                <a:solidFill>
                  <a:srgbClr val="E2CE84"/>
                </a:solidFill>
                <a:latin typeface="微软雅黑" pitchFamily="34" charset="-122"/>
                <a:ea typeface="微软雅黑" pitchFamily="34" charset="-122"/>
              </a:rPr>
              <a:t>《</a:t>
            </a:r>
            <a:r>
              <a:rPr lang="zh-CN" altLang="en-US" sz="2000" dirty="0" smtClean="0">
                <a:solidFill>
                  <a:srgbClr val="E2CE84"/>
                </a:solidFill>
                <a:latin typeface="微软雅黑" pitchFamily="34" charset="-122"/>
                <a:ea typeface="微软雅黑" pitchFamily="34" charset="-122"/>
              </a:rPr>
              <a:t>美国与中国</a:t>
            </a:r>
            <a:r>
              <a:rPr lang="en-US" altLang="zh-CN" sz="2000" dirty="0" smtClean="0">
                <a:solidFill>
                  <a:srgbClr val="E2CE84"/>
                </a:solidFill>
                <a:latin typeface="微软雅黑" pitchFamily="34" charset="-122"/>
                <a:ea typeface="微软雅黑" pitchFamily="34" charset="-122"/>
              </a:rPr>
              <a:t>》</a:t>
            </a:r>
            <a:endParaRPr lang="zh-CN" altLang="en-US" sz="2000" dirty="0">
              <a:solidFill>
                <a:srgbClr val="E2CE84"/>
              </a:solidFill>
              <a:latin typeface="微软雅黑" pitchFamily="34" charset="-122"/>
              <a:ea typeface="微软雅黑" pitchFamily="34" charset="-122"/>
            </a:endParaRPr>
          </a:p>
        </p:txBody>
      </p:sp>
      <p:sp>
        <p:nvSpPr>
          <p:cNvPr id="8" name="TextBox 7"/>
          <p:cNvSpPr txBox="1"/>
          <p:nvPr/>
        </p:nvSpPr>
        <p:spPr>
          <a:xfrm>
            <a:off x="827584" y="2060848"/>
            <a:ext cx="4536504" cy="2492990"/>
          </a:xfrm>
          <a:prstGeom prst="rect">
            <a:avLst/>
          </a:prstGeom>
          <a:noFill/>
        </p:spPr>
        <p:txBody>
          <a:bodyPr wrap="square" rtlCol="0">
            <a:spAutoFit/>
          </a:bodyPr>
          <a:lstStyle/>
          <a:p>
            <a:pPr algn="ctr"/>
            <a:r>
              <a:rPr lang="zh-CN" altLang="en-US" sz="2800" b="1" dirty="0" smtClean="0">
                <a:latin typeface="微软雅黑" pitchFamily="34" charset="-122"/>
                <a:ea typeface="微软雅黑" pitchFamily="34" charset="-122"/>
              </a:rPr>
              <a:t>摸着石头过河</a:t>
            </a:r>
            <a:endParaRPr lang="en-US" altLang="zh-CN" sz="2800" dirty="0">
              <a:latin typeface="微软雅黑" pitchFamily="34" charset="-122"/>
              <a:ea typeface="微软雅黑" pitchFamily="34" charset="-122"/>
            </a:endParaRPr>
          </a:p>
          <a:p>
            <a:r>
              <a:rPr lang="zh-CN" altLang="en-US" sz="2000" dirty="0" smtClean="0">
                <a:latin typeface="微软雅黑" pitchFamily="34" charset="-122"/>
                <a:ea typeface="微软雅黑" pitchFamily="34" charset="-122"/>
              </a:rPr>
              <a:t>整个</a:t>
            </a:r>
            <a:r>
              <a:rPr lang="en-US" altLang="zh-CN" sz="2000" dirty="0" smtClean="0">
                <a:latin typeface="微软雅黑" pitchFamily="34" charset="-122"/>
                <a:ea typeface="微软雅黑" pitchFamily="34" charset="-122"/>
              </a:rPr>
              <a:t>80</a:t>
            </a:r>
            <a:r>
              <a:rPr lang="zh-CN" altLang="en-US" sz="2000" dirty="0" smtClean="0">
                <a:latin typeface="微软雅黑" pitchFamily="34" charset="-122"/>
                <a:ea typeface="微软雅黑" pitchFamily="34" charset="-122"/>
              </a:rPr>
              <a:t>年代，国有企业的改革成为一场“</a:t>
            </a:r>
            <a:r>
              <a:rPr lang="zh-CN" altLang="en-US" sz="2400" b="1" dirty="0" smtClean="0">
                <a:latin typeface="微软雅黑" pitchFamily="34" charset="-122"/>
                <a:ea typeface="微软雅黑" pitchFamily="34" charset="-122"/>
              </a:rPr>
              <a:t>笼子里的变革</a:t>
            </a:r>
            <a:r>
              <a:rPr lang="en-US" altLang="zh-CN"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。而当务之急，是整治那些不听指挥，无法控制的“</a:t>
            </a:r>
            <a:r>
              <a:rPr lang="zh-CN" altLang="en-US" sz="2400" b="1" dirty="0" smtClean="0">
                <a:latin typeface="微软雅黑" pitchFamily="34" charset="-122"/>
                <a:ea typeface="微软雅黑" pitchFamily="34" charset="-122"/>
              </a:rPr>
              <a:t>笼子外的鸟</a:t>
            </a:r>
            <a:r>
              <a:rPr lang="zh-CN" altLang="en-US" sz="2000" dirty="0" smtClean="0">
                <a:latin typeface="微软雅黑" pitchFamily="34" charset="-122"/>
                <a:ea typeface="微软雅黑" pitchFamily="34" charset="-122"/>
              </a:rPr>
              <a:t>”，正式它们影响了整个经济局势。</a:t>
            </a:r>
            <a:endParaRPr lang="en-US" altLang="zh-CN" sz="2000" dirty="0" smtClean="0">
              <a:latin typeface="微软雅黑" pitchFamily="34" charset="-122"/>
              <a:ea typeface="微软雅黑" pitchFamily="34" charset="-122"/>
            </a:endParaRPr>
          </a:p>
          <a:p>
            <a:endParaRPr lang="en-US" altLang="zh-CN" sz="2000" dirty="0" smtClean="0">
              <a:latin typeface="微软雅黑" pitchFamily="34" charset="-122"/>
              <a:ea typeface="微软雅黑" pitchFamily="34" charset="-122"/>
            </a:endParaRPr>
          </a:p>
        </p:txBody>
      </p:sp>
      <p:sp>
        <p:nvSpPr>
          <p:cNvPr id="10" name="矩形 9"/>
          <p:cNvSpPr/>
          <p:nvPr/>
        </p:nvSpPr>
        <p:spPr>
          <a:xfrm>
            <a:off x="2195736" y="-27384"/>
            <a:ext cx="694826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11" name="矩形 10"/>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454881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23728" y="-27384"/>
            <a:ext cx="7020272"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24306" y="-12868"/>
            <a:ext cx="2128970" cy="1569660"/>
          </a:xfrm>
          <a:prstGeom prst="rect">
            <a:avLst/>
          </a:prstGeom>
          <a:noFill/>
        </p:spPr>
        <p:txBody>
          <a:bodyPr wrap="square" rtlCol="0">
            <a:spAutoFit/>
          </a:bodyPr>
          <a:lstStyle/>
          <a:p>
            <a:r>
              <a:rPr lang="zh-CN" altLang="en-US" sz="4800" b="1" dirty="0" smtClean="0">
                <a:latin typeface="华文行楷" pitchFamily="2" charset="-122"/>
                <a:ea typeface="华文行楷" pitchFamily="2" charset="-122"/>
              </a:rPr>
              <a:t>改革</a:t>
            </a:r>
            <a:endParaRPr lang="en-US" altLang="zh-CN" sz="4800" b="1" dirty="0" smtClean="0">
              <a:latin typeface="华文行楷" pitchFamily="2" charset="-122"/>
              <a:ea typeface="华文行楷" pitchFamily="2" charset="-122"/>
            </a:endParaRPr>
          </a:p>
          <a:p>
            <a:r>
              <a:rPr lang="zh-CN" altLang="en-US" sz="4800" b="1" dirty="0" smtClean="0">
                <a:latin typeface="华文行楷" pitchFamily="2" charset="-122"/>
                <a:ea typeface="华文行楷" pitchFamily="2" charset="-122"/>
              </a:rPr>
              <a:t>典型</a:t>
            </a:r>
            <a:endParaRPr lang="en-US" altLang="zh-CN" sz="4800" b="1" dirty="0" smtClean="0">
              <a:latin typeface="华文行楷" pitchFamily="2" charset="-122"/>
              <a:ea typeface="华文行楷" pitchFamily="2" charset="-122"/>
            </a:endParaRPr>
          </a:p>
        </p:txBody>
      </p:sp>
      <p:pic>
        <p:nvPicPr>
          <p:cNvPr id="5" name="图片 4"/>
          <p:cNvPicPr>
            <a:picLocks noChangeAspect="1"/>
          </p:cNvPicPr>
          <p:nvPr/>
        </p:nvPicPr>
        <p:blipFill rotWithShape="1">
          <a:blip r:embed="rId2" cstate="print">
            <a:extLst>
              <a:ext uri="{28A0092B-C50C-407E-A947-70E740481C1C}">
                <a14:useLocalDpi xmlns:a14="http://schemas.microsoft.com/office/drawing/2010/main" val="0"/>
              </a:ext>
            </a:extLst>
          </a:blip>
          <a:srcRect b="16349"/>
          <a:stretch/>
        </p:blipFill>
        <p:spPr>
          <a:xfrm>
            <a:off x="5963605" y="2632486"/>
            <a:ext cx="1662461" cy="1980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19672" y="2664314"/>
            <a:ext cx="1488715" cy="1980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7" name="矩形 6"/>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5190587" y="1889883"/>
            <a:ext cx="3662940"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全国</a:t>
            </a:r>
            <a:r>
              <a:rPr lang="zh-CN" altLang="en-US" b="1" dirty="0" smtClean="0">
                <a:latin typeface="微软雅黑" pitchFamily="34" charset="-122"/>
                <a:ea typeface="微软雅黑" pitchFamily="34" charset="-122"/>
              </a:rPr>
              <a:t>承包</a:t>
            </a:r>
            <a:r>
              <a:rPr lang="zh-CN" altLang="en-US" dirty="0" smtClean="0">
                <a:latin typeface="微软雅黑" pitchFamily="34" charset="-122"/>
                <a:ea typeface="微软雅黑" pitchFamily="34" charset="-122"/>
              </a:rPr>
              <a:t>第一人    ：马胜利</a:t>
            </a:r>
            <a:endParaRPr lang="zh-CN" altLang="en-US" dirty="0">
              <a:latin typeface="微软雅黑" pitchFamily="34" charset="-122"/>
              <a:ea typeface="微软雅黑" pitchFamily="34" charset="-122"/>
            </a:endParaRPr>
          </a:p>
        </p:txBody>
      </p:sp>
      <p:sp>
        <p:nvSpPr>
          <p:cNvPr id="2" name="矩形 1"/>
          <p:cNvSpPr/>
          <p:nvPr/>
        </p:nvSpPr>
        <p:spPr>
          <a:xfrm>
            <a:off x="988343" y="5386917"/>
            <a:ext cx="3063753" cy="1200329"/>
          </a:xfrm>
          <a:prstGeom prst="rect">
            <a:avLst/>
          </a:prstGeom>
        </p:spPr>
        <p:txBody>
          <a:bodyPr wrap="square">
            <a:spAutoFit/>
          </a:bodyPr>
          <a:lstStyle/>
          <a:p>
            <a:r>
              <a:rPr lang="zh-CN" altLang="en-US" b="1" dirty="0">
                <a:solidFill>
                  <a:schemeClr val="bg1"/>
                </a:solidFill>
                <a:latin typeface="微软雅黑" pitchFamily="34" charset="-122"/>
                <a:ea typeface="微软雅黑" pitchFamily="34" charset="-122"/>
              </a:rPr>
              <a:t>步鑫生</a:t>
            </a:r>
            <a:r>
              <a:rPr lang="zh-CN" altLang="en-US" dirty="0">
                <a:solidFill>
                  <a:srgbClr val="E2CE84"/>
                </a:solidFill>
                <a:latin typeface="微软雅黑" pitchFamily="34" charset="-122"/>
                <a:ea typeface="微软雅黑" pitchFamily="34" charset="-122"/>
              </a:rPr>
              <a:t>（</a:t>
            </a:r>
            <a:r>
              <a:rPr lang="en-US" altLang="zh-CN" dirty="0">
                <a:solidFill>
                  <a:srgbClr val="E2CE84"/>
                </a:solidFill>
                <a:latin typeface="微软雅黑" pitchFamily="34" charset="-122"/>
                <a:ea typeface="微软雅黑" pitchFamily="34" charset="-122"/>
              </a:rPr>
              <a:t>1983</a:t>
            </a:r>
            <a:r>
              <a:rPr lang="zh-CN" altLang="en-US" dirty="0">
                <a:solidFill>
                  <a:srgbClr val="E2CE84"/>
                </a:solidFill>
                <a:latin typeface="微软雅黑" pitchFamily="34" charset="-122"/>
                <a:ea typeface="微软雅黑" pitchFamily="34" charset="-122"/>
              </a:rPr>
              <a:t>）</a:t>
            </a:r>
            <a:r>
              <a:rPr lang="zh-CN" altLang="en-US" dirty="0" smtClean="0">
                <a:solidFill>
                  <a:srgbClr val="E2CE84"/>
                </a:solidFill>
                <a:latin typeface="微软雅黑" pitchFamily="34" charset="-122"/>
                <a:ea typeface="微软雅黑" pitchFamily="34" charset="-122"/>
              </a:rPr>
              <a:t>打破国企铁饭碗</a:t>
            </a:r>
            <a:r>
              <a:rPr lang="zh-CN" altLang="en-US" dirty="0">
                <a:solidFill>
                  <a:srgbClr val="E2CE84"/>
                </a:solidFill>
                <a:latin typeface="微软雅黑" pitchFamily="34" charset="-122"/>
                <a:ea typeface="微软雅黑" pitchFamily="34" charset="-122"/>
              </a:rPr>
              <a:t>，被选为全国典型，</a:t>
            </a:r>
            <a:r>
              <a:rPr lang="zh-CN" altLang="en-US" dirty="0" smtClean="0">
                <a:solidFill>
                  <a:srgbClr val="E2CE84"/>
                </a:solidFill>
                <a:latin typeface="微软雅黑" pitchFamily="34" charset="-122"/>
                <a:ea typeface="微软雅黑" pitchFamily="34" charset="-122"/>
              </a:rPr>
              <a:t>且</a:t>
            </a:r>
            <a:r>
              <a:rPr lang="zh-CN" altLang="en-US" dirty="0">
                <a:solidFill>
                  <a:srgbClr val="E2CE84"/>
                </a:solidFill>
                <a:latin typeface="微软雅黑" pitchFamily="34" charset="-122"/>
                <a:ea typeface="微软雅黑" pitchFamily="34" charset="-122"/>
              </a:rPr>
              <a:t>给</a:t>
            </a:r>
            <a:r>
              <a:rPr lang="zh-CN" altLang="en-US" dirty="0" smtClean="0">
                <a:solidFill>
                  <a:srgbClr val="E2CE84"/>
                </a:solidFill>
                <a:latin typeface="微软雅黑" pitchFamily="34" charset="-122"/>
                <a:ea typeface="微软雅黑" pitchFamily="34" charset="-122"/>
              </a:rPr>
              <a:t>当时</a:t>
            </a:r>
            <a:r>
              <a:rPr lang="zh-CN" altLang="en-US" dirty="0">
                <a:solidFill>
                  <a:srgbClr val="E2CE84"/>
                </a:solidFill>
                <a:latin typeface="微软雅黑" pitchFamily="34" charset="-122"/>
                <a:ea typeface="微软雅黑" pitchFamily="34" charset="-122"/>
              </a:rPr>
              <a:t>创业的</a:t>
            </a:r>
            <a:r>
              <a:rPr lang="zh-CN" altLang="en-US" dirty="0" smtClean="0">
                <a:solidFill>
                  <a:srgbClr val="E2CE84"/>
                </a:solidFill>
                <a:latin typeface="微软雅黑" pitchFamily="34" charset="-122"/>
                <a:ea typeface="微软雅黑" pitchFamily="34" charset="-122"/>
              </a:rPr>
              <a:t>人们带来市场化的洗礼。</a:t>
            </a:r>
            <a:endParaRPr lang="zh-CN" altLang="en-US" dirty="0">
              <a:solidFill>
                <a:srgbClr val="E2CE84"/>
              </a:solidFill>
            </a:endParaRPr>
          </a:p>
        </p:txBody>
      </p:sp>
      <p:sp>
        <p:nvSpPr>
          <p:cNvPr id="13" name="矩形 12"/>
          <p:cNvSpPr/>
          <p:nvPr/>
        </p:nvSpPr>
        <p:spPr>
          <a:xfrm>
            <a:off x="5554796" y="5386917"/>
            <a:ext cx="2761620" cy="1200329"/>
          </a:xfrm>
          <a:prstGeom prst="rect">
            <a:avLst/>
          </a:prstGeom>
        </p:spPr>
        <p:txBody>
          <a:bodyPr wrap="square">
            <a:spAutoFit/>
          </a:bodyPr>
          <a:lstStyle/>
          <a:p>
            <a:pPr lvl="0"/>
            <a:r>
              <a:rPr lang="zh-CN" altLang="en-US" b="1" dirty="0">
                <a:solidFill>
                  <a:schemeClr val="bg1"/>
                </a:solidFill>
                <a:latin typeface="微软雅黑" pitchFamily="34" charset="-122"/>
                <a:ea typeface="微软雅黑" pitchFamily="34" charset="-122"/>
              </a:rPr>
              <a:t>马胜利</a:t>
            </a:r>
            <a:r>
              <a:rPr lang="zh-CN" altLang="en-US" dirty="0">
                <a:solidFill>
                  <a:srgbClr val="E2CE84"/>
                </a:solidFill>
                <a:latin typeface="微软雅黑" pitchFamily="34" charset="-122"/>
                <a:ea typeface="微软雅黑" pitchFamily="34" charset="-122"/>
              </a:rPr>
              <a:t>（</a:t>
            </a:r>
            <a:r>
              <a:rPr lang="en-US" altLang="zh-CN" dirty="0">
                <a:solidFill>
                  <a:srgbClr val="E2CE84"/>
                </a:solidFill>
                <a:latin typeface="微软雅黑" pitchFamily="34" charset="-122"/>
                <a:ea typeface="微软雅黑" pitchFamily="34" charset="-122"/>
              </a:rPr>
              <a:t>1987</a:t>
            </a:r>
            <a:r>
              <a:rPr lang="zh-CN" altLang="en-US" dirty="0">
                <a:solidFill>
                  <a:srgbClr val="E2CE84"/>
                </a:solidFill>
                <a:latin typeface="微软雅黑" pitchFamily="34" charset="-122"/>
                <a:ea typeface="微软雅黑" pitchFamily="34" charset="-122"/>
              </a:rPr>
              <a:t>），成为国企“一包就灵”的传奇人物，自然也成为改革典型。</a:t>
            </a:r>
          </a:p>
        </p:txBody>
      </p:sp>
      <p:sp>
        <p:nvSpPr>
          <p:cNvPr id="14" name="矩形 13"/>
          <p:cNvSpPr/>
          <p:nvPr/>
        </p:nvSpPr>
        <p:spPr>
          <a:xfrm>
            <a:off x="988343" y="1889883"/>
            <a:ext cx="2954655" cy="369332"/>
          </a:xfrm>
          <a:prstGeom prst="rect">
            <a:avLst/>
          </a:prstGeom>
        </p:spPr>
        <p:txBody>
          <a:bodyPr wrap="none">
            <a:spAutoFit/>
          </a:bodyPr>
          <a:lstStyle/>
          <a:p>
            <a:pPr lvl="0"/>
            <a:r>
              <a:rPr lang="zh-CN" altLang="en-US" dirty="0">
                <a:solidFill>
                  <a:prstClr val="black"/>
                </a:solidFill>
                <a:latin typeface="微软雅黑" pitchFamily="34" charset="-122"/>
                <a:ea typeface="微软雅黑" pitchFamily="34" charset="-122"/>
              </a:rPr>
              <a:t>改革全国典型人物：步鑫生</a:t>
            </a:r>
            <a:endParaRPr lang="en-US" altLang="zh-CN" dirty="0">
              <a:solidFill>
                <a:prstClr val="black"/>
              </a:solidFill>
              <a:latin typeface="微软雅黑" pitchFamily="34" charset="-122"/>
              <a:ea typeface="微软雅黑" pitchFamily="34" charset="-122"/>
            </a:endParaRPr>
          </a:p>
        </p:txBody>
      </p:sp>
      <p:sp>
        <p:nvSpPr>
          <p:cNvPr id="15" name="矩形 14"/>
          <p:cNvSpPr/>
          <p:nvPr/>
        </p:nvSpPr>
        <p:spPr>
          <a:xfrm>
            <a:off x="4355976" y="1484784"/>
            <a:ext cx="360040" cy="3699791"/>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355976" y="5184575"/>
            <a:ext cx="360040" cy="1700809"/>
          </a:xfrm>
          <a:prstGeom prst="rect">
            <a:avLst/>
          </a:prstGeom>
          <a:solidFill>
            <a:srgbClr val="E2CE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202324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承包弊端</a:t>
            </a:r>
            <a:endParaRPr lang="zh-CN" altLang="en-US" sz="5400" b="1" dirty="0">
              <a:latin typeface="华文行楷" pitchFamily="2" charset="-122"/>
              <a:ea typeface="华文行楷" pitchFamily="2"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9149" y="2505828"/>
            <a:ext cx="2488150" cy="1656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6" name="TextBox 5"/>
          <p:cNvSpPr txBox="1"/>
          <p:nvPr/>
        </p:nvSpPr>
        <p:spPr>
          <a:xfrm>
            <a:off x="3820650" y="2046327"/>
            <a:ext cx="4734272" cy="2246769"/>
          </a:xfrm>
          <a:prstGeom prst="rect">
            <a:avLst/>
          </a:prstGeom>
          <a:noFill/>
        </p:spPr>
        <p:txBody>
          <a:bodyPr wrap="square" rtlCol="0">
            <a:spAutoFit/>
          </a:bodyPr>
          <a:lstStyle/>
          <a:p>
            <a:pPr marL="285750" indent="-285750">
              <a:buFont typeface="Wingdings" panose="05000000000000000000" pitchFamily="2" charset="2"/>
              <a:buChar char="Ø"/>
            </a:pPr>
            <a:endParaRPr lang="en-US" altLang="zh-CN" sz="2000" dirty="0" smtClean="0">
              <a:latin typeface="微软雅黑" pitchFamily="34" charset="-122"/>
              <a:ea typeface="微软雅黑" pitchFamily="34" charset="-122"/>
            </a:endParaRPr>
          </a:p>
          <a:p>
            <a:pPr marL="285750" indent="-285750">
              <a:buFont typeface="Wingdings" panose="05000000000000000000" pitchFamily="2" charset="2"/>
              <a:buChar char="Ø"/>
            </a:pPr>
            <a:r>
              <a:rPr lang="zh-CN" altLang="en-US" sz="2000" dirty="0" smtClean="0">
                <a:latin typeface="微软雅黑" pitchFamily="34" charset="-122"/>
                <a:ea typeface="微软雅黑" pitchFamily="34" charset="-122"/>
              </a:rPr>
              <a:t>企业不顾后果的使用固定资产；</a:t>
            </a:r>
            <a:endParaRPr lang="en-US" altLang="zh-CN" sz="2000" dirty="0">
              <a:latin typeface="微软雅黑" pitchFamily="34" charset="-122"/>
              <a:ea typeface="微软雅黑" pitchFamily="34" charset="-122"/>
            </a:endParaRPr>
          </a:p>
          <a:p>
            <a:pPr marL="285750" indent="-285750">
              <a:buFont typeface="Wingdings" panose="05000000000000000000" pitchFamily="2" charset="2"/>
              <a:buChar char="Ø"/>
            </a:pPr>
            <a:r>
              <a:rPr lang="zh-CN" altLang="en-US" sz="2000" dirty="0" smtClean="0">
                <a:latin typeface="微软雅黑" pitchFamily="34" charset="-122"/>
                <a:ea typeface="微软雅黑" pitchFamily="34" charset="-122"/>
              </a:rPr>
              <a:t>公共资源一下子涌入了承包的潮流；</a:t>
            </a:r>
            <a:endParaRPr lang="en-US" altLang="zh-CN" sz="2000" dirty="0" smtClean="0">
              <a:latin typeface="微软雅黑" pitchFamily="34" charset="-122"/>
              <a:ea typeface="微软雅黑" pitchFamily="34" charset="-122"/>
            </a:endParaRPr>
          </a:p>
          <a:p>
            <a:pPr marL="285750" indent="-285750">
              <a:buFont typeface="Wingdings" panose="05000000000000000000" pitchFamily="2" charset="2"/>
              <a:buChar char="Ø"/>
            </a:pPr>
            <a:r>
              <a:rPr lang="zh-CN" altLang="en-US" sz="2000" dirty="0">
                <a:latin typeface="微软雅黑" pitchFamily="34" charset="-122"/>
                <a:ea typeface="微软雅黑" pitchFamily="34" charset="-122"/>
              </a:rPr>
              <a:t>关系</a:t>
            </a:r>
            <a:r>
              <a:rPr lang="zh-CN" altLang="en-US" sz="2000" dirty="0" smtClean="0">
                <a:latin typeface="微软雅黑" pitchFamily="34" charset="-122"/>
                <a:ea typeface="微软雅黑" pitchFamily="34" charset="-122"/>
              </a:rPr>
              <a:t>人经济代替了公开招标制；</a:t>
            </a:r>
            <a:endParaRPr lang="en-US" altLang="zh-CN" sz="2000" dirty="0" smtClean="0">
              <a:latin typeface="微软雅黑" pitchFamily="34" charset="-122"/>
              <a:ea typeface="微软雅黑" pitchFamily="34" charset="-122"/>
            </a:endParaRPr>
          </a:p>
          <a:p>
            <a:pPr marL="285750" indent="-285750">
              <a:buFont typeface="Wingdings" panose="05000000000000000000" pitchFamily="2" charset="2"/>
              <a:buChar char="Ø"/>
            </a:pPr>
            <a:r>
              <a:rPr lang="zh-CN" altLang="en-US" sz="2000" dirty="0" smtClean="0">
                <a:latin typeface="微软雅黑" pitchFamily="34" charset="-122"/>
                <a:ea typeface="微软雅黑" pitchFamily="34" charset="-122"/>
              </a:rPr>
              <a:t>无法解决国家既是资产拥有者又是宏观管理者的双重矛盾，极可能造成利益冲突和不公平竞争。</a:t>
            </a:r>
            <a:endParaRPr lang="zh-CN" altLang="en-US" sz="2000" dirty="0">
              <a:latin typeface="微软雅黑" pitchFamily="34" charset="-122"/>
              <a:ea typeface="微软雅黑" pitchFamily="34" charset="-122"/>
            </a:endParaRPr>
          </a:p>
        </p:txBody>
      </p:sp>
      <p:sp>
        <p:nvSpPr>
          <p:cNvPr id="7" name="TextBox 6"/>
          <p:cNvSpPr txBox="1"/>
          <p:nvPr/>
        </p:nvSpPr>
        <p:spPr>
          <a:xfrm>
            <a:off x="971600" y="5445224"/>
            <a:ext cx="7200800" cy="1138773"/>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中国改革史上</a:t>
            </a:r>
            <a:r>
              <a:rPr lang="zh-CN" altLang="en-US" sz="2400" dirty="0" smtClean="0">
                <a:solidFill>
                  <a:schemeClr val="bg1"/>
                </a:solidFill>
                <a:latin typeface="微软雅黑" pitchFamily="34" charset="-122"/>
                <a:ea typeface="微软雅黑" pitchFamily="34" charset="-122"/>
              </a:rPr>
              <a:t>第一个家电业</a:t>
            </a:r>
            <a:r>
              <a:rPr lang="zh-CN" altLang="en-US" sz="2000" dirty="0" smtClean="0">
                <a:solidFill>
                  <a:schemeClr val="bg1"/>
                </a:solidFill>
                <a:latin typeface="微软雅黑" pitchFamily="34" charset="-122"/>
                <a:ea typeface="微软雅黑" pitchFamily="34" charset="-122"/>
              </a:rPr>
              <a:t>巨头</a:t>
            </a:r>
            <a:r>
              <a:rPr lang="zh-CN" altLang="en-US" sz="2000" dirty="0" smtClean="0">
                <a:solidFill>
                  <a:srgbClr val="E2CE84"/>
                </a:solidFill>
                <a:latin typeface="微软雅黑" pitchFamily="34" charset="-122"/>
                <a:ea typeface="微软雅黑" pitchFamily="34" charset="-122"/>
              </a:rPr>
              <a:t>，</a:t>
            </a:r>
            <a:r>
              <a:rPr lang="zh-CN" altLang="en-US" sz="2400" dirty="0" smtClean="0">
                <a:solidFill>
                  <a:schemeClr val="bg1"/>
                </a:solidFill>
                <a:latin typeface="微软雅黑" pitchFamily="34" charset="-122"/>
                <a:ea typeface="微软雅黑" pitchFamily="34" charset="-122"/>
              </a:rPr>
              <a:t>万宝电器</a:t>
            </a:r>
            <a:r>
              <a:rPr lang="zh-CN" altLang="en-US" sz="2000" dirty="0" smtClean="0">
                <a:solidFill>
                  <a:srgbClr val="E2CE84"/>
                </a:solidFill>
                <a:latin typeface="微软雅黑" pitchFamily="34" charset="-122"/>
                <a:ea typeface="微软雅黑" pitchFamily="34" charset="-122"/>
              </a:rPr>
              <a:t>（</a:t>
            </a:r>
            <a:r>
              <a:rPr lang="zh-CN" altLang="en-US" sz="2000" b="1" dirty="0" smtClean="0">
                <a:solidFill>
                  <a:srgbClr val="E2CE84"/>
                </a:solidFill>
                <a:latin typeface="微软雅黑" pitchFamily="34" charset="-122"/>
                <a:ea typeface="微软雅黑" pitchFamily="34" charset="-122"/>
              </a:rPr>
              <a:t>邓韶深</a:t>
            </a:r>
            <a:r>
              <a:rPr lang="zh-CN" altLang="en-US" sz="2000" dirty="0" smtClean="0">
                <a:solidFill>
                  <a:srgbClr val="E2CE84"/>
                </a:solidFill>
                <a:latin typeface="微软雅黑" pitchFamily="34" charset="-122"/>
                <a:ea typeface="微软雅黑" pitchFamily="34" charset="-122"/>
              </a:rPr>
              <a:t>），就是承包制弊端的</a:t>
            </a:r>
            <a:r>
              <a:rPr lang="zh-CN" altLang="en-US" sz="2400" dirty="0" smtClean="0">
                <a:solidFill>
                  <a:schemeClr val="bg1"/>
                </a:solidFill>
                <a:latin typeface="微软雅黑" pitchFamily="34" charset="-122"/>
                <a:ea typeface="微软雅黑" pitchFamily="34" charset="-122"/>
              </a:rPr>
              <a:t>第一个著名牺牲者</a:t>
            </a:r>
            <a:r>
              <a:rPr lang="zh-CN" altLang="en-US" sz="2000" dirty="0" smtClean="0">
                <a:solidFill>
                  <a:srgbClr val="E2CE84"/>
                </a:solidFill>
                <a:latin typeface="微软雅黑" pitchFamily="34" charset="-122"/>
                <a:ea typeface="微软雅黑" pitchFamily="34" charset="-122"/>
              </a:rPr>
              <a:t>。涉及产权，会有更多的悲喜大剧，连番上演。</a:t>
            </a:r>
            <a:endParaRPr lang="zh-CN" altLang="en-US" sz="2000" dirty="0">
              <a:solidFill>
                <a:srgbClr val="E2CE84"/>
              </a:solidFill>
              <a:latin typeface="微软雅黑" pitchFamily="34" charset="-122"/>
              <a:ea typeface="微软雅黑" pitchFamily="34" charset="-122"/>
            </a:endParaRPr>
          </a:p>
        </p:txBody>
      </p:sp>
    </p:spTree>
    <p:extLst>
      <p:ext uri="{BB962C8B-B14F-4D97-AF65-F5344CB8AC3E}">
        <p14:creationId xmlns:p14="http://schemas.microsoft.com/office/powerpoint/2010/main" val="56325562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a:latin typeface="华文行楷" pitchFamily="2" charset="-122"/>
                <a:ea typeface="华文行楷" pitchFamily="2" charset="-122"/>
              </a:rPr>
              <a:t>价格</a:t>
            </a:r>
            <a:r>
              <a:rPr lang="zh-CN" altLang="en-US" sz="5400" b="1" dirty="0" smtClean="0">
                <a:latin typeface="华文行楷" pitchFamily="2" charset="-122"/>
                <a:ea typeface="华文行楷" pitchFamily="2" charset="-122"/>
              </a:rPr>
              <a:t>双轨</a:t>
            </a:r>
            <a:endParaRPr lang="zh-CN" altLang="en-US" sz="5400" b="1" dirty="0">
              <a:latin typeface="华文行楷" pitchFamily="2" charset="-122"/>
              <a:ea typeface="华文行楷" pitchFamily="2"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93953" y="2134829"/>
            <a:ext cx="1594471" cy="2088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6" name="TextBox 5"/>
          <p:cNvSpPr txBox="1"/>
          <p:nvPr/>
        </p:nvSpPr>
        <p:spPr>
          <a:xfrm>
            <a:off x="6588224" y="4388265"/>
            <a:ext cx="2376264" cy="646331"/>
          </a:xfrm>
          <a:prstGeom prst="rect">
            <a:avLst/>
          </a:prstGeom>
          <a:noFill/>
        </p:spPr>
        <p:txBody>
          <a:bodyPr wrap="square" rtlCol="0">
            <a:spAutoFit/>
          </a:bodyPr>
          <a:lstStyle/>
          <a:p>
            <a:pPr algn="ctr"/>
            <a:r>
              <a:rPr lang="zh-CN" altLang="en-US" dirty="0" smtClean="0">
                <a:latin typeface="微软雅黑" pitchFamily="34" charset="-122"/>
                <a:ea typeface="微软雅黑" pitchFamily="34" charset="-122"/>
              </a:rPr>
              <a:t>宦乡</a:t>
            </a:r>
            <a:endParaRPr lang="en-US" altLang="zh-CN" dirty="0">
              <a:latin typeface="微软雅黑" pitchFamily="34" charset="-122"/>
              <a:ea typeface="微软雅黑" pitchFamily="34" charset="-122"/>
            </a:endParaRPr>
          </a:p>
          <a:p>
            <a:pPr algn="ctr"/>
            <a:r>
              <a:rPr lang="zh-CN" altLang="en-US" dirty="0" smtClean="0">
                <a:latin typeface="微软雅黑" pitchFamily="34" charset="-122"/>
                <a:ea typeface="微软雅黑" pitchFamily="34" charset="-122"/>
              </a:rPr>
              <a:t>价格双轨制提出者</a:t>
            </a:r>
            <a:endParaRPr lang="zh-CN" altLang="en-US" dirty="0">
              <a:latin typeface="微软雅黑" pitchFamily="34" charset="-122"/>
              <a:ea typeface="微软雅黑" pitchFamily="34" charset="-122"/>
            </a:endParaRPr>
          </a:p>
        </p:txBody>
      </p:sp>
      <p:sp>
        <p:nvSpPr>
          <p:cNvPr id="7" name="TextBox 6"/>
          <p:cNvSpPr txBox="1"/>
          <p:nvPr/>
        </p:nvSpPr>
        <p:spPr>
          <a:xfrm>
            <a:off x="413792" y="2090139"/>
            <a:ext cx="6174432" cy="2339102"/>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       1985</a:t>
            </a:r>
            <a:r>
              <a:rPr lang="zh-CN" altLang="en-US" dirty="0" smtClean="0">
                <a:latin typeface="微软雅黑" pitchFamily="34" charset="-122"/>
                <a:ea typeface="微软雅黑" pitchFamily="34" charset="-122"/>
              </a:rPr>
              <a:t>年初，国家宣布取消对企业计划外自销产品价格的限制，宣告生产资料的“</a:t>
            </a:r>
            <a:r>
              <a:rPr lang="zh-CN" altLang="en-US" sz="2000" b="1" dirty="0" smtClean="0">
                <a:latin typeface="微软雅黑" pitchFamily="34" charset="-122"/>
                <a:ea typeface="微软雅黑" pitchFamily="34" charset="-122"/>
              </a:rPr>
              <a:t>价格双轨制</a:t>
            </a:r>
            <a:r>
              <a:rPr lang="zh-CN" altLang="en-US" dirty="0" smtClean="0">
                <a:latin typeface="微软雅黑" pitchFamily="34" charset="-122"/>
                <a:ea typeface="微软雅黑" pitchFamily="34" charset="-122"/>
              </a:rPr>
              <a:t>”正式形成。从某方面来说，价格双轨制直至今日也在影响着中国经济发展。</a:t>
            </a:r>
            <a:endParaRPr lang="en-US" altLang="zh-CN" dirty="0" smtClean="0">
              <a:latin typeface="微软雅黑" pitchFamily="34" charset="-122"/>
              <a:ea typeface="微软雅黑" pitchFamily="34" charset="-122"/>
            </a:endParaRPr>
          </a:p>
          <a:p>
            <a:endParaRPr lang="en-US" altLang="zh-CN" dirty="0" smtClean="0">
              <a:latin typeface="微软雅黑" pitchFamily="34" charset="-122"/>
              <a:ea typeface="微软雅黑" pitchFamily="34" charset="-122"/>
            </a:endParaRPr>
          </a:p>
          <a:p>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缘由：生产资料短缺现象严重</a:t>
            </a:r>
            <a:endParaRPr lang="en-US" altLang="zh-CN" dirty="0" smtClean="0">
              <a:latin typeface="微软雅黑" pitchFamily="34" charset="-122"/>
              <a:ea typeface="微软雅黑" pitchFamily="34" charset="-122"/>
            </a:endParaRPr>
          </a:p>
          <a:p>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目的：为了保护国营企业在原材料采购上的优势。</a:t>
            </a:r>
            <a:endParaRPr lang="en-US" altLang="zh-CN" dirty="0" smtClean="0">
              <a:latin typeface="微软雅黑" pitchFamily="34" charset="-122"/>
              <a:ea typeface="微软雅黑" pitchFamily="34" charset="-122"/>
            </a:endParaRPr>
          </a:p>
          <a:p>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作用：抑制价格暴涨，通货膨胀。</a:t>
            </a:r>
            <a:endParaRPr lang="en-US" altLang="zh-CN" dirty="0" smtClean="0">
              <a:latin typeface="微软雅黑" pitchFamily="34" charset="-122"/>
              <a:ea typeface="微软雅黑" pitchFamily="34" charset="-122"/>
            </a:endParaRPr>
          </a:p>
          <a:p>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弊端：是困扰民营经济成长的根本性问题。</a:t>
            </a:r>
            <a:endParaRPr lang="zh-CN" altLang="en-US" dirty="0">
              <a:latin typeface="微软雅黑" pitchFamily="34" charset="-122"/>
              <a:ea typeface="微软雅黑" pitchFamily="34" charset="-122"/>
            </a:endParaRPr>
          </a:p>
        </p:txBody>
      </p:sp>
      <p:sp>
        <p:nvSpPr>
          <p:cNvPr id="8" name="TextBox 7"/>
          <p:cNvSpPr txBox="1"/>
          <p:nvPr/>
        </p:nvSpPr>
        <p:spPr>
          <a:xfrm>
            <a:off x="827584" y="5301208"/>
            <a:ext cx="7560840" cy="1138773"/>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     这说明，在改革开放前期，</a:t>
            </a:r>
            <a:r>
              <a:rPr lang="zh-CN" altLang="en-US" sz="2400" b="1" dirty="0" smtClean="0">
                <a:solidFill>
                  <a:schemeClr val="bg1"/>
                </a:solidFill>
                <a:latin typeface="微软雅黑" pitchFamily="34" charset="-122"/>
                <a:ea typeface="微软雅黑" pitchFamily="34" charset="-122"/>
              </a:rPr>
              <a:t>意外崛起</a:t>
            </a:r>
            <a:r>
              <a:rPr lang="zh-CN" altLang="en-US" sz="2000" dirty="0" smtClean="0">
                <a:solidFill>
                  <a:srgbClr val="E2CE84"/>
                </a:solidFill>
                <a:latin typeface="微软雅黑" pitchFamily="34" charset="-122"/>
                <a:ea typeface="微软雅黑" pitchFamily="34" charset="-122"/>
              </a:rPr>
              <a:t>的乡镇、民营企业，</a:t>
            </a:r>
            <a:endParaRPr lang="en-US" altLang="zh-CN" sz="2000" dirty="0" smtClean="0">
              <a:solidFill>
                <a:srgbClr val="E2CE84"/>
              </a:solidFill>
              <a:latin typeface="微软雅黑" pitchFamily="34" charset="-122"/>
              <a:ea typeface="微软雅黑" pitchFamily="34" charset="-122"/>
            </a:endParaRPr>
          </a:p>
          <a:p>
            <a:r>
              <a:rPr lang="zh-CN" altLang="en-US" sz="2000" dirty="0" smtClean="0">
                <a:solidFill>
                  <a:srgbClr val="E2CE84"/>
                </a:solidFill>
                <a:latin typeface="微软雅黑" pitchFamily="34" charset="-122"/>
                <a:ea typeface="微软雅黑" pitchFamily="34" charset="-122"/>
              </a:rPr>
              <a:t>一直受到不公正的待遇，想要多了解相关内容，建议大家读一读</a:t>
            </a:r>
            <a:endParaRPr lang="en-US" altLang="zh-CN" sz="2400" b="1" dirty="0">
              <a:solidFill>
                <a:schemeClr val="bg1"/>
              </a:solidFill>
              <a:latin typeface="微软雅黑" pitchFamily="34" charset="-122"/>
              <a:ea typeface="微软雅黑" pitchFamily="34" charset="-122"/>
            </a:endParaRPr>
          </a:p>
          <a:p>
            <a:r>
              <a:rPr lang="zh-CN" altLang="en-US" sz="2400" dirty="0" smtClean="0">
                <a:solidFill>
                  <a:schemeClr val="bg1"/>
                </a:solidFill>
                <a:latin typeface="微软雅黑" pitchFamily="34" charset="-122"/>
                <a:ea typeface="微软雅黑" pitchFamily="34" charset="-122"/>
              </a:rPr>
              <a:t>冯仑的</a:t>
            </a:r>
            <a:r>
              <a:rPr lang="en-US" altLang="zh-CN" sz="2400" dirty="0" smtClean="0">
                <a:solidFill>
                  <a:schemeClr val="bg1"/>
                </a:solidFill>
                <a:latin typeface="微软雅黑" pitchFamily="34" charset="-122"/>
                <a:ea typeface="微软雅黑" pitchFamily="34" charset="-122"/>
              </a:rPr>
              <a:t>《</a:t>
            </a:r>
            <a:r>
              <a:rPr lang="zh-CN" altLang="en-US" sz="2400" dirty="0" smtClean="0">
                <a:solidFill>
                  <a:schemeClr val="bg1"/>
                </a:solidFill>
                <a:latin typeface="微软雅黑" pitchFamily="34" charset="-122"/>
                <a:ea typeface="微软雅黑" pitchFamily="34" charset="-122"/>
              </a:rPr>
              <a:t>野蛮生长</a:t>
            </a:r>
            <a:r>
              <a:rPr lang="en-US" altLang="zh-CN" sz="2400" dirty="0" smtClean="0">
                <a:solidFill>
                  <a:schemeClr val="bg1"/>
                </a:solidFill>
                <a:latin typeface="微软雅黑" pitchFamily="34" charset="-122"/>
                <a:ea typeface="微软雅黑" pitchFamily="34" charset="-122"/>
              </a:rPr>
              <a:t>》</a:t>
            </a:r>
            <a:r>
              <a:rPr lang="zh-CN" altLang="en-US" sz="2000" dirty="0" smtClean="0">
                <a:solidFill>
                  <a:srgbClr val="E2CE84"/>
                </a:solidFill>
                <a:latin typeface="微软雅黑" pitchFamily="34" charset="-122"/>
                <a:ea typeface="微软雅黑" pitchFamily="34" charset="-122"/>
              </a:rPr>
              <a:t>。</a:t>
            </a:r>
            <a:endParaRPr lang="zh-CN" altLang="en-US" sz="2000" dirty="0">
              <a:solidFill>
                <a:srgbClr val="E2CE84"/>
              </a:solidFill>
              <a:latin typeface="微软雅黑" pitchFamily="34" charset="-122"/>
              <a:ea typeface="微软雅黑" pitchFamily="34" charset="-122"/>
            </a:endParaRPr>
          </a:p>
        </p:txBody>
      </p:sp>
    </p:spTree>
    <p:extLst>
      <p:ext uri="{BB962C8B-B14F-4D97-AF65-F5344CB8AC3E}">
        <p14:creationId xmlns:p14="http://schemas.microsoft.com/office/powerpoint/2010/main" val="4226391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引进热潮</a:t>
            </a:r>
            <a:endParaRPr lang="zh-CN" altLang="en-US" sz="5400" b="1" dirty="0">
              <a:latin typeface="华文行楷" pitchFamily="2" charset="-122"/>
              <a:ea typeface="华文行楷" pitchFamily="2"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95361" y="1933945"/>
            <a:ext cx="2173083" cy="2124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6" name="TextBox 5"/>
          <p:cNvSpPr txBox="1"/>
          <p:nvPr/>
        </p:nvSpPr>
        <p:spPr>
          <a:xfrm>
            <a:off x="6300192" y="4329033"/>
            <a:ext cx="2664296" cy="369332"/>
          </a:xfrm>
          <a:prstGeom prst="rect">
            <a:avLst/>
          </a:prstGeom>
          <a:noFill/>
        </p:spPr>
        <p:txBody>
          <a:bodyPr wrap="square" rtlCol="0">
            <a:spAutoFit/>
          </a:bodyPr>
          <a:lstStyle/>
          <a:p>
            <a:r>
              <a:rPr lang="zh-CN" altLang="en-US" dirty="0">
                <a:latin typeface="微软雅黑" pitchFamily="34" charset="-122"/>
                <a:ea typeface="微软雅黑" pitchFamily="34" charset="-122"/>
              </a:rPr>
              <a:t>一龙九</a:t>
            </a:r>
            <a:r>
              <a:rPr lang="zh-CN" altLang="en-US" dirty="0" smtClean="0">
                <a:latin typeface="微软雅黑" pitchFamily="34" charset="-122"/>
                <a:ea typeface="微软雅黑" pitchFamily="34" charset="-122"/>
              </a:rPr>
              <a:t>子</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阿里斯顿</a:t>
            </a:r>
            <a:endParaRPr lang="zh-CN" altLang="en-US" dirty="0">
              <a:latin typeface="微软雅黑" pitchFamily="34" charset="-122"/>
              <a:ea typeface="微软雅黑" pitchFamily="34" charset="-122"/>
            </a:endParaRPr>
          </a:p>
        </p:txBody>
      </p:sp>
      <p:sp>
        <p:nvSpPr>
          <p:cNvPr id="7" name="TextBox 6"/>
          <p:cNvSpPr txBox="1"/>
          <p:nvPr/>
        </p:nvSpPr>
        <p:spPr>
          <a:xfrm>
            <a:off x="433912" y="1844824"/>
            <a:ext cx="5526360" cy="3139321"/>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       </a:t>
            </a:r>
            <a:r>
              <a:rPr lang="en-US" altLang="zh-CN" dirty="0" smtClean="0">
                <a:latin typeface="微软雅黑" pitchFamily="34" charset="-122"/>
                <a:ea typeface="微软雅黑" pitchFamily="34" charset="-122"/>
              </a:rPr>
              <a:t>1985</a:t>
            </a:r>
            <a:r>
              <a:rPr lang="zh-CN" altLang="en-US" dirty="0" smtClean="0">
                <a:latin typeface="微软雅黑" pitchFamily="34" charset="-122"/>
                <a:ea typeface="微软雅黑" pitchFamily="34" charset="-122"/>
              </a:rPr>
              <a:t>年，在全国各地，设备引进热也正如火如荼的进行着，例如，</a:t>
            </a:r>
            <a:r>
              <a:rPr lang="en-US" altLang="zh-CN" dirty="0" smtClean="0">
                <a:latin typeface="微软雅黑" pitchFamily="34" charset="-122"/>
                <a:ea typeface="微软雅黑" pitchFamily="34" charset="-122"/>
              </a:rPr>
              <a:t>9</a:t>
            </a:r>
            <a:r>
              <a:rPr lang="zh-CN" altLang="en-US" dirty="0" smtClean="0">
                <a:latin typeface="微软雅黑" pitchFamily="34" charset="-122"/>
                <a:ea typeface="微软雅黑" pitchFamily="34" charset="-122"/>
              </a:rPr>
              <a:t>个省市，一起向意大利引进</a:t>
            </a:r>
            <a:r>
              <a:rPr lang="en-US" altLang="zh-CN" dirty="0" smtClean="0">
                <a:latin typeface="微软雅黑" pitchFamily="34" charset="-122"/>
                <a:ea typeface="微软雅黑" pitchFamily="34" charset="-122"/>
              </a:rPr>
              <a:t>9</a:t>
            </a:r>
            <a:r>
              <a:rPr lang="zh-CN" altLang="en-US" dirty="0" smtClean="0">
                <a:latin typeface="微软雅黑" pitchFamily="34" charset="-122"/>
                <a:ea typeface="微软雅黑" pitchFamily="34" charset="-122"/>
              </a:rPr>
              <a:t>条统一型号的“阿里斯顿”电冰箱生产线，如今，只有美菱一枝尚存。</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       没有规划和秩序的引进热也造成</a:t>
            </a:r>
            <a:r>
              <a:rPr lang="zh-CN" altLang="en-US" dirty="0">
                <a:latin typeface="微软雅黑" pitchFamily="34" charset="-122"/>
                <a:ea typeface="微软雅黑" pitchFamily="34" charset="-122"/>
              </a:rPr>
              <a:t>了</a:t>
            </a:r>
            <a:r>
              <a:rPr lang="zh-CN" altLang="en-US" dirty="0" smtClean="0">
                <a:latin typeface="微软雅黑" pitchFamily="34" charset="-122"/>
                <a:ea typeface="微软雅黑" pitchFamily="34" charset="-122"/>
              </a:rPr>
              <a:t>极大的浪费和行业管制上的失控。问题有四：</a:t>
            </a:r>
            <a:endParaRPr lang="en-US" altLang="zh-CN" dirty="0" smtClean="0">
              <a:latin typeface="微软雅黑" pitchFamily="34" charset="-122"/>
              <a:ea typeface="微软雅黑" pitchFamily="34" charset="-122"/>
            </a:endParaRPr>
          </a:p>
          <a:p>
            <a:pPr lvl="1"/>
            <a:r>
              <a:rPr lang="en-US" altLang="zh-CN" b="1" dirty="0" smtClean="0">
                <a:latin typeface="微软雅黑" pitchFamily="34" charset="-122"/>
                <a:ea typeface="微软雅黑" pitchFamily="34" charset="-122"/>
              </a:rPr>
              <a:t>1</a:t>
            </a:r>
            <a:r>
              <a:rPr lang="zh-CN" altLang="en-US" b="1" dirty="0" smtClean="0">
                <a:latin typeface="微软雅黑" pitchFamily="34" charset="-122"/>
                <a:ea typeface="微软雅黑" pitchFamily="34" charset="-122"/>
              </a:rPr>
              <a:t>、贪大求洋，不符合国情</a:t>
            </a:r>
            <a:endParaRPr lang="en-US" altLang="zh-CN" b="1" dirty="0" smtClean="0">
              <a:latin typeface="微软雅黑" pitchFamily="34" charset="-122"/>
              <a:ea typeface="微软雅黑" pitchFamily="34" charset="-122"/>
            </a:endParaRPr>
          </a:p>
          <a:p>
            <a:pPr lvl="1"/>
            <a:r>
              <a:rPr lang="en-US" altLang="zh-CN" b="1" dirty="0" smtClean="0">
                <a:latin typeface="微软雅黑" pitchFamily="34" charset="-122"/>
                <a:ea typeface="微软雅黑" pitchFamily="34" charset="-122"/>
              </a:rPr>
              <a:t>2</a:t>
            </a:r>
            <a:r>
              <a:rPr lang="zh-CN" altLang="en-US" b="1" dirty="0" smtClean="0">
                <a:latin typeface="微软雅黑" pitchFamily="34" charset="-122"/>
                <a:ea typeface="微软雅黑" pitchFamily="34" charset="-122"/>
              </a:rPr>
              <a:t>、盲目引进，利用率低下</a:t>
            </a:r>
            <a:endParaRPr lang="en-US" altLang="zh-CN" b="1" dirty="0" smtClean="0">
              <a:latin typeface="微软雅黑" pitchFamily="34" charset="-122"/>
              <a:ea typeface="微软雅黑" pitchFamily="34" charset="-122"/>
            </a:endParaRPr>
          </a:p>
          <a:p>
            <a:pPr lvl="1"/>
            <a:r>
              <a:rPr lang="en-US" altLang="zh-CN" b="1" dirty="0" smtClean="0">
                <a:latin typeface="微软雅黑" pitchFamily="34" charset="-122"/>
                <a:ea typeface="微软雅黑" pitchFamily="34" charset="-122"/>
              </a:rPr>
              <a:t>3</a:t>
            </a:r>
            <a:r>
              <a:rPr lang="zh-CN" altLang="en-US" b="1" dirty="0" smtClean="0">
                <a:latin typeface="微软雅黑" pitchFamily="34" charset="-122"/>
                <a:ea typeface="微软雅黑" pitchFamily="34" charset="-122"/>
              </a:rPr>
              <a:t>、成套设备偏多，技术引进少</a:t>
            </a:r>
            <a:endParaRPr lang="en-US" altLang="zh-CN" b="1" dirty="0" smtClean="0">
              <a:latin typeface="微软雅黑" pitchFamily="34" charset="-122"/>
              <a:ea typeface="微软雅黑" pitchFamily="34" charset="-122"/>
            </a:endParaRPr>
          </a:p>
          <a:p>
            <a:pPr lvl="1"/>
            <a:r>
              <a:rPr lang="en-US" altLang="zh-CN" b="1" dirty="0" smtClean="0">
                <a:latin typeface="微软雅黑" pitchFamily="34" charset="-122"/>
                <a:ea typeface="微软雅黑" pitchFamily="34" charset="-122"/>
              </a:rPr>
              <a:t>4</a:t>
            </a:r>
            <a:r>
              <a:rPr lang="zh-CN" altLang="en-US" b="1" dirty="0" smtClean="0">
                <a:latin typeface="微软雅黑" pitchFamily="34" charset="-122"/>
                <a:ea typeface="微软雅黑" pitchFamily="34" charset="-122"/>
              </a:rPr>
              <a:t>、重复引进，缺乏规划</a:t>
            </a:r>
            <a:endParaRPr lang="en-US" altLang="zh-CN" b="1" dirty="0" smtClean="0">
              <a:latin typeface="微软雅黑" pitchFamily="34" charset="-122"/>
              <a:ea typeface="微软雅黑" pitchFamily="34" charset="-122"/>
            </a:endParaRPr>
          </a:p>
          <a:p>
            <a:endParaRPr lang="en-US" altLang="zh-CN" dirty="0">
              <a:latin typeface="微软雅黑" pitchFamily="34" charset="-122"/>
              <a:ea typeface="微软雅黑" pitchFamily="34" charset="-122"/>
            </a:endParaRPr>
          </a:p>
        </p:txBody>
      </p:sp>
      <p:sp>
        <p:nvSpPr>
          <p:cNvPr id="8" name="矩形 7"/>
          <p:cNvSpPr/>
          <p:nvPr/>
        </p:nvSpPr>
        <p:spPr>
          <a:xfrm>
            <a:off x="827584" y="5488201"/>
            <a:ext cx="7632848" cy="1077218"/>
          </a:xfrm>
          <a:prstGeom prst="rect">
            <a:avLst/>
          </a:prstGeom>
        </p:spPr>
        <p:txBody>
          <a:bodyPr wrap="square">
            <a:spAutoFit/>
          </a:bodyPr>
          <a:lstStyle/>
          <a:p>
            <a:r>
              <a:rPr lang="zh-CN" altLang="en-US" sz="2000" dirty="0">
                <a:solidFill>
                  <a:srgbClr val="E2CE84"/>
                </a:solidFill>
                <a:latin typeface="微软雅黑" pitchFamily="34" charset="-122"/>
                <a:ea typeface="微软雅黑" pitchFamily="34" charset="-122"/>
              </a:rPr>
              <a:t> </a:t>
            </a:r>
            <a:r>
              <a:rPr lang="zh-CN" altLang="en-US" sz="2000" dirty="0" smtClean="0">
                <a:solidFill>
                  <a:srgbClr val="E2CE84"/>
                </a:solidFill>
                <a:latin typeface="微软雅黑" pitchFamily="34" charset="-122"/>
                <a:ea typeface="微软雅黑" pitchFamily="34" charset="-122"/>
              </a:rPr>
              <a:t>      不过</a:t>
            </a:r>
            <a:r>
              <a:rPr lang="zh-CN" altLang="en-US" sz="2000" dirty="0">
                <a:solidFill>
                  <a:srgbClr val="E2CE84"/>
                </a:solidFill>
                <a:latin typeface="微软雅黑" pitchFamily="34" charset="-122"/>
                <a:ea typeface="微软雅黑" pitchFamily="34" charset="-122"/>
              </a:rPr>
              <a:t>，客观的说，这次</a:t>
            </a:r>
            <a:r>
              <a:rPr lang="zh-CN" altLang="en-US" sz="2400" b="1" dirty="0">
                <a:solidFill>
                  <a:schemeClr val="bg1"/>
                </a:solidFill>
                <a:latin typeface="微软雅黑" pitchFamily="34" charset="-122"/>
                <a:ea typeface="微软雅黑" pitchFamily="34" charset="-122"/>
              </a:rPr>
              <a:t>失控的引进热</a:t>
            </a:r>
            <a:r>
              <a:rPr lang="zh-CN" altLang="en-US" sz="2000" dirty="0">
                <a:solidFill>
                  <a:srgbClr val="E2CE84"/>
                </a:solidFill>
                <a:latin typeface="微软雅黑" pitchFamily="34" charset="-122"/>
                <a:ea typeface="微软雅黑" pitchFamily="34" charset="-122"/>
              </a:rPr>
              <a:t>对中国轻工产业的更新换代及消费品市场的启动，产生了巨大的效应。中国企业，过度精力和热情的挥霍，似乎无可避免。</a:t>
            </a:r>
            <a:endParaRPr lang="zh-CN" altLang="en-US" sz="2000" dirty="0">
              <a:solidFill>
                <a:srgbClr val="E2CE84"/>
              </a:solidFill>
            </a:endParaRPr>
          </a:p>
        </p:txBody>
      </p:sp>
    </p:spTree>
    <p:extLst>
      <p:ext uri="{BB962C8B-B14F-4D97-AF65-F5344CB8AC3E}">
        <p14:creationId xmlns:p14="http://schemas.microsoft.com/office/powerpoint/2010/main" val="327510781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联营</a:t>
            </a:r>
            <a:endParaRPr lang="en-US" altLang="zh-CN" sz="5400" b="1" dirty="0" smtClean="0">
              <a:latin typeface="华文行楷" pitchFamily="2" charset="-122"/>
              <a:ea typeface="华文行楷" pitchFamily="2" charset="-122"/>
            </a:endParaRPr>
          </a:p>
          <a:p>
            <a:r>
              <a:rPr lang="zh-CN" altLang="en-US" sz="5400" b="1" dirty="0">
                <a:latin typeface="华文行楷" pitchFamily="2" charset="-122"/>
                <a:ea typeface="华文行楷" pitchFamily="2" charset="-122"/>
              </a:rPr>
              <a:t>帽子</a:t>
            </a:r>
          </a:p>
        </p:txBody>
      </p:sp>
      <p:sp>
        <p:nvSpPr>
          <p:cNvPr id="6" name="TextBox 5"/>
          <p:cNvSpPr txBox="1"/>
          <p:nvPr/>
        </p:nvSpPr>
        <p:spPr>
          <a:xfrm>
            <a:off x="827584" y="1849722"/>
            <a:ext cx="4308789" cy="3170099"/>
          </a:xfrm>
          <a:prstGeom prst="rect">
            <a:avLst/>
          </a:prstGeom>
          <a:noFill/>
        </p:spPr>
        <p:txBody>
          <a:bodyPr wrap="square" rtlCol="0">
            <a:spAutoFit/>
          </a:bodyPr>
          <a:lstStyle/>
          <a:p>
            <a:r>
              <a:rPr lang="zh-CN" altLang="en-US" sz="2000" b="1" dirty="0" smtClean="0">
                <a:latin typeface="微软雅黑" pitchFamily="34" charset="-122"/>
                <a:ea typeface="微软雅黑" pitchFamily="34" charset="-122"/>
              </a:rPr>
              <a:t>联营</a:t>
            </a:r>
            <a:endParaRPr lang="en-US" altLang="zh-CN" sz="2000" b="1" dirty="0" smtClean="0">
              <a:latin typeface="微软雅黑" pitchFamily="34" charset="-122"/>
              <a:ea typeface="微软雅黑" pitchFamily="34" charset="-122"/>
            </a:endParaRPr>
          </a:p>
          <a:p>
            <a:r>
              <a:rPr lang="zh-CN" altLang="en-US" sz="2000" dirty="0" smtClean="0">
                <a:latin typeface="微软雅黑" pitchFamily="34" charset="-122"/>
                <a:ea typeface="微软雅黑" pitchFamily="34" charset="-122"/>
              </a:rPr>
              <a:t>       被看做是国营企业获得活力的新药方，却变相使沿海一带乡镇企业获得迅猛发展。</a:t>
            </a:r>
            <a:endParaRPr lang="en-US" altLang="zh-CN" sz="2000" dirty="0" smtClean="0">
              <a:latin typeface="微软雅黑" pitchFamily="34" charset="-122"/>
              <a:ea typeface="微软雅黑" pitchFamily="34" charset="-122"/>
            </a:endParaRPr>
          </a:p>
          <a:p>
            <a:r>
              <a:rPr lang="zh-CN" altLang="en-US" sz="2000" dirty="0" smtClean="0">
                <a:latin typeface="微软雅黑" pitchFamily="34" charset="-122"/>
                <a:ea typeface="微软雅黑" pitchFamily="34" charset="-122"/>
              </a:rPr>
              <a:t>       为了获得地方政府的支持，很多乡镇企业变身成为“</a:t>
            </a:r>
            <a:r>
              <a:rPr lang="zh-CN" altLang="en-US" sz="2000" b="1" dirty="0" smtClean="0">
                <a:latin typeface="微软雅黑" pitchFamily="34" charset="-122"/>
                <a:ea typeface="微软雅黑" pitchFamily="34" charset="-122"/>
              </a:rPr>
              <a:t>红帽子</a:t>
            </a:r>
            <a:r>
              <a:rPr lang="zh-CN" altLang="en-US" sz="2000" dirty="0" smtClean="0">
                <a:latin typeface="微软雅黑" pitchFamily="34" charset="-122"/>
                <a:ea typeface="微软雅黑" pitchFamily="34" charset="-122"/>
              </a:rPr>
              <a:t>”企业。</a:t>
            </a:r>
            <a:endParaRPr lang="en-US" altLang="zh-CN" sz="2000" dirty="0" smtClean="0">
              <a:latin typeface="微软雅黑" pitchFamily="34" charset="-122"/>
              <a:ea typeface="微软雅黑" pitchFamily="34" charset="-122"/>
            </a:endParaRPr>
          </a:p>
          <a:p>
            <a:r>
              <a:rPr lang="zh-CN" altLang="en-US" sz="2000" dirty="0" smtClean="0">
                <a:latin typeface="微软雅黑" pitchFamily="34" charset="-122"/>
                <a:ea typeface="微软雅黑" pitchFamily="34" charset="-122"/>
              </a:rPr>
              <a:t>       在今后的产权改革中，很多乡镇企业、甚至产权属于国有的企业，也加入了“脱帽”的行列里，完成产权改革。</a:t>
            </a:r>
            <a:endParaRPr lang="zh-CN" altLang="en-US" sz="2000" dirty="0">
              <a:latin typeface="微软雅黑" pitchFamily="34" charset="-122"/>
              <a:ea typeface="微软雅黑" pitchFamily="34" charset="-122"/>
            </a:endParaRPr>
          </a:p>
        </p:txBody>
      </p:sp>
      <p:sp>
        <p:nvSpPr>
          <p:cNvPr id="8" name="TextBox 7"/>
          <p:cNvSpPr txBox="1"/>
          <p:nvPr/>
        </p:nvSpPr>
        <p:spPr>
          <a:xfrm>
            <a:off x="827584" y="5384760"/>
            <a:ext cx="7920880" cy="1077218"/>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      国营企业在联营中获得的效应知识短暂有效，而灵活的民间企业则从这个体谅庞大而</a:t>
            </a:r>
            <a:r>
              <a:rPr lang="zh-CN" altLang="en-US" sz="2400" b="1" dirty="0" smtClean="0">
                <a:solidFill>
                  <a:schemeClr val="bg1"/>
                </a:solidFill>
                <a:latin typeface="微软雅黑" pitchFamily="34" charset="-122"/>
                <a:ea typeface="微软雅黑" pitchFamily="34" charset="-122"/>
              </a:rPr>
              <a:t>体制僵硬</a:t>
            </a:r>
            <a:r>
              <a:rPr lang="zh-CN" altLang="en-US" sz="2000" dirty="0" smtClean="0">
                <a:solidFill>
                  <a:srgbClr val="E2CE84"/>
                </a:solidFill>
                <a:latin typeface="微软雅黑" pitchFamily="34" charset="-122"/>
                <a:ea typeface="微软雅黑" pitchFamily="34" charset="-122"/>
              </a:rPr>
              <a:t>的“大笨象”身上汲取无尽“血液”。数年之后，将很快出现“儿子吃掉老子”的现象。</a:t>
            </a:r>
            <a:endParaRPr lang="zh-CN" altLang="en-US" sz="2000" dirty="0">
              <a:solidFill>
                <a:srgbClr val="E2CE84"/>
              </a:solidFill>
              <a:latin typeface="微软雅黑" pitchFamily="34" charset="-122"/>
              <a:ea typeface="微软雅黑" pitchFamily="34"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12164" y="1959496"/>
            <a:ext cx="2229119" cy="2268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Tree>
    <p:extLst>
      <p:ext uri="{BB962C8B-B14F-4D97-AF65-F5344CB8AC3E}">
        <p14:creationId xmlns:p14="http://schemas.microsoft.com/office/powerpoint/2010/main" val="310992672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物价闯关</a:t>
            </a:r>
            <a:endParaRPr lang="zh-CN" altLang="en-US" sz="5400" b="1" dirty="0">
              <a:latin typeface="华文行楷" pitchFamily="2" charset="-122"/>
              <a:ea typeface="华文行楷" pitchFamily="2" charset="-122"/>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5872" y="2420888"/>
            <a:ext cx="3041378" cy="1764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7" name="TextBox 6"/>
          <p:cNvSpPr txBox="1"/>
          <p:nvPr/>
        </p:nvSpPr>
        <p:spPr>
          <a:xfrm>
            <a:off x="971600" y="5658449"/>
            <a:ext cx="5832648" cy="769441"/>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社会心理决定了人类</a:t>
            </a:r>
            <a:r>
              <a:rPr lang="zh-CN" altLang="en-US" sz="2400" b="1" dirty="0" smtClean="0">
                <a:solidFill>
                  <a:schemeClr val="bg1"/>
                </a:solidFill>
                <a:latin typeface="微软雅黑" pitchFamily="34" charset="-122"/>
                <a:ea typeface="微软雅黑" pitchFamily="34" charset="-122"/>
              </a:rPr>
              <a:t>永久</a:t>
            </a:r>
            <a:r>
              <a:rPr lang="zh-CN" altLang="en-US" sz="2000" dirty="0" smtClean="0">
                <a:solidFill>
                  <a:srgbClr val="E2CE84"/>
                </a:solidFill>
                <a:latin typeface="微软雅黑" pitchFamily="34" charset="-122"/>
                <a:ea typeface="微软雅黑" pitchFamily="34" charset="-122"/>
              </a:rPr>
              <a:t>的经济问题。</a:t>
            </a:r>
            <a:endParaRPr lang="en-US" altLang="zh-CN" sz="2000" dirty="0" smtClean="0">
              <a:solidFill>
                <a:srgbClr val="E2CE84"/>
              </a:solidFill>
              <a:latin typeface="微软雅黑" pitchFamily="34" charset="-122"/>
              <a:ea typeface="微软雅黑" pitchFamily="34" charset="-122"/>
            </a:endParaRPr>
          </a:p>
          <a:p>
            <a:pPr algn="r"/>
            <a:r>
              <a:rPr lang="en-US" altLang="zh-CN" sz="2000" dirty="0" smtClean="0">
                <a:solidFill>
                  <a:srgbClr val="E2CE84"/>
                </a:solidFill>
                <a:latin typeface="微软雅黑" pitchFamily="34" charset="-122"/>
                <a:ea typeface="微软雅黑" pitchFamily="34" charset="-122"/>
              </a:rPr>
              <a:t> ——</a:t>
            </a:r>
            <a:r>
              <a:rPr lang="zh-CN" altLang="en-US" sz="2000" dirty="0" smtClean="0">
                <a:solidFill>
                  <a:srgbClr val="E2CE84"/>
                </a:solidFill>
                <a:latin typeface="微软雅黑" pitchFamily="34" charset="-122"/>
                <a:ea typeface="微软雅黑" pitchFamily="34" charset="-122"/>
              </a:rPr>
              <a:t>恩格斯</a:t>
            </a:r>
            <a:endParaRPr lang="zh-CN" altLang="en-US" sz="2000" dirty="0">
              <a:solidFill>
                <a:srgbClr val="E2CE84"/>
              </a:solidFill>
              <a:latin typeface="微软雅黑" pitchFamily="34" charset="-122"/>
              <a:ea typeface="微软雅黑" pitchFamily="34" charset="-122"/>
            </a:endParaRPr>
          </a:p>
        </p:txBody>
      </p:sp>
      <p:sp>
        <p:nvSpPr>
          <p:cNvPr id="9" name="TextBox 8"/>
          <p:cNvSpPr txBox="1"/>
          <p:nvPr/>
        </p:nvSpPr>
        <p:spPr>
          <a:xfrm>
            <a:off x="827584" y="1916832"/>
            <a:ext cx="4347356" cy="3139321"/>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       1988</a:t>
            </a:r>
            <a:r>
              <a:rPr lang="zh-CN" altLang="en-US" dirty="0" smtClean="0">
                <a:latin typeface="微软雅黑" pitchFamily="34" charset="-122"/>
                <a:ea typeface="微软雅黑" pitchFamily="34" charset="-122"/>
              </a:rPr>
              <a:t>年的“物价闯关”，仅仅进行半年，就宣告终止，被认为是</a:t>
            </a:r>
            <a:r>
              <a:rPr lang="en-US" altLang="zh-CN" dirty="0" smtClean="0">
                <a:latin typeface="微软雅黑" pitchFamily="34" charset="-122"/>
                <a:ea typeface="微软雅黑" pitchFamily="34" charset="-122"/>
              </a:rPr>
              <a:t>1978</a:t>
            </a:r>
            <a:r>
              <a:rPr lang="zh-CN" altLang="en-US" dirty="0" smtClean="0">
                <a:latin typeface="微软雅黑" pitchFamily="34" charset="-122"/>
                <a:ea typeface="微软雅黑" pitchFamily="34" charset="-122"/>
              </a:rPr>
              <a:t>年改革以来最大的一次经济失控。</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       为了摆脱计划体制和价格双轨制这一体制怪兽，恢复物价正常波动。邓小平受到弗德里曼的理论支持后，便大胆行动。         但出乎弗德里曼和邓小平预料的是，“物价闯关”很快呈现出全面失控的可怕趋势，各地物价如脱缰的野马，撒蹄乱窜。不得不尽快终止，防止经济倒退。</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       </a:t>
            </a:r>
            <a:endParaRPr lang="en-US" altLang="zh-CN" dirty="0" smtClean="0">
              <a:latin typeface="微软雅黑" pitchFamily="34" charset="-122"/>
              <a:ea typeface="微软雅黑" pitchFamily="34" charset="-122"/>
            </a:endParaRPr>
          </a:p>
        </p:txBody>
      </p:sp>
    </p:spTree>
    <p:extLst>
      <p:ext uri="{BB962C8B-B14F-4D97-AF65-F5344CB8AC3E}">
        <p14:creationId xmlns:p14="http://schemas.microsoft.com/office/powerpoint/2010/main" val="5612158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品牌凋零</a:t>
            </a:r>
            <a:endParaRPr lang="zh-CN" altLang="en-US" sz="5400" b="1" dirty="0">
              <a:latin typeface="华文行楷" pitchFamily="2" charset="-122"/>
              <a:ea typeface="华文行楷" pitchFamily="2" charset="-122"/>
            </a:endParaRPr>
          </a:p>
        </p:txBody>
      </p:sp>
      <p:sp>
        <p:nvSpPr>
          <p:cNvPr id="6" name="TextBox 5"/>
          <p:cNvSpPr txBox="1"/>
          <p:nvPr/>
        </p:nvSpPr>
        <p:spPr>
          <a:xfrm>
            <a:off x="827584" y="2035466"/>
            <a:ext cx="4068452" cy="2677656"/>
          </a:xfrm>
          <a:prstGeom prst="rect">
            <a:avLst/>
          </a:prstGeom>
          <a:noFill/>
        </p:spPr>
        <p:txBody>
          <a:bodyPr wrap="square" rtlCol="0">
            <a:spAutoFit/>
          </a:bodyPr>
          <a:lstStyle/>
          <a:p>
            <a:r>
              <a:rPr lang="zh-CN" altLang="en-US" sz="2000" dirty="0" smtClean="0">
                <a:latin typeface="微软雅黑" pitchFamily="34" charset="-122"/>
                <a:ea typeface="微软雅黑" pitchFamily="34" charset="-122"/>
              </a:rPr>
              <a:t>政策背景：</a:t>
            </a:r>
            <a:endParaRPr lang="en-US" altLang="zh-CN" sz="2000" dirty="0" smtClean="0">
              <a:latin typeface="微软雅黑" pitchFamily="34" charset="-122"/>
              <a:ea typeface="微软雅黑" pitchFamily="34" charset="-122"/>
            </a:endParaRPr>
          </a:p>
          <a:p>
            <a:r>
              <a:rPr lang="en-US" altLang="zh-CN" sz="2000" dirty="0">
                <a:latin typeface="微软雅黑" pitchFamily="34" charset="-122"/>
                <a:ea typeface="微软雅黑" pitchFamily="34" charset="-122"/>
              </a:rPr>
              <a:t> </a:t>
            </a:r>
            <a:r>
              <a:rPr lang="en-US" altLang="zh-CN" sz="2000" dirty="0" smtClean="0">
                <a:latin typeface="微软雅黑" pitchFamily="34" charset="-122"/>
                <a:ea typeface="微软雅黑" pitchFamily="34" charset="-122"/>
              </a:rPr>
              <a:t>     1991</a:t>
            </a:r>
            <a:r>
              <a:rPr lang="zh-CN" altLang="en-US" sz="2000" dirty="0" smtClean="0">
                <a:latin typeface="微软雅黑" pitchFamily="34" charset="-122"/>
                <a:ea typeface="微软雅黑" pitchFamily="34" charset="-122"/>
              </a:rPr>
              <a:t>年，国企改革收缩战线，让那些扶不起的“阿斗”们自行了断。</a:t>
            </a:r>
            <a:endParaRPr lang="en-US" altLang="zh-CN" sz="2000" dirty="0" smtClean="0">
              <a:latin typeface="微软雅黑" pitchFamily="34" charset="-122"/>
              <a:ea typeface="微软雅黑" pitchFamily="34" charset="-122"/>
            </a:endParaRPr>
          </a:p>
          <a:p>
            <a:r>
              <a:rPr lang="zh-CN" altLang="en-US" sz="2000" dirty="0" smtClean="0">
                <a:latin typeface="微软雅黑" pitchFamily="34" charset="-122"/>
                <a:ea typeface="微软雅黑" pitchFamily="34" charset="-122"/>
              </a:rPr>
              <a:t>      如四川让特困企业“安乐死”，上海牌轿车品牌凋零。 但这些兼并，绝大多数都是</a:t>
            </a:r>
            <a:r>
              <a:rPr lang="zh-CN" altLang="en-US" sz="2400" dirty="0" smtClean="0">
                <a:latin typeface="微软雅黑" pitchFamily="34" charset="-122"/>
                <a:ea typeface="微软雅黑" pitchFamily="34" charset="-122"/>
              </a:rPr>
              <a:t>政府意志的体现</a:t>
            </a:r>
            <a:r>
              <a:rPr lang="zh-CN" altLang="en-US" sz="2000" dirty="0" smtClean="0">
                <a:latin typeface="微软雅黑" pitchFamily="34" charset="-122"/>
                <a:ea typeface="微软雅黑" pitchFamily="34" charset="-122"/>
              </a:rPr>
              <a:t>。</a:t>
            </a:r>
            <a:endParaRPr lang="zh-CN" altLang="en-US" sz="2000" dirty="0">
              <a:latin typeface="微软雅黑" pitchFamily="34" charset="-122"/>
              <a:ea typeface="微软雅黑" pitchFamily="34" charset="-122"/>
            </a:endParaRPr>
          </a:p>
        </p:txBody>
      </p:sp>
      <p:sp>
        <p:nvSpPr>
          <p:cNvPr id="8" name="TextBox 7"/>
          <p:cNvSpPr txBox="1"/>
          <p:nvPr/>
        </p:nvSpPr>
        <p:spPr>
          <a:xfrm>
            <a:off x="827584" y="5384760"/>
            <a:ext cx="7920880" cy="1015663"/>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      上海轿车的小时，是一个象征性事件。在跨国公司和新兴民间企业的双重冲击下，曾经红极一时的老牌国营企业品牌都相继凋零，一个时代终于在恋恋不舍中褪去了它最后一道余晖。</a:t>
            </a:r>
            <a:endParaRPr lang="zh-CN" altLang="en-US" sz="2000" dirty="0">
              <a:solidFill>
                <a:srgbClr val="E2CE84"/>
              </a:solidFill>
              <a:latin typeface="微软雅黑" pitchFamily="34" charset="-122"/>
              <a:ea typeface="微软雅黑" pitchFamily="34"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08104" y="2204864"/>
            <a:ext cx="2956653" cy="1728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7" name="矩形 6"/>
          <p:cNvSpPr/>
          <p:nvPr/>
        </p:nvSpPr>
        <p:spPr>
          <a:xfrm>
            <a:off x="6516216" y="4205291"/>
            <a:ext cx="1467068" cy="400110"/>
          </a:xfrm>
          <a:prstGeom prst="rect">
            <a:avLst/>
          </a:prstGeom>
        </p:spPr>
        <p:txBody>
          <a:bodyPr wrap="none">
            <a:spAutoFit/>
          </a:bodyPr>
          <a:lstStyle/>
          <a:p>
            <a:r>
              <a:rPr lang="zh-CN" altLang="en-US" sz="2000" dirty="0">
                <a:solidFill>
                  <a:prstClr val="black"/>
                </a:solidFill>
                <a:latin typeface="微软雅黑" pitchFamily="34" charset="-122"/>
                <a:ea typeface="微软雅黑" pitchFamily="34" charset="-122"/>
              </a:rPr>
              <a:t>上海牌轿车</a:t>
            </a:r>
            <a:endParaRPr lang="zh-CN" altLang="en-US" dirty="0"/>
          </a:p>
        </p:txBody>
      </p:sp>
    </p:spTree>
    <p:extLst>
      <p:ext uri="{BB962C8B-B14F-4D97-AF65-F5344CB8AC3E}">
        <p14:creationId xmlns:p14="http://schemas.microsoft.com/office/powerpoint/2010/main" val="33946129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三光专员</a:t>
            </a:r>
            <a:endParaRPr lang="zh-CN" altLang="en-US" sz="5400" b="1" dirty="0">
              <a:latin typeface="华文行楷" pitchFamily="2" charset="-122"/>
              <a:ea typeface="华文行楷" pitchFamily="2" charset="-122"/>
            </a:endParaRPr>
          </a:p>
        </p:txBody>
      </p:sp>
      <p:sp>
        <p:nvSpPr>
          <p:cNvPr id="6" name="TextBox 5"/>
          <p:cNvSpPr txBox="1"/>
          <p:nvPr/>
        </p:nvSpPr>
        <p:spPr>
          <a:xfrm>
            <a:off x="611560" y="2035466"/>
            <a:ext cx="4284476" cy="2554545"/>
          </a:xfrm>
          <a:prstGeom prst="rect">
            <a:avLst/>
          </a:prstGeom>
          <a:noFill/>
        </p:spPr>
        <p:txBody>
          <a:bodyPr wrap="square" rtlCol="0">
            <a:spAutoFit/>
          </a:bodyPr>
          <a:lstStyle/>
          <a:p>
            <a:r>
              <a:rPr lang="en-US" altLang="zh-CN" sz="2000" dirty="0" smtClean="0">
                <a:latin typeface="微软雅黑" pitchFamily="34" charset="-122"/>
                <a:ea typeface="微软雅黑" pitchFamily="34" charset="-122"/>
              </a:rPr>
              <a:t>       </a:t>
            </a:r>
            <a:r>
              <a:rPr lang="zh-CN" altLang="en-US" sz="2000" dirty="0" smtClean="0">
                <a:latin typeface="微软雅黑" pitchFamily="34" charset="-122"/>
                <a:ea typeface="微软雅黑" pitchFamily="34" charset="-122"/>
              </a:rPr>
              <a:t>“十年改革，改来改去企业还是躺在政府的怀抱里。从今天起，咱两家的关系变了，变成你注册我登记，你赚钱我收税，你发财我高兴，你违法我查处，你破产我同情。”</a:t>
            </a:r>
            <a:endParaRPr lang="en-US" altLang="zh-CN" sz="2000" dirty="0" smtClean="0">
              <a:latin typeface="微软雅黑" pitchFamily="34" charset="-122"/>
              <a:ea typeface="微软雅黑" pitchFamily="34" charset="-122"/>
            </a:endParaRPr>
          </a:p>
          <a:p>
            <a:endParaRPr lang="en-US" altLang="zh-CN" sz="2000" dirty="0">
              <a:latin typeface="微软雅黑" pitchFamily="34" charset="-122"/>
              <a:ea typeface="微软雅黑" pitchFamily="34" charset="-122"/>
            </a:endParaRPr>
          </a:p>
          <a:p>
            <a:endParaRPr lang="en-US" altLang="zh-CN" sz="2000" dirty="0" smtClean="0">
              <a:latin typeface="微软雅黑" pitchFamily="34" charset="-122"/>
              <a:ea typeface="微软雅黑" pitchFamily="34" charset="-122"/>
            </a:endParaRPr>
          </a:p>
          <a:p>
            <a:pPr algn="r"/>
            <a:r>
              <a:rPr lang="en-US" altLang="zh-CN"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山东潍坊“三光专员”陈光</a:t>
            </a:r>
            <a:endParaRPr lang="zh-CN" altLang="en-US" sz="2000" dirty="0">
              <a:latin typeface="微软雅黑" pitchFamily="34" charset="-122"/>
              <a:ea typeface="微软雅黑" pitchFamily="34" charset="-122"/>
            </a:endParaRPr>
          </a:p>
        </p:txBody>
      </p:sp>
      <p:sp>
        <p:nvSpPr>
          <p:cNvPr id="8" name="TextBox 7"/>
          <p:cNvSpPr txBox="1"/>
          <p:nvPr/>
        </p:nvSpPr>
        <p:spPr>
          <a:xfrm>
            <a:off x="827584" y="5384760"/>
            <a:ext cx="7920880" cy="1077218"/>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      在之后的两年多里，陈光通过股份制、股份合作制、无偿转让产权、破产等七种形式，将全市</a:t>
            </a:r>
            <a:r>
              <a:rPr lang="en-US" altLang="zh-CN" sz="2400" b="1" dirty="0" smtClean="0">
                <a:solidFill>
                  <a:schemeClr val="bg1"/>
                </a:solidFill>
                <a:latin typeface="微软雅黑" pitchFamily="34" charset="-122"/>
                <a:ea typeface="微软雅黑" pitchFamily="34" charset="-122"/>
              </a:rPr>
              <a:t>272</a:t>
            </a:r>
            <a:r>
              <a:rPr lang="zh-CN" altLang="en-US" sz="2400" b="1" dirty="0" smtClean="0">
                <a:solidFill>
                  <a:schemeClr val="bg1"/>
                </a:solidFill>
                <a:latin typeface="微软雅黑" pitchFamily="34" charset="-122"/>
                <a:ea typeface="微软雅黑" pitchFamily="34" charset="-122"/>
              </a:rPr>
              <a:t>家</a:t>
            </a:r>
            <a:r>
              <a:rPr lang="zh-CN" altLang="en-US" sz="2000" dirty="0" smtClean="0">
                <a:solidFill>
                  <a:srgbClr val="E2CE84"/>
                </a:solidFill>
                <a:latin typeface="微软雅黑" pitchFamily="34" charset="-122"/>
                <a:ea typeface="微软雅黑" pitchFamily="34" charset="-122"/>
              </a:rPr>
              <a:t>乡镇办以上国营或集体企业都出售给了个人。</a:t>
            </a:r>
            <a:endParaRPr lang="zh-CN" altLang="en-US" sz="2000" dirty="0">
              <a:solidFill>
                <a:srgbClr val="E2CE84"/>
              </a:solidFill>
              <a:latin typeface="微软雅黑" pitchFamily="34" charset="-122"/>
              <a:ea typeface="微软雅黑" pitchFamily="34" charset="-122"/>
            </a:endParaRPr>
          </a:p>
        </p:txBody>
      </p:sp>
      <p:pic>
        <p:nvPicPr>
          <p:cNvPr id="7" name="图片 6"/>
          <p:cNvPicPr>
            <a:picLocks noChangeAspect="1"/>
          </p:cNvPicPr>
          <p:nvPr/>
        </p:nvPicPr>
        <p:blipFill rotWithShape="1">
          <a:blip r:embed="rId2" cstate="print">
            <a:extLst>
              <a:ext uri="{28A0092B-C50C-407E-A947-70E740481C1C}">
                <a14:useLocalDpi xmlns:a14="http://schemas.microsoft.com/office/drawing/2010/main" val="0"/>
              </a:ext>
            </a:extLst>
          </a:blip>
          <a:srcRect b="15073"/>
          <a:stretch/>
        </p:blipFill>
        <p:spPr>
          <a:xfrm>
            <a:off x="6372200" y="1820743"/>
            <a:ext cx="1838864" cy="234774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9" name="矩形 8"/>
          <p:cNvSpPr/>
          <p:nvPr/>
        </p:nvSpPr>
        <p:spPr>
          <a:xfrm>
            <a:off x="5148064" y="4405909"/>
            <a:ext cx="3685624" cy="369332"/>
          </a:xfrm>
          <a:prstGeom prst="rect">
            <a:avLst/>
          </a:prstGeom>
        </p:spPr>
        <p:txBody>
          <a:bodyPr wrap="none">
            <a:spAutoFit/>
          </a:bodyPr>
          <a:lstStyle/>
          <a:p>
            <a:r>
              <a:rPr lang="zh-CN" altLang="en-US" dirty="0">
                <a:latin typeface="微软雅黑" pitchFamily="34" charset="-122"/>
                <a:ea typeface="微软雅黑" pitchFamily="34" charset="-122"/>
              </a:rPr>
              <a:t>国企产权制度改革第一人</a:t>
            </a:r>
            <a:r>
              <a:rPr lang="en-US" altLang="zh-CN" dirty="0">
                <a:latin typeface="微软雅黑" pitchFamily="34" charset="-122"/>
                <a:ea typeface="微软雅黑" pitchFamily="34" charset="-122"/>
              </a:rPr>
              <a:t>——</a:t>
            </a:r>
            <a:r>
              <a:rPr lang="zh-CN" altLang="en-US" dirty="0">
                <a:latin typeface="微软雅黑" pitchFamily="34" charset="-122"/>
                <a:ea typeface="微软雅黑" pitchFamily="34" charset="-122"/>
              </a:rPr>
              <a:t>陈光</a:t>
            </a:r>
            <a:endParaRPr lang="en-US" altLang="zh-CN" dirty="0">
              <a:latin typeface="微软雅黑" pitchFamily="34" charset="-122"/>
              <a:ea typeface="微软雅黑" pitchFamily="34" charset="-122"/>
            </a:endParaRPr>
          </a:p>
        </p:txBody>
      </p:sp>
    </p:spTree>
    <p:extLst>
      <p:ext uri="{BB962C8B-B14F-4D97-AF65-F5344CB8AC3E}">
        <p14:creationId xmlns:p14="http://schemas.microsoft.com/office/powerpoint/2010/main" val="339461299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破除</a:t>
            </a:r>
            <a:endParaRPr lang="en-US" altLang="zh-CN" sz="5400" b="1" dirty="0" smtClean="0">
              <a:latin typeface="华文行楷" pitchFamily="2" charset="-122"/>
              <a:ea typeface="华文行楷" pitchFamily="2" charset="-122"/>
            </a:endParaRPr>
          </a:p>
          <a:p>
            <a:r>
              <a:rPr lang="zh-CN" altLang="en-US" sz="5400" b="1" dirty="0">
                <a:latin typeface="华文行楷" pitchFamily="2" charset="-122"/>
                <a:ea typeface="华文行楷" pitchFamily="2" charset="-122"/>
              </a:rPr>
              <a:t>三铁</a:t>
            </a:r>
          </a:p>
        </p:txBody>
      </p:sp>
      <p:sp>
        <p:nvSpPr>
          <p:cNvPr id="6" name="TextBox 5"/>
          <p:cNvSpPr txBox="1"/>
          <p:nvPr/>
        </p:nvSpPr>
        <p:spPr>
          <a:xfrm>
            <a:off x="744662" y="1706971"/>
            <a:ext cx="4284476" cy="3293209"/>
          </a:xfrm>
          <a:prstGeom prst="rect">
            <a:avLst/>
          </a:prstGeom>
          <a:noFill/>
        </p:spPr>
        <p:txBody>
          <a:bodyPr wrap="square" rtlCol="0">
            <a:spAutoFit/>
          </a:bodyPr>
          <a:lstStyle/>
          <a:p>
            <a:r>
              <a:rPr lang="zh-CN" altLang="en-US" sz="2000" dirty="0" smtClean="0">
                <a:latin typeface="微软雅黑" pitchFamily="34" charset="-122"/>
                <a:ea typeface="微软雅黑" pitchFamily="34" charset="-122"/>
              </a:rPr>
              <a:t>“</a:t>
            </a:r>
            <a:r>
              <a:rPr lang="zh-CN" altLang="en-US" sz="2800" dirty="0" smtClean="0">
                <a:latin typeface="微软雅黑" pitchFamily="34" charset="-122"/>
                <a:ea typeface="微软雅黑" pitchFamily="34" charset="-122"/>
              </a:rPr>
              <a:t>三铁</a:t>
            </a:r>
            <a:r>
              <a:rPr lang="zh-CN" altLang="en-US" sz="2000" dirty="0" smtClean="0">
                <a:latin typeface="微软雅黑" pitchFamily="34" charset="-122"/>
                <a:ea typeface="微软雅黑" pitchFamily="34" charset="-122"/>
              </a:rPr>
              <a:t>”</a:t>
            </a:r>
            <a:endParaRPr lang="en-US" altLang="zh-CN" sz="2000" dirty="0" smtClean="0">
              <a:latin typeface="微软雅黑" pitchFamily="34" charset="-122"/>
              <a:ea typeface="微软雅黑" pitchFamily="34" charset="-122"/>
            </a:endParaRPr>
          </a:p>
          <a:p>
            <a:r>
              <a:rPr lang="en-US" altLang="zh-CN" sz="2000" dirty="0">
                <a:latin typeface="微软雅黑" pitchFamily="34" charset="-122"/>
                <a:ea typeface="微软雅黑" pitchFamily="34" charset="-122"/>
              </a:rPr>
              <a:t> </a:t>
            </a:r>
            <a:r>
              <a:rPr lang="en-US" altLang="zh-CN" sz="2000" dirty="0" smtClean="0">
                <a:latin typeface="微软雅黑" pitchFamily="34" charset="-122"/>
                <a:ea typeface="微软雅黑" pitchFamily="34" charset="-122"/>
              </a:rPr>
              <a:t>       </a:t>
            </a:r>
            <a:r>
              <a:rPr lang="zh-CN" altLang="en-US" sz="2000" dirty="0" smtClean="0">
                <a:latin typeface="微软雅黑" pitchFamily="34" charset="-122"/>
                <a:ea typeface="微软雅黑" pitchFamily="34" charset="-122"/>
              </a:rPr>
              <a:t>分别为铁饭碗、铁交椅和铁工资。被认为是国营企业的传统优越性所在，也是其内部机制僵化累赘的症结。</a:t>
            </a:r>
            <a:endParaRPr lang="en-US" altLang="zh-CN" sz="2000" dirty="0" smtClean="0">
              <a:latin typeface="微软雅黑" pitchFamily="34" charset="-122"/>
              <a:ea typeface="微软雅黑" pitchFamily="34" charset="-122"/>
            </a:endParaRPr>
          </a:p>
          <a:p>
            <a:r>
              <a:rPr lang="zh-CN" altLang="en-US" sz="2000" dirty="0" smtClean="0">
                <a:latin typeface="微软雅黑" pitchFamily="34" charset="-122"/>
                <a:ea typeface="微软雅黑" pitchFamily="34" charset="-122"/>
              </a:rPr>
              <a:t>       在</a:t>
            </a:r>
            <a:r>
              <a:rPr lang="en-US" altLang="zh-CN" sz="2000" dirty="0" smtClean="0">
                <a:latin typeface="微软雅黑" pitchFamily="34" charset="-122"/>
                <a:ea typeface="微软雅黑" pitchFamily="34" charset="-122"/>
              </a:rPr>
              <a:t>1992</a:t>
            </a:r>
            <a:r>
              <a:rPr lang="zh-CN" altLang="en-US" sz="2000" dirty="0" smtClean="0">
                <a:latin typeface="微软雅黑" pitchFamily="34" charset="-122"/>
                <a:ea typeface="微软雅黑" pitchFamily="34" charset="-122"/>
              </a:rPr>
              <a:t>年的“破三铁”被认为是中国大型企业第一次打破“铁饭碗”。但因为缺少相关社会福利制度的保障，可能诱发社会动荡，而半途而废。</a:t>
            </a:r>
            <a:endParaRPr lang="zh-CN" altLang="en-US" sz="2000" dirty="0">
              <a:latin typeface="微软雅黑" pitchFamily="34" charset="-122"/>
              <a:ea typeface="微软雅黑" pitchFamily="34" charset="-122"/>
            </a:endParaRPr>
          </a:p>
        </p:txBody>
      </p:sp>
      <p:sp>
        <p:nvSpPr>
          <p:cNvPr id="8" name="TextBox 7"/>
          <p:cNvSpPr txBox="1"/>
          <p:nvPr/>
        </p:nvSpPr>
        <p:spPr>
          <a:xfrm>
            <a:off x="827584" y="5384760"/>
            <a:ext cx="7920880" cy="1015663"/>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      破除三铁，是企业改革</a:t>
            </a:r>
            <a:r>
              <a:rPr lang="en-US" altLang="zh-CN" sz="2000" dirty="0" smtClean="0">
                <a:solidFill>
                  <a:srgbClr val="E2CE84"/>
                </a:solidFill>
                <a:latin typeface="微软雅黑" pitchFamily="34" charset="-122"/>
                <a:ea typeface="微软雅黑" pitchFamily="34" charset="-122"/>
              </a:rPr>
              <a:t>15</a:t>
            </a:r>
            <a:r>
              <a:rPr lang="zh-CN" altLang="en-US" sz="2000" dirty="0" smtClean="0">
                <a:solidFill>
                  <a:srgbClr val="E2CE84"/>
                </a:solidFill>
                <a:latin typeface="微软雅黑" pitchFamily="34" charset="-122"/>
                <a:ea typeface="微软雅黑" pitchFamily="34" charset="-122"/>
              </a:rPr>
              <a:t>年来，第一次把改革的矛头对准了企业中的一般员工。它让人们意识到，他们一直以此为家的国营企业不再是永远的保姆和不沉的大船。</a:t>
            </a:r>
            <a:endParaRPr lang="zh-CN" altLang="en-US" sz="2000" dirty="0">
              <a:solidFill>
                <a:srgbClr val="E2CE84"/>
              </a:solidFill>
              <a:latin typeface="微软雅黑" pitchFamily="34" charset="-122"/>
              <a:ea typeface="微软雅黑" pitchFamily="34"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82988" y="2114470"/>
            <a:ext cx="2872800" cy="2052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Tree>
    <p:extLst>
      <p:ext uri="{BB962C8B-B14F-4D97-AF65-F5344CB8AC3E}">
        <p14:creationId xmlns:p14="http://schemas.microsoft.com/office/powerpoint/2010/main" val="42701020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5" name="TextBox 4"/>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资本</a:t>
            </a:r>
            <a:endParaRPr lang="en-US" altLang="zh-CN" sz="5400" b="1" dirty="0" smtClean="0">
              <a:latin typeface="华文行楷" pitchFamily="2" charset="-122"/>
              <a:ea typeface="华文行楷" pitchFamily="2" charset="-122"/>
            </a:endParaRPr>
          </a:p>
          <a:p>
            <a:r>
              <a:rPr lang="zh-CN" altLang="en-US" sz="5400" b="1" dirty="0">
                <a:latin typeface="华文行楷" pitchFamily="2" charset="-122"/>
                <a:ea typeface="华文行楷" pitchFamily="2" charset="-122"/>
              </a:rPr>
              <a:t>回归</a:t>
            </a:r>
          </a:p>
        </p:txBody>
      </p:sp>
      <p:pic>
        <p:nvPicPr>
          <p:cNvPr id="6" name="图片 5"/>
          <p:cNvPicPr>
            <a:picLocks noChangeAspect="1"/>
          </p:cNvPicPr>
          <p:nvPr/>
        </p:nvPicPr>
        <p:blipFill rotWithShape="1">
          <a:blip r:embed="rId2" cstate="print">
            <a:extLst>
              <a:ext uri="{28A0092B-C50C-407E-A947-70E740481C1C}">
                <a14:useLocalDpi xmlns:a14="http://schemas.microsoft.com/office/drawing/2010/main" val="0"/>
              </a:ext>
            </a:extLst>
          </a:blip>
          <a:srcRect l="6419" r="7616"/>
          <a:stretch/>
        </p:blipFill>
        <p:spPr>
          <a:xfrm>
            <a:off x="1187624" y="2359020"/>
            <a:ext cx="2232248" cy="1728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pic>
        <p:nvPicPr>
          <p:cNvPr id="7" name="图片 6"/>
          <p:cNvPicPr>
            <a:picLocks noChangeAspect="1"/>
          </p:cNvPicPr>
          <p:nvPr/>
        </p:nvPicPr>
        <p:blipFill rotWithShape="1">
          <a:blip r:embed="rId3" cstate="print">
            <a:extLst>
              <a:ext uri="{28A0092B-C50C-407E-A947-70E740481C1C}">
                <a14:useLocalDpi xmlns:a14="http://schemas.microsoft.com/office/drawing/2010/main" val="0"/>
              </a:ext>
            </a:extLst>
          </a:blip>
          <a:srcRect b="23233"/>
          <a:stretch/>
        </p:blipFill>
        <p:spPr>
          <a:xfrm>
            <a:off x="5705872" y="2276872"/>
            <a:ext cx="2207334" cy="1694512"/>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2" name="矩形 1"/>
          <p:cNvSpPr/>
          <p:nvPr/>
        </p:nvSpPr>
        <p:spPr>
          <a:xfrm>
            <a:off x="738441" y="4389119"/>
            <a:ext cx="3185487" cy="369332"/>
          </a:xfrm>
          <a:prstGeom prst="rect">
            <a:avLst/>
          </a:prstGeom>
        </p:spPr>
        <p:txBody>
          <a:bodyPr wrap="none">
            <a:spAutoFit/>
          </a:bodyPr>
          <a:lstStyle/>
          <a:p>
            <a:r>
              <a:rPr lang="zh-CN" altLang="en-US" b="1" dirty="0">
                <a:latin typeface="微软雅黑" pitchFamily="34" charset="-122"/>
                <a:ea typeface="微软雅黑" pitchFamily="34" charset="-122"/>
              </a:rPr>
              <a:t>上交所</a:t>
            </a:r>
            <a:r>
              <a:rPr lang="zh-CN" altLang="en-US" dirty="0">
                <a:latin typeface="微软雅黑" pitchFamily="34" charset="-122"/>
                <a:ea typeface="微软雅黑" pitchFamily="34" charset="-122"/>
              </a:rPr>
              <a:t>的第一任总裁：尉文渊</a:t>
            </a:r>
            <a:endParaRPr lang="zh-CN" altLang="en-US" dirty="0"/>
          </a:p>
        </p:txBody>
      </p:sp>
      <p:sp>
        <p:nvSpPr>
          <p:cNvPr id="8" name="矩形 7"/>
          <p:cNvSpPr/>
          <p:nvPr/>
        </p:nvSpPr>
        <p:spPr>
          <a:xfrm>
            <a:off x="5322681" y="4408732"/>
            <a:ext cx="3185487" cy="369332"/>
          </a:xfrm>
          <a:prstGeom prst="rect">
            <a:avLst/>
          </a:prstGeom>
        </p:spPr>
        <p:txBody>
          <a:bodyPr wrap="none">
            <a:spAutoFit/>
          </a:bodyPr>
          <a:lstStyle/>
          <a:p>
            <a:r>
              <a:rPr lang="zh-CN" altLang="en-US" b="1" dirty="0">
                <a:latin typeface="微软雅黑" pitchFamily="34" charset="-122"/>
                <a:ea typeface="微软雅黑" pitchFamily="34" charset="-122"/>
              </a:rPr>
              <a:t>深交所</a:t>
            </a:r>
            <a:r>
              <a:rPr lang="zh-CN" altLang="en-US" dirty="0">
                <a:latin typeface="微软雅黑" pitchFamily="34" charset="-122"/>
                <a:ea typeface="微软雅黑" pitchFamily="34" charset="-122"/>
              </a:rPr>
              <a:t>筹备组负责人：禹国刚</a:t>
            </a:r>
            <a:endParaRPr lang="en-US" altLang="zh-CN" dirty="0">
              <a:latin typeface="微软雅黑" pitchFamily="34" charset="-122"/>
              <a:ea typeface="微软雅黑" pitchFamily="34" charset="-122"/>
            </a:endParaRPr>
          </a:p>
        </p:txBody>
      </p:sp>
      <p:sp>
        <p:nvSpPr>
          <p:cNvPr id="11" name="矩形 10"/>
          <p:cNvSpPr/>
          <p:nvPr/>
        </p:nvSpPr>
        <p:spPr>
          <a:xfrm>
            <a:off x="539552" y="5277427"/>
            <a:ext cx="3628731" cy="1200329"/>
          </a:xfrm>
          <a:prstGeom prst="rect">
            <a:avLst/>
          </a:prstGeom>
        </p:spPr>
        <p:txBody>
          <a:bodyPr wrap="square">
            <a:spAutoFit/>
          </a:bodyPr>
          <a:lstStyle/>
          <a:p>
            <a:pPr lvl="0"/>
            <a:r>
              <a:rPr lang="en-US" altLang="zh-CN" dirty="0" smtClean="0">
                <a:solidFill>
                  <a:srgbClr val="E2CE84"/>
                </a:solidFill>
                <a:latin typeface="微软雅黑" pitchFamily="34" charset="-122"/>
                <a:ea typeface="微软雅黑" pitchFamily="34" charset="-122"/>
              </a:rPr>
              <a:t>1990</a:t>
            </a:r>
            <a:r>
              <a:rPr lang="zh-CN" altLang="en-US" dirty="0" smtClean="0">
                <a:solidFill>
                  <a:srgbClr val="E2CE84"/>
                </a:solidFill>
                <a:latin typeface="微软雅黑" pitchFamily="34" charset="-122"/>
                <a:ea typeface="微软雅黑" pitchFamily="34" charset="-122"/>
              </a:rPr>
              <a:t>年</a:t>
            </a:r>
            <a:r>
              <a:rPr lang="en-US" altLang="zh-CN" dirty="0" smtClean="0">
                <a:solidFill>
                  <a:srgbClr val="E2CE84"/>
                </a:solidFill>
                <a:latin typeface="微软雅黑" pitchFamily="34" charset="-122"/>
                <a:ea typeface="微软雅黑" pitchFamily="34" charset="-122"/>
              </a:rPr>
              <a:t>12</a:t>
            </a:r>
            <a:r>
              <a:rPr lang="zh-CN" altLang="en-US" dirty="0">
                <a:solidFill>
                  <a:srgbClr val="E2CE84"/>
                </a:solidFill>
                <a:latin typeface="微软雅黑" pitchFamily="34" charset="-122"/>
                <a:ea typeface="微软雅黑" pitchFamily="34" charset="-122"/>
              </a:rPr>
              <a:t>月</a:t>
            </a:r>
            <a:r>
              <a:rPr lang="en-US" altLang="zh-CN" dirty="0">
                <a:solidFill>
                  <a:srgbClr val="E2CE84"/>
                </a:solidFill>
                <a:latin typeface="微软雅黑" pitchFamily="34" charset="-122"/>
                <a:ea typeface="微软雅黑" pitchFamily="34" charset="-122"/>
              </a:rPr>
              <a:t>19</a:t>
            </a:r>
            <a:r>
              <a:rPr lang="zh-CN" altLang="en-US" dirty="0">
                <a:solidFill>
                  <a:srgbClr val="E2CE84"/>
                </a:solidFill>
                <a:latin typeface="微软雅黑" pitchFamily="34" charset="-122"/>
                <a:ea typeface="微软雅黑" pitchFamily="34" charset="-122"/>
              </a:rPr>
              <a:t>日正式成立</a:t>
            </a:r>
            <a:endParaRPr lang="en-US" altLang="zh-CN" dirty="0">
              <a:solidFill>
                <a:srgbClr val="E2CE84"/>
              </a:solidFill>
              <a:latin typeface="微软雅黑" pitchFamily="34" charset="-122"/>
              <a:ea typeface="微软雅黑" pitchFamily="34" charset="-122"/>
            </a:endParaRPr>
          </a:p>
          <a:p>
            <a:pPr lvl="0"/>
            <a:r>
              <a:rPr lang="zh-CN" altLang="en-US" dirty="0">
                <a:solidFill>
                  <a:srgbClr val="E2CE84"/>
                </a:solidFill>
                <a:latin typeface="微软雅黑" pitchFamily="34" charset="-122"/>
                <a:ea typeface="微软雅黑" pitchFamily="34" charset="-122"/>
              </a:rPr>
              <a:t>当时，全上海可作为会员的证券公司只有</a:t>
            </a:r>
            <a:r>
              <a:rPr lang="en-US" altLang="zh-CN" dirty="0">
                <a:solidFill>
                  <a:srgbClr val="E2CE84"/>
                </a:solidFill>
                <a:latin typeface="微软雅黑" pitchFamily="34" charset="-122"/>
                <a:ea typeface="微软雅黑" pitchFamily="34" charset="-122"/>
              </a:rPr>
              <a:t>3</a:t>
            </a:r>
            <a:r>
              <a:rPr lang="zh-CN" altLang="en-US" dirty="0">
                <a:solidFill>
                  <a:srgbClr val="E2CE84"/>
                </a:solidFill>
                <a:latin typeface="微软雅黑" pitchFamily="34" charset="-122"/>
                <a:ea typeface="微软雅黑" pitchFamily="34" charset="-122"/>
              </a:rPr>
              <a:t>家：</a:t>
            </a:r>
            <a:r>
              <a:rPr lang="zh-CN" altLang="en-US" b="1" dirty="0">
                <a:solidFill>
                  <a:schemeClr val="bg1"/>
                </a:solidFill>
                <a:latin typeface="微软雅黑" pitchFamily="34" charset="-122"/>
                <a:ea typeface="微软雅黑" pitchFamily="34" charset="-122"/>
              </a:rPr>
              <a:t>万国，申银</a:t>
            </a:r>
            <a:r>
              <a:rPr lang="zh-CN" altLang="en-US" dirty="0">
                <a:solidFill>
                  <a:schemeClr val="bg1"/>
                </a:solidFill>
                <a:latin typeface="微软雅黑" pitchFamily="34" charset="-122"/>
                <a:ea typeface="微软雅黑" pitchFamily="34" charset="-122"/>
              </a:rPr>
              <a:t>和</a:t>
            </a:r>
            <a:r>
              <a:rPr lang="zh-CN" altLang="en-US" b="1" dirty="0">
                <a:solidFill>
                  <a:schemeClr val="bg1"/>
                </a:solidFill>
                <a:latin typeface="微软雅黑" pitchFamily="34" charset="-122"/>
                <a:ea typeface="微软雅黑" pitchFamily="34" charset="-122"/>
              </a:rPr>
              <a:t>海通</a:t>
            </a:r>
            <a:r>
              <a:rPr lang="zh-CN" altLang="en-US" dirty="0">
                <a:solidFill>
                  <a:srgbClr val="E2CE84"/>
                </a:solidFill>
                <a:latin typeface="微软雅黑" pitchFamily="34" charset="-122"/>
                <a:ea typeface="微软雅黑" pitchFamily="34" charset="-122"/>
              </a:rPr>
              <a:t>，够上市资格的只有</a:t>
            </a:r>
            <a:r>
              <a:rPr lang="en-US" altLang="zh-CN" dirty="0">
                <a:solidFill>
                  <a:srgbClr val="E2CE84"/>
                </a:solidFill>
                <a:latin typeface="微软雅黑" pitchFamily="34" charset="-122"/>
                <a:ea typeface="微软雅黑" pitchFamily="34" charset="-122"/>
              </a:rPr>
              <a:t>6</a:t>
            </a:r>
            <a:r>
              <a:rPr lang="zh-CN" altLang="en-US" dirty="0">
                <a:solidFill>
                  <a:srgbClr val="E2CE84"/>
                </a:solidFill>
                <a:latin typeface="微软雅黑" pitchFamily="34" charset="-122"/>
                <a:ea typeface="微软雅黑" pitchFamily="34" charset="-122"/>
              </a:rPr>
              <a:t>家。</a:t>
            </a:r>
            <a:endParaRPr lang="en-US" altLang="zh-CN" dirty="0">
              <a:solidFill>
                <a:srgbClr val="E2CE84"/>
              </a:solidFill>
              <a:latin typeface="微软雅黑" pitchFamily="34" charset="-122"/>
              <a:ea typeface="微软雅黑" pitchFamily="34" charset="-122"/>
            </a:endParaRPr>
          </a:p>
        </p:txBody>
      </p:sp>
      <p:sp>
        <p:nvSpPr>
          <p:cNvPr id="12" name="矩形 11"/>
          <p:cNvSpPr/>
          <p:nvPr/>
        </p:nvSpPr>
        <p:spPr>
          <a:xfrm>
            <a:off x="5220072" y="5277427"/>
            <a:ext cx="3497845" cy="1200329"/>
          </a:xfrm>
          <a:prstGeom prst="rect">
            <a:avLst/>
          </a:prstGeom>
        </p:spPr>
        <p:txBody>
          <a:bodyPr wrap="square">
            <a:spAutoFit/>
          </a:bodyPr>
          <a:lstStyle/>
          <a:p>
            <a:r>
              <a:rPr lang="en-US" altLang="zh-CN" dirty="0" smtClean="0">
                <a:solidFill>
                  <a:srgbClr val="E2CE84"/>
                </a:solidFill>
                <a:latin typeface="微软雅黑" pitchFamily="34" charset="-122"/>
                <a:ea typeface="微软雅黑" pitchFamily="34" charset="-122"/>
              </a:rPr>
              <a:t>1990</a:t>
            </a:r>
            <a:r>
              <a:rPr lang="zh-CN" altLang="en-US" dirty="0" smtClean="0">
                <a:solidFill>
                  <a:srgbClr val="E2CE84"/>
                </a:solidFill>
                <a:latin typeface="微软雅黑" pitchFamily="34" charset="-122"/>
                <a:ea typeface="微软雅黑" pitchFamily="34" charset="-122"/>
              </a:rPr>
              <a:t>年</a:t>
            </a:r>
            <a:r>
              <a:rPr lang="en-US" altLang="zh-CN" dirty="0" smtClean="0">
                <a:solidFill>
                  <a:srgbClr val="E2CE84"/>
                </a:solidFill>
                <a:latin typeface="微软雅黑" pitchFamily="34" charset="-122"/>
                <a:ea typeface="微软雅黑" pitchFamily="34" charset="-122"/>
              </a:rPr>
              <a:t>12</a:t>
            </a:r>
            <a:r>
              <a:rPr lang="zh-CN" altLang="en-US" dirty="0">
                <a:solidFill>
                  <a:srgbClr val="E2CE84"/>
                </a:solidFill>
                <a:latin typeface="微软雅黑" pitchFamily="34" charset="-122"/>
                <a:ea typeface="微软雅黑" pitchFamily="34" charset="-122"/>
              </a:rPr>
              <a:t>月</a:t>
            </a:r>
            <a:r>
              <a:rPr lang="en-US" altLang="zh-CN" dirty="0">
                <a:solidFill>
                  <a:srgbClr val="E2CE84"/>
                </a:solidFill>
                <a:latin typeface="微软雅黑" pitchFamily="34" charset="-122"/>
                <a:ea typeface="微软雅黑" pitchFamily="34" charset="-122"/>
              </a:rPr>
              <a:t>1</a:t>
            </a:r>
            <a:r>
              <a:rPr lang="zh-CN" altLang="en-US" dirty="0">
                <a:solidFill>
                  <a:srgbClr val="E2CE84"/>
                </a:solidFill>
                <a:latin typeface="微软雅黑" pitchFamily="34" charset="-122"/>
                <a:ea typeface="微软雅黑" pitchFamily="34" charset="-122"/>
              </a:rPr>
              <a:t>日，抢在上交所之前“试开市”</a:t>
            </a:r>
            <a:r>
              <a:rPr lang="zh-CN" altLang="en-US" dirty="0" smtClean="0">
                <a:solidFill>
                  <a:srgbClr val="E2CE84"/>
                </a:solidFill>
                <a:latin typeface="微软雅黑" pitchFamily="34" charset="-122"/>
                <a:ea typeface="微软雅黑" pitchFamily="34" charset="-122"/>
              </a:rPr>
              <a:t>，股市</a:t>
            </a:r>
            <a:r>
              <a:rPr lang="zh-CN" altLang="en-US" dirty="0">
                <a:solidFill>
                  <a:srgbClr val="E2CE84"/>
                </a:solidFill>
                <a:latin typeface="微软雅黑" pitchFamily="34" charset="-122"/>
                <a:ea typeface="微软雅黑" pitchFamily="34" charset="-122"/>
              </a:rPr>
              <a:t>第一天成交达</a:t>
            </a:r>
            <a:r>
              <a:rPr lang="en-US" altLang="zh-CN" dirty="0">
                <a:solidFill>
                  <a:schemeClr val="bg1"/>
                </a:solidFill>
                <a:latin typeface="微软雅黑" pitchFamily="34" charset="-122"/>
                <a:ea typeface="微软雅黑" pitchFamily="34" charset="-122"/>
              </a:rPr>
              <a:t>8000</a:t>
            </a:r>
            <a:r>
              <a:rPr lang="zh-CN" altLang="en-US" dirty="0">
                <a:solidFill>
                  <a:schemeClr val="bg1"/>
                </a:solidFill>
                <a:latin typeface="微软雅黑" pitchFamily="34" charset="-122"/>
                <a:ea typeface="微软雅黑" pitchFamily="34" charset="-122"/>
              </a:rPr>
              <a:t>股</a:t>
            </a:r>
            <a:r>
              <a:rPr lang="zh-CN" altLang="en-US" dirty="0">
                <a:solidFill>
                  <a:srgbClr val="E2CE84"/>
                </a:solidFill>
                <a:latin typeface="微软雅黑" pitchFamily="34" charset="-122"/>
                <a:ea typeface="微软雅黑" pitchFamily="34" charset="-122"/>
              </a:rPr>
              <a:t>，采用的是最原始的</a:t>
            </a:r>
            <a:r>
              <a:rPr lang="zh-CN" altLang="en-US" b="1" dirty="0">
                <a:solidFill>
                  <a:schemeClr val="bg1"/>
                </a:solidFill>
                <a:latin typeface="微软雅黑" pitchFamily="34" charset="-122"/>
                <a:ea typeface="微软雅黑" pitchFamily="34" charset="-122"/>
              </a:rPr>
              <a:t>口头唱报和白板竞价</a:t>
            </a:r>
            <a:r>
              <a:rPr lang="zh-CN" altLang="en-US" dirty="0">
                <a:solidFill>
                  <a:srgbClr val="E2CE84"/>
                </a:solidFill>
                <a:latin typeface="微软雅黑" pitchFamily="34" charset="-122"/>
                <a:ea typeface="微软雅黑" pitchFamily="34" charset="-122"/>
              </a:rPr>
              <a:t>的手工方式。</a:t>
            </a:r>
            <a:endParaRPr lang="en-US" altLang="zh-CN" dirty="0">
              <a:solidFill>
                <a:srgbClr val="E2CE84"/>
              </a:solidFill>
              <a:latin typeface="微软雅黑" pitchFamily="34" charset="-122"/>
              <a:ea typeface="微软雅黑" pitchFamily="34" charset="-122"/>
            </a:endParaRPr>
          </a:p>
        </p:txBody>
      </p:sp>
      <p:sp>
        <p:nvSpPr>
          <p:cNvPr id="13" name="矩形 12"/>
          <p:cNvSpPr/>
          <p:nvPr/>
        </p:nvSpPr>
        <p:spPr>
          <a:xfrm>
            <a:off x="4355976" y="1484785"/>
            <a:ext cx="360040" cy="3960440"/>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355976" y="5184575"/>
            <a:ext cx="360040" cy="1700809"/>
          </a:xfrm>
          <a:prstGeom prst="rect">
            <a:avLst/>
          </a:prstGeom>
          <a:solidFill>
            <a:srgbClr val="E2CE8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5596365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31640" y="2060848"/>
            <a:ext cx="6624736" cy="923330"/>
          </a:xfrm>
          <a:prstGeom prst="rect">
            <a:avLst/>
          </a:prstGeom>
          <a:noFill/>
        </p:spPr>
        <p:txBody>
          <a:bodyPr wrap="square" rtlCol="0">
            <a:spAutoFit/>
          </a:bodyPr>
          <a:lstStyle/>
          <a:p>
            <a:r>
              <a:rPr lang="zh-CN" altLang="en-US" sz="5400" b="1" dirty="0" smtClean="0">
                <a:latin typeface="微软雅黑" pitchFamily="34" charset="-122"/>
                <a:ea typeface="微软雅黑" pitchFamily="34" charset="-122"/>
              </a:rPr>
              <a:t>乡镇、民营企业之路</a:t>
            </a:r>
            <a:endParaRPr lang="zh-CN" altLang="en-US" sz="5400" b="1" dirty="0">
              <a:latin typeface="微软雅黑" pitchFamily="34" charset="-122"/>
              <a:ea typeface="微软雅黑" pitchFamily="34" charset="-122"/>
            </a:endParaRPr>
          </a:p>
        </p:txBody>
      </p:sp>
    </p:spTree>
    <p:extLst>
      <p:ext uri="{BB962C8B-B14F-4D97-AF65-F5344CB8AC3E}">
        <p14:creationId xmlns:p14="http://schemas.microsoft.com/office/powerpoint/2010/main" val="9975861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843808" y="-27384"/>
            <a:ext cx="6300192"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683568" y="161345"/>
            <a:ext cx="2376264" cy="1323439"/>
          </a:xfrm>
          <a:prstGeom prst="rect">
            <a:avLst/>
          </a:prstGeom>
          <a:noFill/>
        </p:spPr>
        <p:txBody>
          <a:bodyPr wrap="square" rtlCol="0">
            <a:spAutoFit/>
          </a:bodyPr>
          <a:lstStyle/>
          <a:p>
            <a:r>
              <a:rPr lang="zh-CN" altLang="en-US" sz="4000" b="1" dirty="0" smtClean="0">
                <a:latin typeface="华文行楷" pitchFamily="2" charset="-122"/>
                <a:ea typeface="华文行楷" pitchFamily="2" charset="-122"/>
              </a:rPr>
              <a:t>民营公司</a:t>
            </a:r>
            <a:endParaRPr lang="en-US" altLang="zh-CN" sz="4000" b="1" dirty="0" smtClean="0">
              <a:latin typeface="华文行楷" pitchFamily="2" charset="-122"/>
              <a:ea typeface="华文行楷" pitchFamily="2" charset="-122"/>
            </a:endParaRPr>
          </a:p>
          <a:p>
            <a:r>
              <a:rPr lang="zh-CN" altLang="en-US" sz="4000" b="1" dirty="0" smtClean="0">
                <a:latin typeface="华文行楷" pitchFamily="2" charset="-122"/>
                <a:ea typeface="华文行楷" pitchFamily="2" charset="-122"/>
              </a:rPr>
              <a:t>逻辑起点</a:t>
            </a:r>
            <a:endParaRPr lang="zh-CN" altLang="en-US" sz="4000" b="1" dirty="0">
              <a:latin typeface="华文行楷" pitchFamily="2" charset="-122"/>
              <a:ea typeface="华文行楷" pitchFamily="2"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05671" y="1942378"/>
            <a:ext cx="2954761" cy="1154382"/>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3416243"/>
            <a:ext cx="2969620" cy="1365898"/>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9" name="TextBox 8"/>
          <p:cNvSpPr txBox="1"/>
          <p:nvPr/>
        </p:nvSpPr>
        <p:spPr>
          <a:xfrm>
            <a:off x="700467" y="2302418"/>
            <a:ext cx="4536504" cy="2369880"/>
          </a:xfrm>
          <a:prstGeom prst="rect">
            <a:avLst/>
          </a:prstGeom>
          <a:noFill/>
        </p:spPr>
        <p:txBody>
          <a:bodyPr wrap="square" rtlCol="0">
            <a:spAutoFit/>
          </a:bodyPr>
          <a:lstStyle/>
          <a:p>
            <a:r>
              <a:rPr lang="en-US" altLang="zh-CN" sz="2000" dirty="0" smtClean="0">
                <a:latin typeface="微软雅黑" pitchFamily="34" charset="-122"/>
                <a:ea typeface="微软雅黑" pitchFamily="34" charset="-122"/>
              </a:rPr>
              <a:t>       1</a:t>
            </a:r>
            <a:r>
              <a:rPr lang="zh-CN" altLang="en-US" sz="2000" dirty="0" smtClean="0">
                <a:latin typeface="微软雅黑" pitchFamily="34" charset="-122"/>
                <a:ea typeface="微软雅黑" pitchFamily="34" charset="-122"/>
              </a:rPr>
              <a:t>、</a:t>
            </a:r>
            <a:r>
              <a:rPr lang="en-US" altLang="zh-CN" sz="2000" dirty="0" smtClean="0">
                <a:latin typeface="微软雅黑" pitchFamily="34" charset="-122"/>
                <a:ea typeface="微软雅黑" pitchFamily="34" charset="-122"/>
              </a:rPr>
              <a:t>1979</a:t>
            </a:r>
            <a:r>
              <a:rPr lang="zh-CN" altLang="en-US" sz="2000" dirty="0" smtClean="0">
                <a:latin typeface="微软雅黑" pitchFamily="34" charset="-122"/>
                <a:ea typeface="微软雅黑" pitchFamily="34" charset="-122"/>
              </a:rPr>
              <a:t>年</a:t>
            </a:r>
            <a:r>
              <a:rPr lang="en-US" altLang="zh-CN" sz="2000" dirty="0" smtClean="0">
                <a:latin typeface="微软雅黑" pitchFamily="34" charset="-122"/>
                <a:ea typeface="微软雅黑" pitchFamily="34" charset="-122"/>
              </a:rPr>
              <a:t>2</a:t>
            </a:r>
            <a:r>
              <a:rPr lang="zh-CN" altLang="en-US" sz="2000" dirty="0" smtClean="0">
                <a:latin typeface="微软雅黑" pitchFamily="34" charset="-122"/>
                <a:ea typeface="微软雅黑" pitchFamily="34" charset="-122"/>
              </a:rPr>
              <a:t>月，</a:t>
            </a:r>
            <a:r>
              <a:rPr lang="en-US" altLang="zh-CN" sz="2400" b="1" dirty="0" smtClean="0">
                <a:latin typeface="微软雅黑" pitchFamily="34" charset="-122"/>
                <a:ea typeface="微软雅黑" pitchFamily="34" charset="-122"/>
              </a:rPr>
              <a:t>760</a:t>
            </a:r>
            <a:r>
              <a:rPr lang="zh-CN" altLang="en-US" sz="2400" b="1" dirty="0" smtClean="0">
                <a:latin typeface="微软雅黑" pitchFamily="34" charset="-122"/>
                <a:ea typeface="微软雅黑" pitchFamily="34" charset="-122"/>
              </a:rPr>
              <a:t>万</a:t>
            </a:r>
            <a:r>
              <a:rPr lang="zh-CN" altLang="en-US" sz="2000" dirty="0" smtClean="0">
                <a:latin typeface="微软雅黑" pitchFamily="34" charset="-122"/>
                <a:ea typeface="微软雅黑" pitchFamily="34" charset="-122"/>
              </a:rPr>
              <a:t>上山下乡的</a:t>
            </a:r>
            <a:r>
              <a:rPr lang="zh-CN" altLang="en-US" sz="2400" b="1" dirty="0" smtClean="0">
                <a:latin typeface="微软雅黑" pitchFamily="34" charset="-122"/>
                <a:ea typeface="微软雅黑" pitchFamily="34" charset="-122"/>
              </a:rPr>
              <a:t>知青大军</a:t>
            </a:r>
            <a:r>
              <a:rPr lang="zh-CN" altLang="en-US" sz="24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回到城市，而工厂没有相应的人力需求，政府顺势而为。</a:t>
            </a:r>
            <a:endParaRPr lang="en-US" altLang="zh-CN" sz="2000" dirty="0" smtClean="0">
              <a:latin typeface="微软雅黑" pitchFamily="34" charset="-122"/>
              <a:ea typeface="微软雅黑" pitchFamily="34" charset="-122"/>
            </a:endParaRPr>
          </a:p>
          <a:p>
            <a:r>
              <a:rPr lang="en-US" altLang="zh-CN" sz="2000" dirty="0">
                <a:latin typeface="微软雅黑" pitchFamily="34" charset="-122"/>
                <a:ea typeface="微软雅黑" pitchFamily="34" charset="-122"/>
              </a:rPr>
              <a:t> </a:t>
            </a:r>
            <a:r>
              <a:rPr lang="en-US" altLang="zh-CN" sz="2000" dirty="0" smtClean="0">
                <a:latin typeface="微软雅黑" pitchFamily="34" charset="-122"/>
                <a:ea typeface="微软雅黑" pitchFamily="34" charset="-122"/>
              </a:rPr>
              <a:t>      2</a:t>
            </a:r>
            <a:r>
              <a:rPr lang="zh-CN" altLang="en-US" sz="2000" dirty="0" smtClean="0">
                <a:latin typeface="微软雅黑" pitchFamily="34" charset="-122"/>
                <a:ea typeface="微软雅黑" pitchFamily="34" charset="-122"/>
              </a:rPr>
              <a:t>、</a:t>
            </a:r>
            <a:r>
              <a:rPr lang="en-US" altLang="zh-CN" sz="2000" dirty="0" smtClean="0">
                <a:latin typeface="微软雅黑" pitchFamily="34" charset="-122"/>
                <a:ea typeface="微软雅黑" pitchFamily="34" charset="-122"/>
              </a:rPr>
              <a:t>1978</a:t>
            </a:r>
            <a:r>
              <a:rPr lang="zh-CN" altLang="en-US" sz="2000" dirty="0" smtClean="0">
                <a:latin typeface="微软雅黑" pitchFamily="34" charset="-122"/>
                <a:ea typeface="微软雅黑" pitchFamily="34" charset="-122"/>
              </a:rPr>
              <a:t>年，以凤阳县小岗村为代表的，包产到户，使中国农民从土地的束缚中解放出来。</a:t>
            </a:r>
            <a:endParaRPr lang="en-US" altLang="zh-CN" sz="2000" dirty="0" smtClean="0">
              <a:latin typeface="微软雅黑" pitchFamily="34" charset="-122"/>
              <a:ea typeface="微软雅黑" pitchFamily="34" charset="-122"/>
            </a:endParaRPr>
          </a:p>
          <a:p>
            <a:r>
              <a:rPr lang="zh-CN" altLang="en-US" sz="2000" dirty="0" smtClean="0">
                <a:latin typeface="微软雅黑" pitchFamily="34" charset="-122"/>
                <a:ea typeface="微软雅黑" pitchFamily="34" charset="-122"/>
              </a:rPr>
              <a:t>这就是民间公司意外崛起的逻辑起点。</a:t>
            </a:r>
            <a:endParaRPr lang="en-US" altLang="zh-CN" dirty="0" smtClean="0">
              <a:latin typeface="微软雅黑" pitchFamily="34" charset="-122"/>
              <a:ea typeface="微软雅黑" pitchFamily="34" charset="-122"/>
            </a:endParaRPr>
          </a:p>
        </p:txBody>
      </p:sp>
      <p:sp>
        <p:nvSpPr>
          <p:cNvPr id="8" name="文本框 7"/>
          <p:cNvSpPr txBox="1"/>
          <p:nvPr/>
        </p:nvSpPr>
        <p:spPr>
          <a:xfrm rot="21162769">
            <a:off x="6180426" y="1790417"/>
            <a:ext cx="1434458" cy="338554"/>
          </a:xfrm>
          <a:prstGeom prst="rect">
            <a:avLst/>
          </a:prstGeom>
          <a:noFill/>
        </p:spPr>
        <p:txBody>
          <a:bodyPr wrap="square" rtlCol="0">
            <a:spAutoFit/>
          </a:bodyPr>
          <a:lstStyle/>
          <a:p>
            <a:r>
              <a:rPr lang="zh-CN" altLang="en-US" sz="1600" dirty="0" smtClean="0">
                <a:solidFill>
                  <a:srgbClr val="D32A34"/>
                </a:solidFill>
              </a:rPr>
              <a:t>知青大军返城</a:t>
            </a:r>
            <a:endParaRPr lang="zh-CN" altLang="en-US" sz="1600" dirty="0">
              <a:solidFill>
                <a:srgbClr val="D32A34"/>
              </a:solidFill>
            </a:endParaRPr>
          </a:p>
        </p:txBody>
      </p:sp>
      <p:sp>
        <p:nvSpPr>
          <p:cNvPr id="10" name="文本框 9"/>
          <p:cNvSpPr txBox="1"/>
          <p:nvPr/>
        </p:nvSpPr>
        <p:spPr>
          <a:xfrm rot="21153415">
            <a:off x="6306186" y="3261238"/>
            <a:ext cx="1457844" cy="338554"/>
          </a:xfrm>
          <a:prstGeom prst="rect">
            <a:avLst/>
          </a:prstGeom>
          <a:noFill/>
        </p:spPr>
        <p:txBody>
          <a:bodyPr wrap="square" rtlCol="0">
            <a:spAutoFit/>
          </a:bodyPr>
          <a:lstStyle/>
          <a:p>
            <a:r>
              <a:rPr lang="zh-CN" altLang="en-US" sz="1600" dirty="0" smtClean="0">
                <a:solidFill>
                  <a:srgbClr val="D32A34"/>
                </a:solidFill>
              </a:rPr>
              <a:t>大学生招聘会</a:t>
            </a:r>
            <a:endParaRPr lang="zh-CN" altLang="en-US" sz="1600" dirty="0">
              <a:solidFill>
                <a:srgbClr val="D32A34"/>
              </a:solidFill>
            </a:endParaRPr>
          </a:p>
        </p:txBody>
      </p:sp>
      <p:sp>
        <p:nvSpPr>
          <p:cNvPr id="11" name="矩形 10"/>
          <p:cNvSpPr/>
          <p:nvPr/>
        </p:nvSpPr>
        <p:spPr>
          <a:xfrm>
            <a:off x="971600" y="5638581"/>
            <a:ext cx="7089211" cy="830997"/>
          </a:xfrm>
          <a:prstGeom prst="rect">
            <a:avLst/>
          </a:prstGeom>
        </p:spPr>
        <p:txBody>
          <a:bodyPr wrap="square">
            <a:spAutoFit/>
          </a:bodyPr>
          <a:lstStyle/>
          <a:p>
            <a:r>
              <a:rPr lang="zh-CN" altLang="en-US" sz="2000" dirty="0">
                <a:solidFill>
                  <a:srgbClr val="E2CE84"/>
                </a:solidFill>
                <a:latin typeface="微软雅黑" pitchFamily="34" charset="-122"/>
                <a:ea typeface="微软雅黑" pitchFamily="34" charset="-122"/>
              </a:rPr>
              <a:t>如今，大学毕业生的</a:t>
            </a:r>
            <a:r>
              <a:rPr lang="zh-CN" altLang="en-US" sz="2400" dirty="0">
                <a:solidFill>
                  <a:schemeClr val="bg1"/>
                </a:solidFill>
                <a:latin typeface="微软雅黑" pitchFamily="34" charset="-122"/>
                <a:ea typeface="微软雅黑" pitchFamily="34" charset="-122"/>
              </a:rPr>
              <a:t>就业问题</a:t>
            </a:r>
            <a:r>
              <a:rPr lang="zh-CN" altLang="en-US" sz="2000" dirty="0">
                <a:solidFill>
                  <a:srgbClr val="E2CE84"/>
                </a:solidFill>
                <a:latin typeface="微软雅黑" pitchFamily="34" charset="-122"/>
                <a:ea typeface="微软雅黑" pitchFamily="34" charset="-122"/>
              </a:rPr>
              <a:t>也是悬在政府面前的一把利剑，所以现在也是积极</a:t>
            </a:r>
            <a:r>
              <a:rPr lang="zh-CN" altLang="en-US" sz="2400" dirty="0">
                <a:solidFill>
                  <a:schemeClr val="bg1"/>
                </a:solidFill>
                <a:latin typeface="微软雅黑" pitchFamily="34" charset="-122"/>
                <a:ea typeface="微软雅黑" pitchFamily="34" charset="-122"/>
              </a:rPr>
              <a:t>鼓励</a:t>
            </a:r>
            <a:r>
              <a:rPr lang="zh-CN" altLang="en-US" sz="2000" dirty="0">
                <a:solidFill>
                  <a:srgbClr val="E2CE84"/>
                </a:solidFill>
                <a:latin typeface="微软雅黑" pitchFamily="34" charset="-122"/>
                <a:ea typeface="微软雅黑" pitchFamily="34" charset="-122"/>
              </a:rPr>
              <a:t>年轻人去</a:t>
            </a:r>
            <a:r>
              <a:rPr lang="zh-CN" altLang="en-US" sz="2400" dirty="0">
                <a:solidFill>
                  <a:schemeClr val="bg1"/>
                </a:solidFill>
                <a:latin typeface="微软雅黑" pitchFamily="34" charset="-122"/>
                <a:ea typeface="微软雅黑" pitchFamily="34" charset="-122"/>
              </a:rPr>
              <a:t>创业</a:t>
            </a:r>
            <a:r>
              <a:rPr lang="zh-CN" altLang="en-US" sz="2000" dirty="0">
                <a:solidFill>
                  <a:srgbClr val="E2CE84"/>
                </a:solidFill>
                <a:latin typeface="微软雅黑" pitchFamily="34" charset="-122"/>
                <a:ea typeface="微软雅黑" pitchFamily="34" charset="-122"/>
              </a:rPr>
              <a:t>，缓解就业压力。</a:t>
            </a:r>
            <a:endParaRPr lang="en-US" altLang="zh-CN" sz="2000" dirty="0">
              <a:solidFill>
                <a:srgbClr val="E2CE84"/>
              </a:solidFill>
              <a:latin typeface="微软雅黑" pitchFamily="34" charset="-122"/>
              <a:ea typeface="微软雅黑" pitchFamily="34" charset="-122"/>
            </a:endParaRPr>
          </a:p>
        </p:txBody>
      </p:sp>
    </p:spTree>
    <p:extLst>
      <p:ext uri="{BB962C8B-B14F-4D97-AF65-F5344CB8AC3E}">
        <p14:creationId xmlns:p14="http://schemas.microsoft.com/office/powerpoint/2010/main" val="31435974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051720" y="-27384"/>
            <a:ext cx="7092280"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38234"/>
            <a:ext cx="1440160" cy="1446550"/>
          </a:xfrm>
          <a:prstGeom prst="rect">
            <a:avLst/>
          </a:prstGeom>
          <a:noFill/>
        </p:spPr>
        <p:txBody>
          <a:bodyPr wrap="square" rtlCol="0">
            <a:spAutoFit/>
          </a:bodyPr>
          <a:lstStyle/>
          <a:p>
            <a:r>
              <a:rPr lang="zh-CN" altLang="en-US" sz="4400" b="1" dirty="0" smtClean="0">
                <a:latin typeface="华文行楷" pitchFamily="2" charset="-122"/>
                <a:ea typeface="华文行楷" pitchFamily="2" charset="-122"/>
              </a:rPr>
              <a:t>雇工</a:t>
            </a:r>
            <a:endParaRPr lang="en-US" altLang="zh-CN" sz="4400" b="1" dirty="0" smtClean="0">
              <a:latin typeface="华文行楷" pitchFamily="2" charset="-122"/>
              <a:ea typeface="华文行楷" pitchFamily="2" charset="-122"/>
            </a:endParaRPr>
          </a:p>
          <a:p>
            <a:r>
              <a:rPr lang="zh-CN" altLang="en-US" sz="4400" b="1" dirty="0" smtClean="0">
                <a:latin typeface="华文行楷" pitchFamily="2" charset="-122"/>
                <a:ea typeface="华文行楷" pitchFamily="2" charset="-122"/>
              </a:rPr>
              <a:t>问题</a:t>
            </a:r>
            <a:endParaRPr lang="en-US" altLang="zh-CN" sz="4400" b="1" dirty="0" smtClean="0">
              <a:latin typeface="华文行楷" pitchFamily="2" charset="-122"/>
              <a:ea typeface="华文行楷" pitchFamily="2" charset="-122"/>
            </a:endParaRPr>
          </a:p>
        </p:txBody>
      </p:sp>
      <p:sp>
        <p:nvSpPr>
          <p:cNvPr id="9" name="TextBox 8"/>
          <p:cNvSpPr txBox="1"/>
          <p:nvPr/>
        </p:nvSpPr>
        <p:spPr>
          <a:xfrm>
            <a:off x="700466" y="1844824"/>
            <a:ext cx="4897393" cy="3170099"/>
          </a:xfrm>
          <a:prstGeom prst="rect">
            <a:avLst/>
          </a:prstGeom>
          <a:noFill/>
        </p:spPr>
        <p:txBody>
          <a:bodyPr wrap="square" rtlCol="0">
            <a:spAutoFit/>
          </a:bodyPr>
          <a:lstStyle/>
          <a:p>
            <a:r>
              <a:rPr lang="en-US" altLang="zh-CN" sz="2000" dirty="0" smtClean="0">
                <a:latin typeface="微软雅黑" pitchFamily="34" charset="-122"/>
                <a:ea typeface="微软雅黑" pitchFamily="34" charset="-122"/>
              </a:rPr>
              <a:t>       </a:t>
            </a:r>
            <a:r>
              <a:rPr lang="zh-CN" altLang="en-US" sz="2000" dirty="0" smtClean="0">
                <a:latin typeface="微软雅黑" pitchFamily="34" charset="-122"/>
                <a:ea typeface="微软雅黑" pitchFamily="34" charset="-122"/>
              </a:rPr>
              <a:t>中国第一商贩</a:t>
            </a:r>
            <a:r>
              <a:rPr lang="en-US" altLang="zh-CN" sz="2000" dirty="0" smtClean="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年广久</a:t>
            </a:r>
            <a:endParaRPr lang="en-US" altLang="zh-CN" sz="2000" dirty="0" smtClean="0">
              <a:latin typeface="微软雅黑" pitchFamily="34" charset="-122"/>
              <a:ea typeface="微软雅黑" pitchFamily="34" charset="-122"/>
            </a:endParaRPr>
          </a:p>
          <a:p>
            <a:r>
              <a:rPr lang="zh-CN" altLang="en-US" sz="2000" dirty="0" smtClean="0">
                <a:latin typeface="微软雅黑" pitchFamily="34" charset="-122"/>
                <a:ea typeface="微软雅黑" pitchFamily="34" charset="-122"/>
              </a:rPr>
              <a:t>由于邓公的支持，使得雇工人数的舆论讨论告一段落，民营公司得以有机会扩大生产，开启大工业时代。</a:t>
            </a:r>
            <a:endParaRPr lang="en-US" altLang="zh-CN" sz="2000" dirty="0" smtClean="0">
              <a:latin typeface="微软雅黑" pitchFamily="34" charset="-122"/>
              <a:ea typeface="微软雅黑" pitchFamily="34" charset="-122"/>
            </a:endParaRPr>
          </a:p>
          <a:p>
            <a:r>
              <a:rPr lang="zh-CN" altLang="en-US" sz="2000" dirty="0" smtClean="0">
                <a:latin typeface="微软雅黑" pitchFamily="34" charset="-122"/>
                <a:ea typeface="微软雅黑" pitchFamily="34" charset="-122"/>
              </a:rPr>
              <a:t>       年</a:t>
            </a:r>
            <a:r>
              <a:rPr lang="zh-CN" altLang="en-US" sz="2000" dirty="0">
                <a:latin typeface="微软雅黑" pitchFamily="34" charset="-122"/>
                <a:ea typeface="微软雅黑" pitchFamily="34" charset="-122"/>
              </a:rPr>
              <a:t>广久也是第一个搞“</a:t>
            </a:r>
            <a:r>
              <a:rPr lang="zh-CN" altLang="en-US" sz="2000" b="1" dirty="0">
                <a:latin typeface="微软雅黑" pitchFamily="34" charset="-122"/>
                <a:ea typeface="微软雅黑" pitchFamily="34" charset="-122"/>
              </a:rPr>
              <a:t>有奖销售</a:t>
            </a:r>
            <a:r>
              <a:rPr lang="zh-CN" altLang="en-US" sz="2000" dirty="0">
                <a:latin typeface="微软雅黑" pitchFamily="34" charset="-122"/>
                <a:ea typeface="微软雅黑" pitchFamily="34" charset="-122"/>
              </a:rPr>
              <a:t>”的人，并被国家下令禁止。邓公曾在</a:t>
            </a:r>
            <a:r>
              <a:rPr lang="en-US" altLang="zh-CN" sz="2000" dirty="0">
                <a:latin typeface="微软雅黑" pitchFamily="34" charset="-122"/>
                <a:ea typeface="微软雅黑" pitchFamily="34" charset="-122"/>
              </a:rPr>
              <a:t>1982</a:t>
            </a:r>
            <a:r>
              <a:rPr lang="zh-CN" altLang="en-US" sz="2000" dirty="0">
                <a:latin typeface="微软雅黑" pitchFamily="34" charset="-122"/>
                <a:ea typeface="微软雅黑" pitchFamily="34" charset="-122"/>
              </a:rPr>
              <a:t>年、</a:t>
            </a:r>
            <a:r>
              <a:rPr lang="en-US" altLang="zh-CN" sz="2000" dirty="0">
                <a:latin typeface="微软雅黑" pitchFamily="34" charset="-122"/>
                <a:ea typeface="微软雅黑" pitchFamily="34" charset="-122"/>
              </a:rPr>
              <a:t>1987</a:t>
            </a:r>
            <a:r>
              <a:rPr lang="zh-CN" altLang="en-US" sz="2000" dirty="0">
                <a:latin typeface="微软雅黑" pitchFamily="34" charset="-122"/>
                <a:ea typeface="微软雅黑" pitchFamily="34" charset="-122"/>
              </a:rPr>
              <a:t>年和</a:t>
            </a:r>
            <a:r>
              <a:rPr lang="en-US" altLang="zh-CN" sz="2000" dirty="0">
                <a:latin typeface="微软雅黑" pitchFamily="34" charset="-122"/>
                <a:ea typeface="微软雅黑" pitchFamily="34" charset="-122"/>
              </a:rPr>
              <a:t>1992</a:t>
            </a:r>
            <a:r>
              <a:rPr lang="zh-CN" altLang="en-US" sz="2000" dirty="0">
                <a:latin typeface="微软雅黑" pitchFamily="34" charset="-122"/>
                <a:ea typeface="微软雅黑" pitchFamily="34" charset="-122"/>
              </a:rPr>
              <a:t>年三次提到年广久，可见在邓公心中，他的象征意义之大</a:t>
            </a:r>
            <a:endParaRPr lang="en-US" altLang="zh-CN" sz="2000" dirty="0">
              <a:latin typeface="微软雅黑" pitchFamily="34" charset="-122"/>
              <a:ea typeface="微软雅黑" pitchFamily="34" charset="-122"/>
            </a:endParaRPr>
          </a:p>
          <a:p>
            <a:endParaRPr lang="en-US" altLang="zh-CN" sz="2000" dirty="0" smtClean="0">
              <a:latin typeface="微软雅黑" pitchFamily="34" charset="-122"/>
              <a:ea typeface="微软雅黑" pitchFamily="34" charset="-122"/>
            </a:endParaRPr>
          </a:p>
          <a:p>
            <a:endParaRPr lang="en-US" altLang="zh-CN" sz="2000" dirty="0" smtClean="0">
              <a:latin typeface="微软雅黑" pitchFamily="34" charset="-122"/>
              <a:ea typeface="微软雅黑" pitchFamily="34" charset="-122"/>
            </a:endParaRPr>
          </a:p>
        </p:txBody>
      </p:sp>
      <p:sp>
        <p:nvSpPr>
          <p:cNvPr id="11" name="矩形 10"/>
          <p:cNvSpPr/>
          <p:nvPr/>
        </p:nvSpPr>
        <p:spPr>
          <a:xfrm>
            <a:off x="971600" y="5460078"/>
            <a:ext cx="7089211" cy="461665"/>
          </a:xfrm>
          <a:prstGeom prst="rect">
            <a:avLst/>
          </a:prstGeom>
        </p:spPr>
        <p:txBody>
          <a:bodyPr wrap="square">
            <a:spAutoFit/>
          </a:bodyPr>
          <a:lstStyle/>
          <a:p>
            <a:r>
              <a:rPr lang="zh-CN" altLang="en-US" sz="2000" dirty="0" smtClean="0">
                <a:solidFill>
                  <a:srgbClr val="E2CE84"/>
                </a:solidFill>
                <a:latin typeface="微软雅黑" pitchFamily="34" charset="-122"/>
                <a:ea typeface="微软雅黑" pitchFamily="34" charset="-122"/>
              </a:rPr>
              <a:t>至此，民营企业日后的</a:t>
            </a:r>
            <a:r>
              <a:rPr lang="zh-CN" altLang="en-US" sz="2400" b="1" dirty="0" smtClean="0">
                <a:solidFill>
                  <a:schemeClr val="bg1"/>
                </a:solidFill>
                <a:latin typeface="微软雅黑" pitchFamily="34" charset="-122"/>
                <a:ea typeface="微软雅黑" pitchFamily="34" charset="-122"/>
              </a:rPr>
              <a:t>“意外崛起”</a:t>
            </a:r>
            <a:r>
              <a:rPr lang="zh-CN" altLang="en-US" sz="2000" dirty="0" smtClean="0">
                <a:solidFill>
                  <a:srgbClr val="E2CE84"/>
                </a:solidFill>
                <a:latin typeface="微软雅黑" pitchFamily="34" charset="-122"/>
                <a:ea typeface="微软雅黑" pitchFamily="34" charset="-122"/>
              </a:rPr>
              <a:t>即将成为必然。</a:t>
            </a:r>
            <a:endParaRPr lang="en-US" altLang="zh-CN" sz="2000" dirty="0">
              <a:solidFill>
                <a:srgbClr val="E2CE84"/>
              </a:solidFill>
              <a:latin typeface="微软雅黑" pitchFamily="34" charset="-122"/>
              <a:ea typeface="微软雅黑" pitchFamily="34" charset="-122"/>
            </a:endParaRPr>
          </a:p>
        </p:txBody>
      </p:sp>
      <p:sp>
        <p:nvSpPr>
          <p:cNvPr id="8" name="TextBox 7"/>
          <p:cNvSpPr txBox="1"/>
          <p:nvPr/>
        </p:nvSpPr>
        <p:spPr>
          <a:xfrm>
            <a:off x="6444208" y="4653136"/>
            <a:ext cx="1728192" cy="369332"/>
          </a:xfrm>
          <a:prstGeom prst="rect">
            <a:avLst/>
          </a:prstGeom>
          <a:noFill/>
        </p:spPr>
        <p:txBody>
          <a:bodyPr wrap="square" rtlCol="0">
            <a:spAutoFit/>
          </a:bodyPr>
          <a:lstStyle/>
          <a:p>
            <a:pPr algn="ctr"/>
            <a:r>
              <a:rPr lang="zh-CN" altLang="en-US" dirty="0" smtClean="0">
                <a:latin typeface="微软雅黑" pitchFamily="34" charset="-122"/>
                <a:ea typeface="微软雅黑" pitchFamily="34" charset="-122"/>
              </a:rPr>
              <a:t>年广久</a:t>
            </a:r>
            <a:endParaRPr lang="zh-CN" altLang="en-US" dirty="0">
              <a:latin typeface="微软雅黑" pitchFamily="34" charset="-122"/>
              <a:ea typeface="微软雅黑" pitchFamily="34" charset="-122"/>
            </a:endParaRPr>
          </a:p>
        </p:txBody>
      </p: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59831" y="1844824"/>
            <a:ext cx="1784627" cy="268884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1178912">
            <a:off x="6507506" y="1868725"/>
            <a:ext cx="1728957" cy="2593436"/>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Tree>
    <p:extLst>
      <p:ext uri="{BB962C8B-B14F-4D97-AF65-F5344CB8AC3E}">
        <p14:creationId xmlns:p14="http://schemas.microsoft.com/office/powerpoint/2010/main" val="35983797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a:latin typeface="华文行楷" pitchFamily="2" charset="-122"/>
                <a:ea typeface="华文行楷" pitchFamily="2" charset="-122"/>
              </a:rPr>
              <a:t>公司元年</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08104" y="2270645"/>
            <a:ext cx="2883628" cy="1908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6" name="TextBox 5"/>
          <p:cNvSpPr txBox="1"/>
          <p:nvPr/>
        </p:nvSpPr>
        <p:spPr>
          <a:xfrm>
            <a:off x="827584" y="1988840"/>
            <a:ext cx="4284476" cy="1754326"/>
          </a:xfrm>
          <a:prstGeom prst="rect">
            <a:avLst/>
          </a:prstGeom>
          <a:noFill/>
        </p:spPr>
        <p:txBody>
          <a:bodyPr wrap="square" rtlCol="0">
            <a:spAutoFit/>
          </a:bodyPr>
          <a:lstStyle/>
          <a:p>
            <a:r>
              <a:rPr lang="zh-CN" altLang="en-US" sz="2000" dirty="0" smtClean="0">
                <a:latin typeface="微软雅黑" pitchFamily="34" charset="-122"/>
                <a:ea typeface="微软雅黑" pitchFamily="34" charset="-122"/>
              </a:rPr>
              <a:t>       在中国企业史上，很多驰骋一时的公司均诞生在</a:t>
            </a:r>
            <a:r>
              <a:rPr lang="en-US" altLang="zh-CN" sz="2400" dirty="0" smtClean="0">
                <a:latin typeface="微软雅黑" pitchFamily="34" charset="-122"/>
                <a:ea typeface="微软雅黑" pitchFamily="34" charset="-122"/>
              </a:rPr>
              <a:t>1984</a:t>
            </a:r>
            <a:r>
              <a:rPr lang="zh-CN" altLang="en-US" sz="2000" dirty="0" smtClean="0">
                <a:latin typeface="微软雅黑" pitchFamily="34" charset="-122"/>
                <a:ea typeface="微软雅黑" pitchFamily="34" charset="-122"/>
              </a:rPr>
              <a:t>年，后来，人们将之称为</a:t>
            </a:r>
            <a:r>
              <a:rPr lang="zh-CN" altLang="en-US" sz="2400" b="1" dirty="0" smtClean="0">
                <a:latin typeface="微软雅黑" pitchFamily="34" charset="-122"/>
                <a:ea typeface="微软雅黑" pitchFamily="34" charset="-122"/>
              </a:rPr>
              <a:t>中国现代公司元年</a:t>
            </a:r>
            <a:r>
              <a:rPr lang="zh-CN" altLang="en-US" sz="2000" dirty="0" smtClean="0">
                <a:latin typeface="微软雅黑" pitchFamily="34" charset="-122"/>
                <a:ea typeface="微软雅黑" pitchFamily="34" charset="-122"/>
              </a:rPr>
              <a:t>。此年，也是中国第一次下海经商浪潮，其后两次是</a:t>
            </a:r>
            <a:r>
              <a:rPr lang="en-US" altLang="zh-CN" sz="2000" dirty="0" smtClean="0">
                <a:latin typeface="微软雅黑" pitchFamily="34" charset="-122"/>
                <a:ea typeface="微软雅黑" pitchFamily="34" charset="-122"/>
              </a:rPr>
              <a:t>1987</a:t>
            </a:r>
            <a:r>
              <a:rPr lang="zh-CN" altLang="en-US" sz="2000" dirty="0" smtClean="0">
                <a:latin typeface="微软雅黑" pitchFamily="34" charset="-122"/>
                <a:ea typeface="微软雅黑" pitchFamily="34" charset="-122"/>
              </a:rPr>
              <a:t>和</a:t>
            </a:r>
            <a:r>
              <a:rPr lang="en-US" altLang="zh-CN" sz="2000" dirty="0" smtClean="0">
                <a:latin typeface="微软雅黑" pitchFamily="34" charset="-122"/>
                <a:ea typeface="微软雅黑" pitchFamily="34" charset="-122"/>
              </a:rPr>
              <a:t>1993</a:t>
            </a:r>
            <a:r>
              <a:rPr lang="zh-CN" altLang="en-US" sz="2000" dirty="0" smtClean="0">
                <a:latin typeface="微软雅黑" pitchFamily="34" charset="-122"/>
                <a:ea typeface="微软雅黑" pitchFamily="34" charset="-122"/>
              </a:rPr>
              <a:t>年。</a:t>
            </a:r>
            <a:endParaRPr lang="zh-CN" altLang="en-US" sz="2000" dirty="0">
              <a:latin typeface="微软雅黑" pitchFamily="34" charset="-122"/>
              <a:ea typeface="微软雅黑" pitchFamily="34" charset="-122"/>
            </a:endParaRPr>
          </a:p>
        </p:txBody>
      </p:sp>
      <p:sp>
        <p:nvSpPr>
          <p:cNvPr id="7" name="TextBox 6"/>
          <p:cNvSpPr txBox="1"/>
          <p:nvPr/>
        </p:nvSpPr>
        <p:spPr>
          <a:xfrm>
            <a:off x="841625" y="4222829"/>
            <a:ext cx="4482498" cy="646331"/>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万   科</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王   石     联   </a:t>
            </a:r>
            <a:r>
              <a:rPr lang="zh-CN" altLang="en-US" dirty="0">
                <a:latin typeface="微软雅黑" pitchFamily="34" charset="-122"/>
                <a:ea typeface="微软雅黑" pitchFamily="34" charset="-122"/>
              </a:rPr>
              <a:t>想</a:t>
            </a:r>
            <a:r>
              <a:rPr lang="en-US" altLang="zh-CN" dirty="0">
                <a:latin typeface="微软雅黑" pitchFamily="34" charset="-122"/>
                <a:ea typeface="微软雅黑" pitchFamily="34" charset="-122"/>
              </a:rPr>
              <a:t>——</a:t>
            </a:r>
            <a:r>
              <a:rPr lang="zh-CN" altLang="en-US" dirty="0">
                <a:latin typeface="微软雅黑" pitchFamily="34" charset="-122"/>
                <a:ea typeface="微软雅黑" pitchFamily="34" charset="-122"/>
              </a:rPr>
              <a:t>柳传志</a:t>
            </a:r>
            <a:endParaRPr lang="en-US" altLang="zh-CN" dirty="0">
              <a:latin typeface="微软雅黑" pitchFamily="34" charset="-122"/>
              <a:ea typeface="微软雅黑" pitchFamily="34" charset="-122"/>
            </a:endParaRPr>
          </a:p>
          <a:p>
            <a:r>
              <a:rPr lang="zh-CN" altLang="en-US" dirty="0">
                <a:latin typeface="微软雅黑" pitchFamily="34" charset="-122"/>
                <a:ea typeface="微软雅黑" pitchFamily="34" charset="-122"/>
              </a:rPr>
              <a:t>健力宝</a:t>
            </a:r>
            <a:r>
              <a:rPr lang="en-US" altLang="zh-CN" dirty="0">
                <a:latin typeface="微软雅黑" pitchFamily="34" charset="-122"/>
                <a:ea typeface="微软雅黑" pitchFamily="34" charset="-122"/>
              </a:rPr>
              <a:t>——</a:t>
            </a:r>
            <a:r>
              <a:rPr lang="zh-CN" altLang="en-US" dirty="0">
                <a:latin typeface="微软雅黑" pitchFamily="34" charset="-122"/>
                <a:ea typeface="微软雅黑" pitchFamily="34" charset="-122"/>
              </a:rPr>
              <a:t>李</a:t>
            </a:r>
            <a:r>
              <a:rPr lang="zh-CN" altLang="en-US" dirty="0" smtClean="0">
                <a:latin typeface="微软雅黑" pitchFamily="34" charset="-122"/>
                <a:ea typeface="微软雅黑" pitchFamily="34" charset="-122"/>
              </a:rPr>
              <a:t>经纬</a:t>
            </a:r>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海   尔</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张瑞敏</a:t>
            </a:r>
            <a:endParaRPr lang="en-US" altLang="zh-CN" dirty="0" smtClean="0">
              <a:latin typeface="微软雅黑" pitchFamily="34" charset="-122"/>
              <a:ea typeface="微软雅黑" pitchFamily="34" charset="-122"/>
            </a:endParaRPr>
          </a:p>
        </p:txBody>
      </p:sp>
      <p:sp>
        <p:nvSpPr>
          <p:cNvPr id="8" name="TextBox 7"/>
          <p:cNvSpPr txBox="1"/>
          <p:nvPr/>
        </p:nvSpPr>
        <p:spPr>
          <a:xfrm>
            <a:off x="827584" y="5384760"/>
            <a:ext cx="7920880" cy="1077218"/>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      该年还发生了著名的“松绑”新闻，在企业史上，它是中国企业家第一次就经营者的自主权向资本方</a:t>
            </a:r>
            <a:r>
              <a:rPr lang="en-US" altLang="zh-CN" sz="2000" dirty="0" smtClean="0">
                <a:solidFill>
                  <a:srgbClr val="E2CE84"/>
                </a:solidFill>
                <a:latin typeface="微软雅黑" pitchFamily="34" charset="-122"/>
                <a:ea typeface="微软雅黑" pitchFamily="34" charset="-122"/>
              </a:rPr>
              <a:t>——</a:t>
            </a:r>
            <a:r>
              <a:rPr lang="zh-CN" altLang="en-US" sz="2000" dirty="0" smtClean="0">
                <a:solidFill>
                  <a:srgbClr val="E2CE84"/>
                </a:solidFill>
                <a:latin typeface="微软雅黑" pitchFamily="34" charset="-122"/>
                <a:ea typeface="微软雅黑" pitchFamily="34" charset="-122"/>
              </a:rPr>
              <a:t>政府部门提出公开的呼吁。公开信发表的</a:t>
            </a:r>
            <a:r>
              <a:rPr lang="en-US" altLang="zh-CN" sz="2000" dirty="0" smtClean="0">
                <a:solidFill>
                  <a:srgbClr val="E2CE84"/>
                </a:solidFill>
                <a:latin typeface="微软雅黑" pitchFamily="34" charset="-122"/>
                <a:ea typeface="微软雅黑" pitchFamily="34" charset="-122"/>
              </a:rPr>
              <a:t>3</a:t>
            </a:r>
            <a:r>
              <a:rPr lang="zh-CN" altLang="en-US" sz="2000" dirty="0" smtClean="0">
                <a:solidFill>
                  <a:srgbClr val="E2CE84"/>
                </a:solidFill>
                <a:latin typeface="微软雅黑" pitchFamily="34" charset="-122"/>
                <a:ea typeface="微软雅黑" pitchFamily="34" charset="-122"/>
              </a:rPr>
              <a:t>月</a:t>
            </a:r>
            <a:r>
              <a:rPr lang="en-US" altLang="zh-CN" sz="2000" dirty="0" smtClean="0">
                <a:solidFill>
                  <a:srgbClr val="E2CE84"/>
                </a:solidFill>
                <a:latin typeface="微软雅黑" pitchFamily="34" charset="-122"/>
                <a:ea typeface="微软雅黑" pitchFamily="34" charset="-122"/>
              </a:rPr>
              <a:t>24</a:t>
            </a:r>
            <a:r>
              <a:rPr lang="zh-CN" altLang="en-US" sz="2000" dirty="0" smtClean="0">
                <a:solidFill>
                  <a:srgbClr val="E2CE84"/>
                </a:solidFill>
                <a:latin typeface="微软雅黑" pitchFamily="34" charset="-122"/>
                <a:ea typeface="微软雅黑" pitchFamily="34" charset="-122"/>
              </a:rPr>
              <a:t>日还一度被命名为“</a:t>
            </a:r>
            <a:r>
              <a:rPr lang="zh-CN" altLang="en-US" sz="2400" dirty="0" smtClean="0">
                <a:solidFill>
                  <a:schemeClr val="bg1"/>
                </a:solidFill>
                <a:latin typeface="微软雅黑" pitchFamily="34" charset="-122"/>
                <a:ea typeface="微软雅黑" pitchFamily="34" charset="-122"/>
              </a:rPr>
              <a:t>中国企业家活动日</a:t>
            </a:r>
            <a:r>
              <a:rPr lang="zh-CN" altLang="en-US" sz="2000" dirty="0" smtClean="0">
                <a:solidFill>
                  <a:srgbClr val="E2CE84"/>
                </a:solidFill>
                <a:latin typeface="微软雅黑" pitchFamily="34" charset="-122"/>
                <a:ea typeface="微软雅黑" pitchFamily="34" charset="-122"/>
              </a:rPr>
              <a:t>”。</a:t>
            </a:r>
            <a:endParaRPr lang="zh-CN" altLang="en-US" sz="2000" dirty="0">
              <a:solidFill>
                <a:srgbClr val="E2CE84"/>
              </a:solidFill>
              <a:latin typeface="微软雅黑" pitchFamily="34" charset="-122"/>
              <a:ea typeface="微软雅黑" pitchFamily="34" charset="-122"/>
            </a:endParaRPr>
          </a:p>
        </p:txBody>
      </p:sp>
    </p:spTree>
    <p:extLst>
      <p:ext uri="{BB962C8B-B14F-4D97-AF65-F5344CB8AC3E}">
        <p14:creationId xmlns:p14="http://schemas.microsoft.com/office/powerpoint/2010/main" val="416598005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工业</a:t>
            </a:r>
            <a:endParaRPr lang="en-US" altLang="zh-CN" sz="5400" b="1" dirty="0" smtClean="0">
              <a:latin typeface="华文行楷" pitchFamily="2" charset="-122"/>
              <a:ea typeface="华文行楷" pitchFamily="2" charset="-122"/>
            </a:endParaRPr>
          </a:p>
          <a:p>
            <a:r>
              <a:rPr lang="zh-CN" altLang="en-US" sz="5400" b="1" dirty="0">
                <a:latin typeface="华文行楷" pitchFamily="2" charset="-122"/>
                <a:ea typeface="华文行楷" pitchFamily="2" charset="-122"/>
              </a:rPr>
              <a:t>气质</a:t>
            </a:r>
          </a:p>
        </p:txBody>
      </p:sp>
      <p:sp>
        <p:nvSpPr>
          <p:cNvPr id="6" name="TextBox 5"/>
          <p:cNvSpPr txBox="1"/>
          <p:nvPr/>
        </p:nvSpPr>
        <p:spPr>
          <a:xfrm>
            <a:off x="827584" y="1988840"/>
            <a:ext cx="4284476" cy="2985433"/>
          </a:xfrm>
          <a:prstGeom prst="rect">
            <a:avLst/>
          </a:prstGeom>
          <a:noFill/>
        </p:spPr>
        <p:txBody>
          <a:bodyPr wrap="square" rtlCol="0">
            <a:spAutoFit/>
          </a:bodyPr>
          <a:lstStyle/>
          <a:p>
            <a:r>
              <a:rPr lang="zh-CN" altLang="en-US" sz="2000" dirty="0" smtClean="0">
                <a:latin typeface="微软雅黑" pitchFamily="34" charset="-122"/>
                <a:ea typeface="微软雅黑" pitchFamily="34" charset="-122"/>
              </a:rPr>
              <a:t>       海尔的</a:t>
            </a:r>
            <a:r>
              <a:rPr lang="zh-CN" altLang="en-US" sz="2400" b="1" dirty="0" smtClean="0">
                <a:latin typeface="微软雅黑" pitchFamily="34" charset="-122"/>
                <a:ea typeface="微软雅黑" pitchFamily="34" charset="-122"/>
              </a:rPr>
              <a:t>张瑞敏</a:t>
            </a:r>
            <a:r>
              <a:rPr lang="zh-CN" altLang="en-US" sz="2000" dirty="0" smtClean="0">
                <a:latin typeface="微软雅黑" pitchFamily="34" charset="-122"/>
                <a:ea typeface="微软雅黑" pitchFamily="34" charset="-122"/>
              </a:rPr>
              <a:t>在接手海尔期间，让工人们将质量低劣产品打成废铜烂铁。</a:t>
            </a:r>
            <a:endParaRPr lang="en-US" altLang="zh-CN" sz="2000" dirty="0" smtClean="0">
              <a:latin typeface="微软雅黑" pitchFamily="34" charset="-122"/>
              <a:ea typeface="微软雅黑" pitchFamily="34" charset="-122"/>
            </a:endParaRPr>
          </a:p>
          <a:p>
            <a:r>
              <a:rPr lang="zh-CN" altLang="en-US" sz="2000" dirty="0" smtClean="0">
                <a:latin typeface="微软雅黑" pitchFamily="34" charset="-122"/>
                <a:ea typeface="微软雅黑" pitchFamily="34" charset="-122"/>
              </a:rPr>
              <a:t>       万向的</a:t>
            </a:r>
            <a:r>
              <a:rPr lang="zh-CN" altLang="en-US" sz="2400" b="1" dirty="0" smtClean="0">
                <a:latin typeface="微软雅黑" pitchFamily="34" charset="-122"/>
                <a:ea typeface="微软雅黑" pitchFamily="34" charset="-122"/>
              </a:rPr>
              <a:t>鲁冠球</a:t>
            </a:r>
            <a:r>
              <a:rPr lang="zh-CN" altLang="en-US" sz="2000" dirty="0" smtClean="0">
                <a:latin typeface="微软雅黑" pitchFamily="34" charset="-122"/>
                <a:ea typeface="微软雅黑" pitchFamily="34" charset="-122"/>
              </a:rPr>
              <a:t>（右图）将四十多万的伪劣产品，当做废铁全部卖掉。</a:t>
            </a:r>
            <a:endParaRPr lang="en-US" altLang="zh-CN" sz="2000" dirty="0" smtClean="0">
              <a:latin typeface="微软雅黑" pitchFamily="34" charset="-122"/>
              <a:ea typeface="微软雅黑" pitchFamily="34" charset="-122"/>
            </a:endParaRPr>
          </a:p>
          <a:p>
            <a:r>
              <a:rPr lang="zh-CN" altLang="en-US" sz="2000" dirty="0" smtClean="0">
                <a:latin typeface="微软雅黑" pitchFamily="34" charset="-122"/>
                <a:ea typeface="微软雅黑" pitchFamily="34" charset="-122"/>
              </a:rPr>
              <a:t>       张瑞敏和鲁冠球表明了出现于商品短缺时期的</a:t>
            </a:r>
            <a:r>
              <a:rPr lang="zh-CN" altLang="en-US" sz="2000" b="1" dirty="0" smtClean="0">
                <a:latin typeface="微软雅黑" pitchFamily="34" charset="-122"/>
                <a:ea typeface="微软雅黑" pitchFamily="34" charset="-122"/>
              </a:rPr>
              <a:t>第一代企业家的自我蜕变正是从质量意识的觉醒开始的</a:t>
            </a:r>
            <a:r>
              <a:rPr lang="zh-CN" altLang="en-US" sz="2000" dirty="0" smtClean="0">
                <a:latin typeface="微软雅黑" pitchFamily="34" charset="-122"/>
                <a:ea typeface="微软雅黑" pitchFamily="34" charset="-122"/>
              </a:rPr>
              <a:t>。</a:t>
            </a:r>
            <a:endParaRPr lang="zh-CN" altLang="en-US" sz="2000" dirty="0">
              <a:latin typeface="微软雅黑" pitchFamily="34" charset="-122"/>
              <a:ea typeface="微软雅黑" pitchFamily="34" charset="-122"/>
            </a:endParaRPr>
          </a:p>
        </p:txBody>
      </p:sp>
      <p:sp>
        <p:nvSpPr>
          <p:cNvPr id="8" name="TextBox 7"/>
          <p:cNvSpPr txBox="1"/>
          <p:nvPr/>
        </p:nvSpPr>
        <p:spPr>
          <a:xfrm>
            <a:off x="827584" y="5384760"/>
            <a:ext cx="7920880" cy="769441"/>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      鲁冠球的胜利似乎预示着一种可能性，那就是体制外的民营企业有机会凭着机制的灵活和技术上的优势在某些</a:t>
            </a:r>
            <a:r>
              <a:rPr lang="zh-CN" altLang="en-US" sz="2400" b="1" dirty="0" smtClean="0">
                <a:solidFill>
                  <a:schemeClr val="bg1"/>
                </a:solidFill>
                <a:latin typeface="微软雅黑" pitchFamily="34" charset="-122"/>
                <a:ea typeface="微软雅黑" pitchFamily="34" charset="-122"/>
              </a:rPr>
              <a:t>冷门</a:t>
            </a:r>
            <a:r>
              <a:rPr lang="zh-CN" altLang="en-US" sz="2000" dirty="0" smtClean="0">
                <a:solidFill>
                  <a:srgbClr val="E2CE84"/>
                </a:solidFill>
                <a:latin typeface="微软雅黑" pitchFamily="34" charset="-122"/>
                <a:ea typeface="微软雅黑" pitchFamily="34" charset="-122"/>
              </a:rPr>
              <a:t>的行业取得成功。</a:t>
            </a:r>
            <a:endParaRPr lang="zh-CN" altLang="en-US" sz="2000" dirty="0">
              <a:solidFill>
                <a:srgbClr val="E2CE84"/>
              </a:solidFill>
              <a:latin typeface="微软雅黑" pitchFamily="34" charset="-122"/>
              <a:ea typeface="微软雅黑" pitchFamily="34"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2200" y="1916832"/>
            <a:ext cx="1600881" cy="2412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Tree>
    <p:extLst>
      <p:ext uri="{BB962C8B-B14F-4D97-AF65-F5344CB8AC3E}">
        <p14:creationId xmlns:p14="http://schemas.microsoft.com/office/powerpoint/2010/main" val="146615508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产权意识</a:t>
            </a:r>
            <a:endParaRPr lang="zh-CN" altLang="en-US" sz="5400" b="1" dirty="0">
              <a:latin typeface="华文行楷" pitchFamily="2" charset="-122"/>
              <a:ea typeface="华文行楷" pitchFamily="2" charset="-122"/>
            </a:endParaRPr>
          </a:p>
        </p:txBody>
      </p:sp>
      <p:sp>
        <p:nvSpPr>
          <p:cNvPr id="6" name="TextBox 5"/>
          <p:cNvSpPr txBox="1"/>
          <p:nvPr/>
        </p:nvSpPr>
        <p:spPr>
          <a:xfrm>
            <a:off x="827584" y="2035466"/>
            <a:ext cx="4824536" cy="2616101"/>
          </a:xfrm>
          <a:prstGeom prst="rect">
            <a:avLst/>
          </a:prstGeom>
          <a:noFill/>
        </p:spPr>
        <p:txBody>
          <a:bodyPr wrap="square" rtlCol="0">
            <a:spAutoFit/>
          </a:bodyPr>
          <a:lstStyle/>
          <a:p>
            <a:r>
              <a:rPr lang="zh-CN" altLang="en-US" sz="2400" b="1" dirty="0" smtClean="0">
                <a:latin typeface="微软雅黑" pitchFamily="34" charset="-122"/>
                <a:ea typeface="微软雅黑" pitchFamily="34" charset="-122"/>
              </a:rPr>
              <a:t>产权意识的塑性</a:t>
            </a:r>
            <a:r>
              <a:rPr lang="zh-CN" altLang="en-US" sz="2000" dirty="0" smtClean="0">
                <a:latin typeface="微软雅黑" pitchFamily="34" charset="-122"/>
                <a:ea typeface="微软雅黑" pitchFamily="34" charset="-122"/>
              </a:rPr>
              <a:t>，意味着从计划体制中成长起来的第一代中国企业家开始了资本人格上的独立，在某种意义上，这是一个标志性事件。</a:t>
            </a:r>
            <a:endParaRPr lang="en-US" altLang="zh-CN" sz="2000" dirty="0" smtClean="0">
              <a:latin typeface="微软雅黑" pitchFamily="34" charset="-122"/>
              <a:ea typeface="微软雅黑" pitchFamily="34" charset="-122"/>
            </a:endParaRPr>
          </a:p>
          <a:p>
            <a:endParaRPr lang="en-US" altLang="zh-CN" sz="2000" dirty="0">
              <a:latin typeface="微软雅黑" pitchFamily="34" charset="-122"/>
              <a:ea typeface="微软雅黑" pitchFamily="34" charset="-122"/>
            </a:endParaRPr>
          </a:p>
          <a:p>
            <a:endParaRPr lang="en-US" altLang="zh-CN" sz="2000" dirty="0" smtClean="0">
              <a:latin typeface="微软雅黑" pitchFamily="34" charset="-122"/>
              <a:ea typeface="微软雅黑" pitchFamily="34" charset="-122"/>
            </a:endParaRPr>
          </a:p>
          <a:p>
            <a:r>
              <a:rPr lang="zh-CN" altLang="en-US" sz="2000" dirty="0" smtClean="0">
                <a:latin typeface="微软雅黑" pitchFamily="34" charset="-122"/>
                <a:ea typeface="微软雅黑" pitchFamily="34" charset="-122"/>
              </a:rPr>
              <a:t>如：柳传志、鲁冠球、王文京、王石，张瑞敏（右）等。</a:t>
            </a:r>
            <a:endParaRPr lang="en-US" altLang="zh-CN" sz="2000" dirty="0" smtClean="0">
              <a:latin typeface="微软雅黑" pitchFamily="34" charset="-122"/>
              <a:ea typeface="微软雅黑" pitchFamily="34" charset="-122"/>
            </a:endParaRPr>
          </a:p>
        </p:txBody>
      </p:sp>
      <p:sp>
        <p:nvSpPr>
          <p:cNvPr id="8" name="TextBox 7"/>
          <p:cNvSpPr txBox="1"/>
          <p:nvPr/>
        </p:nvSpPr>
        <p:spPr>
          <a:xfrm>
            <a:off x="971600" y="5589240"/>
            <a:ext cx="7920880" cy="769441"/>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      幸运的王石卖股票以改变</a:t>
            </a:r>
            <a:r>
              <a:rPr lang="zh-CN" altLang="en-US" sz="2400" b="1" dirty="0" smtClean="0">
                <a:solidFill>
                  <a:schemeClr val="bg1"/>
                </a:solidFill>
                <a:latin typeface="微软雅黑" pitchFamily="34" charset="-122"/>
                <a:ea typeface="微软雅黑" pitchFamily="34" charset="-122"/>
              </a:rPr>
              <a:t>产权归属</a:t>
            </a:r>
            <a:r>
              <a:rPr lang="zh-CN" altLang="en-US" sz="2000" dirty="0" smtClean="0">
                <a:solidFill>
                  <a:srgbClr val="E2CE84"/>
                </a:solidFill>
                <a:latin typeface="微软雅黑" pitchFamily="34" charset="-122"/>
                <a:ea typeface="微软雅黑" pitchFamily="34" charset="-122"/>
              </a:rPr>
              <a:t>。</a:t>
            </a:r>
            <a:endParaRPr lang="en-US" altLang="zh-CN" sz="2000" dirty="0" smtClean="0">
              <a:solidFill>
                <a:srgbClr val="E2CE84"/>
              </a:solidFill>
              <a:latin typeface="微软雅黑" pitchFamily="34" charset="-122"/>
              <a:ea typeface="微软雅黑" pitchFamily="34" charset="-122"/>
            </a:endParaRPr>
          </a:p>
          <a:p>
            <a:r>
              <a:rPr lang="en-US" altLang="zh-CN" sz="2000" dirty="0">
                <a:solidFill>
                  <a:srgbClr val="E2CE84"/>
                </a:solidFill>
                <a:latin typeface="微软雅黑" pitchFamily="34" charset="-122"/>
                <a:ea typeface="微软雅黑" pitchFamily="34" charset="-122"/>
              </a:rPr>
              <a:t> </a:t>
            </a:r>
            <a:r>
              <a:rPr lang="en-US" altLang="zh-CN" sz="2000" dirty="0" smtClean="0">
                <a:solidFill>
                  <a:srgbClr val="E2CE84"/>
                </a:solidFill>
                <a:latin typeface="微软雅黑" pitchFamily="34" charset="-122"/>
                <a:ea typeface="微软雅黑" pitchFamily="34" charset="-122"/>
              </a:rPr>
              <a:t>     </a:t>
            </a:r>
            <a:r>
              <a:rPr lang="zh-CN" altLang="en-US" sz="2000" dirty="0" smtClean="0">
                <a:solidFill>
                  <a:srgbClr val="E2CE84"/>
                </a:solidFill>
                <a:latin typeface="微软雅黑" pitchFamily="34" charset="-122"/>
                <a:ea typeface="微软雅黑" pitchFamily="34" charset="-122"/>
              </a:rPr>
              <a:t>万宝电器的邓韶深，因产权问题，身败名裂。</a:t>
            </a:r>
            <a:endParaRPr lang="zh-CN" altLang="en-US" sz="2000" dirty="0">
              <a:solidFill>
                <a:srgbClr val="E2CE84"/>
              </a:solidFill>
              <a:latin typeface="微软雅黑" pitchFamily="34" charset="-122"/>
              <a:ea typeface="微软雅黑" pitchFamily="34"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2200" y="1988840"/>
            <a:ext cx="1660229" cy="2556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Tree>
    <p:extLst>
      <p:ext uri="{BB962C8B-B14F-4D97-AF65-F5344CB8AC3E}">
        <p14:creationId xmlns:p14="http://schemas.microsoft.com/office/powerpoint/2010/main" val="147623099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整顿</a:t>
            </a:r>
            <a:endParaRPr lang="en-US" altLang="zh-CN" sz="5400" b="1" dirty="0" smtClean="0">
              <a:latin typeface="华文行楷" pitchFamily="2" charset="-122"/>
              <a:ea typeface="华文行楷" pitchFamily="2" charset="-122"/>
            </a:endParaRPr>
          </a:p>
          <a:p>
            <a:r>
              <a:rPr lang="zh-CN" altLang="en-US" sz="5400" b="1" dirty="0">
                <a:latin typeface="华文行楷" pitchFamily="2" charset="-122"/>
                <a:ea typeface="华文行楷" pitchFamily="2" charset="-122"/>
              </a:rPr>
              <a:t>整顿</a:t>
            </a:r>
          </a:p>
        </p:txBody>
      </p:sp>
      <p:sp>
        <p:nvSpPr>
          <p:cNvPr id="6" name="TextBox 5"/>
          <p:cNvSpPr txBox="1"/>
          <p:nvPr/>
        </p:nvSpPr>
        <p:spPr>
          <a:xfrm>
            <a:off x="827584" y="2359210"/>
            <a:ext cx="5240078" cy="1631216"/>
          </a:xfrm>
          <a:prstGeom prst="rect">
            <a:avLst/>
          </a:prstGeom>
          <a:noFill/>
        </p:spPr>
        <p:txBody>
          <a:bodyPr wrap="square" rtlCol="0">
            <a:spAutoFit/>
          </a:bodyPr>
          <a:lstStyle/>
          <a:p>
            <a:r>
              <a:rPr lang="en-US" altLang="zh-CN" sz="2000" dirty="0" smtClean="0">
                <a:latin typeface="微软雅黑" pitchFamily="34" charset="-122"/>
                <a:ea typeface="微软雅黑" pitchFamily="34" charset="-122"/>
              </a:rPr>
              <a:t>1989</a:t>
            </a:r>
            <a:r>
              <a:rPr lang="zh-CN" altLang="en-US" sz="2000" dirty="0" smtClean="0">
                <a:latin typeface="微软雅黑" pitchFamily="34" charset="-122"/>
                <a:ea typeface="微软雅黑" pitchFamily="34" charset="-122"/>
              </a:rPr>
              <a:t>年，发生了针对</a:t>
            </a:r>
            <a:r>
              <a:rPr lang="zh-CN" altLang="en-US" sz="2000" b="1" dirty="0" smtClean="0">
                <a:latin typeface="微软雅黑" pitchFamily="34" charset="-122"/>
                <a:ea typeface="微软雅黑" pitchFamily="34" charset="-122"/>
              </a:rPr>
              <a:t>私营企业</a:t>
            </a:r>
            <a:r>
              <a:rPr lang="zh-CN" altLang="en-US" sz="2000" dirty="0" smtClean="0">
                <a:latin typeface="微软雅黑" pitchFamily="34" charset="-122"/>
                <a:ea typeface="微软雅黑" pitchFamily="34" charset="-122"/>
              </a:rPr>
              <a:t>的整顿行动：</a:t>
            </a:r>
            <a:endParaRPr lang="en-US" altLang="zh-CN" sz="2000" dirty="0" smtClean="0">
              <a:latin typeface="微软雅黑" pitchFamily="34" charset="-122"/>
              <a:ea typeface="微软雅黑" pitchFamily="34" charset="-122"/>
            </a:endParaRPr>
          </a:p>
          <a:p>
            <a:endParaRPr lang="en-US" altLang="zh-CN" sz="2000" dirty="0" smtClean="0">
              <a:latin typeface="微软雅黑" pitchFamily="34" charset="-122"/>
              <a:ea typeface="微软雅黑" pitchFamily="34" charset="-122"/>
            </a:endParaRPr>
          </a:p>
          <a:p>
            <a:pPr marL="457200" indent="-457200">
              <a:buFont typeface="+mj-lt"/>
              <a:buAutoNum type="arabicPeriod"/>
            </a:pPr>
            <a:r>
              <a:rPr lang="zh-CN" altLang="en-US" sz="2000" dirty="0" smtClean="0">
                <a:latin typeface="微软雅黑" pitchFamily="34" charset="-122"/>
                <a:ea typeface="微软雅黑" pitchFamily="34" charset="-122"/>
              </a:rPr>
              <a:t>首先是打击私营企业偷漏税。</a:t>
            </a:r>
            <a:endParaRPr lang="en-US" altLang="zh-CN" sz="2000" dirty="0" smtClean="0">
              <a:latin typeface="微软雅黑" pitchFamily="34" charset="-122"/>
              <a:ea typeface="微软雅黑" pitchFamily="34" charset="-122"/>
            </a:endParaRPr>
          </a:p>
          <a:p>
            <a:pPr marL="457200" indent="-457200">
              <a:buFont typeface="+mj-lt"/>
              <a:buAutoNum type="arabicPeriod"/>
            </a:pPr>
            <a:r>
              <a:rPr lang="zh-CN" altLang="en-US" sz="2000" dirty="0">
                <a:latin typeface="微软雅黑" pitchFamily="34" charset="-122"/>
                <a:ea typeface="微软雅黑" pitchFamily="34" charset="-122"/>
              </a:rPr>
              <a:t>其次</a:t>
            </a:r>
            <a:r>
              <a:rPr lang="zh-CN" altLang="en-US" sz="2000" dirty="0" smtClean="0">
                <a:latin typeface="微软雅黑" pitchFamily="34" charset="-122"/>
                <a:ea typeface="微软雅黑" pitchFamily="34" charset="-122"/>
              </a:rPr>
              <a:t>是清理整顿国营体系外的新兴企业。</a:t>
            </a:r>
            <a:endParaRPr lang="en-US" altLang="zh-CN" sz="2000" dirty="0" smtClean="0">
              <a:latin typeface="微软雅黑" pitchFamily="34" charset="-122"/>
              <a:ea typeface="微软雅黑" pitchFamily="34" charset="-122"/>
            </a:endParaRPr>
          </a:p>
          <a:p>
            <a:pPr marL="457200" indent="-457200">
              <a:buFont typeface="+mj-lt"/>
              <a:buAutoNum type="arabicPeriod"/>
            </a:pPr>
            <a:r>
              <a:rPr lang="zh-CN" altLang="en-US" sz="2000" dirty="0" smtClean="0">
                <a:latin typeface="微软雅黑" pitchFamily="34" charset="-122"/>
                <a:ea typeface="微软雅黑" pitchFamily="34" charset="-122"/>
              </a:rPr>
              <a:t>对流通环节开始清理。</a:t>
            </a:r>
            <a:endParaRPr lang="zh-CN" altLang="en-US" sz="2000" dirty="0">
              <a:latin typeface="微软雅黑" pitchFamily="34" charset="-122"/>
              <a:ea typeface="微软雅黑" pitchFamily="34" charset="-122"/>
            </a:endParaRPr>
          </a:p>
        </p:txBody>
      </p:sp>
      <p:sp>
        <p:nvSpPr>
          <p:cNvPr id="8" name="TextBox 7"/>
          <p:cNvSpPr txBox="1"/>
          <p:nvPr/>
        </p:nvSpPr>
        <p:spPr>
          <a:xfrm>
            <a:off x="827584" y="5384760"/>
            <a:ext cx="7920880" cy="1384995"/>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      这种专门指向体制外企业的针对性整顿，在客观上，让一些行业秩序得到了恢复，也的确打击了日渐蔓延的假冒伪劣之风，但不可否认的是，同事造成了民营公司很大的困惑。那个时期，乡镇企业被称为</a:t>
            </a:r>
            <a:r>
              <a:rPr lang="zh-CN" altLang="en-US" sz="2400" b="1" dirty="0" smtClean="0">
                <a:solidFill>
                  <a:schemeClr val="bg1"/>
                </a:solidFill>
                <a:latin typeface="微软雅黑" pitchFamily="34" charset="-122"/>
                <a:ea typeface="微软雅黑" pitchFamily="34" charset="-122"/>
              </a:rPr>
              <a:t>“气候经济”</a:t>
            </a:r>
            <a:r>
              <a:rPr lang="zh-CN" altLang="en-US" sz="2000" dirty="0" smtClean="0">
                <a:solidFill>
                  <a:srgbClr val="E2CE84"/>
                </a:solidFill>
                <a:latin typeface="微软雅黑" pitchFamily="34" charset="-122"/>
                <a:ea typeface="微软雅黑" pitchFamily="34" charset="-122"/>
              </a:rPr>
              <a:t>。</a:t>
            </a:r>
            <a:endParaRPr lang="zh-CN" altLang="en-US" sz="2000" dirty="0">
              <a:solidFill>
                <a:srgbClr val="E2CE84"/>
              </a:solidFill>
              <a:latin typeface="微软雅黑" pitchFamily="34" charset="-122"/>
              <a:ea typeface="微软雅黑" pitchFamily="34"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56176" y="2359210"/>
            <a:ext cx="2528782" cy="1620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Tree>
    <p:extLst>
      <p:ext uri="{BB962C8B-B14F-4D97-AF65-F5344CB8AC3E}">
        <p14:creationId xmlns:p14="http://schemas.microsoft.com/office/powerpoint/2010/main" val="360430425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380490" y="-27384"/>
            <a:ext cx="6763510"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川人</a:t>
            </a:r>
            <a:endParaRPr lang="en-US" altLang="zh-CN" sz="5400" b="1" dirty="0" smtClean="0">
              <a:latin typeface="华文行楷" pitchFamily="2" charset="-122"/>
              <a:ea typeface="华文行楷" pitchFamily="2" charset="-122"/>
            </a:endParaRPr>
          </a:p>
          <a:p>
            <a:r>
              <a:rPr lang="zh-CN" altLang="en-US" sz="5400" b="1" dirty="0">
                <a:latin typeface="华文行楷" pitchFamily="2" charset="-122"/>
                <a:ea typeface="华文行楷" pitchFamily="2" charset="-122"/>
              </a:rPr>
              <a:t>春先</a:t>
            </a:r>
          </a:p>
        </p:txBody>
      </p:sp>
      <p:pic>
        <p:nvPicPr>
          <p:cNvPr id="10" name="图片 9"/>
          <p:cNvPicPr>
            <a:picLocks noChangeAspect="1"/>
          </p:cNvPicPr>
          <p:nvPr/>
        </p:nvPicPr>
        <p:blipFill rotWithShape="1">
          <a:blip r:embed="rId2" cstate="print">
            <a:extLst>
              <a:ext uri="{28A0092B-C50C-407E-A947-70E740481C1C}">
                <a14:useLocalDpi xmlns:a14="http://schemas.microsoft.com/office/drawing/2010/main" val="0"/>
              </a:ext>
            </a:extLst>
          </a:blip>
          <a:srcRect t="3591" b="8899"/>
          <a:stretch/>
        </p:blipFill>
        <p:spPr>
          <a:xfrm>
            <a:off x="6732240" y="1988840"/>
            <a:ext cx="1566720" cy="2016224"/>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11" name="TextBox 10"/>
          <p:cNvSpPr txBox="1"/>
          <p:nvPr/>
        </p:nvSpPr>
        <p:spPr>
          <a:xfrm>
            <a:off x="6351335" y="4322138"/>
            <a:ext cx="2736304"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中关村先驱</a:t>
            </a:r>
            <a:r>
              <a:rPr lang="en-US" altLang="zh-CN" dirty="0" smtClean="0">
                <a:latin typeface="微软雅黑" pitchFamily="34" charset="-122"/>
                <a:ea typeface="微软雅黑" pitchFamily="34" charset="-122"/>
              </a:rPr>
              <a:t>——</a:t>
            </a:r>
            <a:r>
              <a:rPr lang="zh-CN" altLang="en-US" b="1" dirty="0" smtClean="0">
                <a:latin typeface="微软雅黑" pitchFamily="34" charset="-122"/>
                <a:ea typeface="微软雅黑" pitchFamily="34" charset="-122"/>
              </a:rPr>
              <a:t>陈春先</a:t>
            </a:r>
            <a:endParaRPr lang="zh-CN" altLang="en-US" b="1" dirty="0">
              <a:latin typeface="微软雅黑" pitchFamily="34" charset="-122"/>
              <a:ea typeface="微软雅黑" pitchFamily="34" charset="-122"/>
            </a:endParaRPr>
          </a:p>
        </p:txBody>
      </p:sp>
      <p:sp>
        <p:nvSpPr>
          <p:cNvPr id="12" name="TextBox 11"/>
          <p:cNvSpPr txBox="1"/>
          <p:nvPr/>
        </p:nvSpPr>
        <p:spPr>
          <a:xfrm>
            <a:off x="825669" y="5300735"/>
            <a:ext cx="7613203" cy="1200329"/>
          </a:xfrm>
          <a:prstGeom prst="rect">
            <a:avLst/>
          </a:prstGeom>
          <a:noFill/>
        </p:spPr>
        <p:txBody>
          <a:bodyPr wrap="square" rtlCol="0">
            <a:spAutoFit/>
          </a:bodyPr>
          <a:lstStyle/>
          <a:p>
            <a:r>
              <a:rPr lang="zh-CN" altLang="en-US" dirty="0" smtClean="0">
                <a:solidFill>
                  <a:srgbClr val="E2CE84"/>
                </a:solidFill>
                <a:latin typeface="微软雅黑" pitchFamily="34" charset="-122"/>
                <a:ea typeface="微软雅黑" pitchFamily="34" charset="-122"/>
              </a:rPr>
              <a:t>       陈春先为服务部所设定的经营原则后来成为中国民营高科技公司创办的共同规律：</a:t>
            </a:r>
            <a:endParaRPr lang="en-US" altLang="zh-CN" dirty="0" smtClean="0">
              <a:solidFill>
                <a:srgbClr val="E2CE84"/>
              </a:solidFill>
              <a:latin typeface="微软雅黑" pitchFamily="34" charset="-122"/>
              <a:ea typeface="微软雅黑" pitchFamily="34" charset="-122"/>
            </a:endParaRPr>
          </a:p>
          <a:p>
            <a:r>
              <a:rPr lang="zh-CN" altLang="en-US" b="1" dirty="0" smtClean="0">
                <a:solidFill>
                  <a:srgbClr val="E2CE84"/>
                </a:solidFill>
                <a:latin typeface="微软雅黑" pitchFamily="34" charset="-122"/>
                <a:ea typeface="微软雅黑" pitchFamily="34" charset="-122"/>
              </a:rPr>
              <a:t>       </a:t>
            </a:r>
            <a:r>
              <a:rPr lang="zh-CN" altLang="en-US" b="1" dirty="0" smtClean="0">
                <a:solidFill>
                  <a:schemeClr val="bg1"/>
                </a:solidFill>
                <a:latin typeface="微软雅黑" pitchFamily="34" charset="-122"/>
                <a:ea typeface="微软雅黑" pitchFamily="34" charset="-122"/>
              </a:rPr>
              <a:t>科技人员走出研究所，遵循科技转化规律、市场经济规律，不要国家拨款，不占国家编制，自筹资金，自负盈亏、自主经营、依法自主决策。</a:t>
            </a:r>
            <a:endParaRPr lang="zh-CN" altLang="en-US" b="1" dirty="0">
              <a:solidFill>
                <a:schemeClr val="bg1"/>
              </a:solidFill>
              <a:latin typeface="微软雅黑" pitchFamily="34" charset="-122"/>
              <a:ea typeface="微软雅黑" pitchFamily="34" charset="-122"/>
            </a:endParaRPr>
          </a:p>
        </p:txBody>
      </p:sp>
      <p:sp>
        <p:nvSpPr>
          <p:cNvPr id="13" name="TextBox 12"/>
          <p:cNvSpPr txBox="1"/>
          <p:nvPr/>
        </p:nvSpPr>
        <p:spPr>
          <a:xfrm>
            <a:off x="755576" y="4455771"/>
            <a:ext cx="5598368" cy="646331"/>
          </a:xfrm>
          <a:prstGeom prst="rect">
            <a:avLst/>
          </a:prstGeom>
          <a:noFill/>
        </p:spPr>
        <p:txBody>
          <a:bodyPr wrap="square" rtlCol="0">
            <a:spAutoFit/>
          </a:bodyPr>
          <a:lstStyle/>
          <a:p>
            <a:endParaRPr lang="en-US" altLang="zh-CN" dirty="0">
              <a:latin typeface="微软雅黑" pitchFamily="34" charset="-122"/>
              <a:ea typeface="微软雅黑" pitchFamily="34" charset="-122"/>
            </a:endParaRPr>
          </a:p>
          <a:p>
            <a:r>
              <a:rPr lang="zh-CN" altLang="en-US" dirty="0" smtClean="0">
                <a:latin typeface="微软雅黑" pitchFamily="34" charset="-122"/>
                <a:ea typeface="微软雅黑" pitchFamily="34" charset="-122"/>
              </a:rPr>
              <a:t>纪念性网站：</a:t>
            </a:r>
            <a:r>
              <a:rPr lang="en-US" altLang="zh-CN" dirty="0" smtClean="0">
                <a:latin typeface="微软雅黑" pitchFamily="34" charset="-122"/>
                <a:ea typeface="微软雅黑" pitchFamily="34" charset="-122"/>
              </a:rPr>
              <a:t>http</a:t>
            </a:r>
            <a:r>
              <a:rPr lang="zh-CN" altLang="en-US" dirty="0" smtClean="0">
                <a:latin typeface="微软雅黑" pitchFamily="34" charset="-122"/>
                <a:ea typeface="微软雅黑" pitchFamily="34" charset="-122"/>
              </a:rPr>
              <a:t>：</a:t>
            </a:r>
            <a:r>
              <a:rPr lang="en-US" altLang="zh-CN" dirty="0" smtClean="0">
                <a:latin typeface="微软雅黑" pitchFamily="34" charset="-122"/>
                <a:ea typeface="微软雅黑" pitchFamily="34" charset="-122"/>
              </a:rPr>
              <a:t>//www.chenchunxian.com/</a:t>
            </a:r>
            <a:endParaRPr lang="zh-CN" altLang="en-US" dirty="0">
              <a:latin typeface="微软雅黑" pitchFamily="34" charset="-122"/>
              <a:ea typeface="微软雅黑" pitchFamily="34" charset="-122"/>
            </a:endParaRPr>
          </a:p>
        </p:txBody>
      </p:sp>
      <p:sp>
        <p:nvSpPr>
          <p:cNvPr id="5" name="矩形 4"/>
          <p:cNvSpPr/>
          <p:nvPr/>
        </p:nvSpPr>
        <p:spPr>
          <a:xfrm>
            <a:off x="825669" y="2210270"/>
            <a:ext cx="4968552" cy="2246769"/>
          </a:xfrm>
          <a:prstGeom prst="rect">
            <a:avLst/>
          </a:prstGeom>
        </p:spPr>
        <p:txBody>
          <a:bodyPr wrap="square">
            <a:spAutoFit/>
          </a:bodyPr>
          <a:lstStyle/>
          <a:p>
            <a:r>
              <a:rPr lang="zh-CN" altLang="en-US" sz="2000" dirty="0">
                <a:latin typeface="微软雅黑" pitchFamily="34" charset="-122"/>
                <a:ea typeface="微软雅黑" pitchFamily="34" charset="-122"/>
              </a:rPr>
              <a:t> </a:t>
            </a:r>
            <a:r>
              <a:rPr lang="zh-CN" altLang="en-US" sz="2000" dirty="0" smtClean="0">
                <a:latin typeface="微软雅黑" pitchFamily="34" charset="-122"/>
                <a:ea typeface="微软雅黑" pitchFamily="34" charset="-122"/>
              </a:rPr>
              <a:t>      我</a:t>
            </a:r>
            <a:r>
              <a:rPr lang="zh-CN" altLang="en-US" sz="2000" dirty="0">
                <a:latin typeface="微软雅黑" pitchFamily="34" charset="-122"/>
                <a:ea typeface="微软雅黑" pitchFamily="34" charset="-122"/>
              </a:rPr>
              <a:t>觉得每一代人只能做他当时认为最重要的事，人活着总要做点事，做了这件，也许就要放弃那一件，我做事从不后悔，即使做了较为愚蠢的事，也不后悔，因为时间总在往前走</a:t>
            </a:r>
            <a:r>
              <a:rPr lang="zh-CN" altLang="en-US" sz="2000" dirty="0" smtClean="0">
                <a:latin typeface="微软雅黑" pitchFamily="34" charset="-122"/>
                <a:ea typeface="微软雅黑" pitchFamily="34" charset="-122"/>
              </a:rPr>
              <a:t>。</a:t>
            </a:r>
            <a:endParaRPr lang="en-US" altLang="zh-CN" sz="2000" dirty="0" smtClean="0">
              <a:latin typeface="微软雅黑" pitchFamily="34" charset="-122"/>
              <a:ea typeface="微软雅黑" pitchFamily="34" charset="-122"/>
            </a:endParaRPr>
          </a:p>
          <a:p>
            <a:r>
              <a:rPr lang="en-US" altLang="zh-CN" sz="2000" b="1" dirty="0">
                <a:latin typeface="微软雅黑" pitchFamily="34" charset="-122"/>
                <a:ea typeface="微软雅黑" pitchFamily="34" charset="-122"/>
              </a:rPr>
              <a:t> </a:t>
            </a:r>
            <a:r>
              <a:rPr lang="en-US" altLang="zh-CN" sz="2000" b="1" dirty="0" smtClean="0">
                <a:latin typeface="微软雅黑" pitchFamily="34" charset="-122"/>
                <a:ea typeface="微软雅黑" pitchFamily="34" charset="-122"/>
              </a:rPr>
              <a:t>                                          ——</a:t>
            </a:r>
            <a:r>
              <a:rPr lang="zh-CN" altLang="en-US" sz="2000" b="1" dirty="0" smtClean="0">
                <a:latin typeface="微软雅黑" pitchFamily="34" charset="-122"/>
                <a:ea typeface="微软雅黑" pitchFamily="34" charset="-122"/>
              </a:rPr>
              <a:t>陈</a:t>
            </a:r>
            <a:r>
              <a:rPr lang="zh-CN" altLang="en-US" sz="2000" b="1" dirty="0">
                <a:latin typeface="微软雅黑" pitchFamily="34" charset="-122"/>
                <a:ea typeface="微软雅黑" pitchFamily="34" charset="-122"/>
              </a:rPr>
              <a:t>春先</a:t>
            </a:r>
          </a:p>
          <a:p>
            <a:endParaRPr lang="zh-CN" altLang="en-US" sz="2000" dirty="0"/>
          </a:p>
        </p:txBody>
      </p:sp>
    </p:spTree>
    <p:extLst>
      <p:ext uri="{BB962C8B-B14F-4D97-AF65-F5344CB8AC3E}">
        <p14:creationId xmlns:p14="http://schemas.microsoft.com/office/powerpoint/2010/main" val="356126797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411760" y="-27384"/>
            <a:ext cx="6732240"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840559" y="-99392"/>
            <a:ext cx="1800200"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义乌温州</a:t>
            </a:r>
            <a:endParaRPr lang="zh-CN" altLang="en-US" sz="5400" b="1" dirty="0">
              <a:latin typeface="华文行楷" pitchFamily="2" charset="-122"/>
              <a:ea typeface="华文行楷" pitchFamily="2" charset="-122"/>
            </a:endParaRPr>
          </a:p>
        </p:txBody>
      </p:sp>
      <p:sp>
        <p:nvSpPr>
          <p:cNvPr id="5" name="矩形 4"/>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p:cNvSpPr txBox="1"/>
          <p:nvPr/>
        </p:nvSpPr>
        <p:spPr>
          <a:xfrm>
            <a:off x="827584" y="1890990"/>
            <a:ext cx="4950296" cy="3416320"/>
          </a:xfrm>
          <a:prstGeom prst="rect">
            <a:avLst/>
          </a:prstGeom>
          <a:noFill/>
        </p:spPr>
        <p:txBody>
          <a:bodyPr wrap="square" rtlCol="0">
            <a:spAutoFit/>
          </a:bodyPr>
          <a:lstStyle/>
          <a:p>
            <a:r>
              <a:rPr lang="zh-CN" altLang="en-US" sz="2000" b="1" dirty="0" smtClean="0">
                <a:latin typeface="微软雅黑" pitchFamily="34" charset="-122"/>
                <a:ea typeface="微软雅黑" pitchFamily="34" charset="-122"/>
              </a:rPr>
              <a:t>允许农民经商；</a:t>
            </a:r>
            <a:endParaRPr lang="en-US" altLang="zh-CN" sz="2000" b="1" dirty="0" smtClean="0">
              <a:latin typeface="微软雅黑" pitchFamily="34" charset="-122"/>
              <a:ea typeface="微软雅黑" pitchFamily="34" charset="-122"/>
            </a:endParaRPr>
          </a:p>
          <a:p>
            <a:r>
              <a:rPr lang="zh-CN" altLang="en-US" sz="2000" b="1" dirty="0" smtClean="0">
                <a:latin typeface="微软雅黑" pitchFamily="34" charset="-122"/>
                <a:ea typeface="微软雅黑" pitchFamily="34" charset="-122"/>
              </a:rPr>
              <a:t>允许从事长途贩运；</a:t>
            </a:r>
            <a:endParaRPr lang="en-US" altLang="zh-CN" sz="2000" b="1" dirty="0" smtClean="0">
              <a:latin typeface="微软雅黑" pitchFamily="34" charset="-122"/>
              <a:ea typeface="微软雅黑" pitchFamily="34" charset="-122"/>
            </a:endParaRPr>
          </a:p>
          <a:p>
            <a:r>
              <a:rPr lang="zh-CN" altLang="en-US" sz="2000" b="1" dirty="0" smtClean="0">
                <a:latin typeface="微软雅黑" pitchFamily="34" charset="-122"/>
                <a:ea typeface="微软雅黑" pitchFamily="34" charset="-122"/>
              </a:rPr>
              <a:t>允许开放城乡市场；</a:t>
            </a:r>
            <a:endParaRPr lang="en-US" altLang="zh-CN" sz="2000" b="1" dirty="0" smtClean="0">
              <a:latin typeface="微软雅黑" pitchFamily="34" charset="-122"/>
              <a:ea typeface="微软雅黑" pitchFamily="34" charset="-122"/>
            </a:endParaRPr>
          </a:p>
          <a:p>
            <a:r>
              <a:rPr lang="zh-CN" altLang="en-US" sz="2000" b="1" dirty="0" smtClean="0">
                <a:latin typeface="微软雅黑" pitchFamily="34" charset="-122"/>
                <a:ea typeface="微软雅黑" pitchFamily="34" charset="-122"/>
              </a:rPr>
              <a:t>允许多渠道竞争。</a:t>
            </a:r>
            <a:endParaRPr lang="en-US" altLang="zh-CN" sz="2000" b="1" dirty="0">
              <a:latin typeface="微软雅黑" pitchFamily="34" charset="-122"/>
              <a:ea typeface="微软雅黑" pitchFamily="34" charset="-122"/>
            </a:endParaRPr>
          </a:p>
          <a:p>
            <a:r>
              <a:rPr lang="en-US" altLang="zh-CN" sz="2400" b="1" dirty="0" smtClean="0">
                <a:latin typeface="微软雅黑" pitchFamily="34" charset="-122"/>
                <a:ea typeface="微软雅黑" pitchFamily="34" charset="-122"/>
              </a:rPr>
              <a:t>                         ——</a:t>
            </a:r>
            <a:r>
              <a:rPr lang="zh-CN" altLang="en-US" sz="2400" b="1" dirty="0" smtClean="0">
                <a:latin typeface="微软雅黑" pitchFamily="34" charset="-122"/>
                <a:ea typeface="微软雅黑" pitchFamily="34" charset="-122"/>
              </a:rPr>
              <a:t>义乌  谢高华</a:t>
            </a:r>
            <a:endParaRPr lang="en-US" altLang="zh-CN" sz="2400" b="1" dirty="0" smtClean="0">
              <a:latin typeface="微软雅黑" pitchFamily="34" charset="-122"/>
              <a:ea typeface="微软雅黑" pitchFamily="34" charset="-122"/>
            </a:endParaRPr>
          </a:p>
          <a:p>
            <a:endParaRPr lang="en-US" altLang="zh-CN" sz="2400" b="1" dirty="0">
              <a:latin typeface="微软雅黑" pitchFamily="34" charset="-122"/>
              <a:ea typeface="微软雅黑" pitchFamily="34" charset="-122"/>
            </a:endParaRPr>
          </a:p>
          <a:p>
            <a:r>
              <a:rPr lang="zh-CN" altLang="en-US" sz="2000" b="1" dirty="0" smtClean="0">
                <a:latin typeface="微软雅黑" pitchFamily="34" charset="-122"/>
                <a:ea typeface="微软雅黑" pitchFamily="34" charset="-122"/>
              </a:rPr>
              <a:t>历经</a:t>
            </a:r>
            <a:r>
              <a:rPr lang="zh-CN" altLang="en-US" sz="2000" b="1" dirty="0">
                <a:latin typeface="微软雅黑" pitchFamily="34" charset="-122"/>
                <a:ea typeface="微软雅黑" pitchFamily="34" charset="-122"/>
              </a:rPr>
              <a:t>千辛万苦，说尽千言万语，跑遍千山万水，想尽千方百计</a:t>
            </a:r>
            <a:r>
              <a:rPr lang="zh-CN" altLang="en-US" sz="2000" b="1" dirty="0" smtClean="0">
                <a:latin typeface="微软雅黑" pitchFamily="34" charset="-122"/>
                <a:ea typeface="微软雅黑" pitchFamily="34" charset="-122"/>
              </a:rPr>
              <a:t>。</a:t>
            </a:r>
            <a:endParaRPr lang="en-US" altLang="zh-CN" sz="2000" b="1" dirty="0" smtClean="0">
              <a:latin typeface="微软雅黑" pitchFamily="34" charset="-122"/>
              <a:ea typeface="微软雅黑" pitchFamily="34" charset="-122"/>
            </a:endParaRPr>
          </a:p>
          <a:p>
            <a:r>
              <a:rPr lang="en-US" altLang="zh-CN" sz="2400" b="1" dirty="0" smtClean="0">
                <a:latin typeface="微软雅黑" pitchFamily="34" charset="-122"/>
                <a:ea typeface="微软雅黑" pitchFamily="34" charset="-122"/>
              </a:rPr>
              <a:t>                         ——</a:t>
            </a:r>
            <a:r>
              <a:rPr lang="zh-CN" altLang="en-US" sz="2400" b="1" dirty="0" smtClean="0">
                <a:latin typeface="微软雅黑" pitchFamily="34" charset="-122"/>
                <a:ea typeface="微软雅黑" pitchFamily="34" charset="-122"/>
              </a:rPr>
              <a:t>浙江温州</a:t>
            </a:r>
            <a:endParaRPr lang="zh-CN" altLang="en-US" sz="2400" dirty="0"/>
          </a:p>
          <a:p>
            <a:endParaRPr lang="en-US" altLang="zh-CN" sz="2400" b="1" dirty="0" smtClean="0">
              <a:latin typeface="微软雅黑" pitchFamily="34" charset="-122"/>
              <a:ea typeface="微软雅黑" pitchFamily="34" charset="-122"/>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84857" y="2075228"/>
            <a:ext cx="2509855" cy="1980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8" name="TextBox 7"/>
          <p:cNvSpPr txBox="1"/>
          <p:nvPr/>
        </p:nvSpPr>
        <p:spPr>
          <a:xfrm>
            <a:off x="6156176" y="4288230"/>
            <a:ext cx="2754560" cy="369332"/>
          </a:xfrm>
          <a:prstGeom prst="rect">
            <a:avLst/>
          </a:prstGeom>
          <a:noFill/>
        </p:spPr>
        <p:txBody>
          <a:bodyPr wrap="square" rtlCol="0">
            <a:spAutoFit/>
          </a:bodyPr>
          <a:lstStyle/>
          <a:p>
            <a:pPr algn="ctr"/>
            <a:r>
              <a:rPr lang="zh-CN" altLang="en-US" dirty="0" smtClean="0">
                <a:latin typeface="微软雅黑" pitchFamily="34" charset="-122"/>
                <a:ea typeface="微软雅黑" pitchFamily="34" charset="-122"/>
              </a:rPr>
              <a:t>如今的义乌</a:t>
            </a:r>
            <a:endParaRPr lang="zh-CN" altLang="en-US" dirty="0">
              <a:latin typeface="微软雅黑" pitchFamily="34" charset="-122"/>
              <a:ea typeface="微软雅黑" pitchFamily="34" charset="-122"/>
            </a:endParaRPr>
          </a:p>
        </p:txBody>
      </p:sp>
      <p:sp>
        <p:nvSpPr>
          <p:cNvPr id="2" name="矩形 1"/>
          <p:cNvSpPr/>
          <p:nvPr/>
        </p:nvSpPr>
        <p:spPr>
          <a:xfrm>
            <a:off x="840559" y="5543366"/>
            <a:ext cx="7854153" cy="707886"/>
          </a:xfrm>
          <a:prstGeom prst="rect">
            <a:avLst/>
          </a:prstGeom>
        </p:spPr>
        <p:txBody>
          <a:bodyPr wrap="square">
            <a:spAutoFit/>
          </a:bodyPr>
          <a:lstStyle/>
          <a:p>
            <a:r>
              <a:rPr lang="zh-CN" altLang="en-US" sz="2000" dirty="0" smtClean="0">
                <a:solidFill>
                  <a:srgbClr val="E2CE84"/>
                </a:solidFill>
                <a:latin typeface="微软雅黑" pitchFamily="34" charset="-122"/>
                <a:ea typeface="微软雅黑" pitchFamily="34" charset="-122"/>
              </a:rPr>
              <a:t>与温州形成鲜明对比的是上海。而上海正式计划经济色彩最浓、政府管控最重的城市。直到</a:t>
            </a:r>
            <a:r>
              <a:rPr lang="en-US" altLang="zh-CN" sz="2000" dirty="0" smtClean="0">
                <a:solidFill>
                  <a:srgbClr val="E2CE84"/>
                </a:solidFill>
                <a:latin typeface="微软雅黑" pitchFamily="34" charset="-122"/>
                <a:ea typeface="微软雅黑" pitchFamily="34" charset="-122"/>
              </a:rPr>
              <a:t>90</a:t>
            </a:r>
            <a:r>
              <a:rPr lang="zh-CN" altLang="en-US" sz="2000" dirty="0" smtClean="0">
                <a:solidFill>
                  <a:srgbClr val="E2CE84"/>
                </a:solidFill>
                <a:latin typeface="微软雅黑" pitchFamily="34" charset="-122"/>
                <a:ea typeface="微软雅黑" pitchFamily="34" charset="-122"/>
              </a:rPr>
              <a:t>年代初，当地私营企业仍然成长乏力。</a:t>
            </a:r>
            <a:endParaRPr lang="zh-CN" altLang="en-US" sz="2000" dirty="0">
              <a:solidFill>
                <a:schemeClr val="bg1"/>
              </a:solidFill>
            </a:endParaRPr>
          </a:p>
        </p:txBody>
      </p:sp>
    </p:spTree>
    <p:extLst>
      <p:ext uri="{BB962C8B-B14F-4D97-AF65-F5344CB8AC3E}">
        <p14:creationId xmlns:p14="http://schemas.microsoft.com/office/powerpoint/2010/main" val="265733706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411760" y="-27384"/>
            <a:ext cx="6732240"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971600" y="-12868"/>
            <a:ext cx="1624914" cy="1569660"/>
          </a:xfrm>
          <a:prstGeom prst="rect">
            <a:avLst/>
          </a:prstGeom>
          <a:noFill/>
        </p:spPr>
        <p:txBody>
          <a:bodyPr wrap="square" rtlCol="0">
            <a:spAutoFit/>
          </a:bodyPr>
          <a:lstStyle/>
          <a:p>
            <a:r>
              <a:rPr lang="zh-CN" altLang="en-US" sz="4800" b="1" dirty="0" smtClean="0">
                <a:latin typeface="华文行楷" pitchFamily="2" charset="-122"/>
                <a:ea typeface="华文行楷" pitchFamily="2" charset="-122"/>
              </a:rPr>
              <a:t>投机倒把</a:t>
            </a:r>
            <a:endParaRPr lang="zh-CN" altLang="en-US" sz="4800" b="1" dirty="0">
              <a:latin typeface="华文行楷" pitchFamily="2" charset="-122"/>
              <a:ea typeface="华文行楷" pitchFamily="2" charset="-122"/>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2200" y="2133080"/>
            <a:ext cx="2043244" cy="2016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9" name="TextBox 8"/>
          <p:cNvSpPr txBox="1"/>
          <p:nvPr/>
        </p:nvSpPr>
        <p:spPr>
          <a:xfrm>
            <a:off x="827584" y="2148532"/>
            <a:ext cx="5328685" cy="2000548"/>
          </a:xfrm>
          <a:prstGeom prst="rect">
            <a:avLst/>
          </a:prstGeom>
          <a:noFill/>
        </p:spPr>
        <p:txBody>
          <a:bodyPr wrap="square" rtlCol="0">
            <a:spAutoFit/>
          </a:bodyPr>
          <a:lstStyle/>
          <a:p>
            <a:r>
              <a:rPr lang="zh-CN" altLang="en-US" sz="2400" b="1" dirty="0" smtClean="0">
                <a:latin typeface="微软雅黑" pitchFamily="34" charset="-122"/>
                <a:ea typeface="微软雅黑" pitchFamily="34" charset="-122"/>
              </a:rPr>
              <a:t>投机倒把</a:t>
            </a:r>
            <a:endParaRPr lang="en-US" altLang="zh-CN" sz="2400" b="1" dirty="0" smtClean="0">
              <a:latin typeface="微软雅黑" pitchFamily="34" charset="-122"/>
              <a:ea typeface="微软雅黑" pitchFamily="34" charset="-122"/>
            </a:endParaRPr>
          </a:p>
          <a:p>
            <a:r>
              <a:rPr lang="zh-CN" altLang="en-US" sz="2000" dirty="0" smtClean="0">
                <a:latin typeface="微软雅黑" pitchFamily="34" charset="-122"/>
                <a:ea typeface="微软雅黑" pitchFamily="34" charset="-122"/>
              </a:rPr>
              <a:t>       是</a:t>
            </a:r>
            <a:r>
              <a:rPr lang="zh-CN" altLang="en-US" sz="2000" dirty="0">
                <a:latin typeface="微软雅黑" pitchFamily="34" charset="-122"/>
                <a:ea typeface="微软雅黑" pitchFamily="34" charset="-122"/>
              </a:rPr>
              <a:t>计划经济时代的产物，主要指一些人凭借手中的权力，通过计划或者走后门，搞到平价的紧俏产品，然后囤积居奇、翻手倒卖，经过环环转手，层层加码，最后以较高价格卖给最终使用者或者消费者，发民众之财</a:t>
            </a:r>
            <a:r>
              <a:rPr lang="zh-CN" altLang="en-US" sz="2000" dirty="0" smtClean="0">
                <a:latin typeface="微软雅黑" pitchFamily="34" charset="-122"/>
                <a:ea typeface="微软雅黑" pitchFamily="34" charset="-122"/>
              </a:rPr>
              <a:t>。</a:t>
            </a:r>
            <a:endParaRPr lang="zh-CN" altLang="en-US" sz="2000" dirty="0">
              <a:latin typeface="微软雅黑" pitchFamily="34" charset="-122"/>
              <a:ea typeface="微软雅黑" pitchFamily="34" charset="-122"/>
            </a:endParaRPr>
          </a:p>
        </p:txBody>
      </p:sp>
      <p:sp>
        <p:nvSpPr>
          <p:cNvPr id="10" name="TextBox 9"/>
          <p:cNvSpPr txBox="1"/>
          <p:nvPr/>
        </p:nvSpPr>
        <p:spPr>
          <a:xfrm>
            <a:off x="827584" y="5373216"/>
            <a:ext cx="7587860" cy="1200329"/>
          </a:xfrm>
          <a:prstGeom prst="rect">
            <a:avLst/>
          </a:prstGeom>
          <a:noFill/>
        </p:spPr>
        <p:txBody>
          <a:bodyPr wrap="square" rtlCol="0">
            <a:spAutoFit/>
          </a:bodyPr>
          <a:lstStyle/>
          <a:p>
            <a:r>
              <a:rPr lang="en-US" altLang="zh-CN" dirty="0" smtClean="0">
                <a:solidFill>
                  <a:srgbClr val="E2CE84"/>
                </a:solidFill>
                <a:latin typeface="微软雅黑" pitchFamily="34" charset="-122"/>
                <a:ea typeface="微软雅黑" pitchFamily="34" charset="-122"/>
              </a:rPr>
              <a:t>       1982</a:t>
            </a:r>
            <a:r>
              <a:rPr lang="zh-CN" altLang="en-US" dirty="0" smtClean="0">
                <a:solidFill>
                  <a:srgbClr val="E2CE84"/>
                </a:solidFill>
                <a:latin typeface="微软雅黑" pitchFamily="34" charset="-122"/>
                <a:ea typeface="微软雅黑" pitchFamily="34" charset="-122"/>
              </a:rPr>
              <a:t>年的“八大王事件”和“韩庆生事件”，均在当年轰动一时，以后来者的角度来解读：国家是在动用政府及其对体制外的资本力量进行遏制，这样的</a:t>
            </a:r>
            <a:r>
              <a:rPr lang="zh-CN" altLang="en-US" b="1" dirty="0" smtClean="0">
                <a:solidFill>
                  <a:schemeClr val="bg1"/>
                </a:solidFill>
                <a:latin typeface="微软雅黑" pitchFamily="34" charset="-122"/>
                <a:ea typeface="微软雅黑" pitchFamily="34" charset="-122"/>
              </a:rPr>
              <a:t>制度性遏制</a:t>
            </a:r>
            <a:r>
              <a:rPr lang="zh-CN" altLang="en-US" dirty="0" smtClean="0">
                <a:solidFill>
                  <a:srgbClr val="E2CE84"/>
                </a:solidFill>
                <a:latin typeface="微软雅黑" pitchFamily="34" charset="-122"/>
                <a:ea typeface="微软雅黑" pitchFamily="34" charset="-122"/>
              </a:rPr>
              <a:t>将在今后的</a:t>
            </a:r>
            <a:r>
              <a:rPr lang="en-US" altLang="zh-CN" dirty="0" smtClean="0">
                <a:solidFill>
                  <a:srgbClr val="E2CE84"/>
                </a:solidFill>
                <a:latin typeface="微软雅黑" pitchFamily="34" charset="-122"/>
                <a:ea typeface="微软雅黑" pitchFamily="34" charset="-122"/>
              </a:rPr>
              <a:t>20</a:t>
            </a:r>
            <a:r>
              <a:rPr lang="zh-CN" altLang="en-US" dirty="0" smtClean="0">
                <a:solidFill>
                  <a:srgbClr val="E2CE84"/>
                </a:solidFill>
                <a:latin typeface="微软雅黑" pitchFamily="34" charset="-122"/>
                <a:ea typeface="微软雅黑" pitchFamily="34" charset="-122"/>
              </a:rPr>
              <a:t>年里持续发生，这不是一个人的决策行为，而是整个中国企业变革的逻辑使然。</a:t>
            </a:r>
            <a:endParaRPr lang="zh-CN" altLang="en-US" b="1" dirty="0">
              <a:solidFill>
                <a:srgbClr val="E2CE84"/>
              </a:solidFill>
              <a:latin typeface="微软雅黑" pitchFamily="34" charset="-122"/>
              <a:ea typeface="微软雅黑" pitchFamily="34" charset="-122"/>
            </a:endParaRPr>
          </a:p>
        </p:txBody>
      </p:sp>
      <p:sp>
        <p:nvSpPr>
          <p:cNvPr id="11" name="矩形 10"/>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6607663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411760" y="-27384"/>
            <a:ext cx="6732240"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827584" y="-99392"/>
            <a:ext cx="165618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倒爷阶层</a:t>
            </a:r>
            <a:endParaRPr lang="zh-CN" altLang="en-US" sz="5400" b="1" dirty="0">
              <a:latin typeface="华文行楷" pitchFamily="2" charset="-122"/>
              <a:ea typeface="华文行楷" pitchFamily="2" charset="-122"/>
            </a:endParaRPr>
          </a:p>
        </p:txBody>
      </p:sp>
      <p:sp>
        <p:nvSpPr>
          <p:cNvPr id="5" name="TextBox 4"/>
          <p:cNvSpPr txBox="1"/>
          <p:nvPr/>
        </p:nvSpPr>
        <p:spPr>
          <a:xfrm>
            <a:off x="827584" y="1844824"/>
            <a:ext cx="4914944" cy="3354765"/>
          </a:xfrm>
          <a:prstGeom prst="rect">
            <a:avLst/>
          </a:prstGeom>
          <a:noFill/>
        </p:spPr>
        <p:txBody>
          <a:bodyPr wrap="square" rtlCol="0">
            <a:spAutoFit/>
          </a:bodyPr>
          <a:lstStyle/>
          <a:p>
            <a:r>
              <a:rPr lang="zh-CN" altLang="en-US" sz="2000" dirty="0">
                <a:latin typeface="微软雅黑" pitchFamily="34" charset="-122"/>
                <a:ea typeface="微软雅黑" pitchFamily="34" charset="-122"/>
              </a:rPr>
              <a:t>代表</a:t>
            </a:r>
            <a:r>
              <a:rPr lang="zh-CN" altLang="en-US" sz="2000" dirty="0" smtClean="0">
                <a:latin typeface="微软雅黑" pitchFamily="34" charset="-122"/>
                <a:ea typeface="微软雅黑" pitchFamily="34" charset="-122"/>
              </a:rPr>
              <a:t>人物：王石，</a:t>
            </a:r>
            <a:r>
              <a:rPr lang="zh-CN" altLang="en-US" sz="2400" dirty="0" smtClean="0">
                <a:latin typeface="微软雅黑" pitchFamily="34" charset="-122"/>
                <a:ea typeface="微软雅黑" pitchFamily="34" charset="-122"/>
              </a:rPr>
              <a:t>牟其中</a:t>
            </a:r>
            <a:endParaRPr lang="en-US" altLang="zh-CN" sz="2400" dirty="0" smtClean="0">
              <a:latin typeface="微软雅黑" pitchFamily="34" charset="-122"/>
              <a:ea typeface="微软雅黑" pitchFamily="34" charset="-122"/>
            </a:endParaRPr>
          </a:p>
          <a:p>
            <a:endParaRPr lang="en-US" altLang="zh-CN" sz="2000" dirty="0" smtClean="0">
              <a:latin typeface="微软雅黑" pitchFamily="34" charset="-122"/>
              <a:ea typeface="微软雅黑" pitchFamily="34" charset="-122"/>
            </a:endParaRPr>
          </a:p>
          <a:p>
            <a:r>
              <a:rPr lang="zh-CN" altLang="en-US" sz="2000" dirty="0" smtClean="0">
                <a:latin typeface="微软雅黑" pitchFamily="34" charset="-122"/>
                <a:ea typeface="微软雅黑" pitchFamily="34" charset="-122"/>
              </a:rPr>
              <a:t>       他们是经济转轨期里必然出现的经济寄生物</a:t>
            </a:r>
            <a:r>
              <a:rPr lang="zh-CN" altLang="en-US" sz="2000" dirty="0">
                <a:latin typeface="微软雅黑" pitchFamily="34" charset="-122"/>
                <a:ea typeface="微软雅黑" pitchFamily="34" charset="-122"/>
              </a:rPr>
              <a:t>。</a:t>
            </a:r>
            <a:r>
              <a:rPr lang="zh-CN" altLang="en-US" sz="2000" dirty="0" smtClean="0">
                <a:latin typeface="微软雅黑" pitchFamily="34" charset="-122"/>
                <a:ea typeface="微软雅黑" pitchFamily="34" charset="-122"/>
              </a:rPr>
              <a:t>客观上说，这些</a:t>
            </a:r>
            <a:r>
              <a:rPr lang="zh-CN" altLang="en-US" sz="2800" dirty="0" smtClean="0">
                <a:latin typeface="微软雅黑" pitchFamily="34" charset="-122"/>
                <a:ea typeface="微软雅黑" pitchFamily="34" charset="-122"/>
              </a:rPr>
              <a:t>“倒爷”</a:t>
            </a:r>
            <a:r>
              <a:rPr lang="zh-CN" altLang="en-US" sz="2000" dirty="0" smtClean="0">
                <a:latin typeface="微软雅黑" pitchFamily="34" charset="-122"/>
                <a:ea typeface="微软雅黑" pitchFamily="34" charset="-122"/>
              </a:rPr>
              <a:t>如蚂蚁啃堤，最终把僵硬的计划</a:t>
            </a:r>
            <a:r>
              <a:rPr lang="zh-CN" altLang="en-US" sz="2000" dirty="0">
                <a:latin typeface="微软雅黑" pitchFamily="34" charset="-122"/>
                <a:ea typeface="微软雅黑" pitchFamily="34" charset="-122"/>
              </a:rPr>
              <a:t>流通</a:t>
            </a:r>
            <a:r>
              <a:rPr lang="zh-CN" altLang="en-US" sz="2000" dirty="0" smtClean="0">
                <a:latin typeface="微软雅黑" pitchFamily="34" charset="-122"/>
                <a:ea typeface="微软雅黑" pitchFamily="34" charset="-122"/>
              </a:rPr>
              <a:t>体系摧残的遍体鳞伤，从而以一种十分灰色而非法的方式协助重建了中国市场</a:t>
            </a:r>
            <a:r>
              <a:rPr lang="zh-CN" altLang="en-US" sz="2000" dirty="0">
                <a:latin typeface="微软雅黑" pitchFamily="34" charset="-122"/>
                <a:ea typeface="微软雅黑" pitchFamily="34" charset="-122"/>
              </a:rPr>
              <a:t>流通</a:t>
            </a:r>
            <a:r>
              <a:rPr lang="zh-CN" altLang="en-US" sz="2000" dirty="0" smtClean="0">
                <a:latin typeface="微软雅黑" pitchFamily="34" charset="-122"/>
                <a:ea typeface="微软雅黑" pitchFamily="34" charset="-122"/>
              </a:rPr>
              <a:t>和资源配置。</a:t>
            </a:r>
            <a:endParaRPr lang="en-US" altLang="zh-CN" sz="2000" dirty="0" smtClean="0">
              <a:latin typeface="微软雅黑" pitchFamily="34" charset="-122"/>
              <a:ea typeface="微软雅黑" pitchFamily="34" charset="-122"/>
            </a:endParaRPr>
          </a:p>
          <a:p>
            <a:endParaRPr lang="en-US" altLang="zh-CN" sz="2000" dirty="0">
              <a:latin typeface="微软雅黑" pitchFamily="34" charset="-122"/>
              <a:ea typeface="微软雅黑" pitchFamily="34" charset="-122"/>
            </a:endParaRPr>
          </a:p>
          <a:p>
            <a:endParaRPr lang="en-US" altLang="zh-CN" sz="2000" dirty="0" smtClean="0">
              <a:latin typeface="微软雅黑" pitchFamily="34" charset="-122"/>
              <a:ea typeface="微软雅黑" pitchFamily="34" charset="-122"/>
            </a:endParaRPr>
          </a:p>
        </p:txBody>
      </p:sp>
      <p:sp>
        <p:nvSpPr>
          <p:cNvPr id="6" name="矩形 5"/>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09208" y="2002184"/>
            <a:ext cx="2503635" cy="1836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2" name="TextBox 1"/>
          <p:cNvSpPr txBox="1"/>
          <p:nvPr/>
        </p:nvSpPr>
        <p:spPr>
          <a:xfrm>
            <a:off x="5803478" y="4081124"/>
            <a:ext cx="3115096" cy="369332"/>
          </a:xfrm>
          <a:prstGeom prst="rect">
            <a:avLst/>
          </a:prstGeom>
          <a:noFill/>
        </p:spPr>
        <p:txBody>
          <a:bodyPr wrap="square" rtlCol="0">
            <a:spAutoFit/>
          </a:bodyPr>
          <a:lstStyle/>
          <a:p>
            <a:pPr algn="ctr"/>
            <a:r>
              <a:rPr lang="zh-CN" altLang="en-US" dirty="0" smtClean="0">
                <a:latin typeface="微软雅黑" pitchFamily="34" charset="-122"/>
                <a:ea typeface="微软雅黑" pitchFamily="34" charset="-122"/>
              </a:rPr>
              <a:t>倒爷的资本原罪</a:t>
            </a:r>
            <a:endParaRPr lang="zh-CN" altLang="en-US" dirty="0">
              <a:latin typeface="微软雅黑" pitchFamily="34" charset="-122"/>
              <a:ea typeface="微软雅黑" pitchFamily="34" charset="-122"/>
            </a:endParaRPr>
          </a:p>
        </p:txBody>
      </p:sp>
      <p:sp>
        <p:nvSpPr>
          <p:cNvPr id="8" name="矩形 7"/>
          <p:cNvSpPr/>
          <p:nvPr/>
        </p:nvSpPr>
        <p:spPr>
          <a:xfrm>
            <a:off x="827584" y="5517232"/>
            <a:ext cx="7128791" cy="769441"/>
          </a:xfrm>
          <a:prstGeom prst="rect">
            <a:avLst/>
          </a:prstGeom>
        </p:spPr>
        <p:txBody>
          <a:bodyPr wrap="square">
            <a:spAutoFit/>
          </a:bodyPr>
          <a:lstStyle/>
          <a:p>
            <a:r>
              <a:rPr lang="en-US" altLang="zh-CN" sz="2000" dirty="0">
                <a:solidFill>
                  <a:srgbClr val="E2CE84"/>
                </a:solidFill>
                <a:latin typeface="微软雅黑" pitchFamily="34" charset="-122"/>
                <a:ea typeface="微软雅黑" pitchFamily="34" charset="-122"/>
              </a:rPr>
              <a:t> </a:t>
            </a:r>
            <a:r>
              <a:rPr lang="en-US" altLang="zh-CN" sz="2000" dirty="0" smtClean="0">
                <a:solidFill>
                  <a:srgbClr val="E2CE84"/>
                </a:solidFill>
                <a:latin typeface="微软雅黑" pitchFamily="34" charset="-122"/>
                <a:ea typeface="微软雅黑" pitchFamily="34" charset="-122"/>
              </a:rPr>
              <a:t>      </a:t>
            </a:r>
            <a:r>
              <a:rPr lang="zh-CN" altLang="en-US" sz="2000" dirty="0" smtClean="0">
                <a:solidFill>
                  <a:srgbClr val="E2CE84"/>
                </a:solidFill>
                <a:latin typeface="微软雅黑" pitchFamily="34" charset="-122"/>
                <a:ea typeface="微软雅黑" pitchFamily="34" charset="-122"/>
              </a:rPr>
              <a:t>正</a:t>
            </a:r>
            <a:r>
              <a:rPr lang="zh-CN" altLang="en-US" sz="2000" dirty="0">
                <a:solidFill>
                  <a:srgbClr val="E2CE84"/>
                </a:solidFill>
                <a:latin typeface="微软雅黑" pitchFamily="34" charset="-122"/>
                <a:ea typeface="微软雅黑" pitchFamily="34" charset="-122"/>
              </a:rPr>
              <a:t>因为他们的灰色性与暴利性，让他们的原始积累充满了血腥，这也是部分第一代企业家躲不过的“</a:t>
            </a:r>
            <a:r>
              <a:rPr lang="zh-CN" altLang="en-US" sz="2400" b="1" dirty="0">
                <a:solidFill>
                  <a:schemeClr val="bg1"/>
                </a:solidFill>
                <a:latin typeface="微软雅黑" pitchFamily="34" charset="-122"/>
                <a:ea typeface="微软雅黑" pitchFamily="34" charset="-122"/>
              </a:rPr>
              <a:t>原罪</a:t>
            </a:r>
            <a:r>
              <a:rPr lang="zh-CN" altLang="en-US" sz="2000" dirty="0">
                <a:solidFill>
                  <a:srgbClr val="E2CE84"/>
                </a:solidFill>
                <a:latin typeface="微软雅黑" pitchFamily="34" charset="-122"/>
                <a:ea typeface="微软雅黑" pitchFamily="34" charset="-122"/>
              </a:rPr>
              <a:t>”问题。</a:t>
            </a:r>
            <a:endParaRPr lang="zh-CN" altLang="en-US" sz="2000" dirty="0">
              <a:solidFill>
                <a:srgbClr val="E2CE84"/>
              </a:solidFill>
            </a:endParaRPr>
          </a:p>
        </p:txBody>
      </p:sp>
    </p:spTree>
    <p:extLst>
      <p:ext uri="{BB962C8B-B14F-4D97-AF65-F5344CB8AC3E}">
        <p14:creationId xmlns:p14="http://schemas.microsoft.com/office/powerpoint/2010/main" val="96632926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牟式传奇</a:t>
            </a:r>
            <a:endParaRPr lang="zh-CN" altLang="en-US" sz="5400" b="1" dirty="0">
              <a:latin typeface="华文行楷" pitchFamily="2" charset="-122"/>
              <a:ea typeface="华文行楷" pitchFamily="2" charset="-122"/>
            </a:endParaRPr>
          </a:p>
        </p:txBody>
      </p:sp>
      <p:sp>
        <p:nvSpPr>
          <p:cNvPr id="6" name="TextBox 5"/>
          <p:cNvSpPr txBox="1"/>
          <p:nvPr/>
        </p:nvSpPr>
        <p:spPr>
          <a:xfrm>
            <a:off x="827584" y="1865111"/>
            <a:ext cx="4950296" cy="3139321"/>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      </a:t>
            </a:r>
            <a:r>
              <a:rPr lang="zh-CN" altLang="en-US" b="1" dirty="0" smtClean="0">
                <a:latin typeface="微软雅黑" pitchFamily="34" charset="-122"/>
                <a:ea typeface="微软雅黑" pitchFamily="34" charset="-122"/>
              </a:rPr>
              <a:t> 牟其中</a:t>
            </a:r>
            <a:r>
              <a:rPr lang="zh-CN" altLang="en-US" dirty="0" smtClean="0">
                <a:latin typeface="微软雅黑" pitchFamily="34" charset="-122"/>
                <a:ea typeface="微软雅黑" pitchFamily="34" charset="-122"/>
              </a:rPr>
              <a:t>（右）是中国企业史上，最奇特的一个种类。自“罐头换飞机“一战成名之后，他就一直在全国各地飞来飞去，宣布一个有一个惊人项目，如：</a:t>
            </a:r>
            <a:endParaRPr lang="en-US" altLang="zh-CN" dirty="0" smtClean="0">
              <a:latin typeface="微软雅黑" pitchFamily="34" charset="-122"/>
              <a:ea typeface="微软雅黑" pitchFamily="34" charset="-122"/>
            </a:endParaRPr>
          </a:p>
          <a:p>
            <a:pPr marL="342900" indent="-342900">
              <a:buFont typeface="+mj-lt"/>
              <a:buAutoNum type="arabicPeriod"/>
            </a:pPr>
            <a:r>
              <a:rPr lang="zh-CN" altLang="en-US" dirty="0" smtClean="0">
                <a:latin typeface="微软雅黑" pitchFamily="34" charset="-122"/>
                <a:ea typeface="微软雅黑" pitchFamily="34" charset="-122"/>
              </a:rPr>
              <a:t>宣布在北京建立</a:t>
            </a:r>
            <a:r>
              <a:rPr lang="en-US" altLang="zh-CN" dirty="0" smtClean="0">
                <a:latin typeface="微软雅黑" pitchFamily="34" charset="-122"/>
                <a:ea typeface="微软雅黑" pitchFamily="34" charset="-122"/>
              </a:rPr>
              <a:t>1000</a:t>
            </a:r>
            <a:r>
              <a:rPr lang="zh-CN" altLang="en-US" dirty="0" smtClean="0">
                <a:latin typeface="微软雅黑" pitchFamily="34" charset="-122"/>
                <a:ea typeface="微软雅黑" pitchFamily="34" charset="-122"/>
              </a:rPr>
              <a:t>亩的高科技开发区</a:t>
            </a:r>
            <a:endParaRPr lang="en-US" altLang="zh-CN" dirty="0" smtClean="0">
              <a:latin typeface="微软雅黑" pitchFamily="34" charset="-122"/>
              <a:ea typeface="微软雅黑" pitchFamily="34" charset="-122"/>
            </a:endParaRPr>
          </a:p>
          <a:p>
            <a:pPr marL="342900" indent="-342900">
              <a:buFont typeface="+mj-lt"/>
              <a:buAutoNum type="arabicPeriod"/>
            </a:pPr>
            <a:r>
              <a:rPr lang="zh-CN" altLang="en-US" dirty="0" smtClean="0">
                <a:latin typeface="微软雅黑" pitchFamily="34" charset="-122"/>
                <a:ea typeface="微软雅黑" pitchFamily="34" charset="-122"/>
              </a:rPr>
              <a:t>决定将重庆火锅快餐化，五年销售收入</a:t>
            </a:r>
            <a:r>
              <a:rPr lang="en-US" altLang="zh-CN" dirty="0" smtClean="0">
                <a:latin typeface="微软雅黑" pitchFamily="34" charset="-122"/>
                <a:ea typeface="微软雅黑" pitchFamily="34" charset="-122"/>
              </a:rPr>
              <a:t>1000</a:t>
            </a:r>
            <a:r>
              <a:rPr lang="zh-CN" altLang="en-US" dirty="0" smtClean="0">
                <a:latin typeface="微软雅黑" pitchFamily="34" charset="-122"/>
                <a:ea typeface="微软雅黑" pitchFamily="34" charset="-122"/>
              </a:rPr>
              <a:t>亿</a:t>
            </a:r>
            <a:endParaRPr lang="en-US" altLang="zh-CN" dirty="0" smtClean="0">
              <a:latin typeface="微软雅黑" pitchFamily="34" charset="-122"/>
              <a:ea typeface="微软雅黑" pitchFamily="34" charset="-122"/>
            </a:endParaRPr>
          </a:p>
          <a:p>
            <a:pPr marL="342900" indent="-342900">
              <a:buFont typeface="+mj-lt"/>
              <a:buAutoNum type="arabicPeriod"/>
            </a:pPr>
            <a:r>
              <a:rPr lang="zh-CN" altLang="en-US" dirty="0" smtClean="0">
                <a:latin typeface="微软雅黑" pitchFamily="34" charset="-122"/>
                <a:ea typeface="微软雅黑" pitchFamily="34" charset="-122"/>
              </a:rPr>
              <a:t>宣布投资</a:t>
            </a:r>
            <a:r>
              <a:rPr lang="en-US" altLang="zh-CN" dirty="0" smtClean="0">
                <a:latin typeface="微软雅黑" pitchFamily="34" charset="-122"/>
                <a:ea typeface="微软雅黑" pitchFamily="34" charset="-122"/>
              </a:rPr>
              <a:t>100</a:t>
            </a:r>
            <a:r>
              <a:rPr lang="zh-CN" altLang="en-US" dirty="0" smtClean="0">
                <a:latin typeface="微软雅黑" pitchFamily="34" charset="-122"/>
                <a:ea typeface="微软雅黑" pitchFamily="34" charset="-122"/>
              </a:rPr>
              <a:t>亿元，开发满洲里，建设“北方香港”</a:t>
            </a:r>
            <a:endParaRPr lang="en-US" altLang="zh-CN" dirty="0" smtClean="0">
              <a:latin typeface="微软雅黑" pitchFamily="34" charset="-122"/>
              <a:ea typeface="微软雅黑" pitchFamily="34" charset="-122"/>
            </a:endParaRPr>
          </a:p>
          <a:p>
            <a:r>
              <a:rPr lang="en-US" altLang="zh-CN" dirty="0" smtClean="0">
                <a:latin typeface="微软雅黑" pitchFamily="34" charset="-122"/>
                <a:ea typeface="微软雅黑" pitchFamily="34" charset="-122"/>
              </a:rPr>
              <a:t>1995</a:t>
            </a:r>
            <a:r>
              <a:rPr lang="zh-CN" altLang="en-US" dirty="0" smtClean="0">
                <a:latin typeface="微软雅黑" pitchFamily="34" charset="-122"/>
                <a:ea typeface="微软雅黑" pitchFamily="34" charset="-122"/>
              </a:rPr>
              <a:t>年</a:t>
            </a:r>
            <a:r>
              <a:rPr lang="en-US" altLang="zh-CN" dirty="0" smtClean="0">
                <a:latin typeface="微软雅黑" pitchFamily="34" charset="-122"/>
                <a:ea typeface="微软雅黑" pitchFamily="34" charset="-122"/>
              </a:rPr>
              <a:t>3</a:t>
            </a:r>
            <a:r>
              <a:rPr lang="zh-CN" altLang="en-US" dirty="0" smtClean="0">
                <a:latin typeface="微软雅黑" pitchFamily="34" charset="-122"/>
                <a:ea typeface="微软雅黑" pitchFamily="34" charset="-122"/>
              </a:rPr>
              <a:t>月，他提出将喜马拉雅山炸开一个口子，将干旱的中国西北地区变成降雨区等。</a:t>
            </a:r>
            <a:endParaRPr lang="en-US" altLang="zh-CN" dirty="0" smtClean="0">
              <a:latin typeface="微软雅黑" pitchFamily="34" charset="-122"/>
              <a:ea typeface="微软雅黑" pitchFamily="34" charset="-122"/>
            </a:endParaRPr>
          </a:p>
        </p:txBody>
      </p:sp>
      <p:sp>
        <p:nvSpPr>
          <p:cNvPr id="8" name="TextBox 7"/>
          <p:cNvSpPr txBox="1"/>
          <p:nvPr/>
        </p:nvSpPr>
        <p:spPr>
          <a:xfrm>
            <a:off x="827584" y="5601434"/>
            <a:ext cx="7920880" cy="769441"/>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       牟其中是最早看到国营企业解体及体制转型将带来巨大商业契机的人。他是这部企业史中，最</a:t>
            </a:r>
            <a:r>
              <a:rPr lang="zh-CN" altLang="en-US" sz="2400" b="1" dirty="0" smtClean="0">
                <a:solidFill>
                  <a:schemeClr val="bg1"/>
                </a:solidFill>
                <a:latin typeface="微软雅黑" pitchFamily="34" charset="-122"/>
                <a:ea typeface="微软雅黑" pitchFamily="34" charset="-122"/>
              </a:rPr>
              <a:t>耐人寻味</a:t>
            </a:r>
            <a:r>
              <a:rPr lang="zh-CN" altLang="en-US" sz="2000" dirty="0" smtClean="0">
                <a:solidFill>
                  <a:srgbClr val="E2CE84"/>
                </a:solidFill>
                <a:latin typeface="微软雅黑" pitchFamily="34" charset="-122"/>
                <a:ea typeface="微软雅黑" pitchFamily="34" charset="-122"/>
              </a:rPr>
              <a:t>的人物之一。</a:t>
            </a:r>
            <a:endParaRPr lang="zh-CN" altLang="en-US" sz="2000" dirty="0">
              <a:solidFill>
                <a:srgbClr val="E2CE84"/>
              </a:solidFill>
              <a:latin typeface="微软雅黑" pitchFamily="34" charset="-122"/>
              <a:ea typeface="微软雅黑" pitchFamily="34"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4208" y="2152953"/>
            <a:ext cx="1900565" cy="2088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Tree>
    <p:extLst>
      <p:ext uri="{BB962C8B-B14F-4D97-AF65-F5344CB8AC3E}">
        <p14:creationId xmlns:p14="http://schemas.microsoft.com/office/powerpoint/2010/main" val="286089117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51720" y="2492896"/>
            <a:ext cx="5112568" cy="1107996"/>
          </a:xfrm>
          <a:prstGeom prst="rect">
            <a:avLst/>
          </a:prstGeom>
          <a:noFill/>
        </p:spPr>
        <p:txBody>
          <a:bodyPr wrap="square" rtlCol="0">
            <a:spAutoFit/>
          </a:bodyPr>
          <a:lstStyle/>
          <a:p>
            <a:pPr algn="ctr"/>
            <a:r>
              <a:rPr lang="zh-CN" altLang="en-US" sz="6600" b="1" dirty="0" smtClean="0">
                <a:latin typeface="微软雅黑" pitchFamily="34" charset="-122"/>
                <a:ea typeface="微软雅黑" pitchFamily="34" charset="-122"/>
              </a:rPr>
              <a:t>人性之变</a:t>
            </a:r>
            <a:endParaRPr lang="zh-CN" altLang="en-US" sz="6600" b="1" dirty="0">
              <a:latin typeface="微软雅黑" pitchFamily="34" charset="-122"/>
              <a:ea typeface="微软雅黑" pitchFamily="34" charset="-122"/>
            </a:endParaRPr>
          </a:p>
        </p:txBody>
      </p:sp>
    </p:spTree>
    <p:extLst>
      <p:ext uri="{BB962C8B-B14F-4D97-AF65-F5344CB8AC3E}">
        <p14:creationId xmlns:p14="http://schemas.microsoft.com/office/powerpoint/2010/main" val="296486266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5"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海南狂欢</a:t>
            </a:r>
            <a:endParaRPr lang="zh-CN" altLang="en-US" sz="5400" b="1" dirty="0">
              <a:latin typeface="华文行楷" pitchFamily="2" charset="-122"/>
              <a:ea typeface="华文行楷" pitchFamily="2" charset="-122"/>
            </a:endParaRPr>
          </a:p>
        </p:txBody>
      </p:sp>
      <p:pic>
        <p:nvPicPr>
          <p:cNvPr id="5" name="图片 4"/>
          <p:cNvPicPr>
            <a:picLocks noChangeAspect="1"/>
          </p:cNvPicPr>
          <p:nvPr/>
        </p:nvPicPr>
        <p:blipFill rotWithShape="1">
          <a:blip r:embed="rId2" cstate="print">
            <a:extLst>
              <a:ext uri="{28A0092B-C50C-407E-A947-70E740481C1C}">
                <a14:useLocalDpi xmlns:a14="http://schemas.microsoft.com/office/drawing/2010/main" val="0"/>
              </a:ext>
            </a:extLst>
          </a:blip>
          <a:srcRect r="17660"/>
          <a:stretch/>
        </p:blipFill>
        <p:spPr>
          <a:xfrm>
            <a:off x="6012160" y="2399498"/>
            <a:ext cx="2781152" cy="1476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6" name="TextBox 5"/>
          <p:cNvSpPr txBox="1"/>
          <p:nvPr/>
        </p:nvSpPr>
        <p:spPr>
          <a:xfrm>
            <a:off x="827584" y="2276872"/>
            <a:ext cx="4439398" cy="2062103"/>
          </a:xfrm>
          <a:prstGeom prst="rect">
            <a:avLst/>
          </a:prstGeom>
          <a:noFill/>
        </p:spPr>
        <p:txBody>
          <a:bodyPr wrap="square" rtlCol="0">
            <a:spAutoFit/>
          </a:bodyPr>
          <a:lstStyle/>
          <a:p>
            <a:r>
              <a:rPr lang="zh-CN" altLang="en-US" sz="2000" dirty="0" smtClean="0">
                <a:latin typeface="微软雅黑" pitchFamily="34" charset="-122"/>
                <a:ea typeface="微软雅黑" pitchFamily="34" charset="-122"/>
              </a:rPr>
              <a:t>       在中国改革史和企业史上，“</a:t>
            </a:r>
            <a:r>
              <a:rPr lang="zh-CN" altLang="en-US" sz="2400" dirty="0" smtClean="0">
                <a:latin typeface="微软雅黑" pitchFamily="34" charset="-122"/>
                <a:ea typeface="微软雅黑" pitchFamily="34" charset="-122"/>
              </a:rPr>
              <a:t>海南汽车倒卖事件</a:t>
            </a:r>
            <a:r>
              <a:rPr lang="zh-CN" altLang="en-US" sz="2000" dirty="0" smtClean="0">
                <a:latin typeface="微软雅黑" pitchFamily="34" charset="-122"/>
                <a:ea typeface="微软雅黑" pitchFamily="34" charset="-122"/>
              </a:rPr>
              <a:t>”带有很强的“寓言性”一个地区为了发展经济，令制度的许多欠缺渐渐跟不上经济发展的需求，中国改革的渐进特征日益明显，开始进入漫长的灰色地带。</a:t>
            </a:r>
            <a:endParaRPr lang="zh-CN" altLang="en-US" sz="2000" dirty="0">
              <a:latin typeface="微软雅黑" pitchFamily="34" charset="-122"/>
              <a:ea typeface="微软雅黑" pitchFamily="34" charset="-122"/>
            </a:endParaRPr>
          </a:p>
        </p:txBody>
      </p:sp>
      <p:sp>
        <p:nvSpPr>
          <p:cNvPr id="8" name="TextBox 7"/>
          <p:cNvSpPr txBox="1"/>
          <p:nvPr/>
        </p:nvSpPr>
        <p:spPr>
          <a:xfrm>
            <a:off x="827584" y="5445224"/>
            <a:ext cx="7560840" cy="1138773"/>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客观</a:t>
            </a:r>
            <a:r>
              <a:rPr lang="zh-CN" altLang="en-US" sz="2000" dirty="0">
                <a:solidFill>
                  <a:srgbClr val="E2CE84"/>
                </a:solidFill>
                <a:latin typeface="微软雅黑" pitchFamily="34" charset="-122"/>
                <a:ea typeface="微软雅黑" pitchFamily="34" charset="-122"/>
              </a:rPr>
              <a:t>的说，汽车倒卖事件，让封闭落后的海南一跃成为开放的前沿，一向羞于商品交易的海南人如同经历了一场刻骨的</a:t>
            </a:r>
            <a:r>
              <a:rPr lang="zh-CN" altLang="en-US" sz="2400" b="1" dirty="0">
                <a:solidFill>
                  <a:schemeClr val="bg1"/>
                </a:solidFill>
                <a:latin typeface="微软雅黑" pitchFamily="34" charset="-122"/>
                <a:ea typeface="微软雅黑" pitchFamily="34" charset="-122"/>
              </a:rPr>
              <a:t>金钱教育</a:t>
            </a:r>
            <a:r>
              <a:rPr lang="zh-CN" altLang="en-US" sz="2000" dirty="0" smtClean="0">
                <a:solidFill>
                  <a:srgbClr val="E2CE84"/>
                </a:solidFill>
                <a:latin typeface="微软雅黑" pitchFamily="34" charset="-122"/>
                <a:ea typeface="微软雅黑" pitchFamily="34" charset="-122"/>
              </a:rPr>
              <a:t>。</a:t>
            </a:r>
            <a:r>
              <a:rPr lang="zh-CN" altLang="en-US" sz="2000" dirty="0">
                <a:solidFill>
                  <a:srgbClr val="E2CE84"/>
                </a:solidFill>
                <a:latin typeface="微软雅黑" pitchFamily="34" charset="-122"/>
                <a:ea typeface="微软雅黑" pitchFamily="34" charset="-122"/>
              </a:rPr>
              <a:t>今后</a:t>
            </a:r>
            <a:r>
              <a:rPr lang="zh-CN" altLang="en-US" sz="2000" dirty="0" smtClean="0">
                <a:solidFill>
                  <a:srgbClr val="E2CE84"/>
                </a:solidFill>
                <a:latin typeface="微软雅黑" pitchFamily="34" charset="-122"/>
                <a:ea typeface="微软雅黑" pitchFamily="34" charset="-122"/>
              </a:rPr>
              <a:t>的</a:t>
            </a:r>
            <a:r>
              <a:rPr lang="zh-CN" altLang="en-US" sz="2000" dirty="0">
                <a:solidFill>
                  <a:srgbClr val="E2CE84"/>
                </a:solidFill>
                <a:latin typeface="微软雅黑" pitchFamily="34" charset="-122"/>
                <a:ea typeface="微软雅黑" pitchFamily="34" charset="-122"/>
              </a:rPr>
              <a:t>“</a:t>
            </a:r>
            <a:r>
              <a:rPr lang="zh-CN" altLang="en-US" sz="2400" dirty="0">
                <a:solidFill>
                  <a:schemeClr val="bg1"/>
                </a:solidFill>
                <a:latin typeface="微软雅黑" pitchFamily="34" charset="-122"/>
                <a:ea typeface="微软雅黑" pitchFamily="34" charset="-122"/>
              </a:rPr>
              <a:t>海南热</a:t>
            </a:r>
            <a:r>
              <a:rPr lang="zh-CN" altLang="en-US" sz="2000" dirty="0">
                <a:solidFill>
                  <a:srgbClr val="E2CE84"/>
                </a:solidFill>
                <a:latin typeface="微软雅黑" pitchFamily="34" charset="-122"/>
                <a:ea typeface="微软雅黑" pitchFamily="34" charset="-122"/>
              </a:rPr>
              <a:t>”与此大有关系。</a:t>
            </a:r>
          </a:p>
        </p:txBody>
      </p:sp>
      <p:sp>
        <p:nvSpPr>
          <p:cNvPr id="7" name="矩形 6"/>
          <p:cNvSpPr/>
          <p:nvPr/>
        </p:nvSpPr>
        <p:spPr>
          <a:xfrm>
            <a:off x="7236296" y="4150685"/>
            <a:ext cx="646331" cy="369332"/>
          </a:xfrm>
          <a:prstGeom prst="rect">
            <a:avLst/>
          </a:prstGeom>
        </p:spPr>
        <p:txBody>
          <a:bodyPr wrap="none">
            <a:spAutoFit/>
          </a:bodyPr>
          <a:lstStyle/>
          <a:p>
            <a:r>
              <a:rPr lang="zh-CN" altLang="en-US" dirty="0">
                <a:latin typeface="微软雅黑" pitchFamily="34" charset="-122"/>
                <a:ea typeface="微软雅黑" pitchFamily="34" charset="-122"/>
              </a:rPr>
              <a:t>汽车</a:t>
            </a:r>
            <a:endParaRPr lang="zh-CN" altLang="en-US" dirty="0"/>
          </a:p>
        </p:txBody>
      </p:sp>
    </p:spTree>
    <p:extLst>
      <p:ext uri="{BB962C8B-B14F-4D97-AF65-F5344CB8AC3E}">
        <p14:creationId xmlns:p14="http://schemas.microsoft.com/office/powerpoint/2010/main" val="156141355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双面雷宇</a:t>
            </a:r>
            <a:endParaRPr lang="zh-CN" altLang="en-US" sz="5400" b="1" dirty="0">
              <a:latin typeface="华文行楷" pitchFamily="2" charset="-122"/>
              <a:ea typeface="华文行楷" pitchFamily="2"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00192" y="2227203"/>
            <a:ext cx="2188449" cy="1800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6" name="TextBox 5"/>
          <p:cNvSpPr txBox="1"/>
          <p:nvPr/>
        </p:nvSpPr>
        <p:spPr>
          <a:xfrm>
            <a:off x="827584" y="1844824"/>
            <a:ext cx="5166320" cy="286232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       造成海南疯狂的就是海南行政区党委书记、公署主任</a:t>
            </a:r>
            <a:r>
              <a:rPr lang="en-US" altLang="zh-CN" dirty="0" smtClean="0">
                <a:latin typeface="微软雅黑" pitchFamily="34" charset="-122"/>
                <a:ea typeface="微软雅黑" pitchFamily="34" charset="-122"/>
              </a:rPr>
              <a:t>——</a:t>
            </a:r>
            <a:r>
              <a:rPr lang="zh-CN" altLang="en-US" b="1" dirty="0" smtClean="0">
                <a:latin typeface="微软雅黑" pitchFamily="34" charset="-122"/>
                <a:ea typeface="微软雅黑" pitchFamily="34" charset="-122"/>
              </a:rPr>
              <a:t>雷宇。</a:t>
            </a:r>
            <a:endParaRPr lang="en-US" altLang="zh-CN" b="1"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      为了利用政策，完成原始积累，他和他的部属们就想到了进口汽车。但闸门一开，时态迅速变得不可收拾。</a:t>
            </a:r>
            <a:endParaRPr lang="en-US" altLang="zh-CN" dirty="0" smtClean="0">
              <a:latin typeface="微软雅黑" pitchFamily="34" charset="-122"/>
              <a:ea typeface="微软雅黑" pitchFamily="34" charset="-122"/>
            </a:endParaRPr>
          </a:p>
          <a:p>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但雷宇个人在热潮中从未倒卖过一辆汽车，没有受贿一分钱，从个人品德而言，他是共和国难得的清官和能吏。正因如此，在其后十余年，他一直受人敬重和同情，在民间流传为一个侠客式的清官。</a:t>
            </a:r>
            <a:endParaRPr lang="en-US" altLang="zh-CN" dirty="0" smtClean="0">
              <a:latin typeface="微软雅黑" pitchFamily="34" charset="-122"/>
              <a:ea typeface="微软雅黑" pitchFamily="34" charset="-122"/>
            </a:endParaRPr>
          </a:p>
        </p:txBody>
      </p:sp>
      <p:sp>
        <p:nvSpPr>
          <p:cNvPr id="7" name="TextBox 6"/>
          <p:cNvSpPr txBox="1"/>
          <p:nvPr/>
        </p:nvSpPr>
        <p:spPr>
          <a:xfrm>
            <a:off x="827584" y="5263470"/>
            <a:ext cx="7776863" cy="1323439"/>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       社会舆论对雷宇的评价，最生动地体现出中国改革过程中的观念紊乱和制度悖论，在相当长的一段时间里，对官员和企业家的经济行为的法律判断一直非常迷乱，甚至带有很大的随意性和阶段性。</a:t>
            </a:r>
            <a:endParaRPr lang="en-US" altLang="zh-CN" sz="2000" dirty="0" smtClean="0">
              <a:solidFill>
                <a:srgbClr val="E2CE84"/>
              </a:solidFill>
              <a:latin typeface="微软雅黑" pitchFamily="34" charset="-122"/>
              <a:ea typeface="微软雅黑" pitchFamily="34" charset="-122"/>
            </a:endParaRPr>
          </a:p>
          <a:p>
            <a:r>
              <a:rPr lang="zh-CN" altLang="en-US" sz="2000" dirty="0" smtClean="0">
                <a:solidFill>
                  <a:srgbClr val="E2CE84"/>
                </a:solidFill>
                <a:latin typeface="微软雅黑" pitchFamily="34" charset="-122"/>
                <a:ea typeface="微软雅黑" pitchFamily="34" charset="-122"/>
              </a:rPr>
              <a:t>       如今的</a:t>
            </a:r>
            <a:r>
              <a:rPr lang="zh-CN" altLang="en-US" sz="2000" b="1" dirty="0" smtClean="0">
                <a:solidFill>
                  <a:schemeClr val="bg1"/>
                </a:solidFill>
                <a:latin typeface="微软雅黑" pitchFamily="34" charset="-122"/>
                <a:ea typeface="微软雅黑" pitchFamily="34" charset="-122"/>
              </a:rPr>
              <a:t>褚时健</a:t>
            </a:r>
            <a:r>
              <a:rPr lang="zh-CN" altLang="en-US" sz="2000" dirty="0" smtClean="0">
                <a:solidFill>
                  <a:srgbClr val="E2CE84"/>
                </a:solidFill>
                <a:latin typeface="微软雅黑" pitchFamily="34" charset="-122"/>
                <a:ea typeface="微软雅黑" pitchFamily="34" charset="-122"/>
              </a:rPr>
              <a:t>（褚橙的永不放弃），也是典型代表之一。</a:t>
            </a:r>
            <a:endParaRPr lang="zh-CN" altLang="en-US" sz="2000" dirty="0">
              <a:solidFill>
                <a:srgbClr val="E2CE84"/>
              </a:solidFill>
              <a:latin typeface="微软雅黑" pitchFamily="34" charset="-122"/>
              <a:ea typeface="微软雅黑" pitchFamily="34" charset="-122"/>
            </a:endParaRPr>
          </a:p>
        </p:txBody>
      </p:sp>
      <p:sp>
        <p:nvSpPr>
          <p:cNvPr id="8" name="矩形 7"/>
          <p:cNvSpPr/>
          <p:nvPr/>
        </p:nvSpPr>
        <p:spPr>
          <a:xfrm>
            <a:off x="7164288" y="4171095"/>
            <a:ext cx="646331" cy="369332"/>
          </a:xfrm>
          <a:prstGeom prst="rect">
            <a:avLst/>
          </a:prstGeom>
        </p:spPr>
        <p:txBody>
          <a:bodyPr wrap="none">
            <a:spAutoFit/>
          </a:bodyPr>
          <a:lstStyle/>
          <a:p>
            <a:r>
              <a:rPr lang="zh-CN" altLang="en-US" b="1" dirty="0">
                <a:latin typeface="微软雅黑" pitchFamily="34" charset="-122"/>
                <a:ea typeface="微软雅黑" pitchFamily="34" charset="-122"/>
              </a:rPr>
              <a:t>雷宇</a:t>
            </a:r>
            <a:endParaRPr lang="en-US" altLang="zh-CN" b="1" dirty="0">
              <a:latin typeface="微软雅黑" pitchFamily="34" charset="-122"/>
              <a:ea typeface="微软雅黑" pitchFamily="34" charset="-122"/>
            </a:endParaRPr>
          </a:p>
        </p:txBody>
      </p:sp>
    </p:spTree>
    <p:extLst>
      <p:ext uri="{BB962C8B-B14F-4D97-AF65-F5344CB8AC3E}">
        <p14:creationId xmlns:p14="http://schemas.microsoft.com/office/powerpoint/2010/main" val="47501666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晋江假药</a:t>
            </a:r>
            <a:endParaRPr lang="zh-CN" altLang="en-US" sz="5400" b="1" dirty="0">
              <a:latin typeface="华文行楷" pitchFamily="2" charset="-122"/>
              <a:ea typeface="华文行楷" pitchFamily="2" charset="-122"/>
            </a:endParaRP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88493" y="2109264"/>
            <a:ext cx="2645999" cy="1764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6" name="TextBox 5"/>
          <p:cNvSpPr txBox="1"/>
          <p:nvPr/>
        </p:nvSpPr>
        <p:spPr>
          <a:xfrm>
            <a:off x="827583" y="1988840"/>
            <a:ext cx="4552887" cy="2400657"/>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      1985</a:t>
            </a:r>
            <a:r>
              <a:rPr lang="zh-CN" altLang="en-US" dirty="0" smtClean="0">
                <a:latin typeface="微软雅黑" pitchFamily="34" charset="-122"/>
                <a:ea typeface="微软雅黑" pitchFamily="34" charset="-122"/>
              </a:rPr>
              <a:t>年，晋江制造假药的乡镇共有</a:t>
            </a:r>
            <a:r>
              <a:rPr lang="en-US" altLang="zh-CN" dirty="0" smtClean="0">
                <a:latin typeface="微软雅黑" pitchFamily="34" charset="-122"/>
                <a:ea typeface="微软雅黑" pitchFamily="34" charset="-122"/>
              </a:rPr>
              <a:t>57</a:t>
            </a:r>
            <a:r>
              <a:rPr lang="zh-CN" altLang="en-US" dirty="0" smtClean="0">
                <a:latin typeface="微软雅黑" pitchFamily="34" charset="-122"/>
                <a:ea typeface="微软雅黑" pitchFamily="34" charset="-122"/>
              </a:rPr>
              <a:t>家，成本低廉的假药通过高额回扣的方式冲进公费医疗体系，带来了令人称羡的企业效益，所以当地政府为了经济发展，听之任之。</a:t>
            </a:r>
            <a:endParaRPr lang="en-US" altLang="zh-CN" dirty="0" smtClean="0">
              <a:latin typeface="微软雅黑" pitchFamily="34" charset="-122"/>
              <a:ea typeface="微软雅黑" pitchFamily="34" charset="-122"/>
            </a:endParaRPr>
          </a:p>
          <a:p>
            <a:r>
              <a:rPr lang="en-US" altLang="zh-CN" dirty="0">
                <a:latin typeface="微软雅黑" pitchFamily="34" charset="-122"/>
                <a:ea typeface="微软雅黑" pitchFamily="34" charset="-122"/>
              </a:rPr>
              <a:t> </a:t>
            </a:r>
            <a:r>
              <a:rPr lang="en-US" altLang="zh-CN" dirty="0" smtClean="0">
                <a:latin typeface="微软雅黑" pitchFamily="34" charset="-122"/>
                <a:ea typeface="微软雅黑" pitchFamily="34" charset="-122"/>
              </a:rPr>
              <a:t>      </a:t>
            </a:r>
            <a:r>
              <a:rPr lang="zh-CN" altLang="en-US" dirty="0" smtClean="0">
                <a:latin typeface="微软雅黑" pitchFamily="34" charset="-122"/>
                <a:ea typeface="微软雅黑" pitchFamily="34" charset="-122"/>
              </a:rPr>
              <a:t>计划的无活力社会在转变为商业社会的过程中，</a:t>
            </a:r>
            <a:r>
              <a:rPr lang="zh-CN" altLang="en-US" sz="2400" b="1" dirty="0" smtClean="0">
                <a:latin typeface="微软雅黑" pitchFamily="34" charset="-122"/>
                <a:ea typeface="微软雅黑" pitchFamily="34" charset="-122"/>
              </a:rPr>
              <a:t>摆脱贫困</a:t>
            </a:r>
            <a:r>
              <a:rPr lang="zh-CN" altLang="en-US" dirty="0" smtClean="0">
                <a:latin typeface="微软雅黑" pitchFamily="34" charset="-122"/>
                <a:ea typeface="微软雅黑" pitchFamily="34" charset="-122"/>
              </a:rPr>
              <a:t>是底层人民内心最强烈的欲望。</a:t>
            </a:r>
            <a:endParaRPr lang="zh-CN" altLang="en-US" dirty="0">
              <a:latin typeface="微软雅黑" pitchFamily="34" charset="-122"/>
              <a:ea typeface="微软雅黑" pitchFamily="34" charset="-122"/>
            </a:endParaRPr>
          </a:p>
        </p:txBody>
      </p:sp>
      <p:sp>
        <p:nvSpPr>
          <p:cNvPr id="7" name="TextBox 6"/>
          <p:cNvSpPr txBox="1"/>
          <p:nvPr/>
        </p:nvSpPr>
        <p:spPr>
          <a:xfrm>
            <a:off x="827583" y="5445224"/>
            <a:ext cx="7706909" cy="1077218"/>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“欲望之门被打开后，如果没有法律的制约，富有想象力的邪恶变回像野草一样肆意疯长。中国基层社会那种流传千年的淳朴的商业道德，从这时开始正在可怕地</a:t>
            </a:r>
            <a:r>
              <a:rPr lang="zh-CN" altLang="en-US" sz="2400" b="1" dirty="0" smtClean="0">
                <a:solidFill>
                  <a:schemeClr val="bg1"/>
                </a:solidFill>
                <a:latin typeface="微软雅黑" pitchFamily="34" charset="-122"/>
                <a:ea typeface="微软雅黑" pitchFamily="34" charset="-122"/>
              </a:rPr>
              <a:t>逐步沦失</a:t>
            </a:r>
            <a:r>
              <a:rPr lang="zh-CN" altLang="en-US" sz="2000" dirty="0" smtClean="0">
                <a:solidFill>
                  <a:srgbClr val="E2CE84"/>
                </a:solidFill>
                <a:latin typeface="微软雅黑" pitchFamily="34" charset="-122"/>
                <a:ea typeface="微软雅黑" pitchFamily="34" charset="-122"/>
              </a:rPr>
              <a:t>。“</a:t>
            </a:r>
            <a:endParaRPr lang="zh-CN" altLang="en-US" sz="2000" dirty="0">
              <a:solidFill>
                <a:srgbClr val="E2CE84"/>
              </a:solidFill>
              <a:latin typeface="微软雅黑" pitchFamily="34" charset="-122"/>
              <a:ea typeface="微软雅黑" pitchFamily="34" charset="-122"/>
            </a:endParaRPr>
          </a:p>
        </p:txBody>
      </p:sp>
      <p:sp>
        <p:nvSpPr>
          <p:cNvPr id="8" name="矩形 7"/>
          <p:cNvSpPr/>
          <p:nvPr/>
        </p:nvSpPr>
        <p:spPr>
          <a:xfrm>
            <a:off x="6516216" y="4068887"/>
            <a:ext cx="1569660" cy="369332"/>
          </a:xfrm>
          <a:prstGeom prst="rect">
            <a:avLst/>
          </a:prstGeom>
        </p:spPr>
        <p:txBody>
          <a:bodyPr wrap="none">
            <a:spAutoFit/>
          </a:bodyPr>
          <a:lstStyle/>
          <a:p>
            <a:r>
              <a:rPr lang="zh-CN" altLang="en-US" dirty="0">
                <a:latin typeface="微软雅黑" pitchFamily="34" charset="-122"/>
                <a:ea typeface="微软雅黑" pitchFamily="34" charset="-122"/>
              </a:rPr>
              <a:t>晋江制造假药</a:t>
            </a:r>
            <a:endParaRPr lang="zh-CN" altLang="en-US" dirty="0"/>
          </a:p>
        </p:txBody>
      </p:sp>
    </p:spTree>
    <p:extLst>
      <p:ext uri="{BB962C8B-B14F-4D97-AF65-F5344CB8AC3E}">
        <p14:creationId xmlns:p14="http://schemas.microsoft.com/office/powerpoint/2010/main" val="72837837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smtClean="0">
                <a:latin typeface="华文行楷" pitchFamily="2" charset="-122"/>
                <a:ea typeface="华文行楷" pitchFamily="2" charset="-122"/>
              </a:rPr>
              <a:t>心态失衡</a:t>
            </a:r>
            <a:endParaRPr lang="zh-CN" altLang="en-US" sz="5400" b="1" dirty="0">
              <a:latin typeface="华文行楷" pitchFamily="2" charset="-122"/>
              <a:ea typeface="华文行楷" pitchFamily="2" charset="-122"/>
            </a:endParaRPr>
          </a:p>
        </p:txBody>
      </p:sp>
      <p:sp>
        <p:nvSpPr>
          <p:cNvPr id="6" name="TextBox 5"/>
          <p:cNvSpPr txBox="1"/>
          <p:nvPr/>
        </p:nvSpPr>
        <p:spPr>
          <a:xfrm>
            <a:off x="832513" y="1988840"/>
            <a:ext cx="4547957" cy="2246769"/>
          </a:xfrm>
          <a:prstGeom prst="rect">
            <a:avLst/>
          </a:prstGeom>
          <a:noFill/>
        </p:spPr>
        <p:txBody>
          <a:bodyPr wrap="square" rtlCol="0">
            <a:spAutoFit/>
          </a:bodyPr>
          <a:lstStyle/>
          <a:p>
            <a:r>
              <a:rPr lang="en-US" altLang="zh-CN" sz="2000" dirty="0" smtClean="0">
                <a:latin typeface="微软雅黑" pitchFamily="34" charset="-122"/>
                <a:ea typeface="微软雅黑" pitchFamily="34" charset="-122"/>
              </a:rPr>
              <a:t>      </a:t>
            </a:r>
            <a:r>
              <a:rPr lang="zh-CN" altLang="en-US" sz="2000" dirty="0" smtClean="0">
                <a:latin typeface="微软雅黑" pitchFamily="34" charset="-122"/>
                <a:ea typeface="微软雅黑" pitchFamily="34" charset="-122"/>
              </a:rPr>
              <a:t>“手术刀不如剃头刀，造导弹不如卖茶叶蛋”</a:t>
            </a:r>
            <a:endParaRPr lang="en-US" altLang="zh-CN" sz="2000" dirty="0" smtClean="0">
              <a:latin typeface="微软雅黑" pitchFamily="34" charset="-122"/>
              <a:ea typeface="微软雅黑" pitchFamily="34" charset="-122"/>
            </a:endParaRPr>
          </a:p>
          <a:p>
            <a:r>
              <a:rPr lang="en-US" altLang="zh-CN" sz="2000" dirty="0">
                <a:latin typeface="微软雅黑" pitchFamily="34" charset="-122"/>
                <a:ea typeface="微软雅黑" pitchFamily="34" charset="-122"/>
              </a:rPr>
              <a:t> </a:t>
            </a:r>
            <a:r>
              <a:rPr lang="en-US" altLang="zh-CN" sz="2000" dirty="0" smtClean="0">
                <a:latin typeface="微软雅黑" pitchFamily="34" charset="-122"/>
                <a:ea typeface="微软雅黑" pitchFamily="34" charset="-122"/>
              </a:rPr>
              <a:t>     </a:t>
            </a:r>
            <a:r>
              <a:rPr lang="zh-CN" altLang="en-US" sz="2000" dirty="0" smtClean="0">
                <a:latin typeface="微软雅黑" pitchFamily="34" charset="-122"/>
                <a:ea typeface="微软雅黑" pitchFamily="34" charset="-122"/>
              </a:rPr>
              <a:t>“老大（工人）靠了边，老二（农民）分了田，老九（知识分子）上了天，不三不四赚了钱”</a:t>
            </a:r>
            <a:endParaRPr lang="en-US" altLang="zh-CN" sz="2000" dirty="0" smtClean="0">
              <a:latin typeface="微软雅黑" pitchFamily="34" charset="-122"/>
              <a:ea typeface="微软雅黑" pitchFamily="34" charset="-122"/>
            </a:endParaRPr>
          </a:p>
          <a:p>
            <a:r>
              <a:rPr lang="en-US" altLang="zh-CN" sz="2000" dirty="0">
                <a:latin typeface="微软雅黑" pitchFamily="34" charset="-122"/>
                <a:ea typeface="微软雅黑" pitchFamily="34" charset="-122"/>
              </a:rPr>
              <a:t> </a:t>
            </a:r>
            <a:r>
              <a:rPr lang="en-US" altLang="zh-CN" sz="2000" dirty="0" smtClean="0">
                <a:latin typeface="微软雅黑" pitchFamily="34" charset="-122"/>
                <a:ea typeface="微软雅黑" pitchFamily="34" charset="-122"/>
              </a:rPr>
              <a:t>     </a:t>
            </a:r>
            <a:r>
              <a:rPr lang="zh-CN" altLang="en-US" sz="2000" dirty="0" smtClean="0">
                <a:latin typeface="微软雅黑" pitchFamily="34" charset="-122"/>
                <a:ea typeface="微软雅黑" pitchFamily="34" charset="-122"/>
              </a:rPr>
              <a:t>“工人乐，农民笑，知识分子光着屁股坐花轿”</a:t>
            </a:r>
            <a:endParaRPr lang="zh-CN" altLang="en-US" sz="2000" dirty="0">
              <a:latin typeface="微软雅黑" pitchFamily="34" charset="-122"/>
              <a:ea typeface="微软雅黑" pitchFamily="34" charset="-122"/>
            </a:endParaRPr>
          </a:p>
        </p:txBody>
      </p:sp>
      <p:sp>
        <p:nvSpPr>
          <p:cNvPr id="7" name="TextBox 6"/>
          <p:cNvSpPr txBox="1"/>
          <p:nvPr/>
        </p:nvSpPr>
        <p:spPr>
          <a:xfrm>
            <a:off x="827584" y="5589240"/>
            <a:ext cx="7706908" cy="769441"/>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当时的现状确实正是，全民性的</a:t>
            </a:r>
            <a:r>
              <a:rPr lang="zh-CN" altLang="en-US" sz="2400" b="1" dirty="0" smtClean="0">
                <a:solidFill>
                  <a:schemeClr val="bg1"/>
                </a:solidFill>
                <a:latin typeface="微软雅黑" pitchFamily="34" charset="-122"/>
                <a:ea typeface="微软雅黑" pitchFamily="34" charset="-122"/>
              </a:rPr>
              <a:t>心态失衡</a:t>
            </a:r>
            <a:r>
              <a:rPr lang="zh-CN" altLang="en-US" sz="2000" dirty="0" smtClean="0">
                <a:solidFill>
                  <a:srgbClr val="E2CE84"/>
                </a:solidFill>
                <a:latin typeface="微软雅黑" pitchFamily="34" charset="-122"/>
                <a:ea typeface="微软雅黑" pitchFamily="34" charset="-122"/>
              </a:rPr>
              <a:t>已经暴露无遗</a:t>
            </a:r>
            <a:endParaRPr lang="en-US" altLang="zh-CN" sz="2000" dirty="0" smtClean="0">
              <a:solidFill>
                <a:srgbClr val="E2CE84"/>
              </a:solidFill>
              <a:latin typeface="微软雅黑" pitchFamily="34" charset="-122"/>
              <a:ea typeface="微软雅黑" pitchFamily="34" charset="-122"/>
            </a:endParaRPr>
          </a:p>
          <a:p>
            <a:r>
              <a:rPr lang="zh-CN" altLang="en-US" sz="2000" dirty="0">
                <a:solidFill>
                  <a:srgbClr val="E2CE84"/>
                </a:solidFill>
                <a:latin typeface="微软雅黑" pitchFamily="34" charset="-122"/>
                <a:ea typeface="微软雅黑" pitchFamily="34" charset="-122"/>
              </a:rPr>
              <a:t>很</a:t>
            </a:r>
            <a:r>
              <a:rPr lang="zh-CN" altLang="en-US" sz="2000" dirty="0" smtClean="0">
                <a:solidFill>
                  <a:srgbClr val="E2CE84"/>
                </a:solidFill>
                <a:latin typeface="微软雅黑" pitchFamily="34" charset="-122"/>
                <a:ea typeface="微软雅黑" pitchFamily="34" charset="-122"/>
              </a:rPr>
              <a:t>显然，在一个转型时代，所有的价值观都亟待重建。</a:t>
            </a:r>
            <a:endParaRPr lang="zh-CN" altLang="en-US" sz="2000" dirty="0">
              <a:solidFill>
                <a:srgbClr val="E2CE84"/>
              </a:solidFill>
              <a:latin typeface="微软雅黑" pitchFamily="34" charset="-122"/>
              <a:ea typeface="微软雅黑" pitchFamily="34" charset="-122"/>
            </a:endParaRPr>
          </a:p>
        </p:txBody>
      </p:sp>
      <p:sp>
        <p:nvSpPr>
          <p:cNvPr id="8" name="矩形 7"/>
          <p:cNvSpPr/>
          <p:nvPr/>
        </p:nvSpPr>
        <p:spPr>
          <a:xfrm>
            <a:off x="6516216" y="4283804"/>
            <a:ext cx="1569660" cy="369332"/>
          </a:xfrm>
          <a:prstGeom prst="rect">
            <a:avLst/>
          </a:prstGeom>
        </p:spPr>
        <p:txBody>
          <a:bodyPr wrap="none">
            <a:spAutoFit/>
          </a:bodyPr>
          <a:lstStyle/>
          <a:p>
            <a:r>
              <a:rPr lang="zh-CN" altLang="en-US" dirty="0" smtClean="0">
                <a:latin typeface="微软雅黑" pitchFamily="34" charset="-122"/>
                <a:ea typeface="微软雅黑" pitchFamily="34" charset="-122"/>
              </a:rPr>
              <a:t>民众心态失衡</a:t>
            </a:r>
            <a:endParaRPr lang="zh-CN" altLang="en-US" dirty="0"/>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05633" y="1988840"/>
            <a:ext cx="2790825" cy="20955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Tree>
    <p:extLst>
      <p:ext uri="{BB962C8B-B14F-4D97-AF65-F5344CB8AC3E}">
        <p14:creationId xmlns:p14="http://schemas.microsoft.com/office/powerpoint/2010/main" val="344802375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39752" y="2361654"/>
            <a:ext cx="4392488" cy="923330"/>
          </a:xfrm>
          <a:prstGeom prst="rect">
            <a:avLst/>
          </a:prstGeom>
          <a:noFill/>
        </p:spPr>
        <p:txBody>
          <a:bodyPr wrap="square" rtlCol="0">
            <a:spAutoFit/>
          </a:bodyPr>
          <a:lstStyle/>
          <a:p>
            <a:pPr algn="ctr"/>
            <a:r>
              <a:rPr lang="zh-CN" altLang="en-US" sz="5400" b="1" dirty="0" smtClean="0">
                <a:latin typeface="微软雅黑" pitchFamily="34" charset="-122"/>
                <a:ea typeface="微软雅黑" pitchFamily="34" charset="-122"/>
              </a:rPr>
              <a:t>下集预告</a:t>
            </a:r>
            <a:endParaRPr lang="zh-CN" altLang="en-US" sz="5400" b="1" dirty="0">
              <a:latin typeface="微软雅黑" pitchFamily="34" charset="-122"/>
              <a:ea typeface="微软雅黑" pitchFamily="34" charset="-122"/>
            </a:endParaRPr>
          </a:p>
        </p:txBody>
      </p:sp>
    </p:spTree>
    <p:extLst>
      <p:ext uri="{BB962C8B-B14F-4D97-AF65-F5344CB8AC3E}">
        <p14:creationId xmlns:p14="http://schemas.microsoft.com/office/powerpoint/2010/main" val="139430492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27384"/>
            <a:ext cx="827584"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267744" y="-27384"/>
            <a:ext cx="6876256" cy="1512168"/>
          </a:xfrm>
          <a:prstGeom prst="rect">
            <a:avLst/>
          </a:prstGeom>
          <a:solidFill>
            <a:srgbClr val="D32A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4400" dirty="0" smtClean="0">
                <a:solidFill>
                  <a:schemeClr val="bg1"/>
                </a:solidFill>
                <a:latin typeface="Broadway" pitchFamily="82" charset="0"/>
              </a:rPr>
              <a:t>Thirty Years of Business</a:t>
            </a:r>
            <a:endParaRPr lang="zh-CN" altLang="en-US" sz="4400" dirty="0">
              <a:solidFill>
                <a:schemeClr val="bg1"/>
              </a:solidFill>
              <a:latin typeface="Broadway" pitchFamily="82" charset="0"/>
            </a:endParaRPr>
          </a:p>
        </p:txBody>
      </p:sp>
      <p:sp>
        <p:nvSpPr>
          <p:cNvPr id="4" name="TextBox 3"/>
          <p:cNvSpPr txBox="1"/>
          <p:nvPr/>
        </p:nvSpPr>
        <p:spPr>
          <a:xfrm>
            <a:off x="755576" y="-99392"/>
            <a:ext cx="1624914" cy="1754326"/>
          </a:xfrm>
          <a:prstGeom prst="rect">
            <a:avLst/>
          </a:prstGeom>
          <a:noFill/>
        </p:spPr>
        <p:txBody>
          <a:bodyPr wrap="square" rtlCol="0">
            <a:spAutoFit/>
          </a:bodyPr>
          <a:lstStyle/>
          <a:p>
            <a:r>
              <a:rPr lang="zh-CN" altLang="en-US" sz="5400" b="1" dirty="0">
                <a:latin typeface="华文行楷" pitchFamily="2" charset="-122"/>
                <a:ea typeface="华文行楷" pitchFamily="2" charset="-122"/>
              </a:rPr>
              <a:t>信息时代</a:t>
            </a:r>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05872" y="2245621"/>
            <a:ext cx="2961000" cy="1692000"/>
          </a:xfrm>
          <a:prstGeom prst="rect">
            <a:avLst/>
          </a:prstGeom>
          <a:solidFill>
            <a:srgbClr val="FFFFFF">
              <a:shade val="85000"/>
            </a:srgbClr>
          </a:solidFill>
          <a:ln w="381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prst="angle"/>
            <a:contourClr>
              <a:srgbClr val="969696"/>
            </a:contourClr>
          </a:sp3d>
        </p:spPr>
      </p:pic>
      <p:sp>
        <p:nvSpPr>
          <p:cNvPr id="6" name="TextBox 5"/>
          <p:cNvSpPr txBox="1"/>
          <p:nvPr/>
        </p:nvSpPr>
        <p:spPr>
          <a:xfrm>
            <a:off x="827584" y="2132856"/>
            <a:ext cx="4392488" cy="2400657"/>
          </a:xfrm>
          <a:prstGeom prst="rect">
            <a:avLst/>
          </a:prstGeom>
          <a:noFill/>
        </p:spPr>
        <p:txBody>
          <a:bodyPr wrap="square" rtlCol="0">
            <a:spAutoFit/>
          </a:bodyPr>
          <a:lstStyle/>
          <a:p>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激荡三十年</a:t>
            </a:r>
            <a:r>
              <a:rPr lang="en-US" altLang="zh-CN" dirty="0" smtClean="0">
                <a:latin typeface="微软雅黑" pitchFamily="34" charset="-122"/>
                <a:ea typeface="微软雅黑" pitchFamily="34" charset="-122"/>
              </a:rPr>
              <a:t>》</a:t>
            </a:r>
            <a:r>
              <a:rPr lang="zh-CN" altLang="en-US" dirty="0" smtClean="0">
                <a:latin typeface="微软雅黑" pitchFamily="34" charset="-122"/>
                <a:ea typeface="微软雅黑" pitchFamily="34" charset="-122"/>
              </a:rPr>
              <a:t>上册的读书笔记</a:t>
            </a:r>
            <a:r>
              <a:rPr lang="en-US" altLang="zh-CN" dirty="0">
                <a:latin typeface="微软雅黑" pitchFamily="34" charset="-122"/>
                <a:ea typeface="微软雅黑" pitchFamily="34" charset="-122"/>
              </a:rPr>
              <a:t>PPT</a:t>
            </a:r>
            <a:r>
              <a:rPr lang="zh-CN" altLang="en-US" dirty="0" smtClean="0">
                <a:latin typeface="微软雅黑" pitchFamily="34" charset="-122"/>
                <a:ea typeface="微软雅黑" pitchFamily="34" charset="-122"/>
              </a:rPr>
              <a:t>，将以互联网这一新技术变革为中点。</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这段</a:t>
            </a:r>
            <a:r>
              <a:rPr lang="en-US" altLang="zh-CN" dirty="0">
                <a:latin typeface="微软雅黑" pitchFamily="34" charset="-122"/>
                <a:ea typeface="微软雅黑" pitchFamily="34" charset="-122"/>
              </a:rPr>
              <a:t>PPT</a:t>
            </a:r>
            <a:r>
              <a:rPr lang="zh-CN" altLang="en-US" dirty="0" smtClean="0">
                <a:latin typeface="微软雅黑" pitchFamily="34" charset="-122"/>
                <a:ea typeface="微软雅黑" pitchFamily="34" charset="-122"/>
              </a:rPr>
              <a:t>，尚未涉及</a:t>
            </a:r>
            <a:r>
              <a:rPr lang="zh-CN" altLang="en-US" sz="2400" b="1" dirty="0" smtClean="0">
                <a:latin typeface="微软雅黑" pitchFamily="34" charset="-122"/>
                <a:ea typeface="微软雅黑" pitchFamily="34" charset="-122"/>
              </a:rPr>
              <a:t>外资</a:t>
            </a:r>
            <a:r>
              <a:rPr lang="zh-CN" altLang="en-US" dirty="0" smtClean="0">
                <a:latin typeface="微软雅黑" pitchFamily="34" charset="-122"/>
                <a:ea typeface="微软雅黑" pitchFamily="34" charset="-122"/>
              </a:rPr>
              <a:t>及</a:t>
            </a:r>
            <a:r>
              <a:rPr lang="zh-CN" altLang="en-US" sz="2400" b="1" dirty="0" smtClean="0">
                <a:latin typeface="微软雅黑" pitchFamily="34" charset="-122"/>
                <a:ea typeface="微软雅黑" pitchFamily="34" charset="-122"/>
              </a:rPr>
              <a:t>互联网</a:t>
            </a:r>
            <a:r>
              <a:rPr lang="zh-CN" altLang="en-US" dirty="0" smtClean="0">
                <a:latin typeface="微软雅黑" pitchFamily="34" charset="-122"/>
                <a:ea typeface="微软雅黑" pitchFamily="34" charset="-122"/>
              </a:rPr>
              <a:t>的事情，将会在下册</a:t>
            </a:r>
            <a:r>
              <a:rPr lang="en-US" altLang="zh-CN" dirty="0" smtClean="0">
                <a:latin typeface="微软雅黑" pitchFamily="34" charset="-122"/>
                <a:ea typeface="微软雅黑" pitchFamily="34" charset="-122"/>
              </a:rPr>
              <a:t>PPT</a:t>
            </a:r>
            <a:r>
              <a:rPr lang="zh-CN" altLang="en-US" dirty="0" smtClean="0">
                <a:latin typeface="微软雅黑" pitchFamily="34" charset="-122"/>
                <a:ea typeface="微软雅黑" pitchFamily="34" charset="-122"/>
              </a:rPr>
              <a:t>中，展现出来。</a:t>
            </a:r>
            <a:endParaRPr lang="en-US" altLang="zh-CN" dirty="0" smtClean="0">
              <a:latin typeface="微软雅黑" pitchFamily="34" charset="-122"/>
              <a:ea typeface="微软雅黑" pitchFamily="34" charset="-122"/>
            </a:endParaRPr>
          </a:p>
          <a:p>
            <a:r>
              <a:rPr lang="zh-CN" altLang="en-US" dirty="0" smtClean="0">
                <a:latin typeface="微软雅黑" pitchFamily="34" charset="-122"/>
                <a:ea typeface="微软雅黑" pitchFamily="34" charset="-122"/>
              </a:rPr>
              <a:t>互联网人，是没有制度“原罪”，没有灰色积累“原罪”的一群人，他们诞生之初，就学习了西方先进的制度与法律，接触风险投资，积极摸索商业模式。</a:t>
            </a:r>
            <a:endParaRPr lang="en-US" altLang="zh-CN" dirty="0" smtClean="0">
              <a:latin typeface="微软雅黑" pitchFamily="34" charset="-122"/>
              <a:ea typeface="微软雅黑" pitchFamily="34" charset="-122"/>
            </a:endParaRPr>
          </a:p>
        </p:txBody>
      </p:sp>
      <p:sp>
        <p:nvSpPr>
          <p:cNvPr id="7" name="TextBox 6"/>
          <p:cNvSpPr txBox="1"/>
          <p:nvPr/>
        </p:nvSpPr>
        <p:spPr>
          <a:xfrm>
            <a:off x="827584" y="5548701"/>
            <a:ext cx="7839288" cy="707886"/>
          </a:xfrm>
          <a:prstGeom prst="rect">
            <a:avLst/>
          </a:prstGeom>
          <a:noFill/>
        </p:spPr>
        <p:txBody>
          <a:bodyPr wrap="square" rtlCol="0">
            <a:spAutoFit/>
          </a:bodyPr>
          <a:lstStyle/>
          <a:p>
            <a:r>
              <a:rPr lang="zh-CN" altLang="en-US" sz="2000" dirty="0" smtClean="0">
                <a:solidFill>
                  <a:srgbClr val="E2CE84"/>
                </a:solidFill>
                <a:latin typeface="微软雅黑" pitchFamily="34" charset="-122"/>
                <a:ea typeface="微软雅黑" pitchFamily="34" charset="-122"/>
              </a:rPr>
              <a:t>互联网领域既有可能诞生出一些伟大的世界性公司。如今的</a:t>
            </a:r>
            <a:r>
              <a:rPr lang="en-US" altLang="zh-CN" sz="2000" dirty="0" smtClean="0">
                <a:solidFill>
                  <a:srgbClr val="E2CE84"/>
                </a:solidFill>
                <a:latin typeface="微软雅黑" pitchFamily="34" charset="-122"/>
                <a:ea typeface="微软雅黑" pitchFamily="34" charset="-122"/>
              </a:rPr>
              <a:t>BAT</a:t>
            </a:r>
            <a:r>
              <a:rPr lang="zh-CN" altLang="en-US" sz="2000" dirty="0" smtClean="0">
                <a:solidFill>
                  <a:srgbClr val="E2CE84"/>
                </a:solidFill>
                <a:latin typeface="微软雅黑" pitchFamily="34" charset="-122"/>
                <a:ea typeface="微软雅黑" pitchFamily="34" charset="-122"/>
              </a:rPr>
              <a:t>等，谁可能是伟大的公司，让我们亲眼见证下一个三十年的历史吧！</a:t>
            </a:r>
            <a:endParaRPr lang="zh-CN" altLang="en-US" sz="2000" dirty="0">
              <a:solidFill>
                <a:srgbClr val="E2CE84"/>
              </a:solidFill>
              <a:latin typeface="微软雅黑" pitchFamily="34" charset="-122"/>
              <a:ea typeface="微软雅黑" pitchFamily="34" charset="-122"/>
            </a:endParaRPr>
          </a:p>
        </p:txBody>
      </p:sp>
    </p:spTree>
    <p:extLst>
      <p:ext uri="{BB962C8B-B14F-4D97-AF65-F5344CB8AC3E}">
        <p14:creationId xmlns:p14="http://schemas.microsoft.com/office/powerpoint/2010/main" val="302978978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00585" y="1792322"/>
            <a:ext cx="5142830" cy="300082"/>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a:r>
              <a:rPr lang="zh-CN" altLang="en-US" sz="1350" dirty="0">
                <a:solidFill>
                  <a:prstClr val="black"/>
                </a:solidFill>
                <a:latin typeface="微软雅黑" pitchFamily="34" charset="-122"/>
                <a:ea typeface="微软雅黑" pitchFamily="34" charset="-122"/>
              </a:rPr>
              <a:t>你也想免费得到出版社赠书做</a:t>
            </a:r>
            <a:r>
              <a:rPr lang="en-US" altLang="zh-CN" sz="1350" dirty="0">
                <a:solidFill>
                  <a:prstClr val="black"/>
                </a:solidFill>
                <a:latin typeface="微软雅黑" pitchFamily="34" charset="-122"/>
                <a:ea typeface="微软雅黑" pitchFamily="34" charset="-122"/>
              </a:rPr>
              <a:t>PPT</a:t>
            </a:r>
            <a:r>
              <a:rPr lang="zh-CN" altLang="en-US" sz="1350" dirty="0">
                <a:solidFill>
                  <a:prstClr val="black"/>
                </a:solidFill>
                <a:latin typeface="微软雅黑" pitchFamily="34" charset="-122"/>
                <a:ea typeface="微软雅黑" pitchFamily="34" charset="-122"/>
              </a:rPr>
              <a:t>读书笔记？</a:t>
            </a:r>
          </a:p>
        </p:txBody>
      </p:sp>
      <p:sp>
        <p:nvSpPr>
          <p:cNvPr id="9" name="右箭头 8"/>
          <p:cNvSpPr/>
          <p:nvPr/>
        </p:nvSpPr>
        <p:spPr>
          <a:xfrm>
            <a:off x="3283647" y="3024548"/>
            <a:ext cx="81001" cy="150713"/>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solidFill>
                <a:prstClr val="white"/>
              </a:solidFill>
            </a:endParaRPr>
          </a:p>
        </p:txBody>
      </p:sp>
      <p:sp>
        <p:nvSpPr>
          <p:cNvPr id="10" name="右箭头 9"/>
          <p:cNvSpPr/>
          <p:nvPr/>
        </p:nvSpPr>
        <p:spPr>
          <a:xfrm>
            <a:off x="4525541" y="3024548"/>
            <a:ext cx="81001" cy="150713"/>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solidFill>
                <a:prstClr val="white"/>
              </a:solidFill>
            </a:endParaRPr>
          </a:p>
        </p:txBody>
      </p:sp>
      <p:sp>
        <p:nvSpPr>
          <p:cNvPr id="11" name="右箭头 10"/>
          <p:cNvSpPr/>
          <p:nvPr/>
        </p:nvSpPr>
        <p:spPr>
          <a:xfrm>
            <a:off x="5821552" y="3024548"/>
            <a:ext cx="81001" cy="150713"/>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solidFill>
                <a:prstClr val="white"/>
              </a:solidFill>
            </a:endParaRPr>
          </a:p>
        </p:txBody>
      </p:sp>
      <p:sp>
        <p:nvSpPr>
          <p:cNvPr id="12" name="TextBox 11"/>
          <p:cNvSpPr txBox="1"/>
          <p:nvPr/>
        </p:nvSpPr>
        <p:spPr>
          <a:xfrm>
            <a:off x="2060978" y="3804527"/>
            <a:ext cx="5142830" cy="1268617"/>
          </a:xfrm>
          <a:prstGeom prst="rect">
            <a:avLst/>
          </a:prstGeom>
          <a:noFill/>
          <a:effectLst/>
        </p:spPr>
        <p:txBody>
          <a:bodyPr wrap="square" rtlCol="0" anchor="ctr">
            <a:spAutoFit/>
          </a:bodyPr>
          <a:lstStyle/>
          <a:p>
            <a:pPr>
              <a:spcBef>
                <a:spcPts val="1012"/>
              </a:spcBef>
            </a:pPr>
            <a:r>
              <a:rPr lang="zh-CN" altLang="en-US" sz="1012" dirty="0">
                <a:solidFill>
                  <a:prstClr val="black"/>
                </a:solidFill>
                <a:latin typeface="微软雅黑" pitchFamily="34" charset="-122"/>
                <a:ea typeface="微软雅黑" pitchFamily="34" charset="-122"/>
              </a:rPr>
              <a:t>  友情提示：马上就去新浪微博</a:t>
            </a:r>
            <a:endParaRPr lang="en-US" altLang="zh-CN" sz="1012" dirty="0">
              <a:solidFill>
                <a:prstClr val="black"/>
              </a:solidFill>
              <a:latin typeface="微软雅黑" pitchFamily="34" charset="-122"/>
              <a:ea typeface="微软雅黑" pitchFamily="34" charset="-122"/>
            </a:endParaRPr>
          </a:p>
          <a:p>
            <a:pPr>
              <a:spcBef>
                <a:spcPts val="1012"/>
              </a:spcBef>
            </a:pPr>
            <a:r>
              <a:rPr lang="en-US" altLang="zh-CN" sz="1012" dirty="0">
                <a:solidFill>
                  <a:prstClr val="black"/>
                </a:solidFill>
                <a:latin typeface="微软雅黑" pitchFamily="34" charset="-122"/>
                <a:ea typeface="微软雅黑" pitchFamily="34" charset="-122"/>
              </a:rPr>
              <a:t>  1</a:t>
            </a:r>
            <a:r>
              <a:rPr lang="zh-CN" altLang="en-US" sz="1012" dirty="0">
                <a:solidFill>
                  <a:prstClr val="black"/>
                </a:solidFill>
                <a:latin typeface="微软雅黑" pitchFamily="34" charset="-122"/>
                <a:ea typeface="微软雅黑" pitchFamily="34" charset="-122"/>
              </a:rPr>
              <a:t>、关注</a:t>
            </a:r>
            <a:r>
              <a:rPr lang="en-US" altLang="zh-CN" sz="1012" dirty="0">
                <a:solidFill>
                  <a:prstClr val="black"/>
                </a:solidFill>
                <a:latin typeface="微软雅黑" pitchFamily="34" charset="-122"/>
                <a:ea typeface="微软雅黑" pitchFamily="34" charset="-122"/>
              </a:rPr>
              <a:t>@</a:t>
            </a:r>
            <a:r>
              <a:rPr lang="zh-CN" altLang="en-US" sz="1012" dirty="0">
                <a:solidFill>
                  <a:prstClr val="black"/>
                </a:solidFill>
                <a:latin typeface="微软雅黑" pitchFamily="34" charset="-122"/>
                <a:ea typeface="微软雅黑" pitchFamily="34" charset="-122"/>
              </a:rPr>
              <a:t>时间卡片  ，可以看到其它学员读书</a:t>
            </a:r>
            <a:r>
              <a:rPr lang="en-US" altLang="zh-CN" sz="1012" dirty="0">
                <a:solidFill>
                  <a:prstClr val="black"/>
                </a:solidFill>
                <a:latin typeface="微软雅黑" pitchFamily="34" charset="-122"/>
                <a:ea typeface="微软雅黑" pitchFamily="34" charset="-122"/>
              </a:rPr>
              <a:t>PPT</a:t>
            </a:r>
            <a:r>
              <a:rPr lang="zh-CN" altLang="en-US" sz="1012" dirty="0">
                <a:solidFill>
                  <a:prstClr val="black"/>
                </a:solidFill>
                <a:latin typeface="微软雅黑" pitchFamily="34" charset="-122"/>
                <a:ea typeface="微软雅黑" pitchFamily="34" charset="-122"/>
              </a:rPr>
              <a:t>制作约定</a:t>
            </a:r>
            <a:endParaRPr lang="en-US" altLang="zh-CN" sz="1012" dirty="0">
              <a:solidFill>
                <a:prstClr val="black"/>
              </a:solidFill>
              <a:latin typeface="微软雅黑" pitchFamily="34" charset="-122"/>
              <a:ea typeface="微软雅黑" pitchFamily="34" charset="-122"/>
            </a:endParaRPr>
          </a:p>
          <a:p>
            <a:pPr>
              <a:spcBef>
                <a:spcPts val="675"/>
              </a:spcBef>
            </a:pPr>
            <a:r>
              <a:rPr lang="en-US" altLang="zh-CN" sz="1012" dirty="0">
                <a:solidFill>
                  <a:prstClr val="black"/>
                </a:solidFill>
                <a:latin typeface="微软雅黑" pitchFamily="34" charset="-122"/>
                <a:ea typeface="微软雅黑" pitchFamily="34" charset="-122"/>
              </a:rPr>
              <a:t>  2</a:t>
            </a:r>
            <a:r>
              <a:rPr lang="zh-CN" altLang="en-US" sz="1012" dirty="0">
                <a:solidFill>
                  <a:prstClr val="black"/>
                </a:solidFill>
                <a:latin typeface="微软雅黑" pitchFamily="34" charset="-122"/>
                <a:ea typeface="微软雅黑" pitchFamily="34" charset="-122"/>
              </a:rPr>
              <a:t>、关注</a:t>
            </a:r>
            <a:r>
              <a:rPr lang="en-US" altLang="zh-CN" sz="1012" dirty="0">
                <a:solidFill>
                  <a:prstClr val="black"/>
                </a:solidFill>
                <a:latin typeface="微软雅黑" pitchFamily="34" charset="-122"/>
                <a:ea typeface="微软雅黑" pitchFamily="34" charset="-122"/>
              </a:rPr>
              <a:t>@</a:t>
            </a:r>
            <a:r>
              <a:rPr lang="zh-CN" altLang="en-US" sz="1012" dirty="0">
                <a:solidFill>
                  <a:prstClr val="black"/>
                </a:solidFill>
                <a:latin typeface="微软雅黑" pitchFamily="34" charset="-122"/>
                <a:ea typeface="微软雅黑" pitchFamily="34" charset="-122"/>
              </a:rPr>
              <a:t>读书笔记</a:t>
            </a:r>
            <a:r>
              <a:rPr lang="en-US" altLang="zh-CN" sz="1012" dirty="0">
                <a:solidFill>
                  <a:prstClr val="black"/>
                </a:solidFill>
                <a:latin typeface="微软雅黑" pitchFamily="34" charset="-122"/>
                <a:ea typeface="微软雅黑" pitchFamily="34" charset="-122"/>
              </a:rPr>
              <a:t>PPT</a:t>
            </a:r>
            <a:r>
              <a:rPr lang="zh-CN" altLang="en-US" sz="1012" dirty="0">
                <a:solidFill>
                  <a:prstClr val="black"/>
                </a:solidFill>
                <a:latin typeface="微软雅黑" pitchFamily="34" charset="-122"/>
                <a:ea typeface="微软雅黑" pitchFamily="34" charset="-122"/>
              </a:rPr>
              <a:t>，可以看到其它学员已经提交的读书</a:t>
            </a:r>
            <a:r>
              <a:rPr lang="en-US" altLang="zh-CN" sz="1012" dirty="0">
                <a:solidFill>
                  <a:prstClr val="black"/>
                </a:solidFill>
                <a:latin typeface="微软雅黑" pitchFamily="34" charset="-122"/>
                <a:ea typeface="微软雅黑" pitchFamily="34" charset="-122"/>
              </a:rPr>
              <a:t>PPT</a:t>
            </a:r>
          </a:p>
          <a:p>
            <a:pPr>
              <a:spcBef>
                <a:spcPts val="675"/>
              </a:spcBef>
            </a:pPr>
            <a:r>
              <a:rPr lang="en-US" altLang="zh-CN" sz="1012" dirty="0">
                <a:solidFill>
                  <a:prstClr val="black"/>
                </a:solidFill>
                <a:latin typeface="微软雅黑" pitchFamily="34" charset="-122"/>
                <a:ea typeface="微软雅黑" pitchFamily="34" charset="-122"/>
              </a:rPr>
              <a:t>  3</a:t>
            </a:r>
            <a:r>
              <a:rPr lang="zh-CN" altLang="en-US" sz="1012" dirty="0">
                <a:solidFill>
                  <a:prstClr val="black"/>
                </a:solidFill>
                <a:latin typeface="微软雅黑" pitchFamily="34" charset="-122"/>
                <a:ea typeface="微软雅黑" pitchFamily="34" charset="-122"/>
              </a:rPr>
              <a:t>、搜</a:t>
            </a:r>
            <a:r>
              <a:rPr lang="en-US" altLang="zh-CN" sz="1012" dirty="0">
                <a:solidFill>
                  <a:prstClr val="black"/>
                </a:solidFill>
                <a:latin typeface="微软雅黑" pitchFamily="34" charset="-122"/>
                <a:ea typeface="微软雅黑" pitchFamily="34" charset="-122"/>
              </a:rPr>
              <a:t>#</a:t>
            </a:r>
            <a:r>
              <a:rPr lang="zh-CN" altLang="en-US" sz="1012" dirty="0">
                <a:solidFill>
                  <a:prstClr val="black"/>
                </a:solidFill>
                <a:latin typeface="微软雅黑" pitchFamily="34" charset="-122"/>
                <a:ea typeface="微软雅黑" pitchFamily="34" charset="-122"/>
              </a:rPr>
              <a:t>和秋叶一起学</a:t>
            </a:r>
            <a:r>
              <a:rPr lang="en-US" altLang="zh-CN" sz="1012" dirty="0">
                <a:solidFill>
                  <a:prstClr val="black"/>
                </a:solidFill>
                <a:latin typeface="微软雅黑" pitchFamily="34" charset="-122"/>
                <a:ea typeface="微软雅黑" pitchFamily="34" charset="-122"/>
              </a:rPr>
              <a:t>PPT#</a:t>
            </a:r>
            <a:r>
              <a:rPr lang="zh-CN" altLang="en-US" sz="1012" dirty="0">
                <a:solidFill>
                  <a:prstClr val="black"/>
                </a:solidFill>
                <a:latin typeface="微软雅黑" pitchFamily="34" charset="-122"/>
                <a:ea typeface="微软雅黑" pitchFamily="34" charset="-122"/>
              </a:rPr>
              <a:t>标签，可以看到其它学员已经提交的作业</a:t>
            </a:r>
            <a:r>
              <a:rPr lang="en-US" altLang="zh-CN" sz="1012" dirty="0">
                <a:solidFill>
                  <a:prstClr val="black"/>
                </a:solidFill>
                <a:latin typeface="微软雅黑" pitchFamily="34" charset="-122"/>
                <a:ea typeface="微软雅黑" pitchFamily="34" charset="-122"/>
              </a:rPr>
              <a:t>PPT</a:t>
            </a:r>
          </a:p>
          <a:p>
            <a:pPr>
              <a:spcBef>
                <a:spcPts val="675"/>
              </a:spcBef>
            </a:pPr>
            <a:r>
              <a:rPr lang="en-US" altLang="zh-CN" sz="1012" dirty="0">
                <a:solidFill>
                  <a:prstClr val="black"/>
                </a:solidFill>
                <a:latin typeface="微软雅黑" pitchFamily="34" charset="-122"/>
                <a:ea typeface="微软雅黑" pitchFamily="34" charset="-122"/>
              </a:rPr>
              <a:t>  4</a:t>
            </a:r>
            <a:r>
              <a:rPr lang="zh-CN" altLang="en-US" sz="1012" dirty="0">
                <a:solidFill>
                  <a:prstClr val="black"/>
                </a:solidFill>
                <a:latin typeface="微软雅黑" pitchFamily="34" charset="-122"/>
                <a:ea typeface="微软雅黑" pitchFamily="34" charset="-122"/>
              </a:rPr>
              <a:t>、国内主流出版社都已经和</a:t>
            </a:r>
            <a:r>
              <a:rPr lang="en-US" altLang="zh-CN" sz="1012" dirty="0">
                <a:solidFill>
                  <a:prstClr val="black"/>
                </a:solidFill>
                <a:latin typeface="微软雅黑" pitchFamily="34" charset="-122"/>
                <a:ea typeface="微软雅黑" pitchFamily="34" charset="-122"/>
              </a:rPr>
              <a:t>@</a:t>
            </a:r>
            <a:r>
              <a:rPr lang="zh-CN" altLang="en-US" sz="1012"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2182481" y="4036506"/>
            <a:ext cx="4779042"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060978" y="2639245"/>
            <a:ext cx="1093510" cy="760584"/>
            <a:chOff x="107380" y="2024805"/>
            <a:chExt cx="1944270" cy="1352325"/>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012">
                <a:solidFill>
                  <a:prstClr val="white"/>
                </a:solidFill>
                <a:latin typeface="微软雅黑" pitchFamily="34" charset="-122"/>
                <a:ea typeface="微软雅黑" pitchFamily="34" charset="-122"/>
              </a:endParaRPr>
            </a:p>
          </p:txBody>
        </p:sp>
        <p:sp>
          <p:nvSpPr>
            <p:cNvPr id="17" name="矩形 16"/>
            <p:cNvSpPr/>
            <p:nvPr/>
          </p:nvSpPr>
          <p:spPr>
            <a:xfrm>
              <a:off x="323412" y="2382197"/>
              <a:ext cx="1728238" cy="994933"/>
            </a:xfrm>
            <a:prstGeom prst="rect">
              <a:avLst/>
            </a:prstGeom>
          </p:spPr>
          <p:txBody>
            <a:bodyPr wrap="square">
              <a:spAutoFit/>
            </a:bodyPr>
            <a:lstStyle/>
            <a:p>
              <a:pPr algn="ctr"/>
              <a:r>
                <a:rPr lang="zh-CN" altLang="en-US" sz="1012" dirty="0">
                  <a:solidFill>
                    <a:prstClr val="white"/>
                  </a:solidFill>
                  <a:latin typeface="微软雅黑" pitchFamily="34" charset="-122"/>
                  <a:ea typeface="微软雅黑" pitchFamily="34" charset="-122"/>
                </a:rPr>
                <a:t>购买</a:t>
              </a:r>
              <a:r>
                <a:rPr lang="en-US" altLang="zh-CN" sz="1012" dirty="0">
                  <a:solidFill>
                    <a:prstClr val="white"/>
                  </a:solidFill>
                  <a:latin typeface="微软雅黑" pitchFamily="34" charset="-122"/>
                  <a:ea typeface="微软雅黑" pitchFamily="34" charset="-122"/>
                </a:rPr>
                <a:t>99</a:t>
              </a:r>
              <a:r>
                <a:rPr lang="zh-CN" altLang="en-US" sz="1012" dirty="0">
                  <a:solidFill>
                    <a:prstClr val="white"/>
                  </a:solidFill>
                  <a:latin typeface="微软雅黑" pitchFamily="34" charset="-122"/>
                  <a:ea typeface="微软雅黑" pitchFamily="34" charset="-122"/>
                </a:rPr>
                <a:t>元</a:t>
              </a:r>
              <a:endParaRPr lang="en-US" altLang="zh-CN" sz="1012" dirty="0">
                <a:solidFill>
                  <a:prstClr val="white"/>
                </a:solidFill>
                <a:latin typeface="微软雅黑" pitchFamily="34" charset="-122"/>
                <a:ea typeface="微软雅黑" pitchFamily="34" charset="-122"/>
              </a:endParaRPr>
            </a:p>
            <a:p>
              <a:pPr algn="ctr"/>
              <a:r>
                <a:rPr lang="zh-CN" altLang="en-US" sz="1012" dirty="0">
                  <a:solidFill>
                    <a:prstClr val="white"/>
                  </a:solidFill>
                  <a:latin typeface="微软雅黑" pitchFamily="34" charset="-122"/>
                  <a:ea typeface="微软雅黑" pitchFamily="34" charset="-122"/>
                </a:rPr>
                <a:t>网易云课堂</a:t>
              </a:r>
              <a:endParaRPr lang="en-US" altLang="zh-CN" sz="1012" dirty="0">
                <a:solidFill>
                  <a:prstClr val="white"/>
                </a:solidFill>
                <a:latin typeface="微软雅黑" pitchFamily="34" charset="-122"/>
                <a:ea typeface="微软雅黑" pitchFamily="34" charset="-122"/>
              </a:endParaRPr>
            </a:p>
            <a:p>
              <a:pPr algn="ctr"/>
              <a:r>
                <a:rPr lang="en-US" altLang="zh-CN" sz="1012" dirty="0">
                  <a:solidFill>
                    <a:prstClr val="white"/>
                  </a:solidFill>
                  <a:latin typeface="微软雅黑" pitchFamily="34" charset="-122"/>
                  <a:ea typeface="微软雅黑" pitchFamily="34" charset="-122"/>
                </a:rPr>
                <a:t>PPT</a:t>
              </a:r>
              <a:r>
                <a:rPr lang="zh-CN" altLang="en-US" sz="1012" dirty="0">
                  <a:solidFill>
                    <a:prstClr val="white"/>
                  </a:solidFill>
                  <a:latin typeface="微软雅黑" pitchFamily="34" charset="-122"/>
                  <a:ea typeface="微软雅黑" pitchFamily="34" charset="-122"/>
                </a:rPr>
                <a:t>在线课程</a:t>
              </a:r>
              <a:endParaRPr lang="en-US" altLang="zh-CN" sz="1012" dirty="0">
                <a:solidFill>
                  <a:prstClr val="white"/>
                </a:solidFill>
                <a:latin typeface="微软雅黑" pitchFamily="34" charset="-122"/>
                <a:ea typeface="微软雅黑" pitchFamily="34" charset="-122"/>
              </a:endParaRPr>
            </a:p>
          </p:txBody>
        </p:sp>
        <p:sp>
          <p:nvSpPr>
            <p:cNvPr id="18" name="矩形 17"/>
            <p:cNvSpPr/>
            <p:nvPr/>
          </p:nvSpPr>
          <p:spPr>
            <a:xfrm>
              <a:off x="107380" y="2060810"/>
              <a:ext cx="504071" cy="441090"/>
            </a:xfrm>
            <a:prstGeom prst="rect">
              <a:avLst/>
            </a:prstGeom>
          </p:spPr>
          <p:txBody>
            <a:bodyPr wrap="square">
              <a:spAutoFit/>
            </a:bodyPr>
            <a:lstStyle/>
            <a:p>
              <a:pPr algn="ctr"/>
              <a:r>
                <a:rPr lang="en-US" altLang="zh-CN" sz="1012"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3339805" y="2639246"/>
            <a:ext cx="1093510" cy="916330"/>
            <a:chOff x="107380" y="2024805"/>
            <a:chExt cx="1944270" cy="1629241"/>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012">
                <a:solidFill>
                  <a:prstClr val="white"/>
                </a:solidFill>
                <a:latin typeface="微软雅黑" pitchFamily="34" charset="-122"/>
                <a:ea typeface="微软雅黑" pitchFamily="34" charset="-122"/>
              </a:endParaRPr>
            </a:p>
          </p:txBody>
        </p:sp>
        <p:sp>
          <p:nvSpPr>
            <p:cNvPr id="22" name="矩形 21"/>
            <p:cNvSpPr/>
            <p:nvPr/>
          </p:nvSpPr>
          <p:spPr>
            <a:xfrm>
              <a:off x="323412" y="2382195"/>
              <a:ext cx="1728238" cy="1271851"/>
            </a:xfrm>
            <a:prstGeom prst="rect">
              <a:avLst/>
            </a:prstGeom>
          </p:spPr>
          <p:txBody>
            <a:bodyPr wrap="square">
              <a:spAutoFit/>
            </a:bodyPr>
            <a:lstStyle/>
            <a:p>
              <a:pPr algn="ctr"/>
              <a:r>
                <a:rPr lang="zh-CN" altLang="en-US" sz="1012" dirty="0">
                  <a:solidFill>
                    <a:prstClr val="white"/>
                  </a:solidFill>
                  <a:latin typeface="微软雅黑" pitchFamily="34" charset="-122"/>
                  <a:ea typeface="微软雅黑" pitchFamily="34" charset="-122"/>
                </a:rPr>
                <a:t>购买后去微博私信</a:t>
              </a:r>
              <a:r>
                <a:rPr lang="en-US" altLang="zh-CN" sz="1012" dirty="0">
                  <a:solidFill>
                    <a:prstClr val="white"/>
                  </a:solidFill>
                  <a:latin typeface="微软雅黑" pitchFamily="34" charset="-122"/>
                  <a:ea typeface="微软雅黑" pitchFamily="34" charset="-122"/>
                </a:rPr>
                <a:t>@</a:t>
              </a:r>
              <a:r>
                <a:rPr lang="zh-CN" altLang="en-US" sz="1012" dirty="0">
                  <a:solidFill>
                    <a:prstClr val="white"/>
                  </a:solidFill>
                  <a:latin typeface="微软雅黑" pitchFamily="34" charset="-122"/>
                  <a:ea typeface="微软雅黑" pitchFamily="34" charset="-122"/>
                </a:rPr>
                <a:t>秋叶</a:t>
              </a:r>
              <a:endParaRPr lang="en-US" altLang="zh-CN" sz="1012" dirty="0">
                <a:solidFill>
                  <a:prstClr val="white"/>
                </a:solidFill>
                <a:latin typeface="微软雅黑" pitchFamily="34" charset="-122"/>
                <a:ea typeface="微软雅黑" pitchFamily="34" charset="-122"/>
              </a:endParaRPr>
            </a:p>
            <a:p>
              <a:pPr algn="ctr"/>
              <a:r>
                <a:rPr lang="zh-CN" altLang="en-US" sz="1012" dirty="0">
                  <a:solidFill>
                    <a:prstClr val="white"/>
                  </a:solidFill>
                  <a:latin typeface="微软雅黑" pitchFamily="34" charset="-122"/>
                  <a:ea typeface="微软雅黑" pitchFamily="34" charset="-122"/>
                </a:rPr>
                <a:t>要福利</a:t>
              </a:r>
              <a:r>
                <a:rPr lang="en-US" altLang="zh-CN" sz="1012" dirty="0">
                  <a:solidFill>
                    <a:prstClr val="white"/>
                  </a:solidFill>
                  <a:latin typeface="微软雅黑" pitchFamily="34" charset="-122"/>
                  <a:ea typeface="微软雅黑" pitchFamily="34" charset="-122"/>
                </a:rPr>
                <a:t>QQ</a:t>
              </a:r>
              <a:r>
                <a:rPr lang="zh-CN" altLang="en-US" sz="1012" dirty="0">
                  <a:solidFill>
                    <a:prstClr val="white"/>
                  </a:solidFill>
                  <a:latin typeface="微软雅黑" pitchFamily="34" charset="-122"/>
                  <a:ea typeface="微软雅黑" pitchFamily="34" charset="-122"/>
                </a:rPr>
                <a:t>群号</a:t>
              </a:r>
              <a:endParaRPr lang="en-US" altLang="zh-CN" sz="1012"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1" cy="441090"/>
            </a:xfrm>
            <a:prstGeom prst="rect">
              <a:avLst/>
            </a:prstGeom>
          </p:spPr>
          <p:txBody>
            <a:bodyPr wrap="square">
              <a:spAutoFit/>
            </a:bodyPr>
            <a:lstStyle/>
            <a:p>
              <a:pPr algn="ctr"/>
              <a:r>
                <a:rPr lang="en-US" altLang="zh-CN" sz="1012"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4597688" y="2639245"/>
            <a:ext cx="1093510" cy="760584"/>
            <a:chOff x="107380" y="2024805"/>
            <a:chExt cx="1944270" cy="1352325"/>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012">
                <a:solidFill>
                  <a:prstClr val="white"/>
                </a:solidFill>
                <a:latin typeface="微软雅黑" pitchFamily="34" charset="-122"/>
                <a:ea typeface="微软雅黑" pitchFamily="34" charset="-122"/>
              </a:endParaRPr>
            </a:p>
          </p:txBody>
        </p:sp>
        <p:sp>
          <p:nvSpPr>
            <p:cNvPr id="26" name="矩形 25"/>
            <p:cNvSpPr/>
            <p:nvPr/>
          </p:nvSpPr>
          <p:spPr>
            <a:xfrm>
              <a:off x="323412" y="2382197"/>
              <a:ext cx="1728238" cy="994933"/>
            </a:xfrm>
            <a:prstGeom prst="rect">
              <a:avLst/>
            </a:prstGeom>
          </p:spPr>
          <p:txBody>
            <a:bodyPr wrap="square">
              <a:spAutoFit/>
            </a:bodyPr>
            <a:lstStyle/>
            <a:p>
              <a:pPr algn="ctr"/>
              <a:r>
                <a:rPr lang="zh-CN" altLang="en-US" sz="1012" dirty="0">
                  <a:solidFill>
                    <a:prstClr val="white"/>
                  </a:solidFill>
                  <a:latin typeface="微软雅黑" pitchFamily="34" charset="-122"/>
                  <a:ea typeface="微软雅黑" pitchFamily="34" charset="-122"/>
                </a:rPr>
                <a:t>新浪微博晒作业被老师肯定奖励内部选书</a:t>
              </a:r>
              <a:endParaRPr lang="en-US" altLang="zh-CN" sz="1012" dirty="0">
                <a:solidFill>
                  <a:prstClr val="white"/>
                </a:solidFill>
                <a:latin typeface="微软雅黑" pitchFamily="34" charset="-122"/>
                <a:ea typeface="微软雅黑" pitchFamily="34" charset="-122"/>
              </a:endParaRPr>
            </a:p>
          </p:txBody>
        </p:sp>
        <p:sp>
          <p:nvSpPr>
            <p:cNvPr id="27" name="矩形 26"/>
            <p:cNvSpPr/>
            <p:nvPr/>
          </p:nvSpPr>
          <p:spPr>
            <a:xfrm>
              <a:off x="107380" y="2060810"/>
              <a:ext cx="504071" cy="441090"/>
            </a:xfrm>
            <a:prstGeom prst="rect">
              <a:avLst/>
            </a:prstGeom>
          </p:spPr>
          <p:txBody>
            <a:bodyPr wrap="square">
              <a:spAutoFit/>
            </a:bodyPr>
            <a:lstStyle/>
            <a:p>
              <a:pPr algn="ctr"/>
              <a:r>
                <a:rPr lang="en-US" altLang="zh-CN" sz="1012"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5862049" y="2639245"/>
            <a:ext cx="1093510" cy="760584"/>
            <a:chOff x="107380" y="2024805"/>
            <a:chExt cx="1944270" cy="1352325"/>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012">
                <a:solidFill>
                  <a:prstClr val="white"/>
                </a:solidFill>
                <a:latin typeface="微软雅黑" pitchFamily="34" charset="-122"/>
                <a:ea typeface="微软雅黑" pitchFamily="34" charset="-122"/>
              </a:endParaRPr>
            </a:p>
          </p:txBody>
        </p:sp>
        <p:sp>
          <p:nvSpPr>
            <p:cNvPr id="30" name="矩形 29"/>
            <p:cNvSpPr/>
            <p:nvPr/>
          </p:nvSpPr>
          <p:spPr>
            <a:xfrm>
              <a:off x="323412" y="2382197"/>
              <a:ext cx="1728238" cy="994933"/>
            </a:xfrm>
            <a:prstGeom prst="rect">
              <a:avLst/>
            </a:prstGeom>
          </p:spPr>
          <p:txBody>
            <a:bodyPr wrap="square">
              <a:spAutoFit/>
            </a:bodyPr>
            <a:lstStyle/>
            <a:p>
              <a:pPr algn="ctr"/>
              <a:r>
                <a:rPr lang="zh-CN" altLang="en-US" sz="1012" dirty="0">
                  <a:solidFill>
                    <a:prstClr val="white"/>
                  </a:solidFill>
                  <a:latin typeface="微软雅黑" pitchFamily="34" charset="-122"/>
                  <a:ea typeface="微软雅黑" pitchFamily="34" charset="-122"/>
                </a:rPr>
                <a:t>出版社寄书到后约</a:t>
              </a:r>
              <a:r>
                <a:rPr lang="en-US" altLang="zh-CN" sz="1012" dirty="0">
                  <a:solidFill>
                    <a:prstClr val="white"/>
                  </a:solidFill>
                  <a:latin typeface="微软雅黑" pitchFamily="34" charset="-122"/>
                  <a:ea typeface="微软雅黑" pitchFamily="34" charset="-122"/>
                </a:rPr>
                <a:t>@</a:t>
              </a:r>
              <a:r>
                <a:rPr lang="zh-CN" altLang="en-US" sz="1012" dirty="0">
                  <a:solidFill>
                    <a:prstClr val="white"/>
                  </a:solidFill>
                  <a:latin typeface="微软雅黑" pitchFamily="34" charset="-122"/>
                  <a:ea typeface="微软雅黑" pitchFamily="34" charset="-122"/>
                </a:rPr>
                <a:t>时间卡片 晒读书</a:t>
              </a:r>
              <a:r>
                <a:rPr lang="en-US" altLang="zh-CN" sz="1012" dirty="0">
                  <a:solidFill>
                    <a:prstClr val="white"/>
                  </a:solidFill>
                  <a:latin typeface="微软雅黑" pitchFamily="34" charset="-122"/>
                  <a:ea typeface="微软雅黑" pitchFamily="34" charset="-122"/>
                </a:rPr>
                <a:t>PPT</a:t>
              </a:r>
            </a:p>
          </p:txBody>
        </p:sp>
        <p:sp>
          <p:nvSpPr>
            <p:cNvPr id="31" name="矩形 30"/>
            <p:cNvSpPr/>
            <p:nvPr/>
          </p:nvSpPr>
          <p:spPr>
            <a:xfrm>
              <a:off x="107380" y="2060810"/>
              <a:ext cx="504071" cy="441090"/>
            </a:xfrm>
            <a:prstGeom prst="rect">
              <a:avLst/>
            </a:prstGeom>
          </p:spPr>
          <p:txBody>
            <a:bodyPr wrap="square">
              <a:spAutoFit/>
            </a:bodyPr>
            <a:lstStyle/>
            <a:p>
              <a:pPr algn="ctr"/>
              <a:r>
                <a:rPr lang="en-US" altLang="zh-CN" sz="1012"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30048648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002825" y="3793496"/>
            <a:ext cx="5156894" cy="919541"/>
            <a:chOff x="0" y="3359571"/>
            <a:chExt cx="9169004" cy="1634953"/>
          </a:xfrm>
        </p:grpSpPr>
        <p:sp>
          <p:nvSpPr>
            <p:cNvPr id="5" name="矩形 4"/>
            <p:cNvSpPr/>
            <p:nvPr/>
          </p:nvSpPr>
          <p:spPr>
            <a:xfrm>
              <a:off x="1245140" y="3973768"/>
              <a:ext cx="4572001" cy="594885"/>
            </a:xfrm>
            <a:prstGeom prst="rect">
              <a:avLst/>
            </a:prstGeom>
          </p:spPr>
          <p:txBody>
            <a:bodyPr>
              <a:spAutoFit/>
            </a:bodyPr>
            <a:lstStyle/>
            <a:p>
              <a:pPr defTabSz="51736">
                <a:defRPr/>
              </a:pPr>
              <a:r>
                <a:rPr lang="en-US" altLang="zh-CN" sz="787" kern="0" dirty="0">
                  <a:solidFill>
                    <a:prstClr val="black"/>
                  </a:solidFill>
                </a:rPr>
                <a:t/>
              </a:r>
              <a:br>
                <a:rPr lang="en-US" altLang="zh-CN" sz="787" kern="0" dirty="0">
                  <a:solidFill>
                    <a:prstClr val="black"/>
                  </a:solidFill>
                </a:rPr>
              </a:br>
              <a:endParaRPr lang="en-US" altLang="zh-CN" sz="787" kern="0" dirty="0">
                <a:solidFill>
                  <a:prstClr val="black"/>
                </a:solidFill>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385699" fontAlgn="base">
                <a:spcBef>
                  <a:spcPct val="0"/>
                </a:spcBef>
                <a:spcAft>
                  <a:spcPct val="0"/>
                </a:spcAft>
                <a:defRPr/>
              </a:pPr>
              <a:endParaRPr lang="zh-CN" altLang="en-US" sz="760" kern="0">
                <a:solidFill>
                  <a:prstClr val="white"/>
                </a:solidFill>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385699" eaLnBrk="0" fontAlgn="base" hangingPunct="0">
                <a:spcBef>
                  <a:spcPct val="0"/>
                </a:spcBef>
                <a:spcAft>
                  <a:spcPct val="0"/>
                </a:spcAft>
                <a:defRPr/>
              </a:pPr>
              <a:endParaRPr lang="zh-CN" altLang="en-US" sz="592" kern="0">
                <a:solidFill>
                  <a:prstClr val="white"/>
                </a:solidFill>
              </a:endParaRPr>
            </a:p>
          </p:txBody>
        </p:sp>
        <p:pic>
          <p:nvPicPr>
            <p:cNvPr id="8" name="图片 17"/>
            <p:cNvPicPr>
              <a:picLocks noChangeAspect="1"/>
            </p:cNvPicPr>
            <p:nvPr/>
          </p:nvPicPr>
          <p:blipFill>
            <a:blip r:embed="rId2" cstate="print">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1" y="3613174"/>
              <a:ext cx="594123" cy="625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385699" fontAlgn="base">
                <a:lnSpc>
                  <a:spcPct val="100000"/>
                </a:lnSpc>
                <a:spcBef>
                  <a:spcPct val="0"/>
                </a:spcBef>
                <a:spcAft>
                  <a:spcPct val="0"/>
                </a:spcAft>
                <a:buNone/>
                <a:defRPr/>
              </a:pPr>
              <a:r>
                <a:rPr lang="zh-CN" altLang="en-US" sz="1687"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3374"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70" y="3441722"/>
              <a:ext cx="3640216" cy="978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385699" fontAlgn="base">
                <a:lnSpc>
                  <a:spcPct val="100000"/>
                </a:lnSpc>
                <a:spcBef>
                  <a:spcPct val="0"/>
                </a:spcBef>
                <a:spcAft>
                  <a:spcPct val="0"/>
                </a:spcAft>
                <a:buNone/>
                <a:defRPr/>
              </a:pPr>
              <a:r>
                <a:rPr lang="zh-CN" altLang="en-US" sz="135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135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2532"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1350"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135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135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1350"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385699" fontAlgn="base">
                <a:lnSpc>
                  <a:spcPct val="100000"/>
                </a:lnSpc>
                <a:spcBef>
                  <a:spcPct val="0"/>
                </a:spcBef>
                <a:spcAft>
                  <a:spcPct val="0"/>
                </a:spcAft>
                <a:buNone/>
                <a:defRPr/>
              </a:pPr>
              <a:endParaRPr lang="zh-CN" altLang="en-US" sz="443"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385699" eaLnBrk="0" fontAlgn="base" hangingPunct="0">
                  <a:spcBef>
                    <a:spcPct val="0"/>
                  </a:spcBef>
                  <a:spcAft>
                    <a:spcPct val="0"/>
                  </a:spcAft>
                  <a:defRPr/>
                </a:pPr>
                <a:endParaRPr lang="zh-CN" altLang="en-US" sz="592" kern="0">
                  <a:solidFill>
                    <a:prstClr val="white"/>
                  </a:solidFill>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385699" eaLnBrk="0" fontAlgn="base" hangingPunct="0">
                  <a:spcBef>
                    <a:spcPct val="0"/>
                  </a:spcBef>
                  <a:spcAft>
                    <a:spcPct val="0"/>
                  </a:spcAft>
                  <a:defRPr/>
                </a:pPr>
                <a:endParaRPr lang="zh-CN" altLang="en-US" sz="592" kern="0">
                  <a:solidFill>
                    <a:prstClr val="white"/>
                  </a:solidFill>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385699" eaLnBrk="0" fontAlgn="base" hangingPunct="0">
                  <a:spcBef>
                    <a:spcPct val="0"/>
                  </a:spcBef>
                  <a:spcAft>
                    <a:spcPct val="0"/>
                  </a:spcAft>
                  <a:defRPr/>
                </a:pPr>
                <a:endParaRPr lang="zh-CN" altLang="en-US" sz="592" kern="0">
                  <a:solidFill>
                    <a:prstClr val="white"/>
                  </a:solidFill>
                </a:endParaRPr>
              </a:p>
            </p:txBody>
          </p:sp>
        </p:grpSp>
        <p:sp>
          <p:nvSpPr>
            <p:cNvPr id="12" name="文本框 11"/>
            <p:cNvSpPr txBox="1">
              <a:spLocks noChangeArrowheads="1"/>
            </p:cNvSpPr>
            <p:nvPr/>
          </p:nvSpPr>
          <p:spPr bwMode="auto">
            <a:xfrm>
              <a:off x="5229222" y="4188246"/>
              <a:ext cx="1787128" cy="48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385699" eaLnBrk="0" fontAlgn="base" hangingPunct="0">
                <a:lnSpc>
                  <a:spcPct val="100000"/>
                </a:lnSpc>
                <a:spcBef>
                  <a:spcPct val="0"/>
                </a:spcBef>
                <a:spcAft>
                  <a:spcPct val="0"/>
                </a:spcAft>
                <a:buNone/>
                <a:defRPr/>
              </a:pPr>
              <a:r>
                <a:rPr lang="zh-CN" altLang="en-US" sz="1182" kern="0" dirty="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385699" eaLnBrk="0" fontAlgn="base" hangingPunct="0">
                <a:spcBef>
                  <a:spcPct val="0"/>
                </a:spcBef>
                <a:spcAft>
                  <a:spcPct val="0"/>
                </a:spcAft>
                <a:defRPr/>
              </a:pPr>
              <a:endParaRPr lang="zh-CN" altLang="en-US" sz="592" kern="0">
                <a:solidFill>
                  <a:prstClr val="white"/>
                </a:solidFill>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385699" eaLnBrk="0" fontAlgn="base" hangingPunct="0">
                  <a:spcBef>
                    <a:spcPct val="0"/>
                  </a:spcBef>
                  <a:spcAft>
                    <a:spcPct val="0"/>
                  </a:spcAft>
                  <a:defRPr/>
                </a:pPr>
                <a:endParaRPr lang="zh-CN" altLang="en-US" sz="592" kern="0">
                  <a:solidFill>
                    <a:prstClr val="black"/>
                  </a:solidFill>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385699" eaLnBrk="0" fontAlgn="base" hangingPunct="0">
                  <a:spcBef>
                    <a:spcPct val="0"/>
                  </a:spcBef>
                  <a:spcAft>
                    <a:spcPct val="0"/>
                  </a:spcAft>
                  <a:defRPr/>
                </a:pPr>
                <a:endParaRPr lang="zh-CN" altLang="en-US" sz="592" kern="0">
                  <a:solidFill>
                    <a:prstClr val="white"/>
                  </a:solidFill>
                </a:endParaRPr>
              </a:p>
            </p:txBody>
          </p:sp>
        </p:grpSp>
        <p:sp>
          <p:nvSpPr>
            <p:cNvPr id="15" name="文本框 14"/>
            <p:cNvSpPr txBox="1">
              <a:spLocks noChangeArrowheads="1"/>
            </p:cNvSpPr>
            <p:nvPr/>
          </p:nvSpPr>
          <p:spPr bwMode="auto">
            <a:xfrm>
              <a:off x="7008019" y="4183483"/>
              <a:ext cx="757240" cy="811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385699" eaLnBrk="0" fontAlgn="base" hangingPunct="0">
                <a:lnSpc>
                  <a:spcPct val="100000"/>
                </a:lnSpc>
                <a:spcBef>
                  <a:spcPct val="0"/>
                </a:spcBef>
                <a:spcAft>
                  <a:spcPct val="0"/>
                </a:spcAft>
                <a:buNone/>
                <a:defRPr/>
              </a:pPr>
              <a:r>
                <a:rPr lang="zh-CN" altLang="en-US" sz="1182"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385699" eaLnBrk="0" fontAlgn="base" hangingPunct="0">
                <a:spcBef>
                  <a:spcPct val="0"/>
                </a:spcBef>
                <a:spcAft>
                  <a:spcPct val="0"/>
                </a:spcAft>
                <a:defRPr/>
              </a:pPr>
              <a:endParaRPr lang="zh-CN" altLang="en-US" sz="760" kern="0">
                <a:solidFill>
                  <a:prstClr val="white"/>
                </a:solidFill>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385699" eaLnBrk="0" fontAlgn="base" hangingPunct="0">
                  <a:spcBef>
                    <a:spcPct val="0"/>
                  </a:spcBef>
                  <a:spcAft>
                    <a:spcPct val="0"/>
                  </a:spcAft>
                  <a:defRPr/>
                </a:pPr>
                <a:endParaRPr lang="zh-CN" altLang="en-US" sz="760" kern="0">
                  <a:solidFill>
                    <a:prstClr val="black"/>
                  </a:solidFill>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235495" cy="395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385699" fontAlgn="base">
                <a:lnSpc>
                  <a:spcPct val="100000"/>
                </a:lnSpc>
                <a:spcBef>
                  <a:spcPct val="0"/>
                </a:spcBef>
                <a:spcAft>
                  <a:spcPct val="0"/>
                </a:spcAft>
                <a:buNone/>
                <a:defRPr/>
              </a:pPr>
              <a:r>
                <a:rPr lang="zh-CN" altLang="en-US" sz="844"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2769717" y="2011528"/>
            <a:ext cx="3604570" cy="1670970"/>
          </a:xfrm>
          <a:prstGeom prst="rect">
            <a:avLst/>
          </a:prstGeom>
          <a:noFill/>
        </p:spPr>
        <p:txBody>
          <a:bodyPr wrap="square" rtlCol="0">
            <a:spAutoFit/>
          </a:bodyPr>
          <a:lstStyle/>
          <a:p>
            <a:pPr algn="ctr"/>
            <a:r>
              <a:rPr lang="en-US" altLang="zh-CN" sz="2025" b="1" dirty="0">
                <a:solidFill>
                  <a:srgbClr val="E50515"/>
                </a:solidFill>
                <a:latin typeface="微软雅黑" panose="020B0503020204020204" pitchFamily="34" charset="-122"/>
                <a:ea typeface="微软雅黑" panose="020B0503020204020204" pitchFamily="34" charset="-122"/>
              </a:rPr>
              <a:t>#</a:t>
            </a:r>
            <a:r>
              <a:rPr lang="zh-CN" altLang="en-US" sz="2025" b="1" dirty="0">
                <a:solidFill>
                  <a:srgbClr val="E50515"/>
                </a:solidFill>
                <a:latin typeface="微软雅黑" panose="020B0503020204020204" pitchFamily="34" charset="-122"/>
                <a:ea typeface="微软雅黑" panose="020B0503020204020204" pitchFamily="34" charset="-122"/>
              </a:rPr>
              <a:t>和秋叶一起学</a:t>
            </a:r>
            <a:r>
              <a:rPr lang="en-US" altLang="zh-CN" sz="2025" b="1" dirty="0">
                <a:solidFill>
                  <a:srgbClr val="E50515"/>
                </a:solidFill>
                <a:latin typeface="微软雅黑" panose="020B0503020204020204" pitchFamily="34" charset="-122"/>
                <a:ea typeface="微软雅黑" panose="020B0503020204020204" pitchFamily="34" charset="-122"/>
              </a:rPr>
              <a:t>PPT#</a:t>
            </a:r>
          </a:p>
          <a:p>
            <a:pPr algn="ctr">
              <a:spcBef>
                <a:spcPts val="1687"/>
              </a:spcBef>
            </a:pPr>
            <a:r>
              <a:rPr lang="zh-CN" altLang="en-US" sz="2475" b="1" dirty="0">
                <a:solidFill>
                  <a:prstClr val="black"/>
                </a:solidFill>
                <a:latin typeface="微软雅黑" panose="020B0503020204020204" pitchFamily="34" charset="-122"/>
                <a:ea typeface="微软雅黑" panose="020B0503020204020204" pitchFamily="34" charset="-122"/>
              </a:rPr>
              <a:t>学员寒假读书笔记</a:t>
            </a:r>
            <a:r>
              <a:rPr lang="en-US" altLang="zh-CN" sz="2475" b="1" smtClean="0">
                <a:solidFill>
                  <a:prstClr val="black"/>
                </a:solidFill>
                <a:latin typeface="微软雅黑" panose="020B0503020204020204" pitchFamily="34" charset="-122"/>
                <a:ea typeface="微软雅黑" panose="020B0503020204020204" pitchFamily="34" charset="-122"/>
              </a:rPr>
              <a:t>092</a:t>
            </a:r>
            <a:r>
              <a:rPr lang="zh-CN" altLang="en-US" sz="2475" b="1" smtClean="0">
                <a:solidFill>
                  <a:prstClr val="black"/>
                </a:solidFill>
                <a:latin typeface="微软雅黑" panose="020B0503020204020204" pitchFamily="34" charset="-122"/>
                <a:ea typeface="微软雅黑" panose="020B0503020204020204" pitchFamily="34" charset="-122"/>
              </a:rPr>
              <a:t>号</a:t>
            </a:r>
            <a:endParaRPr lang="en-US" altLang="zh-CN" sz="2475" b="1" dirty="0">
              <a:solidFill>
                <a:prstClr val="black"/>
              </a:solidFill>
              <a:latin typeface="微软雅黑" panose="020B0503020204020204" pitchFamily="34" charset="-122"/>
              <a:ea typeface="微软雅黑" panose="020B0503020204020204" pitchFamily="34" charset="-122"/>
            </a:endParaRPr>
          </a:p>
          <a:p>
            <a:pPr algn="ctr">
              <a:spcBef>
                <a:spcPts val="1687"/>
              </a:spcBef>
            </a:pPr>
            <a:r>
              <a:rPr lang="zh-CN" altLang="en-US" sz="1575" b="1" dirty="0">
                <a:solidFill>
                  <a:prstClr val="black"/>
                </a:solidFill>
                <a:latin typeface="微软雅黑" panose="020B0503020204020204" pitchFamily="34" charset="-122"/>
                <a:ea typeface="微软雅黑" panose="020B0503020204020204" pitchFamily="34" charset="-122"/>
              </a:rPr>
              <a:t>你也想做？请马上</a:t>
            </a:r>
            <a:r>
              <a:rPr lang="en-US" altLang="zh-CN" sz="1575" b="1" dirty="0">
                <a:solidFill>
                  <a:prstClr val="black"/>
                </a:solidFill>
                <a:latin typeface="微软雅黑" panose="020B0503020204020204" pitchFamily="34" charset="-122"/>
                <a:ea typeface="微软雅黑" panose="020B0503020204020204" pitchFamily="34" charset="-122"/>
              </a:rPr>
              <a:t>@</a:t>
            </a:r>
            <a:r>
              <a:rPr lang="zh-CN" altLang="en-US" sz="1575" b="1" dirty="0">
                <a:solidFill>
                  <a:prstClr val="black"/>
                </a:solidFill>
                <a:latin typeface="微软雅黑" panose="020B0503020204020204" pitchFamily="34" charset="-122"/>
                <a:ea typeface="微软雅黑" panose="020B0503020204020204" pitchFamily="34" charset="-122"/>
              </a:rPr>
              <a:t>时间卡片 约定</a:t>
            </a:r>
            <a:endParaRPr lang="en-US" altLang="zh-CN" sz="1575" b="1" dirty="0">
              <a:solidFill>
                <a:prstClr val="black"/>
              </a:solidFill>
              <a:latin typeface="微软雅黑" panose="020B0503020204020204" pitchFamily="34" charset="-122"/>
              <a:ea typeface="微软雅黑" panose="020B0503020204020204" pitchFamily="34" charset="-122"/>
            </a:endParaRPr>
          </a:p>
          <a:p>
            <a:pPr algn="ctr"/>
            <a:r>
              <a:rPr lang="zh-CN" altLang="en-US" sz="1350"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1350" b="1" dirty="0">
                <a:solidFill>
                  <a:prstClr val="black"/>
                </a:solidFill>
                <a:latin typeface="微软雅黑" panose="020B0503020204020204" pitchFamily="34" charset="-122"/>
                <a:ea typeface="微软雅黑" panose="020B0503020204020204" pitchFamily="34" charset="-122"/>
              </a:rPr>
              <a:t>PPT</a:t>
            </a:r>
            <a:r>
              <a:rPr lang="zh-CN" altLang="en-US" sz="1350"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42067654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d47cdd6cd01cd521e325e0a57152b2a8872c1770"/>
  <p:tag name="ARTICULATE_PROJECT_OPEN" val="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2371</TotalTime>
  <Words>4419</Words>
  <Application>Microsoft Office PowerPoint</Application>
  <PresentationFormat>全屏显示(4:3)</PresentationFormat>
  <Paragraphs>373</Paragraphs>
  <Slides>48</Slides>
  <Notes>0</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48</vt:i4>
      </vt:variant>
    </vt:vector>
  </HeadingPairs>
  <TitlesOfParts>
    <vt:vector size="64" baseType="lpstr">
      <vt:lpstr>方正兰亭粗黑简体</vt:lpstr>
      <vt:lpstr>方正正黑简体</vt:lpstr>
      <vt:lpstr>方正正中黑简体</vt:lpstr>
      <vt:lpstr>华文行楷</vt:lpstr>
      <vt:lpstr>宋体</vt:lpstr>
      <vt:lpstr>微软雅黑</vt:lpstr>
      <vt:lpstr>文鼎习字体</vt:lpstr>
      <vt:lpstr>叶根友刀锋黑草</vt:lpstr>
      <vt:lpstr>Arial</vt:lpstr>
      <vt:lpstr>Broadway</vt:lpstr>
      <vt:lpstr>Calibri</vt:lpstr>
      <vt:lpstr>Times New Roman</vt:lpstr>
      <vt:lpstr>Wingdings</vt:lpstr>
      <vt:lpstr>Office 主题​​</vt:lpstr>
      <vt:lpstr>1_Office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小巴</cp:lastModifiedBy>
  <cp:revision>365</cp:revision>
  <dcterms:created xsi:type="dcterms:W3CDTF">2014-02-09T03:05:27Z</dcterms:created>
  <dcterms:modified xsi:type="dcterms:W3CDTF">2014-04-25T12:46:38Z</dcterms:modified>
</cp:coreProperties>
</file>