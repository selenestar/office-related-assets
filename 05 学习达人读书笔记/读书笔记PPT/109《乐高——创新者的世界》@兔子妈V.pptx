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2"/>
  </p:sldMasterIdLst>
  <p:handoutMasterIdLst>
    <p:handoutMasterId r:id="rId17"/>
  </p:handoutMasterIdLst>
  <p:sldIdLst>
    <p:sldId id="256" r:id="rId3"/>
    <p:sldId id="273" r:id="rId4"/>
    <p:sldId id="267" r:id="rId5"/>
    <p:sldId id="268" r:id="rId6"/>
    <p:sldId id="269" r:id="rId7"/>
    <p:sldId id="270" r:id="rId8"/>
    <p:sldId id="271" r:id="rId9"/>
    <p:sldId id="274" r:id="rId10"/>
    <p:sldId id="276" r:id="rId11"/>
    <p:sldId id="275" r:id="rId12"/>
    <p:sldId id="277" r:id="rId13"/>
    <p:sldId id="278" r:id="rId14"/>
    <p:sldId id="279" r:id="rId15"/>
    <p:sldId id="280" r:id="rId16"/>
  </p:sldIdLst>
  <p:sldSz cx="9144000" cy="5400675"/>
  <p:notesSz cx="6858000" cy="9144000"/>
  <p:embeddedFontLst>
    <p:embeddedFont>
      <p:font typeface="方正呐喊体" panose="02010600010101010101" pitchFamily="2" charset="-122"/>
      <p:regular r:id="rId18"/>
    </p:embeddedFont>
    <p:embeddedFont>
      <p:font typeface="汉仪菱心体简" panose="02010600030101010101" charset="-122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Broadway" panose="04040905080B02020502" pitchFamily="82" charset="0"/>
      <p:regular r:id="rId24"/>
    </p:embeddedFont>
    <p:embeddedFont>
      <p:font typeface="方正细谭黑简体" panose="02000000000000000000" pitchFamily="2" charset="-122"/>
      <p:regular r:id="rId25"/>
    </p:embeddedFont>
    <p:embeddedFont>
      <p:font typeface="微软雅黑" panose="020B0503020204020204" pitchFamily="34" charset="-122"/>
      <p:regular r:id="rId26"/>
      <p:bold r:id="rId27"/>
    </p:embeddedFont>
    <p:embeddedFont>
      <p:font typeface="方正启体简体" panose="02010600030101010101" charset="-122"/>
      <p:regular r:id="rId28"/>
    </p:embeddedFont>
    <p:embeddedFont>
      <p:font typeface="MS PGothic" panose="020B0600070205080204" pitchFamily="34" charset="-128"/>
      <p:regular r:id="rId29"/>
    </p:embeddedFont>
    <p:embeddedFont>
      <p:font typeface="方正苏新诗柳楷繁体" panose="02010600030101010101" charset="-122"/>
      <p:regular r:id="rId30"/>
    </p:embeddedFont>
    <p:embeddedFont>
      <p:font typeface="方正正黑简体" panose="02000000000000000000" pitchFamily="2" charset="-122"/>
      <p:regular r:id="rId31"/>
    </p:embeddedFont>
    <p:embeddedFont>
      <p:font typeface="Bodoni MT Black" panose="02070A03080606020203" pitchFamily="18" charset="0"/>
      <p:bold r:id="rId32"/>
      <p:boldItalic r:id="rId33"/>
    </p:embeddedFont>
    <p:embeddedFont>
      <p:font typeface="Bauhaus 93" panose="04030905020B02020C02" pitchFamily="82" charset="0"/>
      <p:regular r:id="rId34"/>
    </p:embeddedFont>
    <p:embeddedFont>
      <p:font typeface="方正正中黑简体" panose="02000000000000000000" pitchFamily="2" charset="-122"/>
      <p:regular r:id="rId35"/>
    </p:embeddedFont>
    <p:embeddedFont>
      <p:font typeface="Calibri Light" panose="020F0302020204030204" pitchFamily="34" charset="0"/>
      <p:regular r:id="rId36"/>
      <p:italic r:id="rId3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D8D9"/>
    <a:srgbClr val="B9758C"/>
    <a:srgbClr val="26829B"/>
    <a:srgbClr val="3D6563"/>
    <a:srgbClr val="95BFBD"/>
    <a:srgbClr val="D8B2BF"/>
    <a:srgbClr val="0000FF"/>
    <a:srgbClr val="00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99" autoAdjust="0"/>
    <p:restoredTop sz="94660"/>
  </p:normalViewPr>
  <p:slideViewPr>
    <p:cSldViewPr>
      <p:cViewPr varScale="1">
        <p:scale>
          <a:sx n="93" d="100"/>
          <a:sy n="93" d="100"/>
        </p:scale>
        <p:origin x="678" y="90"/>
      </p:cViewPr>
      <p:guideLst>
        <p:guide orient="horz" pos="170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1" d="100"/>
          <a:sy n="61" d="100"/>
        </p:scale>
        <p:origin x="-213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70C3D-B292-45EC-8E17-82D2C77723EF}" type="datetimeFigureOut">
              <a:rPr lang="zh-CN" altLang="en-US" smtClean="0"/>
              <a:t>2014/5/20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3F90D-4CAC-4E4A-848B-81B5CBDC17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929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7710"/>
            <a:ext cx="7772400" cy="115764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060382"/>
            <a:ext cx="6400800" cy="138017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3982-A503-4393-B625-2060DBF07CD7}" type="datetimeFigureOut">
              <a:rPr lang="zh-CN" altLang="en-US" smtClean="0"/>
              <a:t>2014/5/20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CEF3-2D16-40C9-A84F-A3117B02D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0262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3982-A503-4393-B625-2060DBF07CD7}" type="datetimeFigureOut">
              <a:rPr lang="zh-CN" altLang="en-US" smtClean="0"/>
              <a:t>2014/5/20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CEF3-2D16-40C9-A84F-A3117B02D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55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470435"/>
            <a:ext cx="7772400" cy="107263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289037"/>
            <a:ext cx="7772400" cy="118139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3982-A503-4393-B625-2060DBF07CD7}" type="datetimeFigureOut">
              <a:rPr lang="zh-CN" altLang="en-US" smtClean="0"/>
              <a:t>2014/5/20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CEF3-2D16-40C9-A84F-A3117B02D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2698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45118"/>
            <a:ext cx="4038600" cy="26728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45118"/>
            <a:ext cx="4038600" cy="26728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3982-A503-4393-B625-2060DBF07CD7}" type="datetimeFigureOut">
              <a:rPr lang="zh-CN" altLang="en-US" smtClean="0"/>
              <a:t>2014/5/20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CEF3-2D16-40C9-A84F-A3117B02D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2312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6278"/>
            <a:ext cx="8229600" cy="90011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8901"/>
            <a:ext cx="4040188" cy="5038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712714"/>
            <a:ext cx="4040188" cy="31116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208901"/>
            <a:ext cx="4041775" cy="5038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712714"/>
            <a:ext cx="4041775" cy="31116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3982-A503-4393-B625-2060DBF07CD7}" type="datetimeFigureOut">
              <a:rPr lang="zh-CN" altLang="en-US" smtClean="0"/>
              <a:t>2014/5/20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CEF3-2D16-40C9-A84F-A3117B02D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4707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3982-A503-4393-B625-2060DBF07CD7}" type="datetimeFigureOut">
              <a:rPr lang="zh-CN" altLang="en-US" smtClean="0"/>
              <a:t>2014/5/20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CEF3-2D16-40C9-A84F-A3117B02D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3881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/>
        </p:nvGrpSpPr>
        <p:grpSpPr>
          <a:xfrm>
            <a:off x="0" y="169"/>
            <a:ext cx="9144000" cy="5400338"/>
            <a:chOff x="0" y="169"/>
            <a:chExt cx="9144000" cy="5400338"/>
          </a:xfrm>
        </p:grpSpPr>
        <p:sp>
          <p:nvSpPr>
            <p:cNvPr id="13" name="圆角矩形 12"/>
            <p:cNvSpPr/>
            <p:nvPr userDrawn="1"/>
          </p:nvSpPr>
          <p:spPr>
            <a:xfrm>
              <a:off x="0" y="169"/>
              <a:ext cx="539552" cy="1800000"/>
            </a:xfrm>
            <a:custGeom>
              <a:avLst/>
              <a:gdLst/>
              <a:ahLst/>
              <a:cxnLst/>
              <a:rect l="l" t="t" r="r" b="b"/>
              <a:pathLst>
                <a:path w="560157" h="1224136">
                  <a:moveTo>
                    <a:pt x="14648" y="0"/>
                  </a:moveTo>
                  <a:lnTo>
                    <a:pt x="489408" y="0"/>
                  </a:lnTo>
                  <a:cubicBezTo>
                    <a:pt x="497498" y="0"/>
                    <a:pt x="504056" y="6558"/>
                    <a:pt x="504056" y="14648"/>
                  </a:cubicBezTo>
                  <a:lnTo>
                    <a:pt x="504056" y="107204"/>
                  </a:lnTo>
                  <a:lnTo>
                    <a:pt x="542020" y="107204"/>
                  </a:lnTo>
                  <a:cubicBezTo>
                    <a:pt x="552037" y="107204"/>
                    <a:pt x="560157" y="115324"/>
                    <a:pt x="560157" y="125341"/>
                  </a:cubicBezTo>
                  <a:lnTo>
                    <a:pt x="560157" y="197887"/>
                  </a:lnTo>
                  <a:cubicBezTo>
                    <a:pt x="560157" y="207904"/>
                    <a:pt x="552037" y="216024"/>
                    <a:pt x="542020" y="216024"/>
                  </a:cubicBezTo>
                  <a:lnTo>
                    <a:pt x="504056" y="216024"/>
                  </a:lnTo>
                  <a:lnTo>
                    <a:pt x="504056" y="407507"/>
                  </a:lnTo>
                  <a:lnTo>
                    <a:pt x="542020" y="407507"/>
                  </a:lnTo>
                  <a:cubicBezTo>
                    <a:pt x="552037" y="407507"/>
                    <a:pt x="560157" y="415627"/>
                    <a:pt x="560157" y="425644"/>
                  </a:cubicBezTo>
                  <a:lnTo>
                    <a:pt x="560157" y="498190"/>
                  </a:lnTo>
                  <a:cubicBezTo>
                    <a:pt x="560157" y="508207"/>
                    <a:pt x="552037" y="516327"/>
                    <a:pt x="542020" y="516327"/>
                  </a:cubicBezTo>
                  <a:lnTo>
                    <a:pt x="504056" y="516327"/>
                  </a:lnTo>
                  <a:lnTo>
                    <a:pt x="504056" y="707810"/>
                  </a:lnTo>
                  <a:lnTo>
                    <a:pt x="533975" y="707810"/>
                  </a:lnTo>
                  <a:cubicBezTo>
                    <a:pt x="543992" y="707810"/>
                    <a:pt x="552112" y="715930"/>
                    <a:pt x="552112" y="725947"/>
                  </a:cubicBezTo>
                  <a:lnTo>
                    <a:pt x="552112" y="798493"/>
                  </a:lnTo>
                  <a:cubicBezTo>
                    <a:pt x="552112" y="808510"/>
                    <a:pt x="543992" y="816630"/>
                    <a:pt x="533975" y="816630"/>
                  </a:cubicBezTo>
                  <a:lnTo>
                    <a:pt x="504056" y="816630"/>
                  </a:lnTo>
                  <a:lnTo>
                    <a:pt x="504056" y="1008112"/>
                  </a:lnTo>
                  <a:lnTo>
                    <a:pt x="542020" y="1008112"/>
                  </a:lnTo>
                  <a:cubicBezTo>
                    <a:pt x="552037" y="1008112"/>
                    <a:pt x="560157" y="1016232"/>
                    <a:pt x="560157" y="1026249"/>
                  </a:cubicBezTo>
                  <a:lnTo>
                    <a:pt x="560157" y="1098795"/>
                  </a:lnTo>
                  <a:cubicBezTo>
                    <a:pt x="560157" y="1108812"/>
                    <a:pt x="552037" y="1116932"/>
                    <a:pt x="542020" y="1116932"/>
                  </a:cubicBezTo>
                  <a:lnTo>
                    <a:pt x="504056" y="1116932"/>
                  </a:lnTo>
                  <a:lnTo>
                    <a:pt x="504056" y="1209488"/>
                  </a:lnTo>
                  <a:cubicBezTo>
                    <a:pt x="504056" y="1217578"/>
                    <a:pt x="497498" y="1224136"/>
                    <a:pt x="489408" y="1224136"/>
                  </a:cubicBezTo>
                  <a:lnTo>
                    <a:pt x="14648" y="1224136"/>
                  </a:lnTo>
                  <a:cubicBezTo>
                    <a:pt x="6558" y="1224136"/>
                    <a:pt x="0" y="1217578"/>
                    <a:pt x="0" y="1209488"/>
                  </a:cubicBezTo>
                  <a:lnTo>
                    <a:pt x="0" y="14648"/>
                  </a:lnTo>
                  <a:cubicBezTo>
                    <a:pt x="0" y="6558"/>
                    <a:pt x="6558" y="0"/>
                    <a:pt x="14648" y="0"/>
                  </a:cubicBezTo>
                  <a:close/>
                </a:path>
              </a:pathLst>
            </a:custGeom>
            <a:solidFill>
              <a:srgbClr val="95BFBD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圆角矩形 12"/>
            <p:cNvSpPr/>
            <p:nvPr userDrawn="1"/>
          </p:nvSpPr>
          <p:spPr>
            <a:xfrm>
              <a:off x="0" y="3600507"/>
              <a:ext cx="539552" cy="1800000"/>
            </a:xfrm>
            <a:custGeom>
              <a:avLst/>
              <a:gdLst/>
              <a:ahLst/>
              <a:cxnLst/>
              <a:rect l="l" t="t" r="r" b="b"/>
              <a:pathLst>
                <a:path w="560157" h="1224136">
                  <a:moveTo>
                    <a:pt x="14648" y="0"/>
                  </a:moveTo>
                  <a:lnTo>
                    <a:pt x="489408" y="0"/>
                  </a:lnTo>
                  <a:cubicBezTo>
                    <a:pt x="497498" y="0"/>
                    <a:pt x="504056" y="6558"/>
                    <a:pt x="504056" y="14648"/>
                  </a:cubicBezTo>
                  <a:lnTo>
                    <a:pt x="504056" y="107204"/>
                  </a:lnTo>
                  <a:lnTo>
                    <a:pt x="542020" y="107204"/>
                  </a:lnTo>
                  <a:cubicBezTo>
                    <a:pt x="552037" y="107204"/>
                    <a:pt x="560157" y="115324"/>
                    <a:pt x="560157" y="125341"/>
                  </a:cubicBezTo>
                  <a:lnTo>
                    <a:pt x="560157" y="197887"/>
                  </a:lnTo>
                  <a:cubicBezTo>
                    <a:pt x="560157" y="207904"/>
                    <a:pt x="552037" y="216024"/>
                    <a:pt x="542020" y="216024"/>
                  </a:cubicBezTo>
                  <a:lnTo>
                    <a:pt x="504056" y="216024"/>
                  </a:lnTo>
                  <a:lnTo>
                    <a:pt x="504056" y="407507"/>
                  </a:lnTo>
                  <a:lnTo>
                    <a:pt x="542020" y="407507"/>
                  </a:lnTo>
                  <a:cubicBezTo>
                    <a:pt x="552037" y="407507"/>
                    <a:pt x="560157" y="415627"/>
                    <a:pt x="560157" y="425644"/>
                  </a:cubicBezTo>
                  <a:lnTo>
                    <a:pt x="560157" y="498190"/>
                  </a:lnTo>
                  <a:cubicBezTo>
                    <a:pt x="560157" y="508207"/>
                    <a:pt x="552037" y="516327"/>
                    <a:pt x="542020" y="516327"/>
                  </a:cubicBezTo>
                  <a:lnTo>
                    <a:pt x="504056" y="516327"/>
                  </a:lnTo>
                  <a:lnTo>
                    <a:pt x="504056" y="707810"/>
                  </a:lnTo>
                  <a:lnTo>
                    <a:pt x="533975" y="707810"/>
                  </a:lnTo>
                  <a:cubicBezTo>
                    <a:pt x="543992" y="707810"/>
                    <a:pt x="552112" y="715930"/>
                    <a:pt x="552112" y="725947"/>
                  </a:cubicBezTo>
                  <a:lnTo>
                    <a:pt x="552112" y="798493"/>
                  </a:lnTo>
                  <a:cubicBezTo>
                    <a:pt x="552112" y="808510"/>
                    <a:pt x="543992" y="816630"/>
                    <a:pt x="533975" y="816630"/>
                  </a:cubicBezTo>
                  <a:lnTo>
                    <a:pt x="504056" y="816630"/>
                  </a:lnTo>
                  <a:lnTo>
                    <a:pt x="504056" y="1008112"/>
                  </a:lnTo>
                  <a:lnTo>
                    <a:pt x="542020" y="1008112"/>
                  </a:lnTo>
                  <a:cubicBezTo>
                    <a:pt x="552037" y="1008112"/>
                    <a:pt x="560157" y="1016232"/>
                    <a:pt x="560157" y="1026249"/>
                  </a:cubicBezTo>
                  <a:lnTo>
                    <a:pt x="560157" y="1098795"/>
                  </a:lnTo>
                  <a:cubicBezTo>
                    <a:pt x="560157" y="1108812"/>
                    <a:pt x="552037" y="1116932"/>
                    <a:pt x="542020" y="1116932"/>
                  </a:cubicBezTo>
                  <a:lnTo>
                    <a:pt x="504056" y="1116932"/>
                  </a:lnTo>
                  <a:lnTo>
                    <a:pt x="504056" y="1209488"/>
                  </a:lnTo>
                  <a:cubicBezTo>
                    <a:pt x="504056" y="1217578"/>
                    <a:pt x="497498" y="1224136"/>
                    <a:pt x="489408" y="1224136"/>
                  </a:cubicBezTo>
                  <a:lnTo>
                    <a:pt x="14648" y="1224136"/>
                  </a:lnTo>
                  <a:cubicBezTo>
                    <a:pt x="6558" y="1224136"/>
                    <a:pt x="0" y="1217578"/>
                    <a:pt x="0" y="1209488"/>
                  </a:cubicBezTo>
                  <a:lnTo>
                    <a:pt x="0" y="14648"/>
                  </a:lnTo>
                  <a:cubicBezTo>
                    <a:pt x="0" y="6558"/>
                    <a:pt x="6558" y="0"/>
                    <a:pt x="14648" y="0"/>
                  </a:cubicBezTo>
                  <a:close/>
                </a:path>
              </a:pathLst>
            </a:custGeom>
            <a:solidFill>
              <a:srgbClr val="C3D8D9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" name="圆角矩形 12"/>
            <p:cNvSpPr/>
            <p:nvPr userDrawn="1"/>
          </p:nvSpPr>
          <p:spPr>
            <a:xfrm>
              <a:off x="0" y="1800338"/>
              <a:ext cx="539552" cy="1800000"/>
            </a:xfrm>
            <a:custGeom>
              <a:avLst/>
              <a:gdLst/>
              <a:ahLst/>
              <a:cxnLst/>
              <a:rect l="l" t="t" r="r" b="b"/>
              <a:pathLst>
                <a:path w="560157" h="1224136">
                  <a:moveTo>
                    <a:pt x="14648" y="0"/>
                  </a:moveTo>
                  <a:lnTo>
                    <a:pt x="489408" y="0"/>
                  </a:lnTo>
                  <a:cubicBezTo>
                    <a:pt x="497498" y="0"/>
                    <a:pt x="504056" y="6558"/>
                    <a:pt x="504056" y="14648"/>
                  </a:cubicBezTo>
                  <a:lnTo>
                    <a:pt x="504056" y="107204"/>
                  </a:lnTo>
                  <a:lnTo>
                    <a:pt x="542020" y="107204"/>
                  </a:lnTo>
                  <a:cubicBezTo>
                    <a:pt x="552037" y="107204"/>
                    <a:pt x="560157" y="115324"/>
                    <a:pt x="560157" y="125341"/>
                  </a:cubicBezTo>
                  <a:lnTo>
                    <a:pt x="560157" y="197887"/>
                  </a:lnTo>
                  <a:cubicBezTo>
                    <a:pt x="560157" y="207904"/>
                    <a:pt x="552037" y="216024"/>
                    <a:pt x="542020" y="216024"/>
                  </a:cubicBezTo>
                  <a:lnTo>
                    <a:pt x="504056" y="216024"/>
                  </a:lnTo>
                  <a:lnTo>
                    <a:pt x="504056" y="407507"/>
                  </a:lnTo>
                  <a:lnTo>
                    <a:pt x="542020" y="407507"/>
                  </a:lnTo>
                  <a:cubicBezTo>
                    <a:pt x="552037" y="407507"/>
                    <a:pt x="560157" y="415627"/>
                    <a:pt x="560157" y="425644"/>
                  </a:cubicBezTo>
                  <a:lnTo>
                    <a:pt x="560157" y="498190"/>
                  </a:lnTo>
                  <a:cubicBezTo>
                    <a:pt x="560157" y="508207"/>
                    <a:pt x="552037" y="516327"/>
                    <a:pt x="542020" y="516327"/>
                  </a:cubicBezTo>
                  <a:lnTo>
                    <a:pt x="504056" y="516327"/>
                  </a:lnTo>
                  <a:lnTo>
                    <a:pt x="504056" y="707810"/>
                  </a:lnTo>
                  <a:lnTo>
                    <a:pt x="533975" y="707810"/>
                  </a:lnTo>
                  <a:cubicBezTo>
                    <a:pt x="543992" y="707810"/>
                    <a:pt x="552112" y="715930"/>
                    <a:pt x="552112" y="725947"/>
                  </a:cubicBezTo>
                  <a:lnTo>
                    <a:pt x="552112" y="798493"/>
                  </a:lnTo>
                  <a:cubicBezTo>
                    <a:pt x="552112" y="808510"/>
                    <a:pt x="543992" y="816630"/>
                    <a:pt x="533975" y="816630"/>
                  </a:cubicBezTo>
                  <a:lnTo>
                    <a:pt x="504056" y="816630"/>
                  </a:lnTo>
                  <a:lnTo>
                    <a:pt x="504056" y="1008112"/>
                  </a:lnTo>
                  <a:lnTo>
                    <a:pt x="542020" y="1008112"/>
                  </a:lnTo>
                  <a:cubicBezTo>
                    <a:pt x="552037" y="1008112"/>
                    <a:pt x="560157" y="1016232"/>
                    <a:pt x="560157" y="1026249"/>
                  </a:cubicBezTo>
                  <a:lnTo>
                    <a:pt x="560157" y="1098795"/>
                  </a:lnTo>
                  <a:cubicBezTo>
                    <a:pt x="560157" y="1108812"/>
                    <a:pt x="552037" y="1116932"/>
                    <a:pt x="542020" y="1116932"/>
                  </a:cubicBezTo>
                  <a:lnTo>
                    <a:pt x="504056" y="1116932"/>
                  </a:lnTo>
                  <a:lnTo>
                    <a:pt x="504056" y="1209488"/>
                  </a:lnTo>
                  <a:cubicBezTo>
                    <a:pt x="504056" y="1217578"/>
                    <a:pt x="497498" y="1224136"/>
                    <a:pt x="489408" y="1224136"/>
                  </a:cubicBezTo>
                  <a:lnTo>
                    <a:pt x="14648" y="1224136"/>
                  </a:lnTo>
                  <a:cubicBezTo>
                    <a:pt x="6558" y="1224136"/>
                    <a:pt x="0" y="1217578"/>
                    <a:pt x="0" y="1209488"/>
                  </a:cubicBezTo>
                  <a:lnTo>
                    <a:pt x="0" y="14648"/>
                  </a:lnTo>
                  <a:cubicBezTo>
                    <a:pt x="0" y="6558"/>
                    <a:pt x="6558" y="0"/>
                    <a:pt x="14648" y="0"/>
                  </a:cubicBezTo>
                  <a:close/>
                </a:path>
              </a:pathLst>
            </a:custGeom>
            <a:solidFill>
              <a:srgbClr val="D8B2BF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20" name="组合 19"/>
            <p:cNvGrpSpPr/>
            <p:nvPr userDrawn="1"/>
          </p:nvGrpSpPr>
          <p:grpSpPr>
            <a:xfrm>
              <a:off x="8604448" y="169"/>
              <a:ext cx="539552" cy="5400338"/>
              <a:chOff x="8604448" y="169"/>
              <a:chExt cx="539552" cy="5400338"/>
            </a:xfrm>
          </p:grpSpPr>
          <p:sp>
            <p:nvSpPr>
              <p:cNvPr id="17" name="圆角矩形 12"/>
              <p:cNvSpPr/>
              <p:nvPr userDrawn="1"/>
            </p:nvSpPr>
            <p:spPr>
              <a:xfrm flipH="1">
                <a:off x="8604448" y="169"/>
                <a:ext cx="539552" cy="1800000"/>
              </a:xfrm>
              <a:custGeom>
                <a:avLst/>
                <a:gdLst/>
                <a:ahLst/>
                <a:cxnLst/>
                <a:rect l="l" t="t" r="r" b="b"/>
                <a:pathLst>
                  <a:path w="560157" h="1224136">
                    <a:moveTo>
                      <a:pt x="14648" y="0"/>
                    </a:moveTo>
                    <a:lnTo>
                      <a:pt x="489408" y="0"/>
                    </a:lnTo>
                    <a:cubicBezTo>
                      <a:pt x="497498" y="0"/>
                      <a:pt x="504056" y="6558"/>
                      <a:pt x="504056" y="14648"/>
                    </a:cubicBezTo>
                    <a:lnTo>
                      <a:pt x="504056" y="107204"/>
                    </a:lnTo>
                    <a:lnTo>
                      <a:pt x="542020" y="107204"/>
                    </a:lnTo>
                    <a:cubicBezTo>
                      <a:pt x="552037" y="107204"/>
                      <a:pt x="560157" y="115324"/>
                      <a:pt x="560157" y="125341"/>
                    </a:cubicBezTo>
                    <a:lnTo>
                      <a:pt x="560157" y="197887"/>
                    </a:lnTo>
                    <a:cubicBezTo>
                      <a:pt x="560157" y="207904"/>
                      <a:pt x="552037" y="216024"/>
                      <a:pt x="542020" y="216024"/>
                    </a:cubicBezTo>
                    <a:lnTo>
                      <a:pt x="504056" y="216024"/>
                    </a:lnTo>
                    <a:lnTo>
                      <a:pt x="504056" y="407507"/>
                    </a:lnTo>
                    <a:lnTo>
                      <a:pt x="542020" y="407507"/>
                    </a:lnTo>
                    <a:cubicBezTo>
                      <a:pt x="552037" y="407507"/>
                      <a:pt x="560157" y="415627"/>
                      <a:pt x="560157" y="425644"/>
                    </a:cubicBezTo>
                    <a:lnTo>
                      <a:pt x="560157" y="498190"/>
                    </a:lnTo>
                    <a:cubicBezTo>
                      <a:pt x="560157" y="508207"/>
                      <a:pt x="552037" y="516327"/>
                      <a:pt x="542020" y="516327"/>
                    </a:cubicBezTo>
                    <a:lnTo>
                      <a:pt x="504056" y="516327"/>
                    </a:lnTo>
                    <a:lnTo>
                      <a:pt x="504056" y="707810"/>
                    </a:lnTo>
                    <a:lnTo>
                      <a:pt x="533975" y="707810"/>
                    </a:lnTo>
                    <a:cubicBezTo>
                      <a:pt x="543992" y="707810"/>
                      <a:pt x="552112" y="715930"/>
                      <a:pt x="552112" y="725947"/>
                    </a:cubicBezTo>
                    <a:lnTo>
                      <a:pt x="552112" y="798493"/>
                    </a:lnTo>
                    <a:cubicBezTo>
                      <a:pt x="552112" y="808510"/>
                      <a:pt x="543992" y="816630"/>
                      <a:pt x="533975" y="816630"/>
                    </a:cubicBezTo>
                    <a:lnTo>
                      <a:pt x="504056" y="816630"/>
                    </a:lnTo>
                    <a:lnTo>
                      <a:pt x="504056" y="1008112"/>
                    </a:lnTo>
                    <a:lnTo>
                      <a:pt x="542020" y="1008112"/>
                    </a:lnTo>
                    <a:cubicBezTo>
                      <a:pt x="552037" y="1008112"/>
                      <a:pt x="560157" y="1016232"/>
                      <a:pt x="560157" y="1026249"/>
                    </a:cubicBezTo>
                    <a:lnTo>
                      <a:pt x="560157" y="1098795"/>
                    </a:lnTo>
                    <a:cubicBezTo>
                      <a:pt x="560157" y="1108812"/>
                      <a:pt x="552037" y="1116932"/>
                      <a:pt x="542020" y="1116932"/>
                    </a:cubicBezTo>
                    <a:lnTo>
                      <a:pt x="504056" y="1116932"/>
                    </a:lnTo>
                    <a:lnTo>
                      <a:pt x="504056" y="1209488"/>
                    </a:lnTo>
                    <a:cubicBezTo>
                      <a:pt x="504056" y="1217578"/>
                      <a:pt x="497498" y="1224136"/>
                      <a:pt x="489408" y="1224136"/>
                    </a:cubicBezTo>
                    <a:lnTo>
                      <a:pt x="14648" y="1224136"/>
                    </a:lnTo>
                    <a:cubicBezTo>
                      <a:pt x="6558" y="1224136"/>
                      <a:pt x="0" y="1217578"/>
                      <a:pt x="0" y="1209488"/>
                    </a:cubicBezTo>
                    <a:lnTo>
                      <a:pt x="0" y="14648"/>
                    </a:lnTo>
                    <a:cubicBezTo>
                      <a:pt x="0" y="6558"/>
                      <a:pt x="6558" y="0"/>
                      <a:pt x="14648" y="0"/>
                    </a:cubicBezTo>
                    <a:close/>
                  </a:path>
                </a:pathLst>
              </a:custGeom>
              <a:solidFill>
                <a:srgbClr val="95BFBD"/>
              </a:solidFill>
              <a:ln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18" name="圆角矩形 12"/>
              <p:cNvSpPr/>
              <p:nvPr userDrawn="1"/>
            </p:nvSpPr>
            <p:spPr>
              <a:xfrm flipH="1">
                <a:off x="8604448" y="3600507"/>
                <a:ext cx="539552" cy="1800000"/>
              </a:xfrm>
              <a:custGeom>
                <a:avLst/>
                <a:gdLst/>
                <a:ahLst/>
                <a:cxnLst/>
                <a:rect l="l" t="t" r="r" b="b"/>
                <a:pathLst>
                  <a:path w="560157" h="1224136">
                    <a:moveTo>
                      <a:pt x="14648" y="0"/>
                    </a:moveTo>
                    <a:lnTo>
                      <a:pt x="489408" y="0"/>
                    </a:lnTo>
                    <a:cubicBezTo>
                      <a:pt x="497498" y="0"/>
                      <a:pt x="504056" y="6558"/>
                      <a:pt x="504056" y="14648"/>
                    </a:cubicBezTo>
                    <a:lnTo>
                      <a:pt x="504056" y="107204"/>
                    </a:lnTo>
                    <a:lnTo>
                      <a:pt x="542020" y="107204"/>
                    </a:lnTo>
                    <a:cubicBezTo>
                      <a:pt x="552037" y="107204"/>
                      <a:pt x="560157" y="115324"/>
                      <a:pt x="560157" y="125341"/>
                    </a:cubicBezTo>
                    <a:lnTo>
                      <a:pt x="560157" y="197887"/>
                    </a:lnTo>
                    <a:cubicBezTo>
                      <a:pt x="560157" y="207904"/>
                      <a:pt x="552037" y="216024"/>
                      <a:pt x="542020" y="216024"/>
                    </a:cubicBezTo>
                    <a:lnTo>
                      <a:pt x="504056" y="216024"/>
                    </a:lnTo>
                    <a:lnTo>
                      <a:pt x="504056" y="407507"/>
                    </a:lnTo>
                    <a:lnTo>
                      <a:pt x="542020" y="407507"/>
                    </a:lnTo>
                    <a:cubicBezTo>
                      <a:pt x="552037" y="407507"/>
                      <a:pt x="560157" y="415627"/>
                      <a:pt x="560157" y="425644"/>
                    </a:cubicBezTo>
                    <a:lnTo>
                      <a:pt x="560157" y="498190"/>
                    </a:lnTo>
                    <a:cubicBezTo>
                      <a:pt x="560157" y="508207"/>
                      <a:pt x="552037" y="516327"/>
                      <a:pt x="542020" y="516327"/>
                    </a:cubicBezTo>
                    <a:lnTo>
                      <a:pt x="504056" y="516327"/>
                    </a:lnTo>
                    <a:lnTo>
                      <a:pt x="504056" y="707810"/>
                    </a:lnTo>
                    <a:lnTo>
                      <a:pt x="533975" y="707810"/>
                    </a:lnTo>
                    <a:cubicBezTo>
                      <a:pt x="543992" y="707810"/>
                      <a:pt x="552112" y="715930"/>
                      <a:pt x="552112" y="725947"/>
                    </a:cubicBezTo>
                    <a:lnTo>
                      <a:pt x="552112" y="798493"/>
                    </a:lnTo>
                    <a:cubicBezTo>
                      <a:pt x="552112" y="808510"/>
                      <a:pt x="543992" y="816630"/>
                      <a:pt x="533975" y="816630"/>
                    </a:cubicBezTo>
                    <a:lnTo>
                      <a:pt x="504056" y="816630"/>
                    </a:lnTo>
                    <a:lnTo>
                      <a:pt x="504056" y="1008112"/>
                    </a:lnTo>
                    <a:lnTo>
                      <a:pt x="542020" y="1008112"/>
                    </a:lnTo>
                    <a:cubicBezTo>
                      <a:pt x="552037" y="1008112"/>
                      <a:pt x="560157" y="1016232"/>
                      <a:pt x="560157" y="1026249"/>
                    </a:cubicBezTo>
                    <a:lnTo>
                      <a:pt x="560157" y="1098795"/>
                    </a:lnTo>
                    <a:cubicBezTo>
                      <a:pt x="560157" y="1108812"/>
                      <a:pt x="552037" y="1116932"/>
                      <a:pt x="542020" y="1116932"/>
                    </a:cubicBezTo>
                    <a:lnTo>
                      <a:pt x="504056" y="1116932"/>
                    </a:lnTo>
                    <a:lnTo>
                      <a:pt x="504056" y="1209488"/>
                    </a:lnTo>
                    <a:cubicBezTo>
                      <a:pt x="504056" y="1217578"/>
                      <a:pt x="497498" y="1224136"/>
                      <a:pt x="489408" y="1224136"/>
                    </a:cubicBezTo>
                    <a:lnTo>
                      <a:pt x="14648" y="1224136"/>
                    </a:lnTo>
                    <a:cubicBezTo>
                      <a:pt x="6558" y="1224136"/>
                      <a:pt x="0" y="1217578"/>
                      <a:pt x="0" y="1209488"/>
                    </a:cubicBezTo>
                    <a:lnTo>
                      <a:pt x="0" y="14648"/>
                    </a:lnTo>
                    <a:cubicBezTo>
                      <a:pt x="0" y="6558"/>
                      <a:pt x="6558" y="0"/>
                      <a:pt x="14648" y="0"/>
                    </a:cubicBezTo>
                    <a:close/>
                  </a:path>
                </a:pathLst>
              </a:custGeom>
              <a:solidFill>
                <a:srgbClr val="C3D8D9"/>
              </a:solidFill>
              <a:ln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19" name="圆角矩形 12"/>
              <p:cNvSpPr/>
              <p:nvPr userDrawn="1"/>
            </p:nvSpPr>
            <p:spPr>
              <a:xfrm flipH="1">
                <a:off x="8604448" y="1800338"/>
                <a:ext cx="539552" cy="1800000"/>
              </a:xfrm>
              <a:custGeom>
                <a:avLst/>
                <a:gdLst/>
                <a:ahLst/>
                <a:cxnLst/>
                <a:rect l="l" t="t" r="r" b="b"/>
                <a:pathLst>
                  <a:path w="560157" h="1224136">
                    <a:moveTo>
                      <a:pt x="14648" y="0"/>
                    </a:moveTo>
                    <a:lnTo>
                      <a:pt x="489408" y="0"/>
                    </a:lnTo>
                    <a:cubicBezTo>
                      <a:pt x="497498" y="0"/>
                      <a:pt x="504056" y="6558"/>
                      <a:pt x="504056" y="14648"/>
                    </a:cubicBezTo>
                    <a:lnTo>
                      <a:pt x="504056" y="107204"/>
                    </a:lnTo>
                    <a:lnTo>
                      <a:pt x="542020" y="107204"/>
                    </a:lnTo>
                    <a:cubicBezTo>
                      <a:pt x="552037" y="107204"/>
                      <a:pt x="560157" y="115324"/>
                      <a:pt x="560157" y="125341"/>
                    </a:cubicBezTo>
                    <a:lnTo>
                      <a:pt x="560157" y="197887"/>
                    </a:lnTo>
                    <a:cubicBezTo>
                      <a:pt x="560157" y="207904"/>
                      <a:pt x="552037" y="216024"/>
                      <a:pt x="542020" y="216024"/>
                    </a:cubicBezTo>
                    <a:lnTo>
                      <a:pt x="504056" y="216024"/>
                    </a:lnTo>
                    <a:lnTo>
                      <a:pt x="504056" y="407507"/>
                    </a:lnTo>
                    <a:lnTo>
                      <a:pt x="542020" y="407507"/>
                    </a:lnTo>
                    <a:cubicBezTo>
                      <a:pt x="552037" y="407507"/>
                      <a:pt x="560157" y="415627"/>
                      <a:pt x="560157" y="425644"/>
                    </a:cubicBezTo>
                    <a:lnTo>
                      <a:pt x="560157" y="498190"/>
                    </a:lnTo>
                    <a:cubicBezTo>
                      <a:pt x="560157" y="508207"/>
                      <a:pt x="552037" y="516327"/>
                      <a:pt x="542020" y="516327"/>
                    </a:cubicBezTo>
                    <a:lnTo>
                      <a:pt x="504056" y="516327"/>
                    </a:lnTo>
                    <a:lnTo>
                      <a:pt x="504056" y="707810"/>
                    </a:lnTo>
                    <a:lnTo>
                      <a:pt x="533975" y="707810"/>
                    </a:lnTo>
                    <a:cubicBezTo>
                      <a:pt x="543992" y="707810"/>
                      <a:pt x="552112" y="715930"/>
                      <a:pt x="552112" y="725947"/>
                    </a:cubicBezTo>
                    <a:lnTo>
                      <a:pt x="552112" y="798493"/>
                    </a:lnTo>
                    <a:cubicBezTo>
                      <a:pt x="552112" y="808510"/>
                      <a:pt x="543992" y="816630"/>
                      <a:pt x="533975" y="816630"/>
                    </a:cubicBezTo>
                    <a:lnTo>
                      <a:pt x="504056" y="816630"/>
                    </a:lnTo>
                    <a:lnTo>
                      <a:pt x="504056" y="1008112"/>
                    </a:lnTo>
                    <a:lnTo>
                      <a:pt x="542020" y="1008112"/>
                    </a:lnTo>
                    <a:cubicBezTo>
                      <a:pt x="552037" y="1008112"/>
                      <a:pt x="560157" y="1016232"/>
                      <a:pt x="560157" y="1026249"/>
                    </a:cubicBezTo>
                    <a:lnTo>
                      <a:pt x="560157" y="1098795"/>
                    </a:lnTo>
                    <a:cubicBezTo>
                      <a:pt x="560157" y="1108812"/>
                      <a:pt x="552037" y="1116932"/>
                      <a:pt x="542020" y="1116932"/>
                    </a:cubicBezTo>
                    <a:lnTo>
                      <a:pt x="504056" y="1116932"/>
                    </a:lnTo>
                    <a:lnTo>
                      <a:pt x="504056" y="1209488"/>
                    </a:lnTo>
                    <a:cubicBezTo>
                      <a:pt x="504056" y="1217578"/>
                      <a:pt x="497498" y="1224136"/>
                      <a:pt x="489408" y="1224136"/>
                    </a:cubicBezTo>
                    <a:lnTo>
                      <a:pt x="14648" y="1224136"/>
                    </a:lnTo>
                    <a:cubicBezTo>
                      <a:pt x="6558" y="1224136"/>
                      <a:pt x="0" y="1217578"/>
                      <a:pt x="0" y="1209488"/>
                    </a:cubicBezTo>
                    <a:lnTo>
                      <a:pt x="0" y="14648"/>
                    </a:lnTo>
                    <a:cubicBezTo>
                      <a:pt x="0" y="6558"/>
                      <a:pt x="6558" y="0"/>
                      <a:pt x="14648" y="0"/>
                    </a:cubicBezTo>
                    <a:close/>
                  </a:path>
                </a:pathLst>
              </a:custGeom>
              <a:solidFill>
                <a:srgbClr val="D8B2BF"/>
              </a:solidFill>
              <a:ln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293690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3982-A503-4393-B625-2060DBF07CD7}" type="datetimeFigureOut">
              <a:rPr lang="zh-CN" altLang="en-US" smtClean="0"/>
              <a:t>2014/5/20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CEF3-2D16-40C9-A84F-A3117B02D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5675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15026"/>
            <a:ext cx="3008313" cy="9151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15028"/>
            <a:ext cx="5111750" cy="460932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130143"/>
            <a:ext cx="3008313" cy="3694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3982-A503-4393-B625-2060DBF07CD7}" type="datetimeFigureOut">
              <a:rPr lang="zh-CN" altLang="en-US" smtClean="0"/>
              <a:t>2014/5/20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CEF3-2D16-40C9-A84F-A3117B02D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4541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780473"/>
            <a:ext cx="5486400" cy="4463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82560"/>
            <a:ext cx="5486400" cy="32404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226779"/>
            <a:ext cx="5486400" cy="6338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3982-A503-4393-B625-2060DBF07CD7}" type="datetimeFigureOut">
              <a:rPr lang="zh-CN" altLang="en-US" smtClean="0"/>
              <a:t>2014/5/20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CEF3-2D16-40C9-A84F-A3117B02D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077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3982-A503-4393-B625-2060DBF07CD7}" type="datetimeFigureOut">
              <a:rPr lang="zh-CN" altLang="en-US" smtClean="0"/>
              <a:t>2014/5/20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CEF3-2D16-40C9-A84F-A3117B02D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6795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62521"/>
            <a:ext cx="2057400" cy="345543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2521"/>
            <a:ext cx="6019800" cy="345543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3982-A503-4393-B625-2060DBF07CD7}" type="datetimeFigureOut">
              <a:rPr lang="zh-CN" altLang="en-US" smtClean="0"/>
              <a:t>2014/5/20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8CEF3-2D16-40C9-A84F-A3117B02D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3855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83861"/>
            <a:ext cx="6858000" cy="188023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836605"/>
            <a:ext cx="6858000" cy="130391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84C2EC-F852-470A-A9DD-86F0A59AC289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7929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BA8B93-8351-4898-BB24-564053CE230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456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346419"/>
            <a:ext cx="7886700" cy="224653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14203"/>
            <a:ext cx="7886700" cy="118139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B5B81E-7CF0-4F5B-9FF8-B9F51549063A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357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37680"/>
            <a:ext cx="3886200" cy="342667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37680"/>
            <a:ext cx="3886200" cy="342667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D4D57-6B8A-480D-AA65-EF318E8BA923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525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87536"/>
            <a:ext cx="7886700" cy="104388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23916"/>
            <a:ext cx="3868340" cy="64883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72747"/>
            <a:ext cx="3868340" cy="29016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323916"/>
            <a:ext cx="3887391" cy="64883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72747"/>
            <a:ext cx="3887391" cy="29016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2F1E0D-3DB7-4B98-B5A2-0BD6175C0CFB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6886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7E9454-2E4F-4179-AC26-B45346A8E5E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6573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A2A7E-54E6-4B9A-B9F2-26045CE35D3E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7899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0045"/>
            <a:ext cx="2949178" cy="126015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77597"/>
            <a:ext cx="4629150" cy="383798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620202"/>
            <a:ext cx="2949178" cy="300162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CF94B2-F66F-4EE6-B1E1-D241C68DB758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1039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0045"/>
            <a:ext cx="2949178" cy="126015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77597"/>
            <a:ext cx="4629150" cy="383798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620202"/>
            <a:ext cx="2949178" cy="300162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BB78EF-B977-4F0E-A8A5-6144ED39888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5184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183D7-0B93-4594-ACC5-74436FEF7CD1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1335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87536"/>
            <a:ext cx="1971675" cy="457682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87536"/>
            <a:ext cx="5800725" cy="457682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8372D8-672D-457D-A7E8-104FA1A9EB7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811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16278"/>
            <a:ext cx="8229600" cy="900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60159"/>
            <a:ext cx="8229600" cy="3564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5005626"/>
            <a:ext cx="21336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E3982-A503-4393-B625-2060DBF07CD7}" type="datetimeFigureOut">
              <a:rPr lang="zh-CN" altLang="en-US" smtClean="0"/>
              <a:t>2014/5/20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5005626"/>
            <a:ext cx="28956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005626"/>
            <a:ext cx="21336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8CEF3-2D16-40C9-A84F-A3117B02D6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994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87536"/>
            <a:ext cx="7886700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37680"/>
            <a:ext cx="7886700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005626"/>
            <a:ext cx="20574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005626"/>
            <a:ext cx="30861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005626"/>
            <a:ext cx="20574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B7F8D54-5516-4B2E-AB95-6F67C90F4696}" type="slidenum">
              <a:rPr lang="zh-CN" altLang="zh-CN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562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5702" y="3287377"/>
            <a:ext cx="1214040" cy="1307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-104272" y="2268289"/>
            <a:ext cx="9401176" cy="3136516"/>
            <a:chOff x="-1460188" y="-1332111"/>
            <a:chExt cx="9401176" cy="37274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4" name="AutoShape 5"/>
            <p:cNvSpPr>
              <a:spLocks noChangeAspect="1" noChangeArrowheads="1" noTextEdit="1"/>
            </p:cNvSpPr>
            <p:nvPr/>
          </p:nvSpPr>
          <p:spPr bwMode="auto">
            <a:xfrm>
              <a:off x="-1460188" y="-1332111"/>
              <a:ext cx="9401176" cy="3727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8"/>
            <p:cNvSpPr>
              <a:spLocks/>
            </p:cNvSpPr>
            <p:nvPr/>
          </p:nvSpPr>
          <p:spPr bwMode="auto">
            <a:xfrm>
              <a:off x="2197857" y="1509833"/>
              <a:ext cx="2021679" cy="885506"/>
            </a:xfrm>
            <a:custGeom>
              <a:avLst/>
              <a:gdLst>
                <a:gd name="T0" fmla="*/ 7 w 702"/>
                <a:gd name="T1" fmla="*/ 297 h 297"/>
                <a:gd name="T2" fmla="*/ 1 w 702"/>
                <a:gd name="T3" fmla="*/ 273 h 297"/>
                <a:gd name="T4" fmla="*/ 0 w 702"/>
                <a:gd name="T5" fmla="*/ 27 h 297"/>
                <a:gd name="T6" fmla="*/ 25 w 702"/>
                <a:gd name="T7" fmla="*/ 1 h 297"/>
                <a:gd name="T8" fmla="*/ 487 w 702"/>
                <a:gd name="T9" fmla="*/ 1 h 297"/>
                <a:gd name="T10" fmla="*/ 681 w 702"/>
                <a:gd name="T11" fmla="*/ 1 h 297"/>
                <a:gd name="T12" fmla="*/ 702 w 702"/>
                <a:gd name="T13" fmla="*/ 21 h 297"/>
                <a:gd name="T14" fmla="*/ 701 w 702"/>
                <a:gd name="T15" fmla="*/ 273 h 297"/>
                <a:gd name="T16" fmla="*/ 695 w 702"/>
                <a:gd name="T17" fmla="*/ 297 h 297"/>
                <a:gd name="T18" fmla="*/ 571 w 702"/>
                <a:gd name="T19" fmla="*/ 297 h 297"/>
                <a:gd name="T20" fmla="*/ 565 w 702"/>
                <a:gd name="T21" fmla="*/ 270 h 297"/>
                <a:gd name="T22" fmla="*/ 564 w 702"/>
                <a:gd name="T23" fmla="*/ 208 h 297"/>
                <a:gd name="T24" fmla="*/ 508 w 702"/>
                <a:gd name="T25" fmla="*/ 104 h 297"/>
                <a:gd name="T26" fmla="*/ 244 w 702"/>
                <a:gd name="T27" fmla="*/ 76 h 297"/>
                <a:gd name="T28" fmla="*/ 139 w 702"/>
                <a:gd name="T29" fmla="*/ 230 h 297"/>
                <a:gd name="T30" fmla="*/ 135 w 702"/>
                <a:gd name="T31" fmla="*/ 297 h 297"/>
                <a:gd name="T32" fmla="*/ 7 w 702"/>
                <a:gd name="T33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02" h="297">
                  <a:moveTo>
                    <a:pt x="7" y="297"/>
                  </a:moveTo>
                  <a:cubicBezTo>
                    <a:pt x="5" y="289"/>
                    <a:pt x="1" y="281"/>
                    <a:pt x="1" y="273"/>
                  </a:cubicBezTo>
                  <a:cubicBezTo>
                    <a:pt x="0" y="191"/>
                    <a:pt x="0" y="109"/>
                    <a:pt x="0" y="27"/>
                  </a:cubicBezTo>
                  <a:cubicBezTo>
                    <a:pt x="0" y="2"/>
                    <a:pt x="1" y="1"/>
                    <a:pt x="25" y="1"/>
                  </a:cubicBezTo>
                  <a:cubicBezTo>
                    <a:pt x="179" y="1"/>
                    <a:pt x="333" y="1"/>
                    <a:pt x="487" y="1"/>
                  </a:cubicBezTo>
                  <a:cubicBezTo>
                    <a:pt x="552" y="1"/>
                    <a:pt x="616" y="1"/>
                    <a:pt x="681" y="1"/>
                  </a:cubicBezTo>
                  <a:cubicBezTo>
                    <a:pt x="696" y="0"/>
                    <a:pt x="702" y="5"/>
                    <a:pt x="702" y="21"/>
                  </a:cubicBezTo>
                  <a:cubicBezTo>
                    <a:pt x="701" y="105"/>
                    <a:pt x="702" y="189"/>
                    <a:pt x="701" y="273"/>
                  </a:cubicBezTo>
                  <a:cubicBezTo>
                    <a:pt x="701" y="281"/>
                    <a:pt x="697" y="289"/>
                    <a:pt x="695" y="297"/>
                  </a:cubicBezTo>
                  <a:cubicBezTo>
                    <a:pt x="653" y="297"/>
                    <a:pt x="612" y="297"/>
                    <a:pt x="571" y="297"/>
                  </a:cubicBezTo>
                  <a:cubicBezTo>
                    <a:pt x="569" y="288"/>
                    <a:pt x="565" y="279"/>
                    <a:pt x="565" y="270"/>
                  </a:cubicBezTo>
                  <a:cubicBezTo>
                    <a:pt x="564" y="250"/>
                    <a:pt x="564" y="229"/>
                    <a:pt x="564" y="208"/>
                  </a:cubicBezTo>
                  <a:cubicBezTo>
                    <a:pt x="564" y="164"/>
                    <a:pt x="545" y="129"/>
                    <a:pt x="508" y="104"/>
                  </a:cubicBezTo>
                  <a:cubicBezTo>
                    <a:pt x="425" y="47"/>
                    <a:pt x="336" y="41"/>
                    <a:pt x="244" y="76"/>
                  </a:cubicBezTo>
                  <a:cubicBezTo>
                    <a:pt x="183" y="99"/>
                    <a:pt x="131" y="145"/>
                    <a:pt x="139" y="230"/>
                  </a:cubicBezTo>
                  <a:cubicBezTo>
                    <a:pt x="141" y="252"/>
                    <a:pt x="136" y="275"/>
                    <a:pt x="135" y="297"/>
                  </a:cubicBezTo>
                  <a:cubicBezTo>
                    <a:pt x="92" y="297"/>
                    <a:pt x="49" y="297"/>
                    <a:pt x="7" y="297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06" name="Freeform 9"/>
            <p:cNvSpPr>
              <a:spLocks/>
            </p:cNvSpPr>
            <p:nvPr/>
          </p:nvSpPr>
          <p:spPr bwMode="auto">
            <a:xfrm>
              <a:off x="-1295576" y="1233585"/>
              <a:ext cx="391411" cy="1161754"/>
            </a:xfrm>
            <a:custGeom>
              <a:avLst/>
              <a:gdLst>
                <a:gd name="T0" fmla="*/ 4 w 136"/>
                <a:gd name="T1" fmla="*/ 390 h 390"/>
                <a:gd name="T2" fmla="*/ 1 w 136"/>
                <a:gd name="T3" fmla="*/ 346 h 390"/>
                <a:gd name="T4" fmla="*/ 0 w 136"/>
                <a:gd name="T5" fmla="*/ 27 h 390"/>
                <a:gd name="T6" fmla="*/ 25 w 136"/>
                <a:gd name="T7" fmla="*/ 1 h 390"/>
                <a:gd name="T8" fmla="*/ 113 w 136"/>
                <a:gd name="T9" fmla="*/ 1 h 390"/>
                <a:gd name="T10" fmla="*/ 136 w 136"/>
                <a:gd name="T11" fmla="*/ 23 h 390"/>
                <a:gd name="T12" fmla="*/ 136 w 136"/>
                <a:gd name="T13" fmla="*/ 365 h 390"/>
                <a:gd name="T14" fmla="*/ 132 w 136"/>
                <a:gd name="T15" fmla="*/ 390 h 390"/>
                <a:gd name="T16" fmla="*/ 4 w 136"/>
                <a:gd name="T17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6" h="390">
                  <a:moveTo>
                    <a:pt x="4" y="390"/>
                  </a:moveTo>
                  <a:cubicBezTo>
                    <a:pt x="3" y="376"/>
                    <a:pt x="1" y="361"/>
                    <a:pt x="1" y="346"/>
                  </a:cubicBezTo>
                  <a:cubicBezTo>
                    <a:pt x="1" y="240"/>
                    <a:pt x="1" y="133"/>
                    <a:pt x="0" y="27"/>
                  </a:cubicBezTo>
                  <a:cubicBezTo>
                    <a:pt x="0" y="8"/>
                    <a:pt x="6" y="0"/>
                    <a:pt x="25" y="1"/>
                  </a:cubicBezTo>
                  <a:cubicBezTo>
                    <a:pt x="55" y="2"/>
                    <a:pt x="84" y="2"/>
                    <a:pt x="113" y="1"/>
                  </a:cubicBezTo>
                  <a:cubicBezTo>
                    <a:pt x="129" y="1"/>
                    <a:pt x="136" y="6"/>
                    <a:pt x="136" y="23"/>
                  </a:cubicBezTo>
                  <a:cubicBezTo>
                    <a:pt x="136" y="137"/>
                    <a:pt x="136" y="251"/>
                    <a:pt x="136" y="365"/>
                  </a:cubicBezTo>
                  <a:cubicBezTo>
                    <a:pt x="136" y="373"/>
                    <a:pt x="133" y="382"/>
                    <a:pt x="132" y="390"/>
                  </a:cubicBezTo>
                  <a:cubicBezTo>
                    <a:pt x="89" y="390"/>
                    <a:pt x="46" y="390"/>
                    <a:pt x="4" y="390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07" name="Freeform 10"/>
            <p:cNvSpPr>
              <a:spLocks/>
            </p:cNvSpPr>
            <p:nvPr/>
          </p:nvSpPr>
          <p:spPr bwMode="auto">
            <a:xfrm>
              <a:off x="1527215" y="1236108"/>
              <a:ext cx="387753" cy="1159231"/>
            </a:xfrm>
            <a:custGeom>
              <a:avLst/>
              <a:gdLst>
                <a:gd name="T0" fmla="*/ 4 w 135"/>
                <a:gd name="T1" fmla="*/ 389 h 389"/>
                <a:gd name="T2" fmla="*/ 0 w 135"/>
                <a:gd name="T3" fmla="*/ 354 h 389"/>
                <a:gd name="T4" fmla="*/ 0 w 135"/>
                <a:gd name="T5" fmla="*/ 26 h 389"/>
                <a:gd name="T6" fmla="*/ 26 w 135"/>
                <a:gd name="T7" fmla="*/ 0 h 389"/>
                <a:gd name="T8" fmla="*/ 114 w 135"/>
                <a:gd name="T9" fmla="*/ 0 h 389"/>
                <a:gd name="T10" fmla="*/ 135 w 135"/>
                <a:gd name="T11" fmla="*/ 21 h 389"/>
                <a:gd name="T12" fmla="*/ 135 w 135"/>
                <a:gd name="T13" fmla="*/ 365 h 389"/>
                <a:gd name="T14" fmla="*/ 128 w 135"/>
                <a:gd name="T15" fmla="*/ 389 h 389"/>
                <a:gd name="T16" fmla="*/ 4 w 135"/>
                <a:gd name="T17" fmla="*/ 389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5" h="389">
                  <a:moveTo>
                    <a:pt x="4" y="389"/>
                  </a:moveTo>
                  <a:cubicBezTo>
                    <a:pt x="3" y="377"/>
                    <a:pt x="0" y="365"/>
                    <a:pt x="0" y="354"/>
                  </a:cubicBezTo>
                  <a:cubicBezTo>
                    <a:pt x="0" y="244"/>
                    <a:pt x="0" y="135"/>
                    <a:pt x="0" y="26"/>
                  </a:cubicBezTo>
                  <a:cubicBezTo>
                    <a:pt x="0" y="2"/>
                    <a:pt x="2" y="0"/>
                    <a:pt x="26" y="0"/>
                  </a:cubicBezTo>
                  <a:cubicBezTo>
                    <a:pt x="55" y="0"/>
                    <a:pt x="84" y="1"/>
                    <a:pt x="114" y="0"/>
                  </a:cubicBezTo>
                  <a:cubicBezTo>
                    <a:pt x="129" y="0"/>
                    <a:pt x="135" y="6"/>
                    <a:pt x="135" y="21"/>
                  </a:cubicBezTo>
                  <a:cubicBezTo>
                    <a:pt x="135" y="136"/>
                    <a:pt x="135" y="250"/>
                    <a:pt x="135" y="365"/>
                  </a:cubicBezTo>
                  <a:cubicBezTo>
                    <a:pt x="135" y="373"/>
                    <a:pt x="130" y="381"/>
                    <a:pt x="128" y="389"/>
                  </a:cubicBezTo>
                  <a:cubicBezTo>
                    <a:pt x="86" y="389"/>
                    <a:pt x="45" y="389"/>
                    <a:pt x="4" y="389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08" name="Freeform 11"/>
            <p:cNvSpPr>
              <a:spLocks/>
            </p:cNvSpPr>
            <p:nvPr/>
          </p:nvSpPr>
          <p:spPr bwMode="auto">
            <a:xfrm>
              <a:off x="4498767" y="1233585"/>
              <a:ext cx="391411" cy="1161754"/>
            </a:xfrm>
            <a:custGeom>
              <a:avLst/>
              <a:gdLst>
                <a:gd name="T0" fmla="*/ 8 w 136"/>
                <a:gd name="T1" fmla="*/ 390 h 390"/>
                <a:gd name="T2" fmla="*/ 1 w 136"/>
                <a:gd name="T3" fmla="*/ 362 h 390"/>
                <a:gd name="T4" fmla="*/ 0 w 136"/>
                <a:gd name="T5" fmla="*/ 24 h 390"/>
                <a:gd name="T6" fmla="*/ 25 w 136"/>
                <a:gd name="T7" fmla="*/ 1 h 390"/>
                <a:gd name="T8" fmla="*/ 115 w 136"/>
                <a:gd name="T9" fmla="*/ 1 h 390"/>
                <a:gd name="T10" fmla="*/ 136 w 136"/>
                <a:gd name="T11" fmla="*/ 23 h 390"/>
                <a:gd name="T12" fmla="*/ 135 w 136"/>
                <a:gd name="T13" fmla="*/ 364 h 390"/>
                <a:gd name="T14" fmla="*/ 128 w 136"/>
                <a:gd name="T15" fmla="*/ 390 h 390"/>
                <a:gd name="T16" fmla="*/ 8 w 136"/>
                <a:gd name="T17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6" h="390">
                  <a:moveTo>
                    <a:pt x="8" y="390"/>
                  </a:moveTo>
                  <a:cubicBezTo>
                    <a:pt x="5" y="381"/>
                    <a:pt x="1" y="371"/>
                    <a:pt x="1" y="362"/>
                  </a:cubicBezTo>
                  <a:cubicBezTo>
                    <a:pt x="0" y="249"/>
                    <a:pt x="1" y="137"/>
                    <a:pt x="0" y="24"/>
                  </a:cubicBezTo>
                  <a:cubicBezTo>
                    <a:pt x="0" y="6"/>
                    <a:pt x="7" y="0"/>
                    <a:pt x="25" y="1"/>
                  </a:cubicBezTo>
                  <a:cubicBezTo>
                    <a:pt x="55" y="2"/>
                    <a:pt x="85" y="1"/>
                    <a:pt x="115" y="1"/>
                  </a:cubicBezTo>
                  <a:cubicBezTo>
                    <a:pt x="130" y="1"/>
                    <a:pt x="136" y="7"/>
                    <a:pt x="136" y="23"/>
                  </a:cubicBezTo>
                  <a:cubicBezTo>
                    <a:pt x="135" y="136"/>
                    <a:pt x="135" y="250"/>
                    <a:pt x="135" y="364"/>
                  </a:cubicBezTo>
                  <a:cubicBezTo>
                    <a:pt x="135" y="373"/>
                    <a:pt x="130" y="381"/>
                    <a:pt x="128" y="390"/>
                  </a:cubicBezTo>
                  <a:cubicBezTo>
                    <a:pt x="88" y="390"/>
                    <a:pt x="48" y="390"/>
                    <a:pt x="8" y="390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09" name="Freeform 12"/>
            <p:cNvSpPr>
              <a:spLocks/>
            </p:cNvSpPr>
            <p:nvPr/>
          </p:nvSpPr>
          <p:spPr bwMode="auto">
            <a:xfrm>
              <a:off x="7327655" y="1233585"/>
              <a:ext cx="388972" cy="1161754"/>
            </a:xfrm>
            <a:custGeom>
              <a:avLst/>
              <a:gdLst>
                <a:gd name="T0" fmla="*/ 6 w 135"/>
                <a:gd name="T1" fmla="*/ 390 h 390"/>
                <a:gd name="T2" fmla="*/ 1 w 135"/>
                <a:gd name="T3" fmla="*/ 363 h 390"/>
                <a:gd name="T4" fmla="*/ 0 w 135"/>
                <a:gd name="T5" fmla="*/ 23 h 390"/>
                <a:gd name="T6" fmla="*/ 22 w 135"/>
                <a:gd name="T7" fmla="*/ 1 h 390"/>
                <a:gd name="T8" fmla="*/ 112 w 135"/>
                <a:gd name="T9" fmla="*/ 1 h 390"/>
                <a:gd name="T10" fmla="*/ 135 w 135"/>
                <a:gd name="T11" fmla="*/ 23 h 390"/>
                <a:gd name="T12" fmla="*/ 135 w 135"/>
                <a:gd name="T13" fmla="*/ 369 h 390"/>
                <a:gd name="T14" fmla="*/ 130 w 135"/>
                <a:gd name="T15" fmla="*/ 390 h 390"/>
                <a:gd name="T16" fmla="*/ 6 w 135"/>
                <a:gd name="T17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5" h="390">
                  <a:moveTo>
                    <a:pt x="6" y="390"/>
                  </a:moveTo>
                  <a:cubicBezTo>
                    <a:pt x="4" y="381"/>
                    <a:pt x="1" y="372"/>
                    <a:pt x="1" y="363"/>
                  </a:cubicBezTo>
                  <a:cubicBezTo>
                    <a:pt x="1" y="250"/>
                    <a:pt x="1" y="136"/>
                    <a:pt x="0" y="23"/>
                  </a:cubicBezTo>
                  <a:cubicBezTo>
                    <a:pt x="0" y="7"/>
                    <a:pt x="6" y="0"/>
                    <a:pt x="22" y="1"/>
                  </a:cubicBezTo>
                  <a:cubicBezTo>
                    <a:pt x="52" y="2"/>
                    <a:pt x="82" y="2"/>
                    <a:pt x="112" y="1"/>
                  </a:cubicBezTo>
                  <a:cubicBezTo>
                    <a:pt x="128" y="1"/>
                    <a:pt x="135" y="6"/>
                    <a:pt x="135" y="23"/>
                  </a:cubicBezTo>
                  <a:cubicBezTo>
                    <a:pt x="135" y="138"/>
                    <a:pt x="135" y="254"/>
                    <a:pt x="135" y="369"/>
                  </a:cubicBezTo>
                  <a:cubicBezTo>
                    <a:pt x="135" y="376"/>
                    <a:pt x="132" y="383"/>
                    <a:pt x="130" y="390"/>
                  </a:cubicBezTo>
                  <a:cubicBezTo>
                    <a:pt x="88" y="390"/>
                    <a:pt x="47" y="390"/>
                    <a:pt x="6" y="390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10" name="Freeform 13"/>
            <p:cNvSpPr>
              <a:spLocks/>
            </p:cNvSpPr>
            <p:nvPr/>
          </p:nvSpPr>
          <p:spPr bwMode="auto">
            <a:xfrm>
              <a:off x="2781925" y="1772205"/>
              <a:ext cx="853544" cy="623134"/>
            </a:xfrm>
            <a:custGeom>
              <a:avLst/>
              <a:gdLst>
                <a:gd name="T0" fmla="*/ 296 w 296"/>
                <a:gd name="T1" fmla="*/ 209 h 209"/>
                <a:gd name="T2" fmla="*/ 0 w 296"/>
                <a:gd name="T3" fmla="*/ 209 h 209"/>
                <a:gd name="T4" fmla="*/ 5 w 296"/>
                <a:gd name="T5" fmla="*/ 184 h 209"/>
                <a:gd name="T6" fmla="*/ 5 w 296"/>
                <a:gd name="T7" fmla="*/ 116 h 209"/>
                <a:gd name="T8" fmla="*/ 38 w 296"/>
                <a:gd name="T9" fmla="*/ 50 h 209"/>
                <a:gd name="T10" fmla="*/ 246 w 296"/>
                <a:gd name="T11" fmla="*/ 39 h 209"/>
                <a:gd name="T12" fmla="*/ 293 w 296"/>
                <a:gd name="T13" fmla="*/ 126 h 209"/>
                <a:gd name="T14" fmla="*/ 296 w 296"/>
                <a:gd name="T1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6" h="209">
                  <a:moveTo>
                    <a:pt x="296" y="209"/>
                  </a:moveTo>
                  <a:cubicBezTo>
                    <a:pt x="197" y="209"/>
                    <a:pt x="98" y="209"/>
                    <a:pt x="0" y="209"/>
                  </a:cubicBezTo>
                  <a:cubicBezTo>
                    <a:pt x="2" y="201"/>
                    <a:pt x="5" y="193"/>
                    <a:pt x="5" y="184"/>
                  </a:cubicBezTo>
                  <a:cubicBezTo>
                    <a:pt x="6" y="162"/>
                    <a:pt x="5" y="139"/>
                    <a:pt x="5" y="116"/>
                  </a:cubicBezTo>
                  <a:cubicBezTo>
                    <a:pt x="4" y="88"/>
                    <a:pt x="16" y="67"/>
                    <a:pt x="38" y="50"/>
                  </a:cubicBezTo>
                  <a:cubicBezTo>
                    <a:pt x="96" y="5"/>
                    <a:pt x="184" y="0"/>
                    <a:pt x="246" y="39"/>
                  </a:cubicBezTo>
                  <a:cubicBezTo>
                    <a:pt x="278" y="59"/>
                    <a:pt x="295" y="87"/>
                    <a:pt x="293" y="126"/>
                  </a:cubicBezTo>
                  <a:cubicBezTo>
                    <a:pt x="293" y="153"/>
                    <a:pt x="295" y="181"/>
                    <a:pt x="296" y="2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14"/>
            <p:cNvSpPr>
              <a:spLocks/>
            </p:cNvSpPr>
            <p:nvPr/>
          </p:nvSpPr>
          <p:spPr bwMode="auto">
            <a:xfrm>
              <a:off x="2574636" y="1632189"/>
              <a:ext cx="1268122" cy="763150"/>
            </a:xfrm>
            <a:custGeom>
              <a:avLst/>
              <a:gdLst>
                <a:gd name="T0" fmla="*/ 4 w 440"/>
                <a:gd name="T1" fmla="*/ 256 h 256"/>
                <a:gd name="T2" fmla="*/ 8 w 440"/>
                <a:gd name="T3" fmla="*/ 189 h 256"/>
                <a:gd name="T4" fmla="*/ 113 w 440"/>
                <a:gd name="T5" fmla="*/ 35 h 256"/>
                <a:gd name="T6" fmla="*/ 377 w 440"/>
                <a:gd name="T7" fmla="*/ 63 h 256"/>
                <a:gd name="T8" fmla="*/ 433 w 440"/>
                <a:gd name="T9" fmla="*/ 167 h 256"/>
                <a:gd name="T10" fmla="*/ 434 w 440"/>
                <a:gd name="T11" fmla="*/ 229 h 256"/>
                <a:gd name="T12" fmla="*/ 440 w 440"/>
                <a:gd name="T13" fmla="*/ 256 h 256"/>
                <a:gd name="T14" fmla="*/ 392 w 440"/>
                <a:gd name="T15" fmla="*/ 256 h 256"/>
                <a:gd name="T16" fmla="*/ 398 w 440"/>
                <a:gd name="T17" fmla="*/ 240 h 256"/>
                <a:gd name="T18" fmla="*/ 398 w 440"/>
                <a:gd name="T19" fmla="*/ 158 h 256"/>
                <a:gd name="T20" fmla="*/ 348 w 440"/>
                <a:gd name="T21" fmla="*/ 74 h 256"/>
                <a:gd name="T22" fmla="*/ 119 w 440"/>
                <a:gd name="T23" fmla="*/ 60 h 256"/>
                <a:gd name="T24" fmla="*/ 46 w 440"/>
                <a:gd name="T25" fmla="*/ 141 h 256"/>
                <a:gd name="T26" fmla="*/ 48 w 440"/>
                <a:gd name="T27" fmla="*/ 256 h 256"/>
                <a:gd name="T28" fmla="*/ 4 w 440"/>
                <a:gd name="T29" fmla="*/ 25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0" h="256">
                  <a:moveTo>
                    <a:pt x="4" y="256"/>
                  </a:moveTo>
                  <a:cubicBezTo>
                    <a:pt x="5" y="234"/>
                    <a:pt x="10" y="211"/>
                    <a:pt x="8" y="189"/>
                  </a:cubicBezTo>
                  <a:cubicBezTo>
                    <a:pt x="0" y="104"/>
                    <a:pt x="52" y="58"/>
                    <a:pt x="113" y="35"/>
                  </a:cubicBezTo>
                  <a:cubicBezTo>
                    <a:pt x="205" y="0"/>
                    <a:pt x="294" y="6"/>
                    <a:pt x="377" y="63"/>
                  </a:cubicBezTo>
                  <a:cubicBezTo>
                    <a:pt x="414" y="88"/>
                    <a:pt x="433" y="123"/>
                    <a:pt x="433" y="167"/>
                  </a:cubicBezTo>
                  <a:cubicBezTo>
                    <a:pt x="433" y="188"/>
                    <a:pt x="433" y="209"/>
                    <a:pt x="434" y="229"/>
                  </a:cubicBezTo>
                  <a:cubicBezTo>
                    <a:pt x="434" y="238"/>
                    <a:pt x="438" y="247"/>
                    <a:pt x="440" y="256"/>
                  </a:cubicBezTo>
                  <a:cubicBezTo>
                    <a:pt x="424" y="256"/>
                    <a:pt x="408" y="256"/>
                    <a:pt x="392" y="256"/>
                  </a:cubicBezTo>
                  <a:cubicBezTo>
                    <a:pt x="394" y="251"/>
                    <a:pt x="398" y="245"/>
                    <a:pt x="398" y="240"/>
                  </a:cubicBezTo>
                  <a:cubicBezTo>
                    <a:pt x="399" y="212"/>
                    <a:pt x="400" y="185"/>
                    <a:pt x="398" y="158"/>
                  </a:cubicBezTo>
                  <a:cubicBezTo>
                    <a:pt x="396" y="122"/>
                    <a:pt x="378" y="93"/>
                    <a:pt x="348" y="74"/>
                  </a:cubicBezTo>
                  <a:cubicBezTo>
                    <a:pt x="274" y="28"/>
                    <a:pt x="197" y="26"/>
                    <a:pt x="119" y="60"/>
                  </a:cubicBezTo>
                  <a:cubicBezTo>
                    <a:pt x="83" y="75"/>
                    <a:pt x="51" y="100"/>
                    <a:pt x="46" y="141"/>
                  </a:cubicBezTo>
                  <a:cubicBezTo>
                    <a:pt x="42" y="179"/>
                    <a:pt x="47" y="218"/>
                    <a:pt x="48" y="256"/>
                  </a:cubicBezTo>
                  <a:cubicBezTo>
                    <a:pt x="33" y="256"/>
                    <a:pt x="18" y="256"/>
                    <a:pt x="4" y="2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Freeform 15"/>
            <p:cNvSpPr>
              <a:spLocks/>
            </p:cNvSpPr>
            <p:nvPr/>
          </p:nvSpPr>
          <p:spPr bwMode="auto">
            <a:xfrm>
              <a:off x="2696571" y="1710396"/>
              <a:ext cx="1030350" cy="684943"/>
            </a:xfrm>
            <a:custGeom>
              <a:avLst/>
              <a:gdLst>
                <a:gd name="T0" fmla="*/ 6 w 358"/>
                <a:gd name="T1" fmla="*/ 230 h 230"/>
                <a:gd name="T2" fmla="*/ 4 w 358"/>
                <a:gd name="T3" fmla="*/ 115 h 230"/>
                <a:gd name="T4" fmla="*/ 77 w 358"/>
                <a:gd name="T5" fmla="*/ 34 h 230"/>
                <a:gd name="T6" fmla="*/ 306 w 358"/>
                <a:gd name="T7" fmla="*/ 48 h 230"/>
                <a:gd name="T8" fmla="*/ 356 w 358"/>
                <a:gd name="T9" fmla="*/ 132 h 230"/>
                <a:gd name="T10" fmla="*/ 356 w 358"/>
                <a:gd name="T11" fmla="*/ 214 h 230"/>
                <a:gd name="T12" fmla="*/ 350 w 358"/>
                <a:gd name="T13" fmla="*/ 230 h 230"/>
                <a:gd name="T14" fmla="*/ 326 w 358"/>
                <a:gd name="T15" fmla="*/ 230 h 230"/>
                <a:gd name="T16" fmla="*/ 323 w 358"/>
                <a:gd name="T17" fmla="*/ 147 h 230"/>
                <a:gd name="T18" fmla="*/ 276 w 358"/>
                <a:gd name="T19" fmla="*/ 60 h 230"/>
                <a:gd name="T20" fmla="*/ 68 w 358"/>
                <a:gd name="T21" fmla="*/ 71 h 230"/>
                <a:gd name="T22" fmla="*/ 35 w 358"/>
                <a:gd name="T23" fmla="*/ 137 h 230"/>
                <a:gd name="T24" fmla="*/ 35 w 358"/>
                <a:gd name="T25" fmla="*/ 205 h 230"/>
                <a:gd name="T26" fmla="*/ 30 w 358"/>
                <a:gd name="T27" fmla="*/ 230 h 230"/>
                <a:gd name="T28" fmla="*/ 6 w 358"/>
                <a:gd name="T29" fmla="*/ 23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230">
                  <a:moveTo>
                    <a:pt x="6" y="230"/>
                  </a:moveTo>
                  <a:cubicBezTo>
                    <a:pt x="5" y="192"/>
                    <a:pt x="0" y="153"/>
                    <a:pt x="4" y="115"/>
                  </a:cubicBezTo>
                  <a:cubicBezTo>
                    <a:pt x="9" y="74"/>
                    <a:pt x="41" y="49"/>
                    <a:pt x="77" y="34"/>
                  </a:cubicBezTo>
                  <a:cubicBezTo>
                    <a:pt x="155" y="0"/>
                    <a:pt x="232" y="2"/>
                    <a:pt x="306" y="48"/>
                  </a:cubicBezTo>
                  <a:cubicBezTo>
                    <a:pt x="336" y="67"/>
                    <a:pt x="354" y="96"/>
                    <a:pt x="356" y="132"/>
                  </a:cubicBezTo>
                  <a:cubicBezTo>
                    <a:pt x="358" y="159"/>
                    <a:pt x="357" y="186"/>
                    <a:pt x="356" y="214"/>
                  </a:cubicBezTo>
                  <a:cubicBezTo>
                    <a:pt x="356" y="219"/>
                    <a:pt x="352" y="225"/>
                    <a:pt x="350" y="230"/>
                  </a:cubicBezTo>
                  <a:cubicBezTo>
                    <a:pt x="342" y="230"/>
                    <a:pt x="334" y="230"/>
                    <a:pt x="326" y="230"/>
                  </a:cubicBezTo>
                  <a:cubicBezTo>
                    <a:pt x="325" y="202"/>
                    <a:pt x="323" y="174"/>
                    <a:pt x="323" y="147"/>
                  </a:cubicBezTo>
                  <a:cubicBezTo>
                    <a:pt x="325" y="108"/>
                    <a:pt x="308" y="80"/>
                    <a:pt x="276" y="60"/>
                  </a:cubicBezTo>
                  <a:cubicBezTo>
                    <a:pt x="214" y="21"/>
                    <a:pt x="126" y="26"/>
                    <a:pt x="68" y="71"/>
                  </a:cubicBezTo>
                  <a:cubicBezTo>
                    <a:pt x="46" y="88"/>
                    <a:pt x="34" y="109"/>
                    <a:pt x="35" y="137"/>
                  </a:cubicBezTo>
                  <a:cubicBezTo>
                    <a:pt x="35" y="160"/>
                    <a:pt x="36" y="183"/>
                    <a:pt x="35" y="205"/>
                  </a:cubicBezTo>
                  <a:cubicBezTo>
                    <a:pt x="35" y="214"/>
                    <a:pt x="32" y="222"/>
                    <a:pt x="30" y="230"/>
                  </a:cubicBezTo>
                  <a:cubicBezTo>
                    <a:pt x="22" y="230"/>
                    <a:pt x="14" y="230"/>
                    <a:pt x="6" y="230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13" name="Freeform 16"/>
            <p:cNvSpPr>
              <a:spLocks/>
            </p:cNvSpPr>
            <p:nvPr/>
          </p:nvSpPr>
          <p:spPr bwMode="auto">
            <a:xfrm>
              <a:off x="153010" y="2252800"/>
              <a:ext cx="304837" cy="142539"/>
            </a:xfrm>
            <a:custGeom>
              <a:avLst/>
              <a:gdLst>
                <a:gd name="T0" fmla="*/ 9 w 106"/>
                <a:gd name="T1" fmla="*/ 48 h 48"/>
                <a:gd name="T2" fmla="*/ 4 w 106"/>
                <a:gd name="T3" fmla="*/ 35 h 48"/>
                <a:gd name="T4" fmla="*/ 35 w 106"/>
                <a:gd name="T5" fmla="*/ 0 h 48"/>
                <a:gd name="T6" fmla="*/ 78 w 106"/>
                <a:gd name="T7" fmla="*/ 0 h 48"/>
                <a:gd name="T8" fmla="*/ 105 w 106"/>
                <a:gd name="T9" fmla="*/ 27 h 48"/>
                <a:gd name="T10" fmla="*/ 101 w 106"/>
                <a:gd name="T11" fmla="*/ 48 h 48"/>
                <a:gd name="T12" fmla="*/ 9 w 106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6" h="48">
                  <a:moveTo>
                    <a:pt x="9" y="48"/>
                  </a:moveTo>
                  <a:cubicBezTo>
                    <a:pt x="7" y="44"/>
                    <a:pt x="5" y="39"/>
                    <a:pt x="4" y="35"/>
                  </a:cubicBezTo>
                  <a:cubicBezTo>
                    <a:pt x="0" y="4"/>
                    <a:pt x="4" y="0"/>
                    <a:pt x="35" y="0"/>
                  </a:cubicBezTo>
                  <a:cubicBezTo>
                    <a:pt x="49" y="0"/>
                    <a:pt x="64" y="0"/>
                    <a:pt x="78" y="0"/>
                  </a:cubicBezTo>
                  <a:cubicBezTo>
                    <a:pt x="104" y="0"/>
                    <a:pt x="106" y="1"/>
                    <a:pt x="105" y="27"/>
                  </a:cubicBezTo>
                  <a:cubicBezTo>
                    <a:pt x="104" y="34"/>
                    <a:pt x="102" y="41"/>
                    <a:pt x="101" y="48"/>
                  </a:cubicBezTo>
                  <a:cubicBezTo>
                    <a:pt x="70" y="48"/>
                    <a:pt x="39" y="48"/>
                    <a:pt x="9" y="48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14" name="Freeform 17"/>
            <p:cNvSpPr>
              <a:spLocks/>
            </p:cNvSpPr>
            <p:nvPr/>
          </p:nvSpPr>
          <p:spPr bwMode="auto">
            <a:xfrm>
              <a:off x="933393" y="2246493"/>
              <a:ext cx="313373" cy="148846"/>
            </a:xfrm>
            <a:custGeom>
              <a:avLst/>
              <a:gdLst>
                <a:gd name="T0" fmla="*/ 10 w 109"/>
                <a:gd name="T1" fmla="*/ 50 h 50"/>
                <a:gd name="T2" fmla="*/ 7 w 109"/>
                <a:gd name="T3" fmla="*/ 43 h 50"/>
                <a:gd name="T4" fmla="*/ 40 w 109"/>
                <a:gd name="T5" fmla="*/ 2 h 50"/>
                <a:gd name="T6" fmla="*/ 82 w 109"/>
                <a:gd name="T7" fmla="*/ 2 h 50"/>
                <a:gd name="T8" fmla="*/ 106 w 109"/>
                <a:gd name="T9" fmla="*/ 27 h 50"/>
                <a:gd name="T10" fmla="*/ 102 w 109"/>
                <a:gd name="T11" fmla="*/ 50 h 50"/>
                <a:gd name="T12" fmla="*/ 10 w 109"/>
                <a:gd name="T1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" h="50">
                  <a:moveTo>
                    <a:pt x="10" y="50"/>
                  </a:moveTo>
                  <a:cubicBezTo>
                    <a:pt x="9" y="48"/>
                    <a:pt x="8" y="45"/>
                    <a:pt x="7" y="43"/>
                  </a:cubicBezTo>
                  <a:cubicBezTo>
                    <a:pt x="0" y="7"/>
                    <a:pt x="4" y="2"/>
                    <a:pt x="40" y="2"/>
                  </a:cubicBezTo>
                  <a:cubicBezTo>
                    <a:pt x="54" y="2"/>
                    <a:pt x="68" y="3"/>
                    <a:pt x="82" y="2"/>
                  </a:cubicBezTo>
                  <a:cubicBezTo>
                    <a:pt x="102" y="0"/>
                    <a:pt x="109" y="8"/>
                    <a:pt x="106" y="27"/>
                  </a:cubicBezTo>
                  <a:cubicBezTo>
                    <a:pt x="105" y="35"/>
                    <a:pt x="103" y="42"/>
                    <a:pt x="102" y="50"/>
                  </a:cubicBezTo>
                  <a:cubicBezTo>
                    <a:pt x="71" y="50"/>
                    <a:pt x="40" y="50"/>
                    <a:pt x="10" y="50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15" name="Freeform 18"/>
            <p:cNvSpPr>
              <a:spLocks/>
            </p:cNvSpPr>
            <p:nvPr/>
          </p:nvSpPr>
          <p:spPr bwMode="auto">
            <a:xfrm>
              <a:off x="-631031" y="2252800"/>
              <a:ext cx="317031" cy="142539"/>
            </a:xfrm>
            <a:custGeom>
              <a:avLst/>
              <a:gdLst>
                <a:gd name="T0" fmla="*/ 9 w 110"/>
                <a:gd name="T1" fmla="*/ 48 h 48"/>
                <a:gd name="T2" fmla="*/ 6 w 110"/>
                <a:gd name="T3" fmla="*/ 39 h 48"/>
                <a:gd name="T4" fmla="*/ 38 w 110"/>
                <a:gd name="T5" fmla="*/ 0 h 48"/>
                <a:gd name="T6" fmla="*/ 77 w 110"/>
                <a:gd name="T7" fmla="*/ 0 h 48"/>
                <a:gd name="T8" fmla="*/ 106 w 110"/>
                <a:gd name="T9" fmla="*/ 33 h 48"/>
                <a:gd name="T10" fmla="*/ 101 w 110"/>
                <a:gd name="T11" fmla="*/ 48 h 48"/>
                <a:gd name="T12" fmla="*/ 9 w 110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0" h="48">
                  <a:moveTo>
                    <a:pt x="9" y="48"/>
                  </a:moveTo>
                  <a:cubicBezTo>
                    <a:pt x="8" y="45"/>
                    <a:pt x="7" y="42"/>
                    <a:pt x="6" y="39"/>
                  </a:cubicBezTo>
                  <a:cubicBezTo>
                    <a:pt x="0" y="5"/>
                    <a:pt x="4" y="0"/>
                    <a:pt x="38" y="0"/>
                  </a:cubicBezTo>
                  <a:cubicBezTo>
                    <a:pt x="51" y="0"/>
                    <a:pt x="64" y="0"/>
                    <a:pt x="77" y="0"/>
                  </a:cubicBezTo>
                  <a:cubicBezTo>
                    <a:pt x="105" y="0"/>
                    <a:pt x="110" y="6"/>
                    <a:pt x="106" y="33"/>
                  </a:cubicBezTo>
                  <a:cubicBezTo>
                    <a:pt x="105" y="38"/>
                    <a:pt x="102" y="43"/>
                    <a:pt x="101" y="48"/>
                  </a:cubicBezTo>
                  <a:cubicBezTo>
                    <a:pt x="70" y="48"/>
                    <a:pt x="39" y="48"/>
                    <a:pt x="9" y="48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16" name="Freeform 19"/>
            <p:cNvSpPr>
              <a:spLocks/>
            </p:cNvSpPr>
            <p:nvPr/>
          </p:nvSpPr>
          <p:spPr bwMode="auto">
            <a:xfrm>
              <a:off x="552956" y="2242709"/>
              <a:ext cx="296302" cy="152630"/>
            </a:xfrm>
            <a:custGeom>
              <a:avLst/>
              <a:gdLst>
                <a:gd name="T0" fmla="*/ 6 w 103"/>
                <a:gd name="T1" fmla="*/ 51 h 51"/>
                <a:gd name="T2" fmla="*/ 2 w 103"/>
                <a:gd name="T3" fmla="*/ 40 h 51"/>
                <a:gd name="T4" fmla="*/ 34 w 103"/>
                <a:gd name="T5" fmla="*/ 3 h 51"/>
                <a:gd name="T6" fmla="*/ 75 w 103"/>
                <a:gd name="T7" fmla="*/ 3 h 51"/>
                <a:gd name="T8" fmla="*/ 102 w 103"/>
                <a:gd name="T9" fmla="*/ 30 h 51"/>
                <a:gd name="T10" fmla="*/ 98 w 103"/>
                <a:gd name="T11" fmla="*/ 51 h 51"/>
                <a:gd name="T12" fmla="*/ 6 w 103"/>
                <a:gd name="T1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51">
                  <a:moveTo>
                    <a:pt x="6" y="51"/>
                  </a:moveTo>
                  <a:cubicBezTo>
                    <a:pt x="5" y="47"/>
                    <a:pt x="2" y="44"/>
                    <a:pt x="2" y="40"/>
                  </a:cubicBezTo>
                  <a:cubicBezTo>
                    <a:pt x="0" y="0"/>
                    <a:pt x="2" y="2"/>
                    <a:pt x="34" y="3"/>
                  </a:cubicBezTo>
                  <a:cubicBezTo>
                    <a:pt x="47" y="4"/>
                    <a:pt x="61" y="3"/>
                    <a:pt x="75" y="3"/>
                  </a:cubicBezTo>
                  <a:cubicBezTo>
                    <a:pt x="101" y="3"/>
                    <a:pt x="103" y="5"/>
                    <a:pt x="102" y="30"/>
                  </a:cubicBezTo>
                  <a:cubicBezTo>
                    <a:pt x="101" y="37"/>
                    <a:pt x="99" y="44"/>
                    <a:pt x="98" y="51"/>
                  </a:cubicBezTo>
                  <a:cubicBezTo>
                    <a:pt x="67" y="51"/>
                    <a:pt x="36" y="51"/>
                    <a:pt x="6" y="51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17" name="Freeform 20"/>
            <p:cNvSpPr>
              <a:spLocks/>
            </p:cNvSpPr>
            <p:nvPr/>
          </p:nvSpPr>
          <p:spPr bwMode="auto">
            <a:xfrm>
              <a:off x="-242059" y="2252800"/>
              <a:ext cx="314592" cy="142539"/>
            </a:xfrm>
            <a:custGeom>
              <a:avLst/>
              <a:gdLst>
                <a:gd name="T0" fmla="*/ 10 w 109"/>
                <a:gd name="T1" fmla="*/ 48 h 48"/>
                <a:gd name="T2" fmla="*/ 6 w 109"/>
                <a:gd name="T3" fmla="*/ 37 h 48"/>
                <a:gd name="T4" fmla="*/ 36 w 109"/>
                <a:gd name="T5" fmla="*/ 0 h 48"/>
                <a:gd name="T6" fmla="*/ 78 w 109"/>
                <a:gd name="T7" fmla="*/ 0 h 48"/>
                <a:gd name="T8" fmla="*/ 107 w 109"/>
                <a:gd name="T9" fmla="*/ 31 h 48"/>
                <a:gd name="T10" fmla="*/ 102 w 109"/>
                <a:gd name="T11" fmla="*/ 48 h 48"/>
                <a:gd name="T12" fmla="*/ 10 w 109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" h="48">
                  <a:moveTo>
                    <a:pt x="10" y="48"/>
                  </a:moveTo>
                  <a:cubicBezTo>
                    <a:pt x="9" y="44"/>
                    <a:pt x="7" y="41"/>
                    <a:pt x="6" y="37"/>
                  </a:cubicBezTo>
                  <a:cubicBezTo>
                    <a:pt x="0" y="7"/>
                    <a:pt x="6" y="0"/>
                    <a:pt x="36" y="0"/>
                  </a:cubicBezTo>
                  <a:cubicBezTo>
                    <a:pt x="50" y="0"/>
                    <a:pt x="64" y="0"/>
                    <a:pt x="78" y="0"/>
                  </a:cubicBezTo>
                  <a:cubicBezTo>
                    <a:pt x="105" y="0"/>
                    <a:pt x="109" y="4"/>
                    <a:pt x="107" y="31"/>
                  </a:cubicBezTo>
                  <a:cubicBezTo>
                    <a:pt x="106" y="37"/>
                    <a:pt x="103" y="42"/>
                    <a:pt x="102" y="48"/>
                  </a:cubicBezTo>
                  <a:cubicBezTo>
                    <a:pt x="71" y="48"/>
                    <a:pt x="40" y="48"/>
                    <a:pt x="10" y="48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18" name="Freeform 21"/>
            <p:cNvSpPr>
              <a:spLocks/>
            </p:cNvSpPr>
            <p:nvPr/>
          </p:nvSpPr>
          <p:spPr bwMode="auto">
            <a:xfrm>
              <a:off x="5187700" y="2249016"/>
              <a:ext cx="290205" cy="146323"/>
            </a:xfrm>
            <a:custGeom>
              <a:avLst/>
              <a:gdLst>
                <a:gd name="T0" fmla="*/ 5 w 101"/>
                <a:gd name="T1" fmla="*/ 49 h 49"/>
                <a:gd name="T2" fmla="*/ 1 w 101"/>
                <a:gd name="T3" fmla="*/ 14 h 49"/>
                <a:gd name="T4" fmla="*/ 15 w 101"/>
                <a:gd name="T5" fmla="*/ 2 h 49"/>
                <a:gd name="T6" fmla="*/ 86 w 101"/>
                <a:gd name="T7" fmla="*/ 2 h 49"/>
                <a:gd name="T8" fmla="*/ 100 w 101"/>
                <a:gd name="T9" fmla="*/ 16 h 49"/>
                <a:gd name="T10" fmla="*/ 97 w 101"/>
                <a:gd name="T11" fmla="*/ 49 h 49"/>
                <a:gd name="T12" fmla="*/ 5 w 101"/>
                <a:gd name="T13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49">
                  <a:moveTo>
                    <a:pt x="5" y="49"/>
                  </a:moveTo>
                  <a:cubicBezTo>
                    <a:pt x="3" y="38"/>
                    <a:pt x="0" y="26"/>
                    <a:pt x="1" y="14"/>
                  </a:cubicBezTo>
                  <a:cubicBezTo>
                    <a:pt x="1" y="10"/>
                    <a:pt x="10" y="2"/>
                    <a:pt x="15" y="2"/>
                  </a:cubicBezTo>
                  <a:cubicBezTo>
                    <a:pt x="38" y="0"/>
                    <a:pt x="62" y="0"/>
                    <a:pt x="86" y="2"/>
                  </a:cubicBezTo>
                  <a:cubicBezTo>
                    <a:pt x="91" y="2"/>
                    <a:pt x="99" y="11"/>
                    <a:pt x="100" y="16"/>
                  </a:cubicBezTo>
                  <a:cubicBezTo>
                    <a:pt x="101" y="27"/>
                    <a:pt x="98" y="38"/>
                    <a:pt x="97" y="49"/>
                  </a:cubicBezTo>
                  <a:cubicBezTo>
                    <a:pt x="66" y="49"/>
                    <a:pt x="35" y="49"/>
                    <a:pt x="5" y="49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19" name="Freeform 22"/>
            <p:cNvSpPr>
              <a:spLocks/>
            </p:cNvSpPr>
            <p:nvPr/>
          </p:nvSpPr>
          <p:spPr bwMode="auto">
            <a:xfrm>
              <a:off x="5562039" y="2252800"/>
              <a:ext cx="310934" cy="142539"/>
            </a:xfrm>
            <a:custGeom>
              <a:avLst/>
              <a:gdLst>
                <a:gd name="T0" fmla="*/ 11 w 108"/>
                <a:gd name="T1" fmla="*/ 48 h 48"/>
                <a:gd name="T2" fmla="*/ 7 w 108"/>
                <a:gd name="T3" fmla="*/ 39 h 48"/>
                <a:gd name="T4" fmla="*/ 37 w 108"/>
                <a:gd name="T5" fmla="*/ 0 h 48"/>
                <a:gd name="T6" fmla="*/ 79 w 108"/>
                <a:gd name="T7" fmla="*/ 0 h 48"/>
                <a:gd name="T8" fmla="*/ 106 w 108"/>
                <a:gd name="T9" fmla="*/ 29 h 48"/>
                <a:gd name="T10" fmla="*/ 103 w 108"/>
                <a:gd name="T11" fmla="*/ 48 h 48"/>
                <a:gd name="T12" fmla="*/ 11 w 108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" h="48">
                  <a:moveTo>
                    <a:pt x="11" y="48"/>
                  </a:moveTo>
                  <a:cubicBezTo>
                    <a:pt x="10" y="45"/>
                    <a:pt x="8" y="42"/>
                    <a:pt x="7" y="39"/>
                  </a:cubicBezTo>
                  <a:cubicBezTo>
                    <a:pt x="0" y="8"/>
                    <a:pt x="6" y="0"/>
                    <a:pt x="37" y="0"/>
                  </a:cubicBezTo>
                  <a:cubicBezTo>
                    <a:pt x="51" y="0"/>
                    <a:pt x="65" y="0"/>
                    <a:pt x="79" y="0"/>
                  </a:cubicBezTo>
                  <a:cubicBezTo>
                    <a:pt x="106" y="0"/>
                    <a:pt x="108" y="2"/>
                    <a:pt x="106" y="29"/>
                  </a:cubicBezTo>
                  <a:cubicBezTo>
                    <a:pt x="106" y="35"/>
                    <a:pt x="104" y="42"/>
                    <a:pt x="103" y="48"/>
                  </a:cubicBezTo>
                  <a:cubicBezTo>
                    <a:pt x="72" y="48"/>
                    <a:pt x="41" y="48"/>
                    <a:pt x="11" y="48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20" name="Freeform 23"/>
            <p:cNvSpPr>
              <a:spLocks/>
            </p:cNvSpPr>
            <p:nvPr/>
          </p:nvSpPr>
          <p:spPr bwMode="auto">
            <a:xfrm>
              <a:off x="6731395" y="2252800"/>
              <a:ext cx="310934" cy="142539"/>
            </a:xfrm>
            <a:custGeom>
              <a:avLst/>
              <a:gdLst>
                <a:gd name="T0" fmla="*/ 9 w 108"/>
                <a:gd name="T1" fmla="*/ 48 h 48"/>
                <a:gd name="T2" fmla="*/ 5 w 108"/>
                <a:gd name="T3" fmla="*/ 37 h 48"/>
                <a:gd name="T4" fmla="*/ 36 w 108"/>
                <a:gd name="T5" fmla="*/ 0 h 48"/>
                <a:gd name="T6" fmla="*/ 78 w 108"/>
                <a:gd name="T7" fmla="*/ 0 h 48"/>
                <a:gd name="T8" fmla="*/ 105 w 108"/>
                <a:gd name="T9" fmla="*/ 31 h 48"/>
                <a:gd name="T10" fmla="*/ 101 w 108"/>
                <a:gd name="T11" fmla="*/ 48 h 48"/>
                <a:gd name="T12" fmla="*/ 9 w 108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" h="48">
                  <a:moveTo>
                    <a:pt x="9" y="48"/>
                  </a:moveTo>
                  <a:cubicBezTo>
                    <a:pt x="8" y="44"/>
                    <a:pt x="6" y="41"/>
                    <a:pt x="5" y="37"/>
                  </a:cubicBezTo>
                  <a:cubicBezTo>
                    <a:pt x="0" y="6"/>
                    <a:pt x="5" y="0"/>
                    <a:pt x="36" y="0"/>
                  </a:cubicBezTo>
                  <a:cubicBezTo>
                    <a:pt x="50" y="0"/>
                    <a:pt x="64" y="0"/>
                    <a:pt x="78" y="0"/>
                  </a:cubicBezTo>
                  <a:cubicBezTo>
                    <a:pt x="103" y="0"/>
                    <a:pt x="108" y="5"/>
                    <a:pt x="105" y="31"/>
                  </a:cubicBezTo>
                  <a:cubicBezTo>
                    <a:pt x="104" y="37"/>
                    <a:pt x="102" y="42"/>
                    <a:pt x="101" y="48"/>
                  </a:cubicBezTo>
                  <a:cubicBezTo>
                    <a:pt x="70" y="48"/>
                    <a:pt x="39" y="48"/>
                    <a:pt x="9" y="48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21" name="Freeform 24"/>
            <p:cNvSpPr>
              <a:spLocks/>
            </p:cNvSpPr>
            <p:nvPr/>
          </p:nvSpPr>
          <p:spPr bwMode="auto">
            <a:xfrm>
              <a:off x="6339983" y="2252800"/>
              <a:ext cx="310934" cy="142539"/>
            </a:xfrm>
            <a:custGeom>
              <a:avLst/>
              <a:gdLst>
                <a:gd name="T0" fmla="*/ 9 w 108"/>
                <a:gd name="T1" fmla="*/ 48 h 48"/>
                <a:gd name="T2" fmla="*/ 6 w 108"/>
                <a:gd name="T3" fmla="*/ 39 h 48"/>
                <a:gd name="T4" fmla="*/ 38 w 108"/>
                <a:gd name="T5" fmla="*/ 0 h 48"/>
                <a:gd name="T6" fmla="*/ 78 w 108"/>
                <a:gd name="T7" fmla="*/ 0 h 48"/>
                <a:gd name="T8" fmla="*/ 105 w 108"/>
                <a:gd name="T9" fmla="*/ 31 h 48"/>
                <a:gd name="T10" fmla="*/ 101 w 108"/>
                <a:gd name="T11" fmla="*/ 48 h 48"/>
                <a:gd name="T12" fmla="*/ 9 w 108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" h="48">
                  <a:moveTo>
                    <a:pt x="9" y="48"/>
                  </a:moveTo>
                  <a:cubicBezTo>
                    <a:pt x="8" y="45"/>
                    <a:pt x="7" y="42"/>
                    <a:pt x="6" y="39"/>
                  </a:cubicBezTo>
                  <a:cubicBezTo>
                    <a:pt x="0" y="5"/>
                    <a:pt x="4" y="0"/>
                    <a:pt x="38" y="0"/>
                  </a:cubicBezTo>
                  <a:cubicBezTo>
                    <a:pt x="51" y="0"/>
                    <a:pt x="65" y="0"/>
                    <a:pt x="78" y="0"/>
                  </a:cubicBezTo>
                  <a:cubicBezTo>
                    <a:pt x="104" y="0"/>
                    <a:pt x="108" y="5"/>
                    <a:pt x="105" y="31"/>
                  </a:cubicBezTo>
                  <a:cubicBezTo>
                    <a:pt x="104" y="37"/>
                    <a:pt x="102" y="42"/>
                    <a:pt x="101" y="48"/>
                  </a:cubicBezTo>
                  <a:cubicBezTo>
                    <a:pt x="70" y="48"/>
                    <a:pt x="39" y="48"/>
                    <a:pt x="9" y="48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22" name="Freeform 25"/>
            <p:cNvSpPr>
              <a:spLocks/>
            </p:cNvSpPr>
            <p:nvPr/>
          </p:nvSpPr>
          <p:spPr bwMode="auto">
            <a:xfrm>
              <a:off x="5955889" y="2252800"/>
              <a:ext cx="297521" cy="142539"/>
            </a:xfrm>
            <a:custGeom>
              <a:avLst/>
              <a:gdLst>
                <a:gd name="T0" fmla="*/ 10 w 103"/>
                <a:gd name="T1" fmla="*/ 48 h 48"/>
                <a:gd name="T2" fmla="*/ 5 w 103"/>
                <a:gd name="T3" fmla="*/ 35 h 48"/>
                <a:gd name="T4" fmla="*/ 35 w 103"/>
                <a:gd name="T5" fmla="*/ 0 h 48"/>
                <a:gd name="T6" fmla="*/ 75 w 103"/>
                <a:gd name="T7" fmla="*/ 0 h 48"/>
                <a:gd name="T8" fmla="*/ 102 w 103"/>
                <a:gd name="T9" fmla="*/ 29 h 48"/>
                <a:gd name="T10" fmla="*/ 98 w 103"/>
                <a:gd name="T11" fmla="*/ 48 h 48"/>
                <a:gd name="T12" fmla="*/ 10 w 103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48">
                  <a:moveTo>
                    <a:pt x="10" y="48"/>
                  </a:moveTo>
                  <a:cubicBezTo>
                    <a:pt x="8" y="44"/>
                    <a:pt x="6" y="40"/>
                    <a:pt x="5" y="35"/>
                  </a:cubicBezTo>
                  <a:cubicBezTo>
                    <a:pt x="0" y="5"/>
                    <a:pt x="5" y="0"/>
                    <a:pt x="35" y="0"/>
                  </a:cubicBezTo>
                  <a:cubicBezTo>
                    <a:pt x="49" y="0"/>
                    <a:pt x="62" y="0"/>
                    <a:pt x="75" y="0"/>
                  </a:cubicBezTo>
                  <a:cubicBezTo>
                    <a:pt x="101" y="0"/>
                    <a:pt x="103" y="2"/>
                    <a:pt x="102" y="29"/>
                  </a:cubicBezTo>
                  <a:cubicBezTo>
                    <a:pt x="101" y="35"/>
                    <a:pt x="99" y="42"/>
                    <a:pt x="98" y="48"/>
                  </a:cubicBezTo>
                  <a:cubicBezTo>
                    <a:pt x="68" y="48"/>
                    <a:pt x="39" y="48"/>
                    <a:pt x="10" y="48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23" name="Freeform 26"/>
            <p:cNvSpPr>
              <a:spLocks/>
            </p:cNvSpPr>
            <p:nvPr/>
          </p:nvSpPr>
          <p:spPr bwMode="auto">
            <a:xfrm>
              <a:off x="4988945" y="2255323"/>
              <a:ext cx="95109" cy="140016"/>
            </a:xfrm>
            <a:custGeom>
              <a:avLst/>
              <a:gdLst>
                <a:gd name="T0" fmla="*/ 6 w 33"/>
                <a:gd name="T1" fmla="*/ 47 h 47"/>
                <a:gd name="T2" fmla="*/ 1 w 33"/>
                <a:gd name="T3" fmla="*/ 11 h 47"/>
                <a:gd name="T4" fmla="*/ 18 w 33"/>
                <a:gd name="T5" fmla="*/ 0 h 47"/>
                <a:gd name="T6" fmla="*/ 33 w 33"/>
                <a:gd name="T7" fmla="*/ 11 h 47"/>
                <a:gd name="T8" fmla="*/ 26 w 33"/>
                <a:gd name="T9" fmla="*/ 47 h 47"/>
                <a:gd name="T10" fmla="*/ 6 w 33"/>
                <a:gd name="T11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" h="47">
                  <a:moveTo>
                    <a:pt x="6" y="47"/>
                  </a:moveTo>
                  <a:cubicBezTo>
                    <a:pt x="4" y="35"/>
                    <a:pt x="0" y="23"/>
                    <a:pt x="1" y="11"/>
                  </a:cubicBezTo>
                  <a:cubicBezTo>
                    <a:pt x="1" y="6"/>
                    <a:pt x="12" y="0"/>
                    <a:pt x="18" y="0"/>
                  </a:cubicBezTo>
                  <a:cubicBezTo>
                    <a:pt x="23" y="0"/>
                    <a:pt x="33" y="7"/>
                    <a:pt x="33" y="11"/>
                  </a:cubicBezTo>
                  <a:cubicBezTo>
                    <a:pt x="33" y="23"/>
                    <a:pt x="28" y="35"/>
                    <a:pt x="26" y="47"/>
                  </a:cubicBezTo>
                  <a:cubicBezTo>
                    <a:pt x="19" y="47"/>
                    <a:pt x="12" y="47"/>
                    <a:pt x="6" y="47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24" name="Freeform 27"/>
            <p:cNvSpPr>
              <a:spLocks/>
            </p:cNvSpPr>
            <p:nvPr/>
          </p:nvSpPr>
          <p:spPr bwMode="auto">
            <a:xfrm>
              <a:off x="1339436" y="2255323"/>
              <a:ext cx="95109" cy="140016"/>
            </a:xfrm>
            <a:custGeom>
              <a:avLst/>
              <a:gdLst>
                <a:gd name="T0" fmla="*/ 5 w 33"/>
                <a:gd name="T1" fmla="*/ 47 h 47"/>
                <a:gd name="T2" fmla="*/ 1 w 33"/>
                <a:gd name="T3" fmla="*/ 14 h 47"/>
                <a:gd name="T4" fmla="*/ 17 w 33"/>
                <a:gd name="T5" fmla="*/ 0 h 47"/>
                <a:gd name="T6" fmla="*/ 32 w 33"/>
                <a:gd name="T7" fmla="*/ 14 h 47"/>
                <a:gd name="T8" fmla="*/ 29 w 33"/>
                <a:gd name="T9" fmla="*/ 47 h 47"/>
                <a:gd name="T10" fmla="*/ 5 w 33"/>
                <a:gd name="T11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" h="47">
                  <a:moveTo>
                    <a:pt x="5" y="47"/>
                  </a:moveTo>
                  <a:cubicBezTo>
                    <a:pt x="3" y="36"/>
                    <a:pt x="0" y="25"/>
                    <a:pt x="1" y="14"/>
                  </a:cubicBezTo>
                  <a:cubicBezTo>
                    <a:pt x="2" y="9"/>
                    <a:pt x="11" y="0"/>
                    <a:pt x="17" y="0"/>
                  </a:cubicBezTo>
                  <a:cubicBezTo>
                    <a:pt x="22" y="0"/>
                    <a:pt x="31" y="9"/>
                    <a:pt x="32" y="14"/>
                  </a:cubicBezTo>
                  <a:cubicBezTo>
                    <a:pt x="33" y="25"/>
                    <a:pt x="30" y="36"/>
                    <a:pt x="29" y="47"/>
                  </a:cubicBezTo>
                  <a:cubicBezTo>
                    <a:pt x="21" y="47"/>
                    <a:pt x="13" y="47"/>
                    <a:pt x="5" y="47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25" name="Freeform 28"/>
            <p:cNvSpPr>
              <a:spLocks/>
            </p:cNvSpPr>
            <p:nvPr/>
          </p:nvSpPr>
          <p:spPr bwMode="auto">
            <a:xfrm>
              <a:off x="7133779" y="2255323"/>
              <a:ext cx="95109" cy="140016"/>
            </a:xfrm>
            <a:custGeom>
              <a:avLst/>
              <a:gdLst>
                <a:gd name="T0" fmla="*/ 5 w 33"/>
                <a:gd name="T1" fmla="*/ 47 h 47"/>
                <a:gd name="T2" fmla="*/ 1 w 33"/>
                <a:gd name="T3" fmla="*/ 14 h 47"/>
                <a:gd name="T4" fmla="*/ 17 w 33"/>
                <a:gd name="T5" fmla="*/ 0 h 47"/>
                <a:gd name="T6" fmla="*/ 32 w 33"/>
                <a:gd name="T7" fmla="*/ 14 h 47"/>
                <a:gd name="T8" fmla="*/ 29 w 33"/>
                <a:gd name="T9" fmla="*/ 47 h 47"/>
                <a:gd name="T10" fmla="*/ 5 w 33"/>
                <a:gd name="T11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" h="47">
                  <a:moveTo>
                    <a:pt x="5" y="47"/>
                  </a:moveTo>
                  <a:cubicBezTo>
                    <a:pt x="3" y="36"/>
                    <a:pt x="0" y="25"/>
                    <a:pt x="1" y="14"/>
                  </a:cubicBezTo>
                  <a:cubicBezTo>
                    <a:pt x="2" y="9"/>
                    <a:pt x="11" y="0"/>
                    <a:pt x="17" y="0"/>
                  </a:cubicBezTo>
                  <a:cubicBezTo>
                    <a:pt x="22" y="0"/>
                    <a:pt x="31" y="9"/>
                    <a:pt x="32" y="14"/>
                  </a:cubicBezTo>
                  <a:cubicBezTo>
                    <a:pt x="33" y="25"/>
                    <a:pt x="30" y="36"/>
                    <a:pt x="29" y="47"/>
                  </a:cubicBezTo>
                  <a:cubicBezTo>
                    <a:pt x="21" y="47"/>
                    <a:pt x="13" y="47"/>
                    <a:pt x="5" y="47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26" name="Freeform 29"/>
            <p:cNvSpPr>
              <a:spLocks/>
            </p:cNvSpPr>
            <p:nvPr/>
          </p:nvSpPr>
          <p:spPr bwMode="auto">
            <a:xfrm>
              <a:off x="-802959" y="2252800"/>
              <a:ext cx="86574" cy="142539"/>
            </a:xfrm>
            <a:custGeom>
              <a:avLst/>
              <a:gdLst>
                <a:gd name="T0" fmla="*/ 5 w 30"/>
                <a:gd name="T1" fmla="*/ 48 h 48"/>
                <a:gd name="T2" fmla="*/ 1 w 30"/>
                <a:gd name="T3" fmla="*/ 15 h 48"/>
                <a:gd name="T4" fmla="*/ 15 w 30"/>
                <a:gd name="T5" fmla="*/ 0 h 48"/>
                <a:gd name="T6" fmla="*/ 29 w 30"/>
                <a:gd name="T7" fmla="*/ 15 h 48"/>
                <a:gd name="T8" fmla="*/ 25 w 30"/>
                <a:gd name="T9" fmla="*/ 48 h 48"/>
                <a:gd name="T10" fmla="*/ 5 w 30"/>
                <a:gd name="T1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48">
                  <a:moveTo>
                    <a:pt x="5" y="48"/>
                  </a:moveTo>
                  <a:cubicBezTo>
                    <a:pt x="3" y="37"/>
                    <a:pt x="0" y="26"/>
                    <a:pt x="1" y="15"/>
                  </a:cubicBezTo>
                  <a:cubicBezTo>
                    <a:pt x="2" y="9"/>
                    <a:pt x="10" y="5"/>
                    <a:pt x="15" y="0"/>
                  </a:cubicBezTo>
                  <a:cubicBezTo>
                    <a:pt x="20" y="5"/>
                    <a:pt x="29" y="10"/>
                    <a:pt x="29" y="15"/>
                  </a:cubicBezTo>
                  <a:cubicBezTo>
                    <a:pt x="30" y="26"/>
                    <a:pt x="27" y="37"/>
                    <a:pt x="25" y="48"/>
                  </a:cubicBezTo>
                  <a:cubicBezTo>
                    <a:pt x="18" y="48"/>
                    <a:pt x="11" y="48"/>
                    <a:pt x="5" y="48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27" name="Freeform 30"/>
            <p:cNvSpPr>
              <a:spLocks/>
            </p:cNvSpPr>
            <p:nvPr/>
          </p:nvSpPr>
          <p:spPr bwMode="auto">
            <a:xfrm>
              <a:off x="2062510" y="378353"/>
              <a:ext cx="5802879" cy="1065887"/>
            </a:xfrm>
            <a:custGeom>
              <a:avLst/>
              <a:gdLst>
                <a:gd name="T0" fmla="*/ 30 w 2015"/>
                <a:gd name="T1" fmla="*/ 253 h 358"/>
                <a:gd name="T2" fmla="*/ 73 w 2015"/>
                <a:gd name="T3" fmla="*/ 275 h 358"/>
                <a:gd name="T4" fmla="*/ 140 w 2015"/>
                <a:gd name="T5" fmla="*/ 261 h 358"/>
                <a:gd name="T6" fmla="*/ 234 w 2015"/>
                <a:gd name="T7" fmla="*/ 261 h 358"/>
                <a:gd name="T8" fmla="*/ 328 w 2015"/>
                <a:gd name="T9" fmla="*/ 262 h 358"/>
                <a:gd name="T10" fmla="*/ 423 w 2015"/>
                <a:gd name="T11" fmla="*/ 264 h 358"/>
                <a:gd name="T12" fmla="*/ 517 w 2015"/>
                <a:gd name="T13" fmla="*/ 264 h 358"/>
                <a:gd name="T14" fmla="*/ 607 w 2015"/>
                <a:gd name="T15" fmla="*/ 264 h 358"/>
                <a:gd name="T16" fmla="*/ 702 w 2015"/>
                <a:gd name="T17" fmla="*/ 265 h 358"/>
                <a:gd name="T18" fmla="*/ 774 w 2015"/>
                <a:gd name="T19" fmla="*/ 253 h 358"/>
                <a:gd name="T20" fmla="*/ 797 w 2015"/>
                <a:gd name="T21" fmla="*/ 168 h 358"/>
                <a:gd name="T22" fmla="*/ 841 w 2015"/>
                <a:gd name="T23" fmla="*/ 157 h 358"/>
                <a:gd name="T24" fmla="*/ 935 w 2015"/>
                <a:gd name="T25" fmla="*/ 157 h 358"/>
                <a:gd name="T26" fmla="*/ 1018 w 2015"/>
                <a:gd name="T27" fmla="*/ 148 h 358"/>
                <a:gd name="T28" fmla="*/ 1031 w 2015"/>
                <a:gd name="T29" fmla="*/ 209 h 358"/>
                <a:gd name="T30" fmla="*/ 1183 w 2015"/>
                <a:gd name="T31" fmla="*/ 230 h 358"/>
                <a:gd name="T32" fmla="*/ 1203 w 2015"/>
                <a:gd name="T33" fmla="*/ 29 h 358"/>
                <a:gd name="T34" fmla="*/ 1234 w 2015"/>
                <a:gd name="T35" fmla="*/ 22 h 358"/>
                <a:gd name="T36" fmla="*/ 1253 w 2015"/>
                <a:gd name="T37" fmla="*/ 112 h 358"/>
                <a:gd name="T38" fmla="*/ 1270 w 2015"/>
                <a:gd name="T39" fmla="*/ 24 h 358"/>
                <a:gd name="T40" fmla="*/ 1302 w 2015"/>
                <a:gd name="T41" fmla="*/ 25 h 358"/>
                <a:gd name="T42" fmla="*/ 1321 w 2015"/>
                <a:gd name="T43" fmla="*/ 112 h 358"/>
                <a:gd name="T44" fmla="*/ 1338 w 2015"/>
                <a:gd name="T45" fmla="*/ 25 h 358"/>
                <a:gd name="T46" fmla="*/ 1367 w 2015"/>
                <a:gd name="T47" fmla="*/ 25 h 358"/>
                <a:gd name="T48" fmla="*/ 1393 w 2015"/>
                <a:gd name="T49" fmla="*/ 230 h 358"/>
                <a:gd name="T50" fmla="*/ 1779 w 2015"/>
                <a:gd name="T51" fmla="*/ 206 h 358"/>
                <a:gd name="T52" fmla="*/ 1792 w 2015"/>
                <a:gd name="T53" fmla="*/ 148 h 358"/>
                <a:gd name="T54" fmla="*/ 1846 w 2015"/>
                <a:gd name="T55" fmla="*/ 168 h 358"/>
                <a:gd name="T56" fmla="*/ 1919 w 2015"/>
                <a:gd name="T57" fmla="*/ 158 h 358"/>
                <a:gd name="T58" fmla="*/ 2002 w 2015"/>
                <a:gd name="T59" fmla="*/ 149 h 358"/>
                <a:gd name="T60" fmla="*/ 2014 w 2015"/>
                <a:gd name="T61" fmla="*/ 228 h 358"/>
                <a:gd name="T62" fmla="*/ 1712 w 2015"/>
                <a:gd name="T63" fmla="*/ 252 h 358"/>
                <a:gd name="T64" fmla="*/ 818 w 2015"/>
                <a:gd name="T65" fmla="*/ 252 h 358"/>
                <a:gd name="T66" fmla="*/ 796 w 2015"/>
                <a:gd name="T67" fmla="*/ 332 h 358"/>
                <a:gd name="T68" fmla="*/ 629 w 2015"/>
                <a:gd name="T69" fmla="*/ 358 h 358"/>
                <a:gd name="T70" fmla="*/ 1 w 2015"/>
                <a:gd name="T71" fmla="*/ 336 h 358"/>
                <a:gd name="T72" fmla="*/ 2 w 2015"/>
                <a:gd name="T73" fmla="*/ 253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15" h="358">
                  <a:moveTo>
                    <a:pt x="2" y="253"/>
                  </a:moveTo>
                  <a:cubicBezTo>
                    <a:pt x="11" y="253"/>
                    <a:pt x="21" y="252"/>
                    <a:pt x="30" y="253"/>
                  </a:cubicBezTo>
                  <a:cubicBezTo>
                    <a:pt x="36" y="255"/>
                    <a:pt x="41" y="261"/>
                    <a:pt x="47" y="264"/>
                  </a:cubicBezTo>
                  <a:cubicBezTo>
                    <a:pt x="55" y="268"/>
                    <a:pt x="64" y="274"/>
                    <a:pt x="73" y="275"/>
                  </a:cubicBezTo>
                  <a:cubicBezTo>
                    <a:pt x="80" y="275"/>
                    <a:pt x="90" y="268"/>
                    <a:pt x="94" y="262"/>
                  </a:cubicBezTo>
                  <a:cubicBezTo>
                    <a:pt x="103" y="250"/>
                    <a:pt x="132" y="248"/>
                    <a:pt x="140" y="261"/>
                  </a:cubicBezTo>
                  <a:cubicBezTo>
                    <a:pt x="153" y="281"/>
                    <a:pt x="177" y="281"/>
                    <a:pt x="189" y="261"/>
                  </a:cubicBezTo>
                  <a:cubicBezTo>
                    <a:pt x="196" y="249"/>
                    <a:pt x="226" y="249"/>
                    <a:pt x="234" y="261"/>
                  </a:cubicBezTo>
                  <a:cubicBezTo>
                    <a:pt x="246" y="281"/>
                    <a:pt x="271" y="282"/>
                    <a:pt x="283" y="261"/>
                  </a:cubicBezTo>
                  <a:cubicBezTo>
                    <a:pt x="291" y="249"/>
                    <a:pt x="319" y="249"/>
                    <a:pt x="328" y="262"/>
                  </a:cubicBezTo>
                  <a:cubicBezTo>
                    <a:pt x="340" y="281"/>
                    <a:pt x="366" y="281"/>
                    <a:pt x="378" y="261"/>
                  </a:cubicBezTo>
                  <a:cubicBezTo>
                    <a:pt x="387" y="248"/>
                    <a:pt x="415" y="249"/>
                    <a:pt x="423" y="264"/>
                  </a:cubicBezTo>
                  <a:cubicBezTo>
                    <a:pt x="432" y="280"/>
                    <a:pt x="461" y="280"/>
                    <a:pt x="471" y="264"/>
                  </a:cubicBezTo>
                  <a:cubicBezTo>
                    <a:pt x="481" y="248"/>
                    <a:pt x="507" y="247"/>
                    <a:pt x="517" y="264"/>
                  </a:cubicBezTo>
                  <a:cubicBezTo>
                    <a:pt x="527" y="280"/>
                    <a:pt x="555" y="280"/>
                    <a:pt x="564" y="263"/>
                  </a:cubicBezTo>
                  <a:cubicBezTo>
                    <a:pt x="573" y="248"/>
                    <a:pt x="598" y="248"/>
                    <a:pt x="607" y="264"/>
                  </a:cubicBezTo>
                  <a:cubicBezTo>
                    <a:pt x="617" y="280"/>
                    <a:pt x="647" y="280"/>
                    <a:pt x="657" y="264"/>
                  </a:cubicBezTo>
                  <a:cubicBezTo>
                    <a:pt x="666" y="248"/>
                    <a:pt x="692" y="248"/>
                    <a:pt x="702" y="265"/>
                  </a:cubicBezTo>
                  <a:cubicBezTo>
                    <a:pt x="710" y="278"/>
                    <a:pt x="744" y="281"/>
                    <a:pt x="749" y="267"/>
                  </a:cubicBezTo>
                  <a:cubicBezTo>
                    <a:pt x="754" y="253"/>
                    <a:pt x="763" y="252"/>
                    <a:pt x="774" y="253"/>
                  </a:cubicBezTo>
                  <a:cubicBezTo>
                    <a:pt x="791" y="255"/>
                    <a:pt x="798" y="247"/>
                    <a:pt x="797" y="230"/>
                  </a:cubicBezTo>
                  <a:cubicBezTo>
                    <a:pt x="796" y="209"/>
                    <a:pt x="796" y="189"/>
                    <a:pt x="797" y="168"/>
                  </a:cubicBezTo>
                  <a:cubicBezTo>
                    <a:pt x="797" y="161"/>
                    <a:pt x="804" y="149"/>
                    <a:pt x="807" y="149"/>
                  </a:cubicBezTo>
                  <a:cubicBezTo>
                    <a:pt x="819" y="149"/>
                    <a:pt x="834" y="150"/>
                    <a:pt x="841" y="157"/>
                  </a:cubicBezTo>
                  <a:cubicBezTo>
                    <a:pt x="856" y="173"/>
                    <a:pt x="879" y="175"/>
                    <a:pt x="891" y="157"/>
                  </a:cubicBezTo>
                  <a:cubicBezTo>
                    <a:pt x="900" y="143"/>
                    <a:pt x="926" y="143"/>
                    <a:pt x="935" y="157"/>
                  </a:cubicBezTo>
                  <a:cubicBezTo>
                    <a:pt x="947" y="175"/>
                    <a:pt x="974" y="175"/>
                    <a:pt x="985" y="156"/>
                  </a:cubicBezTo>
                  <a:cubicBezTo>
                    <a:pt x="994" y="141"/>
                    <a:pt x="1007" y="146"/>
                    <a:pt x="1018" y="148"/>
                  </a:cubicBezTo>
                  <a:cubicBezTo>
                    <a:pt x="1024" y="149"/>
                    <a:pt x="1029" y="161"/>
                    <a:pt x="1030" y="169"/>
                  </a:cubicBezTo>
                  <a:cubicBezTo>
                    <a:pt x="1032" y="182"/>
                    <a:pt x="1031" y="196"/>
                    <a:pt x="1031" y="209"/>
                  </a:cubicBezTo>
                  <a:cubicBezTo>
                    <a:pt x="1030" y="223"/>
                    <a:pt x="1037" y="230"/>
                    <a:pt x="1051" y="230"/>
                  </a:cubicBezTo>
                  <a:cubicBezTo>
                    <a:pt x="1095" y="230"/>
                    <a:pt x="1139" y="230"/>
                    <a:pt x="1183" y="230"/>
                  </a:cubicBezTo>
                  <a:cubicBezTo>
                    <a:pt x="1199" y="230"/>
                    <a:pt x="1203" y="221"/>
                    <a:pt x="1203" y="207"/>
                  </a:cubicBezTo>
                  <a:cubicBezTo>
                    <a:pt x="1202" y="148"/>
                    <a:pt x="1202" y="88"/>
                    <a:pt x="1203" y="29"/>
                  </a:cubicBezTo>
                  <a:cubicBezTo>
                    <a:pt x="1203" y="22"/>
                    <a:pt x="1205" y="12"/>
                    <a:pt x="1210" y="8"/>
                  </a:cubicBezTo>
                  <a:cubicBezTo>
                    <a:pt x="1220" y="0"/>
                    <a:pt x="1234" y="8"/>
                    <a:pt x="1234" y="22"/>
                  </a:cubicBezTo>
                  <a:cubicBezTo>
                    <a:pt x="1235" y="44"/>
                    <a:pt x="1235" y="66"/>
                    <a:pt x="1234" y="88"/>
                  </a:cubicBezTo>
                  <a:cubicBezTo>
                    <a:pt x="1234" y="102"/>
                    <a:pt x="1237" y="112"/>
                    <a:pt x="1253" y="112"/>
                  </a:cubicBezTo>
                  <a:cubicBezTo>
                    <a:pt x="1270" y="112"/>
                    <a:pt x="1271" y="100"/>
                    <a:pt x="1270" y="88"/>
                  </a:cubicBezTo>
                  <a:cubicBezTo>
                    <a:pt x="1270" y="67"/>
                    <a:pt x="1271" y="45"/>
                    <a:pt x="1270" y="24"/>
                  </a:cubicBezTo>
                  <a:cubicBezTo>
                    <a:pt x="1270" y="12"/>
                    <a:pt x="1274" y="5"/>
                    <a:pt x="1288" y="5"/>
                  </a:cubicBezTo>
                  <a:cubicBezTo>
                    <a:pt x="1300" y="6"/>
                    <a:pt x="1302" y="14"/>
                    <a:pt x="1302" y="25"/>
                  </a:cubicBezTo>
                  <a:cubicBezTo>
                    <a:pt x="1302" y="47"/>
                    <a:pt x="1302" y="70"/>
                    <a:pt x="1302" y="93"/>
                  </a:cubicBezTo>
                  <a:cubicBezTo>
                    <a:pt x="1302" y="106"/>
                    <a:pt x="1308" y="113"/>
                    <a:pt x="1321" y="112"/>
                  </a:cubicBezTo>
                  <a:cubicBezTo>
                    <a:pt x="1334" y="112"/>
                    <a:pt x="1338" y="104"/>
                    <a:pt x="1338" y="93"/>
                  </a:cubicBezTo>
                  <a:cubicBezTo>
                    <a:pt x="1338" y="70"/>
                    <a:pt x="1338" y="47"/>
                    <a:pt x="1338" y="25"/>
                  </a:cubicBezTo>
                  <a:cubicBezTo>
                    <a:pt x="1338" y="14"/>
                    <a:pt x="1340" y="6"/>
                    <a:pt x="1353" y="6"/>
                  </a:cubicBezTo>
                  <a:cubicBezTo>
                    <a:pt x="1366" y="6"/>
                    <a:pt x="1367" y="15"/>
                    <a:pt x="1367" y="25"/>
                  </a:cubicBezTo>
                  <a:cubicBezTo>
                    <a:pt x="1367" y="84"/>
                    <a:pt x="1367" y="144"/>
                    <a:pt x="1367" y="203"/>
                  </a:cubicBezTo>
                  <a:cubicBezTo>
                    <a:pt x="1367" y="227"/>
                    <a:pt x="1370" y="230"/>
                    <a:pt x="1393" y="230"/>
                  </a:cubicBezTo>
                  <a:cubicBezTo>
                    <a:pt x="1514" y="230"/>
                    <a:pt x="1635" y="229"/>
                    <a:pt x="1755" y="230"/>
                  </a:cubicBezTo>
                  <a:cubicBezTo>
                    <a:pt x="1772" y="230"/>
                    <a:pt x="1780" y="224"/>
                    <a:pt x="1779" y="206"/>
                  </a:cubicBezTo>
                  <a:cubicBezTo>
                    <a:pt x="1778" y="193"/>
                    <a:pt x="1777" y="179"/>
                    <a:pt x="1779" y="166"/>
                  </a:cubicBezTo>
                  <a:cubicBezTo>
                    <a:pt x="1780" y="159"/>
                    <a:pt x="1787" y="149"/>
                    <a:pt x="1792" y="148"/>
                  </a:cubicBezTo>
                  <a:cubicBezTo>
                    <a:pt x="1803" y="147"/>
                    <a:pt x="1817" y="141"/>
                    <a:pt x="1825" y="157"/>
                  </a:cubicBezTo>
                  <a:cubicBezTo>
                    <a:pt x="1829" y="163"/>
                    <a:pt x="1839" y="168"/>
                    <a:pt x="1846" y="168"/>
                  </a:cubicBezTo>
                  <a:cubicBezTo>
                    <a:pt x="1855" y="168"/>
                    <a:pt x="1867" y="164"/>
                    <a:pt x="1873" y="158"/>
                  </a:cubicBezTo>
                  <a:cubicBezTo>
                    <a:pt x="1884" y="144"/>
                    <a:pt x="1910" y="142"/>
                    <a:pt x="1919" y="158"/>
                  </a:cubicBezTo>
                  <a:cubicBezTo>
                    <a:pt x="1928" y="174"/>
                    <a:pt x="1959" y="176"/>
                    <a:pt x="1966" y="159"/>
                  </a:cubicBezTo>
                  <a:cubicBezTo>
                    <a:pt x="1975" y="141"/>
                    <a:pt x="1990" y="146"/>
                    <a:pt x="2002" y="149"/>
                  </a:cubicBezTo>
                  <a:cubicBezTo>
                    <a:pt x="2008" y="150"/>
                    <a:pt x="2012" y="164"/>
                    <a:pt x="2013" y="172"/>
                  </a:cubicBezTo>
                  <a:cubicBezTo>
                    <a:pt x="2015" y="191"/>
                    <a:pt x="2013" y="209"/>
                    <a:pt x="2014" y="228"/>
                  </a:cubicBezTo>
                  <a:cubicBezTo>
                    <a:pt x="2015" y="247"/>
                    <a:pt x="2007" y="252"/>
                    <a:pt x="1990" y="252"/>
                  </a:cubicBezTo>
                  <a:cubicBezTo>
                    <a:pt x="1897" y="251"/>
                    <a:pt x="1804" y="252"/>
                    <a:pt x="1712" y="252"/>
                  </a:cubicBezTo>
                  <a:cubicBezTo>
                    <a:pt x="1419" y="252"/>
                    <a:pt x="1126" y="252"/>
                    <a:pt x="834" y="252"/>
                  </a:cubicBezTo>
                  <a:cubicBezTo>
                    <a:pt x="828" y="252"/>
                    <a:pt x="823" y="252"/>
                    <a:pt x="818" y="252"/>
                  </a:cubicBezTo>
                  <a:cubicBezTo>
                    <a:pt x="800" y="251"/>
                    <a:pt x="794" y="259"/>
                    <a:pt x="795" y="276"/>
                  </a:cubicBezTo>
                  <a:cubicBezTo>
                    <a:pt x="796" y="294"/>
                    <a:pt x="795" y="313"/>
                    <a:pt x="796" y="332"/>
                  </a:cubicBezTo>
                  <a:cubicBezTo>
                    <a:pt x="798" y="350"/>
                    <a:pt x="791" y="358"/>
                    <a:pt x="771" y="358"/>
                  </a:cubicBezTo>
                  <a:cubicBezTo>
                    <a:pt x="724" y="357"/>
                    <a:pt x="677" y="357"/>
                    <a:pt x="629" y="358"/>
                  </a:cubicBezTo>
                  <a:cubicBezTo>
                    <a:pt x="427" y="358"/>
                    <a:pt x="226" y="358"/>
                    <a:pt x="24" y="358"/>
                  </a:cubicBezTo>
                  <a:cubicBezTo>
                    <a:pt x="8" y="358"/>
                    <a:pt x="0" y="354"/>
                    <a:pt x="1" y="336"/>
                  </a:cubicBezTo>
                  <a:cubicBezTo>
                    <a:pt x="2" y="309"/>
                    <a:pt x="2" y="281"/>
                    <a:pt x="3" y="253"/>
                  </a:cubicBezTo>
                  <a:lnTo>
                    <a:pt x="2" y="253"/>
                  </a:lnTo>
                  <a:close/>
                </a:path>
              </a:pathLst>
            </a:custGeom>
            <a:solidFill>
              <a:srgbClr val="95BF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Freeform 31"/>
            <p:cNvSpPr>
              <a:spLocks/>
            </p:cNvSpPr>
            <p:nvPr/>
          </p:nvSpPr>
          <p:spPr bwMode="auto">
            <a:xfrm>
              <a:off x="-1437020" y="393490"/>
              <a:ext cx="3508065" cy="737922"/>
            </a:xfrm>
            <a:custGeom>
              <a:avLst/>
              <a:gdLst>
                <a:gd name="T0" fmla="*/ 1218 w 1218"/>
                <a:gd name="T1" fmla="*/ 248 h 248"/>
                <a:gd name="T2" fmla="*/ 660 w 1218"/>
                <a:gd name="T3" fmla="*/ 247 h 248"/>
                <a:gd name="T4" fmla="*/ 24 w 1218"/>
                <a:gd name="T5" fmla="*/ 247 h 248"/>
                <a:gd name="T6" fmla="*/ 1 w 1218"/>
                <a:gd name="T7" fmla="*/ 225 h 248"/>
                <a:gd name="T8" fmla="*/ 2 w 1218"/>
                <a:gd name="T9" fmla="*/ 161 h 248"/>
                <a:gd name="T10" fmla="*/ 12 w 1218"/>
                <a:gd name="T11" fmla="*/ 143 h 248"/>
                <a:gd name="T12" fmla="*/ 44 w 1218"/>
                <a:gd name="T13" fmla="*/ 151 h 248"/>
                <a:gd name="T14" fmla="*/ 96 w 1218"/>
                <a:gd name="T15" fmla="*/ 150 h 248"/>
                <a:gd name="T16" fmla="*/ 139 w 1218"/>
                <a:gd name="T17" fmla="*/ 151 h 248"/>
                <a:gd name="T18" fmla="*/ 187 w 1218"/>
                <a:gd name="T19" fmla="*/ 152 h 248"/>
                <a:gd name="T20" fmla="*/ 220 w 1218"/>
                <a:gd name="T21" fmla="*/ 144 h 248"/>
                <a:gd name="T22" fmla="*/ 231 w 1218"/>
                <a:gd name="T23" fmla="*/ 163 h 248"/>
                <a:gd name="T24" fmla="*/ 231 w 1218"/>
                <a:gd name="T25" fmla="*/ 195 h 248"/>
                <a:gd name="T26" fmla="*/ 260 w 1218"/>
                <a:gd name="T27" fmla="*/ 225 h 248"/>
                <a:gd name="T28" fmla="*/ 462 w 1218"/>
                <a:gd name="T29" fmla="*/ 225 h 248"/>
                <a:gd name="T30" fmla="*/ 614 w 1218"/>
                <a:gd name="T31" fmla="*/ 225 h 248"/>
                <a:gd name="T32" fmla="*/ 642 w 1218"/>
                <a:gd name="T33" fmla="*/ 197 h 248"/>
                <a:gd name="T34" fmla="*/ 642 w 1218"/>
                <a:gd name="T35" fmla="*/ 23 h 248"/>
                <a:gd name="T36" fmla="*/ 658 w 1218"/>
                <a:gd name="T37" fmla="*/ 1 h 248"/>
                <a:gd name="T38" fmla="*/ 676 w 1218"/>
                <a:gd name="T39" fmla="*/ 18 h 248"/>
                <a:gd name="T40" fmla="*/ 676 w 1218"/>
                <a:gd name="T41" fmla="*/ 88 h 248"/>
                <a:gd name="T42" fmla="*/ 693 w 1218"/>
                <a:gd name="T43" fmla="*/ 107 h 248"/>
                <a:gd name="T44" fmla="*/ 712 w 1218"/>
                <a:gd name="T45" fmla="*/ 88 h 248"/>
                <a:gd name="T46" fmla="*/ 711 w 1218"/>
                <a:gd name="T47" fmla="*/ 20 h 248"/>
                <a:gd name="T48" fmla="*/ 728 w 1218"/>
                <a:gd name="T49" fmla="*/ 1 h 248"/>
                <a:gd name="T50" fmla="*/ 743 w 1218"/>
                <a:gd name="T51" fmla="*/ 21 h 248"/>
                <a:gd name="T52" fmla="*/ 743 w 1218"/>
                <a:gd name="T53" fmla="*/ 85 h 248"/>
                <a:gd name="T54" fmla="*/ 760 w 1218"/>
                <a:gd name="T55" fmla="*/ 107 h 248"/>
                <a:gd name="T56" fmla="*/ 779 w 1218"/>
                <a:gd name="T57" fmla="*/ 85 h 248"/>
                <a:gd name="T58" fmla="*/ 778 w 1218"/>
                <a:gd name="T59" fmla="*/ 19 h 248"/>
                <a:gd name="T60" fmla="*/ 795 w 1218"/>
                <a:gd name="T61" fmla="*/ 0 h 248"/>
                <a:gd name="T62" fmla="*/ 812 w 1218"/>
                <a:gd name="T63" fmla="*/ 20 h 248"/>
                <a:gd name="T64" fmla="*/ 812 w 1218"/>
                <a:gd name="T65" fmla="*/ 198 h 248"/>
                <a:gd name="T66" fmla="*/ 838 w 1218"/>
                <a:gd name="T67" fmla="*/ 224 h 248"/>
                <a:gd name="T68" fmla="*/ 956 w 1218"/>
                <a:gd name="T69" fmla="*/ 225 h 248"/>
                <a:gd name="T70" fmla="*/ 984 w 1218"/>
                <a:gd name="T71" fmla="*/ 197 h 248"/>
                <a:gd name="T72" fmla="*/ 984 w 1218"/>
                <a:gd name="T73" fmla="*/ 163 h 248"/>
                <a:gd name="T74" fmla="*/ 995 w 1218"/>
                <a:gd name="T75" fmla="*/ 144 h 248"/>
                <a:gd name="T76" fmla="*/ 1027 w 1218"/>
                <a:gd name="T77" fmla="*/ 152 h 248"/>
                <a:gd name="T78" fmla="*/ 1075 w 1218"/>
                <a:gd name="T79" fmla="*/ 151 h 248"/>
                <a:gd name="T80" fmla="*/ 1119 w 1218"/>
                <a:gd name="T81" fmla="*/ 152 h 248"/>
                <a:gd name="T82" fmla="*/ 1170 w 1218"/>
                <a:gd name="T83" fmla="*/ 152 h 248"/>
                <a:gd name="T84" fmla="*/ 1203 w 1218"/>
                <a:gd name="T85" fmla="*/ 143 h 248"/>
                <a:gd name="T86" fmla="*/ 1214 w 1218"/>
                <a:gd name="T87" fmla="*/ 165 h 248"/>
                <a:gd name="T88" fmla="*/ 1217 w 1218"/>
                <a:gd name="T89" fmla="*/ 248 h 248"/>
                <a:gd name="T90" fmla="*/ 1218 w 1218"/>
                <a:gd name="T9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18" h="248">
                  <a:moveTo>
                    <a:pt x="1218" y="248"/>
                  </a:moveTo>
                  <a:cubicBezTo>
                    <a:pt x="1032" y="247"/>
                    <a:pt x="846" y="247"/>
                    <a:pt x="660" y="247"/>
                  </a:cubicBezTo>
                  <a:cubicBezTo>
                    <a:pt x="448" y="247"/>
                    <a:pt x="236" y="247"/>
                    <a:pt x="24" y="247"/>
                  </a:cubicBezTo>
                  <a:cubicBezTo>
                    <a:pt x="8" y="247"/>
                    <a:pt x="0" y="242"/>
                    <a:pt x="1" y="225"/>
                  </a:cubicBezTo>
                  <a:cubicBezTo>
                    <a:pt x="2" y="204"/>
                    <a:pt x="1" y="183"/>
                    <a:pt x="2" y="161"/>
                  </a:cubicBezTo>
                  <a:cubicBezTo>
                    <a:pt x="2" y="155"/>
                    <a:pt x="8" y="143"/>
                    <a:pt x="12" y="143"/>
                  </a:cubicBezTo>
                  <a:cubicBezTo>
                    <a:pt x="23" y="143"/>
                    <a:pt x="38" y="144"/>
                    <a:pt x="44" y="151"/>
                  </a:cubicBezTo>
                  <a:cubicBezTo>
                    <a:pt x="61" y="170"/>
                    <a:pt x="82" y="171"/>
                    <a:pt x="96" y="150"/>
                  </a:cubicBezTo>
                  <a:cubicBezTo>
                    <a:pt x="104" y="138"/>
                    <a:pt x="130" y="138"/>
                    <a:pt x="139" y="151"/>
                  </a:cubicBezTo>
                  <a:cubicBezTo>
                    <a:pt x="152" y="170"/>
                    <a:pt x="172" y="168"/>
                    <a:pt x="187" y="152"/>
                  </a:cubicBezTo>
                  <a:cubicBezTo>
                    <a:pt x="194" y="145"/>
                    <a:pt x="209" y="144"/>
                    <a:pt x="220" y="144"/>
                  </a:cubicBezTo>
                  <a:cubicBezTo>
                    <a:pt x="224" y="144"/>
                    <a:pt x="230" y="156"/>
                    <a:pt x="231" y="163"/>
                  </a:cubicBezTo>
                  <a:cubicBezTo>
                    <a:pt x="233" y="174"/>
                    <a:pt x="231" y="184"/>
                    <a:pt x="231" y="195"/>
                  </a:cubicBezTo>
                  <a:cubicBezTo>
                    <a:pt x="230" y="222"/>
                    <a:pt x="233" y="225"/>
                    <a:pt x="260" y="225"/>
                  </a:cubicBezTo>
                  <a:cubicBezTo>
                    <a:pt x="328" y="225"/>
                    <a:pt x="395" y="225"/>
                    <a:pt x="462" y="225"/>
                  </a:cubicBezTo>
                  <a:cubicBezTo>
                    <a:pt x="513" y="225"/>
                    <a:pt x="564" y="225"/>
                    <a:pt x="614" y="225"/>
                  </a:cubicBezTo>
                  <a:cubicBezTo>
                    <a:pt x="639" y="225"/>
                    <a:pt x="642" y="222"/>
                    <a:pt x="642" y="197"/>
                  </a:cubicBezTo>
                  <a:cubicBezTo>
                    <a:pt x="642" y="139"/>
                    <a:pt x="642" y="81"/>
                    <a:pt x="642" y="23"/>
                  </a:cubicBezTo>
                  <a:cubicBezTo>
                    <a:pt x="642" y="12"/>
                    <a:pt x="642" y="1"/>
                    <a:pt x="658" y="1"/>
                  </a:cubicBezTo>
                  <a:cubicBezTo>
                    <a:pt x="669" y="0"/>
                    <a:pt x="677" y="4"/>
                    <a:pt x="676" y="18"/>
                  </a:cubicBezTo>
                  <a:cubicBezTo>
                    <a:pt x="676" y="41"/>
                    <a:pt x="677" y="64"/>
                    <a:pt x="676" y="88"/>
                  </a:cubicBezTo>
                  <a:cubicBezTo>
                    <a:pt x="676" y="100"/>
                    <a:pt x="681" y="106"/>
                    <a:pt x="693" y="107"/>
                  </a:cubicBezTo>
                  <a:cubicBezTo>
                    <a:pt x="706" y="107"/>
                    <a:pt x="712" y="101"/>
                    <a:pt x="712" y="88"/>
                  </a:cubicBezTo>
                  <a:cubicBezTo>
                    <a:pt x="712" y="66"/>
                    <a:pt x="712" y="43"/>
                    <a:pt x="711" y="20"/>
                  </a:cubicBezTo>
                  <a:cubicBezTo>
                    <a:pt x="711" y="9"/>
                    <a:pt x="714" y="0"/>
                    <a:pt x="728" y="1"/>
                  </a:cubicBezTo>
                  <a:cubicBezTo>
                    <a:pt x="741" y="1"/>
                    <a:pt x="744" y="10"/>
                    <a:pt x="743" y="21"/>
                  </a:cubicBezTo>
                  <a:cubicBezTo>
                    <a:pt x="743" y="42"/>
                    <a:pt x="744" y="64"/>
                    <a:pt x="743" y="85"/>
                  </a:cubicBezTo>
                  <a:cubicBezTo>
                    <a:pt x="742" y="98"/>
                    <a:pt x="745" y="106"/>
                    <a:pt x="760" y="107"/>
                  </a:cubicBezTo>
                  <a:cubicBezTo>
                    <a:pt x="774" y="107"/>
                    <a:pt x="780" y="99"/>
                    <a:pt x="779" y="85"/>
                  </a:cubicBezTo>
                  <a:cubicBezTo>
                    <a:pt x="779" y="63"/>
                    <a:pt x="779" y="41"/>
                    <a:pt x="778" y="19"/>
                  </a:cubicBezTo>
                  <a:cubicBezTo>
                    <a:pt x="778" y="7"/>
                    <a:pt x="782" y="0"/>
                    <a:pt x="795" y="0"/>
                  </a:cubicBezTo>
                  <a:cubicBezTo>
                    <a:pt x="808" y="1"/>
                    <a:pt x="812" y="8"/>
                    <a:pt x="812" y="20"/>
                  </a:cubicBezTo>
                  <a:cubicBezTo>
                    <a:pt x="812" y="79"/>
                    <a:pt x="812" y="139"/>
                    <a:pt x="812" y="198"/>
                  </a:cubicBezTo>
                  <a:cubicBezTo>
                    <a:pt x="812" y="222"/>
                    <a:pt x="815" y="224"/>
                    <a:pt x="838" y="224"/>
                  </a:cubicBezTo>
                  <a:cubicBezTo>
                    <a:pt x="878" y="225"/>
                    <a:pt x="917" y="225"/>
                    <a:pt x="956" y="225"/>
                  </a:cubicBezTo>
                  <a:cubicBezTo>
                    <a:pt x="980" y="225"/>
                    <a:pt x="984" y="221"/>
                    <a:pt x="984" y="197"/>
                  </a:cubicBezTo>
                  <a:cubicBezTo>
                    <a:pt x="984" y="185"/>
                    <a:pt x="983" y="174"/>
                    <a:pt x="984" y="163"/>
                  </a:cubicBezTo>
                  <a:cubicBezTo>
                    <a:pt x="986" y="156"/>
                    <a:pt x="991" y="144"/>
                    <a:pt x="995" y="144"/>
                  </a:cubicBezTo>
                  <a:cubicBezTo>
                    <a:pt x="1006" y="144"/>
                    <a:pt x="1020" y="145"/>
                    <a:pt x="1027" y="152"/>
                  </a:cubicBezTo>
                  <a:cubicBezTo>
                    <a:pt x="1041" y="168"/>
                    <a:pt x="1062" y="170"/>
                    <a:pt x="1075" y="151"/>
                  </a:cubicBezTo>
                  <a:cubicBezTo>
                    <a:pt x="1084" y="138"/>
                    <a:pt x="1110" y="138"/>
                    <a:pt x="1119" y="152"/>
                  </a:cubicBezTo>
                  <a:cubicBezTo>
                    <a:pt x="1131" y="170"/>
                    <a:pt x="1156" y="168"/>
                    <a:pt x="1170" y="152"/>
                  </a:cubicBezTo>
                  <a:cubicBezTo>
                    <a:pt x="1176" y="145"/>
                    <a:pt x="1191" y="143"/>
                    <a:pt x="1203" y="143"/>
                  </a:cubicBezTo>
                  <a:cubicBezTo>
                    <a:pt x="1216" y="143"/>
                    <a:pt x="1213" y="155"/>
                    <a:pt x="1214" y="165"/>
                  </a:cubicBezTo>
                  <a:cubicBezTo>
                    <a:pt x="1214" y="192"/>
                    <a:pt x="1216" y="220"/>
                    <a:pt x="1217" y="248"/>
                  </a:cubicBezTo>
                  <a:cubicBezTo>
                    <a:pt x="1217" y="248"/>
                    <a:pt x="1218" y="248"/>
                    <a:pt x="1218" y="248"/>
                  </a:cubicBezTo>
                  <a:close/>
                </a:path>
              </a:pathLst>
            </a:custGeom>
            <a:solidFill>
              <a:srgbClr val="95BF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Freeform 32"/>
            <p:cNvSpPr>
              <a:spLocks/>
            </p:cNvSpPr>
            <p:nvPr/>
          </p:nvSpPr>
          <p:spPr bwMode="auto">
            <a:xfrm>
              <a:off x="1002896" y="393490"/>
              <a:ext cx="1497360" cy="348148"/>
            </a:xfrm>
            <a:custGeom>
              <a:avLst/>
              <a:gdLst>
                <a:gd name="T0" fmla="*/ 260 w 520"/>
                <a:gd name="T1" fmla="*/ 1 h 117"/>
                <a:gd name="T2" fmla="*/ 496 w 520"/>
                <a:gd name="T3" fmla="*/ 0 h 117"/>
                <a:gd name="T4" fmla="*/ 519 w 520"/>
                <a:gd name="T5" fmla="*/ 23 h 117"/>
                <a:gd name="T6" fmla="*/ 518 w 520"/>
                <a:gd name="T7" fmla="*/ 93 h 117"/>
                <a:gd name="T8" fmla="*/ 506 w 520"/>
                <a:gd name="T9" fmla="*/ 114 h 117"/>
                <a:gd name="T10" fmla="*/ 474 w 520"/>
                <a:gd name="T11" fmla="*/ 101 h 117"/>
                <a:gd name="T12" fmla="*/ 360 w 520"/>
                <a:gd name="T13" fmla="*/ 74 h 117"/>
                <a:gd name="T14" fmla="*/ 348 w 520"/>
                <a:gd name="T15" fmla="*/ 92 h 117"/>
                <a:gd name="T16" fmla="*/ 335 w 520"/>
                <a:gd name="T17" fmla="*/ 112 h 117"/>
                <a:gd name="T18" fmla="*/ 321 w 520"/>
                <a:gd name="T19" fmla="*/ 92 h 117"/>
                <a:gd name="T20" fmla="*/ 265 w 520"/>
                <a:gd name="T21" fmla="*/ 53 h 117"/>
                <a:gd name="T22" fmla="*/ 202 w 520"/>
                <a:gd name="T23" fmla="*/ 82 h 117"/>
                <a:gd name="T24" fmla="*/ 194 w 520"/>
                <a:gd name="T25" fmla="*/ 100 h 117"/>
                <a:gd name="T26" fmla="*/ 183 w 520"/>
                <a:gd name="T27" fmla="*/ 112 h 117"/>
                <a:gd name="T28" fmla="*/ 172 w 520"/>
                <a:gd name="T29" fmla="*/ 100 h 117"/>
                <a:gd name="T30" fmla="*/ 61 w 520"/>
                <a:gd name="T31" fmla="*/ 72 h 117"/>
                <a:gd name="T32" fmla="*/ 42 w 520"/>
                <a:gd name="T33" fmla="*/ 100 h 117"/>
                <a:gd name="T34" fmla="*/ 14 w 520"/>
                <a:gd name="T35" fmla="*/ 113 h 117"/>
                <a:gd name="T36" fmla="*/ 1 w 520"/>
                <a:gd name="T37" fmla="*/ 93 h 117"/>
                <a:gd name="T38" fmla="*/ 1 w 520"/>
                <a:gd name="T39" fmla="*/ 27 h 117"/>
                <a:gd name="T40" fmla="*/ 26 w 520"/>
                <a:gd name="T41" fmla="*/ 1 h 117"/>
                <a:gd name="T42" fmla="*/ 260 w 520"/>
                <a:gd name="T43" fmla="*/ 1 h 117"/>
                <a:gd name="T44" fmla="*/ 260 w 520"/>
                <a:gd name="T45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117">
                  <a:moveTo>
                    <a:pt x="260" y="1"/>
                  </a:moveTo>
                  <a:cubicBezTo>
                    <a:pt x="338" y="1"/>
                    <a:pt x="417" y="1"/>
                    <a:pt x="496" y="0"/>
                  </a:cubicBezTo>
                  <a:cubicBezTo>
                    <a:pt x="513" y="0"/>
                    <a:pt x="520" y="6"/>
                    <a:pt x="519" y="23"/>
                  </a:cubicBezTo>
                  <a:cubicBezTo>
                    <a:pt x="518" y="47"/>
                    <a:pt x="518" y="70"/>
                    <a:pt x="518" y="93"/>
                  </a:cubicBezTo>
                  <a:cubicBezTo>
                    <a:pt x="518" y="103"/>
                    <a:pt x="520" y="114"/>
                    <a:pt x="506" y="114"/>
                  </a:cubicBezTo>
                  <a:cubicBezTo>
                    <a:pt x="494" y="114"/>
                    <a:pt x="480" y="117"/>
                    <a:pt x="474" y="101"/>
                  </a:cubicBezTo>
                  <a:cubicBezTo>
                    <a:pt x="456" y="50"/>
                    <a:pt x="397" y="37"/>
                    <a:pt x="360" y="74"/>
                  </a:cubicBezTo>
                  <a:cubicBezTo>
                    <a:pt x="355" y="79"/>
                    <a:pt x="352" y="86"/>
                    <a:pt x="348" y="92"/>
                  </a:cubicBezTo>
                  <a:cubicBezTo>
                    <a:pt x="343" y="99"/>
                    <a:pt x="339" y="105"/>
                    <a:pt x="335" y="112"/>
                  </a:cubicBezTo>
                  <a:cubicBezTo>
                    <a:pt x="330" y="106"/>
                    <a:pt x="325" y="99"/>
                    <a:pt x="321" y="92"/>
                  </a:cubicBezTo>
                  <a:cubicBezTo>
                    <a:pt x="310" y="69"/>
                    <a:pt x="290" y="56"/>
                    <a:pt x="265" y="53"/>
                  </a:cubicBezTo>
                  <a:cubicBezTo>
                    <a:pt x="239" y="51"/>
                    <a:pt x="218" y="61"/>
                    <a:pt x="202" y="82"/>
                  </a:cubicBezTo>
                  <a:cubicBezTo>
                    <a:pt x="199" y="87"/>
                    <a:pt x="198" y="94"/>
                    <a:pt x="194" y="100"/>
                  </a:cubicBezTo>
                  <a:cubicBezTo>
                    <a:pt x="191" y="104"/>
                    <a:pt x="187" y="108"/>
                    <a:pt x="183" y="112"/>
                  </a:cubicBezTo>
                  <a:cubicBezTo>
                    <a:pt x="179" y="108"/>
                    <a:pt x="174" y="104"/>
                    <a:pt x="172" y="100"/>
                  </a:cubicBezTo>
                  <a:cubicBezTo>
                    <a:pt x="155" y="52"/>
                    <a:pt x="98" y="37"/>
                    <a:pt x="61" y="72"/>
                  </a:cubicBezTo>
                  <a:cubicBezTo>
                    <a:pt x="53" y="79"/>
                    <a:pt x="46" y="90"/>
                    <a:pt x="42" y="100"/>
                  </a:cubicBezTo>
                  <a:cubicBezTo>
                    <a:pt x="37" y="115"/>
                    <a:pt x="25" y="117"/>
                    <a:pt x="14" y="113"/>
                  </a:cubicBezTo>
                  <a:cubicBezTo>
                    <a:pt x="8" y="111"/>
                    <a:pt x="2" y="100"/>
                    <a:pt x="1" y="93"/>
                  </a:cubicBezTo>
                  <a:cubicBezTo>
                    <a:pt x="0" y="71"/>
                    <a:pt x="1" y="49"/>
                    <a:pt x="1" y="27"/>
                  </a:cubicBezTo>
                  <a:cubicBezTo>
                    <a:pt x="0" y="2"/>
                    <a:pt x="2" y="1"/>
                    <a:pt x="26" y="1"/>
                  </a:cubicBezTo>
                  <a:cubicBezTo>
                    <a:pt x="104" y="1"/>
                    <a:pt x="182" y="1"/>
                    <a:pt x="260" y="1"/>
                  </a:cubicBezTo>
                  <a:cubicBezTo>
                    <a:pt x="260" y="1"/>
                    <a:pt x="260" y="1"/>
                    <a:pt x="260" y="1"/>
                  </a:cubicBezTo>
                  <a:close/>
                </a:path>
              </a:pathLst>
            </a:custGeom>
            <a:solidFill>
              <a:srgbClr val="95BF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30" name="Freeform 33"/>
            <p:cNvSpPr>
              <a:spLocks/>
            </p:cNvSpPr>
            <p:nvPr/>
          </p:nvSpPr>
          <p:spPr bwMode="auto">
            <a:xfrm>
              <a:off x="3919577" y="393490"/>
              <a:ext cx="1507114" cy="345625"/>
            </a:xfrm>
            <a:custGeom>
              <a:avLst/>
              <a:gdLst>
                <a:gd name="T0" fmla="*/ 262 w 523"/>
                <a:gd name="T1" fmla="*/ 1 h 116"/>
                <a:gd name="T2" fmla="*/ 496 w 523"/>
                <a:gd name="T3" fmla="*/ 0 h 116"/>
                <a:gd name="T4" fmla="*/ 522 w 523"/>
                <a:gd name="T5" fmla="*/ 25 h 116"/>
                <a:gd name="T6" fmla="*/ 521 w 523"/>
                <a:gd name="T7" fmla="*/ 91 h 116"/>
                <a:gd name="T8" fmla="*/ 508 w 523"/>
                <a:gd name="T9" fmla="*/ 114 h 116"/>
                <a:gd name="T10" fmla="*/ 478 w 523"/>
                <a:gd name="T11" fmla="*/ 99 h 116"/>
                <a:gd name="T12" fmla="*/ 360 w 523"/>
                <a:gd name="T13" fmla="*/ 78 h 116"/>
                <a:gd name="T14" fmla="*/ 347 w 523"/>
                <a:gd name="T15" fmla="*/ 102 h 116"/>
                <a:gd name="T16" fmla="*/ 338 w 523"/>
                <a:gd name="T17" fmla="*/ 112 h 116"/>
                <a:gd name="T18" fmla="*/ 328 w 523"/>
                <a:gd name="T19" fmla="*/ 101 h 116"/>
                <a:gd name="T20" fmla="*/ 262 w 523"/>
                <a:gd name="T21" fmla="*/ 53 h 116"/>
                <a:gd name="T22" fmla="*/ 197 w 523"/>
                <a:gd name="T23" fmla="*/ 102 h 116"/>
                <a:gd name="T24" fmla="*/ 188 w 523"/>
                <a:gd name="T25" fmla="*/ 112 h 116"/>
                <a:gd name="T26" fmla="*/ 176 w 523"/>
                <a:gd name="T27" fmla="*/ 98 h 116"/>
                <a:gd name="T28" fmla="*/ 66 w 523"/>
                <a:gd name="T29" fmla="*/ 71 h 116"/>
                <a:gd name="T30" fmla="*/ 47 w 523"/>
                <a:gd name="T31" fmla="*/ 98 h 116"/>
                <a:gd name="T32" fmla="*/ 16 w 523"/>
                <a:gd name="T33" fmla="*/ 114 h 116"/>
                <a:gd name="T34" fmla="*/ 3 w 523"/>
                <a:gd name="T35" fmla="*/ 89 h 116"/>
                <a:gd name="T36" fmla="*/ 3 w 523"/>
                <a:gd name="T37" fmla="*/ 25 h 116"/>
                <a:gd name="T38" fmla="*/ 27 w 523"/>
                <a:gd name="T39" fmla="*/ 0 h 116"/>
                <a:gd name="T40" fmla="*/ 262 w 523"/>
                <a:gd name="T41" fmla="*/ 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23" h="116">
                  <a:moveTo>
                    <a:pt x="262" y="1"/>
                  </a:moveTo>
                  <a:cubicBezTo>
                    <a:pt x="340" y="1"/>
                    <a:pt x="418" y="1"/>
                    <a:pt x="496" y="0"/>
                  </a:cubicBezTo>
                  <a:cubicBezTo>
                    <a:pt x="515" y="0"/>
                    <a:pt x="523" y="5"/>
                    <a:pt x="522" y="25"/>
                  </a:cubicBezTo>
                  <a:cubicBezTo>
                    <a:pt x="520" y="47"/>
                    <a:pt x="521" y="69"/>
                    <a:pt x="521" y="91"/>
                  </a:cubicBezTo>
                  <a:cubicBezTo>
                    <a:pt x="521" y="101"/>
                    <a:pt x="523" y="113"/>
                    <a:pt x="508" y="114"/>
                  </a:cubicBezTo>
                  <a:cubicBezTo>
                    <a:pt x="495" y="115"/>
                    <a:pt x="484" y="116"/>
                    <a:pt x="478" y="99"/>
                  </a:cubicBezTo>
                  <a:cubicBezTo>
                    <a:pt x="460" y="48"/>
                    <a:pt x="394" y="37"/>
                    <a:pt x="360" y="78"/>
                  </a:cubicBezTo>
                  <a:cubicBezTo>
                    <a:pt x="354" y="85"/>
                    <a:pt x="351" y="94"/>
                    <a:pt x="347" y="102"/>
                  </a:cubicBezTo>
                  <a:cubicBezTo>
                    <a:pt x="345" y="106"/>
                    <a:pt x="341" y="108"/>
                    <a:pt x="338" y="112"/>
                  </a:cubicBezTo>
                  <a:cubicBezTo>
                    <a:pt x="334" y="108"/>
                    <a:pt x="330" y="105"/>
                    <a:pt x="328" y="101"/>
                  </a:cubicBezTo>
                  <a:cubicBezTo>
                    <a:pt x="316" y="70"/>
                    <a:pt x="292" y="53"/>
                    <a:pt x="262" y="53"/>
                  </a:cubicBezTo>
                  <a:cubicBezTo>
                    <a:pt x="232" y="53"/>
                    <a:pt x="209" y="71"/>
                    <a:pt x="197" y="102"/>
                  </a:cubicBezTo>
                  <a:cubicBezTo>
                    <a:pt x="195" y="105"/>
                    <a:pt x="191" y="108"/>
                    <a:pt x="188" y="112"/>
                  </a:cubicBezTo>
                  <a:cubicBezTo>
                    <a:pt x="184" y="107"/>
                    <a:pt x="178" y="103"/>
                    <a:pt x="176" y="98"/>
                  </a:cubicBezTo>
                  <a:cubicBezTo>
                    <a:pt x="156" y="52"/>
                    <a:pt x="105" y="38"/>
                    <a:pt x="66" y="71"/>
                  </a:cubicBezTo>
                  <a:cubicBezTo>
                    <a:pt x="58" y="77"/>
                    <a:pt x="51" y="88"/>
                    <a:pt x="47" y="98"/>
                  </a:cubicBezTo>
                  <a:cubicBezTo>
                    <a:pt x="42" y="115"/>
                    <a:pt x="30" y="116"/>
                    <a:pt x="16" y="114"/>
                  </a:cubicBezTo>
                  <a:cubicBezTo>
                    <a:pt x="0" y="111"/>
                    <a:pt x="3" y="99"/>
                    <a:pt x="3" y="89"/>
                  </a:cubicBezTo>
                  <a:cubicBezTo>
                    <a:pt x="3" y="67"/>
                    <a:pt x="5" y="46"/>
                    <a:pt x="3" y="25"/>
                  </a:cubicBezTo>
                  <a:cubicBezTo>
                    <a:pt x="1" y="6"/>
                    <a:pt x="8" y="0"/>
                    <a:pt x="27" y="0"/>
                  </a:cubicBezTo>
                  <a:cubicBezTo>
                    <a:pt x="105" y="1"/>
                    <a:pt x="184" y="1"/>
                    <a:pt x="262" y="1"/>
                  </a:cubicBezTo>
                  <a:close/>
                </a:path>
              </a:pathLst>
            </a:custGeom>
            <a:solidFill>
              <a:srgbClr val="95BF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Freeform 34"/>
            <p:cNvSpPr>
              <a:spLocks/>
            </p:cNvSpPr>
            <p:nvPr/>
          </p:nvSpPr>
          <p:spPr bwMode="auto">
            <a:xfrm>
              <a:off x="2773389" y="-1290484"/>
              <a:ext cx="873053" cy="724046"/>
            </a:xfrm>
            <a:custGeom>
              <a:avLst/>
              <a:gdLst>
                <a:gd name="T0" fmla="*/ 152 w 303"/>
                <a:gd name="T1" fmla="*/ 0 h 243"/>
                <a:gd name="T2" fmla="*/ 161 w 303"/>
                <a:gd name="T3" fmla="*/ 12 h 243"/>
                <a:gd name="T4" fmla="*/ 252 w 303"/>
                <a:gd name="T5" fmla="*/ 193 h 243"/>
                <a:gd name="T6" fmla="*/ 290 w 303"/>
                <a:gd name="T7" fmla="*/ 221 h 243"/>
                <a:gd name="T8" fmla="*/ 303 w 303"/>
                <a:gd name="T9" fmla="*/ 231 h 243"/>
                <a:gd name="T10" fmla="*/ 287 w 303"/>
                <a:gd name="T11" fmla="*/ 241 h 243"/>
                <a:gd name="T12" fmla="*/ 155 w 303"/>
                <a:gd name="T13" fmla="*/ 242 h 243"/>
                <a:gd name="T14" fmla="*/ 23 w 303"/>
                <a:gd name="T15" fmla="*/ 242 h 243"/>
                <a:gd name="T16" fmla="*/ 11 w 303"/>
                <a:gd name="T17" fmla="*/ 241 h 243"/>
                <a:gd name="T18" fmla="*/ 0 w 303"/>
                <a:gd name="T19" fmla="*/ 232 h 243"/>
                <a:gd name="T20" fmla="*/ 11 w 303"/>
                <a:gd name="T21" fmla="*/ 222 h 243"/>
                <a:gd name="T22" fmla="*/ 54 w 303"/>
                <a:gd name="T23" fmla="*/ 188 h 243"/>
                <a:gd name="T24" fmla="*/ 142 w 303"/>
                <a:gd name="T25" fmla="*/ 13 h 243"/>
                <a:gd name="T26" fmla="*/ 152 w 303"/>
                <a:gd name="T27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3" h="243">
                  <a:moveTo>
                    <a:pt x="152" y="0"/>
                  </a:moveTo>
                  <a:cubicBezTo>
                    <a:pt x="156" y="5"/>
                    <a:pt x="159" y="9"/>
                    <a:pt x="161" y="12"/>
                  </a:cubicBezTo>
                  <a:cubicBezTo>
                    <a:pt x="192" y="73"/>
                    <a:pt x="222" y="133"/>
                    <a:pt x="252" y="193"/>
                  </a:cubicBezTo>
                  <a:cubicBezTo>
                    <a:pt x="260" y="209"/>
                    <a:pt x="268" y="223"/>
                    <a:pt x="290" y="221"/>
                  </a:cubicBezTo>
                  <a:cubicBezTo>
                    <a:pt x="294" y="221"/>
                    <a:pt x="298" y="228"/>
                    <a:pt x="303" y="231"/>
                  </a:cubicBezTo>
                  <a:cubicBezTo>
                    <a:pt x="297" y="234"/>
                    <a:pt x="292" y="241"/>
                    <a:pt x="287" y="241"/>
                  </a:cubicBezTo>
                  <a:cubicBezTo>
                    <a:pt x="243" y="242"/>
                    <a:pt x="199" y="242"/>
                    <a:pt x="155" y="242"/>
                  </a:cubicBezTo>
                  <a:cubicBezTo>
                    <a:pt x="111" y="242"/>
                    <a:pt x="67" y="242"/>
                    <a:pt x="23" y="242"/>
                  </a:cubicBezTo>
                  <a:cubicBezTo>
                    <a:pt x="19" y="242"/>
                    <a:pt x="14" y="243"/>
                    <a:pt x="11" y="241"/>
                  </a:cubicBezTo>
                  <a:cubicBezTo>
                    <a:pt x="7" y="239"/>
                    <a:pt x="3" y="235"/>
                    <a:pt x="0" y="232"/>
                  </a:cubicBezTo>
                  <a:cubicBezTo>
                    <a:pt x="4" y="228"/>
                    <a:pt x="8" y="221"/>
                    <a:pt x="11" y="222"/>
                  </a:cubicBezTo>
                  <a:cubicBezTo>
                    <a:pt x="37" y="225"/>
                    <a:pt x="45" y="207"/>
                    <a:pt x="54" y="188"/>
                  </a:cubicBezTo>
                  <a:cubicBezTo>
                    <a:pt x="83" y="129"/>
                    <a:pt x="112" y="71"/>
                    <a:pt x="142" y="13"/>
                  </a:cubicBezTo>
                  <a:cubicBezTo>
                    <a:pt x="144" y="9"/>
                    <a:pt x="148" y="5"/>
                    <a:pt x="152" y="0"/>
                  </a:cubicBezTo>
                  <a:close/>
                </a:path>
              </a:pathLst>
            </a:custGeom>
            <a:solidFill>
              <a:srgbClr val="D8B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32" name="Freeform 35"/>
            <p:cNvSpPr>
              <a:spLocks/>
            </p:cNvSpPr>
            <p:nvPr/>
          </p:nvSpPr>
          <p:spPr bwMode="auto">
            <a:xfrm>
              <a:off x="2768512" y="-512198"/>
              <a:ext cx="880369" cy="348148"/>
            </a:xfrm>
            <a:custGeom>
              <a:avLst/>
              <a:gdLst>
                <a:gd name="T0" fmla="*/ 151 w 306"/>
                <a:gd name="T1" fmla="*/ 117 h 117"/>
                <a:gd name="T2" fmla="*/ 23 w 306"/>
                <a:gd name="T3" fmla="*/ 117 h 117"/>
                <a:gd name="T4" fmla="*/ 1 w 306"/>
                <a:gd name="T5" fmla="*/ 94 h 117"/>
                <a:gd name="T6" fmla="*/ 2 w 306"/>
                <a:gd name="T7" fmla="*/ 23 h 117"/>
                <a:gd name="T8" fmla="*/ 13 w 306"/>
                <a:gd name="T9" fmla="*/ 6 h 117"/>
                <a:gd name="T10" fmla="*/ 33 w 306"/>
                <a:gd name="T11" fmla="*/ 16 h 117"/>
                <a:gd name="T12" fmla="*/ 54 w 306"/>
                <a:gd name="T13" fmla="*/ 28 h 117"/>
                <a:gd name="T14" fmla="*/ 68 w 306"/>
                <a:gd name="T15" fmla="*/ 15 h 117"/>
                <a:gd name="T16" fmla="*/ 82 w 306"/>
                <a:gd name="T17" fmla="*/ 5 h 117"/>
                <a:gd name="T18" fmla="*/ 100 w 306"/>
                <a:gd name="T19" fmla="*/ 14 h 117"/>
                <a:gd name="T20" fmla="*/ 138 w 306"/>
                <a:gd name="T21" fmla="*/ 13 h 117"/>
                <a:gd name="T22" fmla="*/ 169 w 306"/>
                <a:gd name="T23" fmla="*/ 15 h 117"/>
                <a:gd name="T24" fmla="*/ 188 w 306"/>
                <a:gd name="T25" fmla="*/ 27 h 117"/>
                <a:gd name="T26" fmla="*/ 205 w 306"/>
                <a:gd name="T27" fmla="*/ 15 h 117"/>
                <a:gd name="T28" fmla="*/ 219 w 306"/>
                <a:gd name="T29" fmla="*/ 5 h 117"/>
                <a:gd name="T30" fmla="*/ 237 w 306"/>
                <a:gd name="T31" fmla="*/ 15 h 117"/>
                <a:gd name="T32" fmla="*/ 254 w 306"/>
                <a:gd name="T33" fmla="*/ 27 h 117"/>
                <a:gd name="T34" fmla="*/ 273 w 306"/>
                <a:gd name="T35" fmla="*/ 15 h 117"/>
                <a:gd name="T36" fmla="*/ 294 w 306"/>
                <a:gd name="T37" fmla="*/ 6 h 117"/>
                <a:gd name="T38" fmla="*/ 304 w 306"/>
                <a:gd name="T39" fmla="*/ 21 h 117"/>
                <a:gd name="T40" fmla="*/ 305 w 306"/>
                <a:gd name="T41" fmla="*/ 95 h 117"/>
                <a:gd name="T42" fmla="*/ 283 w 306"/>
                <a:gd name="T43" fmla="*/ 117 h 117"/>
                <a:gd name="T44" fmla="*/ 151 w 306"/>
                <a:gd name="T45" fmla="*/ 117 h 117"/>
                <a:gd name="T46" fmla="*/ 151 w 306"/>
                <a:gd name="T4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06" h="117">
                  <a:moveTo>
                    <a:pt x="151" y="117"/>
                  </a:moveTo>
                  <a:cubicBezTo>
                    <a:pt x="108" y="117"/>
                    <a:pt x="66" y="116"/>
                    <a:pt x="23" y="117"/>
                  </a:cubicBezTo>
                  <a:cubicBezTo>
                    <a:pt x="7" y="117"/>
                    <a:pt x="0" y="111"/>
                    <a:pt x="1" y="94"/>
                  </a:cubicBezTo>
                  <a:cubicBezTo>
                    <a:pt x="2" y="70"/>
                    <a:pt x="0" y="46"/>
                    <a:pt x="2" y="23"/>
                  </a:cubicBezTo>
                  <a:cubicBezTo>
                    <a:pt x="2" y="16"/>
                    <a:pt x="9" y="6"/>
                    <a:pt x="13" y="6"/>
                  </a:cubicBezTo>
                  <a:cubicBezTo>
                    <a:pt x="20" y="6"/>
                    <a:pt x="27" y="12"/>
                    <a:pt x="33" y="16"/>
                  </a:cubicBezTo>
                  <a:cubicBezTo>
                    <a:pt x="40" y="20"/>
                    <a:pt x="47" y="27"/>
                    <a:pt x="54" y="28"/>
                  </a:cubicBezTo>
                  <a:cubicBezTo>
                    <a:pt x="58" y="28"/>
                    <a:pt x="63" y="20"/>
                    <a:pt x="68" y="15"/>
                  </a:cubicBezTo>
                  <a:cubicBezTo>
                    <a:pt x="73" y="12"/>
                    <a:pt x="78" y="5"/>
                    <a:pt x="82" y="5"/>
                  </a:cubicBezTo>
                  <a:cubicBezTo>
                    <a:pt x="89" y="5"/>
                    <a:pt x="97" y="9"/>
                    <a:pt x="100" y="14"/>
                  </a:cubicBezTo>
                  <a:cubicBezTo>
                    <a:pt x="114" y="34"/>
                    <a:pt x="125" y="34"/>
                    <a:pt x="138" y="13"/>
                  </a:cubicBezTo>
                  <a:cubicBezTo>
                    <a:pt x="146" y="0"/>
                    <a:pt x="160" y="2"/>
                    <a:pt x="169" y="15"/>
                  </a:cubicBezTo>
                  <a:cubicBezTo>
                    <a:pt x="173" y="21"/>
                    <a:pt x="181" y="27"/>
                    <a:pt x="188" y="27"/>
                  </a:cubicBezTo>
                  <a:cubicBezTo>
                    <a:pt x="193" y="28"/>
                    <a:pt x="199" y="19"/>
                    <a:pt x="205" y="15"/>
                  </a:cubicBezTo>
                  <a:cubicBezTo>
                    <a:pt x="210" y="11"/>
                    <a:pt x="215" y="5"/>
                    <a:pt x="219" y="5"/>
                  </a:cubicBezTo>
                  <a:cubicBezTo>
                    <a:pt x="225" y="6"/>
                    <a:pt x="231" y="11"/>
                    <a:pt x="237" y="15"/>
                  </a:cubicBezTo>
                  <a:cubicBezTo>
                    <a:pt x="243" y="19"/>
                    <a:pt x="248" y="27"/>
                    <a:pt x="254" y="27"/>
                  </a:cubicBezTo>
                  <a:cubicBezTo>
                    <a:pt x="261" y="26"/>
                    <a:pt x="267" y="19"/>
                    <a:pt x="273" y="15"/>
                  </a:cubicBezTo>
                  <a:cubicBezTo>
                    <a:pt x="280" y="11"/>
                    <a:pt x="287" y="6"/>
                    <a:pt x="294" y="6"/>
                  </a:cubicBezTo>
                  <a:cubicBezTo>
                    <a:pt x="298" y="6"/>
                    <a:pt x="304" y="16"/>
                    <a:pt x="304" y="21"/>
                  </a:cubicBezTo>
                  <a:cubicBezTo>
                    <a:pt x="306" y="46"/>
                    <a:pt x="304" y="71"/>
                    <a:pt x="305" y="95"/>
                  </a:cubicBezTo>
                  <a:cubicBezTo>
                    <a:pt x="306" y="112"/>
                    <a:pt x="299" y="117"/>
                    <a:pt x="283" y="117"/>
                  </a:cubicBezTo>
                  <a:cubicBezTo>
                    <a:pt x="239" y="116"/>
                    <a:pt x="195" y="117"/>
                    <a:pt x="151" y="117"/>
                  </a:cubicBezTo>
                  <a:cubicBezTo>
                    <a:pt x="151" y="117"/>
                    <a:pt x="151" y="117"/>
                    <a:pt x="151" y="117"/>
                  </a:cubicBezTo>
                  <a:close/>
                </a:path>
              </a:pathLst>
            </a:custGeom>
            <a:solidFill>
              <a:srgbClr val="D8B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Freeform 36"/>
            <p:cNvSpPr>
              <a:spLocks/>
            </p:cNvSpPr>
            <p:nvPr/>
          </p:nvSpPr>
          <p:spPr bwMode="auto">
            <a:xfrm>
              <a:off x="3551334" y="216893"/>
              <a:ext cx="276792" cy="876676"/>
            </a:xfrm>
            <a:custGeom>
              <a:avLst/>
              <a:gdLst>
                <a:gd name="T0" fmla="*/ 96 w 96"/>
                <a:gd name="T1" fmla="*/ 143 h 294"/>
                <a:gd name="T2" fmla="*/ 96 w 96"/>
                <a:gd name="T3" fmla="*/ 260 h 294"/>
                <a:gd name="T4" fmla="*/ 74 w 96"/>
                <a:gd name="T5" fmla="*/ 283 h 294"/>
                <a:gd name="T6" fmla="*/ 13 w 96"/>
                <a:gd name="T7" fmla="*/ 223 h 294"/>
                <a:gd name="T8" fmla="*/ 12 w 96"/>
                <a:gd name="T9" fmla="*/ 25 h 294"/>
                <a:gd name="T10" fmla="*/ 35 w 96"/>
                <a:gd name="T11" fmla="*/ 2 h 294"/>
                <a:gd name="T12" fmla="*/ 75 w 96"/>
                <a:gd name="T13" fmla="*/ 2 h 294"/>
                <a:gd name="T14" fmla="*/ 96 w 96"/>
                <a:gd name="T15" fmla="*/ 23 h 294"/>
                <a:gd name="T16" fmla="*/ 96 w 96"/>
                <a:gd name="T17" fmla="*/ 143 h 294"/>
                <a:gd name="T18" fmla="*/ 96 w 96"/>
                <a:gd name="T19" fmla="*/ 143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294">
                  <a:moveTo>
                    <a:pt x="96" y="143"/>
                  </a:moveTo>
                  <a:cubicBezTo>
                    <a:pt x="96" y="182"/>
                    <a:pt x="95" y="221"/>
                    <a:pt x="96" y="260"/>
                  </a:cubicBezTo>
                  <a:cubicBezTo>
                    <a:pt x="96" y="276"/>
                    <a:pt x="91" y="284"/>
                    <a:pt x="74" y="283"/>
                  </a:cubicBezTo>
                  <a:cubicBezTo>
                    <a:pt x="0" y="281"/>
                    <a:pt x="14" y="294"/>
                    <a:pt x="13" y="223"/>
                  </a:cubicBezTo>
                  <a:cubicBezTo>
                    <a:pt x="12" y="157"/>
                    <a:pt x="13" y="91"/>
                    <a:pt x="12" y="25"/>
                  </a:cubicBezTo>
                  <a:cubicBezTo>
                    <a:pt x="12" y="7"/>
                    <a:pt x="18" y="0"/>
                    <a:pt x="35" y="2"/>
                  </a:cubicBezTo>
                  <a:cubicBezTo>
                    <a:pt x="48" y="3"/>
                    <a:pt x="62" y="3"/>
                    <a:pt x="75" y="2"/>
                  </a:cubicBezTo>
                  <a:cubicBezTo>
                    <a:pt x="92" y="0"/>
                    <a:pt x="96" y="8"/>
                    <a:pt x="96" y="23"/>
                  </a:cubicBezTo>
                  <a:cubicBezTo>
                    <a:pt x="95" y="63"/>
                    <a:pt x="96" y="103"/>
                    <a:pt x="96" y="143"/>
                  </a:cubicBezTo>
                  <a:cubicBezTo>
                    <a:pt x="96" y="143"/>
                    <a:pt x="96" y="143"/>
                    <a:pt x="96" y="143"/>
                  </a:cubicBezTo>
                  <a:close/>
                </a:path>
              </a:pathLst>
            </a:custGeom>
            <a:solidFill>
              <a:srgbClr val="D8B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Freeform 37"/>
            <p:cNvSpPr>
              <a:spLocks/>
            </p:cNvSpPr>
            <p:nvPr/>
          </p:nvSpPr>
          <p:spPr bwMode="auto">
            <a:xfrm>
              <a:off x="2597803" y="216893"/>
              <a:ext cx="238992" cy="867846"/>
            </a:xfrm>
            <a:custGeom>
              <a:avLst/>
              <a:gdLst>
                <a:gd name="T0" fmla="*/ 0 w 83"/>
                <a:gd name="T1" fmla="*/ 142 h 291"/>
                <a:gd name="T2" fmla="*/ 0 w 83"/>
                <a:gd name="T3" fmla="*/ 24 h 291"/>
                <a:gd name="T4" fmla="*/ 22 w 83"/>
                <a:gd name="T5" fmla="*/ 2 h 291"/>
                <a:gd name="T6" fmla="*/ 64 w 83"/>
                <a:gd name="T7" fmla="*/ 2 h 291"/>
                <a:gd name="T8" fmla="*/ 83 w 83"/>
                <a:gd name="T9" fmla="*/ 21 h 291"/>
                <a:gd name="T10" fmla="*/ 83 w 83"/>
                <a:gd name="T11" fmla="*/ 266 h 291"/>
                <a:gd name="T12" fmla="*/ 66 w 83"/>
                <a:gd name="T13" fmla="*/ 283 h 291"/>
                <a:gd name="T14" fmla="*/ 40 w 83"/>
                <a:gd name="T15" fmla="*/ 283 h 291"/>
                <a:gd name="T16" fmla="*/ 0 w 83"/>
                <a:gd name="T17" fmla="*/ 241 h 291"/>
                <a:gd name="T18" fmla="*/ 0 w 83"/>
                <a:gd name="T19" fmla="*/ 142 h 291"/>
                <a:gd name="T20" fmla="*/ 0 w 83"/>
                <a:gd name="T21" fmla="*/ 142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3" h="291">
                  <a:moveTo>
                    <a:pt x="0" y="142"/>
                  </a:moveTo>
                  <a:cubicBezTo>
                    <a:pt x="0" y="102"/>
                    <a:pt x="1" y="63"/>
                    <a:pt x="0" y="24"/>
                  </a:cubicBezTo>
                  <a:cubicBezTo>
                    <a:pt x="0" y="8"/>
                    <a:pt x="5" y="0"/>
                    <a:pt x="22" y="2"/>
                  </a:cubicBezTo>
                  <a:cubicBezTo>
                    <a:pt x="36" y="3"/>
                    <a:pt x="50" y="2"/>
                    <a:pt x="64" y="2"/>
                  </a:cubicBezTo>
                  <a:cubicBezTo>
                    <a:pt x="77" y="1"/>
                    <a:pt x="83" y="7"/>
                    <a:pt x="83" y="21"/>
                  </a:cubicBezTo>
                  <a:cubicBezTo>
                    <a:pt x="83" y="102"/>
                    <a:pt x="83" y="184"/>
                    <a:pt x="83" y="266"/>
                  </a:cubicBezTo>
                  <a:cubicBezTo>
                    <a:pt x="83" y="277"/>
                    <a:pt x="78" y="283"/>
                    <a:pt x="66" y="283"/>
                  </a:cubicBezTo>
                  <a:cubicBezTo>
                    <a:pt x="58" y="283"/>
                    <a:pt x="49" y="283"/>
                    <a:pt x="40" y="283"/>
                  </a:cubicBezTo>
                  <a:cubicBezTo>
                    <a:pt x="1" y="283"/>
                    <a:pt x="0" y="291"/>
                    <a:pt x="0" y="241"/>
                  </a:cubicBezTo>
                  <a:cubicBezTo>
                    <a:pt x="0" y="208"/>
                    <a:pt x="0" y="175"/>
                    <a:pt x="0" y="142"/>
                  </a:cubicBezTo>
                  <a:cubicBezTo>
                    <a:pt x="0" y="142"/>
                    <a:pt x="0" y="142"/>
                    <a:pt x="0" y="142"/>
                  </a:cubicBezTo>
                  <a:close/>
                </a:path>
              </a:pathLst>
            </a:custGeom>
            <a:solidFill>
              <a:srgbClr val="D8B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Freeform 38"/>
            <p:cNvSpPr>
              <a:spLocks/>
            </p:cNvSpPr>
            <p:nvPr/>
          </p:nvSpPr>
          <p:spPr bwMode="auto">
            <a:xfrm>
              <a:off x="3090420" y="214371"/>
              <a:ext cx="236554" cy="848925"/>
            </a:xfrm>
            <a:custGeom>
              <a:avLst/>
              <a:gdLst>
                <a:gd name="T0" fmla="*/ 82 w 82"/>
                <a:gd name="T1" fmla="*/ 144 h 285"/>
                <a:gd name="T2" fmla="*/ 82 w 82"/>
                <a:gd name="T3" fmla="*/ 260 h 285"/>
                <a:gd name="T4" fmla="*/ 59 w 82"/>
                <a:gd name="T5" fmla="*/ 284 h 285"/>
                <a:gd name="T6" fmla="*/ 21 w 82"/>
                <a:gd name="T7" fmla="*/ 284 h 285"/>
                <a:gd name="T8" fmla="*/ 0 w 82"/>
                <a:gd name="T9" fmla="*/ 263 h 285"/>
                <a:gd name="T10" fmla="*/ 0 w 82"/>
                <a:gd name="T11" fmla="*/ 23 h 285"/>
                <a:gd name="T12" fmla="*/ 21 w 82"/>
                <a:gd name="T13" fmla="*/ 3 h 285"/>
                <a:gd name="T14" fmla="*/ 47 w 82"/>
                <a:gd name="T15" fmla="*/ 3 h 285"/>
                <a:gd name="T16" fmla="*/ 82 w 82"/>
                <a:gd name="T17" fmla="*/ 38 h 285"/>
                <a:gd name="T18" fmla="*/ 82 w 82"/>
                <a:gd name="T19" fmla="*/ 144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" h="285">
                  <a:moveTo>
                    <a:pt x="82" y="144"/>
                  </a:moveTo>
                  <a:cubicBezTo>
                    <a:pt x="82" y="183"/>
                    <a:pt x="81" y="221"/>
                    <a:pt x="82" y="260"/>
                  </a:cubicBezTo>
                  <a:cubicBezTo>
                    <a:pt x="82" y="277"/>
                    <a:pt x="77" y="285"/>
                    <a:pt x="59" y="284"/>
                  </a:cubicBezTo>
                  <a:cubicBezTo>
                    <a:pt x="47" y="283"/>
                    <a:pt x="34" y="283"/>
                    <a:pt x="21" y="284"/>
                  </a:cubicBezTo>
                  <a:cubicBezTo>
                    <a:pt x="5" y="285"/>
                    <a:pt x="0" y="278"/>
                    <a:pt x="0" y="263"/>
                  </a:cubicBezTo>
                  <a:cubicBezTo>
                    <a:pt x="1" y="183"/>
                    <a:pt x="1" y="103"/>
                    <a:pt x="0" y="23"/>
                  </a:cubicBezTo>
                  <a:cubicBezTo>
                    <a:pt x="0" y="8"/>
                    <a:pt x="5" y="0"/>
                    <a:pt x="21" y="3"/>
                  </a:cubicBezTo>
                  <a:cubicBezTo>
                    <a:pt x="30" y="4"/>
                    <a:pt x="39" y="3"/>
                    <a:pt x="47" y="3"/>
                  </a:cubicBezTo>
                  <a:cubicBezTo>
                    <a:pt x="81" y="3"/>
                    <a:pt x="81" y="3"/>
                    <a:pt x="82" y="38"/>
                  </a:cubicBezTo>
                  <a:cubicBezTo>
                    <a:pt x="82" y="73"/>
                    <a:pt x="82" y="109"/>
                    <a:pt x="82" y="144"/>
                  </a:cubicBezTo>
                  <a:close/>
                </a:path>
              </a:pathLst>
            </a:custGeom>
            <a:solidFill>
              <a:srgbClr val="D8B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6" name="Freeform 39"/>
            <p:cNvSpPr>
              <a:spLocks/>
            </p:cNvSpPr>
            <p:nvPr/>
          </p:nvSpPr>
          <p:spPr bwMode="auto">
            <a:xfrm>
              <a:off x="417608" y="-384796"/>
              <a:ext cx="481643" cy="712694"/>
            </a:xfrm>
            <a:custGeom>
              <a:avLst/>
              <a:gdLst>
                <a:gd name="T0" fmla="*/ 85 w 167"/>
                <a:gd name="T1" fmla="*/ 1 h 239"/>
                <a:gd name="T2" fmla="*/ 91 w 167"/>
                <a:gd name="T3" fmla="*/ 10 h 239"/>
                <a:gd name="T4" fmla="*/ 160 w 167"/>
                <a:gd name="T5" fmla="*/ 214 h 239"/>
                <a:gd name="T6" fmla="*/ 142 w 167"/>
                <a:gd name="T7" fmla="*/ 238 h 239"/>
                <a:gd name="T8" fmla="*/ 22 w 167"/>
                <a:gd name="T9" fmla="*/ 238 h 239"/>
                <a:gd name="T10" fmla="*/ 6 w 167"/>
                <a:gd name="T11" fmla="*/ 216 h 239"/>
                <a:gd name="T12" fmla="*/ 66 w 167"/>
                <a:gd name="T13" fmla="*/ 39 h 239"/>
                <a:gd name="T14" fmla="*/ 79 w 167"/>
                <a:gd name="T15" fmla="*/ 0 h 239"/>
                <a:gd name="T16" fmla="*/ 85 w 167"/>
                <a:gd name="T17" fmla="*/ 1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239">
                  <a:moveTo>
                    <a:pt x="85" y="1"/>
                  </a:moveTo>
                  <a:cubicBezTo>
                    <a:pt x="87" y="4"/>
                    <a:pt x="90" y="7"/>
                    <a:pt x="91" y="10"/>
                  </a:cubicBezTo>
                  <a:cubicBezTo>
                    <a:pt x="114" y="78"/>
                    <a:pt x="137" y="146"/>
                    <a:pt x="160" y="214"/>
                  </a:cubicBezTo>
                  <a:cubicBezTo>
                    <a:pt x="167" y="236"/>
                    <a:pt x="165" y="238"/>
                    <a:pt x="142" y="238"/>
                  </a:cubicBezTo>
                  <a:cubicBezTo>
                    <a:pt x="102" y="238"/>
                    <a:pt x="62" y="237"/>
                    <a:pt x="22" y="238"/>
                  </a:cubicBezTo>
                  <a:cubicBezTo>
                    <a:pt x="4" y="239"/>
                    <a:pt x="0" y="233"/>
                    <a:pt x="6" y="216"/>
                  </a:cubicBezTo>
                  <a:cubicBezTo>
                    <a:pt x="27" y="157"/>
                    <a:pt x="46" y="98"/>
                    <a:pt x="66" y="39"/>
                  </a:cubicBezTo>
                  <a:cubicBezTo>
                    <a:pt x="71" y="26"/>
                    <a:pt x="75" y="13"/>
                    <a:pt x="79" y="0"/>
                  </a:cubicBezTo>
                  <a:cubicBezTo>
                    <a:pt x="81" y="0"/>
                    <a:pt x="83" y="0"/>
                    <a:pt x="85" y="1"/>
                  </a:cubicBezTo>
                  <a:close/>
                </a:path>
              </a:pathLst>
            </a:custGeom>
            <a:solidFill>
              <a:srgbClr val="D8B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Freeform 40"/>
            <p:cNvSpPr>
              <a:spLocks/>
            </p:cNvSpPr>
            <p:nvPr/>
          </p:nvSpPr>
          <p:spPr bwMode="auto">
            <a:xfrm>
              <a:off x="5524240" y="-378489"/>
              <a:ext cx="481643" cy="702603"/>
            </a:xfrm>
            <a:custGeom>
              <a:avLst/>
              <a:gdLst>
                <a:gd name="T0" fmla="*/ 87 w 167"/>
                <a:gd name="T1" fmla="*/ 0 h 236"/>
                <a:gd name="T2" fmla="*/ 109 w 167"/>
                <a:gd name="T3" fmla="*/ 63 h 236"/>
                <a:gd name="T4" fmla="*/ 160 w 167"/>
                <a:gd name="T5" fmla="*/ 214 h 236"/>
                <a:gd name="T6" fmla="*/ 144 w 167"/>
                <a:gd name="T7" fmla="*/ 236 h 236"/>
                <a:gd name="T8" fmla="*/ 22 w 167"/>
                <a:gd name="T9" fmla="*/ 236 h 236"/>
                <a:gd name="T10" fmla="*/ 6 w 167"/>
                <a:gd name="T11" fmla="*/ 214 h 236"/>
                <a:gd name="T12" fmla="*/ 75 w 167"/>
                <a:gd name="T13" fmla="*/ 10 h 236"/>
                <a:gd name="T14" fmla="*/ 81 w 167"/>
                <a:gd name="T15" fmla="*/ 1 h 236"/>
                <a:gd name="T16" fmla="*/ 87 w 167"/>
                <a:gd name="T17" fmla="*/ 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236">
                  <a:moveTo>
                    <a:pt x="87" y="0"/>
                  </a:moveTo>
                  <a:cubicBezTo>
                    <a:pt x="94" y="21"/>
                    <a:pt x="102" y="42"/>
                    <a:pt x="109" y="63"/>
                  </a:cubicBezTo>
                  <a:cubicBezTo>
                    <a:pt x="126" y="113"/>
                    <a:pt x="143" y="163"/>
                    <a:pt x="160" y="214"/>
                  </a:cubicBezTo>
                  <a:cubicBezTo>
                    <a:pt x="167" y="233"/>
                    <a:pt x="164" y="236"/>
                    <a:pt x="144" y="236"/>
                  </a:cubicBezTo>
                  <a:cubicBezTo>
                    <a:pt x="104" y="236"/>
                    <a:pt x="63" y="236"/>
                    <a:pt x="22" y="236"/>
                  </a:cubicBezTo>
                  <a:cubicBezTo>
                    <a:pt x="2" y="236"/>
                    <a:pt x="0" y="234"/>
                    <a:pt x="6" y="214"/>
                  </a:cubicBezTo>
                  <a:cubicBezTo>
                    <a:pt x="29" y="146"/>
                    <a:pt x="52" y="78"/>
                    <a:pt x="75" y="10"/>
                  </a:cubicBezTo>
                  <a:cubicBezTo>
                    <a:pt x="76" y="7"/>
                    <a:pt x="79" y="4"/>
                    <a:pt x="81" y="1"/>
                  </a:cubicBezTo>
                  <a:cubicBezTo>
                    <a:pt x="83" y="0"/>
                    <a:pt x="85" y="0"/>
                    <a:pt x="87" y="0"/>
                  </a:cubicBezTo>
                  <a:close/>
                </a:path>
              </a:pathLst>
            </a:custGeom>
            <a:solidFill>
              <a:srgbClr val="D8B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8" name="Freeform 41"/>
            <p:cNvSpPr>
              <a:spLocks/>
            </p:cNvSpPr>
            <p:nvPr/>
          </p:nvSpPr>
          <p:spPr bwMode="auto">
            <a:xfrm>
              <a:off x="2788021" y="-119901"/>
              <a:ext cx="837693" cy="295169"/>
            </a:xfrm>
            <a:custGeom>
              <a:avLst/>
              <a:gdLst>
                <a:gd name="T0" fmla="*/ 5 w 291"/>
                <a:gd name="T1" fmla="*/ 50 h 99"/>
                <a:gd name="T2" fmla="*/ 5 w 291"/>
                <a:gd name="T3" fmla="*/ 36 h 99"/>
                <a:gd name="T4" fmla="*/ 16 w 291"/>
                <a:gd name="T5" fmla="*/ 10 h 99"/>
                <a:gd name="T6" fmla="*/ 54 w 291"/>
                <a:gd name="T7" fmla="*/ 23 h 99"/>
                <a:gd name="T8" fmla="*/ 65 w 291"/>
                <a:gd name="T9" fmla="*/ 31 h 99"/>
                <a:gd name="T10" fmla="*/ 108 w 291"/>
                <a:gd name="T11" fmla="*/ 31 h 99"/>
                <a:gd name="T12" fmla="*/ 121 w 291"/>
                <a:gd name="T13" fmla="*/ 23 h 99"/>
                <a:gd name="T14" fmla="*/ 173 w 291"/>
                <a:gd name="T15" fmla="*/ 24 h 99"/>
                <a:gd name="T16" fmla="*/ 184 w 291"/>
                <a:gd name="T17" fmla="*/ 31 h 99"/>
                <a:gd name="T18" fmla="*/ 225 w 291"/>
                <a:gd name="T19" fmla="*/ 31 h 99"/>
                <a:gd name="T20" fmla="*/ 237 w 291"/>
                <a:gd name="T21" fmla="*/ 25 h 99"/>
                <a:gd name="T22" fmla="*/ 278 w 291"/>
                <a:gd name="T23" fmla="*/ 10 h 99"/>
                <a:gd name="T24" fmla="*/ 289 w 291"/>
                <a:gd name="T25" fmla="*/ 25 h 99"/>
                <a:gd name="T26" fmla="*/ 290 w 291"/>
                <a:gd name="T27" fmla="*/ 61 h 99"/>
                <a:gd name="T28" fmla="*/ 250 w 291"/>
                <a:gd name="T29" fmla="*/ 89 h 99"/>
                <a:gd name="T30" fmla="*/ 240 w 291"/>
                <a:gd name="T31" fmla="*/ 73 h 99"/>
                <a:gd name="T32" fmla="*/ 208 w 291"/>
                <a:gd name="T33" fmla="*/ 43 h 99"/>
                <a:gd name="T34" fmla="*/ 172 w 291"/>
                <a:gd name="T35" fmla="*/ 69 h 99"/>
                <a:gd name="T36" fmla="*/ 144 w 291"/>
                <a:gd name="T37" fmla="*/ 91 h 99"/>
                <a:gd name="T38" fmla="*/ 122 w 291"/>
                <a:gd name="T39" fmla="*/ 68 h 99"/>
                <a:gd name="T40" fmla="*/ 89 w 291"/>
                <a:gd name="T41" fmla="*/ 43 h 99"/>
                <a:gd name="T42" fmla="*/ 53 w 291"/>
                <a:gd name="T43" fmla="*/ 68 h 99"/>
                <a:gd name="T44" fmla="*/ 13 w 291"/>
                <a:gd name="T45" fmla="*/ 89 h 99"/>
                <a:gd name="T46" fmla="*/ 5 w 291"/>
                <a:gd name="T47" fmla="*/ 76 h 99"/>
                <a:gd name="T48" fmla="*/ 4 w 291"/>
                <a:gd name="T49" fmla="*/ 50 h 99"/>
                <a:gd name="T50" fmla="*/ 5 w 291"/>
                <a:gd name="T51" fmla="*/ 5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91" h="99">
                  <a:moveTo>
                    <a:pt x="5" y="50"/>
                  </a:moveTo>
                  <a:cubicBezTo>
                    <a:pt x="5" y="45"/>
                    <a:pt x="4" y="40"/>
                    <a:pt x="5" y="36"/>
                  </a:cubicBezTo>
                  <a:cubicBezTo>
                    <a:pt x="6" y="26"/>
                    <a:pt x="0" y="12"/>
                    <a:pt x="16" y="10"/>
                  </a:cubicBezTo>
                  <a:cubicBezTo>
                    <a:pt x="30" y="9"/>
                    <a:pt x="47" y="1"/>
                    <a:pt x="54" y="23"/>
                  </a:cubicBezTo>
                  <a:cubicBezTo>
                    <a:pt x="55" y="27"/>
                    <a:pt x="61" y="31"/>
                    <a:pt x="65" y="31"/>
                  </a:cubicBezTo>
                  <a:cubicBezTo>
                    <a:pt x="79" y="32"/>
                    <a:pt x="94" y="32"/>
                    <a:pt x="108" y="31"/>
                  </a:cubicBezTo>
                  <a:cubicBezTo>
                    <a:pt x="113" y="31"/>
                    <a:pt x="118" y="27"/>
                    <a:pt x="121" y="23"/>
                  </a:cubicBezTo>
                  <a:cubicBezTo>
                    <a:pt x="137" y="2"/>
                    <a:pt x="157" y="3"/>
                    <a:pt x="173" y="24"/>
                  </a:cubicBezTo>
                  <a:cubicBezTo>
                    <a:pt x="175" y="27"/>
                    <a:pt x="180" y="31"/>
                    <a:pt x="184" y="31"/>
                  </a:cubicBezTo>
                  <a:cubicBezTo>
                    <a:pt x="198" y="32"/>
                    <a:pt x="212" y="32"/>
                    <a:pt x="225" y="31"/>
                  </a:cubicBezTo>
                  <a:cubicBezTo>
                    <a:pt x="229" y="31"/>
                    <a:pt x="236" y="28"/>
                    <a:pt x="237" y="25"/>
                  </a:cubicBezTo>
                  <a:cubicBezTo>
                    <a:pt x="244" y="0"/>
                    <a:pt x="263" y="10"/>
                    <a:pt x="278" y="10"/>
                  </a:cubicBezTo>
                  <a:cubicBezTo>
                    <a:pt x="282" y="10"/>
                    <a:pt x="288" y="19"/>
                    <a:pt x="289" y="25"/>
                  </a:cubicBezTo>
                  <a:cubicBezTo>
                    <a:pt x="291" y="37"/>
                    <a:pt x="290" y="49"/>
                    <a:pt x="290" y="61"/>
                  </a:cubicBezTo>
                  <a:cubicBezTo>
                    <a:pt x="290" y="89"/>
                    <a:pt x="277" y="99"/>
                    <a:pt x="250" y="89"/>
                  </a:cubicBezTo>
                  <a:cubicBezTo>
                    <a:pt x="245" y="88"/>
                    <a:pt x="240" y="79"/>
                    <a:pt x="240" y="73"/>
                  </a:cubicBezTo>
                  <a:cubicBezTo>
                    <a:pt x="236" y="52"/>
                    <a:pt x="228" y="44"/>
                    <a:pt x="208" y="43"/>
                  </a:cubicBezTo>
                  <a:cubicBezTo>
                    <a:pt x="189" y="41"/>
                    <a:pt x="174" y="51"/>
                    <a:pt x="172" y="69"/>
                  </a:cubicBezTo>
                  <a:cubicBezTo>
                    <a:pt x="170" y="90"/>
                    <a:pt x="159" y="91"/>
                    <a:pt x="144" y="91"/>
                  </a:cubicBezTo>
                  <a:cubicBezTo>
                    <a:pt x="126" y="91"/>
                    <a:pt x="123" y="83"/>
                    <a:pt x="122" y="68"/>
                  </a:cubicBezTo>
                  <a:cubicBezTo>
                    <a:pt x="120" y="48"/>
                    <a:pt x="105" y="43"/>
                    <a:pt x="89" y="43"/>
                  </a:cubicBezTo>
                  <a:cubicBezTo>
                    <a:pt x="71" y="43"/>
                    <a:pt x="57" y="48"/>
                    <a:pt x="53" y="68"/>
                  </a:cubicBezTo>
                  <a:cubicBezTo>
                    <a:pt x="49" y="90"/>
                    <a:pt x="34" y="98"/>
                    <a:pt x="13" y="89"/>
                  </a:cubicBezTo>
                  <a:cubicBezTo>
                    <a:pt x="9" y="87"/>
                    <a:pt x="5" y="81"/>
                    <a:pt x="5" y="76"/>
                  </a:cubicBezTo>
                  <a:cubicBezTo>
                    <a:pt x="3" y="67"/>
                    <a:pt x="4" y="58"/>
                    <a:pt x="4" y="50"/>
                  </a:cubicBezTo>
                  <a:cubicBezTo>
                    <a:pt x="4" y="50"/>
                    <a:pt x="5" y="50"/>
                    <a:pt x="5" y="50"/>
                  </a:cubicBezTo>
                  <a:close/>
                </a:path>
              </a:pathLst>
            </a:custGeom>
            <a:solidFill>
              <a:srgbClr val="D8B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" name="Freeform 42"/>
            <p:cNvSpPr>
              <a:spLocks/>
            </p:cNvSpPr>
            <p:nvPr/>
          </p:nvSpPr>
          <p:spPr bwMode="auto">
            <a:xfrm>
              <a:off x="2891666" y="220678"/>
              <a:ext cx="143883" cy="840095"/>
            </a:xfrm>
            <a:custGeom>
              <a:avLst/>
              <a:gdLst>
                <a:gd name="T0" fmla="*/ 49 w 50"/>
                <a:gd name="T1" fmla="*/ 143 h 282"/>
                <a:gd name="T2" fmla="*/ 49 w 50"/>
                <a:gd name="T3" fmla="*/ 260 h 282"/>
                <a:gd name="T4" fmla="*/ 25 w 50"/>
                <a:gd name="T5" fmla="*/ 282 h 282"/>
                <a:gd name="T6" fmla="*/ 1 w 50"/>
                <a:gd name="T7" fmla="*/ 260 h 282"/>
                <a:gd name="T8" fmla="*/ 1 w 50"/>
                <a:gd name="T9" fmla="*/ 25 h 282"/>
                <a:gd name="T10" fmla="*/ 27 w 50"/>
                <a:gd name="T11" fmla="*/ 0 h 282"/>
                <a:gd name="T12" fmla="*/ 49 w 50"/>
                <a:gd name="T13" fmla="*/ 25 h 282"/>
                <a:gd name="T14" fmla="*/ 49 w 50"/>
                <a:gd name="T15" fmla="*/ 143 h 282"/>
                <a:gd name="T16" fmla="*/ 49 w 50"/>
                <a:gd name="T17" fmla="*/ 14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282">
                  <a:moveTo>
                    <a:pt x="49" y="143"/>
                  </a:moveTo>
                  <a:cubicBezTo>
                    <a:pt x="49" y="182"/>
                    <a:pt x="49" y="221"/>
                    <a:pt x="49" y="260"/>
                  </a:cubicBezTo>
                  <a:cubicBezTo>
                    <a:pt x="50" y="279"/>
                    <a:pt x="41" y="282"/>
                    <a:pt x="25" y="282"/>
                  </a:cubicBezTo>
                  <a:cubicBezTo>
                    <a:pt x="9" y="282"/>
                    <a:pt x="0" y="279"/>
                    <a:pt x="1" y="260"/>
                  </a:cubicBezTo>
                  <a:cubicBezTo>
                    <a:pt x="1" y="182"/>
                    <a:pt x="1" y="103"/>
                    <a:pt x="1" y="25"/>
                  </a:cubicBezTo>
                  <a:cubicBezTo>
                    <a:pt x="0" y="4"/>
                    <a:pt x="10" y="1"/>
                    <a:pt x="27" y="0"/>
                  </a:cubicBezTo>
                  <a:cubicBezTo>
                    <a:pt x="46" y="0"/>
                    <a:pt x="50" y="8"/>
                    <a:pt x="49" y="25"/>
                  </a:cubicBezTo>
                  <a:cubicBezTo>
                    <a:pt x="48" y="64"/>
                    <a:pt x="49" y="103"/>
                    <a:pt x="49" y="143"/>
                  </a:cubicBezTo>
                  <a:cubicBezTo>
                    <a:pt x="49" y="143"/>
                    <a:pt x="49" y="143"/>
                    <a:pt x="49" y="143"/>
                  </a:cubicBezTo>
                  <a:close/>
                </a:path>
              </a:pathLst>
            </a:custGeom>
            <a:solidFill>
              <a:srgbClr val="D8B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Freeform 43"/>
            <p:cNvSpPr>
              <a:spLocks/>
            </p:cNvSpPr>
            <p:nvPr/>
          </p:nvSpPr>
          <p:spPr bwMode="auto">
            <a:xfrm>
              <a:off x="3390380" y="220678"/>
              <a:ext cx="131690" cy="842618"/>
            </a:xfrm>
            <a:custGeom>
              <a:avLst/>
              <a:gdLst>
                <a:gd name="T0" fmla="*/ 0 w 46"/>
                <a:gd name="T1" fmla="*/ 142 h 283"/>
                <a:gd name="T2" fmla="*/ 0 w 46"/>
                <a:gd name="T3" fmla="*/ 22 h 283"/>
                <a:gd name="T4" fmla="*/ 21 w 46"/>
                <a:gd name="T5" fmla="*/ 1 h 283"/>
                <a:gd name="T6" fmla="*/ 46 w 46"/>
                <a:gd name="T7" fmla="*/ 21 h 283"/>
                <a:gd name="T8" fmla="*/ 46 w 46"/>
                <a:gd name="T9" fmla="*/ 263 h 283"/>
                <a:gd name="T10" fmla="*/ 22 w 46"/>
                <a:gd name="T11" fmla="*/ 282 h 283"/>
                <a:gd name="T12" fmla="*/ 0 w 46"/>
                <a:gd name="T13" fmla="*/ 262 h 283"/>
                <a:gd name="T14" fmla="*/ 1 w 46"/>
                <a:gd name="T15" fmla="*/ 142 h 283"/>
                <a:gd name="T16" fmla="*/ 0 w 46"/>
                <a:gd name="T17" fmla="*/ 142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283">
                  <a:moveTo>
                    <a:pt x="0" y="142"/>
                  </a:moveTo>
                  <a:cubicBezTo>
                    <a:pt x="0" y="102"/>
                    <a:pt x="1" y="62"/>
                    <a:pt x="0" y="22"/>
                  </a:cubicBezTo>
                  <a:cubicBezTo>
                    <a:pt x="0" y="8"/>
                    <a:pt x="4" y="0"/>
                    <a:pt x="21" y="1"/>
                  </a:cubicBezTo>
                  <a:cubicBezTo>
                    <a:pt x="35" y="1"/>
                    <a:pt x="46" y="1"/>
                    <a:pt x="46" y="21"/>
                  </a:cubicBezTo>
                  <a:cubicBezTo>
                    <a:pt x="45" y="102"/>
                    <a:pt x="45" y="182"/>
                    <a:pt x="46" y="263"/>
                  </a:cubicBezTo>
                  <a:cubicBezTo>
                    <a:pt x="46" y="282"/>
                    <a:pt x="35" y="282"/>
                    <a:pt x="22" y="282"/>
                  </a:cubicBezTo>
                  <a:cubicBezTo>
                    <a:pt x="6" y="283"/>
                    <a:pt x="0" y="278"/>
                    <a:pt x="0" y="262"/>
                  </a:cubicBezTo>
                  <a:cubicBezTo>
                    <a:pt x="1" y="222"/>
                    <a:pt x="1" y="182"/>
                    <a:pt x="1" y="142"/>
                  </a:cubicBezTo>
                  <a:cubicBezTo>
                    <a:pt x="0" y="142"/>
                    <a:pt x="0" y="142"/>
                    <a:pt x="0" y="142"/>
                  </a:cubicBezTo>
                  <a:close/>
                </a:path>
              </a:pathLst>
            </a:custGeom>
            <a:solidFill>
              <a:srgbClr val="D8B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1" name="Freeform 44"/>
            <p:cNvSpPr>
              <a:spLocks/>
            </p:cNvSpPr>
            <p:nvPr/>
          </p:nvSpPr>
          <p:spPr bwMode="auto">
            <a:xfrm>
              <a:off x="5377918" y="1638496"/>
              <a:ext cx="315812" cy="137493"/>
            </a:xfrm>
            <a:custGeom>
              <a:avLst/>
              <a:gdLst>
                <a:gd name="T0" fmla="*/ 52 w 110"/>
                <a:gd name="T1" fmla="*/ 0 h 46"/>
                <a:gd name="T2" fmla="*/ 76 w 110"/>
                <a:gd name="T3" fmla="*/ 0 h 46"/>
                <a:gd name="T4" fmla="*/ 100 w 110"/>
                <a:gd name="T5" fmla="*/ 37 h 46"/>
                <a:gd name="T6" fmla="*/ 84 w 110"/>
                <a:gd name="T7" fmla="*/ 45 h 46"/>
                <a:gd name="T8" fmla="*/ 18 w 110"/>
                <a:gd name="T9" fmla="*/ 45 h 46"/>
                <a:gd name="T10" fmla="*/ 0 w 110"/>
                <a:gd name="T11" fmla="*/ 25 h 46"/>
                <a:gd name="T12" fmla="*/ 18 w 110"/>
                <a:gd name="T13" fmla="*/ 0 h 46"/>
                <a:gd name="T14" fmla="*/ 52 w 110"/>
                <a:gd name="T15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" h="46">
                  <a:moveTo>
                    <a:pt x="52" y="0"/>
                  </a:moveTo>
                  <a:cubicBezTo>
                    <a:pt x="60" y="0"/>
                    <a:pt x="68" y="0"/>
                    <a:pt x="76" y="0"/>
                  </a:cubicBezTo>
                  <a:cubicBezTo>
                    <a:pt x="99" y="0"/>
                    <a:pt x="110" y="16"/>
                    <a:pt x="100" y="37"/>
                  </a:cubicBezTo>
                  <a:cubicBezTo>
                    <a:pt x="97" y="42"/>
                    <a:pt x="89" y="45"/>
                    <a:pt x="84" y="45"/>
                  </a:cubicBezTo>
                  <a:cubicBezTo>
                    <a:pt x="62" y="46"/>
                    <a:pt x="40" y="45"/>
                    <a:pt x="18" y="45"/>
                  </a:cubicBezTo>
                  <a:cubicBezTo>
                    <a:pt x="3" y="46"/>
                    <a:pt x="0" y="37"/>
                    <a:pt x="0" y="25"/>
                  </a:cubicBezTo>
                  <a:cubicBezTo>
                    <a:pt x="1" y="12"/>
                    <a:pt x="0" y="0"/>
                    <a:pt x="18" y="0"/>
                  </a:cubicBezTo>
                  <a:cubicBezTo>
                    <a:pt x="29" y="0"/>
                    <a:pt x="40" y="0"/>
                    <a:pt x="52" y="0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42" name="Freeform 45"/>
            <p:cNvSpPr>
              <a:spLocks/>
            </p:cNvSpPr>
            <p:nvPr/>
          </p:nvSpPr>
          <p:spPr bwMode="auto">
            <a:xfrm>
              <a:off x="1143121" y="1635974"/>
              <a:ext cx="291425" cy="140016"/>
            </a:xfrm>
            <a:custGeom>
              <a:avLst/>
              <a:gdLst>
                <a:gd name="T0" fmla="*/ 51 w 101"/>
                <a:gd name="T1" fmla="*/ 1 h 47"/>
                <a:gd name="T2" fmla="*/ 81 w 101"/>
                <a:gd name="T3" fmla="*/ 1 h 47"/>
                <a:gd name="T4" fmla="*/ 101 w 101"/>
                <a:gd name="T5" fmla="*/ 20 h 47"/>
                <a:gd name="T6" fmla="*/ 75 w 101"/>
                <a:gd name="T7" fmla="*/ 47 h 47"/>
                <a:gd name="T8" fmla="*/ 20 w 101"/>
                <a:gd name="T9" fmla="*/ 47 h 47"/>
                <a:gd name="T10" fmla="*/ 0 w 101"/>
                <a:gd name="T11" fmla="*/ 22 h 47"/>
                <a:gd name="T12" fmla="*/ 19 w 101"/>
                <a:gd name="T13" fmla="*/ 1 h 47"/>
                <a:gd name="T14" fmla="*/ 51 w 101"/>
                <a:gd name="T15" fmla="*/ 1 h 47"/>
                <a:gd name="T16" fmla="*/ 51 w 101"/>
                <a:gd name="T17" fmla="*/ 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" h="47">
                  <a:moveTo>
                    <a:pt x="51" y="1"/>
                  </a:moveTo>
                  <a:cubicBezTo>
                    <a:pt x="61" y="1"/>
                    <a:pt x="71" y="1"/>
                    <a:pt x="81" y="1"/>
                  </a:cubicBezTo>
                  <a:cubicBezTo>
                    <a:pt x="95" y="0"/>
                    <a:pt x="101" y="5"/>
                    <a:pt x="101" y="20"/>
                  </a:cubicBezTo>
                  <a:cubicBezTo>
                    <a:pt x="101" y="44"/>
                    <a:pt x="99" y="47"/>
                    <a:pt x="75" y="47"/>
                  </a:cubicBezTo>
                  <a:cubicBezTo>
                    <a:pt x="57" y="47"/>
                    <a:pt x="38" y="46"/>
                    <a:pt x="20" y="47"/>
                  </a:cubicBezTo>
                  <a:cubicBezTo>
                    <a:pt x="1" y="47"/>
                    <a:pt x="1" y="36"/>
                    <a:pt x="0" y="22"/>
                  </a:cubicBezTo>
                  <a:cubicBezTo>
                    <a:pt x="0" y="8"/>
                    <a:pt x="4" y="0"/>
                    <a:pt x="19" y="1"/>
                  </a:cubicBezTo>
                  <a:cubicBezTo>
                    <a:pt x="30" y="1"/>
                    <a:pt x="40" y="1"/>
                    <a:pt x="51" y="1"/>
                  </a:cubicBezTo>
                  <a:cubicBezTo>
                    <a:pt x="51" y="1"/>
                    <a:pt x="51" y="1"/>
                    <a:pt x="51" y="1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43" name="Freeform 46"/>
            <p:cNvSpPr>
              <a:spLocks/>
            </p:cNvSpPr>
            <p:nvPr/>
          </p:nvSpPr>
          <p:spPr bwMode="auto">
            <a:xfrm>
              <a:off x="4985288" y="1638496"/>
              <a:ext cx="310934" cy="137493"/>
            </a:xfrm>
            <a:custGeom>
              <a:avLst/>
              <a:gdLst>
                <a:gd name="T0" fmla="*/ 53 w 108"/>
                <a:gd name="T1" fmla="*/ 0 h 46"/>
                <a:gd name="T2" fmla="*/ 75 w 108"/>
                <a:gd name="T3" fmla="*/ 0 h 46"/>
                <a:gd name="T4" fmla="*/ 101 w 108"/>
                <a:gd name="T5" fmla="*/ 34 h 46"/>
                <a:gd name="T6" fmla="*/ 87 w 108"/>
                <a:gd name="T7" fmla="*/ 45 h 46"/>
                <a:gd name="T8" fmla="*/ 17 w 108"/>
                <a:gd name="T9" fmla="*/ 46 h 46"/>
                <a:gd name="T10" fmla="*/ 1 w 108"/>
                <a:gd name="T11" fmla="*/ 23 h 46"/>
                <a:gd name="T12" fmla="*/ 17 w 108"/>
                <a:gd name="T13" fmla="*/ 0 h 46"/>
                <a:gd name="T14" fmla="*/ 53 w 108"/>
                <a:gd name="T15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8" h="46">
                  <a:moveTo>
                    <a:pt x="53" y="0"/>
                  </a:moveTo>
                  <a:cubicBezTo>
                    <a:pt x="61" y="0"/>
                    <a:pt x="68" y="0"/>
                    <a:pt x="75" y="0"/>
                  </a:cubicBezTo>
                  <a:cubicBezTo>
                    <a:pt x="101" y="0"/>
                    <a:pt x="108" y="9"/>
                    <a:pt x="101" y="34"/>
                  </a:cubicBezTo>
                  <a:cubicBezTo>
                    <a:pt x="100" y="39"/>
                    <a:pt x="92" y="45"/>
                    <a:pt x="87" y="45"/>
                  </a:cubicBezTo>
                  <a:cubicBezTo>
                    <a:pt x="64" y="46"/>
                    <a:pt x="41" y="46"/>
                    <a:pt x="17" y="46"/>
                  </a:cubicBezTo>
                  <a:cubicBezTo>
                    <a:pt x="0" y="46"/>
                    <a:pt x="1" y="35"/>
                    <a:pt x="1" y="23"/>
                  </a:cubicBezTo>
                  <a:cubicBezTo>
                    <a:pt x="1" y="11"/>
                    <a:pt x="0" y="0"/>
                    <a:pt x="17" y="0"/>
                  </a:cubicBezTo>
                  <a:cubicBezTo>
                    <a:pt x="29" y="0"/>
                    <a:pt x="41" y="0"/>
                    <a:pt x="53" y="0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44" name="Freeform 47"/>
            <p:cNvSpPr>
              <a:spLocks/>
            </p:cNvSpPr>
            <p:nvPr/>
          </p:nvSpPr>
          <p:spPr bwMode="auto">
            <a:xfrm>
              <a:off x="6547273" y="1635974"/>
              <a:ext cx="293863" cy="145062"/>
            </a:xfrm>
            <a:custGeom>
              <a:avLst/>
              <a:gdLst>
                <a:gd name="T0" fmla="*/ 51 w 102"/>
                <a:gd name="T1" fmla="*/ 47 h 49"/>
                <a:gd name="T2" fmla="*/ 25 w 102"/>
                <a:gd name="T3" fmla="*/ 47 h 49"/>
                <a:gd name="T4" fmla="*/ 0 w 102"/>
                <a:gd name="T5" fmla="*/ 21 h 49"/>
                <a:gd name="T6" fmla="*/ 20 w 102"/>
                <a:gd name="T7" fmla="*/ 1 h 49"/>
                <a:gd name="T8" fmla="*/ 84 w 102"/>
                <a:gd name="T9" fmla="*/ 1 h 49"/>
                <a:gd name="T10" fmla="*/ 101 w 102"/>
                <a:gd name="T11" fmla="*/ 23 h 49"/>
                <a:gd name="T12" fmla="*/ 85 w 102"/>
                <a:gd name="T13" fmla="*/ 47 h 49"/>
                <a:gd name="T14" fmla="*/ 51 w 102"/>
                <a:gd name="T15" fmla="*/ 47 h 49"/>
                <a:gd name="T16" fmla="*/ 51 w 102"/>
                <a:gd name="T17" fmla="*/ 4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9">
                  <a:moveTo>
                    <a:pt x="51" y="47"/>
                  </a:moveTo>
                  <a:cubicBezTo>
                    <a:pt x="42" y="47"/>
                    <a:pt x="34" y="46"/>
                    <a:pt x="25" y="47"/>
                  </a:cubicBezTo>
                  <a:cubicBezTo>
                    <a:pt x="5" y="49"/>
                    <a:pt x="0" y="40"/>
                    <a:pt x="0" y="21"/>
                  </a:cubicBezTo>
                  <a:cubicBezTo>
                    <a:pt x="1" y="6"/>
                    <a:pt x="6" y="1"/>
                    <a:pt x="20" y="1"/>
                  </a:cubicBezTo>
                  <a:cubicBezTo>
                    <a:pt x="42" y="1"/>
                    <a:pt x="63" y="1"/>
                    <a:pt x="84" y="1"/>
                  </a:cubicBezTo>
                  <a:cubicBezTo>
                    <a:pt x="101" y="0"/>
                    <a:pt x="101" y="11"/>
                    <a:pt x="101" y="23"/>
                  </a:cubicBezTo>
                  <a:cubicBezTo>
                    <a:pt x="101" y="35"/>
                    <a:pt x="102" y="47"/>
                    <a:pt x="85" y="47"/>
                  </a:cubicBezTo>
                  <a:cubicBezTo>
                    <a:pt x="74" y="46"/>
                    <a:pt x="62" y="47"/>
                    <a:pt x="51" y="47"/>
                  </a:cubicBezTo>
                  <a:cubicBezTo>
                    <a:pt x="51" y="47"/>
                    <a:pt x="51" y="47"/>
                    <a:pt x="51" y="47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45" name="Freeform 48"/>
            <p:cNvSpPr>
              <a:spLocks/>
            </p:cNvSpPr>
            <p:nvPr/>
          </p:nvSpPr>
          <p:spPr bwMode="auto">
            <a:xfrm>
              <a:off x="362738" y="1635974"/>
              <a:ext cx="287766" cy="140016"/>
            </a:xfrm>
            <a:custGeom>
              <a:avLst/>
              <a:gdLst>
                <a:gd name="T0" fmla="*/ 50 w 100"/>
                <a:gd name="T1" fmla="*/ 46 h 47"/>
                <a:gd name="T2" fmla="*/ 26 w 100"/>
                <a:gd name="T3" fmla="*/ 46 h 47"/>
                <a:gd name="T4" fmla="*/ 0 w 100"/>
                <a:gd name="T5" fmla="*/ 21 h 47"/>
                <a:gd name="T6" fmla="*/ 19 w 100"/>
                <a:gd name="T7" fmla="*/ 1 h 47"/>
                <a:gd name="T8" fmla="*/ 83 w 100"/>
                <a:gd name="T9" fmla="*/ 1 h 47"/>
                <a:gd name="T10" fmla="*/ 100 w 100"/>
                <a:gd name="T11" fmla="*/ 23 h 47"/>
                <a:gd name="T12" fmla="*/ 83 w 100"/>
                <a:gd name="T13" fmla="*/ 47 h 47"/>
                <a:gd name="T14" fmla="*/ 50 w 100"/>
                <a:gd name="T15" fmla="*/ 47 h 47"/>
                <a:gd name="T16" fmla="*/ 50 w 100"/>
                <a:gd name="T17" fmla="*/ 4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0" h="47">
                  <a:moveTo>
                    <a:pt x="50" y="46"/>
                  </a:moveTo>
                  <a:cubicBezTo>
                    <a:pt x="42" y="46"/>
                    <a:pt x="34" y="46"/>
                    <a:pt x="26" y="46"/>
                  </a:cubicBezTo>
                  <a:cubicBezTo>
                    <a:pt x="2" y="47"/>
                    <a:pt x="0" y="44"/>
                    <a:pt x="0" y="21"/>
                  </a:cubicBezTo>
                  <a:cubicBezTo>
                    <a:pt x="0" y="6"/>
                    <a:pt x="5" y="0"/>
                    <a:pt x="19" y="1"/>
                  </a:cubicBezTo>
                  <a:cubicBezTo>
                    <a:pt x="41" y="1"/>
                    <a:pt x="62" y="1"/>
                    <a:pt x="83" y="1"/>
                  </a:cubicBezTo>
                  <a:cubicBezTo>
                    <a:pt x="100" y="0"/>
                    <a:pt x="100" y="11"/>
                    <a:pt x="100" y="23"/>
                  </a:cubicBezTo>
                  <a:cubicBezTo>
                    <a:pt x="100" y="36"/>
                    <a:pt x="99" y="47"/>
                    <a:pt x="83" y="47"/>
                  </a:cubicBezTo>
                  <a:cubicBezTo>
                    <a:pt x="72" y="47"/>
                    <a:pt x="61" y="47"/>
                    <a:pt x="50" y="47"/>
                  </a:cubicBezTo>
                  <a:cubicBezTo>
                    <a:pt x="50" y="47"/>
                    <a:pt x="50" y="46"/>
                    <a:pt x="50" y="46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46" name="Freeform 49"/>
            <p:cNvSpPr>
              <a:spLocks/>
            </p:cNvSpPr>
            <p:nvPr/>
          </p:nvSpPr>
          <p:spPr bwMode="auto">
            <a:xfrm>
              <a:off x="6158301" y="1635974"/>
              <a:ext cx="293863" cy="140016"/>
            </a:xfrm>
            <a:custGeom>
              <a:avLst/>
              <a:gdLst>
                <a:gd name="T0" fmla="*/ 50 w 102"/>
                <a:gd name="T1" fmla="*/ 1 h 47"/>
                <a:gd name="T2" fmla="*/ 74 w 102"/>
                <a:gd name="T3" fmla="*/ 1 h 47"/>
                <a:gd name="T4" fmla="*/ 100 w 102"/>
                <a:gd name="T5" fmla="*/ 30 h 47"/>
                <a:gd name="T6" fmla="*/ 81 w 102"/>
                <a:gd name="T7" fmla="*/ 47 h 47"/>
                <a:gd name="T8" fmla="*/ 20 w 102"/>
                <a:gd name="T9" fmla="*/ 47 h 47"/>
                <a:gd name="T10" fmla="*/ 2 w 102"/>
                <a:gd name="T11" fmla="*/ 21 h 47"/>
                <a:gd name="T12" fmla="*/ 20 w 102"/>
                <a:gd name="T13" fmla="*/ 1 h 47"/>
                <a:gd name="T14" fmla="*/ 50 w 102"/>
                <a:gd name="T15" fmla="*/ 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47">
                  <a:moveTo>
                    <a:pt x="50" y="1"/>
                  </a:moveTo>
                  <a:cubicBezTo>
                    <a:pt x="58" y="1"/>
                    <a:pt x="66" y="1"/>
                    <a:pt x="74" y="1"/>
                  </a:cubicBezTo>
                  <a:cubicBezTo>
                    <a:pt x="99" y="1"/>
                    <a:pt x="102" y="4"/>
                    <a:pt x="100" y="30"/>
                  </a:cubicBezTo>
                  <a:cubicBezTo>
                    <a:pt x="99" y="42"/>
                    <a:pt x="94" y="47"/>
                    <a:pt x="81" y="47"/>
                  </a:cubicBezTo>
                  <a:cubicBezTo>
                    <a:pt x="61" y="47"/>
                    <a:pt x="40" y="46"/>
                    <a:pt x="20" y="47"/>
                  </a:cubicBezTo>
                  <a:cubicBezTo>
                    <a:pt x="0" y="47"/>
                    <a:pt x="2" y="35"/>
                    <a:pt x="2" y="21"/>
                  </a:cubicBezTo>
                  <a:cubicBezTo>
                    <a:pt x="1" y="7"/>
                    <a:pt x="5" y="0"/>
                    <a:pt x="20" y="1"/>
                  </a:cubicBezTo>
                  <a:cubicBezTo>
                    <a:pt x="30" y="1"/>
                    <a:pt x="40" y="1"/>
                    <a:pt x="50" y="1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Freeform 50"/>
            <p:cNvSpPr>
              <a:spLocks/>
            </p:cNvSpPr>
            <p:nvPr/>
          </p:nvSpPr>
          <p:spPr bwMode="auto">
            <a:xfrm>
              <a:off x="-31112" y="1635974"/>
              <a:ext cx="293863" cy="140016"/>
            </a:xfrm>
            <a:custGeom>
              <a:avLst/>
              <a:gdLst>
                <a:gd name="T0" fmla="*/ 51 w 102"/>
                <a:gd name="T1" fmla="*/ 1 h 47"/>
                <a:gd name="T2" fmla="*/ 75 w 102"/>
                <a:gd name="T3" fmla="*/ 1 h 47"/>
                <a:gd name="T4" fmla="*/ 101 w 102"/>
                <a:gd name="T5" fmla="*/ 28 h 47"/>
                <a:gd name="T6" fmla="*/ 84 w 102"/>
                <a:gd name="T7" fmla="*/ 47 h 47"/>
                <a:gd name="T8" fmla="*/ 18 w 102"/>
                <a:gd name="T9" fmla="*/ 47 h 47"/>
                <a:gd name="T10" fmla="*/ 1 w 102"/>
                <a:gd name="T11" fmla="*/ 22 h 47"/>
                <a:gd name="T12" fmla="*/ 19 w 102"/>
                <a:gd name="T13" fmla="*/ 1 h 47"/>
                <a:gd name="T14" fmla="*/ 51 w 102"/>
                <a:gd name="T15" fmla="*/ 1 h 47"/>
                <a:gd name="T16" fmla="*/ 51 w 102"/>
                <a:gd name="T17" fmla="*/ 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7">
                  <a:moveTo>
                    <a:pt x="51" y="1"/>
                  </a:moveTo>
                  <a:cubicBezTo>
                    <a:pt x="59" y="1"/>
                    <a:pt x="67" y="1"/>
                    <a:pt x="75" y="1"/>
                  </a:cubicBezTo>
                  <a:cubicBezTo>
                    <a:pt x="100" y="1"/>
                    <a:pt x="102" y="3"/>
                    <a:pt x="101" y="28"/>
                  </a:cubicBezTo>
                  <a:cubicBezTo>
                    <a:pt x="101" y="41"/>
                    <a:pt x="96" y="47"/>
                    <a:pt x="84" y="47"/>
                  </a:cubicBezTo>
                  <a:cubicBezTo>
                    <a:pt x="62" y="47"/>
                    <a:pt x="40" y="46"/>
                    <a:pt x="18" y="47"/>
                  </a:cubicBezTo>
                  <a:cubicBezTo>
                    <a:pt x="0" y="47"/>
                    <a:pt x="1" y="35"/>
                    <a:pt x="1" y="22"/>
                  </a:cubicBezTo>
                  <a:cubicBezTo>
                    <a:pt x="1" y="9"/>
                    <a:pt x="3" y="0"/>
                    <a:pt x="19" y="1"/>
                  </a:cubicBezTo>
                  <a:cubicBezTo>
                    <a:pt x="30" y="1"/>
                    <a:pt x="40" y="1"/>
                    <a:pt x="51" y="1"/>
                  </a:cubicBezTo>
                  <a:cubicBezTo>
                    <a:pt x="51" y="1"/>
                    <a:pt x="51" y="1"/>
                    <a:pt x="51" y="1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48" name="Freeform 51"/>
            <p:cNvSpPr>
              <a:spLocks/>
            </p:cNvSpPr>
            <p:nvPr/>
          </p:nvSpPr>
          <p:spPr bwMode="auto">
            <a:xfrm>
              <a:off x="6936245" y="1632189"/>
              <a:ext cx="296302" cy="146323"/>
            </a:xfrm>
            <a:custGeom>
              <a:avLst/>
              <a:gdLst>
                <a:gd name="T0" fmla="*/ 52 w 103"/>
                <a:gd name="T1" fmla="*/ 2 h 49"/>
                <a:gd name="T2" fmla="*/ 78 w 103"/>
                <a:gd name="T3" fmla="*/ 2 h 49"/>
                <a:gd name="T4" fmla="*/ 103 w 103"/>
                <a:gd name="T5" fmla="*/ 23 h 49"/>
                <a:gd name="T6" fmla="*/ 79 w 103"/>
                <a:gd name="T7" fmla="*/ 48 h 49"/>
                <a:gd name="T8" fmla="*/ 19 w 103"/>
                <a:gd name="T9" fmla="*/ 48 h 49"/>
                <a:gd name="T10" fmla="*/ 1 w 103"/>
                <a:gd name="T11" fmla="*/ 26 h 49"/>
                <a:gd name="T12" fmla="*/ 18 w 103"/>
                <a:gd name="T13" fmla="*/ 2 h 49"/>
                <a:gd name="T14" fmla="*/ 52 w 103"/>
                <a:gd name="T15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3" h="49">
                  <a:moveTo>
                    <a:pt x="52" y="2"/>
                  </a:moveTo>
                  <a:cubicBezTo>
                    <a:pt x="61" y="2"/>
                    <a:pt x="70" y="3"/>
                    <a:pt x="78" y="2"/>
                  </a:cubicBezTo>
                  <a:cubicBezTo>
                    <a:pt x="94" y="0"/>
                    <a:pt x="103" y="5"/>
                    <a:pt x="103" y="23"/>
                  </a:cubicBezTo>
                  <a:cubicBezTo>
                    <a:pt x="102" y="41"/>
                    <a:pt x="98" y="49"/>
                    <a:pt x="79" y="48"/>
                  </a:cubicBezTo>
                  <a:cubicBezTo>
                    <a:pt x="59" y="46"/>
                    <a:pt x="39" y="47"/>
                    <a:pt x="19" y="48"/>
                  </a:cubicBezTo>
                  <a:cubicBezTo>
                    <a:pt x="4" y="48"/>
                    <a:pt x="0" y="40"/>
                    <a:pt x="1" y="26"/>
                  </a:cubicBezTo>
                  <a:cubicBezTo>
                    <a:pt x="1" y="14"/>
                    <a:pt x="1" y="2"/>
                    <a:pt x="18" y="2"/>
                  </a:cubicBezTo>
                  <a:cubicBezTo>
                    <a:pt x="30" y="2"/>
                    <a:pt x="41" y="2"/>
                    <a:pt x="52" y="2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49" name="Freeform 52"/>
            <p:cNvSpPr>
              <a:spLocks/>
            </p:cNvSpPr>
            <p:nvPr/>
          </p:nvSpPr>
          <p:spPr bwMode="auto">
            <a:xfrm>
              <a:off x="5760793" y="1629666"/>
              <a:ext cx="302398" cy="146323"/>
            </a:xfrm>
            <a:custGeom>
              <a:avLst/>
              <a:gdLst>
                <a:gd name="T0" fmla="*/ 56 w 105"/>
                <a:gd name="T1" fmla="*/ 3 h 49"/>
                <a:gd name="T2" fmla="*/ 79 w 105"/>
                <a:gd name="T3" fmla="*/ 3 h 49"/>
                <a:gd name="T4" fmla="*/ 105 w 105"/>
                <a:gd name="T5" fmla="*/ 27 h 49"/>
                <a:gd name="T6" fmla="*/ 84 w 105"/>
                <a:gd name="T7" fmla="*/ 49 h 49"/>
                <a:gd name="T8" fmla="*/ 22 w 105"/>
                <a:gd name="T9" fmla="*/ 48 h 49"/>
                <a:gd name="T10" fmla="*/ 4 w 105"/>
                <a:gd name="T11" fmla="*/ 20 h 49"/>
                <a:gd name="T12" fmla="*/ 22 w 105"/>
                <a:gd name="T13" fmla="*/ 3 h 49"/>
                <a:gd name="T14" fmla="*/ 56 w 105"/>
                <a:gd name="T15" fmla="*/ 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" h="49">
                  <a:moveTo>
                    <a:pt x="56" y="3"/>
                  </a:moveTo>
                  <a:cubicBezTo>
                    <a:pt x="64" y="3"/>
                    <a:pt x="72" y="3"/>
                    <a:pt x="79" y="3"/>
                  </a:cubicBezTo>
                  <a:cubicBezTo>
                    <a:pt x="99" y="0"/>
                    <a:pt x="105" y="8"/>
                    <a:pt x="105" y="27"/>
                  </a:cubicBezTo>
                  <a:cubicBezTo>
                    <a:pt x="104" y="43"/>
                    <a:pt x="99" y="49"/>
                    <a:pt x="84" y="49"/>
                  </a:cubicBezTo>
                  <a:cubicBezTo>
                    <a:pt x="63" y="48"/>
                    <a:pt x="42" y="48"/>
                    <a:pt x="22" y="48"/>
                  </a:cubicBezTo>
                  <a:cubicBezTo>
                    <a:pt x="0" y="49"/>
                    <a:pt x="5" y="33"/>
                    <a:pt x="4" y="20"/>
                  </a:cubicBezTo>
                  <a:cubicBezTo>
                    <a:pt x="2" y="7"/>
                    <a:pt x="10" y="2"/>
                    <a:pt x="22" y="3"/>
                  </a:cubicBezTo>
                  <a:cubicBezTo>
                    <a:pt x="33" y="3"/>
                    <a:pt x="44" y="3"/>
                    <a:pt x="56" y="3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50" name="Freeform 53"/>
            <p:cNvSpPr>
              <a:spLocks/>
            </p:cNvSpPr>
            <p:nvPr/>
          </p:nvSpPr>
          <p:spPr bwMode="auto">
            <a:xfrm>
              <a:off x="751710" y="1635974"/>
              <a:ext cx="291425" cy="142539"/>
            </a:xfrm>
            <a:custGeom>
              <a:avLst/>
              <a:gdLst>
                <a:gd name="T0" fmla="*/ 49 w 101"/>
                <a:gd name="T1" fmla="*/ 1 h 48"/>
                <a:gd name="T2" fmla="*/ 75 w 101"/>
                <a:gd name="T3" fmla="*/ 1 h 48"/>
                <a:gd name="T4" fmla="*/ 101 w 101"/>
                <a:gd name="T5" fmla="*/ 21 h 48"/>
                <a:gd name="T6" fmla="*/ 76 w 101"/>
                <a:gd name="T7" fmla="*/ 47 h 48"/>
                <a:gd name="T8" fmla="*/ 24 w 101"/>
                <a:gd name="T9" fmla="*/ 47 h 48"/>
                <a:gd name="T10" fmla="*/ 0 w 101"/>
                <a:gd name="T11" fmla="*/ 22 h 48"/>
                <a:gd name="T12" fmla="*/ 23 w 101"/>
                <a:gd name="T13" fmla="*/ 1 h 48"/>
                <a:gd name="T14" fmla="*/ 49 w 101"/>
                <a:gd name="T15" fmla="*/ 1 h 48"/>
                <a:gd name="T16" fmla="*/ 49 w 101"/>
                <a:gd name="T17" fmla="*/ 1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" h="48">
                  <a:moveTo>
                    <a:pt x="49" y="1"/>
                  </a:moveTo>
                  <a:cubicBezTo>
                    <a:pt x="58" y="1"/>
                    <a:pt x="67" y="1"/>
                    <a:pt x="75" y="1"/>
                  </a:cubicBezTo>
                  <a:cubicBezTo>
                    <a:pt x="90" y="0"/>
                    <a:pt x="101" y="1"/>
                    <a:pt x="101" y="21"/>
                  </a:cubicBezTo>
                  <a:cubicBezTo>
                    <a:pt x="101" y="40"/>
                    <a:pt x="95" y="48"/>
                    <a:pt x="76" y="47"/>
                  </a:cubicBezTo>
                  <a:cubicBezTo>
                    <a:pt x="59" y="46"/>
                    <a:pt x="41" y="46"/>
                    <a:pt x="24" y="47"/>
                  </a:cubicBezTo>
                  <a:cubicBezTo>
                    <a:pt x="5" y="48"/>
                    <a:pt x="0" y="40"/>
                    <a:pt x="0" y="22"/>
                  </a:cubicBezTo>
                  <a:cubicBezTo>
                    <a:pt x="0" y="4"/>
                    <a:pt x="8" y="0"/>
                    <a:pt x="23" y="1"/>
                  </a:cubicBezTo>
                  <a:cubicBezTo>
                    <a:pt x="32" y="1"/>
                    <a:pt x="41" y="1"/>
                    <a:pt x="49" y="1"/>
                  </a:cubicBezTo>
                  <a:cubicBezTo>
                    <a:pt x="49" y="1"/>
                    <a:pt x="49" y="1"/>
                    <a:pt x="49" y="1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51" name="Freeform 54"/>
            <p:cNvSpPr>
              <a:spLocks/>
            </p:cNvSpPr>
            <p:nvPr/>
          </p:nvSpPr>
          <p:spPr bwMode="auto">
            <a:xfrm>
              <a:off x="-423742" y="1635974"/>
              <a:ext cx="312153" cy="140016"/>
            </a:xfrm>
            <a:custGeom>
              <a:avLst/>
              <a:gdLst>
                <a:gd name="T0" fmla="*/ 48 w 108"/>
                <a:gd name="T1" fmla="*/ 1 h 47"/>
                <a:gd name="T2" fmla="*/ 74 w 108"/>
                <a:gd name="T3" fmla="*/ 1 h 47"/>
                <a:gd name="T4" fmla="*/ 100 w 108"/>
                <a:gd name="T5" fmla="*/ 35 h 47"/>
                <a:gd name="T6" fmla="*/ 85 w 108"/>
                <a:gd name="T7" fmla="*/ 46 h 47"/>
                <a:gd name="T8" fmla="*/ 17 w 108"/>
                <a:gd name="T9" fmla="*/ 46 h 47"/>
                <a:gd name="T10" fmla="*/ 1 w 108"/>
                <a:gd name="T11" fmla="*/ 23 h 47"/>
                <a:gd name="T12" fmla="*/ 19 w 108"/>
                <a:gd name="T13" fmla="*/ 1 h 47"/>
                <a:gd name="T14" fmla="*/ 48 w 108"/>
                <a:gd name="T15" fmla="*/ 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8" h="47">
                  <a:moveTo>
                    <a:pt x="48" y="1"/>
                  </a:moveTo>
                  <a:cubicBezTo>
                    <a:pt x="57" y="1"/>
                    <a:pt x="66" y="1"/>
                    <a:pt x="74" y="1"/>
                  </a:cubicBezTo>
                  <a:cubicBezTo>
                    <a:pt x="100" y="1"/>
                    <a:pt x="108" y="11"/>
                    <a:pt x="100" y="35"/>
                  </a:cubicBezTo>
                  <a:cubicBezTo>
                    <a:pt x="99" y="40"/>
                    <a:pt x="90" y="46"/>
                    <a:pt x="85" y="46"/>
                  </a:cubicBezTo>
                  <a:cubicBezTo>
                    <a:pt x="62" y="47"/>
                    <a:pt x="40" y="46"/>
                    <a:pt x="17" y="46"/>
                  </a:cubicBezTo>
                  <a:cubicBezTo>
                    <a:pt x="0" y="46"/>
                    <a:pt x="1" y="35"/>
                    <a:pt x="1" y="23"/>
                  </a:cubicBezTo>
                  <a:cubicBezTo>
                    <a:pt x="1" y="10"/>
                    <a:pt x="2" y="0"/>
                    <a:pt x="19" y="1"/>
                  </a:cubicBezTo>
                  <a:cubicBezTo>
                    <a:pt x="28" y="1"/>
                    <a:pt x="38" y="1"/>
                    <a:pt x="48" y="1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52" name="Freeform 55"/>
            <p:cNvSpPr>
              <a:spLocks/>
            </p:cNvSpPr>
            <p:nvPr/>
          </p:nvSpPr>
          <p:spPr bwMode="auto">
            <a:xfrm>
              <a:off x="4985288" y="2047191"/>
              <a:ext cx="293863" cy="140016"/>
            </a:xfrm>
            <a:custGeom>
              <a:avLst/>
              <a:gdLst>
                <a:gd name="T0" fmla="*/ 52 w 102"/>
                <a:gd name="T1" fmla="*/ 45 h 47"/>
                <a:gd name="T2" fmla="*/ 25 w 102"/>
                <a:gd name="T3" fmla="*/ 45 h 47"/>
                <a:gd name="T4" fmla="*/ 0 w 102"/>
                <a:gd name="T5" fmla="*/ 21 h 47"/>
                <a:gd name="T6" fmla="*/ 24 w 102"/>
                <a:gd name="T7" fmla="*/ 1 h 47"/>
                <a:gd name="T8" fmla="*/ 84 w 102"/>
                <a:gd name="T9" fmla="*/ 1 h 47"/>
                <a:gd name="T10" fmla="*/ 102 w 102"/>
                <a:gd name="T11" fmla="*/ 23 h 47"/>
                <a:gd name="T12" fmla="*/ 84 w 102"/>
                <a:gd name="T13" fmla="*/ 46 h 47"/>
                <a:gd name="T14" fmla="*/ 52 w 102"/>
                <a:gd name="T15" fmla="*/ 46 h 47"/>
                <a:gd name="T16" fmla="*/ 52 w 102"/>
                <a:gd name="T17" fmla="*/ 4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7">
                  <a:moveTo>
                    <a:pt x="52" y="45"/>
                  </a:moveTo>
                  <a:cubicBezTo>
                    <a:pt x="43" y="45"/>
                    <a:pt x="34" y="45"/>
                    <a:pt x="25" y="45"/>
                  </a:cubicBezTo>
                  <a:cubicBezTo>
                    <a:pt x="6" y="47"/>
                    <a:pt x="0" y="39"/>
                    <a:pt x="0" y="21"/>
                  </a:cubicBezTo>
                  <a:cubicBezTo>
                    <a:pt x="0" y="2"/>
                    <a:pt x="10" y="0"/>
                    <a:pt x="24" y="1"/>
                  </a:cubicBezTo>
                  <a:cubicBezTo>
                    <a:pt x="44" y="1"/>
                    <a:pt x="64" y="1"/>
                    <a:pt x="84" y="1"/>
                  </a:cubicBezTo>
                  <a:cubicBezTo>
                    <a:pt x="100" y="0"/>
                    <a:pt x="102" y="10"/>
                    <a:pt x="102" y="23"/>
                  </a:cubicBezTo>
                  <a:cubicBezTo>
                    <a:pt x="102" y="36"/>
                    <a:pt x="101" y="46"/>
                    <a:pt x="84" y="46"/>
                  </a:cubicBezTo>
                  <a:cubicBezTo>
                    <a:pt x="74" y="45"/>
                    <a:pt x="63" y="46"/>
                    <a:pt x="52" y="46"/>
                  </a:cubicBezTo>
                  <a:cubicBezTo>
                    <a:pt x="52" y="45"/>
                    <a:pt x="52" y="45"/>
                    <a:pt x="52" y="45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3" name="Freeform 56"/>
            <p:cNvSpPr>
              <a:spLocks/>
            </p:cNvSpPr>
            <p:nvPr/>
          </p:nvSpPr>
          <p:spPr bwMode="auto">
            <a:xfrm>
              <a:off x="4985288" y="1233585"/>
              <a:ext cx="293863" cy="140016"/>
            </a:xfrm>
            <a:custGeom>
              <a:avLst/>
              <a:gdLst>
                <a:gd name="T0" fmla="*/ 50 w 102"/>
                <a:gd name="T1" fmla="*/ 45 h 47"/>
                <a:gd name="T2" fmla="*/ 26 w 102"/>
                <a:gd name="T3" fmla="*/ 45 h 47"/>
                <a:gd name="T4" fmla="*/ 0 w 102"/>
                <a:gd name="T5" fmla="*/ 23 h 47"/>
                <a:gd name="T6" fmla="*/ 27 w 102"/>
                <a:gd name="T7" fmla="*/ 1 h 47"/>
                <a:gd name="T8" fmla="*/ 84 w 102"/>
                <a:gd name="T9" fmla="*/ 1 h 47"/>
                <a:gd name="T10" fmla="*/ 102 w 102"/>
                <a:gd name="T11" fmla="*/ 23 h 47"/>
                <a:gd name="T12" fmla="*/ 84 w 102"/>
                <a:gd name="T13" fmla="*/ 46 h 47"/>
                <a:gd name="T14" fmla="*/ 50 w 102"/>
                <a:gd name="T15" fmla="*/ 45 h 47"/>
                <a:gd name="T16" fmla="*/ 50 w 102"/>
                <a:gd name="T17" fmla="*/ 4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7">
                  <a:moveTo>
                    <a:pt x="50" y="45"/>
                  </a:moveTo>
                  <a:cubicBezTo>
                    <a:pt x="42" y="45"/>
                    <a:pt x="34" y="45"/>
                    <a:pt x="26" y="45"/>
                  </a:cubicBezTo>
                  <a:cubicBezTo>
                    <a:pt x="10" y="47"/>
                    <a:pt x="0" y="43"/>
                    <a:pt x="0" y="23"/>
                  </a:cubicBezTo>
                  <a:cubicBezTo>
                    <a:pt x="0" y="3"/>
                    <a:pt x="11" y="0"/>
                    <a:pt x="27" y="1"/>
                  </a:cubicBezTo>
                  <a:cubicBezTo>
                    <a:pt x="46" y="1"/>
                    <a:pt x="65" y="1"/>
                    <a:pt x="84" y="1"/>
                  </a:cubicBezTo>
                  <a:cubicBezTo>
                    <a:pt x="100" y="1"/>
                    <a:pt x="102" y="11"/>
                    <a:pt x="102" y="23"/>
                  </a:cubicBezTo>
                  <a:cubicBezTo>
                    <a:pt x="102" y="36"/>
                    <a:pt x="101" y="46"/>
                    <a:pt x="84" y="46"/>
                  </a:cubicBezTo>
                  <a:cubicBezTo>
                    <a:pt x="73" y="45"/>
                    <a:pt x="62" y="45"/>
                    <a:pt x="50" y="45"/>
                  </a:cubicBezTo>
                  <a:cubicBezTo>
                    <a:pt x="50" y="45"/>
                    <a:pt x="50" y="45"/>
                    <a:pt x="50" y="45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54" name="Freeform 57"/>
            <p:cNvSpPr>
              <a:spLocks/>
            </p:cNvSpPr>
            <p:nvPr/>
          </p:nvSpPr>
          <p:spPr bwMode="auto">
            <a:xfrm>
              <a:off x="5769328" y="2047191"/>
              <a:ext cx="293863" cy="136232"/>
            </a:xfrm>
            <a:custGeom>
              <a:avLst/>
              <a:gdLst>
                <a:gd name="T0" fmla="*/ 51 w 102"/>
                <a:gd name="T1" fmla="*/ 1 h 46"/>
                <a:gd name="T2" fmla="*/ 77 w 102"/>
                <a:gd name="T3" fmla="*/ 0 h 46"/>
                <a:gd name="T4" fmla="*/ 102 w 102"/>
                <a:gd name="T5" fmla="*/ 22 h 46"/>
                <a:gd name="T6" fmla="*/ 77 w 102"/>
                <a:gd name="T7" fmla="*/ 46 h 46"/>
                <a:gd name="T8" fmla="*/ 19 w 102"/>
                <a:gd name="T9" fmla="*/ 45 h 46"/>
                <a:gd name="T10" fmla="*/ 0 w 102"/>
                <a:gd name="T11" fmla="*/ 22 h 46"/>
                <a:gd name="T12" fmla="*/ 20 w 102"/>
                <a:gd name="T13" fmla="*/ 1 h 46"/>
                <a:gd name="T14" fmla="*/ 51 w 102"/>
                <a:gd name="T15" fmla="*/ 1 h 46"/>
                <a:gd name="T16" fmla="*/ 51 w 102"/>
                <a:gd name="T17" fmla="*/ 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6">
                  <a:moveTo>
                    <a:pt x="51" y="1"/>
                  </a:moveTo>
                  <a:cubicBezTo>
                    <a:pt x="60" y="1"/>
                    <a:pt x="69" y="1"/>
                    <a:pt x="77" y="0"/>
                  </a:cubicBezTo>
                  <a:cubicBezTo>
                    <a:pt x="93" y="0"/>
                    <a:pt x="102" y="4"/>
                    <a:pt x="102" y="22"/>
                  </a:cubicBezTo>
                  <a:cubicBezTo>
                    <a:pt x="102" y="41"/>
                    <a:pt x="94" y="46"/>
                    <a:pt x="77" y="46"/>
                  </a:cubicBezTo>
                  <a:cubicBezTo>
                    <a:pt x="57" y="45"/>
                    <a:pt x="38" y="45"/>
                    <a:pt x="19" y="45"/>
                  </a:cubicBezTo>
                  <a:cubicBezTo>
                    <a:pt x="1" y="46"/>
                    <a:pt x="1" y="35"/>
                    <a:pt x="0" y="22"/>
                  </a:cubicBezTo>
                  <a:cubicBezTo>
                    <a:pt x="0" y="8"/>
                    <a:pt x="5" y="0"/>
                    <a:pt x="20" y="1"/>
                  </a:cubicBezTo>
                  <a:cubicBezTo>
                    <a:pt x="30" y="1"/>
                    <a:pt x="41" y="1"/>
                    <a:pt x="51" y="1"/>
                  </a:cubicBezTo>
                  <a:cubicBezTo>
                    <a:pt x="51" y="1"/>
                    <a:pt x="51" y="1"/>
                    <a:pt x="51" y="1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55" name="Freeform 58"/>
            <p:cNvSpPr>
              <a:spLocks/>
            </p:cNvSpPr>
            <p:nvPr/>
          </p:nvSpPr>
          <p:spPr bwMode="auto">
            <a:xfrm>
              <a:off x="-806617" y="1635974"/>
              <a:ext cx="287766" cy="140016"/>
            </a:xfrm>
            <a:custGeom>
              <a:avLst/>
              <a:gdLst>
                <a:gd name="T0" fmla="*/ 50 w 100"/>
                <a:gd name="T1" fmla="*/ 1 h 47"/>
                <a:gd name="T2" fmla="*/ 72 w 100"/>
                <a:gd name="T3" fmla="*/ 1 h 47"/>
                <a:gd name="T4" fmla="*/ 99 w 100"/>
                <a:gd name="T5" fmla="*/ 29 h 47"/>
                <a:gd name="T6" fmla="*/ 82 w 100"/>
                <a:gd name="T7" fmla="*/ 46 h 47"/>
                <a:gd name="T8" fmla="*/ 18 w 100"/>
                <a:gd name="T9" fmla="*/ 47 h 47"/>
                <a:gd name="T10" fmla="*/ 1 w 100"/>
                <a:gd name="T11" fmla="*/ 21 h 47"/>
                <a:gd name="T12" fmla="*/ 18 w 100"/>
                <a:gd name="T13" fmla="*/ 1 h 47"/>
                <a:gd name="T14" fmla="*/ 50 w 100"/>
                <a:gd name="T15" fmla="*/ 1 h 47"/>
                <a:gd name="T16" fmla="*/ 50 w 100"/>
                <a:gd name="T17" fmla="*/ 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0" h="47">
                  <a:moveTo>
                    <a:pt x="50" y="1"/>
                  </a:moveTo>
                  <a:cubicBezTo>
                    <a:pt x="58" y="1"/>
                    <a:pt x="65" y="1"/>
                    <a:pt x="72" y="1"/>
                  </a:cubicBezTo>
                  <a:cubicBezTo>
                    <a:pt x="97" y="1"/>
                    <a:pt x="100" y="4"/>
                    <a:pt x="99" y="29"/>
                  </a:cubicBezTo>
                  <a:cubicBezTo>
                    <a:pt x="98" y="40"/>
                    <a:pt x="94" y="46"/>
                    <a:pt x="82" y="46"/>
                  </a:cubicBezTo>
                  <a:cubicBezTo>
                    <a:pt x="61" y="47"/>
                    <a:pt x="39" y="47"/>
                    <a:pt x="18" y="47"/>
                  </a:cubicBezTo>
                  <a:cubicBezTo>
                    <a:pt x="0" y="47"/>
                    <a:pt x="2" y="34"/>
                    <a:pt x="1" y="21"/>
                  </a:cubicBezTo>
                  <a:cubicBezTo>
                    <a:pt x="1" y="9"/>
                    <a:pt x="3" y="0"/>
                    <a:pt x="18" y="1"/>
                  </a:cubicBezTo>
                  <a:cubicBezTo>
                    <a:pt x="29" y="1"/>
                    <a:pt x="40" y="1"/>
                    <a:pt x="50" y="1"/>
                  </a:cubicBezTo>
                  <a:cubicBezTo>
                    <a:pt x="50" y="1"/>
                    <a:pt x="50" y="1"/>
                    <a:pt x="50" y="1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56" name="Freeform 59"/>
            <p:cNvSpPr>
              <a:spLocks/>
            </p:cNvSpPr>
            <p:nvPr/>
          </p:nvSpPr>
          <p:spPr bwMode="auto">
            <a:xfrm>
              <a:off x="5766890" y="1236108"/>
              <a:ext cx="296302" cy="133709"/>
            </a:xfrm>
            <a:custGeom>
              <a:avLst/>
              <a:gdLst>
                <a:gd name="T0" fmla="*/ 50 w 103"/>
                <a:gd name="T1" fmla="*/ 44 h 45"/>
                <a:gd name="T2" fmla="*/ 26 w 103"/>
                <a:gd name="T3" fmla="*/ 44 h 45"/>
                <a:gd name="T4" fmla="*/ 1 w 103"/>
                <a:gd name="T5" fmla="*/ 17 h 45"/>
                <a:gd name="T6" fmla="*/ 19 w 103"/>
                <a:gd name="T7" fmla="*/ 0 h 45"/>
                <a:gd name="T8" fmla="*/ 84 w 103"/>
                <a:gd name="T9" fmla="*/ 0 h 45"/>
                <a:gd name="T10" fmla="*/ 103 w 103"/>
                <a:gd name="T11" fmla="*/ 25 h 45"/>
                <a:gd name="T12" fmla="*/ 84 w 103"/>
                <a:gd name="T13" fmla="*/ 44 h 45"/>
                <a:gd name="T14" fmla="*/ 50 w 103"/>
                <a:gd name="T15" fmla="*/ 44 h 45"/>
                <a:gd name="T16" fmla="*/ 50 w 103"/>
                <a:gd name="T17" fmla="*/ 4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">
                  <a:moveTo>
                    <a:pt x="50" y="44"/>
                  </a:moveTo>
                  <a:cubicBezTo>
                    <a:pt x="42" y="44"/>
                    <a:pt x="34" y="44"/>
                    <a:pt x="26" y="44"/>
                  </a:cubicBezTo>
                  <a:cubicBezTo>
                    <a:pt x="4" y="45"/>
                    <a:pt x="0" y="40"/>
                    <a:pt x="1" y="17"/>
                  </a:cubicBezTo>
                  <a:cubicBezTo>
                    <a:pt x="2" y="5"/>
                    <a:pt x="7" y="0"/>
                    <a:pt x="19" y="0"/>
                  </a:cubicBezTo>
                  <a:cubicBezTo>
                    <a:pt x="41" y="0"/>
                    <a:pt x="62" y="1"/>
                    <a:pt x="84" y="0"/>
                  </a:cubicBezTo>
                  <a:cubicBezTo>
                    <a:pt x="102" y="0"/>
                    <a:pt x="102" y="12"/>
                    <a:pt x="103" y="25"/>
                  </a:cubicBezTo>
                  <a:cubicBezTo>
                    <a:pt x="103" y="38"/>
                    <a:pt x="98" y="45"/>
                    <a:pt x="84" y="44"/>
                  </a:cubicBezTo>
                  <a:cubicBezTo>
                    <a:pt x="73" y="44"/>
                    <a:pt x="61" y="44"/>
                    <a:pt x="50" y="44"/>
                  </a:cubicBezTo>
                  <a:cubicBezTo>
                    <a:pt x="50" y="44"/>
                    <a:pt x="50" y="44"/>
                    <a:pt x="50" y="44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57" name="Freeform 60"/>
            <p:cNvSpPr>
              <a:spLocks/>
            </p:cNvSpPr>
            <p:nvPr/>
          </p:nvSpPr>
          <p:spPr bwMode="auto">
            <a:xfrm>
              <a:off x="5377918" y="2043407"/>
              <a:ext cx="293863" cy="140016"/>
            </a:xfrm>
            <a:custGeom>
              <a:avLst/>
              <a:gdLst>
                <a:gd name="T0" fmla="*/ 50 w 102"/>
                <a:gd name="T1" fmla="*/ 46 h 47"/>
                <a:gd name="T2" fmla="*/ 26 w 102"/>
                <a:gd name="T3" fmla="*/ 47 h 47"/>
                <a:gd name="T4" fmla="*/ 0 w 102"/>
                <a:gd name="T5" fmla="*/ 25 h 47"/>
                <a:gd name="T6" fmla="*/ 25 w 102"/>
                <a:gd name="T7" fmla="*/ 1 h 47"/>
                <a:gd name="T8" fmla="*/ 83 w 102"/>
                <a:gd name="T9" fmla="*/ 1 h 47"/>
                <a:gd name="T10" fmla="*/ 102 w 102"/>
                <a:gd name="T11" fmla="*/ 23 h 47"/>
                <a:gd name="T12" fmla="*/ 84 w 102"/>
                <a:gd name="T13" fmla="*/ 47 h 47"/>
                <a:gd name="T14" fmla="*/ 50 w 102"/>
                <a:gd name="T15" fmla="*/ 47 h 47"/>
                <a:gd name="T16" fmla="*/ 50 w 102"/>
                <a:gd name="T17" fmla="*/ 4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7">
                  <a:moveTo>
                    <a:pt x="50" y="46"/>
                  </a:moveTo>
                  <a:cubicBezTo>
                    <a:pt x="42" y="46"/>
                    <a:pt x="34" y="46"/>
                    <a:pt x="26" y="47"/>
                  </a:cubicBezTo>
                  <a:cubicBezTo>
                    <a:pt x="11" y="47"/>
                    <a:pt x="0" y="45"/>
                    <a:pt x="0" y="25"/>
                  </a:cubicBezTo>
                  <a:cubicBezTo>
                    <a:pt x="0" y="7"/>
                    <a:pt x="7" y="0"/>
                    <a:pt x="25" y="1"/>
                  </a:cubicBezTo>
                  <a:cubicBezTo>
                    <a:pt x="44" y="3"/>
                    <a:pt x="64" y="2"/>
                    <a:pt x="83" y="1"/>
                  </a:cubicBezTo>
                  <a:cubicBezTo>
                    <a:pt x="98" y="1"/>
                    <a:pt x="102" y="9"/>
                    <a:pt x="102" y="23"/>
                  </a:cubicBezTo>
                  <a:cubicBezTo>
                    <a:pt x="102" y="36"/>
                    <a:pt x="101" y="47"/>
                    <a:pt x="84" y="47"/>
                  </a:cubicBezTo>
                  <a:cubicBezTo>
                    <a:pt x="72" y="46"/>
                    <a:pt x="61" y="47"/>
                    <a:pt x="50" y="47"/>
                  </a:cubicBezTo>
                  <a:cubicBezTo>
                    <a:pt x="50" y="47"/>
                    <a:pt x="50" y="46"/>
                    <a:pt x="50" y="46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58" name="Freeform 61"/>
            <p:cNvSpPr>
              <a:spLocks/>
            </p:cNvSpPr>
            <p:nvPr/>
          </p:nvSpPr>
          <p:spPr bwMode="auto">
            <a:xfrm>
              <a:off x="5377918" y="1236108"/>
              <a:ext cx="293863" cy="133709"/>
            </a:xfrm>
            <a:custGeom>
              <a:avLst/>
              <a:gdLst>
                <a:gd name="T0" fmla="*/ 51 w 102"/>
                <a:gd name="T1" fmla="*/ 0 h 45"/>
                <a:gd name="T2" fmla="*/ 77 w 102"/>
                <a:gd name="T3" fmla="*/ 0 h 45"/>
                <a:gd name="T4" fmla="*/ 102 w 102"/>
                <a:gd name="T5" fmla="*/ 26 h 45"/>
                <a:gd name="T6" fmla="*/ 84 w 102"/>
                <a:gd name="T7" fmla="*/ 44 h 45"/>
                <a:gd name="T8" fmla="*/ 18 w 102"/>
                <a:gd name="T9" fmla="*/ 44 h 45"/>
                <a:gd name="T10" fmla="*/ 0 w 102"/>
                <a:gd name="T11" fmla="*/ 22 h 45"/>
                <a:gd name="T12" fmla="*/ 19 w 102"/>
                <a:gd name="T13" fmla="*/ 0 h 45"/>
                <a:gd name="T14" fmla="*/ 51 w 102"/>
                <a:gd name="T15" fmla="*/ 0 h 45"/>
                <a:gd name="T16" fmla="*/ 51 w 102"/>
                <a:gd name="T1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5">
                  <a:moveTo>
                    <a:pt x="51" y="0"/>
                  </a:moveTo>
                  <a:cubicBezTo>
                    <a:pt x="60" y="0"/>
                    <a:pt x="68" y="0"/>
                    <a:pt x="77" y="0"/>
                  </a:cubicBezTo>
                  <a:cubicBezTo>
                    <a:pt x="99" y="0"/>
                    <a:pt x="102" y="4"/>
                    <a:pt x="102" y="26"/>
                  </a:cubicBezTo>
                  <a:cubicBezTo>
                    <a:pt x="102" y="38"/>
                    <a:pt x="97" y="44"/>
                    <a:pt x="84" y="44"/>
                  </a:cubicBezTo>
                  <a:cubicBezTo>
                    <a:pt x="62" y="44"/>
                    <a:pt x="40" y="44"/>
                    <a:pt x="18" y="44"/>
                  </a:cubicBezTo>
                  <a:cubicBezTo>
                    <a:pt x="2" y="45"/>
                    <a:pt x="1" y="34"/>
                    <a:pt x="0" y="22"/>
                  </a:cubicBezTo>
                  <a:cubicBezTo>
                    <a:pt x="0" y="8"/>
                    <a:pt x="4" y="0"/>
                    <a:pt x="19" y="0"/>
                  </a:cubicBezTo>
                  <a:cubicBezTo>
                    <a:pt x="30" y="1"/>
                    <a:pt x="41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59" name="Freeform 62"/>
            <p:cNvSpPr>
              <a:spLocks/>
            </p:cNvSpPr>
            <p:nvPr/>
          </p:nvSpPr>
          <p:spPr bwMode="auto">
            <a:xfrm>
              <a:off x="161545" y="1844105"/>
              <a:ext cx="296302" cy="137493"/>
            </a:xfrm>
            <a:custGeom>
              <a:avLst/>
              <a:gdLst>
                <a:gd name="T0" fmla="*/ 54 w 103"/>
                <a:gd name="T1" fmla="*/ 1 h 46"/>
                <a:gd name="T2" fmla="*/ 78 w 103"/>
                <a:gd name="T3" fmla="*/ 1 h 46"/>
                <a:gd name="T4" fmla="*/ 102 w 103"/>
                <a:gd name="T5" fmla="*/ 27 h 46"/>
                <a:gd name="T6" fmla="*/ 84 w 103"/>
                <a:gd name="T7" fmla="*/ 45 h 46"/>
                <a:gd name="T8" fmla="*/ 19 w 103"/>
                <a:gd name="T9" fmla="*/ 45 h 46"/>
                <a:gd name="T10" fmla="*/ 1 w 103"/>
                <a:gd name="T11" fmla="*/ 21 h 46"/>
                <a:gd name="T12" fmla="*/ 18 w 103"/>
                <a:gd name="T13" fmla="*/ 0 h 46"/>
                <a:gd name="T14" fmla="*/ 54 w 103"/>
                <a:gd name="T15" fmla="*/ 0 h 46"/>
                <a:gd name="T16" fmla="*/ 54 w 103"/>
                <a:gd name="T17" fmla="*/ 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6">
                  <a:moveTo>
                    <a:pt x="54" y="1"/>
                  </a:moveTo>
                  <a:cubicBezTo>
                    <a:pt x="62" y="1"/>
                    <a:pt x="70" y="1"/>
                    <a:pt x="78" y="1"/>
                  </a:cubicBezTo>
                  <a:cubicBezTo>
                    <a:pt x="101" y="1"/>
                    <a:pt x="103" y="4"/>
                    <a:pt x="102" y="27"/>
                  </a:cubicBezTo>
                  <a:cubicBezTo>
                    <a:pt x="102" y="39"/>
                    <a:pt x="97" y="45"/>
                    <a:pt x="84" y="45"/>
                  </a:cubicBezTo>
                  <a:cubicBezTo>
                    <a:pt x="62" y="45"/>
                    <a:pt x="41" y="45"/>
                    <a:pt x="19" y="45"/>
                  </a:cubicBezTo>
                  <a:cubicBezTo>
                    <a:pt x="0" y="46"/>
                    <a:pt x="2" y="33"/>
                    <a:pt x="1" y="21"/>
                  </a:cubicBezTo>
                  <a:cubicBezTo>
                    <a:pt x="1" y="9"/>
                    <a:pt x="3" y="0"/>
                    <a:pt x="18" y="0"/>
                  </a:cubicBezTo>
                  <a:cubicBezTo>
                    <a:pt x="30" y="1"/>
                    <a:pt x="42" y="0"/>
                    <a:pt x="54" y="0"/>
                  </a:cubicBezTo>
                  <a:cubicBezTo>
                    <a:pt x="54" y="1"/>
                    <a:pt x="54" y="1"/>
                    <a:pt x="54" y="1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60" name="Freeform 63"/>
            <p:cNvSpPr>
              <a:spLocks/>
            </p:cNvSpPr>
            <p:nvPr/>
          </p:nvSpPr>
          <p:spPr bwMode="auto">
            <a:xfrm>
              <a:off x="-235962" y="1844105"/>
              <a:ext cx="304837" cy="133709"/>
            </a:xfrm>
            <a:custGeom>
              <a:avLst/>
              <a:gdLst>
                <a:gd name="T0" fmla="*/ 53 w 106"/>
                <a:gd name="T1" fmla="*/ 45 h 45"/>
                <a:gd name="T2" fmla="*/ 31 w 106"/>
                <a:gd name="T3" fmla="*/ 45 h 45"/>
                <a:gd name="T4" fmla="*/ 4 w 106"/>
                <a:gd name="T5" fmla="*/ 15 h 45"/>
                <a:gd name="T6" fmla="*/ 19 w 106"/>
                <a:gd name="T7" fmla="*/ 1 h 45"/>
                <a:gd name="T8" fmla="*/ 89 w 106"/>
                <a:gd name="T9" fmla="*/ 0 h 45"/>
                <a:gd name="T10" fmla="*/ 104 w 106"/>
                <a:gd name="T11" fmla="*/ 20 h 45"/>
                <a:gd name="T12" fmla="*/ 89 w 106"/>
                <a:gd name="T13" fmla="*/ 45 h 45"/>
                <a:gd name="T14" fmla="*/ 53 w 106"/>
                <a:gd name="T1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6" h="45">
                  <a:moveTo>
                    <a:pt x="53" y="45"/>
                  </a:moveTo>
                  <a:cubicBezTo>
                    <a:pt x="46" y="45"/>
                    <a:pt x="38" y="45"/>
                    <a:pt x="31" y="45"/>
                  </a:cubicBezTo>
                  <a:cubicBezTo>
                    <a:pt x="5" y="45"/>
                    <a:pt x="0" y="40"/>
                    <a:pt x="4" y="15"/>
                  </a:cubicBezTo>
                  <a:cubicBezTo>
                    <a:pt x="5" y="9"/>
                    <a:pt x="13" y="1"/>
                    <a:pt x="19" y="1"/>
                  </a:cubicBezTo>
                  <a:cubicBezTo>
                    <a:pt x="42" y="0"/>
                    <a:pt x="65" y="1"/>
                    <a:pt x="89" y="0"/>
                  </a:cubicBezTo>
                  <a:cubicBezTo>
                    <a:pt x="102" y="0"/>
                    <a:pt x="105" y="9"/>
                    <a:pt x="104" y="20"/>
                  </a:cubicBezTo>
                  <a:cubicBezTo>
                    <a:pt x="104" y="32"/>
                    <a:pt x="106" y="44"/>
                    <a:pt x="89" y="45"/>
                  </a:cubicBezTo>
                  <a:cubicBezTo>
                    <a:pt x="77" y="45"/>
                    <a:pt x="65" y="45"/>
                    <a:pt x="53" y="45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61" name="Freeform 64"/>
            <p:cNvSpPr>
              <a:spLocks/>
            </p:cNvSpPr>
            <p:nvPr/>
          </p:nvSpPr>
          <p:spPr bwMode="auto">
            <a:xfrm>
              <a:off x="5576671" y="1841582"/>
              <a:ext cx="293863" cy="140016"/>
            </a:xfrm>
            <a:custGeom>
              <a:avLst/>
              <a:gdLst>
                <a:gd name="T0" fmla="*/ 53 w 102"/>
                <a:gd name="T1" fmla="*/ 1 h 47"/>
                <a:gd name="T2" fmla="*/ 77 w 102"/>
                <a:gd name="T3" fmla="*/ 1 h 47"/>
                <a:gd name="T4" fmla="*/ 102 w 102"/>
                <a:gd name="T5" fmla="*/ 28 h 47"/>
                <a:gd name="T6" fmla="*/ 84 w 102"/>
                <a:gd name="T7" fmla="*/ 46 h 47"/>
                <a:gd name="T8" fmla="*/ 20 w 102"/>
                <a:gd name="T9" fmla="*/ 46 h 47"/>
                <a:gd name="T10" fmla="*/ 0 w 102"/>
                <a:gd name="T11" fmla="*/ 23 h 47"/>
                <a:gd name="T12" fmla="*/ 21 w 102"/>
                <a:gd name="T13" fmla="*/ 1 h 47"/>
                <a:gd name="T14" fmla="*/ 53 w 102"/>
                <a:gd name="T15" fmla="*/ 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47">
                  <a:moveTo>
                    <a:pt x="53" y="1"/>
                  </a:moveTo>
                  <a:cubicBezTo>
                    <a:pt x="61" y="1"/>
                    <a:pt x="69" y="1"/>
                    <a:pt x="77" y="1"/>
                  </a:cubicBezTo>
                  <a:cubicBezTo>
                    <a:pt x="100" y="1"/>
                    <a:pt x="102" y="4"/>
                    <a:pt x="102" y="28"/>
                  </a:cubicBezTo>
                  <a:cubicBezTo>
                    <a:pt x="102" y="41"/>
                    <a:pt x="96" y="46"/>
                    <a:pt x="84" y="46"/>
                  </a:cubicBezTo>
                  <a:cubicBezTo>
                    <a:pt x="63" y="46"/>
                    <a:pt x="41" y="46"/>
                    <a:pt x="20" y="46"/>
                  </a:cubicBezTo>
                  <a:cubicBezTo>
                    <a:pt x="3" y="47"/>
                    <a:pt x="1" y="37"/>
                    <a:pt x="0" y="23"/>
                  </a:cubicBezTo>
                  <a:cubicBezTo>
                    <a:pt x="0" y="8"/>
                    <a:pt x="4" y="0"/>
                    <a:pt x="21" y="1"/>
                  </a:cubicBezTo>
                  <a:cubicBezTo>
                    <a:pt x="31" y="2"/>
                    <a:pt x="42" y="1"/>
                    <a:pt x="53" y="1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62" name="Freeform 65"/>
            <p:cNvSpPr>
              <a:spLocks/>
            </p:cNvSpPr>
            <p:nvPr/>
          </p:nvSpPr>
          <p:spPr bwMode="auto">
            <a:xfrm>
              <a:off x="6528983" y="1233585"/>
              <a:ext cx="308495" cy="136232"/>
            </a:xfrm>
            <a:custGeom>
              <a:avLst/>
              <a:gdLst>
                <a:gd name="T0" fmla="*/ 57 w 107"/>
                <a:gd name="T1" fmla="*/ 45 h 46"/>
                <a:gd name="T2" fmla="*/ 33 w 107"/>
                <a:gd name="T3" fmla="*/ 45 h 46"/>
                <a:gd name="T4" fmla="*/ 8 w 107"/>
                <a:gd name="T5" fmla="*/ 12 h 46"/>
                <a:gd name="T6" fmla="*/ 24 w 107"/>
                <a:gd name="T7" fmla="*/ 2 h 46"/>
                <a:gd name="T8" fmla="*/ 89 w 107"/>
                <a:gd name="T9" fmla="*/ 1 h 46"/>
                <a:gd name="T10" fmla="*/ 107 w 107"/>
                <a:gd name="T11" fmla="*/ 26 h 46"/>
                <a:gd name="T12" fmla="*/ 89 w 107"/>
                <a:gd name="T13" fmla="*/ 46 h 46"/>
                <a:gd name="T14" fmla="*/ 57 w 107"/>
                <a:gd name="T15" fmla="*/ 46 h 46"/>
                <a:gd name="T16" fmla="*/ 57 w 107"/>
                <a:gd name="T17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7" h="46">
                  <a:moveTo>
                    <a:pt x="57" y="45"/>
                  </a:moveTo>
                  <a:cubicBezTo>
                    <a:pt x="49" y="45"/>
                    <a:pt x="41" y="45"/>
                    <a:pt x="33" y="45"/>
                  </a:cubicBezTo>
                  <a:cubicBezTo>
                    <a:pt x="9" y="46"/>
                    <a:pt x="0" y="35"/>
                    <a:pt x="8" y="12"/>
                  </a:cubicBezTo>
                  <a:cubicBezTo>
                    <a:pt x="9" y="7"/>
                    <a:pt x="18" y="2"/>
                    <a:pt x="24" y="2"/>
                  </a:cubicBezTo>
                  <a:cubicBezTo>
                    <a:pt x="46" y="0"/>
                    <a:pt x="68" y="1"/>
                    <a:pt x="89" y="1"/>
                  </a:cubicBezTo>
                  <a:cubicBezTo>
                    <a:pt x="107" y="1"/>
                    <a:pt x="107" y="13"/>
                    <a:pt x="107" y="26"/>
                  </a:cubicBezTo>
                  <a:cubicBezTo>
                    <a:pt x="107" y="39"/>
                    <a:pt x="103" y="46"/>
                    <a:pt x="89" y="46"/>
                  </a:cubicBezTo>
                  <a:cubicBezTo>
                    <a:pt x="78" y="45"/>
                    <a:pt x="68" y="46"/>
                    <a:pt x="57" y="46"/>
                  </a:cubicBezTo>
                  <a:cubicBezTo>
                    <a:pt x="57" y="46"/>
                    <a:pt x="57" y="46"/>
                    <a:pt x="57" y="45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63" name="Freeform 66"/>
            <p:cNvSpPr>
              <a:spLocks/>
            </p:cNvSpPr>
            <p:nvPr/>
          </p:nvSpPr>
          <p:spPr bwMode="auto">
            <a:xfrm>
              <a:off x="6936245" y="1233585"/>
              <a:ext cx="292644" cy="140016"/>
            </a:xfrm>
            <a:custGeom>
              <a:avLst/>
              <a:gdLst>
                <a:gd name="T0" fmla="*/ 50 w 102"/>
                <a:gd name="T1" fmla="*/ 45 h 47"/>
                <a:gd name="T2" fmla="*/ 26 w 102"/>
                <a:gd name="T3" fmla="*/ 45 h 47"/>
                <a:gd name="T4" fmla="*/ 0 w 102"/>
                <a:gd name="T5" fmla="*/ 23 h 47"/>
                <a:gd name="T6" fmla="*/ 25 w 102"/>
                <a:gd name="T7" fmla="*/ 1 h 47"/>
                <a:gd name="T8" fmla="*/ 83 w 102"/>
                <a:gd name="T9" fmla="*/ 1 h 47"/>
                <a:gd name="T10" fmla="*/ 102 w 102"/>
                <a:gd name="T11" fmla="*/ 22 h 47"/>
                <a:gd name="T12" fmla="*/ 84 w 102"/>
                <a:gd name="T13" fmla="*/ 46 h 47"/>
                <a:gd name="T14" fmla="*/ 50 w 102"/>
                <a:gd name="T15" fmla="*/ 46 h 47"/>
                <a:gd name="T16" fmla="*/ 50 w 102"/>
                <a:gd name="T17" fmla="*/ 4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7">
                  <a:moveTo>
                    <a:pt x="50" y="45"/>
                  </a:moveTo>
                  <a:cubicBezTo>
                    <a:pt x="42" y="45"/>
                    <a:pt x="34" y="45"/>
                    <a:pt x="26" y="45"/>
                  </a:cubicBezTo>
                  <a:cubicBezTo>
                    <a:pt x="9" y="47"/>
                    <a:pt x="0" y="42"/>
                    <a:pt x="0" y="23"/>
                  </a:cubicBezTo>
                  <a:cubicBezTo>
                    <a:pt x="1" y="4"/>
                    <a:pt x="10" y="0"/>
                    <a:pt x="25" y="1"/>
                  </a:cubicBezTo>
                  <a:cubicBezTo>
                    <a:pt x="44" y="2"/>
                    <a:pt x="64" y="1"/>
                    <a:pt x="83" y="1"/>
                  </a:cubicBezTo>
                  <a:cubicBezTo>
                    <a:pt x="98" y="0"/>
                    <a:pt x="102" y="9"/>
                    <a:pt x="102" y="22"/>
                  </a:cubicBezTo>
                  <a:cubicBezTo>
                    <a:pt x="102" y="35"/>
                    <a:pt x="101" y="46"/>
                    <a:pt x="84" y="46"/>
                  </a:cubicBezTo>
                  <a:cubicBezTo>
                    <a:pt x="72" y="46"/>
                    <a:pt x="61" y="46"/>
                    <a:pt x="50" y="46"/>
                  </a:cubicBezTo>
                  <a:cubicBezTo>
                    <a:pt x="50" y="46"/>
                    <a:pt x="50" y="46"/>
                    <a:pt x="50" y="45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64" name="Freeform 67"/>
            <p:cNvSpPr>
              <a:spLocks/>
            </p:cNvSpPr>
            <p:nvPr/>
          </p:nvSpPr>
          <p:spPr bwMode="auto">
            <a:xfrm>
              <a:off x="948025" y="1435410"/>
              <a:ext cx="293863" cy="137493"/>
            </a:xfrm>
            <a:custGeom>
              <a:avLst/>
              <a:gdLst>
                <a:gd name="T0" fmla="*/ 51 w 102"/>
                <a:gd name="T1" fmla="*/ 45 h 46"/>
                <a:gd name="T2" fmla="*/ 25 w 102"/>
                <a:gd name="T3" fmla="*/ 45 h 46"/>
                <a:gd name="T4" fmla="*/ 0 w 102"/>
                <a:gd name="T5" fmla="*/ 24 h 46"/>
                <a:gd name="T6" fmla="*/ 26 w 102"/>
                <a:gd name="T7" fmla="*/ 1 h 46"/>
                <a:gd name="T8" fmla="*/ 80 w 102"/>
                <a:gd name="T9" fmla="*/ 1 h 46"/>
                <a:gd name="T10" fmla="*/ 102 w 102"/>
                <a:gd name="T11" fmla="*/ 24 h 46"/>
                <a:gd name="T12" fmla="*/ 79 w 102"/>
                <a:gd name="T13" fmla="*/ 45 h 46"/>
                <a:gd name="T14" fmla="*/ 51 w 102"/>
                <a:gd name="T15" fmla="*/ 45 h 46"/>
                <a:gd name="T16" fmla="*/ 51 w 102"/>
                <a:gd name="T17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6">
                  <a:moveTo>
                    <a:pt x="51" y="45"/>
                  </a:moveTo>
                  <a:cubicBezTo>
                    <a:pt x="43" y="45"/>
                    <a:pt x="34" y="44"/>
                    <a:pt x="25" y="45"/>
                  </a:cubicBezTo>
                  <a:cubicBezTo>
                    <a:pt x="10" y="46"/>
                    <a:pt x="0" y="43"/>
                    <a:pt x="0" y="24"/>
                  </a:cubicBezTo>
                  <a:cubicBezTo>
                    <a:pt x="0" y="4"/>
                    <a:pt x="9" y="0"/>
                    <a:pt x="26" y="1"/>
                  </a:cubicBezTo>
                  <a:cubicBezTo>
                    <a:pt x="44" y="2"/>
                    <a:pt x="62" y="2"/>
                    <a:pt x="80" y="1"/>
                  </a:cubicBezTo>
                  <a:cubicBezTo>
                    <a:pt x="97" y="0"/>
                    <a:pt x="102" y="8"/>
                    <a:pt x="102" y="24"/>
                  </a:cubicBezTo>
                  <a:cubicBezTo>
                    <a:pt x="102" y="40"/>
                    <a:pt x="95" y="46"/>
                    <a:pt x="79" y="45"/>
                  </a:cubicBezTo>
                  <a:cubicBezTo>
                    <a:pt x="70" y="44"/>
                    <a:pt x="61" y="45"/>
                    <a:pt x="51" y="45"/>
                  </a:cubicBezTo>
                  <a:cubicBezTo>
                    <a:pt x="51" y="45"/>
                    <a:pt x="51" y="45"/>
                    <a:pt x="51" y="45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65" name="Freeform 68"/>
            <p:cNvSpPr>
              <a:spLocks/>
            </p:cNvSpPr>
            <p:nvPr/>
          </p:nvSpPr>
          <p:spPr bwMode="auto">
            <a:xfrm>
              <a:off x="-624934" y="1841582"/>
              <a:ext cx="299960" cy="140016"/>
            </a:xfrm>
            <a:custGeom>
              <a:avLst/>
              <a:gdLst>
                <a:gd name="T0" fmla="*/ 52 w 104"/>
                <a:gd name="T1" fmla="*/ 46 h 47"/>
                <a:gd name="T2" fmla="*/ 30 w 104"/>
                <a:gd name="T3" fmla="*/ 46 h 47"/>
                <a:gd name="T4" fmla="*/ 4 w 104"/>
                <a:gd name="T5" fmla="*/ 17 h 47"/>
                <a:gd name="T6" fmla="*/ 19 w 104"/>
                <a:gd name="T7" fmla="*/ 2 h 47"/>
                <a:gd name="T8" fmla="*/ 87 w 104"/>
                <a:gd name="T9" fmla="*/ 1 h 47"/>
                <a:gd name="T10" fmla="*/ 104 w 104"/>
                <a:gd name="T11" fmla="*/ 24 h 47"/>
                <a:gd name="T12" fmla="*/ 86 w 104"/>
                <a:gd name="T13" fmla="*/ 46 h 47"/>
                <a:gd name="T14" fmla="*/ 52 w 104"/>
                <a:gd name="T15" fmla="*/ 46 h 47"/>
                <a:gd name="T16" fmla="*/ 52 w 104"/>
                <a:gd name="T17" fmla="*/ 4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" h="47">
                  <a:moveTo>
                    <a:pt x="52" y="46"/>
                  </a:moveTo>
                  <a:cubicBezTo>
                    <a:pt x="45" y="46"/>
                    <a:pt x="37" y="46"/>
                    <a:pt x="30" y="46"/>
                  </a:cubicBezTo>
                  <a:cubicBezTo>
                    <a:pt x="5" y="46"/>
                    <a:pt x="0" y="41"/>
                    <a:pt x="4" y="17"/>
                  </a:cubicBezTo>
                  <a:cubicBezTo>
                    <a:pt x="5" y="11"/>
                    <a:pt x="14" y="3"/>
                    <a:pt x="19" y="2"/>
                  </a:cubicBezTo>
                  <a:cubicBezTo>
                    <a:pt x="42" y="0"/>
                    <a:pt x="64" y="2"/>
                    <a:pt x="87" y="1"/>
                  </a:cubicBezTo>
                  <a:cubicBezTo>
                    <a:pt x="104" y="1"/>
                    <a:pt x="104" y="12"/>
                    <a:pt x="104" y="24"/>
                  </a:cubicBezTo>
                  <a:cubicBezTo>
                    <a:pt x="104" y="37"/>
                    <a:pt x="101" y="47"/>
                    <a:pt x="86" y="46"/>
                  </a:cubicBezTo>
                  <a:cubicBezTo>
                    <a:pt x="75" y="46"/>
                    <a:pt x="63" y="46"/>
                    <a:pt x="52" y="46"/>
                  </a:cubicBezTo>
                  <a:cubicBezTo>
                    <a:pt x="52" y="46"/>
                    <a:pt x="52" y="46"/>
                    <a:pt x="52" y="46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66" name="Freeform 69"/>
            <p:cNvSpPr>
              <a:spLocks/>
            </p:cNvSpPr>
            <p:nvPr/>
          </p:nvSpPr>
          <p:spPr bwMode="auto">
            <a:xfrm>
              <a:off x="948025" y="1844105"/>
              <a:ext cx="293863" cy="133709"/>
            </a:xfrm>
            <a:custGeom>
              <a:avLst/>
              <a:gdLst>
                <a:gd name="T0" fmla="*/ 51 w 102"/>
                <a:gd name="T1" fmla="*/ 45 h 45"/>
                <a:gd name="T2" fmla="*/ 27 w 102"/>
                <a:gd name="T3" fmla="*/ 45 h 45"/>
                <a:gd name="T4" fmla="*/ 1 w 102"/>
                <a:gd name="T5" fmla="*/ 17 h 45"/>
                <a:gd name="T6" fmla="*/ 18 w 102"/>
                <a:gd name="T7" fmla="*/ 0 h 45"/>
                <a:gd name="T8" fmla="*/ 85 w 102"/>
                <a:gd name="T9" fmla="*/ 0 h 45"/>
                <a:gd name="T10" fmla="*/ 102 w 102"/>
                <a:gd name="T11" fmla="*/ 22 h 45"/>
                <a:gd name="T12" fmla="*/ 85 w 102"/>
                <a:gd name="T13" fmla="*/ 45 h 45"/>
                <a:gd name="T14" fmla="*/ 51 w 102"/>
                <a:gd name="T15" fmla="*/ 45 h 45"/>
                <a:gd name="T16" fmla="*/ 51 w 102"/>
                <a:gd name="T17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5">
                  <a:moveTo>
                    <a:pt x="51" y="45"/>
                  </a:moveTo>
                  <a:cubicBezTo>
                    <a:pt x="43" y="45"/>
                    <a:pt x="35" y="45"/>
                    <a:pt x="27" y="45"/>
                  </a:cubicBezTo>
                  <a:cubicBezTo>
                    <a:pt x="2" y="45"/>
                    <a:pt x="0" y="41"/>
                    <a:pt x="1" y="17"/>
                  </a:cubicBezTo>
                  <a:cubicBezTo>
                    <a:pt x="1" y="6"/>
                    <a:pt x="6" y="0"/>
                    <a:pt x="18" y="0"/>
                  </a:cubicBezTo>
                  <a:cubicBezTo>
                    <a:pt x="40" y="1"/>
                    <a:pt x="63" y="1"/>
                    <a:pt x="85" y="0"/>
                  </a:cubicBezTo>
                  <a:cubicBezTo>
                    <a:pt x="101" y="0"/>
                    <a:pt x="102" y="10"/>
                    <a:pt x="102" y="22"/>
                  </a:cubicBezTo>
                  <a:cubicBezTo>
                    <a:pt x="102" y="34"/>
                    <a:pt x="102" y="45"/>
                    <a:pt x="85" y="45"/>
                  </a:cubicBezTo>
                  <a:cubicBezTo>
                    <a:pt x="74" y="45"/>
                    <a:pt x="62" y="45"/>
                    <a:pt x="51" y="45"/>
                  </a:cubicBezTo>
                  <a:cubicBezTo>
                    <a:pt x="51" y="45"/>
                    <a:pt x="51" y="45"/>
                    <a:pt x="51" y="45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67" name="Freeform 70"/>
            <p:cNvSpPr>
              <a:spLocks/>
            </p:cNvSpPr>
            <p:nvPr/>
          </p:nvSpPr>
          <p:spPr bwMode="auto">
            <a:xfrm>
              <a:off x="5184041" y="1844105"/>
              <a:ext cx="293863" cy="137493"/>
            </a:xfrm>
            <a:custGeom>
              <a:avLst/>
              <a:gdLst>
                <a:gd name="T0" fmla="*/ 51 w 102"/>
                <a:gd name="T1" fmla="*/ 45 h 46"/>
                <a:gd name="T2" fmla="*/ 27 w 102"/>
                <a:gd name="T3" fmla="*/ 45 h 46"/>
                <a:gd name="T4" fmla="*/ 1 w 102"/>
                <a:gd name="T5" fmla="*/ 18 h 46"/>
                <a:gd name="T6" fmla="*/ 19 w 102"/>
                <a:gd name="T7" fmla="*/ 0 h 46"/>
                <a:gd name="T8" fmla="*/ 83 w 102"/>
                <a:gd name="T9" fmla="*/ 0 h 46"/>
                <a:gd name="T10" fmla="*/ 102 w 102"/>
                <a:gd name="T11" fmla="*/ 22 h 46"/>
                <a:gd name="T12" fmla="*/ 83 w 102"/>
                <a:gd name="T13" fmla="*/ 45 h 46"/>
                <a:gd name="T14" fmla="*/ 51 w 102"/>
                <a:gd name="T15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46">
                  <a:moveTo>
                    <a:pt x="51" y="45"/>
                  </a:moveTo>
                  <a:cubicBezTo>
                    <a:pt x="43" y="45"/>
                    <a:pt x="35" y="45"/>
                    <a:pt x="27" y="45"/>
                  </a:cubicBezTo>
                  <a:cubicBezTo>
                    <a:pt x="3" y="45"/>
                    <a:pt x="0" y="42"/>
                    <a:pt x="1" y="18"/>
                  </a:cubicBezTo>
                  <a:cubicBezTo>
                    <a:pt x="1" y="4"/>
                    <a:pt x="7" y="0"/>
                    <a:pt x="19" y="0"/>
                  </a:cubicBezTo>
                  <a:cubicBezTo>
                    <a:pt x="41" y="1"/>
                    <a:pt x="62" y="1"/>
                    <a:pt x="83" y="0"/>
                  </a:cubicBezTo>
                  <a:cubicBezTo>
                    <a:pt x="98" y="0"/>
                    <a:pt x="102" y="8"/>
                    <a:pt x="102" y="22"/>
                  </a:cubicBezTo>
                  <a:cubicBezTo>
                    <a:pt x="102" y="35"/>
                    <a:pt x="101" y="46"/>
                    <a:pt x="83" y="45"/>
                  </a:cubicBezTo>
                  <a:cubicBezTo>
                    <a:pt x="73" y="44"/>
                    <a:pt x="62" y="45"/>
                    <a:pt x="51" y="45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68" name="Freeform 71"/>
            <p:cNvSpPr>
              <a:spLocks/>
            </p:cNvSpPr>
            <p:nvPr/>
          </p:nvSpPr>
          <p:spPr bwMode="auto">
            <a:xfrm>
              <a:off x="1134585" y="2047191"/>
              <a:ext cx="302398" cy="136232"/>
            </a:xfrm>
            <a:custGeom>
              <a:avLst/>
              <a:gdLst>
                <a:gd name="T0" fmla="*/ 54 w 105"/>
                <a:gd name="T1" fmla="*/ 46 h 46"/>
                <a:gd name="T2" fmla="*/ 30 w 105"/>
                <a:gd name="T3" fmla="*/ 46 h 46"/>
                <a:gd name="T4" fmla="*/ 4 w 105"/>
                <a:gd name="T5" fmla="*/ 16 h 46"/>
                <a:gd name="T6" fmla="*/ 21 w 105"/>
                <a:gd name="T7" fmla="*/ 2 h 46"/>
                <a:gd name="T8" fmla="*/ 86 w 105"/>
                <a:gd name="T9" fmla="*/ 1 h 46"/>
                <a:gd name="T10" fmla="*/ 104 w 105"/>
                <a:gd name="T11" fmla="*/ 26 h 46"/>
                <a:gd name="T12" fmla="*/ 86 w 105"/>
                <a:gd name="T13" fmla="*/ 46 h 46"/>
                <a:gd name="T14" fmla="*/ 54 w 105"/>
                <a:gd name="T15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" h="46">
                  <a:moveTo>
                    <a:pt x="54" y="46"/>
                  </a:moveTo>
                  <a:cubicBezTo>
                    <a:pt x="46" y="46"/>
                    <a:pt x="38" y="46"/>
                    <a:pt x="30" y="46"/>
                  </a:cubicBezTo>
                  <a:cubicBezTo>
                    <a:pt x="5" y="45"/>
                    <a:pt x="0" y="41"/>
                    <a:pt x="4" y="16"/>
                  </a:cubicBezTo>
                  <a:cubicBezTo>
                    <a:pt x="6" y="10"/>
                    <a:pt x="15" y="2"/>
                    <a:pt x="21" y="2"/>
                  </a:cubicBezTo>
                  <a:cubicBezTo>
                    <a:pt x="42" y="0"/>
                    <a:pt x="64" y="1"/>
                    <a:pt x="86" y="1"/>
                  </a:cubicBezTo>
                  <a:cubicBezTo>
                    <a:pt x="105" y="1"/>
                    <a:pt x="103" y="13"/>
                    <a:pt x="104" y="26"/>
                  </a:cubicBezTo>
                  <a:cubicBezTo>
                    <a:pt x="105" y="39"/>
                    <a:pt x="99" y="46"/>
                    <a:pt x="86" y="46"/>
                  </a:cubicBezTo>
                  <a:cubicBezTo>
                    <a:pt x="75" y="45"/>
                    <a:pt x="64" y="46"/>
                    <a:pt x="54" y="46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69" name="Freeform 72"/>
            <p:cNvSpPr>
              <a:spLocks/>
            </p:cNvSpPr>
            <p:nvPr/>
          </p:nvSpPr>
          <p:spPr bwMode="auto">
            <a:xfrm>
              <a:off x="-423742" y="1236108"/>
              <a:ext cx="293863" cy="137493"/>
            </a:xfrm>
            <a:custGeom>
              <a:avLst/>
              <a:gdLst>
                <a:gd name="T0" fmla="*/ 50 w 102"/>
                <a:gd name="T1" fmla="*/ 45 h 46"/>
                <a:gd name="T2" fmla="*/ 24 w 102"/>
                <a:gd name="T3" fmla="*/ 45 h 46"/>
                <a:gd name="T4" fmla="*/ 1 w 102"/>
                <a:gd name="T5" fmla="*/ 22 h 46"/>
                <a:gd name="T6" fmla="*/ 21 w 102"/>
                <a:gd name="T7" fmla="*/ 0 h 46"/>
                <a:gd name="T8" fmla="*/ 83 w 102"/>
                <a:gd name="T9" fmla="*/ 0 h 46"/>
                <a:gd name="T10" fmla="*/ 102 w 102"/>
                <a:gd name="T11" fmla="*/ 24 h 46"/>
                <a:gd name="T12" fmla="*/ 82 w 102"/>
                <a:gd name="T13" fmla="*/ 45 h 46"/>
                <a:gd name="T14" fmla="*/ 50 w 102"/>
                <a:gd name="T15" fmla="*/ 44 h 46"/>
                <a:gd name="T16" fmla="*/ 50 w 102"/>
                <a:gd name="T17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6">
                  <a:moveTo>
                    <a:pt x="50" y="45"/>
                  </a:moveTo>
                  <a:cubicBezTo>
                    <a:pt x="41" y="45"/>
                    <a:pt x="33" y="44"/>
                    <a:pt x="24" y="45"/>
                  </a:cubicBezTo>
                  <a:cubicBezTo>
                    <a:pt x="7" y="46"/>
                    <a:pt x="1" y="39"/>
                    <a:pt x="1" y="22"/>
                  </a:cubicBezTo>
                  <a:cubicBezTo>
                    <a:pt x="0" y="6"/>
                    <a:pt x="6" y="0"/>
                    <a:pt x="21" y="0"/>
                  </a:cubicBezTo>
                  <a:cubicBezTo>
                    <a:pt x="41" y="1"/>
                    <a:pt x="62" y="1"/>
                    <a:pt x="83" y="0"/>
                  </a:cubicBezTo>
                  <a:cubicBezTo>
                    <a:pt x="99" y="0"/>
                    <a:pt x="102" y="10"/>
                    <a:pt x="102" y="24"/>
                  </a:cubicBezTo>
                  <a:cubicBezTo>
                    <a:pt x="102" y="38"/>
                    <a:pt x="97" y="45"/>
                    <a:pt x="82" y="45"/>
                  </a:cubicBezTo>
                  <a:cubicBezTo>
                    <a:pt x="71" y="44"/>
                    <a:pt x="61" y="44"/>
                    <a:pt x="50" y="44"/>
                  </a:cubicBezTo>
                  <a:cubicBezTo>
                    <a:pt x="50" y="44"/>
                    <a:pt x="50" y="44"/>
                    <a:pt x="50" y="45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70" name="Freeform 73"/>
            <p:cNvSpPr>
              <a:spLocks/>
            </p:cNvSpPr>
            <p:nvPr/>
          </p:nvSpPr>
          <p:spPr bwMode="auto">
            <a:xfrm>
              <a:off x="734639" y="2047191"/>
              <a:ext cx="310934" cy="136232"/>
            </a:xfrm>
            <a:custGeom>
              <a:avLst/>
              <a:gdLst>
                <a:gd name="T0" fmla="*/ 57 w 108"/>
                <a:gd name="T1" fmla="*/ 46 h 46"/>
                <a:gd name="T2" fmla="*/ 33 w 108"/>
                <a:gd name="T3" fmla="*/ 46 h 46"/>
                <a:gd name="T4" fmla="*/ 8 w 108"/>
                <a:gd name="T5" fmla="*/ 12 h 46"/>
                <a:gd name="T6" fmla="*/ 24 w 108"/>
                <a:gd name="T7" fmla="*/ 1 h 46"/>
                <a:gd name="T8" fmla="*/ 90 w 108"/>
                <a:gd name="T9" fmla="*/ 1 h 46"/>
                <a:gd name="T10" fmla="*/ 107 w 108"/>
                <a:gd name="T11" fmla="*/ 26 h 46"/>
                <a:gd name="T12" fmla="*/ 89 w 108"/>
                <a:gd name="T13" fmla="*/ 46 h 46"/>
                <a:gd name="T14" fmla="*/ 57 w 108"/>
                <a:gd name="T15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8" h="46">
                  <a:moveTo>
                    <a:pt x="57" y="46"/>
                  </a:moveTo>
                  <a:cubicBezTo>
                    <a:pt x="49" y="46"/>
                    <a:pt x="41" y="46"/>
                    <a:pt x="33" y="46"/>
                  </a:cubicBezTo>
                  <a:cubicBezTo>
                    <a:pt x="9" y="45"/>
                    <a:pt x="0" y="35"/>
                    <a:pt x="8" y="12"/>
                  </a:cubicBezTo>
                  <a:cubicBezTo>
                    <a:pt x="9" y="7"/>
                    <a:pt x="18" y="1"/>
                    <a:pt x="24" y="1"/>
                  </a:cubicBezTo>
                  <a:cubicBezTo>
                    <a:pt x="46" y="0"/>
                    <a:pt x="68" y="1"/>
                    <a:pt x="90" y="1"/>
                  </a:cubicBezTo>
                  <a:cubicBezTo>
                    <a:pt x="108" y="1"/>
                    <a:pt x="106" y="13"/>
                    <a:pt x="107" y="26"/>
                  </a:cubicBezTo>
                  <a:cubicBezTo>
                    <a:pt x="107" y="39"/>
                    <a:pt x="103" y="46"/>
                    <a:pt x="89" y="46"/>
                  </a:cubicBezTo>
                  <a:cubicBezTo>
                    <a:pt x="78" y="45"/>
                    <a:pt x="67" y="46"/>
                    <a:pt x="57" y="46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71" name="Freeform 74"/>
            <p:cNvSpPr>
              <a:spLocks/>
            </p:cNvSpPr>
            <p:nvPr/>
          </p:nvSpPr>
          <p:spPr bwMode="auto">
            <a:xfrm>
              <a:off x="-423742" y="2049714"/>
              <a:ext cx="302398" cy="133709"/>
            </a:xfrm>
            <a:custGeom>
              <a:avLst/>
              <a:gdLst>
                <a:gd name="T0" fmla="*/ 51 w 105"/>
                <a:gd name="T1" fmla="*/ 0 h 45"/>
                <a:gd name="T2" fmla="*/ 75 w 105"/>
                <a:gd name="T3" fmla="*/ 0 h 45"/>
                <a:gd name="T4" fmla="*/ 100 w 105"/>
                <a:gd name="T5" fmla="*/ 29 h 45"/>
                <a:gd name="T6" fmla="*/ 86 w 105"/>
                <a:gd name="T7" fmla="*/ 44 h 45"/>
                <a:gd name="T8" fmla="*/ 17 w 105"/>
                <a:gd name="T9" fmla="*/ 44 h 45"/>
                <a:gd name="T10" fmla="*/ 1 w 105"/>
                <a:gd name="T11" fmla="*/ 20 h 45"/>
                <a:gd name="T12" fmla="*/ 17 w 105"/>
                <a:gd name="T13" fmla="*/ 0 h 45"/>
                <a:gd name="T14" fmla="*/ 51 w 105"/>
                <a:gd name="T15" fmla="*/ 0 h 45"/>
                <a:gd name="T16" fmla="*/ 51 w 105"/>
                <a:gd name="T17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5" h="45">
                  <a:moveTo>
                    <a:pt x="51" y="0"/>
                  </a:moveTo>
                  <a:cubicBezTo>
                    <a:pt x="59" y="0"/>
                    <a:pt x="67" y="0"/>
                    <a:pt x="75" y="0"/>
                  </a:cubicBezTo>
                  <a:cubicBezTo>
                    <a:pt x="99" y="0"/>
                    <a:pt x="105" y="5"/>
                    <a:pt x="100" y="29"/>
                  </a:cubicBezTo>
                  <a:cubicBezTo>
                    <a:pt x="99" y="35"/>
                    <a:pt x="91" y="43"/>
                    <a:pt x="86" y="44"/>
                  </a:cubicBezTo>
                  <a:cubicBezTo>
                    <a:pt x="63" y="45"/>
                    <a:pt x="40" y="45"/>
                    <a:pt x="17" y="44"/>
                  </a:cubicBezTo>
                  <a:cubicBezTo>
                    <a:pt x="0" y="44"/>
                    <a:pt x="1" y="31"/>
                    <a:pt x="1" y="20"/>
                  </a:cubicBezTo>
                  <a:cubicBezTo>
                    <a:pt x="0" y="8"/>
                    <a:pt x="3" y="0"/>
                    <a:pt x="17" y="0"/>
                  </a:cubicBezTo>
                  <a:cubicBezTo>
                    <a:pt x="28" y="0"/>
                    <a:pt x="39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2" name="Freeform 75"/>
            <p:cNvSpPr>
              <a:spLocks/>
            </p:cNvSpPr>
            <p:nvPr/>
          </p:nvSpPr>
          <p:spPr bwMode="auto">
            <a:xfrm>
              <a:off x="535886" y="1844105"/>
              <a:ext cx="317031" cy="137493"/>
            </a:xfrm>
            <a:custGeom>
              <a:avLst/>
              <a:gdLst>
                <a:gd name="T0" fmla="*/ 56 w 110"/>
                <a:gd name="T1" fmla="*/ 45 h 46"/>
                <a:gd name="T2" fmla="*/ 34 w 110"/>
                <a:gd name="T3" fmla="*/ 45 h 46"/>
                <a:gd name="T4" fmla="*/ 9 w 110"/>
                <a:gd name="T5" fmla="*/ 11 h 46"/>
                <a:gd name="T6" fmla="*/ 23 w 110"/>
                <a:gd name="T7" fmla="*/ 1 h 46"/>
                <a:gd name="T8" fmla="*/ 91 w 110"/>
                <a:gd name="T9" fmla="*/ 0 h 46"/>
                <a:gd name="T10" fmla="*/ 108 w 110"/>
                <a:gd name="T11" fmla="*/ 25 h 46"/>
                <a:gd name="T12" fmla="*/ 90 w 110"/>
                <a:gd name="T13" fmla="*/ 45 h 46"/>
                <a:gd name="T14" fmla="*/ 56 w 110"/>
                <a:gd name="T15" fmla="*/ 45 h 46"/>
                <a:gd name="T16" fmla="*/ 56 w 110"/>
                <a:gd name="T17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" h="46">
                  <a:moveTo>
                    <a:pt x="56" y="45"/>
                  </a:moveTo>
                  <a:cubicBezTo>
                    <a:pt x="49" y="45"/>
                    <a:pt x="42" y="45"/>
                    <a:pt x="34" y="45"/>
                  </a:cubicBezTo>
                  <a:cubicBezTo>
                    <a:pt x="10" y="46"/>
                    <a:pt x="0" y="34"/>
                    <a:pt x="9" y="11"/>
                  </a:cubicBezTo>
                  <a:cubicBezTo>
                    <a:pt x="10" y="6"/>
                    <a:pt x="18" y="1"/>
                    <a:pt x="23" y="1"/>
                  </a:cubicBezTo>
                  <a:cubicBezTo>
                    <a:pt x="46" y="0"/>
                    <a:pt x="68" y="1"/>
                    <a:pt x="91" y="0"/>
                  </a:cubicBezTo>
                  <a:cubicBezTo>
                    <a:pt x="110" y="0"/>
                    <a:pt x="108" y="13"/>
                    <a:pt x="108" y="25"/>
                  </a:cubicBezTo>
                  <a:cubicBezTo>
                    <a:pt x="109" y="38"/>
                    <a:pt x="104" y="46"/>
                    <a:pt x="90" y="45"/>
                  </a:cubicBezTo>
                  <a:cubicBezTo>
                    <a:pt x="79" y="45"/>
                    <a:pt x="68" y="45"/>
                    <a:pt x="56" y="45"/>
                  </a:cubicBezTo>
                  <a:cubicBezTo>
                    <a:pt x="56" y="45"/>
                    <a:pt x="56" y="45"/>
                    <a:pt x="56" y="45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73" name="Freeform 76"/>
            <p:cNvSpPr>
              <a:spLocks/>
            </p:cNvSpPr>
            <p:nvPr/>
          </p:nvSpPr>
          <p:spPr bwMode="auto">
            <a:xfrm>
              <a:off x="6936245" y="2047191"/>
              <a:ext cx="296302" cy="140016"/>
            </a:xfrm>
            <a:custGeom>
              <a:avLst/>
              <a:gdLst>
                <a:gd name="T0" fmla="*/ 50 w 103"/>
                <a:gd name="T1" fmla="*/ 45 h 47"/>
                <a:gd name="T2" fmla="*/ 27 w 103"/>
                <a:gd name="T3" fmla="*/ 46 h 47"/>
                <a:gd name="T4" fmla="*/ 1 w 103"/>
                <a:gd name="T5" fmla="*/ 23 h 47"/>
                <a:gd name="T6" fmla="*/ 27 w 103"/>
                <a:gd name="T7" fmla="*/ 1 h 47"/>
                <a:gd name="T8" fmla="*/ 78 w 103"/>
                <a:gd name="T9" fmla="*/ 1 h 47"/>
                <a:gd name="T10" fmla="*/ 102 w 103"/>
                <a:gd name="T11" fmla="*/ 21 h 47"/>
                <a:gd name="T12" fmla="*/ 78 w 103"/>
                <a:gd name="T13" fmla="*/ 46 h 47"/>
                <a:gd name="T14" fmla="*/ 50 w 103"/>
                <a:gd name="T15" fmla="*/ 4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3" h="47">
                  <a:moveTo>
                    <a:pt x="50" y="45"/>
                  </a:moveTo>
                  <a:cubicBezTo>
                    <a:pt x="42" y="45"/>
                    <a:pt x="34" y="45"/>
                    <a:pt x="27" y="46"/>
                  </a:cubicBezTo>
                  <a:cubicBezTo>
                    <a:pt x="10" y="47"/>
                    <a:pt x="0" y="43"/>
                    <a:pt x="1" y="23"/>
                  </a:cubicBezTo>
                  <a:cubicBezTo>
                    <a:pt x="1" y="3"/>
                    <a:pt x="10" y="0"/>
                    <a:pt x="27" y="1"/>
                  </a:cubicBezTo>
                  <a:cubicBezTo>
                    <a:pt x="44" y="2"/>
                    <a:pt x="61" y="1"/>
                    <a:pt x="78" y="1"/>
                  </a:cubicBezTo>
                  <a:cubicBezTo>
                    <a:pt x="94" y="0"/>
                    <a:pt x="102" y="4"/>
                    <a:pt x="102" y="21"/>
                  </a:cubicBezTo>
                  <a:cubicBezTo>
                    <a:pt x="103" y="39"/>
                    <a:pt x="97" y="47"/>
                    <a:pt x="78" y="46"/>
                  </a:cubicBezTo>
                  <a:cubicBezTo>
                    <a:pt x="69" y="45"/>
                    <a:pt x="60" y="45"/>
                    <a:pt x="50" y="45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74" name="Freeform 77"/>
            <p:cNvSpPr>
              <a:spLocks/>
            </p:cNvSpPr>
            <p:nvPr/>
          </p:nvSpPr>
          <p:spPr bwMode="auto">
            <a:xfrm>
              <a:off x="6547273" y="2047191"/>
              <a:ext cx="290205" cy="140016"/>
            </a:xfrm>
            <a:custGeom>
              <a:avLst/>
              <a:gdLst>
                <a:gd name="T0" fmla="*/ 51 w 101"/>
                <a:gd name="T1" fmla="*/ 46 h 47"/>
                <a:gd name="T2" fmla="*/ 25 w 101"/>
                <a:gd name="T3" fmla="*/ 46 h 47"/>
                <a:gd name="T4" fmla="*/ 1 w 101"/>
                <a:gd name="T5" fmla="*/ 20 h 47"/>
                <a:gd name="T6" fmla="*/ 19 w 101"/>
                <a:gd name="T7" fmla="*/ 1 h 47"/>
                <a:gd name="T8" fmla="*/ 83 w 101"/>
                <a:gd name="T9" fmla="*/ 1 h 47"/>
                <a:gd name="T10" fmla="*/ 101 w 101"/>
                <a:gd name="T11" fmla="*/ 22 h 47"/>
                <a:gd name="T12" fmla="*/ 82 w 101"/>
                <a:gd name="T13" fmla="*/ 46 h 47"/>
                <a:gd name="T14" fmla="*/ 51 w 101"/>
                <a:gd name="T15" fmla="*/ 4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" h="47">
                  <a:moveTo>
                    <a:pt x="51" y="46"/>
                  </a:moveTo>
                  <a:cubicBezTo>
                    <a:pt x="42" y="46"/>
                    <a:pt x="33" y="46"/>
                    <a:pt x="25" y="46"/>
                  </a:cubicBezTo>
                  <a:cubicBezTo>
                    <a:pt x="3" y="45"/>
                    <a:pt x="0" y="43"/>
                    <a:pt x="1" y="20"/>
                  </a:cubicBezTo>
                  <a:cubicBezTo>
                    <a:pt x="1" y="7"/>
                    <a:pt x="6" y="0"/>
                    <a:pt x="19" y="1"/>
                  </a:cubicBezTo>
                  <a:cubicBezTo>
                    <a:pt x="41" y="1"/>
                    <a:pt x="62" y="1"/>
                    <a:pt x="83" y="1"/>
                  </a:cubicBezTo>
                  <a:cubicBezTo>
                    <a:pt x="99" y="0"/>
                    <a:pt x="101" y="10"/>
                    <a:pt x="101" y="22"/>
                  </a:cubicBezTo>
                  <a:cubicBezTo>
                    <a:pt x="101" y="36"/>
                    <a:pt x="100" y="47"/>
                    <a:pt x="82" y="46"/>
                  </a:cubicBezTo>
                  <a:cubicBezTo>
                    <a:pt x="72" y="45"/>
                    <a:pt x="61" y="46"/>
                    <a:pt x="51" y="46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75" name="Freeform 78"/>
            <p:cNvSpPr>
              <a:spLocks/>
            </p:cNvSpPr>
            <p:nvPr/>
          </p:nvSpPr>
          <p:spPr bwMode="auto">
            <a:xfrm>
              <a:off x="6143669" y="2047191"/>
              <a:ext cx="304837" cy="136232"/>
            </a:xfrm>
            <a:custGeom>
              <a:avLst/>
              <a:gdLst>
                <a:gd name="T0" fmla="*/ 55 w 106"/>
                <a:gd name="T1" fmla="*/ 46 h 46"/>
                <a:gd name="T2" fmla="*/ 33 w 106"/>
                <a:gd name="T3" fmla="*/ 46 h 46"/>
                <a:gd name="T4" fmla="*/ 7 w 106"/>
                <a:gd name="T5" fmla="*/ 13 h 46"/>
                <a:gd name="T6" fmla="*/ 24 w 106"/>
                <a:gd name="T7" fmla="*/ 1 h 46"/>
                <a:gd name="T8" fmla="*/ 88 w 106"/>
                <a:gd name="T9" fmla="*/ 1 h 46"/>
                <a:gd name="T10" fmla="*/ 105 w 106"/>
                <a:gd name="T11" fmla="*/ 22 h 46"/>
                <a:gd name="T12" fmla="*/ 89 w 106"/>
                <a:gd name="T13" fmla="*/ 46 h 46"/>
                <a:gd name="T14" fmla="*/ 55 w 106"/>
                <a:gd name="T15" fmla="*/ 46 h 46"/>
                <a:gd name="T16" fmla="*/ 55 w 106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46">
                  <a:moveTo>
                    <a:pt x="55" y="46"/>
                  </a:moveTo>
                  <a:cubicBezTo>
                    <a:pt x="48" y="46"/>
                    <a:pt x="40" y="46"/>
                    <a:pt x="33" y="46"/>
                  </a:cubicBezTo>
                  <a:cubicBezTo>
                    <a:pt x="8" y="46"/>
                    <a:pt x="0" y="36"/>
                    <a:pt x="7" y="13"/>
                  </a:cubicBezTo>
                  <a:cubicBezTo>
                    <a:pt x="9" y="7"/>
                    <a:pt x="18" y="2"/>
                    <a:pt x="24" y="1"/>
                  </a:cubicBezTo>
                  <a:cubicBezTo>
                    <a:pt x="46" y="0"/>
                    <a:pt x="67" y="1"/>
                    <a:pt x="88" y="1"/>
                  </a:cubicBezTo>
                  <a:cubicBezTo>
                    <a:pt x="103" y="0"/>
                    <a:pt x="105" y="10"/>
                    <a:pt x="105" y="22"/>
                  </a:cubicBezTo>
                  <a:cubicBezTo>
                    <a:pt x="105" y="34"/>
                    <a:pt x="106" y="45"/>
                    <a:pt x="89" y="46"/>
                  </a:cubicBezTo>
                  <a:cubicBezTo>
                    <a:pt x="78" y="46"/>
                    <a:pt x="66" y="46"/>
                    <a:pt x="55" y="46"/>
                  </a:cubicBezTo>
                  <a:cubicBezTo>
                    <a:pt x="55" y="46"/>
                    <a:pt x="55" y="46"/>
                    <a:pt x="55" y="46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6" name="Freeform 79"/>
            <p:cNvSpPr>
              <a:spLocks/>
            </p:cNvSpPr>
            <p:nvPr/>
          </p:nvSpPr>
          <p:spPr bwMode="auto">
            <a:xfrm>
              <a:off x="-31112" y="2047191"/>
              <a:ext cx="310934" cy="136232"/>
            </a:xfrm>
            <a:custGeom>
              <a:avLst/>
              <a:gdLst>
                <a:gd name="T0" fmla="*/ 51 w 108"/>
                <a:gd name="T1" fmla="*/ 0 h 46"/>
                <a:gd name="T2" fmla="*/ 75 w 108"/>
                <a:gd name="T3" fmla="*/ 0 h 46"/>
                <a:gd name="T4" fmla="*/ 100 w 108"/>
                <a:gd name="T5" fmla="*/ 35 h 46"/>
                <a:gd name="T6" fmla="*/ 86 w 108"/>
                <a:gd name="T7" fmla="*/ 45 h 46"/>
                <a:gd name="T8" fmla="*/ 18 w 108"/>
                <a:gd name="T9" fmla="*/ 45 h 46"/>
                <a:gd name="T10" fmla="*/ 1 w 108"/>
                <a:gd name="T11" fmla="*/ 22 h 46"/>
                <a:gd name="T12" fmla="*/ 19 w 108"/>
                <a:gd name="T13" fmla="*/ 1 h 46"/>
                <a:gd name="T14" fmla="*/ 51 w 108"/>
                <a:gd name="T15" fmla="*/ 1 h 46"/>
                <a:gd name="T16" fmla="*/ 51 w 108"/>
                <a:gd name="T1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8" h="46">
                  <a:moveTo>
                    <a:pt x="51" y="0"/>
                  </a:moveTo>
                  <a:cubicBezTo>
                    <a:pt x="59" y="0"/>
                    <a:pt x="67" y="0"/>
                    <a:pt x="75" y="0"/>
                  </a:cubicBezTo>
                  <a:cubicBezTo>
                    <a:pt x="99" y="1"/>
                    <a:pt x="108" y="12"/>
                    <a:pt x="100" y="35"/>
                  </a:cubicBezTo>
                  <a:cubicBezTo>
                    <a:pt x="98" y="39"/>
                    <a:pt x="91" y="45"/>
                    <a:pt x="86" y="45"/>
                  </a:cubicBezTo>
                  <a:cubicBezTo>
                    <a:pt x="63" y="46"/>
                    <a:pt x="41" y="45"/>
                    <a:pt x="18" y="45"/>
                  </a:cubicBezTo>
                  <a:cubicBezTo>
                    <a:pt x="2" y="45"/>
                    <a:pt x="1" y="35"/>
                    <a:pt x="1" y="22"/>
                  </a:cubicBezTo>
                  <a:cubicBezTo>
                    <a:pt x="0" y="9"/>
                    <a:pt x="4" y="0"/>
                    <a:pt x="19" y="1"/>
                  </a:cubicBezTo>
                  <a:cubicBezTo>
                    <a:pt x="30" y="1"/>
                    <a:pt x="41" y="1"/>
                    <a:pt x="51" y="1"/>
                  </a:cubicBezTo>
                  <a:cubicBezTo>
                    <a:pt x="51" y="1"/>
                    <a:pt x="51" y="1"/>
                    <a:pt x="51" y="0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77" name="Freeform 80"/>
            <p:cNvSpPr>
              <a:spLocks/>
            </p:cNvSpPr>
            <p:nvPr/>
          </p:nvSpPr>
          <p:spPr bwMode="auto">
            <a:xfrm>
              <a:off x="357861" y="2047191"/>
              <a:ext cx="292644" cy="136232"/>
            </a:xfrm>
            <a:custGeom>
              <a:avLst/>
              <a:gdLst>
                <a:gd name="T0" fmla="*/ 49 w 102"/>
                <a:gd name="T1" fmla="*/ 45 h 46"/>
                <a:gd name="T2" fmla="*/ 27 w 102"/>
                <a:gd name="T3" fmla="*/ 45 h 46"/>
                <a:gd name="T4" fmla="*/ 2 w 102"/>
                <a:gd name="T5" fmla="*/ 25 h 46"/>
                <a:gd name="T6" fmla="*/ 28 w 102"/>
                <a:gd name="T7" fmla="*/ 1 h 46"/>
                <a:gd name="T8" fmla="*/ 84 w 102"/>
                <a:gd name="T9" fmla="*/ 0 h 46"/>
                <a:gd name="T10" fmla="*/ 102 w 102"/>
                <a:gd name="T11" fmla="*/ 23 h 46"/>
                <a:gd name="T12" fmla="*/ 85 w 102"/>
                <a:gd name="T13" fmla="*/ 46 h 46"/>
                <a:gd name="T14" fmla="*/ 49 w 102"/>
                <a:gd name="T15" fmla="*/ 46 h 46"/>
                <a:gd name="T16" fmla="*/ 49 w 102"/>
                <a:gd name="T17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6">
                  <a:moveTo>
                    <a:pt x="49" y="45"/>
                  </a:moveTo>
                  <a:cubicBezTo>
                    <a:pt x="41" y="45"/>
                    <a:pt x="34" y="45"/>
                    <a:pt x="27" y="45"/>
                  </a:cubicBezTo>
                  <a:cubicBezTo>
                    <a:pt x="12" y="46"/>
                    <a:pt x="0" y="45"/>
                    <a:pt x="2" y="25"/>
                  </a:cubicBezTo>
                  <a:cubicBezTo>
                    <a:pt x="3" y="3"/>
                    <a:pt x="5" y="0"/>
                    <a:pt x="28" y="1"/>
                  </a:cubicBezTo>
                  <a:cubicBezTo>
                    <a:pt x="47" y="1"/>
                    <a:pt x="65" y="1"/>
                    <a:pt x="84" y="0"/>
                  </a:cubicBezTo>
                  <a:cubicBezTo>
                    <a:pt x="99" y="0"/>
                    <a:pt x="102" y="10"/>
                    <a:pt x="102" y="23"/>
                  </a:cubicBezTo>
                  <a:cubicBezTo>
                    <a:pt x="102" y="35"/>
                    <a:pt x="101" y="46"/>
                    <a:pt x="85" y="46"/>
                  </a:cubicBezTo>
                  <a:cubicBezTo>
                    <a:pt x="73" y="45"/>
                    <a:pt x="61" y="46"/>
                    <a:pt x="49" y="46"/>
                  </a:cubicBezTo>
                  <a:cubicBezTo>
                    <a:pt x="49" y="45"/>
                    <a:pt x="49" y="45"/>
                    <a:pt x="49" y="45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78" name="Freeform 81"/>
            <p:cNvSpPr>
              <a:spLocks/>
            </p:cNvSpPr>
            <p:nvPr/>
          </p:nvSpPr>
          <p:spPr bwMode="auto">
            <a:xfrm>
              <a:off x="6350958" y="1844105"/>
              <a:ext cx="302398" cy="137493"/>
            </a:xfrm>
            <a:custGeom>
              <a:avLst/>
              <a:gdLst>
                <a:gd name="T0" fmla="*/ 53 w 105"/>
                <a:gd name="T1" fmla="*/ 1 h 46"/>
                <a:gd name="T2" fmla="*/ 75 w 105"/>
                <a:gd name="T3" fmla="*/ 1 h 46"/>
                <a:gd name="T4" fmla="*/ 100 w 105"/>
                <a:gd name="T5" fmla="*/ 30 h 46"/>
                <a:gd name="T6" fmla="*/ 86 w 105"/>
                <a:gd name="T7" fmla="*/ 44 h 46"/>
                <a:gd name="T8" fmla="*/ 16 w 105"/>
                <a:gd name="T9" fmla="*/ 45 h 46"/>
                <a:gd name="T10" fmla="*/ 1 w 105"/>
                <a:gd name="T11" fmla="*/ 22 h 46"/>
                <a:gd name="T12" fmla="*/ 17 w 105"/>
                <a:gd name="T13" fmla="*/ 1 h 46"/>
                <a:gd name="T14" fmla="*/ 53 w 105"/>
                <a:gd name="T15" fmla="*/ 0 h 46"/>
                <a:gd name="T16" fmla="*/ 53 w 105"/>
                <a:gd name="T17" fmla="*/ 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5" h="46">
                  <a:moveTo>
                    <a:pt x="53" y="1"/>
                  </a:moveTo>
                  <a:cubicBezTo>
                    <a:pt x="60" y="1"/>
                    <a:pt x="67" y="1"/>
                    <a:pt x="75" y="1"/>
                  </a:cubicBezTo>
                  <a:cubicBezTo>
                    <a:pt x="99" y="0"/>
                    <a:pt x="105" y="6"/>
                    <a:pt x="100" y="30"/>
                  </a:cubicBezTo>
                  <a:cubicBezTo>
                    <a:pt x="99" y="35"/>
                    <a:pt x="91" y="44"/>
                    <a:pt x="86" y="44"/>
                  </a:cubicBezTo>
                  <a:cubicBezTo>
                    <a:pt x="63" y="46"/>
                    <a:pt x="39" y="45"/>
                    <a:pt x="16" y="45"/>
                  </a:cubicBezTo>
                  <a:cubicBezTo>
                    <a:pt x="1" y="44"/>
                    <a:pt x="0" y="34"/>
                    <a:pt x="1" y="22"/>
                  </a:cubicBezTo>
                  <a:cubicBezTo>
                    <a:pt x="1" y="11"/>
                    <a:pt x="2" y="1"/>
                    <a:pt x="17" y="1"/>
                  </a:cubicBezTo>
                  <a:cubicBezTo>
                    <a:pt x="29" y="0"/>
                    <a:pt x="41" y="0"/>
                    <a:pt x="53" y="0"/>
                  </a:cubicBezTo>
                  <a:cubicBezTo>
                    <a:pt x="53" y="1"/>
                    <a:pt x="53" y="1"/>
                    <a:pt x="53" y="1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79" name="Freeform 82"/>
            <p:cNvSpPr>
              <a:spLocks/>
            </p:cNvSpPr>
            <p:nvPr/>
          </p:nvSpPr>
          <p:spPr bwMode="auto">
            <a:xfrm>
              <a:off x="6742368" y="1841582"/>
              <a:ext cx="291425" cy="140016"/>
            </a:xfrm>
            <a:custGeom>
              <a:avLst/>
              <a:gdLst>
                <a:gd name="T0" fmla="*/ 52 w 101"/>
                <a:gd name="T1" fmla="*/ 1 h 47"/>
                <a:gd name="T2" fmla="*/ 76 w 101"/>
                <a:gd name="T3" fmla="*/ 1 h 47"/>
                <a:gd name="T4" fmla="*/ 101 w 101"/>
                <a:gd name="T5" fmla="*/ 22 h 47"/>
                <a:gd name="T6" fmla="*/ 76 w 101"/>
                <a:gd name="T7" fmla="*/ 46 h 47"/>
                <a:gd name="T8" fmla="*/ 23 w 101"/>
                <a:gd name="T9" fmla="*/ 46 h 47"/>
                <a:gd name="T10" fmla="*/ 0 w 101"/>
                <a:gd name="T11" fmla="*/ 22 h 47"/>
                <a:gd name="T12" fmla="*/ 22 w 101"/>
                <a:gd name="T13" fmla="*/ 1 h 47"/>
                <a:gd name="T14" fmla="*/ 52 w 101"/>
                <a:gd name="T15" fmla="*/ 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" h="47">
                  <a:moveTo>
                    <a:pt x="52" y="1"/>
                  </a:moveTo>
                  <a:cubicBezTo>
                    <a:pt x="60" y="1"/>
                    <a:pt x="68" y="2"/>
                    <a:pt x="76" y="1"/>
                  </a:cubicBezTo>
                  <a:cubicBezTo>
                    <a:pt x="91" y="1"/>
                    <a:pt x="101" y="2"/>
                    <a:pt x="101" y="22"/>
                  </a:cubicBezTo>
                  <a:cubicBezTo>
                    <a:pt x="101" y="41"/>
                    <a:pt x="94" y="47"/>
                    <a:pt x="76" y="46"/>
                  </a:cubicBezTo>
                  <a:cubicBezTo>
                    <a:pt x="58" y="45"/>
                    <a:pt x="40" y="45"/>
                    <a:pt x="23" y="46"/>
                  </a:cubicBezTo>
                  <a:cubicBezTo>
                    <a:pt x="5" y="47"/>
                    <a:pt x="0" y="38"/>
                    <a:pt x="0" y="22"/>
                  </a:cubicBezTo>
                  <a:cubicBezTo>
                    <a:pt x="1" y="5"/>
                    <a:pt x="8" y="0"/>
                    <a:pt x="22" y="1"/>
                  </a:cubicBezTo>
                  <a:cubicBezTo>
                    <a:pt x="32" y="2"/>
                    <a:pt x="42" y="1"/>
                    <a:pt x="52" y="1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80" name="Freeform 83"/>
            <p:cNvSpPr>
              <a:spLocks/>
            </p:cNvSpPr>
            <p:nvPr/>
          </p:nvSpPr>
          <p:spPr bwMode="auto">
            <a:xfrm>
              <a:off x="749271" y="1236108"/>
              <a:ext cx="293863" cy="133709"/>
            </a:xfrm>
            <a:custGeom>
              <a:avLst/>
              <a:gdLst>
                <a:gd name="T0" fmla="*/ 52 w 102"/>
                <a:gd name="T1" fmla="*/ 45 h 45"/>
                <a:gd name="T2" fmla="*/ 26 w 102"/>
                <a:gd name="T3" fmla="*/ 45 h 45"/>
                <a:gd name="T4" fmla="*/ 2 w 102"/>
                <a:gd name="T5" fmla="*/ 17 h 45"/>
                <a:gd name="T6" fmla="*/ 19 w 102"/>
                <a:gd name="T7" fmla="*/ 0 h 45"/>
                <a:gd name="T8" fmla="*/ 84 w 102"/>
                <a:gd name="T9" fmla="*/ 0 h 45"/>
                <a:gd name="T10" fmla="*/ 102 w 102"/>
                <a:gd name="T11" fmla="*/ 23 h 45"/>
                <a:gd name="T12" fmla="*/ 84 w 102"/>
                <a:gd name="T13" fmla="*/ 45 h 45"/>
                <a:gd name="T14" fmla="*/ 52 w 102"/>
                <a:gd name="T15" fmla="*/ 45 h 45"/>
                <a:gd name="T16" fmla="*/ 52 w 102"/>
                <a:gd name="T17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5">
                  <a:moveTo>
                    <a:pt x="52" y="45"/>
                  </a:moveTo>
                  <a:cubicBezTo>
                    <a:pt x="43" y="45"/>
                    <a:pt x="35" y="45"/>
                    <a:pt x="26" y="45"/>
                  </a:cubicBezTo>
                  <a:cubicBezTo>
                    <a:pt x="4" y="45"/>
                    <a:pt x="0" y="40"/>
                    <a:pt x="2" y="17"/>
                  </a:cubicBezTo>
                  <a:cubicBezTo>
                    <a:pt x="2" y="6"/>
                    <a:pt x="7" y="0"/>
                    <a:pt x="19" y="0"/>
                  </a:cubicBezTo>
                  <a:cubicBezTo>
                    <a:pt x="41" y="0"/>
                    <a:pt x="62" y="0"/>
                    <a:pt x="84" y="0"/>
                  </a:cubicBezTo>
                  <a:cubicBezTo>
                    <a:pt x="100" y="0"/>
                    <a:pt x="102" y="10"/>
                    <a:pt x="102" y="23"/>
                  </a:cubicBezTo>
                  <a:cubicBezTo>
                    <a:pt x="102" y="36"/>
                    <a:pt x="99" y="45"/>
                    <a:pt x="84" y="45"/>
                  </a:cubicBezTo>
                  <a:cubicBezTo>
                    <a:pt x="73" y="44"/>
                    <a:pt x="63" y="45"/>
                    <a:pt x="52" y="45"/>
                  </a:cubicBezTo>
                  <a:cubicBezTo>
                    <a:pt x="52" y="45"/>
                    <a:pt x="52" y="45"/>
                    <a:pt x="52" y="45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81" name="Freeform 84"/>
            <p:cNvSpPr>
              <a:spLocks/>
            </p:cNvSpPr>
            <p:nvPr/>
          </p:nvSpPr>
          <p:spPr bwMode="auto">
            <a:xfrm>
              <a:off x="1143121" y="1233585"/>
              <a:ext cx="293863" cy="136232"/>
            </a:xfrm>
            <a:custGeom>
              <a:avLst/>
              <a:gdLst>
                <a:gd name="T0" fmla="*/ 50 w 102"/>
                <a:gd name="T1" fmla="*/ 45 h 46"/>
                <a:gd name="T2" fmla="*/ 26 w 102"/>
                <a:gd name="T3" fmla="*/ 45 h 46"/>
                <a:gd name="T4" fmla="*/ 0 w 102"/>
                <a:gd name="T5" fmla="*/ 25 h 46"/>
                <a:gd name="T6" fmla="*/ 25 w 102"/>
                <a:gd name="T7" fmla="*/ 1 h 46"/>
                <a:gd name="T8" fmla="*/ 83 w 102"/>
                <a:gd name="T9" fmla="*/ 1 h 46"/>
                <a:gd name="T10" fmla="*/ 101 w 102"/>
                <a:gd name="T11" fmla="*/ 23 h 46"/>
                <a:gd name="T12" fmla="*/ 82 w 102"/>
                <a:gd name="T13" fmla="*/ 45 h 46"/>
                <a:gd name="T14" fmla="*/ 50 w 102"/>
                <a:gd name="T15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46">
                  <a:moveTo>
                    <a:pt x="50" y="45"/>
                  </a:moveTo>
                  <a:cubicBezTo>
                    <a:pt x="42" y="45"/>
                    <a:pt x="34" y="45"/>
                    <a:pt x="26" y="45"/>
                  </a:cubicBezTo>
                  <a:cubicBezTo>
                    <a:pt x="11" y="46"/>
                    <a:pt x="0" y="45"/>
                    <a:pt x="0" y="25"/>
                  </a:cubicBezTo>
                  <a:cubicBezTo>
                    <a:pt x="0" y="6"/>
                    <a:pt x="7" y="0"/>
                    <a:pt x="25" y="1"/>
                  </a:cubicBezTo>
                  <a:cubicBezTo>
                    <a:pt x="44" y="2"/>
                    <a:pt x="63" y="1"/>
                    <a:pt x="83" y="1"/>
                  </a:cubicBezTo>
                  <a:cubicBezTo>
                    <a:pt x="98" y="1"/>
                    <a:pt x="102" y="9"/>
                    <a:pt x="101" y="23"/>
                  </a:cubicBezTo>
                  <a:cubicBezTo>
                    <a:pt x="101" y="36"/>
                    <a:pt x="99" y="46"/>
                    <a:pt x="82" y="45"/>
                  </a:cubicBezTo>
                  <a:cubicBezTo>
                    <a:pt x="71" y="45"/>
                    <a:pt x="60" y="45"/>
                    <a:pt x="50" y="45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82" name="Freeform 85"/>
            <p:cNvSpPr>
              <a:spLocks/>
            </p:cNvSpPr>
            <p:nvPr/>
          </p:nvSpPr>
          <p:spPr bwMode="auto">
            <a:xfrm>
              <a:off x="161545" y="1439195"/>
              <a:ext cx="299960" cy="131186"/>
            </a:xfrm>
            <a:custGeom>
              <a:avLst/>
              <a:gdLst>
                <a:gd name="T0" fmla="*/ 52 w 104"/>
                <a:gd name="T1" fmla="*/ 44 h 44"/>
                <a:gd name="T2" fmla="*/ 26 w 104"/>
                <a:gd name="T3" fmla="*/ 44 h 44"/>
                <a:gd name="T4" fmla="*/ 1 w 104"/>
                <a:gd name="T5" fmla="*/ 18 h 44"/>
                <a:gd name="T6" fmla="*/ 19 w 104"/>
                <a:gd name="T7" fmla="*/ 0 h 44"/>
                <a:gd name="T8" fmla="*/ 87 w 104"/>
                <a:gd name="T9" fmla="*/ 0 h 44"/>
                <a:gd name="T10" fmla="*/ 102 w 104"/>
                <a:gd name="T11" fmla="*/ 21 h 44"/>
                <a:gd name="T12" fmla="*/ 88 w 104"/>
                <a:gd name="T13" fmla="*/ 44 h 44"/>
                <a:gd name="T14" fmla="*/ 52 w 104"/>
                <a:gd name="T15" fmla="*/ 44 h 44"/>
                <a:gd name="T16" fmla="*/ 52 w 104"/>
                <a:gd name="T17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" h="44">
                  <a:moveTo>
                    <a:pt x="52" y="44"/>
                  </a:moveTo>
                  <a:cubicBezTo>
                    <a:pt x="43" y="44"/>
                    <a:pt x="34" y="44"/>
                    <a:pt x="26" y="44"/>
                  </a:cubicBezTo>
                  <a:cubicBezTo>
                    <a:pt x="3" y="44"/>
                    <a:pt x="0" y="41"/>
                    <a:pt x="1" y="18"/>
                  </a:cubicBezTo>
                  <a:cubicBezTo>
                    <a:pt x="1" y="6"/>
                    <a:pt x="6" y="0"/>
                    <a:pt x="19" y="0"/>
                  </a:cubicBezTo>
                  <a:cubicBezTo>
                    <a:pt x="41" y="1"/>
                    <a:pt x="64" y="0"/>
                    <a:pt x="87" y="0"/>
                  </a:cubicBezTo>
                  <a:cubicBezTo>
                    <a:pt x="101" y="0"/>
                    <a:pt x="102" y="10"/>
                    <a:pt x="102" y="21"/>
                  </a:cubicBezTo>
                  <a:cubicBezTo>
                    <a:pt x="102" y="31"/>
                    <a:pt x="104" y="43"/>
                    <a:pt x="88" y="44"/>
                  </a:cubicBezTo>
                  <a:cubicBezTo>
                    <a:pt x="76" y="44"/>
                    <a:pt x="64" y="44"/>
                    <a:pt x="52" y="44"/>
                  </a:cubicBezTo>
                  <a:cubicBezTo>
                    <a:pt x="52" y="44"/>
                    <a:pt x="52" y="44"/>
                    <a:pt x="52" y="44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83" name="Freeform 86"/>
            <p:cNvSpPr>
              <a:spLocks/>
            </p:cNvSpPr>
            <p:nvPr/>
          </p:nvSpPr>
          <p:spPr bwMode="auto">
            <a:xfrm>
              <a:off x="-31112" y="1236108"/>
              <a:ext cx="293863" cy="133709"/>
            </a:xfrm>
            <a:custGeom>
              <a:avLst/>
              <a:gdLst>
                <a:gd name="T0" fmla="*/ 51 w 102"/>
                <a:gd name="T1" fmla="*/ 45 h 45"/>
                <a:gd name="T2" fmla="*/ 26 w 102"/>
                <a:gd name="T3" fmla="*/ 45 h 45"/>
                <a:gd name="T4" fmla="*/ 1 w 102"/>
                <a:gd name="T5" fmla="*/ 17 h 45"/>
                <a:gd name="T6" fmla="*/ 18 w 102"/>
                <a:gd name="T7" fmla="*/ 0 h 45"/>
                <a:gd name="T8" fmla="*/ 85 w 102"/>
                <a:gd name="T9" fmla="*/ 0 h 45"/>
                <a:gd name="T10" fmla="*/ 101 w 102"/>
                <a:gd name="T11" fmla="*/ 20 h 45"/>
                <a:gd name="T12" fmla="*/ 85 w 102"/>
                <a:gd name="T13" fmla="*/ 44 h 45"/>
                <a:gd name="T14" fmla="*/ 51 w 102"/>
                <a:gd name="T15" fmla="*/ 44 h 45"/>
                <a:gd name="T16" fmla="*/ 51 w 102"/>
                <a:gd name="T17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5">
                  <a:moveTo>
                    <a:pt x="51" y="45"/>
                  </a:moveTo>
                  <a:cubicBezTo>
                    <a:pt x="43" y="45"/>
                    <a:pt x="34" y="44"/>
                    <a:pt x="26" y="45"/>
                  </a:cubicBezTo>
                  <a:cubicBezTo>
                    <a:pt x="3" y="45"/>
                    <a:pt x="0" y="40"/>
                    <a:pt x="1" y="17"/>
                  </a:cubicBezTo>
                  <a:cubicBezTo>
                    <a:pt x="1" y="6"/>
                    <a:pt x="6" y="0"/>
                    <a:pt x="18" y="0"/>
                  </a:cubicBezTo>
                  <a:cubicBezTo>
                    <a:pt x="40" y="0"/>
                    <a:pt x="63" y="0"/>
                    <a:pt x="85" y="0"/>
                  </a:cubicBezTo>
                  <a:cubicBezTo>
                    <a:pt x="99" y="0"/>
                    <a:pt x="102" y="8"/>
                    <a:pt x="101" y="20"/>
                  </a:cubicBezTo>
                  <a:cubicBezTo>
                    <a:pt x="101" y="32"/>
                    <a:pt x="102" y="44"/>
                    <a:pt x="85" y="44"/>
                  </a:cubicBezTo>
                  <a:cubicBezTo>
                    <a:pt x="74" y="44"/>
                    <a:pt x="63" y="44"/>
                    <a:pt x="51" y="44"/>
                  </a:cubicBezTo>
                  <a:cubicBezTo>
                    <a:pt x="51" y="44"/>
                    <a:pt x="51" y="44"/>
                    <a:pt x="51" y="45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84" name="Freeform 87"/>
            <p:cNvSpPr>
              <a:spLocks/>
            </p:cNvSpPr>
            <p:nvPr/>
          </p:nvSpPr>
          <p:spPr bwMode="auto">
            <a:xfrm>
              <a:off x="360299" y="1236108"/>
              <a:ext cx="302398" cy="133709"/>
            </a:xfrm>
            <a:custGeom>
              <a:avLst/>
              <a:gdLst>
                <a:gd name="T0" fmla="*/ 51 w 105"/>
                <a:gd name="T1" fmla="*/ 0 h 45"/>
                <a:gd name="T2" fmla="*/ 75 w 105"/>
                <a:gd name="T3" fmla="*/ 0 h 45"/>
                <a:gd name="T4" fmla="*/ 100 w 105"/>
                <a:gd name="T5" fmla="*/ 30 h 45"/>
                <a:gd name="T6" fmla="*/ 86 w 105"/>
                <a:gd name="T7" fmla="*/ 44 h 45"/>
                <a:gd name="T8" fmla="*/ 18 w 105"/>
                <a:gd name="T9" fmla="*/ 44 h 45"/>
                <a:gd name="T10" fmla="*/ 1 w 105"/>
                <a:gd name="T11" fmla="*/ 20 h 45"/>
                <a:gd name="T12" fmla="*/ 19 w 105"/>
                <a:gd name="T13" fmla="*/ 0 h 45"/>
                <a:gd name="T14" fmla="*/ 51 w 105"/>
                <a:gd name="T1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" h="45">
                  <a:moveTo>
                    <a:pt x="51" y="0"/>
                  </a:moveTo>
                  <a:cubicBezTo>
                    <a:pt x="59" y="0"/>
                    <a:pt x="67" y="0"/>
                    <a:pt x="75" y="0"/>
                  </a:cubicBezTo>
                  <a:cubicBezTo>
                    <a:pt x="100" y="0"/>
                    <a:pt x="105" y="5"/>
                    <a:pt x="100" y="30"/>
                  </a:cubicBezTo>
                  <a:cubicBezTo>
                    <a:pt x="99" y="35"/>
                    <a:pt x="91" y="43"/>
                    <a:pt x="86" y="44"/>
                  </a:cubicBezTo>
                  <a:cubicBezTo>
                    <a:pt x="64" y="45"/>
                    <a:pt x="41" y="44"/>
                    <a:pt x="18" y="44"/>
                  </a:cubicBezTo>
                  <a:cubicBezTo>
                    <a:pt x="1" y="44"/>
                    <a:pt x="1" y="32"/>
                    <a:pt x="1" y="20"/>
                  </a:cubicBezTo>
                  <a:cubicBezTo>
                    <a:pt x="0" y="6"/>
                    <a:pt x="6" y="0"/>
                    <a:pt x="19" y="0"/>
                  </a:cubicBezTo>
                  <a:cubicBezTo>
                    <a:pt x="30" y="0"/>
                    <a:pt x="41" y="0"/>
                    <a:pt x="51" y="0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85" name="Freeform 88"/>
            <p:cNvSpPr>
              <a:spLocks/>
            </p:cNvSpPr>
            <p:nvPr/>
          </p:nvSpPr>
          <p:spPr bwMode="auto">
            <a:xfrm>
              <a:off x="5184041" y="1435410"/>
              <a:ext cx="293863" cy="137493"/>
            </a:xfrm>
            <a:custGeom>
              <a:avLst/>
              <a:gdLst>
                <a:gd name="T0" fmla="*/ 52 w 102"/>
                <a:gd name="T1" fmla="*/ 1 h 46"/>
                <a:gd name="T2" fmla="*/ 78 w 102"/>
                <a:gd name="T3" fmla="*/ 1 h 46"/>
                <a:gd name="T4" fmla="*/ 102 w 102"/>
                <a:gd name="T5" fmla="*/ 24 h 46"/>
                <a:gd name="T6" fmla="*/ 79 w 102"/>
                <a:gd name="T7" fmla="*/ 45 h 46"/>
                <a:gd name="T8" fmla="*/ 22 w 102"/>
                <a:gd name="T9" fmla="*/ 45 h 46"/>
                <a:gd name="T10" fmla="*/ 0 w 102"/>
                <a:gd name="T11" fmla="*/ 24 h 46"/>
                <a:gd name="T12" fmla="*/ 22 w 102"/>
                <a:gd name="T13" fmla="*/ 1 h 46"/>
                <a:gd name="T14" fmla="*/ 52 w 102"/>
                <a:gd name="T15" fmla="*/ 1 h 46"/>
                <a:gd name="T16" fmla="*/ 52 w 102"/>
                <a:gd name="T17" fmla="*/ 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6">
                  <a:moveTo>
                    <a:pt x="52" y="1"/>
                  </a:moveTo>
                  <a:cubicBezTo>
                    <a:pt x="61" y="1"/>
                    <a:pt x="69" y="2"/>
                    <a:pt x="78" y="1"/>
                  </a:cubicBezTo>
                  <a:cubicBezTo>
                    <a:pt x="94" y="0"/>
                    <a:pt x="102" y="6"/>
                    <a:pt x="102" y="24"/>
                  </a:cubicBezTo>
                  <a:cubicBezTo>
                    <a:pt x="102" y="41"/>
                    <a:pt x="95" y="46"/>
                    <a:pt x="79" y="45"/>
                  </a:cubicBezTo>
                  <a:cubicBezTo>
                    <a:pt x="60" y="44"/>
                    <a:pt x="41" y="44"/>
                    <a:pt x="22" y="45"/>
                  </a:cubicBezTo>
                  <a:cubicBezTo>
                    <a:pt x="7" y="45"/>
                    <a:pt x="0" y="40"/>
                    <a:pt x="0" y="24"/>
                  </a:cubicBezTo>
                  <a:cubicBezTo>
                    <a:pt x="1" y="8"/>
                    <a:pt x="6" y="0"/>
                    <a:pt x="22" y="1"/>
                  </a:cubicBezTo>
                  <a:cubicBezTo>
                    <a:pt x="32" y="2"/>
                    <a:pt x="42" y="1"/>
                    <a:pt x="52" y="1"/>
                  </a:cubicBezTo>
                  <a:cubicBezTo>
                    <a:pt x="52" y="1"/>
                    <a:pt x="52" y="1"/>
                    <a:pt x="52" y="1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86" name="Freeform 89"/>
            <p:cNvSpPr>
              <a:spLocks/>
            </p:cNvSpPr>
            <p:nvPr/>
          </p:nvSpPr>
          <p:spPr bwMode="auto">
            <a:xfrm>
              <a:off x="6350958" y="1435410"/>
              <a:ext cx="291425" cy="134971"/>
            </a:xfrm>
            <a:custGeom>
              <a:avLst/>
              <a:gdLst>
                <a:gd name="T0" fmla="*/ 52 w 101"/>
                <a:gd name="T1" fmla="*/ 2 h 45"/>
                <a:gd name="T2" fmla="*/ 76 w 101"/>
                <a:gd name="T3" fmla="*/ 1 h 45"/>
                <a:gd name="T4" fmla="*/ 101 w 101"/>
                <a:gd name="T5" fmla="*/ 25 h 45"/>
                <a:gd name="T6" fmla="*/ 75 w 101"/>
                <a:gd name="T7" fmla="*/ 45 h 45"/>
                <a:gd name="T8" fmla="*/ 19 w 101"/>
                <a:gd name="T9" fmla="*/ 45 h 45"/>
                <a:gd name="T10" fmla="*/ 0 w 101"/>
                <a:gd name="T11" fmla="*/ 22 h 45"/>
                <a:gd name="T12" fmla="*/ 20 w 101"/>
                <a:gd name="T13" fmla="*/ 1 h 45"/>
                <a:gd name="T14" fmla="*/ 52 w 101"/>
                <a:gd name="T15" fmla="*/ 1 h 45"/>
                <a:gd name="T16" fmla="*/ 52 w 101"/>
                <a:gd name="T17" fmla="*/ 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" h="45">
                  <a:moveTo>
                    <a:pt x="52" y="2"/>
                  </a:moveTo>
                  <a:cubicBezTo>
                    <a:pt x="60" y="2"/>
                    <a:pt x="68" y="2"/>
                    <a:pt x="76" y="1"/>
                  </a:cubicBezTo>
                  <a:cubicBezTo>
                    <a:pt x="93" y="0"/>
                    <a:pt x="101" y="6"/>
                    <a:pt x="101" y="25"/>
                  </a:cubicBezTo>
                  <a:cubicBezTo>
                    <a:pt x="101" y="45"/>
                    <a:pt x="89" y="45"/>
                    <a:pt x="75" y="45"/>
                  </a:cubicBezTo>
                  <a:cubicBezTo>
                    <a:pt x="56" y="45"/>
                    <a:pt x="38" y="44"/>
                    <a:pt x="19" y="45"/>
                  </a:cubicBezTo>
                  <a:cubicBezTo>
                    <a:pt x="2" y="45"/>
                    <a:pt x="0" y="35"/>
                    <a:pt x="0" y="22"/>
                  </a:cubicBezTo>
                  <a:cubicBezTo>
                    <a:pt x="0" y="8"/>
                    <a:pt x="6" y="1"/>
                    <a:pt x="20" y="1"/>
                  </a:cubicBezTo>
                  <a:cubicBezTo>
                    <a:pt x="31" y="2"/>
                    <a:pt x="42" y="1"/>
                    <a:pt x="52" y="1"/>
                  </a:cubicBezTo>
                  <a:cubicBezTo>
                    <a:pt x="52" y="1"/>
                    <a:pt x="52" y="2"/>
                    <a:pt x="52" y="2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87" name="Freeform 90"/>
            <p:cNvSpPr>
              <a:spLocks/>
            </p:cNvSpPr>
            <p:nvPr/>
          </p:nvSpPr>
          <p:spPr bwMode="auto">
            <a:xfrm>
              <a:off x="6152204" y="1233585"/>
              <a:ext cx="296302" cy="136232"/>
            </a:xfrm>
            <a:custGeom>
              <a:avLst/>
              <a:gdLst>
                <a:gd name="T0" fmla="*/ 53 w 103"/>
                <a:gd name="T1" fmla="*/ 46 h 46"/>
                <a:gd name="T2" fmla="*/ 29 w 103"/>
                <a:gd name="T3" fmla="*/ 46 h 46"/>
                <a:gd name="T4" fmla="*/ 4 w 103"/>
                <a:gd name="T5" fmla="*/ 16 h 46"/>
                <a:gd name="T6" fmla="*/ 18 w 103"/>
                <a:gd name="T7" fmla="*/ 2 h 46"/>
                <a:gd name="T8" fmla="*/ 86 w 103"/>
                <a:gd name="T9" fmla="*/ 1 h 46"/>
                <a:gd name="T10" fmla="*/ 102 w 103"/>
                <a:gd name="T11" fmla="*/ 25 h 46"/>
                <a:gd name="T12" fmla="*/ 85 w 103"/>
                <a:gd name="T13" fmla="*/ 46 h 46"/>
                <a:gd name="T14" fmla="*/ 53 w 103"/>
                <a:gd name="T15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3" h="46">
                  <a:moveTo>
                    <a:pt x="53" y="46"/>
                  </a:moveTo>
                  <a:cubicBezTo>
                    <a:pt x="45" y="46"/>
                    <a:pt x="37" y="46"/>
                    <a:pt x="29" y="46"/>
                  </a:cubicBezTo>
                  <a:cubicBezTo>
                    <a:pt x="5" y="46"/>
                    <a:pt x="0" y="40"/>
                    <a:pt x="4" y="16"/>
                  </a:cubicBezTo>
                  <a:cubicBezTo>
                    <a:pt x="5" y="10"/>
                    <a:pt x="13" y="2"/>
                    <a:pt x="18" y="2"/>
                  </a:cubicBezTo>
                  <a:cubicBezTo>
                    <a:pt x="41" y="0"/>
                    <a:pt x="63" y="1"/>
                    <a:pt x="86" y="1"/>
                  </a:cubicBezTo>
                  <a:cubicBezTo>
                    <a:pt x="102" y="1"/>
                    <a:pt x="102" y="13"/>
                    <a:pt x="102" y="25"/>
                  </a:cubicBezTo>
                  <a:cubicBezTo>
                    <a:pt x="103" y="37"/>
                    <a:pt x="100" y="46"/>
                    <a:pt x="85" y="46"/>
                  </a:cubicBezTo>
                  <a:cubicBezTo>
                    <a:pt x="74" y="45"/>
                    <a:pt x="64" y="46"/>
                    <a:pt x="53" y="46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88" name="Freeform 91"/>
            <p:cNvSpPr>
              <a:spLocks/>
            </p:cNvSpPr>
            <p:nvPr/>
          </p:nvSpPr>
          <p:spPr bwMode="auto">
            <a:xfrm>
              <a:off x="-227427" y="1439195"/>
              <a:ext cx="293863" cy="133709"/>
            </a:xfrm>
            <a:custGeom>
              <a:avLst/>
              <a:gdLst>
                <a:gd name="T0" fmla="*/ 50 w 102"/>
                <a:gd name="T1" fmla="*/ 44 h 45"/>
                <a:gd name="T2" fmla="*/ 24 w 102"/>
                <a:gd name="T3" fmla="*/ 44 h 45"/>
                <a:gd name="T4" fmla="*/ 0 w 102"/>
                <a:gd name="T5" fmla="*/ 22 h 45"/>
                <a:gd name="T6" fmla="*/ 23 w 102"/>
                <a:gd name="T7" fmla="*/ 0 h 45"/>
                <a:gd name="T8" fmla="*/ 81 w 102"/>
                <a:gd name="T9" fmla="*/ 0 h 45"/>
                <a:gd name="T10" fmla="*/ 102 w 102"/>
                <a:gd name="T11" fmla="*/ 24 h 45"/>
                <a:gd name="T12" fmla="*/ 82 w 102"/>
                <a:gd name="T13" fmla="*/ 44 h 45"/>
                <a:gd name="T14" fmla="*/ 50 w 102"/>
                <a:gd name="T15" fmla="*/ 43 h 45"/>
                <a:gd name="T16" fmla="*/ 50 w 102"/>
                <a:gd name="T17" fmla="*/ 4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5">
                  <a:moveTo>
                    <a:pt x="50" y="44"/>
                  </a:moveTo>
                  <a:cubicBezTo>
                    <a:pt x="41" y="44"/>
                    <a:pt x="33" y="43"/>
                    <a:pt x="24" y="44"/>
                  </a:cubicBezTo>
                  <a:cubicBezTo>
                    <a:pt x="8" y="45"/>
                    <a:pt x="0" y="40"/>
                    <a:pt x="0" y="22"/>
                  </a:cubicBezTo>
                  <a:cubicBezTo>
                    <a:pt x="0" y="5"/>
                    <a:pt x="8" y="0"/>
                    <a:pt x="23" y="0"/>
                  </a:cubicBezTo>
                  <a:cubicBezTo>
                    <a:pt x="42" y="1"/>
                    <a:pt x="61" y="1"/>
                    <a:pt x="81" y="0"/>
                  </a:cubicBezTo>
                  <a:cubicBezTo>
                    <a:pt x="98" y="0"/>
                    <a:pt x="102" y="9"/>
                    <a:pt x="102" y="24"/>
                  </a:cubicBezTo>
                  <a:cubicBezTo>
                    <a:pt x="102" y="39"/>
                    <a:pt x="96" y="44"/>
                    <a:pt x="82" y="44"/>
                  </a:cubicBezTo>
                  <a:cubicBezTo>
                    <a:pt x="71" y="43"/>
                    <a:pt x="61" y="43"/>
                    <a:pt x="50" y="43"/>
                  </a:cubicBezTo>
                  <a:cubicBezTo>
                    <a:pt x="50" y="44"/>
                    <a:pt x="50" y="44"/>
                    <a:pt x="50" y="44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89" name="Freeform 92"/>
            <p:cNvSpPr>
              <a:spLocks/>
            </p:cNvSpPr>
            <p:nvPr/>
          </p:nvSpPr>
          <p:spPr bwMode="auto">
            <a:xfrm>
              <a:off x="5576671" y="1439195"/>
              <a:ext cx="293863" cy="133709"/>
            </a:xfrm>
            <a:custGeom>
              <a:avLst/>
              <a:gdLst>
                <a:gd name="T0" fmla="*/ 51 w 102"/>
                <a:gd name="T1" fmla="*/ 44 h 45"/>
                <a:gd name="T2" fmla="*/ 25 w 102"/>
                <a:gd name="T3" fmla="*/ 44 h 45"/>
                <a:gd name="T4" fmla="*/ 0 w 102"/>
                <a:gd name="T5" fmla="*/ 22 h 45"/>
                <a:gd name="T6" fmla="*/ 25 w 102"/>
                <a:gd name="T7" fmla="*/ 0 h 45"/>
                <a:gd name="T8" fmla="*/ 83 w 102"/>
                <a:gd name="T9" fmla="*/ 0 h 45"/>
                <a:gd name="T10" fmla="*/ 102 w 102"/>
                <a:gd name="T11" fmla="*/ 24 h 45"/>
                <a:gd name="T12" fmla="*/ 83 w 102"/>
                <a:gd name="T13" fmla="*/ 44 h 45"/>
                <a:gd name="T14" fmla="*/ 51 w 102"/>
                <a:gd name="T15" fmla="*/ 44 h 45"/>
                <a:gd name="T16" fmla="*/ 51 w 102"/>
                <a:gd name="T17" fmla="*/ 4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5">
                  <a:moveTo>
                    <a:pt x="51" y="44"/>
                  </a:moveTo>
                  <a:cubicBezTo>
                    <a:pt x="42" y="44"/>
                    <a:pt x="34" y="43"/>
                    <a:pt x="25" y="44"/>
                  </a:cubicBezTo>
                  <a:cubicBezTo>
                    <a:pt x="9" y="45"/>
                    <a:pt x="0" y="41"/>
                    <a:pt x="0" y="22"/>
                  </a:cubicBezTo>
                  <a:cubicBezTo>
                    <a:pt x="1" y="4"/>
                    <a:pt x="9" y="0"/>
                    <a:pt x="25" y="0"/>
                  </a:cubicBezTo>
                  <a:cubicBezTo>
                    <a:pt x="45" y="1"/>
                    <a:pt x="64" y="1"/>
                    <a:pt x="83" y="0"/>
                  </a:cubicBezTo>
                  <a:cubicBezTo>
                    <a:pt x="100" y="0"/>
                    <a:pt x="102" y="10"/>
                    <a:pt x="102" y="24"/>
                  </a:cubicBezTo>
                  <a:cubicBezTo>
                    <a:pt x="102" y="38"/>
                    <a:pt x="98" y="45"/>
                    <a:pt x="83" y="44"/>
                  </a:cubicBezTo>
                  <a:cubicBezTo>
                    <a:pt x="72" y="43"/>
                    <a:pt x="61" y="44"/>
                    <a:pt x="51" y="44"/>
                  </a:cubicBezTo>
                  <a:cubicBezTo>
                    <a:pt x="51" y="44"/>
                    <a:pt x="51" y="44"/>
                    <a:pt x="51" y="44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90" name="Freeform 93"/>
            <p:cNvSpPr>
              <a:spLocks/>
            </p:cNvSpPr>
            <p:nvPr/>
          </p:nvSpPr>
          <p:spPr bwMode="auto">
            <a:xfrm>
              <a:off x="-618838" y="1435410"/>
              <a:ext cx="296302" cy="137493"/>
            </a:xfrm>
            <a:custGeom>
              <a:avLst/>
              <a:gdLst>
                <a:gd name="T0" fmla="*/ 51 w 103"/>
                <a:gd name="T1" fmla="*/ 45 h 46"/>
                <a:gd name="T2" fmla="*/ 25 w 103"/>
                <a:gd name="T3" fmla="*/ 45 h 46"/>
                <a:gd name="T4" fmla="*/ 0 w 103"/>
                <a:gd name="T5" fmla="*/ 24 h 46"/>
                <a:gd name="T6" fmla="*/ 26 w 103"/>
                <a:gd name="T7" fmla="*/ 1 h 46"/>
                <a:gd name="T8" fmla="*/ 82 w 103"/>
                <a:gd name="T9" fmla="*/ 1 h 46"/>
                <a:gd name="T10" fmla="*/ 102 w 103"/>
                <a:gd name="T11" fmla="*/ 24 h 46"/>
                <a:gd name="T12" fmla="*/ 83 w 103"/>
                <a:gd name="T13" fmla="*/ 45 h 46"/>
                <a:gd name="T14" fmla="*/ 51 w 103"/>
                <a:gd name="T15" fmla="*/ 45 h 46"/>
                <a:gd name="T16" fmla="*/ 51 w 103"/>
                <a:gd name="T17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6">
                  <a:moveTo>
                    <a:pt x="51" y="45"/>
                  </a:moveTo>
                  <a:cubicBezTo>
                    <a:pt x="43" y="45"/>
                    <a:pt x="34" y="45"/>
                    <a:pt x="25" y="45"/>
                  </a:cubicBezTo>
                  <a:cubicBezTo>
                    <a:pt x="11" y="46"/>
                    <a:pt x="0" y="44"/>
                    <a:pt x="0" y="24"/>
                  </a:cubicBezTo>
                  <a:cubicBezTo>
                    <a:pt x="1" y="5"/>
                    <a:pt x="9" y="0"/>
                    <a:pt x="26" y="1"/>
                  </a:cubicBezTo>
                  <a:cubicBezTo>
                    <a:pt x="45" y="2"/>
                    <a:pt x="63" y="2"/>
                    <a:pt x="82" y="1"/>
                  </a:cubicBezTo>
                  <a:cubicBezTo>
                    <a:pt x="98" y="1"/>
                    <a:pt x="102" y="10"/>
                    <a:pt x="102" y="24"/>
                  </a:cubicBezTo>
                  <a:cubicBezTo>
                    <a:pt x="103" y="38"/>
                    <a:pt x="98" y="45"/>
                    <a:pt x="83" y="45"/>
                  </a:cubicBezTo>
                  <a:cubicBezTo>
                    <a:pt x="73" y="45"/>
                    <a:pt x="62" y="45"/>
                    <a:pt x="51" y="45"/>
                  </a:cubicBezTo>
                  <a:cubicBezTo>
                    <a:pt x="51" y="45"/>
                    <a:pt x="51" y="45"/>
                    <a:pt x="51" y="45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91" name="Freeform 94"/>
            <p:cNvSpPr>
              <a:spLocks/>
            </p:cNvSpPr>
            <p:nvPr/>
          </p:nvSpPr>
          <p:spPr bwMode="auto">
            <a:xfrm>
              <a:off x="556614" y="1435410"/>
              <a:ext cx="292644" cy="137493"/>
            </a:xfrm>
            <a:custGeom>
              <a:avLst/>
              <a:gdLst>
                <a:gd name="T0" fmla="*/ 52 w 102"/>
                <a:gd name="T1" fmla="*/ 45 h 46"/>
                <a:gd name="T2" fmla="*/ 23 w 102"/>
                <a:gd name="T3" fmla="*/ 45 h 46"/>
                <a:gd name="T4" fmla="*/ 0 w 102"/>
                <a:gd name="T5" fmla="*/ 23 h 46"/>
                <a:gd name="T6" fmla="*/ 23 w 102"/>
                <a:gd name="T7" fmla="*/ 1 h 46"/>
                <a:gd name="T8" fmla="*/ 78 w 102"/>
                <a:gd name="T9" fmla="*/ 1 h 46"/>
                <a:gd name="T10" fmla="*/ 102 w 102"/>
                <a:gd name="T11" fmla="*/ 22 h 46"/>
                <a:gd name="T12" fmla="*/ 80 w 102"/>
                <a:gd name="T13" fmla="*/ 45 h 46"/>
                <a:gd name="T14" fmla="*/ 52 w 102"/>
                <a:gd name="T15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46">
                  <a:moveTo>
                    <a:pt x="52" y="45"/>
                  </a:moveTo>
                  <a:cubicBezTo>
                    <a:pt x="42" y="45"/>
                    <a:pt x="33" y="44"/>
                    <a:pt x="23" y="45"/>
                  </a:cubicBezTo>
                  <a:cubicBezTo>
                    <a:pt x="6" y="46"/>
                    <a:pt x="0" y="39"/>
                    <a:pt x="0" y="23"/>
                  </a:cubicBezTo>
                  <a:cubicBezTo>
                    <a:pt x="0" y="6"/>
                    <a:pt x="7" y="1"/>
                    <a:pt x="23" y="1"/>
                  </a:cubicBezTo>
                  <a:cubicBezTo>
                    <a:pt x="41" y="2"/>
                    <a:pt x="60" y="2"/>
                    <a:pt x="78" y="1"/>
                  </a:cubicBezTo>
                  <a:cubicBezTo>
                    <a:pt x="94" y="0"/>
                    <a:pt x="101" y="5"/>
                    <a:pt x="102" y="22"/>
                  </a:cubicBezTo>
                  <a:cubicBezTo>
                    <a:pt x="102" y="38"/>
                    <a:pt x="97" y="46"/>
                    <a:pt x="80" y="45"/>
                  </a:cubicBezTo>
                  <a:cubicBezTo>
                    <a:pt x="71" y="44"/>
                    <a:pt x="62" y="45"/>
                    <a:pt x="52" y="45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92" name="Freeform 95"/>
            <p:cNvSpPr>
              <a:spLocks/>
            </p:cNvSpPr>
            <p:nvPr/>
          </p:nvSpPr>
          <p:spPr bwMode="auto">
            <a:xfrm>
              <a:off x="6733833" y="1435410"/>
              <a:ext cx="302398" cy="134971"/>
            </a:xfrm>
            <a:custGeom>
              <a:avLst/>
              <a:gdLst>
                <a:gd name="T0" fmla="*/ 53 w 105"/>
                <a:gd name="T1" fmla="*/ 44 h 45"/>
                <a:gd name="T2" fmla="*/ 27 w 105"/>
                <a:gd name="T3" fmla="*/ 44 h 45"/>
                <a:gd name="T4" fmla="*/ 4 w 105"/>
                <a:gd name="T5" fmla="*/ 18 h 45"/>
                <a:gd name="T6" fmla="*/ 19 w 105"/>
                <a:gd name="T7" fmla="*/ 2 h 45"/>
                <a:gd name="T8" fmla="*/ 87 w 105"/>
                <a:gd name="T9" fmla="*/ 1 h 45"/>
                <a:gd name="T10" fmla="*/ 104 w 105"/>
                <a:gd name="T11" fmla="*/ 24 h 45"/>
                <a:gd name="T12" fmla="*/ 87 w 105"/>
                <a:gd name="T13" fmla="*/ 45 h 45"/>
                <a:gd name="T14" fmla="*/ 53 w 105"/>
                <a:gd name="T15" fmla="*/ 45 h 45"/>
                <a:gd name="T16" fmla="*/ 53 w 105"/>
                <a:gd name="T17" fmla="*/ 4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5" h="45">
                  <a:moveTo>
                    <a:pt x="53" y="44"/>
                  </a:moveTo>
                  <a:cubicBezTo>
                    <a:pt x="44" y="44"/>
                    <a:pt x="36" y="45"/>
                    <a:pt x="27" y="44"/>
                  </a:cubicBezTo>
                  <a:cubicBezTo>
                    <a:pt x="5" y="44"/>
                    <a:pt x="0" y="40"/>
                    <a:pt x="4" y="18"/>
                  </a:cubicBezTo>
                  <a:cubicBezTo>
                    <a:pt x="5" y="12"/>
                    <a:pt x="14" y="3"/>
                    <a:pt x="19" y="2"/>
                  </a:cubicBezTo>
                  <a:cubicBezTo>
                    <a:pt x="42" y="0"/>
                    <a:pt x="64" y="1"/>
                    <a:pt x="87" y="1"/>
                  </a:cubicBezTo>
                  <a:cubicBezTo>
                    <a:pt x="103" y="1"/>
                    <a:pt x="103" y="12"/>
                    <a:pt x="104" y="24"/>
                  </a:cubicBezTo>
                  <a:cubicBezTo>
                    <a:pt x="105" y="37"/>
                    <a:pt x="101" y="45"/>
                    <a:pt x="87" y="45"/>
                  </a:cubicBezTo>
                  <a:cubicBezTo>
                    <a:pt x="75" y="45"/>
                    <a:pt x="64" y="45"/>
                    <a:pt x="53" y="45"/>
                  </a:cubicBezTo>
                  <a:cubicBezTo>
                    <a:pt x="53" y="45"/>
                    <a:pt x="53" y="45"/>
                    <a:pt x="53" y="44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93" name="Freeform 96"/>
            <p:cNvSpPr>
              <a:spLocks/>
            </p:cNvSpPr>
            <p:nvPr/>
          </p:nvSpPr>
          <p:spPr bwMode="auto">
            <a:xfrm>
              <a:off x="5964424" y="1844105"/>
              <a:ext cx="293863" cy="137493"/>
            </a:xfrm>
            <a:custGeom>
              <a:avLst/>
              <a:gdLst>
                <a:gd name="T0" fmla="*/ 49 w 102"/>
                <a:gd name="T1" fmla="*/ 0 h 46"/>
                <a:gd name="T2" fmla="*/ 73 w 102"/>
                <a:gd name="T3" fmla="*/ 0 h 46"/>
                <a:gd name="T4" fmla="*/ 98 w 102"/>
                <a:gd name="T5" fmla="*/ 28 h 46"/>
                <a:gd name="T6" fmla="*/ 83 w 102"/>
                <a:gd name="T7" fmla="*/ 44 h 46"/>
                <a:gd name="T8" fmla="*/ 16 w 102"/>
                <a:gd name="T9" fmla="*/ 45 h 46"/>
                <a:gd name="T10" fmla="*/ 2 w 102"/>
                <a:gd name="T11" fmla="*/ 21 h 46"/>
                <a:gd name="T12" fmla="*/ 17 w 102"/>
                <a:gd name="T13" fmla="*/ 1 h 46"/>
                <a:gd name="T14" fmla="*/ 49 w 102"/>
                <a:gd name="T15" fmla="*/ 1 h 46"/>
                <a:gd name="T16" fmla="*/ 49 w 102"/>
                <a:gd name="T1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46">
                  <a:moveTo>
                    <a:pt x="49" y="0"/>
                  </a:moveTo>
                  <a:cubicBezTo>
                    <a:pt x="57" y="0"/>
                    <a:pt x="65" y="0"/>
                    <a:pt x="73" y="0"/>
                  </a:cubicBezTo>
                  <a:cubicBezTo>
                    <a:pt x="97" y="1"/>
                    <a:pt x="102" y="4"/>
                    <a:pt x="98" y="28"/>
                  </a:cubicBezTo>
                  <a:cubicBezTo>
                    <a:pt x="97" y="34"/>
                    <a:pt x="89" y="43"/>
                    <a:pt x="83" y="44"/>
                  </a:cubicBezTo>
                  <a:cubicBezTo>
                    <a:pt x="61" y="46"/>
                    <a:pt x="38" y="45"/>
                    <a:pt x="16" y="45"/>
                  </a:cubicBezTo>
                  <a:cubicBezTo>
                    <a:pt x="0" y="44"/>
                    <a:pt x="2" y="32"/>
                    <a:pt x="2" y="21"/>
                  </a:cubicBezTo>
                  <a:cubicBezTo>
                    <a:pt x="2" y="11"/>
                    <a:pt x="2" y="1"/>
                    <a:pt x="17" y="1"/>
                  </a:cubicBezTo>
                  <a:cubicBezTo>
                    <a:pt x="28" y="0"/>
                    <a:pt x="38" y="1"/>
                    <a:pt x="49" y="1"/>
                  </a:cubicBezTo>
                  <a:cubicBezTo>
                    <a:pt x="49" y="0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94" name="Freeform 97"/>
            <p:cNvSpPr>
              <a:spLocks/>
            </p:cNvSpPr>
            <p:nvPr/>
          </p:nvSpPr>
          <p:spPr bwMode="auto">
            <a:xfrm>
              <a:off x="-815152" y="1236108"/>
              <a:ext cx="291425" cy="133709"/>
            </a:xfrm>
            <a:custGeom>
              <a:avLst/>
              <a:gdLst>
                <a:gd name="T0" fmla="*/ 52 w 101"/>
                <a:gd name="T1" fmla="*/ 44 h 45"/>
                <a:gd name="T2" fmla="*/ 30 w 101"/>
                <a:gd name="T3" fmla="*/ 44 h 45"/>
                <a:gd name="T4" fmla="*/ 5 w 101"/>
                <a:gd name="T5" fmla="*/ 14 h 45"/>
                <a:gd name="T6" fmla="*/ 19 w 101"/>
                <a:gd name="T7" fmla="*/ 1 h 45"/>
                <a:gd name="T8" fmla="*/ 84 w 101"/>
                <a:gd name="T9" fmla="*/ 0 h 45"/>
                <a:gd name="T10" fmla="*/ 101 w 101"/>
                <a:gd name="T11" fmla="*/ 24 h 45"/>
                <a:gd name="T12" fmla="*/ 84 w 101"/>
                <a:gd name="T13" fmla="*/ 45 h 45"/>
                <a:gd name="T14" fmla="*/ 52 w 101"/>
                <a:gd name="T15" fmla="*/ 44 h 45"/>
                <a:gd name="T16" fmla="*/ 52 w 101"/>
                <a:gd name="T17" fmla="*/ 4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" h="45">
                  <a:moveTo>
                    <a:pt x="52" y="44"/>
                  </a:moveTo>
                  <a:cubicBezTo>
                    <a:pt x="45" y="44"/>
                    <a:pt x="37" y="44"/>
                    <a:pt x="30" y="44"/>
                  </a:cubicBezTo>
                  <a:cubicBezTo>
                    <a:pt x="7" y="45"/>
                    <a:pt x="0" y="37"/>
                    <a:pt x="5" y="14"/>
                  </a:cubicBezTo>
                  <a:cubicBezTo>
                    <a:pt x="6" y="9"/>
                    <a:pt x="14" y="1"/>
                    <a:pt x="19" y="1"/>
                  </a:cubicBezTo>
                  <a:cubicBezTo>
                    <a:pt x="40" y="0"/>
                    <a:pt x="62" y="0"/>
                    <a:pt x="84" y="0"/>
                  </a:cubicBezTo>
                  <a:cubicBezTo>
                    <a:pt x="101" y="0"/>
                    <a:pt x="101" y="12"/>
                    <a:pt x="101" y="24"/>
                  </a:cubicBezTo>
                  <a:cubicBezTo>
                    <a:pt x="101" y="36"/>
                    <a:pt x="98" y="45"/>
                    <a:pt x="84" y="45"/>
                  </a:cubicBezTo>
                  <a:cubicBezTo>
                    <a:pt x="73" y="44"/>
                    <a:pt x="63" y="44"/>
                    <a:pt x="52" y="44"/>
                  </a:cubicBezTo>
                  <a:cubicBezTo>
                    <a:pt x="52" y="44"/>
                    <a:pt x="52" y="44"/>
                    <a:pt x="52" y="44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95" name="Freeform 98"/>
            <p:cNvSpPr>
              <a:spLocks/>
            </p:cNvSpPr>
            <p:nvPr/>
          </p:nvSpPr>
          <p:spPr bwMode="auto">
            <a:xfrm>
              <a:off x="5947353" y="1439195"/>
              <a:ext cx="306057" cy="131186"/>
            </a:xfrm>
            <a:custGeom>
              <a:avLst/>
              <a:gdLst>
                <a:gd name="T0" fmla="*/ 55 w 106"/>
                <a:gd name="T1" fmla="*/ 44 h 44"/>
                <a:gd name="T2" fmla="*/ 33 w 106"/>
                <a:gd name="T3" fmla="*/ 44 h 44"/>
                <a:gd name="T4" fmla="*/ 9 w 106"/>
                <a:gd name="T5" fmla="*/ 10 h 44"/>
                <a:gd name="T6" fmla="*/ 22 w 106"/>
                <a:gd name="T7" fmla="*/ 1 h 44"/>
                <a:gd name="T8" fmla="*/ 89 w 106"/>
                <a:gd name="T9" fmla="*/ 1 h 44"/>
                <a:gd name="T10" fmla="*/ 105 w 106"/>
                <a:gd name="T11" fmla="*/ 25 h 44"/>
                <a:gd name="T12" fmla="*/ 89 w 106"/>
                <a:gd name="T13" fmla="*/ 44 h 44"/>
                <a:gd name="T14" fmla="*/ 55 w 106"/>
                <a:gd name="T15" fmla="*/ 44 h 44"/>
                <a:gd name="T16" fmla="*/ 55 w 106"/>
                <a:gd name="T17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44">
                  <a:moveTo>
                    <a:pt x="55" y="44"/>
                  </a:moveTo>
                  <a:cubicBezTo>
                    <a:pt x="47" y="44"/>
                    <a:pt x="40" y="44"/>
                    <a:pt x="33" y="44"/>
                  </a:cubicBezTo>
                  <a:cubicBezTo>
                    <a:pt x="9" y="44"/>
                    <a:pt x="0" y="32"/>
                    <a:pt x="9" y="10"/>
                  </a:cubicBezTo>
                  <a:cubicBezTo>
                    <a:pt x="10" y="6"/>
                    <a:pt x="17" y="1"/>
                    <a:pt x="22" y="1"/>
                  </a:cubicBezTo>
                  <a:cubicBezTo>
                    <a:pt x="44" y="0"/>
                    <a:pt x="67" y="0"/>
                    <a:pt x="89" y="1"/>
                  </a:cubicBezTo>
                  <a:cubicBezTo>
                    <a:pt x="106" y="1"/>
                    <a:pt x="104" y="13"/>
                    <a:pt x="105" y="25"/>
                  </a:cubicBezTo>
                  <a:cubicBezTo>
                    <a:pt x="106" y="37"/>
                    <a:pt x="102" y="44"/>
                    <a:pt x="89" y="44"/>
                  </a:cubicBezTo>
                  <a:cubicBezTo>
                    <a:pt x="77" y="44"/>
                    <a:pt x="66" y="44"/>
                    <a:pt x="55" y="44"/>
                  </a:cubicBezTo>
                  <a:cubicBezTo>
                    <a:pt x="55" y="44"/>
                    <a:pt x="55" y="44"/>
                    <a:pt x="55" y="44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96" name="Freeform 99"/>
            <p:cNvSpPr>
              <a:spLocks/>
            </p:cNvSpPr>
            <p:nvPr/>
          </p:nvSpPr>
          <p:spPr bwMode="auto">
            <a:xfrm>
              <a:off x="-806617" y="2047191"/>
              <a:ext cx="285327" cy="140016"/>
            </a:xfrm>
            <a:custGeom>
              <a:avLst/>
              <a:gdLst>
                <a:gd name="T0" fmla="*/ 49 w 99"/>
                <a:gd name="T1" fmla="*/ 1 h 47"/>
                <a:gd name="T2" fmla="*/ 73 w 99"/>
                <a:gd name="T3" fmla="*/ 1 h 47"/>
                <a:gd name="T4" fmla="*/ 99 w 99"/>
                <a:gd name="T5" fmla="*/ 22 h 47"/>
                <a:gd name="T6" fmla="*/ 74 w 99"/>
                <a:gd name="T7" fmla="*/ 46 h 47"/>
                <a:gd name="T8" fmla="*/ 19 w 99"/>
                <a:gd name="T9" fmla="*/ 45 h 47"/>
                <a:gd name="T10" fmla="*/ 1 w 99"/>
                <a:gd name="T11" fmla="*/ 20 h 47"/>
                <a:gd name="T12" fmla="*/ 19 w 99"/>
                <a:gd name="T13" fmla="*/ 1 h 47"/>
                <a:gd name="T14" fmla="*/ 49 w 99"/>
                <a:gd name="T15" fmla="*/ 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" h="47">
                  <a:moveTo>
                    <a:pt x="49" y="1"/>
                  </a:moveTo>
                  <a:cubicBezTo>
                    <a:pt x="57" y="1"/>
                    <a:pt x="65" y="1"/>
                    <a:pt x="73" y="1"/>
                  </a:cubicBezTo>
                  <a:cubicBezTo>
                    <a:pt x="88" y="0"/>
                    <a:pt x="99" y="2"/>
                    <a:pt x="99" y="22"/>
                  </a:cubicBezTo>
                  <a:cubicBezTo>
                    <a:pt x="99" y="40"/>
                    <a:pt x="92" y="47"/>
                    <a:pt x="74" y="46"/>
                  </a:cubicBezTo>
                  <a:cubicBezTo>
                    <a:pt x="56" y="45"/>
                    <a:pt x="37" y="45"/>
                    <a:pt x="19" y="45"/>
                  </a:cubicBezTo>
                  <a:cubicBezTo>
                    <a:pt x="0" y="45"/>
                    <a:pt x="2" y="33"/>
                    <a:pt x="1" y="20"/>
                  </a:cubicBezTo>
                  <a:cubicBezTo>
                    <a:pt x="1" y="7"/>
                    <a:pt x="6" y="0"/>
                    <a:pt x="19" y="1"/>
                  </a:cubicBezTo>
                  <a:cubicBezTo>
                    <a:pt x="29" y="1"/>
                    <a:pt x="39" y="1"/>
                    <a:pt x="49" y="1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97" name="Freeform 100"/>
            <p:cNvSpPr>
              <a:spLocks/>
            </p:cNvSpPr>
            <p:nvPr/>
          </p:nvSpPr>
          <p:spPr bwMode="auto">
            <a:xfrm>
              <a:off x="4985288" y="1844105"/>
              <a:ext cx="103645" cy="133709"/>
            </a:xfrm>
            <a:custGeom>
              <a:avLst/>
              <a:gdLst>
                <a:gd name="T0" fmla="*/ 35 w 36"/>
                <a:gd name="T1" fmla="*/ 24 h 45"/>
                <a:gd name="T2" fmla="*/ 18 w 36"/>
                <a:gd name="T3" fmla="*/ 45 h 45"/>
                <a:gd name="T4" fmla="*/ 0 w 36"/>
                <a:gd name="T5" fmla="*/ 22 h 45"/>
                <a:gd name="T6" fmla="*/ 18 w 36"/>
                <a:gd name="T7" fmla="*/ 0 h 45"/>
                <a:gd name="T8" fmla="*/ 35 w 36"/>
                <a:gd name="T9" fmla="*/ 2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45">
                  <a:moveTo>
                    <a:pt x="35" y="24"/>
                  </a:moveTo>
                  <a:cubicBezTo>
                    <a:pt x="36" y="36"/>
                    <a:pt x="32" y="45"/>
                    <a:pt x="18" y="45"/>
                  </a:cubicBezTo>
                  <a:cubicBezTo>
                    <a:pt x="2" y="45"/>
                    <a:pt x="1" y="34"/>
                    <a:pt x="0" y="22"/>
                  </a:cubicBezTo>
                  <a:cubicBezTo>
                    <a:pt x="0" y="9"/>
                    <a:pt x="3" y="0"/>
                    <a:pt x="18" y="0"/>
                  </a:cubicBezTo>
                  <a:cubicBezTo>
                    <a:pt x="35" y="1"/>
                    <a:pt x="35" y="12"/>
                    <a:pt x="35" y="24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98" name="Freeform 101"/>
            <p:cNvSpPr>
              <a:spLocks/>
            </p:cNvSpPr>
            <p:nvPr/>
          </p:nvSpPr>
          <p:spPr bwMode="auto">
            <a:xfrm>
              <a:off x="4982849" y="1432887"/>
              <a:ext cx="115838" cy="137493"/>
            </a:xfrm>
            <a:custGeom>
              <a:avLst/>
              <a:gdLst>
                <a:gd name="T0" fmla="*/ 35 w 40"/>
                <a:gd name="T1" fmla="*/ 24 h 46"/>
                <a:gd name="T2" fmla="*/ 18 w 40"/>
                <a:gd name="T3" fmla="*/ 46 h 46"/>
                <a:gd name="T4" fmla="*/ 2 w 40"/>
                <a:gd name="T5" fmla="*/ 22 h 46"/>
                <a:gd name="T6" fmla="*/ 20 w 40"/>
                <a:gd name="T7" fmla="*/ 3 h 46"/>
                <a:gd name="T8" fmla="*/ 40 w 40"/>
                <a:gd name="T9" fmla="*/ 20 h 46"/>
                <a:gd name="T10" fmla="*/ 35 w 40"/>
                <a:gd name="T11" fmla="*/ 24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46">
                  <a:moveTo>
                    <a:pt x="35" y="24"/>
                  </a:moveTo>
                  <a:cubicBezTo>
                    <a:pt x="38" y="38"/>
                    <a:pt x="33" y="46"/>
                    <a:pt x="18" y="46"/>
                  </a:cubicBezTo>
                  <a:cubicBezTo>
                    <a:pt x="0" y="46"/>
                    <a:pt x="3" y="33"/>
                    <a:pt x="2" y="22"/>
                  </a:cubicBezTo>
                  <a:cubicBezTo>
                    <a:pt x="1" y="8"/>
                    <a:pt x="7" y="0"/>
                    <a:pt x="20" y="3"/>
                  </a:cubicBezTo>
                  <a:cubicBezTo>
                    <a:pt x="27" y="5"/>
                    <a:pt x="33" y="14"/>
                    <a:pt x="40" y="20"/>
                  </a:cubicBezTo>
                  <a:cubicBezTo>
                    <a:pt x="38" y="21"/>
                    <a:pt x="37" y="23"/>
                    <a:pt x="35" y="24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99" name="Freeform 102"/>
            <p:cNvSpPr>
              <a:spLocks/>
            </p:cNvSpPr>
            <p:nvPr/>
          </p:nvSpPr>
          <p:spPr bwMode="auto">
            <a:xfrm>
              <a:off x="1339436" y="1844105"/>
              <a:ext cx="106084" cy="137493"/>
            </a:xfrm>
            <a:custGeom>
              <a:avLst/>
              <a:gdLst>
                <a:gd name="T0" fmla="*/ 37 w 37"/>
                <a:gd name="T1" fmla="*/ 28 h 46"/>
                <a:gd name="T2" fmla="*/ 16 w 37"/>
                <a:gd name="T3" fmla="*/ 44 h 46"/>
                <a:gd name="T4" fmla="*/ 0 w 37"/>
                <a:gd name="T5" fmla="*/ 20 h 46"/>
                <a:gd name="T6" fmla="*/ 16 w 37"/>
                <a:gd name="T7" fmla="*/ 0 h 46"/>
                <a:gd name="T8" fmla="*/ 37 w 37"/>
                <a:gd name="T9" fmla="*/ 2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46">
                  <a:moveTo>
                    <a:pt x="37" y="28"/>
                  </a:moveTo>
                  <a:cubicBezTo>
                    <a:pt x="30" y="33"/>
                    <a:pt x="24" y="43"/>
                    <a:pt x="16" y="44"/>
                  </a:cubicBezTo>
                  <a:cubicBezTo>
                    <a:pt x="0" y="46"/>
                    <a:pt x="1" y="32"/>
                    <a:pt x="0" y="20"/>
                  </a:cubicBezTo>
                  <a:cubicBezTo>
                    <a:pt x="0" y="9"/>
                    <a:pt x="2" y="0"/>
                    <a:pt x="16" y="0"/>
                  </a:cubicBezTo>
                  <a:cubicBezTo>
                    <a:pt x="32" y="1"/>
                    <a:pt x="34" y="10"/>
                    <a:pt x="37" y="28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00" name="Freeform 103"/>
            <p:cNvSpPr>
              <a:spLocks/>
            </p:cNvSpPr>
            <p:nvPr/>
          </p:nvSpPr>
          <p:spPr bwMode="auto">
            <a:xfrm>
              <a:off x="7133779" y="1844105"/>
              <a:ext cx="107303" cy="137493"/>
            </a:xfrm>
            <a:custGeom>
              <a:avLst/>
              <a:gdLst>
                <a:gd name="T0" fmla="*/ 37 w 37"/>
                <a:gd name="T1" fmla="*/ 28 h 46"/>
                <a:gd name="T2" fmla="*/ 16 w 37"/>
                <a:gd name="T3" fmla="*/ 44 h 46"/>
                <a:gd name="T4" fmla="*/ 0 w 37"/>
                <a:gd name="T5" fmla="*/ 21 h 46"/>
                <a:gd name="T6" fmla="*/ 17 w 37"/>
                <a:gd name="T7" fmla="*/ 0 h 46"/>
                <a:gd name="T8" fmla="*/ 37 w 37"/>
                <a:gd name="T9" fmla="*/ 2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46">
                  <a:moveTo>
                    <a:pt x="37" y="28"/>
                  </a:moveTo>
                  <a:cubicBezTo>
                    <a:pt x="30" y="34"/>
                    <a:pt x="24" y="43"/>
                    <a:pt x="16" y="44"/>
                  </a:cubicBezTo>
                  <a:cubicBezTo>
                    <a:pt x="1" y="46"/>
                    <a:pt x="0" y="33"/>
                    <a:pt x="0" y="21"/>
                  </a:cubicBezTo>
                  <a:cubicBezTo>
                    <a:pt x="0" y="9"/>
                    <a:pt x="3" y="0"/>
                    <a:pt x="17" y="0"/>
                  </a:cubicBezTo>
                  <a:cubicBezTo>
                    <a:pt x="34" y="0"/>
                    <a:pt x="33" y="12"/>
                    <a:pt x="37" y="28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01" name="Freeform 104"/>
            <p:cNvSpPr>
              <a:spLocks/>
            </p:cNvSpPr>
            <p:nvPr/>
          </p:nvSpPr>
          <p:spPr bwMode="auto">
            <a:xfrm>
              <a:off x="7131341" y="1432887"/>
              <a:ext cx="109741" cy="137493"/>
            </a:xfrm>
            <a:custGeom>
              <a:avLst/>
              <a:gdLst>
                <a:gd name="T0" fmla="*/ 38 w 38"/>
                <a:gd name="T1" fmla="*/ 20 h 46"/>
                <a:gd name="T2" fmla="*/ 17 w 38"/>
                <a:gd name="T3" fmla="*/ 46 h 46"/>
                <a:gd name="T4" fmla="*/ 1 w 38"/>
                <a:gd name="T5" fmla="*/ 22 h 46"/>
                <a:gd name="T6" fmla="*/ 18 w 38"/>
                <a:gd name="T7" fmla="*/ 3 h 46"/>
                <a:gd name="T8" fmla="*/ 38 w 38"/>
                <a:gd name="T9" fmla="*/ 2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6">
                  <a:moveTo>
                    <a:pt x="38" y="20"/>
                  </a:moveTo>
                  <a:cubicBezTo>
                    <a:pt x="35" y="37"/>
                    <a:pt x="32" y="46"/>
                    <a:pt x="17" y="46"/>
                  </a:cubicBezTo>
                  <a:cubicBezTo>
                    <a:pt x="0" y="45"/>
                    <a:pt x="2" y="33"/>
                    <a:pt x="1" y="22"/>
                  </a:cubicBezTo>
                  <a:cubicBezTo>
                    <a:pt x="1" y="10"/>
                    <a:pt x="6" y="0"/>
                    <a:pt x="18" y="3"/>
                  </a:cubicBezTo>
                  <a:cubicBezTo>
                    <a:pt x="26" y="5"/>
                    <a:pt x="31" y="14"/>
                    <a:pt x="38" y="20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02" name="Freeform 105"/>
            <p:cNvSpPr>
              <a:spLocks/>
            </p:cNvSpPr>
            <p:nvPr/>
          </p:nvSpPr>
          <p:spPr bwMode="auto">
            <a:xfrm>
              <a:off x="1328462" y="1439195"/>
              <a:ext cx="106084" cy="136232"/>
            </a:xfrm>
            <a:custGeom>
              <a:avLst/>
              <a:gdLst>
                <a:gd name="T0" fmla="*/ 0 w 37"/>
                <a:gd name="T1" fmla="*/ 26 h 46"/>
                <a:gd name="T2" fmla="*/ 21 w 37"/>
                <a:gd name="T3" fmla="*/ 0 h 46"/>
                <a:gd name="T4" fmla="*/ 37 w 37"/>
                <a:gd name="T5" fmla="*/ 22 h 46"/>
                <a:gd name="T6" fmla="*/ 20 w 37"/>
                <a:gd name="T7" fmla="*/ 43 h 46"/>
                <a:gd name="T8" fmla="*/ 0 w 37"/>
                <a:gd name="T9" fmla="*/ 2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46">
                  <a:moveTo>
                    <a:pt x="0" y="26"/>
                  </a:moveTo>
                  <a:cubicBezTo>
                    <a:pt x="4" y="10"/>
                    <a:pt x="6" y="0"/>
                    <a:pt x="21" y="0"/>
                  </a:cubicBezTo>
                  <a:cubicBezTo>
                    <a:pt x="36" y="1"/>
                    <a:pt x="37" y="10"/>
                    <a:pt x="37" y="22"/>
                  </a:cubicBezTo>
                  <a:cubicBezTo>
                    <a:pt x="37" y="34"/>
                    <a:pt x="35" y="46"/>
                    <a:pt x="20" y="43"/>
                  </a:cubicBezTo>
                  <a:cubicBezTo>
                    <a:pt x="13" y="41"/>
                    <a:pt x="7" y="32"/>
                    <a:pt x="0" y="26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03" name="Freeform 106"/>
            <p:cNvSpPr>
              <a:spLocks/>
            </p:cNvSpPr>
            <p:nvPr/>
          </p:nvSpPr>
          <p:spPr bwMode="auto">
            <a:xfrm>
              <a:off x="-806617" y="1841582"/>
              <a:ext cx="112180" cy="140016"/>
            </a:xfrm>
            <a:custGeom>
              <a:avLst/>
              <a:gdLst>
                <a:gd name="T0" fmla="*/ 39 w 39"/>
                <a:gd name="T1" fmla="*/ 23 h 47"/>
                <a:gd name="T2" fmla="*/ 16 w 39"/>
                <a:gd name="T3" fmla="*/ 45 h 47"/>
                <a:gd name="T4" fmla="*/ 1 w 39"/>
                <a:gd name="T5" fmla="*/ 23 h 47"/>
                <a:gd name="T6" fmla="*/ 16 w 39"/>
                <a:gd name="T7" fmla="*/ 2 h 47"/>
                <a:gd name="T8" fmla="*/ 39 w 39"/>
                <a:gd name="T9" fmla="*/ 2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7">
                  <a:moveTo>
                    <a:pt x="39" y="23"/>
                  </a:moveTo>
                  <a:cubicBezTo>
                    <a:pt x="29" y="34"/>
                    <a:pt x="23" y="44"/>
                    <a:pt x="16" y="45"/>
                  </a:cubicBezTo>
                  <a:cubicBezTo>
                    <a:pt x="0" y="47"/>
                    <a:pt x="2" y="33"/>
                    <a:pt x="1" y="23"/>
                  </a:cubicBezTo>
                  <a:cubicBezTo>
                    <a:pt x="1" y="12"/>
                    <a:pt x="2" y="0"/>
                    <a:pt x="16" y="2"/>
                  </a:cubicBezTo>
                  <a:cubicBezTo>
                    <a:pt x="23" y="4"/>
                    <a:pt x="28" y="13"/>
                    <a:pt x="39" y="23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04" name="Freeform 107"/>
            <p:cNvSpPr>
              <a:spLocks/>
            </p:cNvSpPr>
            <p:nvPr/>
          </p:nvSpPr>
          <p:spPr bwMode="auto">
            <a:xfrm>
              <a:off x="-823688" y="1439195"/>
              <a:ext cx="112180" cy="136232"/>
            </a:xfrm>
            <a:custGeom>
              <a:avLst/>
              <a:gdLst>
                <a:gd name="T0" fmla="*/ 0 w 39"/>
                <a:gd name="T1" fmla="*/ 19 h 46"/>
                <a:gd name="T2" fmla="*/ 23 w 39"/>
                <a:gd name="T3" fmla="*/ 1 h 46"/>
                <a:gd name="T4" fmla="*/ 37 w 39"/>
                <a:gd name="T5" fmla="*/ 24 h 46"/>
                <a:gd name="T6" fmla="*/ 21 w 39"/>
                <a:gd name="T7" fmla="*/ 43 h 46"/>
                <a:gd name="T8" fmla="*/ 0 w 39"/>
                <a:gd name="T9" fmla="*/ 1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6">
                  <a:moveTo>
                    <a:pt x="0" y="19"/>
                  </a:moveTo>
                  <a:cubicBezTo>
                    <a:pt x="11" y="10"/>
                    <a:pt x="16" y="2"/>
                    <a:pt x="23" y="1"/>
                  </a:cubicBezTo>
                  <a:cubicBezTo>
                    <a:pt x="39" y="0"/>
                    <a:pt x="37" y="13"/>
                    <a:pt x="37" y="24"/>
                  </a:cubicBezTo>
                  <a:cubicBezTo>
                    <a:pt x="38" y="35"/>
                    <a:pt x="34" y="46"/>
                    <a:pt x="21" y="43"/>
                  </a:cubicBezTo>
                  <a:cubicBezTo>
                    <a:pt x="14" y="41"/>
                    <a:pt x="9" y="30"/>
                    <a:pt x="0" y="19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17665" y="73152"/>
            <a:ext cx="6761853" cy="1107996"/>
            <a:chOff x="552957" y="163898"/>
            <a:chExt cx="6761853" cy="1107996"/>
          </a:xfrm>
        </p:grpSpPr>
        <p:sp>
          <p:nvSpPr>
            <p:cNvPr id="117" name="TextBox 116"/>
            <p:cNvSpPr txBox="1"/>
            <p:nvPr/>
          </p:nvSpPr>
          <p:spPr>
            <a:xfrm>
              <a:off x="552957" y="163898"/>
              <a:ext cx="316320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600" b="1" spc="600" dirty="0">
                  <a:solidFill>
                    <a:srgbClr val="26829B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粗活意简体" pitchFamily="65" charset="-122"/>
                  <a:ea typeface="方正粗活意简体" pitchFamily="65" charset="-122"/>
                </a:rPr>
                <a:t>乐高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2778306" y="540096"/>
              <a:ext cx="45365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spc="600" dirty="0" smtClean="0">
                  <a:solidFill>
                    <a:srgbClr val="26829B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启体简体" pitchFamily="65" charset="-122"/>
                  <a:ea typeface="方正启体简体" pitchFamily="65" charset="-122"/>
                </a:rPr>
                <a:t>创新者的</a:t>
              </a:r>
              <a:r>
                <a:rPr lang="zh-CN" altLang="en-US" sz="3200" spc="600" dirty="0">
                  <a:solidFill>
                    <a:srgbClr val="26829B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启体简体" pitchFamily="65" charset="-122"/>
                  <a:ea typeface="方正启体简体" pitchFamily="65" charset="-122"/>
                </a:rPr>
                <a:t>世界</a:t>
              </a:r>
            </a:p>
          </p:txBody>
        </p:sp>
      </p:grpSp>
      <p:sp>
        <p:nvSpPr>
          <p:cNvPr id="119" name="TextBox 118"/>
          <p:cNvSpPr txBox="1"/>
          <p:nvPr/>
        </p:nvSpPr>
        <p:spPr>
          <a:xfrm>
            <a:off x="351094" y="1033593"/>
            <a:ext cx="5387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 smtClean="0">
                <a:pattFill prst="trellis">
                  <a:fgClr>
                    <a:srgbClr val="26829B"/>
                  </a:fgClr>
                  <a:bgClr>
                    <a:schemeClr val="bg1"/>
                  </a:bgClr>
                </a:patt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itchFamily="82" charset="0"/>
                <a:ea typeface="汉仪菱心体简" pitchFamily="49" charset="-122"/>
              </a:rPr>
              <a:t>Brick  By  Brick</a:t>
            </a:r>
            <a:endParaRPr lang="zh-CN" altLang="en-US" sz="4800" b="1" dirty="0">
              <a:pattFill prst="trellis">
                <a:fgClr>
                  <a:srgbClr val="26829B"/>
                </a:fgClr>
                <a:bgClr>
                  <a:schemeClr val="bg1"/>
                </a:bgClr>
              </a:patt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oadway" pitchFamily="82" charset="0"/>
              <a:ea typeface="汉仪菱心体简" pitchFamily="49" charset="-122"/>
            </a:endParaRPr>
          </a:p>
        </p:txBody>
      </p:sp>
      <p:sp>
        <p:nvSpPr>
          <p:cNvPr id="120" name="圆角矩形 12"/>
          <p:cNvSpPr/>
          <p:nvPr/>
        </p:nvSpPr>
        <p:spPr>
          <a:xfrm>
            <a:off x="60340" y="178447"/>
            <a:ext cx="269776" cy="1503829"/>
          </a:xfrm>
          <a:custGeom>
            <a:avLst/>
            <a:gdLst/>
            <a:ahLst/>
            <a:cxnLst/>
            <a:rect l="l" t="t" r="r" b="b"/>
            <a:pathLst>
              <a:path w="560157" h="1224136">
                <a:moveTo>
                  <a:pt x="14648" y="0"/>
                </a:moveTo>
                <a:lnTo>
                  <a:pt x="489408" y="0"/>
                </a:lnTo>
                <a:cubicBezTo>
                  <a:pt x="497498" y="0"/>
                  <a:pt x="504056" y="6558"/>
                  <a:pt x="504056" y="14648"/>
                </a:cubicBezTo>
                <a:lnTo>
                  <a:pt x="504056" y="107204"/>
                </a:lnTo>
                <a:lnTo>
                  <a:pt x="542020" y="107204"/>
                </a:lnTo>
                <a:cubicBezTo>
                  <a:pt x="552037" y="107204"/>
                  <a:pt x="560157" y="115324"/>
                  <a:pt x="560157" y="125341"/>
                </a:cubicBezTo>
                <a:lnTo>
                  <a:pt x="560157" y="197887"/>
                </a:lnTo>
                <a:cubicBezTo>
                  <a:pt x="560157" y="207904"/>
                  <a:pt x="552037" y="216024"/>
                  <a:pt x="542020" y="216024"/>
                </a:cubicBezTo>
                <a:lnTo>
                  <a:pt x="504056" y="216024"/>
                </a:lnTo>
                <a:lnTo>
                  <a:pt x="504056" y="407507"/>
                </a:lnTo>
                <a:lnTo>
                  <a:pt x="542020" y="407507"/>
                </a:lnTo>
                <a:cubicBezTo>
                  <a:pt x="552037" y="407507"/>
                  <a:pt x="560157" y="415627"/>
                  <a:pt x="560157" y="425644"/>
                </a:cubicBezTo>
                <a:lnTo>
                  <a:pt x="560157" y="498190"/>
                </a:lnTo>
                <a:cubicBezTo>
                  <a:pt x="560157" y="508207"/>
                  <a:pt x="552037" y="516327"/>
                  <a:pt x="542020" y="516327"/>
                </a:cubicBezTo>
                <a:lnTo>
                  <a:pt x="504056" y="516327"/>
                </a:lnTo>
                <a:lnTo>
                  <a:pt x="504056" y="707810"/>
                </a:lnTo>
                <a:lnTo>
                  <a:pt x="533975" y="707810"/>
                </a:lnTo>
                <a:cubicBezTo>
                  <a:pt x="543992" y="707810"/>
                  <a:pt x="552112" y="715930"/>
                  <a:pt x="552112" y="725947"/>
                </a:cubicBezTo>
                <a:lnTo>
                  <a:pt x="552112" y="798493"/>
                </a:lnTo>
                <a:cubicBezTo>
                  <a:pt x="552112" y="808510"/>
                  <a:pt x="543992" y="816630"/>
                  <a:pt x="533975" y="816630"/>
                </a:cubicBezTo>
                <a:lnTo>
                  <a:pt x="504056" y="816630"/>
                </a:lnTo>
                <a:lnTo>
                  <a:pt x="504056" y="1008112"/>
                </a:lnTo>
                <a:lnTo>
                  <a:pt x="542020" y="1008112"/>
                </a:lnTo>
                <a:cubicBezTo>
                  <a:pt x="552037" y="1008112"/>
                  <a:pt x="560157" y="1016232"/>
                  <a:pt x="560157" y="1026249"/>
                </a:cubicBezTo>
                <a:lnTo>
                  <a:pt x="560157" y="1098795"/>
                </a:lnTo>
                <a:cubicBezTo>
                  <a:pt x="560157" y="1108812"/>
                  <a:pt x="552037" y="1116932"/>
                  <a:pt x="542020" y="1116932"/>
                </a:cubicBezTo>
                <a:lnTo>
                  <a:pt x="504056" y="1116932"/>
                </a:lnTo>
                <a:lnTo>
                  <a:pt x="504056" y="1209488"/>
                </a:lnTo>
                <a:cubicBezTo>
                  <a:pt x="504056" y="1217578"/>
                  <a:pt x="497498" y="1224136"/>
                  <a:pt x="489408" y="1224136"/>
                </a:cubicBezTo>
                <a:lnTo>
                  <a:pt x="14648" y="1224136"/>
                </a:lnTo>
                <a:cubicBezTo>
                  <a:pt x="6558" y="1224136"/>
                  <a:pt x="0" y="1217578"/>
                  <a:pt x="0" y="1209488"/>
                </a:cubicBezTo>
                <a:lnTo>
                  <a:pt x="0" y="14648"/>
                </a:lnTo>
                <a:cubicBezTo>
                  <a:pt x="0" y="6558"/>
                  <a:pt x="6558" y="0"/>
                  <a:pt x="14648" y="0"/>
                </a:cubicBezTo>
                <a:close/>
              </a:path>
            </a:pathLst>
          </a:custGeom>
          <a:solidFill>
            <a:srgbClr val="D8B2B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pic>
        <p:nvPicPr>
          <p:cNvPr id="121" name="Picture 2" descr="C:\Documents and Settings\刘玲\桌面\读书笔记PPT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7311" y="178447"/>
            <a:ext cx="853667" cy="85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44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162594" y="1346429"/>
            <a:ext cx="6929546" cy="3773034"/>
            <a:chOff x="1576178" y="1341009"/>
            <a:chExt cx="6929546" cy="3773034"/>
          </a:xfrm>
        </p:grpSpPr>
        <p:grpSp>
          <p:nvGrpSpPr>
            <p:cNvPr id="4" name="组合 3"/>
            <p:cNvGrpSpPr/>
            <p:nvPr/>
          </p:nvGrpSpPr>
          <p:grpSpPr>
            <a:xfrm>
              <a:off x="1865045" y="1341009"/>
              <a:ext cx="6595259" cy="1152000"/>
              <a:chOff x="3719920" y="743917"/>
              <a:chExt cx="6595259" cy="1152000"/>
            </a:xfrm>
          </p:grpSpPr>
          <p:pic>
            <p:nvPicPr>
              <p:cNvPr id="2050" name="Picture 2"/>
              <p:cNvPicPr>
                <a:picLocks noChangeAspect="1" noChangeArrowheads="1"/>
              </p:cNvPicPr>
              <p:nvPr/>
            </p:nvPicPr>
            <p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31757" y="1011252"/>
                <a:ext cx="814843" cy="6714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" name="TextBox 2"/>
              <p:cNvSpPr txBox="1"/>
              <p:nvPr/>
            </p:nvSpPr>
            <p:spPr>
              <a:xfrm>
                <a:off x="3719920" y="873689"/>
                <a:ext cx="545924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创办于丹麦，已有</a:t>
                </a:r>
                <a:r>
                  <a:rPr lang="en-US" altLang="zh-CN" sz="4000" b="1" dirty="0">
                    <a:solidFill>
                      <a:srgbClr val="B9758C"/>
                    </a:solidFill>
                    <a:latin typeface="微软雅黑" pitchFamily="34" charset="-122"/>
                    <a:ea typeface="微软雅黑" pitchFamily="34" charset="-122"/>
                  </a:rPr>
                  <a:t>80</a:t>
                </a:r>
                <a:r>
                  <a:rPr lang="zh-CN" altLang="en-US" sz="4000" b="1" dirty="0">
                    <a:solidFill>
                      <a:srgbClr val="B9758C"/>
                    </a:solidFill>
                    <a:latin typeface="微软雅黑" pitchFamily="34" charset="-122"/>
                    <a:ea typeface="微软雅黑" pitchFamily="34" charset="-122"/>
                  </a:rPr>
                  <a:t>年</a:t>
                </a: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的发展历史</a:t>
                </a:r>
              </a:p>
            </p:txBody>
          </p:sp>
          <p:sp>
            <p:nvSpPr>
              <p:cNvPr id="5" name="同心圆 4"/>
              <p:cNvSpPr/>
              <p:nvPr/>
            </p:nvSpPr>
            <p:spPr>
              <a:xfrm>
                <a:off x="9163179" y="743917"/>
                <a:ext cx="1152000" cy="1152000"/>
              </a:xfrm>
              <a:prstGeom prst="donut">
                <a:avLst>
                  <a:gd name="adj" fmla="val 809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2162875" y="2696785"/>
              <a:ext cx="6297428" cy="1152000"/>
              <a:chOff x="4044047" y="2459674"/>
              <a:chExt cx="6297428" cy="1152000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4044047" y="2627092"/>
                <a:ext cx="509242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每年生产</a:t>
                </a:r>
                <a:r>
                  <a:rPr lang="zh-CN" altLang="en-US" sz="4000" b="1" dirty="0">
                    <a:solidFill>
                      <a:srgbClr val="B9758C"/>
                    </a:solidFill>
                    <a:latin typeface="微软雅黑" pitchFamily="34" charset="-122"/>
                    <a:ea typeface="微软雅黑" pitchFamily="34" charset="-122"/>
                  </a:rPr>
                  <a:t>几百亿</a:t>
                </a: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块积木</a:t>
                </a:r>
              </a:p>
            </p:txBody>
          </p:sp>
          <p:sp>
            <p:nvSpPr>
              <p:cNvPr id="13" name="圆角矩形 12"/>
              <p:cNvSpPr/>
              <p:nvPr/>
            </p:nvSpPr>
            <p:spPr>
              <a:xfrm rot="13899106">
                <a:off x="9541330" y="2693325"/>
                <a:ext cx="449007" cy="684699"/>
              </a:xfrm>
              <a:custGeom>
                <a:avLst/>
                <a:gdLst/>
                <a:ahLst/>
                <a:cxnLst/>
                <a:rect l="l" t="t" r="r" b="b"/>
                <a:pathLst>
                  <a:path w="560157" h="1224136">
                    <a:moveTo>
                      <a:pt x="14648" y="0"/>
                    </a:moveTo>
                    <a:lnTo>
                      <a:pt x="489408" y="0"/>
                    </a:lnTo>
                    <a:cubicBezTo>
                      <a:pt x="497498" y="0"/>
                      <a:pt x="504056" y="6558"/>
                      <a:pt x="504056" y="14648"/>
                    </a:cubicBezTo>
                    <a:lnTo>
                      <a:pt x="504056" y="107204"/>
                    </a:lnTo>
                    <a:lnTo>
                      <a:pt x="542020" y="107204"/>
                    </a:lnTo>
                    <a:cubicBezTo>
                      <a:pt x="552037" y="107204"/>
                      <a:pt x="560157" y="115324"/>
                      <a:pt x="560157" y="125341"/>
                    </a:cubicBezTo>
                    <a:lnTo>
                      <a:pt x="560157" y="197887"/>
                    </a:lnTo>
                    <a:cubicBezTo>
                      <a:pt x="560157" y="207904"/>
                      <a:pt x="552037" y="216024"/>
                      <a:pt x="542020" y="216024"/>
                    </a:cubicBezTo>
                    <a:lnTo>
                      <a:pt x="504056" y="216024"/>
                    </a:lnTo>
                    <a:lnTo>
                      <a:pt x="504056" y="407507"/>
                    </a:lnTo>
                    <a:lnTo>
                      <a:pt x="542020" y="407507"/>
                    </a:lnTo>
                    <a:cubicBezTo>
                      <a:pt x="552037" y="407507"/>
                      <a:pt x="560157" y="415627"/>
                      <a:pt x="560157" y="425644"/>
                    </a:cubicBezTo>
                    <a:lnTo>
                      <a:pt x="560157" y="498190"/>
                    </a:lnTo>
                    <a:cubicBezTo>
                      <a:pt x="560157" y="508207"/>
                      <a:pt x="552037" y="516327"/>
                      <a:pt x="542020" y="516327"/>
                    </a:cubicBezTo>
                    <a:lnTo>
                      <a:pt x="504056" y="516327"/>
                    </a:lnTo>
                    <a:lnTo>
                      <a:pt x="504056" y="707810"/>
                    </a:lnTo>
                    <a:lnTo>
                      <a:pt x="533975" y="707810"/>
                    </a:lnTo>
                    <a:cubicBezTo>
                      <a:pt x="543992" y="707810"/>
                      <a:pt x="552112" y="715930"/>
                      <a:pt x="552112" y="725947"/>
                    </a:cubicBezTo>
                    <a:lnTo>
                      <a:pt x="552112" y="798493"/>
                    </a:lnTo>
                    <a:cubicBezTo>
                      <a:pt x="552112" y="808510"/>
                      <a:pt x="543992" y="816630"/>
                      <a:pt x="533975" y="816630"/>
                    </a:cubicBezTo>
                    <a:lnTo>
                      <a:pt x="504056" y="816630"/>
                    </a:lnTo>
                    <a:lnTo>
                      <a:pt x="504056" y="1008112"/>
                    </a:lnTo>
                    <a:lnTo>
                      <a:pt x="542020" y="1008112"/>
                    </a:lnTo>
                    <a:cubicBezTo>
                      <a:pt x="552037" y="1008112"/>
                      <a:pt x="560157" y="1016232"/>
                      <a:pt x="560157" y="1026249"/>
                    </a:cubicBezTo>
                    <a:lnTo>
                      <a:pt x="560157" y="1098795"/>
                    </a:lnTo>
                    <a:cubicBezTo>
                      <a:pt x="560157" y="1108812"/>
                      <a:pt x="552037" y="1116932"/>
                      <a:pt x="542020" y="1116932"/>
                    </a:cubicBezTo>
                    <a:lnTo>
                      <a:pt x="504056" y="1116932"/>
                    </a:lnTo>
                    <a:lnTo>
                      <a:pt x="504056" y="1209488"/>
                    </a:lnTo>
                    <a:cubicBezTo>
                      <a:pt x="504056" y="1217578"/>
                      <a:pt x="497498" y="1224136"/>
                      <a:pt x="489408" y="1224136"/>
                    </a:cubicBezTo>
                    <a:lnTo>
                      <a:pt x="14648" y="1224136"/>
                    </a:lnTo>
                    <a:cubicBezTo>
                      <a:pt x="6558" y="1224136"/>
                      <a:pt x="0" y="1217578"/>
                      <a:pt x="0" y="1209488"/>
                    </a:cubicBezTo>
                    <a:lnTo>
                      <a:pt x="0" y="14648"/>
                    </a:lnTo>
                    <a:cubicBezTo>
                      <a:pt x="0" y="6558"/>
                      <a:pt x="6558" y="0"/>
                      <a:pt x="14648" y="0"/>
                    </a:cubicBezTo>
                    <a:close/>
                  </a:path>
                </a:pathLst>
              </a:custGeom>
              <a:solidFill>
                <a:srgbClr val="2682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zh-CN" altLang="en-US">
                  <a:solidFill>
                    <a:srgbClr val="B9758C"/>
                  </a:solidFill>
                </a:endParaRPr>
              </a:p>
            </p:txBody>
          </p:sp>
          <p:sp>
            <p:nvSpPr>
              <p:cNvPr id="15" name="同心圆 14"/>
              <p:cNvSpPr/>
              <p:nvPr/>
            </p:nvSpPr>
            <p:spPr>
              <a:xfrm>
                <a:off x="9189475" y="2459674"/>
                <a:ext cx="1152000" cy="1152000"/>
              </a:xfrm>
              <a:prstGeom prst="donut">
                <a:avLst>
                  <a:gd name="adj" fmla="val 809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zh-CN" altLang="en-US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576178" y="3962043"/>
              <a:ext cx="6929546" cy="1152000"/>
              <a:chOff x="1925676" y="2828205"/>
              <a:chExt cx="6929546" cy="1152000"/>
            </a:xfrm>
          </p:grpSpPr>
          <p:pic>
            <p:nvPicPr>
              <p:cNvPr id="12" name="Picture 3"/>
              <p:cNvPicPr>
                <a:picLocks noChangeAspect="1" noChangeArrowheads="1"/>
              </p:cNvPicPr>
              <p:nvPr/>
            </p:nvPicPr>
            <p:blipFill>
              <a:blip r:embed="rId3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26380" y="2960050"/>
                <a:ext cx="938083" cy="905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6" name="TextBox 5"/>
              <p:cNvSpPr txBox="1"/>
              <p:nvPr/>
            </p:nvSpPr>
            <p:spPr>
              <a:xfrm>
                <a:off x="1925676" y="3019484"/>
                <a:ext cx="575497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全世界平均每人有大约</a:t>
                </a:r>
                <a:r>
                  <a:rPr lang="en-US" altLang="zh-CN" sz="4000" b="1" dirty="0">
                    <a:solidFill>
                      <a:srgbClr val="B9758C"/>
                    </a:solidFill>
                    <a:latin typeface="微软雅黑" pitchFamily="34" charset="-122"/>
                    <a:ea typeface="微软雅黑" pitchFamily="34" charset="-122"/>
                  </a:rPr>
                  <a:t>80</a:t>
                </a:r>
                <a:r>
                  <a:rPr lang="zh-CN" altLang="en-US" sz="4000" b="1" dirty="0">
                    <a:solidFill>
                      <a:srgbClr val="B9758C"/>
                    </a:solidFill>
                    <a:latin typeface="微软雅黑" pitchFamily="34" charset="-122"/>
                    <a:ea typeface="微软雅黑" pitchFamily="34" charset="-122"/>
                  </a:rPr>
                  <a:t>块</a:t>
                </a: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乐高积木</a:t>
                </a:r>
              </a:p>
            </p:txBody>
          </p:sp>
          <p:sp>
            <p:nvSpPr>
              <p:cNvPr id="16" name="同心圆 15"/>
              <p:cNvSpPr/>
              <p:nvPr/>
            </p:nvSpPr>
            <p:spPr>
              <a:xfrm>
                <a:off x="7704815" y="2828205"/>
                <a:ext cx="1150407" cy="1152000"/>
              </a:xfrm>
              <a:prstGeom prst="donut">
                <a:avLst>
                  <a:gd name="adj" fmla="val 809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5010906" y="275552"/>
            <a:ext cx="2952329" cy="707886"/>
            <a:chOff x="5010906" y="275552"/>
            <a:chExt cx="2952329" cy="707886"/>
          </a:xfrm>
        </p:grpSpPr>
        <p:sp>
          <p:nvSpPr>
            <p:cNvPr id="2" name="圆角矩形 1"/>
            <p:cNvSpPr/>
            <p:nvPr/>
          </p:nvSpPr>
          <p:spPr>
            <a:xfrm>
              <a:off x="5010906" y="331717"/>
              <a:ext cx="2952328" cy="595555"/>
            </a:xfrm>
            <a:prstGeom prst="roundRect">
              <a:avLst/>
            </a:prstGeom>
            <a:solidFill>
              <a:srgbClr val="D8B2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 rot="16200000">
              <a:off x="7189130" y="153168"/>
              <a:ext cx="595555" cy="952654"/>
            </a:xfrm>
            <a:custGeom>
              <a:avLst/>
              <a:gdLst/>
              <a:ahLst/>
              <a:cxnLst/>
              <a:rect l="l" t="t" r="r" b="b"/>
              <a:pathLst>
                <a:path w="595555" h="952654">
                  <a:moveTo>
                    <a:pt x="595555" y="187819"/>
                  </a:moveTo>
                  <a:lnTo>
                    <a:pt x="595555" y="853393"/>
                  </a:lnTo>
                  <a:cubicBezTo>
                    <a:pt x="595555" y="908213"/>
                    <a:pt x="551114" y="952654"/>
                    <a:pt x="496294" y="952654"/>
                  </a:cubicBezTo>
                  <a:lnTo>
                    <a:pt x="99261" y="952654"/>
                  </a:lnTo>
                  <a:cubicBezTo>
                    <a:pt x="44441" y="952654"/>
                    <a:pt x="0" y="908213"/>
                    <a:pt x="0" y="853393"/>
                  </a:cubicBezTo>
                  <a:lnTo>
                    <a:pt x="0" y="187819"/>
                  </a:lnTo>
                  <a:lnTo>
                    <a:pt x="3751" y="174576"/>
                  </a:lnTo>
                  <a:lnTo>
                    <a:pt x="163751" y="174576"/>
                  </a:lnTo>
                  <a:lnTo>
                    <a:pt x="277111" y="0"/>
                  </a:lnTo>
                  <a:lnTo>
                    <a:pt x="390471" y="174576"/>
                  </a:lnTo>
                  <a:lnTo>
                    <a:pt x="590662" y="174576"/>
                  </a:lnTo>
                  <a:cubicBezTo>
                    <a:pt x="592307" y="178748"/>
                    <a:pt x="593889" y="183174"/>
                    <a:pt x="595555" y="187819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010906" y="331592"/>
              <a:ext cx="22997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 smtClean="0">
                  <a:solidFill>
                    <a:schemeClr val="bg1"/>
                  </a:solidFill>
                  <a:latin typeface="方正粗活意简体" pitchFamily="65" charset="-122"/>
                  <a:ea typeface="方正粗活意简体" pitchFamily="65" charset="-122"/>
                </a:rPr>
                <a:t>关于乐高</a:t>
              </a:r>
              <a:endParaRPr lang="zh-CN" altLang="en-US" sz="3600" b="1" dirty="0">
                <a:solidFill>
                  <a:schemeClr val="bg1"/>
                </a:solidFill>
                <a:latin typeface="方正粗活意简体" pitchFamily="65" charset="-122"/>
                <a:ea typeface="方正粗活意简体" pitchFamily="65" charset="-122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310682" y="275552"/>
              <a:ext cx="58054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 smtClean="0">
                  <a:solidFill>
                    <a:schemeClr val="bg1"/>
                  </a:solidFill>
                  <a:latin typeface="Broadway" pitchFamily="82" charset="0"/>
                </a:rPr>
                <a:t>1</a:t>
              </a:r>
              <a:endParaRPr lang="zh-CN" altLang="en-US" sz="4000" b="1" dirty="0">
                <a:solidFill>
                  <a:schemeClr val="bg1"/>
                </a:solidFill>
                <a:latin typeface="Broadway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642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4"/>
          <p:cNvSpPr/>
          <p:nvPr/>
        </p:nvSpPr>
        <p:spPr>
          <a:xfrm>
            <a:off x="1115616" y="557651"/>
            <a:ext cx="2088232" cy="2088000"/>
          </a:xfrm>
          <a:custGeom>
            <a:avLst/>
            <a:gdLst/>
            <a:ahLst/>
            <a:cxnLst/>
            <a:rect l="l" t="t" r="r" b="b"/>
            <a:pathLst>
              <a:path w="2088232" h="2088232">
                <a:moveTo>
                  <a:pt x="1811245" y="337533"/>
                </a:moveTo>
                <a:cubicBezTo>
                  <a:pt x="1838022" y="364863"/>
                  <a:pt x="1862414" y="394413"/>
                  <a:pt x="1884201" y="425957"/>
                </a:cubicBezTo>
                <a:close/>
                <a:moveTo>
                  <a:pt x="1044116" y="0"/>
                </a:moveTo>
                <a:cubicBezTo>
                  <a:pt x="1332900" y="0"/>
                  <a:pt x="1594301" y="117239"/>
                  <a:pt x="1783277" y="306761"/>
                </a:cubicBezTo>
                <a:cubicBezTo>
                  <a:pt x="1628182" y="154035"/>
                  <a:pt x="1415206" y="60336"/>
                  <a:pt x="1180345" y="60336"/>
                </a:cubicBezTo>
                <a:cubicBezTo>
                  <a:pt x="703118" y="60336"/>
                  <a:pt x="316249" y="447205"/>
                  <a:pt x="316249" y="924432"/>
                </a:cubicBezTo>
                <a:cubicBezTo>
                  <a:pt x="316249" y="1401659"/>
                  <a:pt x="703118" y="1788528"/>
                  <a:pt x="1180345" y="1788528"/>
                </a:cubicBezTo>
                <a:cubicBezTo>
                  <a:pt x="1657572" y="1788528"/>
                  <a:pt x="2044441" y="1401659"/>
                  <a:pt x="2044441" y="924432"/>
                </a:cubicBezTo>
                <a:cubicBezTo>
                  <a:pt x="2044441" y="747823"/>
                  <a:pt x="1991457" y="583588"/>
                  <a:pt x="1900008" y="447095"/>
                </a:cubicBezTo>
                <a:cubicBezTo>
                  <a:pt x="2018842" y="615982"/>
                  <a:pt x="2088232" y="821946"/>
                  <a:pt x="2088232" y="1044116"/>
                </a:cubicBezTo>
                <a:cubicBezTo>
                  <a:pt x="2088232" y="1620765"/>
                  <a:pt x="1620765" y="2088232"/>
                  <a:pt x="1044116" y="2088232"/>
                </a:cubicBezTo>
                <a:cubicBezTo>
                  <a:pt x="467467" y="2088232"/>
                  <a:pt x="0" y="1620765"/>
                  <a:pt x="0" y="1044116"/>
                </a:cubicBezTo>
                <a:cubicBezTo>
                  <a:pt x="0" y="467467"/>
                  <a:pt x="467467" y="0"/>
                  <a:pt x="1044116" y="0"/>
                </a:cubicBezTo>
                <a:close/>
              </a:path>
            </a:pathLst>
          </a:custGeom>
          <a:solidFill>
            <a:srgbClr val="D8B2B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4"/>
          <p:cNvSpPr/>
          <p:nvPr/>
        </p:nvSpPr>
        <p:spPr>
          <a:xfrm rot="11583243">
            <a:off x="5861391" y="2994105"/>
            <a:ext cx="2088232" cy="2088000"/>
          </a:xfrm>
          <a:custGeom>
            <a:avLst/>
            <a:gdLst/>
            <a:ahLst/>
            <a:cxnLst/>
            <a:rect l="l" t="t" r="r" b="b"/>
            <a:pathLst>
              <a:path w="2088232" h="2088232">
                <a:moveTo>
                  <a:pt x="1811245" y="337533"/>
                </a:moveTo>
                <a:cubicBezTo>
                  <a:pt x="1838022" y="364863"/>
                  <a:pt x="1862414" y="394413"/>
                  <a:pt x="1884201" y="425957"/>
                </a:cubicBezTo>
                <a:close/>
                <a:moveTo>
                  <a:pt x="1044116" y="0"/>
                </a:moveTo>
                <a:cubicBezTo>
                  <a:pt x="1332900" y="0"/>
                  <a:pt x="1594301" y="117239"/>
                  <a:pt x="1783277" y="306761"/>
                </a:cubicBezTo>
                <a:cubicBezTo>
                  <a:pt x="1628182" y="154035"/>
                  <a:pt x="1415206" y="60336"/>
                  <a:pt x="1180345" y="60336"/>
                </a:cubicBezTo>
                <a:cubicBezTo>
                  <a:pt x="703118" y="60336"/>
                  <a:pt x="316249" y="447205"/>
                  <a:pt x="316249" y="924432"/>
                </a:cubicBezTo>
                <a:cubicBezTo>
                  <a:pt x="316249" y="1401659"/>
                  <a:pt x="703118" y="1788528"/>
                  <a:pt x="1180345" y="1788528"/>
                </a:cubicBezTo>
                <a:cubicBezTo>
                  <a:pt x="1657572" y="1788528"/>
                  <a:pt x="2044441" y="1401659"/>
                  <a:pt x="2044441" y="924432"/>
                </a:cubicBezTo>
                <a:cubicBezTo>
                  <a:pt x="2044441" y="747823"/>
                  <a:pt x="1991457" y="583588"/>
                  <a:pt x="1900008" y="447095"/>
                </a:cubicBezTo>
                <a:cubicBezTo>
                  <a:pt x="2018842" y="615982"/>
                  <a:pt x="2088232" y="821946"/>
                  <a:pt x="2088232" y="1044116"/>
                </a:cubicBezTo>
                <a:cubicBezTo>
                  <a:pt x="2088232" y="1620765"/>
                  <a:pt x="1620765" y="2088232"/>
                  <a:pt x="1044116" y="2088232"/>
                </a:cubicBezTo>
                <a:cubicBezTo>
                  <a:pt x="467467" y="2088232"/>
                  <a:pt x="0" y="1620765"/>
                  <a:pt x="0" y="1044116"/>
                </a:cubicBezTo>
                <a:cubicBezTo>
                  <a:pt x="0" y="467467"/>
                  <a:pt x="467467" y="0"/>
                  <a:pt x="1044116" y="0"/>
                </a:cubicBezTo>
                <a:close/>
              </a:path>
            </a:pathLst>
          </a:custGeom>
          <a:solidFill>
            <a:srgbClr val="D8B2B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325328" y="801432"/>
            <a:ext cx="5208063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做法</a:t>
            </a:r>
            <a:r>
              <a:rPr lang="en-US" altLang="zh-CN" sz="2400" b="1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：</a:t>
            </a: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zh-CN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吸引顶尖人才</a:t>
            </a: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zh-CN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收购智威娱乐</a:t>
            </a:r>
          </a:p>
          <a:p>
            <a:r>
              <a:rPr lang="zh-CN" altLang="zh-CN" sz="2400" b="1" dirty="0" smtClean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问题：</a:t>
            </a:r>
            <a:endParaRPr lang="en-US" altLang="zh-CN" sz="2400" b="1" dirty="0" smtClean="0">
              <a:solidFill>
                <a:srgbClr val="B9758C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zh-CN" dirty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未将人才贡献与公司需求融合</a:t>
            </a:r>
          </a:p>
        </p:txBody>
      </p:sp>
      <p:sp>
        <p:nvSpPr>
          <p:cNvPr id="5" name="矩形 4"/>
          <p:cNvSpPr/>
          <p:nvPr/>
        </p:nvSpPr>
        <p:spPr>
          <a:xfrm>
            <a:off x="1440154" y="1068472"/>
            <a:ext cx="21957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zh-CN" sz="2000" b="1" dirty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吸纳创新人才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3698" y="1068472"/>
            <a:ext cx="6120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solidFill>
                  <a:srgbClr val="2682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itchFamily="82" charset="0"/>
              </a:rPr>
              <a:t>1</a:t>
            </a:r>
            <a:endParaRPr lang="zh-CN" altLang="en-US" sz="8800" dirty="0">
              <a:solidFill>
                <a:srgbClr val="26829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oadway" pitchFamily="82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59632" y="3420417"/>
            <a:ext cx="5328592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做法</a:t>
            </a:r>
            <a:r>
              <a:rPr lang="en-US" altLang="zh-CN" sz="2400" b="1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：</a:t>
            </a: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zh-CN" dirty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转向教育领域</a:t>
            </a: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zh-CN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打入</a:t>
            </a:r>
            <a:r>
              <a:rPr lang="zh-CN" altLang="zh-CN" dirty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电影</a:t>
            </a:r>
            <a:r>
              <a:rPr lang="zh-CN" altLang="zh-CN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市场</a:t>
            </a:r>
            <a:endParaRPr lang="en-US" altLang="zh-CN" dirty="0" smtClean="0">
              <a:solidFill>
                <a:srgbClr val="26829B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zh-CN" sz="2400" b="1" dirty="0" smtClean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问题：</a:t>
            </a:r>
            <a:endParaRPr lang="en-US" altLang="zh-CN" sz="2400" b="1" dirty="0" smtClean="0">
              <a:solidFill>
                <a:srgbClr val="B9758C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zh-CN" dirty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急功近利，揠苗助长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4208" y="3702059"/>
            <a:ext cx="7673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solidFill>
                  <a:srgbClr val="2682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itchFamily="82" charset="0"/>
              </a:rPr>
              <a:t>2</a:t>
            </a:r>
            <a:endParaRPr lang="zh-CN" altLang="en-US" sz="8800" dirty="0">
              <a:solidFill>
                <a:srgbClr val="26829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oadway" pitchFamily="82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68144" y="362292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zh-CN" sz="2000" b="1" dirty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驶向蓝海市场</a:t>
            </a:r>
          </a:p>
        </p:txBody>
      </p:sp>
      <p:cxnSp>
        <p:nvCxnSpPr>
          <p:cNvPr id="10" name="直接连接符 9"/>
          <p:cNvCxnSpPr/>
          <p:nvPr/>
        </p:nvCxnSpPr>
        <p:spPr>
          <a:xfrm flipH="1" flipV="1">
            <a:off x="2987824" y="2268289"/>
            <a:ext cx="2736304" cy="1656186"/>
          </a:xfrm>
          <a:prstGeom prst="line">
            <a:avLst/>
          </a:prstGeom>
          <a:ln w="101600" cap="rnd">
            <a:solidFill>
              <a:srgbClr val="D8B2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3923928" y="4874053"/>
            <a:ext cx="2237034" cy="1354676"/>
          </a:xfrm>
          <a:prstGeom prst="line">
            <a:avLst/>
          </a:prstGeom>
          <a:ln w="101600" cap="rnd">
            <a:solidFill>
              <a:srgbClr val="D8B2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4734051" y="98936"/>
            <a:ext cx="3463243" cy="707886"/>
            <a:chOff x="4734051" y="98936"/>
            <a:chExt cx="3463243" cy="707886"/>
          </a:xfrm>
        </p:grpSpPr>
        <p:sp>
          <p:nvSpPr>
            <p:cNvPr id="12" name="TextBox 11"/>
            <p:cNvSpPr txBox="1"/>
            <p:nvPr/>
          </p:nvSpPr>
          <p:spPr>
            <a:xfrm>
              <a:off x="5244965" y="154976"/>
              <a:ext cx="22997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 smtClean="0">
                  <a:solidFill>
                    <a:schemeClr val="bg1"/>
                  </a:solidFill>
                  <a:latin typeface="方正粗活意简体" pitchFamily="65" charset="-122"/>
                  <a:ea typeface="方正粗活意简体" pitchFamily="65" charset="-122"/>
                </a:rPr>
                <a:t>关于乐高</a:t>
              </a:r>
              <a:endParaRPr lang="zh-CN" altLang="en-US" sz="3600" b="1" dirty="0">
                <a:solidFill>
                  <a:schemeClr val="bg1"/>
                </a:solidFill>
                <a:latin typeface="方正粗活意简体" pitchFamily="65" charset="-122"/>
                <a:ea typeface="方正粗活意简体" pitchFamily="65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4734051" y="155101"/>
              <a:ext cx="3463242" cy="595555"/>
            </a:xfrm>
            <a:prstGeom prst="roundRect">
              <a:avLst/>
            </a:prstGeom>
            <a:solidFill>
              <a:srgbClr val="D8B2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3"/>
            <p:cNvSpPr/>
            <p:nvPr/>
          </p:nvSpPr>
          <p:spPr>
            <a:xfrm rot="16200000">
              <a:off x="7423189" y="-23448"/>
              <a:ext cx="595555" cy="952654"/>
            </a:xfrm>
            <a:custGeom>
              <a:avLst/>
              <a:gdLst/>
              <a:ahLst/>
              <a:cxnLst/>
              <a:rect l="l" t="t" r="r" b="b"/>
              <a:pathLst>
                <a:path w="595555" h="952654">
                  <a:moveTo>
                    <a:pt x="595555" y="187819"/>
                  </a:moveTo>
                  <a:lnTo>
                    <a:pt x="595555" y="853393"/>
                  </a:lnTo>
                  <a:cubicBezTo>
                    <a:pt x="595555" y="908213"/>
                    <a:pt x="551114" y="952654"/>
                    <a:pt x="496294" y="952654"/>
                  </a:cubicBezTo>
                  <a:lnTo>
                    <a:pt x="99261" y="952654"/>
                  </a:lnTo>
                  <a:cubicBezTo>
                    <a:pt x="44441" y="952654"/>
                    <a:pt x="0" y="908213"/>
                    <a:pt x="0" y="853393"/>
                  </a:cubicBezTo>
                  <a:lnTo>
                    <a:pt x="0" y="187819"/>
                  </a:lnTo>
                  <a:lnTo>
                    <a:pt x="3751" y="174576"/>
                  </a:lnTo>
                  <a:lnTo>
                    <a:pt x="163751" y="174576"/>
                  </a:lnTo>
                  <a:lnTo>
                    <a:pt x="277111" y="0"/>
                  </a:lnTo>
                  <a:lnTo>
                    <a:pt x="390471" y="174576"/>
                  </a:lnTo>
                  <a:lnTo>
                    <a:pt x="590662" y="174576"/>
                  </a:lnTo>
                  <a:cubicBezTo>
                    <a:pt x="592307" y="178748"/>
                    <a:pt x="593889" y="183174"/>
                    <a:pt x="595555" y="187819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734051" y="154976"/>
              <a:ext cx="28106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 smtClean="0">
                  <a:solidFill>
                    <a:schemeClr val="bg1"/>
                  </a:solidFill>
                  <a:latin typeface="方正粗活意简体" pitchFamily="65" charset="-122"/>
                  <a:ea typeface="方正粗活意简体" pitchFamily="65" charset="-122"/>
                </a:rPr>
                <a:t>失败的</a:t>
              </a:r>
              <a:r>
                <a:rPr lang="zh-CN" altLang="en-US" sz="3600" b="1" dirty="0">
                  <a:solidFill>
                    <a:schemeClr val="bg1"/>
                  </a:solidFill>
                  <a:latin typeface="方正粗活意简体" pitchFamily="65" charset="-122"/>
                  <a:ea typeface="方正粗活意简体" pitchFamily="65" charset="-122"/>
                </a:rPr>
                <a:t>创新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544741" y="98936"/>
              <a:ext cx="58054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 smtClean="0">
                  <a:solidFill>
                    <a:schemeClr val="bg1"/>
                  </a:solidFill>
                  <a:latin typeface="Broadway" pitchFamily="82" charset="0"/>
                </a:rPr>
                <a:t>2</a:t>
              </a:r>
              <a:endParaRPr lang="zh-CN" altLang="en-US" sz="4000" b="1" dirty="0">
                <a:solidFill>
                  <a:schemeClr val="bg1"/>
                </a:solidFill>
                <a:latin typeface="Broadway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64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 flipH="1">
            <a:off x="3347864" y="-684039"/>
            <a:ext cx="1512168" cy="1224136"/>
          </a:xfrm>
          <a:prstGeom prst="line">
            <a:avLst/>
          </a:prstGeom>
          <a:ln w="101600" cap="rnd">
            <a:solidFill>
              <a:srgbClr val="D8B2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 flipV="1">
            <a:off x="3635896" y="1980257"/>
            <a:ext cx="2088232" cy="1152130"/>
          </a:xfrm>
          <a:prstGeom prst="line">
            <a:avLst/>
          </a:prstGeom>
          <a:ln w="101600" cap="rnd">
            <a:solidFill>
              <a:srgbClr val="D8B2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4"/>
          <p:cNvSpPr/>
          <p:nvPr/>
        </p:nvSpPr>
        <p:spPr>
          <a:xfrm rot="19076209">
            <a:off x="1711322" y="370829"/>
            <a:ext cx="2088232" cy="2088000"/>
          </a:xfrm>
          <a:custGeom>
            <a:avLst/>
            <a:gdLst/>
            <a:ahLst/>
            <a:cxnLst/>
            <a:rect l="l" t="t" r="r" b="b"/>
            <a:pathLst>
              <a:path w="2088232" h="2088232">
                <a:moveTo>
                  <a:pt x="1811245" y="337533"/>
                </a:moveTo>
                <a:cubicBezTo>
                  <a:pt x="1838022" y="364863"/>
                  <a:pt x="1862414" y="394413"/>
                  <a:pt x="1884201" y="425957"/>
                </a:cubicBezTo>
                <a:close/>
                <a:moveTo>
                  <a:pt x="1044116" y="0"/>
                </a:moveTo>
                <a:cubicBezTo>
                  <a:pt x="1332900" y="0"/>
                  <a:pt x="1594301" y="117239"/>
                  <a:pt x="1783277" y="306761"/>
                </a:cubicBezTo>
                <a:cubicBezTo>
                  <a:pt x="1628182" y="154035"/>
                  <a:pt x="1415206" y="60336"/>
                  <a:pt x="1180345" y="60336"/>
                </a:cubicBezTo>
                <a:cubicBezTo>
                  <a:pt x="703118" y="60336"/>
                  <a:pt x="316249" y="447205"/>
                  <a:pt x="316249" y="924432"/>
                </a:cubicBezTo>
                <a:cubicBezTo>
                  <a:pt x="316249" y="1401659"/>
                  <a:pt x="703118" y="1788528"/>
                  <a:pt x="1180345" y="1788528"/>
                </a:cubicBezTo>
                <a:cubicBezTo>
                  <a:pt x="1657572" y="1788528"/>
                  <a:pt x="2044441" y="1401659"/>
                  <a:pt x="2044441" y="924432"/>
                </a:cubicBezTo>
                <a:cubicBezTo>
                  <a:pt x="2044441" y="747823"/>
                  <a:pt x="1991457" y="583588"/>
                  <a:pt x="1900008" y="447095"/>
                </a:cubicBezTo>
                <a:cubicBezTo>
                  <a:pt x="2018842" y="615982"/>
                  <a:pt x="2088232" y="821946"/>
                  <a:pt x="2088232" y="1044116"/>
                </a:cubicBezTo>
                <a:cubicBezTo>
                  <a:pt x="2088232" y="1620765"/>
                  <a:pt x="1620765" y="2088232"/>
                  <a:pt x="1044116" y="2088232"/>
                </a:cubicBezTo>
                <a:cubicBezTo>
                  <a:pt x="467467" y="2088232"/>
                  <a:pt x="0" y="1620765"/>
                  <a:pt x="0" y="1044116"/>
                </a:cubicBezTo>
                <a:cubicBezTo>
                  <a:pt x="0" y="467467"/>
                  <a:pt x="467467" y="0"/>
                  <a:pt x="1044116" y="0"/>
                </a:cubicBezTo>
                <a:close/>
              </a:path>
            </a:pathLst>
          </a:custGeom>
          <a:solidFill>
            <a:srgbClr val="D8B2B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907955" y="714024"/>
            <a:ext cx="21957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b="1" dirty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以客户为</a:t>
            </a:r>
            <a:r>
              <a:rPr lang="zh-CN" altLang="zh-CN" sz="2000" b="1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中心</a:t>
            </a:r>
            <a:endParaRPr lang="zh-CN" altLang="zh-CN" sz="2000" b="1" dirty="0">
              <a:solidFill>
                <a:srgbClr val="26829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93758" y="832853"/>
            <a:ext cx="6120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 smtClean="0">
                <a:solidFill>
                  <a:srgbClr val="2682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itchFamily="82" charset="0"/>
              </a:rPr>
              <a:t>3</a:t>
            </a:r>
            <a:endParaRPr lang="zh-CN" altLang="en-US" sz="8800" dirty="0">
              <a:solidFill>
                <a:srgbClr val="26829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oadway" pitchFamily="82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59632" y="3420417"/>
            <a:ext cx="532859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做法</a:t>
            </a:r>
            <a:r>
              <a:rPr lang="en-US" altLang="zh-CN" sz="2400" b="1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：</a:t>
            </a: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en-US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开发</a:t>
            </a:r>
            <a:r>
              <a:rPr lang="zh-CN" altLang="zh-CN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数码</a:t>
            </a:r>
            <a:r>
              <a:rPr lang="zh-CN" altLang="zh-CN" dirty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积木</a:t>
            </a:r>
            <a:endParaRPr lang="en-US" altLang="zh-CN" dirty="0">
              <a:solidFill>
                <a:srgbClr val="26829B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zh-CN" sz="2400" b="1" dirty="0" smtClean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问题：</a:t>
            </a:r>
            <a:endParaRPr lang="en-US" altLang="zh-CN" sz="2400" b="1" dirty="0" smtClean="0">
              <a:solidFill>
                <a:srgbClr val="B9758C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zh-CN" dirty="0" smtClean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没有</a:t>
            </a:r>
            <a:r>
              <a:rPr lang="zh-CN" altLang="zh-CN" dirty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适当的反馈机制</a:t>
            </a:r>
          </a:p>
        </p:txBody>
      </p:sp>
      <p:sp>
        <p:nvSpPr>
          <p:cNvPr id="3" name="椭圆 4"/>
          <p:cNvSpPr/>
          <p:nvPr/>
        </p:nvSpPr>
        <p:spPr>
          <a:xfrm rot="19283186">
            <a:off x="5420551" y="2985682"/>
            <a:ext cx="2088232" cy="2088000"/>
          </a:xfrm>
          <a:custGeom>
            <a:avLst/>
            <a:gdLst/>
            <a:ahLst/>
            <a:cxnLst/>
            <a:rect l="l" t="t" r="r" b="b"/>
            <a:pathLst>
              <a:path w="2088232" h="2088232">
                <a:moveTo>
                  <a:pt x="1811245" y="337533"/>
                </a:moveTo>
                <a:cubicBezTo>
                  <a:pt x="1838022" y="364863"/>
                  <a:pt x="1862414" y="394413"/>
                  <a:pt x="1884201" y="425957"/>
                </a:cubicBezTo>
                <a:close/>
                <a:moveTo>
                  <a:pt x="1044116" y="0"/>
                </a:moveTo>
                <a:cubicBezTo>
                  <a:pt x="1332900" y="0"/>
                  <a:pt x="1594301" y="117239"/>
                  <a:pt x="1783277" y="306761"/>
                </a:cubicBezTo>
                <a:cubicBezTo>
                  <a:pt x="1628182" y="154035"/>
                  <a:pt x="1415206" y="60336"/>
                  <a:pt x="1180345" y="60336"/>
                </a:cubicBezTo>
                <a:cubicBezTo>
                  <a:pt x="703118" y="60336"/>
                  <a:pt x="316249" y="447205"/>
                  <a:pt x="316249" y="924432"/>
                </a:cubicBezTo>
                <a:cubicBezTo>
                  <a:pt x="316249" y="1401659"/>
                  <a:pt x="703118" y="1788528"/>
                  <a:pt x="1180345" y="1788528"/>
                </a:cubicBezTo>
                <a:cubicBezTo>
                  <a:pt x="1657572" y="1788528"/>
                  <a:pt x="2044441" y="1401659"/>
                  <a:pt x="2044441" y="924432"/>
                </a:cubicBezTo>
                <a:cubicBezTo>
                  <a:pt x="2044441" y="747823"/>
                  <a:pt x="1991457" y="583588"/>
                  <a:pt x="1900008" y="447095"/>
                </a:cubicBezTo>
                <a:cubicBezTo>
                  <a:pt x="2018842" y="615982"/>
                  <a:pt x="2088232" y="821946"/>
                  <a:pt x="2088232" y="1044116"/>
                </a:cubicBezTo>
                <a:cubicBezTo>
                  <a:pt x="2088232" y="1620765"/>
                  <a:pt x="1620765" y="2088232"/>
                  <a:pt x="1044116" y="2088232"/>
                </a:cubicBezTo>
                <a:cubicBezTo>
                  <a:pt x="467467" y="2088232"/>
                  <a:pt x="0" y="1620765"/>
                  <a:pt x="0" y="1044116"/>
                </a:cubicBezTo>
                <a:cubicBezTo>
                  <a:pt x="0" y="467467"/>
                  <a:pt x="467467" y="0"/>
                  <a:pt x="1044116" y="0"/>
                </a:cubicBezTo>
                <a:close/>
              </a:path>
            </a:pathLst>
          </a:custGeom>
          <a:solidFill>
            <a:srgbClr val="D8B2B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080999" y="3484606"/>
            <a:ext cx="7673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solidFill>
                  <a:srgbClr val="2682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itchFamily="82" charset="0"/>
              </a:rPr>
              <a:t>4</a:t>
            </a:r>
            <a:endParaRPr lang="zh-CN" altLang="en-US" sz="8800" dirty="0">
              <a:solidFill>
                <a:srgbClr val="26829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oadway" pitchFamily="82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766176" y="3420417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zh-CN" sz="2000" b="1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破坏性创新</a:t>
            </a:r>
            <a:endParaRPr lang="zh-CN" altLang="zh-CN" sz="2000" b="1" dirty="0">
              <a:solidFill>
                <a:srgbClr val="26829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774973" y="749824"/>
            <a:ext cx="5449475" cy="175432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做法</a:t>
            </a:r>
            <a:r>
              <a:rPr lang="en-US" altLang="zh-CN" sz="2400" b="1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：</a:t>
            </a: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zh-CN" dirty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针对不喜欢玩积木的儿童开拓市场</a:t>
            </a:r>
          </a:p>
          <a:p>
            <a:r>
              <a:rPr lang="zh-CN" altLang="zh-CN" sz="2400" b="1" dirty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问题：</a:t>
            </a:r>
            <a:endParaRPr lang="en-US" altLang="zh-CN" sz="2400" b="1" dirty="0">
              <a:solidFill>
                <a:srgbClr val="B9758C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zh-CN" dirty="0" smtClean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偏离乐高游戏基本原则</a:t>
            </a:r>
            <a:endParaRPr lang="en-US" altLang="zh-CN" dirty="0" smtClean="0">
              <a:solidFill>
                <a:srgbClr val="B9758C"/>
              </a:solidFill>
              <a:latin typeface="微软雅黑" pitchFamily="34" charset="-122"/>
              <a:ea typeface="微软雅黑" pitchFamily="34" charset="-122"/>
            </a:endParaRPr>
          </a:p>
          <a:p>
            <a:pPr lvl="0"/>
            <a:endParaRPr lang="zh-CN" altLang="zh-CN" sz="2400" b="1" dirty="0">
              <a:solidFill>
                <a:srgbClr val="D8B2B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H="1">
            <a:off x="5148064" y="5004593"/>
            <a:ext cx="1190028" cy="792088"/>
          </a:xfrm>
          <a:prstGeom prst="line">
            <a:avLst/>
          </a:prstGeom>
          <a:ln w="101600" cap="rnd">
            <a:solidFill>
              <a:srgbClr val="D8B2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939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 flipH="1" flipV="1">
            <a:off x="4016086" y="2268289"/>
            <a:ext cx="1924066" cy="1080120"/>
          </a:xfrm>
          <a:prstGeom prst="line">
            <a:avLst/>
          </a:prstGeom>
          <a:ln w="101600" cap="rnd">
            <a:solidFill>
              <a:srgbClr val="D8B2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4"/>
          <p:cNvSpPr/>
          <p:nvPr/>
        </p:nvSpPr>
        <p:spPr>
          <a:xfrm>
            <a:off x="2220308" y="501526"/>
            <a:ext cx="2088232" cy="2088000"/>
          </a:xfrm>
          <a:custGeom>
            <a:avLst/>
            <a:gdLst/>
            <a:ahLst/>
            <a:cxnLst/>
            <a:rect l="l" t="t" r="r" b="b"/>
            <a:pathLst>
              <a:path w="2088232" h="2088232">
                <a:moveTo>
                  <a:pt x="1811245" y="337533"/>
                </a:moveTo>
                <a:cubicBezTo>
                  <a:pt x="1838022" y="364863"/>
                  <a:pt x="1862414" y="394413"/>
                  <a:pt x="1884201" y="425957"/>
                </a:cubicBezTo>
                <a:close/>
                <a:moveTo>
                  <a:pt x="1044116" y="0"/>
                </a:moveTo>
                <a:cubicBezTo>
                  <a:pt x="1332900" y="0"/>
                  <a:pt x="1594301" y="117239"/>
                  <a:pt x="1783277" y="306761"/>
                </a:cubicBezTo>
                <a:cubicBezTo>
                  <a:pt x="1628182" y="154035"/>
                  <a:pt x="1415206" y="60336"/>
                  <a:pt x="1180345" y="60336"/>
                </a:cubicBezTo>
                <a:cubicBezTo>
                  <a:pt x="703118" y="60336"/>
                  <a:pt x="316249" y="447205"/>
                  <a:pt x="316249" y="924432"/>
                </a:cubicBezTo>
                <a:cubicBezTo>
                  <a:pt x="316249" y="1401659"/>
                  <a:pt x="703118" y="1788528"/>
                  <a:pt x="1180345" y="1788528"/>
                </a:cubicBezTo>
                <a:cubicBezTo>
                  <a:pt x="1657572" y="1788528"/>
                  <a:pt x="2044441" y="1401659"/>
                  <a:pt x="2044441" y="924432"/>
                </a:cubicBezTo>
                <a:cubicBezTo>
                  <a:pt x="2044441" y="747823"/>
                  <a:pt x="1991457" y="583588"/>
                  <a:pt x="1900008" y="447095"/>
                </a:cubicBezTo>
                <a:cubicBezTo>
                  <a:pt x="2018842" y="615982"/>
                  <a:pt x="2088232" y="821946"/>
                  <a:pt x="2088232" y="1044116"/>
                </a:cubicBezTo>
                <a:cubicBezTo>
                  <a:pt x="2088232" y="1620765"/>
                  <a:pt x="1620765" y="2088232"/>
                  <a:pt x="1044116" y="2088232"/>
                </a:cubicBezTo>
                <a:cubicBezTo>
                  <a:pt x="467467" y="2088232"/>
                  <a:pt x="0" y="1620765"/>
                  <a:pt x="0" y="1044116"/>
                </a:cubicBezTo>
                <a:cubicBezTo>
                  <a:pt x="0" y="467467"/>
                  <a:pt x="467467" y="0"/>
                  <a:pt x="1044116" y="0"/>
                </a:cubicBezTo>
                <a:close/>
              </a:path>
            </a:pathLst>
          </a:custGeom>
          <a:solidFill>
            <a:srgbClr val="D8B2B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4"/>
          <p:cNvSpPr/>
          <p:nvPr/>
        </p:nvSpPr>
        <p:spPr>
          <a:xfrm rot="11583243">
            <a:off x="5877101" y="2723877"/>
            <a:ext cx="2088232" cy="2088000"/>
          </a:xfrm>
          <a:custGeom>
            <a:avLst/>
            <a:gdLst/>
            <a:ahLst/>
            <a:cxnLst/>
            <a:rect l="l" t="t" r="r" b="b"/>
            <a:pathLst>
              <a:path w="2088232" h="2088232">
                <a:moveTo>
                  <a:pt x="1811245" y="337533"/>
                </a:moveTo>
                <a:cubicBezTo>
                  <a:pt x="1838022" y="364863"/>
                  <a:pt x="1862414" y="394413"/>
                  <a:pt x="1884201" y="425957"/>
                </a:cubicBezTo>
                <a:close/>
                <a:moveTo>
                  <a:pt x="1044116" y="0"/>
                </a:moveTo>
                <a:cubicBezTo>
                  <a:pt x="1332900" y="0"/>
                  <a:pt x="1594301" y="117239"/>
                  <a:pt x="1783277" y="306761"/>
                </a:cubicBezTo>
                <a:cubicBezTo>
                  <a:pt x="1628182" y="154035"/>
                  <a:pt x="1415206" y="60336"/>
                  <a:pt x="1180345" y="60336"/>
                </a:cubicBezTo>
                <a:cubicBezTo>
                  <a:pt x="703118" y="60336"/>
                  <a:pt x="316249" y="447205"/>
                  <a:pt x="316249" y="924432"/>
                </a:cubicBezTo>
                <a:cubicBezTo>
                  <a:pt x="316249" y="1401659"/>
                  <a:pt x="703118" y="1788528"/>
                  <a:pt x="1180345" y="1788528"/>
                </a:cubicBezTo>
                <a:cubicBezTo>
                  <a:pt x="1657572" y="1788528"/>
                  <a:pt x="2044441" y="1401659"/>
                  <a:pt x="2044441" y="924432"/>
                </a:cubicBezTo>
                <a:cubicBezTo>
                  <a:pt x="2044441" y="747823"/>
                  <a:pt x="1991457" y="583588"/>
                  <a:pt x="1900008" y="447095"/>
                </a:cubicBezTo>
                <a:cubicBezTo>
                  <a:pt x="2018842" y="615982"/>
                  <a:pt x="2088232" y="821946"/>
                  <a:pt x="2088232" y="1044116"/>
                </a:cubicBezTo>
                <a:cubicBezTo>
                  <a:pt x="2088232" y="1620765"/>
                  <a:pt x="1620765" y="2088232"/>
                  <a:pt x="1044116" y="2088232"/>
                </a:cubicBezTo>
                <a:cubicBezTo>
                  <a:pt x="467467" y="2088232"/>
                  <a:pt x="0" y="1620765"/>
                  <a:pt x="0" y="1044116"/>
                </a:cubicBezTo>
                <a:cubicBezTo>
                  <a:pt x="0" y="467467"/>
                  <a:pt x="467467" y="0"/>
                  <a:pt x="1044116" y="0"/>
                </a:cubicBezTo>
                <a:close/>
              </a:path>
            </a:pathLst>
          </a:custGeom>
          <a:solidFill>
            <a:srgbClr val="D8B2B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2673459" y="913170"/>
            <a:ext cx="2195742" cy="1601852"/>
            <a:chOff x="1503287" y="913170"/>
            <a:chExt cx="2195742" cy="1601852"/>
          </a:xfrm>
        </p:grpSpPr>
        <p:sp>
          <p:nvSpPr>
            <p:cNvPr id="5" name="矩形 4"/>
            <p:cNvSpPr/>
            <p:nvPr/>
          </p:nvSpPr>
          <p:spPr>
            <a:xfrm>
              <a:off x="1503287" y="913170"/>
              <a:ext cx="219574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zh-CN" sz="2000" b="1" dirty="0" smtClean="0">
                  <a:solidFill>
                    <a:srgbClr val="26829B"/>
                  </a:solidFill>
                  <a:latin typeface="微软雅黑" pitchFamily="34" charset="-122"/>
                  <a:ea typeface="微软雅黑" pitchFamily="34" charset="-122"/>
                </a:rPr>
                <a:t>开放式</a:t>
              </a:r>
              <a:r>
                <a:rPr lang="zh-CN" altLang="zh-CN" sz="2000" b="1" dirty="0">
                  <a:solidFill>
                    <a:srgbClr val="26829B"/>
                  </a:solidFill>
                  <a:latin typeface="微软雅黑" pitchFamily="34" charset="-122"/>
                  <a:ea typeface="微软雅黑" pitchFamily="34" charset="-122"/>
                </a:rPr>
                <a:t>创新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853698" y="1068472"/>
              <a:ext cx="6120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800" dirty="0">
                  <a:solidFill>
                    <a:srgbClr val="26829B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roadway" pitchFamily="82" charset="0"/>
                </a:rPr>
                <a:t>5</a:t>
              </a:r>
              <a:endParaRPr lang="zh-CN" altLang="en-US" sz="8800" dirty="0">
                <a:solidFill>
                  <a:srgbClr val="2682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itchFamily="82" charset="0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6361743" y="3395786"/>
            <a:ext cx="7673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solidFill>
                  <a:srgbClr val="2682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itchFamily="82" charset="0"/>
              </a:rPr>
              <a:t>6</a:t>
            </a:r>
            <a:endParaRPr lang="zh-CN" altLang="en-US" sz="8800" dirty="0">
              <a:solidFill>
                <a:srgbClr val="26829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oadway" pitchFamily="82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13980" y="3348409"/>
            <a:ext cx="20513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b="1" dirty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全方位</a:t>
            </a:r>
            <a:r>
              <a:rPr lang="zh-CN" altLang="zh-CN" sz="2000" b="1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创新</a:t>
            </a:r>
            <a:endParaRPr lang="zh-CN" altLang="zh-CN" sz="2000" b="1" dirty="0">
              <a:solidFill>
                <a:srgbClr val="26829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3264424" y="-540023"/>
            <a:ext cx="1739624" cy="1041549"/>
          </a:xfrm>
          <a:prstGeom prst="line">
            <a:avLst/>
          </a:prstGeom>
          <a:ln w="101600" cap="rnd">
            <a:solidFill>
              <a:srgbClr val="D8B2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4016086" y="4842336"/>
            <a:ext cx="2572138" cy="1403947"/>
          </a:xfrm>
          <a:prstGeom prst="line">
            <a:avLst/>
          </a:prstGeom>
          <a:ln w="101600" cap="rnd">
            <a:solidFill>
              <a:srgbClr val="D8B2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525043" y="630810"/>
            <a:ext cx="520806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做法</a:t>
            </a:r>
            <a:r>
              <a:rPr lang="en-US" altLang="zh-CN" sz="2400" b="1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：</a:t>
            </a: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zh-CN" dirty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尝试“群体智慧”</a:t>
            </a: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zh-CN" dirty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定制个性</a:t>
            </a:r>
            <a:r>
              <a:rPr lang="zh-CN" altLang="zh-CN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套装</a:t>
            </a:r>
            <a:endParaRPr lang="en-US" altLang="zh-CN" dirty="0" smtClean="0">
              <a:solidFill>
                <a:srgbClr val="26829B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zh-CN" sz="2400" b="1" dirty="0" smtClean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问题：</a:t>
            </a:r>
            <a:endParaRPr lang="en-US" altLang="zh-CN" sz="2400" b="1" dirty="0" smtClean="0">
              <a:solidFill>
                <a:srgbClr val="B9758C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zh-CN" dirty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价格高昂转化率低</a:t>
            </a: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zh-CN" dirty="0" smtClean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存在</a:t>
            </a:r>
            <a:r>
              <a:rPr lang="zh-CN" altLang="zh-CN" dirty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知识产权诉讼隐患</a:t>
            </a:r>
          </a:p>
        </p:txBody>
      </p:sp>
      <p:sp>
        <p:nvSpPr>
          <p:cNvPr id="15" name="矩形 14"/>
          <p:cNvSpPr/>
          <p:nvPr/>
        </p:nvSpPr>
        <p:spPr>
          <a:xfrm>
            <a:off x="1107034" y="3044435"/>
            <a:ext cx="5328592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做法：</a:t>
            </a:r>
            <a:endParaRPr lang="en-US" altLang="zh-CN" sz="2400" b="1" dirty="0" smtClean="0">
              <a:solidFill>
                <a:srgbClr val="26829B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zh-CN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探索</a:t>
            </a:r>
            <a:r>
              <a:rPr lang="en-US" altLang="zh-CN" dirty="0" err="1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Galidor</a:t>
            </a:r>
            <a:r>
              <a:rPr lang="zh-CN" altLang="zh-CN" dirty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系列</a:t>
            </a: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zh-CN" dirty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主题公园和品牌商店</a:t>
            </a:r>
            <a:r>
              <a:rPr lang="zh-CN" altLang="zh-CN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扩张</a:t>
            </a:r>
            <a:endParaRPr lang="en-US" altLang="zh-CN" dirty="0" smtClean="0">
              <a:solidFill>
                <a:srgbClr val="26829B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zh-CN" sz="2400" b="1" dirty="0" smtClean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问题：</a:t>
            </a:r>
            <a:endParaRPr lang="en-US" altLang="zh-CN" sz="2400" b="1" dirty="0">
              <a:solidFill>
                <a:srgbClr val="B9758C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zh-CN" dirty="0" smtClean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没有</a:t>
            </a:r>
            <a:r>
              <a:rPr lang="zh-CN" altLang="zh-CN" dirty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掌握创新节奏</a:t>
            </a: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zh-CN" dirty="0" smtClean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乐园</a:t>
            </a:r>
            <a:r>
              <a:rPr lang="zh-CN" altLang="zh-CN" dirty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遭遇亏损</a:t>
            </a:r>
          </a:p>
        </p:txBody>
      </p:sp>
    </p:spTree>
    <p:extLst>
      <p:ext uri="{BB962C8B-B14F-4D97-AF65-F5344CB8AC3E}">
        <p14:creationId xmlns:p14="http://schemas.microsoft.com/office/powerpoint/2010/main" val="2669285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接连接符 19"/>
          <p:cNvCxnSpPr/>
          <p:nvPr/>
        </p:nvCxnSpPr>
        <p:spPr>
          <a:xfrm flipH="1" flipV="1">
            <a:off x="3347864" y="2052265"/>
            <a:ext cx="2031146" cy="1905774"/>
          </a:xfrm>
          <a:prstGeom prst="line">
            <a:avLst/>
          </a:prstGeom>
          <a:ln w="101600" cap="rnd">
            <a:solidFill>
              <a:srgbClr val="D8B2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4"/>
          <p:cNvSpPr/>
          <p:nvPr/>
        </p:nvSpPr>
        <p:spPr>
          <a:xfrm>
            <a:off x="1408004" y="485441"/>
            <a:ext cx="2088232" cy="2088000"/>
          </a:xfrm>
          <a:custGeom>
            <a:avLst/>
            <a:gdLst/>
            <a:ahLst/>
            <a:cxnLst/>
            <a:rect l="l" t="t" r="r" b="b"/>
            <a:pathLst>
              <a:path w="2088232" h="2088232">
                <a:moveTo>
                  <a:pt x="1811245" y="337533"/>
                </a:moveTo>
                <a:cubicBezTo>
                  <a:pt x="1838022" y="364863"/>
                  <a:pt x="1862414" y="394413"/>
                  <a:pt x="1884201" y="425957"/>
                </a:cubicBezTo>
                <a:close/>
                <a:moveTo>
                  <a:pt x="1044116" y="0"/>
                </a:moveTo>
                <a:cubicBezTo>
                  <a:pt x="1332900" y="0"/>
                  <a:pt x="1594301" y="117239"/>
                  <a:pt x="1783277" y="306761"/>
                </a:cubicBezTo>
                <a:cubicBezTo>
                  <a:pt x="1628182" y="154035"/>
                  <a:pt x="1415206" y="60336"/>
                  <a:pt x="1180345" y="60336"/>
                </a:cubicBezTo>
                <a:cubicBezTo>
                  <a:pt x="703118" y="60336"/>
                  <a:pt x="316249" y="447205"/>
                  <a:pt x="316249" y="924432"/>
                </a:cubicBezTo>
                <a:cubicBezTo>
                  <a:pt x="316249" y="1401659"/>
                  <a:pt x="703118" y="1788528"/>
                  <a:pt x="1180345" y="1788528"/>
                </a:cubicBezTo>
                <a:cubicBezTo>
                  <a:pt x="1657572" y="1788528"/>
                  <a:pt x="2044441" y="1401659"/>
                  <a:pt x="2044441" y="924432"/>
                </a:cubicBezTo>
                <a:cubicBezTo>
                  <a:pt x="2044441" y="747823"/>
                  <a:pt x="1991457" y="583588"/>
                  <a:pt x="1900008" y="447095"/>
                </a:cubicBezTo>
                <a:cubicBezTo>
                  <a:pt x="2018842" y="615982"/>
                  <a:pt x="2088232" y="821946"/>
                  <a:pt x="2088232" y="1044116"/>
                </a:cubicBezTo>
                <a:cubicBezTo>
                  <a:pt x="2088232" y="1620765"/>
                  <a:pt x="1620765" y="2088232"/>
                  <a:pt x="1044116" y="2088232"/>
                </a:cubicBezTo>
                <a:cubicBezTo>
                  <a:pt x="467467" y="2088232"/>
                  <a:pt x="0" y="1620765"/>
                  <a:pt x="0" y="1044116"/>
                </a:cubicBezTo>
                <a:cubicBezTo>
                  <a:pt x="0" y="467467"/>
                  <a:pt x="467467" y="0"/>
                  <a:pt x="1044116" y="0"/>
                </a:cubicBezTo>
                <a:close/>
              </a:path>
            </a:pathLst>
          </a:custGeom>
          <a:solidFill>
            <a:srgbClr val="D8B2B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698844" y="900278"/>
            <a:ext cx="2195742" cy="1597260"/>
            <a:chOff x="1367895" y="917762"/>
            <a:chExt cx="2195742" cy="1597260"/>
          </a:xfrm>
        </p:grpSpPr>
        <p:sp>
          <p:nvSpPr>
            <p:cNvPr id="5" name="矩形 4"/>
            <p:cNvSpPr/>
            <p:nvPr/>
          </p:nvSpPr>
          <p:spPr>
            <a:xfrm>
              <a:off x="1367895" y="917762"/>
              <a:ext cx="219574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zh-CN" sz="2000" b="1" dirty="0" smtClean="0">
                  <a:solidFill>
                    <a:srgbClr val="26829B"/>
                  </a:solidFill>
                  <a:latin typeface="微软雅黑" pitchFamily="34" charset="-122"/>
                  <a:ea typeface="微软雅黑" pitchFamily="34" charset="-122"/>
                </a:rPr>
                <a:t>创新企业文化</a:t>
              </a:r>
              <a:endParaRPr lang="zh-CN" altLang="zh-CN" sz="2000" b="1" dirty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788854" y="1068472"/>
              <a:ext cx="6120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800" dirty="0">
                  <a:solidFill>
                    <a:srgbClr val="26829B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roadway" pitchFamily="82" charset="0"/>
                </a:rPr>
                <a:t>7</a:t>
              </a:r>
              <a:endParaRPr lang="zh-CN" altLang="en-US" sz="8800" dirty="0">
                <a:solidFill>
                  <a:srgbClr val="2682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itchFamily="82" charset="0"/>
              </a:endParaRPr>
            </a:p>
          </p:txBody>
        </p:sp>
      </p:grpSp>
      <p:cxnSp>
        <p:nvCxnSpPr>
          <p:cNvPr id="13" name="直接连接符 12"/>
          <p:cNvCxnSpPr/>
          <p:nvPr/>
        </p:nvCxnSpPr>
        <p:spPr>
          <a:xfrm flipH="1">
            <a:off x="2779994" y="-468015"/>
            <a:ext cx="1864014" cy="988789"/>
          </a:xfrm>
          <a:prstGeom prst="line">
            <a:avLst/>
          </a:prstGeom>
          <a:ln w="101600" cap="rnd">
            <a:solidFill>
              <a:srgbClr val="D8B2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649806" y="867721"/>
            <a:ext cx="568863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做法</a:t>
            </a:r>
            <a:r>
              <a:rPr lang="en-US" altLang="zh-CN" sz="2400" b="1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zh-CN" altLang="zh-CN" sz="2400" b="1" dirty="0">
              <a:solidFill>
                <a:srgbClr val="26829B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zh-CN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建立“</a:t>
            </a:r>
            <a:r>
              <a:rPr lang="zh-CN" altLang="zh-CN" dirty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创新高过一切”的文化</a:t>
            </a:r>
            <a:r>
              <a:rPr lang="zh-CN" altLang="zh-CN" dirty="0" smtClean="0">
                <a:solidFill>
                  <a:srgbClr val="26829B"/>
                </a:solidFill>
                <a:latin typeface="微软雅黑" pitchFamily="34" charset="-122"/>
                <a:ea typeface="微软雅黑" pitchFamily="34" charset="-122"/>
              </a:rPr>
              <a:t>氛围</a:t>
            </a:r>
            <a:endParaRPr lang="zh-CN" altLang="zh-CN" sz="1600" dirty="0">
              <a:solidFill>
                <a:srgbClr val="26829B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zh-CN" sz="2400" b="1" dirty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问题：</a:t>
            </a:r>
            <a:endParaRPr lang="en-US" altLang="zh-CN" sz="2400" b="1" dirty="0">
              <a:solidFill>
                <a:srgbClr val="B9758C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00150" lvl="2" indent="-285750">
              <a:buFont typeface="Wingdings" pitchFamily="2" charset="2"/>
              <a:buChar char=""/>
            </a:pPr>
            <a:r>
              <a:rPr lang="zh-CN" altLang="zh-CN" dirty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rPr>
              <a:t>缺乏正确的方向和焦点 </a:t>
            </a:r>
          </a:p>
        </p:txBody>
      </p:sp>
      <p:sp>
        <p:nvSpPr>
          <p:cNvPr id="4" name="等腰三角形 3"/>
          <p:cNvSpPr/>
          <p:nvPr/>
        </p:nvSpPr>
        <p:spPr>
          <a:xfrm>
            <a:off x="5118311" y="3020654"/>
            <a:ext cx="2174731" cy="1874768"/>
          </a:xfrm>
          <a:prstGeom prst="triangle">
            <a:avLst/>
          </a:prstGeom>
          <a:noFill/>
          <a:ln w="152400">
            <a:solidFill>
              <a:srgbClr val="2682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868144" y="3297596"/>
            <a:ext cx="646331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 smtClean="0">
                <a:solidFill>
                  <a:srgbClr val="B975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 Black" pitchFamily="18" charset="0"/>
                <a:ea typeface="微软雅黑" pitchFamily="34" charset="-122"/>
              </a:rPr>
              <a:t>!</a:t>
            </a:r>
            <a:endParaRPr lang="zh-CN" altLang="en-US" sz="11500" dirty="0">
              <a:solidFill>
                <a:srgbClr val="B9758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 Black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229612" y="2838844"/>
            <a:ext cx="2582295" cy="2214364"/>
            <a:chOff x="384393" y="2714413"/>
            <a:chExt cx="2582295" cy="2214364"/>
          </a:xfrm>
        </p:grpSpPr>
        <p:sp>
          <p:nvSpPr>
            <p:cNvPr id="14" name="矩形 13"/>
            <p:cNvSpPr/>
            <p:nvPr/>
          </p:nvSpPr>
          <p:spPr>
            <a:xfrm>
              <a:off x="384393" y="2989785"/>
              <a:ext cx="2582295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zh-CN" sz="2400" b="1" dirty="0" smtClean="0">
                  <a:solidFill>
                    <a:srgbClr val="B9758C"/>
                  </a:solidFill>
                  <a:latin typeface="微软雅黑" pitchFamily="34" charset="-122"/>
                  <a:ea typeface="微软雅黑" pitchFamily="34" charset="-122"/>
                </a:rPr>
                <a:t>缺乏监控引导</a:t>
              </a:r>
              <a:endParaRPr lang="en-US" altLang="zh-CN" sz="2400" b="1" dirty="0" smtClean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lvl="0"/>
              <a:endParaRPr lang="en-US" altLang="zh-CN" sz="2400" b="1" dirty="0" smtClean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lvl="0" algn="ctr"/>
              <a:r>
                <a:rPr lang="zh-CN" altLang="zh-CN" sz="2400" b="1" dirty="0" smtClean="0">
                  <a:solidFill>
                    <a:srgbClr val="B9758C"/>
                  </a:solidFill>
                  <a:latin typeface="微软雅黑" pitchFamily="34" charset="-122"/>
                  <a:ea typeface="微软雅黑" pitchFamily="34" charset="-122"/>
                </a:rPr>
                <a:t>成本飞升</a:t>
              </a:r>
              <a:endParaRPr lang="en-US" altLang="zh-CN" sz="2400" b="1" dirty="0" smtClean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lvl="0"/>
              <a:endParaRPr lang="en-US" altLang="zh-CN" sz="2400" b="1" dirty="0">
                <a:solidFill>
                  <a:srgbClr val="B9758C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lvl="0" algn="ctr"/>
              <a:r>
                <a:rPr lang="zh-CN" altLang="zh-CN" sz="2400" b="1" dirty="0" smtClean="0">
                  <a:solidFill>
                    <a:srgbClr val="B9758C"/>
                  </a:solidFill>
                  <a:latin typeface="微软雅黑" pitchFamily="34" charset="-122"/>
                  <a:ea typeface="微软雅黑" pitchFamily="34" charset="-122"/>
                </a:rPr>
                <a:t>濒临</a:t>
              </a:r>
              <a:r>
                <a:rPr lang="zh-CN" altLang="zh-CN" sz="2400" b="1" dirty="0">
                  <a:solidFill>
                    <a:srgbClr val="B9758C"/>
                  </a:solidFill>
                  <a:latin typeface="微软雅黑" pitchFamily="34" charset="-122"/>
                  <a:ea typeface="微软雅黑" pitchFamily="34" charset="-122"/>
                </a:rPr>
                <a:t>破产</a:t>
              </a:r>
            </a:p>
          </p:txBody>
        </p:sp>
        <p:sp>
          <p:nvSpPr>
            <p:cNvPr id="8" name="下箭头 7"/>
            <p:cNvSpPr/>
            <p:nvPr/>
          </p:nvSpPr>
          <p:spPr>
            <a:xfrm>
              <a:off x="1498463" y="3499207"/>
              <a:ext cx="354157" cy="216024"/>
            </a:xfrm>
            <a:prstGeom prst="downArrow">
              <a:avLst/>
            </a:prstGeom>
            <a:solidFill>
              <a:srgbClr val="2682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下箭头 17"/>
            <p:cNvSpPr/>
            <p:nvPr/>
          </p:nvSpPr>
          <p:spPr>
            <a:xfrm>
              <a:off x="1498463" y="4229863"/>
              <a:ext cx="354157" cy="216024"/>
            </a:xfrm>
            <a:prstGeom prst="downArrow">
              <a:avLst/>
            </a:prstGeom>
            <a:solidFill>
              <a:srgbClr val="2682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下箭头 20"/>
            <p:cNvSpPr/>
            <p:nvPr/>
          </p:nvSpPr>
          <p:spPr>
            <a:xfrm>
              <a:off x="1498463" y="2714413"/>
              <a:ext cx="354157" cy="216024"/>
            </a:xfrm>
            <a:prstGeom prst="downArrow">
              <a:avLst/>
            </a:prstGeom>
            <a:solidFill>
              <a:srgbClr val="2682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5730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 rot="8154062">
            <a:off x="5404728" y="3317338"/>
            <a:ext cx="1693649" cy="826099"/>
            <a:chOff x="3448530" y="252068"/>
            <a:chExt cx="1771543" cy="864093"/>
          </a:xfrm>
        </p:grpSpPr>
        <p:sp>
          <p:nvSpPr>
            <p:cNvPr id="40" name="等腰三角形 39"/>
            <p:cNvSpPr/>
            <p:nvPr/>
          </p:nvSpPr>
          <p:spPr>
            <a:xfrm>
              <a:off x="3448530" y="252068"/>
              <a:ext cx="1771543" cy="864093"/>
            </a:xfrm>
            <a:prstGeom prst="triangle">
              <a:avLst>
                <a:gd name="adj" fmla="val 49230"/>
              </a:avLst>
            </a:prstGeom>
            <a:solidFill>
              <a:srgbClr val="95BF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41" name="椭圆 40"/>
            <p:cNvSpPr/>
            <p:nvPr/>
          </p:nvSpPr>
          <p:spPr>
            <a:xfrm>
              <a:off x="3870304" y="708632"/>
              <a:ext cx="266356" cy="2592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42" name="椭圆 41"/>
            <p:cNvSpPr/>
            <p:nvPr/>
          </p:nvSpPr>
          <p:spPr>
            <a:xfrm>
              <a:off x="4529360" y="709103"/>
              <a:ext cx="233220" cy="24394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43" name="椭圆 42"/>
            <p:cNvSpPr/>
            <p:nvPr/>
          </p:nvSpPr>
          <p:spPr>
            <a:xfrm flipV="1">
              <a:off x="4634218" y="822800"/>
              <a:ext cx="133178" cy="1048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44" name="椭圆 43"/>
            <p:cNvSpPr/>
            <p:nvPr/>
          </p:nvSpPr>
          <p:spPr>
            <a:xfrm flipV="1">
              <a:off x="3869153" y="775188"/>
              <a:ext cx="133178" cy="1048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sp>
        <p:nvSpPr>
          <p:cNvPr id="4" name="矩形 3"/>
          <p:cNvSpPr/>
          <p:nvPr/>
        </p:nvSpPr>
        <p:spPr>
          <a:xfrm>
            <a:off x="6100021" y="4069529"/>
            <a:ext cx="1326156" cy="1331146"/>
          </a:xfrm>
          <a:prstGeom prst="rect">
            <a:avLst/>
          </a:prstGeom>
          <a:solidFill>
            <a:srgbClr val="D8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 rot="5580202">
            <a:off x="6179573" y="2708549"/>
            <a:ext cx="1693649" cy="826099"/>
            <a:chOff x="3448530" y="252068"/>
            <a:chExt cx="1771543" cy="864093"/>
          </a:xfrm>
        </p:grpSpPr>
        <p:sp>
          <p:nvSpPr>
            <p:cNvPr id="35" name="等腰三角形 34"/>
            <p:cNvSpPr/>
            <p:nvPr/>
          </p:nvSpPr>
          <p:spPr>
            <a:xfrm>
              <a:off x="3448530" y="252068"/>
              <a:ext cx="1771543" cy="864093"/>
            </a:xfrm>
            <a:prstGeom prst="triangle">
              <a:avLst>
                <a:gd name="adj" fmla="val 49230"/>
              </a:avLst>
            </a:prstGeom>
            <a:solidFill>
              <a:srgbClr val="95BF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36" name="椭圆 35"/>
            <p:cNvSpPr/>
            <p:nvPr/>
          </p:nvSpPr>
          <p:spPr>
            <a:xfrm>
              <a:off x="3870304" y="708632"/>
              <a:ext cx="266356" cy="2592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37" name="椭圆 36"/>
            <p:cNvSpPr/>
            <p:nvPr/>
          </p:nvSpPr>
          <p:spPr>
            <a:xfrm>
              <a:off x="4529360" y="709103"/>
              <a:ext cx="233220" cy="24394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38" name="椭圆 37"/>
            <p:cNvSpPr/>
            <p:nvPr/>
          </p:nvSpPr>
          <p:spPr>
            <a:xfrm flipV="1">
              <a:off x="4634218" y="822800"/>
              <a:ext cx="133178" cy="1048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39" name="椭圆 38"/>
            <p:cNvSpPr/>
            <p:nvPr/>
          </p:nvSpPr>
          <p:spPr>
            <a:xfrm flipV="1">
              <a:off x="3869153" y="775188"/>
              <a:ext cx="133178" cy="1048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grpSp>
        <p:nvGrpSpPr>
          <p:cNvPr id="6" name="组合 5"/>
          <p:cNvGrpSpPr/>
          <p:nvPr/>
        </p:nvGrpSpPr>
        <p:grpSpPr>
          <a:xfrm rot="8604411">
            <a:off x="6654826" y="3323331"/>
            <a:ext cx="1693649" cy="826099"/>
            <a:chOff x="3507135" y="295580"/>
            <a:chExt cx="1771543" cy="864093"/>
          </a:xfrm>
        </p:grpSpPr>
        <p:sp>
          <p:nvSpPr>
            <p:cNvPr id="30" name="等腰三角形 29"/>
            <p:cNvSpPr/>
            <p:nvPr/>
          </p:nvSpPr>
          <p:spPr>
            <a:xfrm rot="21174958">
              <a:off x="3507135" y="295580"/>
              <a:ext cx="1771543" cy="864093"/>
            </a:xfrm>
            <a:prstGeom prst="triangle">
              <a:avLst>
                <a:gd name="adj" fmla="val 49230"/>
              </a:avLst>
            </a:prstGeom>
            <a:solidFill>
              <a:srgbClr val="95BF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31" name="椭圆 30"/>
            <p:cNvSpPr/>
            <p:nvPr/>
          </p:nvSpPr>
          <p:spPr>
            <a:xfrm>
              <a:off x="3870304" y="708632"/>
              <a:ext cx="266356" cy="2592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32" name="椭圆 31"/>
            <p:cNvSpPr/>
            <p:nvPr/>
          </p:nvSpPr>
          <p:spPr>
            <a:xfrm>
              <a:off x="4529360" y="709103"/>
              <a:ext cx="233220" cy="24394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33" name="椭圆 32"/>
            <p:cNvSpPr/>
            <p:nvPr/>
          </p:nvSpPr>
          <p:spPr>
            <a:xfrm flipV="1">
              <a:off x="4634218" y="822800"/>
              <a:ext cx="133178" cy="1048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34" name="椭圆 33"/>
            <p:cNvSpPr/>
            <p:nvPr/>
          </p:nvSpPr>
          <p:spPr>
            <a:xfrm flipV="1">
              <a:off x="3869153" y="775188"/>
              <a:ext cx="133178" cy="1048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grpSp>
        <p:nvGrpSpPr>
          <p:cNvPr id="7" name="组合 6"/>
          <p:cNvGrpSpPr/>
          <p:nvPr/>
        </p:nvGrpSpPr>
        <p:grpSpPr>
          <a:xfrm rot="11058874">
            <a:off x="6636423" y="2284791"/>
            <a:ext cx="1693649" cy="826099"/>
            <a:chOff x="3448530" y="252068"/>
            <a:chExt cx="1771543" cy="864093"/>
          </a:xfrm>
        </p:grpSpPr>
        <p:sp>
          <p:nvSpPr>
            <p:cNvPr id="25" name="等腰三角形 24"/>
            <p:cNvSpPr/>
            <p:nvPr/>
          </p:nvSpPr>
          <p:spPr>
            <a:xfrm>
              <a:off x="3448530" y="252068"/>
              <a:ext cx="1771543" cy="864093"/>
            </a:xfrm>
            <a:prstGeom prst="triangle">
              <a:avLst>
                <a:gd name="adj" fmla="val 49230"/>
              </a:avLst>
            </a:prstGeom>
            <a:solidFill>
              <a:srgbClr val="95BF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6" name="椭圆 25"/>
            <p:cNvSpPr/>
            <p:nvPr/>
          </p:nvSpPr>
          <p:spPr>
            <a:xfrm>
              <a:off x="3870304" y="708632"/>
              <a:ext cx="266356" cy="2592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7" name="椭圆 26"/>
            <p:cNvSpPr/>
            <p:nvPr/>
          </p:nvSpPr>
          <p:spPr>
            <a:xfrm>
              <a:off x="4529360" y="709103"/>
              <a:ext cx="233220" cy="24394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8" name="椭圆 27"/>
            <p:cNvSpPr/>
            <p:nvPr/>
          </p:nvSpPr>
          <p:spPr>
            <a:xfrm flipV="1">
              <a:off x="4634218" y="822800"/>
              <a:ext cx="133178" cy="1048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9" name="椭圆 28"/>
            <p:cNvSpPr/>
            <p:nvPr/>
          </p:nvSpPr>
          <p:spPr>
            <a:xfrm flipV="1">
              <a:off x="3869153" y="775188"/>
              <a:ext cx="133178" cy="1048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grpSp>
        <p:nvGrpSpPr>
          <p:cNvPr id="8" name="组合 7"/>
          <p:cNvGrpSpPr/>
          <p:nvPr/>
        </p:nvGrpSpPr>
        <p:grpSpPr>
          <a:xfrm rot="8241602">
            <a:off x="7136259" y="1574080"/>
            <a:ext cx="1693649" cy="826099"/>
            <a:chOff x="3448530" y="252068"/>
            <a:chExt cx="1771543" cy="864093"/>
          </a:xfrm>
        </p:grpSpPr>
        <p:sp>
          <p:nvSpPr>
            <p:cNvPr id="20" name="等腰三角形 19"/>
            <p:cNvSpPr/>
            <p:nvPr/>
          </p:nvSpPr>
          <p:spPr>
            <a:xfrm>
              <a:off x="3448530" y="252068"/>
              <a:ext cx="1771543" cy="864093"/>
            </a:xfrm>
            <a:prstGeom prst="triangle">
              <a:avLst>
                <a:gd name="adj" fmla="val 49230"/>
              </a:avLst>
            </a:prstGeom>
            <a:solidFill>
              <a:srgbClr val="95BF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1" name="椭圆 20"/>
            <p:cNvSpPr/>
            <p:nvPr/>
          </p:nvSpPr>
          <p:spPr>
            <a:xfrm>
              <a:off x="3870304" y="708632"/>
              <a:ext cx="266356" cy="2592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2" name="椭圆 21"/>
            <p:cNvSpPr/>
            <p:nvPr/>
          </p:nvSpPr>
          <p:spPr>
            <a:xfrm>
              <a:off x="4529360" y="709103"/>
              <a:ext cx="233220" cy="24394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3" name="椭圆 22"/>
            <p:cNvSpPr/>
            <p:nvPr/>
          </p:nvSpPr>
          <p:spPr>
            <a:xfrm flipV="1">
              <a:off x="4634218" y="822800"/>
              <a:ext cx="133178" cy="1048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4" name="椭圆 23"/>
            <p:cNvSpPr/>
            <p:nvPr/>
          </p:nvSpPr>
          <p:spPr>
            <a:xfrm flipV="1">
              <a:off x="3869153" y="775188"/>
              <a:ext cx="133178" cy="1048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220449" y="4414117"/>
            <a:ext cx="409032" cy="432099"/>
            <a:chOff x="6692837" y="3834804"/>
            <a:chExt cx="215571" cy="253148"/>
          </a:xfrm>
        </p:grpSpPr>
        <p:sp>
          <p:nvSpPr>
            <p:cNvPr id="18" name="椭圆 17"/>
            <p:cNvSpPr/>
            <p:nvPr/>
          </p:nvSpPr>
          <p:spPr>
            <a:xfrm rot="8154062">
              <a:off x="6692837" y="3834804"/>
              <a:ext cx="215571" cy="2531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9" name="椭圆 18"/>
            <p:cNvSpPr/>
            <p:nvPr/>
          </p:nvSpPr>
          <p:spPr>
            <a:xfrm rot="8154062" flipV="1">
              <a:off x="6707009" y="3851993"/>
              <a:ext cx="113342" cy="11133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911990" y="4479258"/>
            <a:ext cx="332533" cy="347833"/>
            <a:chOff x="6954877" y="3819242"/>
            <a:chExt cx="332533" cy="347833"/>
          </a:xfrm>
        </p:grpSpPr>
        <p:sp>
          <p:nvSpPr>
            <p:cNvPr id="16" name="椭圆 15"/>
            <p:cNvSpPr/>
            <p:nvPr/>
          </p:nvSpPr>
          <p:spPr>
            <a:xfrm rot="8154062">
              <a:off x="6954877" y="3819242"/>
              <a:ext cx="332533" cy="3478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7" name="椭圆 16"/>
            <p:cNvSpPr/>
            <p:nvPr/>
          </p:nvSpPr>
          <p:spPr>
            <a:xfrm rot="8154062" flipV="1">
              <a:off x="6965170" y="3848589"/>
              <a:ext cx="195491" cy="1844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sp>
        <p:nvSpPr>
          <p:cNvPr id="11" name="弧形 10"/>
          <p:cNvSpPr/>
          <p:nvPr/>
        </p:nvSpPr>
        <p:spPr>
          <a:xfrm rot="16848621">
            <a:off x="6190798" y="4272209"/>
            <a:ext cx="449166" cy="329343"/>
          </a:xfrm>
          <a:prstGeom prst="arc">
            <a:avLst>
              <a:gd name="adj1" fmla="val 15602306"/>
              <a:gd name="adj2" fmla="val 2149108"/>
            </a:avLst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 rot="16848621">
            <a:off x="6864837" y="4212227"/>
            <a:ext cx="449166" cy="329343"/>
          </a:xfrm>
          <a:prstGeom prst="arc">
            <a:avLst>
              <a:gd name="adj1" fmla="val 15602306"/>
              <a:gd name="adj2" fmla="val 2149108"/>
            </a:avLst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 rot="20136561">
            <a:off x="6058608" y="1334792"/>
            <a:ext cx="1337037" cy="742112"/>
            <a:chOff x="4625573" y="-31009"/>
            <a:chExt cx="1337037" cy="742112"/>
          </a:xfrm>
        </p:grpSpPr>
        <p:sp>
          <p:nvSpPr>
            <p:cNvPr id="14" name="矩形 13"/>
            <p:cNvSpPr/>
            <p:nvPr/>
          </p:nvSpPr>
          <p:spPr>
            <a:xfrm>
              <a:off x="4625573" y="-31009"/>
              <a:ext cx="1326156" cy="742112"/>
            </a:xfrm>
            <a:prstGeom prst="rect">
              <a:avLst/>
            </a:prstGeom>
            <a:solidFill>
              <a:srgbClr val="D8B2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645027" y="-24121"/>
              <a:ext cx="1317583" cy="70788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zh-CN" sz="4000" dirty="0" smtClean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uhaus 93" pitchFamily="82" charset="0"/>
                </a:rPr>
                <a:t>LEGO</a:t>
              </a:r>
              <a:endParaRPr lang="zh-CN" altLang="en-US" sz="40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itchFamily="82" charset="0"/>
              </a:endParaRPr>
            </a:p>
          </p:txBody>
        </p:sp>
      </p:grpSp>
      <p:sp>
        <p:nvSpPr>
          <p:cNvPr id="45" name="矩形 44"/>
          <p:cNvSpPr/>
          <p:nvPr/>
        </p:nvSpPr>
        <p:spPr>
          <a:xfrm rot="20113415">
            <a:off x="749850" y="2159199"/>
            <a:ext cx="51059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扩张领域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时</a:t>
            </a:r>
            <a:r>
              <a:rPr lang="zh-CN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必须</a:t>
            </a:r>
            <a:r>
              <a:rPr lang="zh-CN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实施仔细而谨慎的计划</a:t>
            </a:r>
            <a:r>
              <a:rPr lang="zh-CN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避免</a:t>
            </a:r>
            <a:r>
              <a:rPr lang="zh-CN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短</a:t>
            </a:r>
            <a:r>
              <a:rPr lang="zh-CN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时间内从事过多的</a:t>
            </a:r>
            <a:r>
              <a:rPr lang="zh-CN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项目。</a:t>
            </a:r>
            <a:endParaRPr lang="zh-CN" altLang="zh-CN" sz="24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 rot="20115810">
            <a:off x="438619" y="1417463"/>
            <a:ext cx="51059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5400" b="1" dirty="0" smtClean="0">
                <a:solidFill>
                  <a:srgbClr val="B975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呐喊体" pitchFamily="2" charset="-122"/>
                <a:ea typeface="方正呐喊体" pitchFamily="2" charset="-122"/>
              </a:rPr>
              <a:t>警示</a:t>
            </a:r>
            <a:endParaRPr lang="zh-CN" altLang="zh-CN" sz="5400" b="1" dirty="0">
              <a:solidFill>
                <a:srgbClr val="B9758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呐喊体" pitchFamily="2" charset="-122"/>
              <a:ea typeface="方正呐喊体" pitchFamily="2" charset="-122"/>
            </a:endParaRPr>
          </a:p>
        </p:txBody>
      </p:sp>
      <p:cxnSp>
        <p:nvCxnSpPr>
          <p:cNvPr id="48" name="直接连接符 47"/>
          <p:cNvCxnSpPr/>
          <p:nvPr/>
        </p:nvCxnSpPr>
        <p:spPr>
          <a:xfrm>
            <a:off x="7249103" y="4227081"/>
            <a:ext cx="0" cy="401297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7340239" y="4132041"/>
            <a:ext cx="0" cy="401297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7434115" y="4136880"/>
            <a:ext cx="0" cy="401297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等腰三角形 50"/>
          <p:cNvSpPr/>
          <p:nvPr/>
        </p:nvSpPr>
        <p:spPr>
          <a:xfrm rot="4175602">
            <a:off x="2185282" y="-22675"/>
            <a:ext cx="185893" cy="3630957"/>
          </a:xfrm>
          <a:custGeom>
            <a:avLst/>
            <a:gdLst>
              <a:gd name="connsiteX0" fmla="*/ 0 w 183907"/>
              <a:gd name="connsiteY0" fmla="*/ 3636938 h 3636938"/>
              <a:gd name="connsiteX1" fmla="*/ 91954 w 183907"/>
              <a:gd name="connsiteY1" fmla="*/ 0 h 3636938"/>
              <a:gd name="connsiteX2" fmla="*/ 183907 w 183907"/>
              <a:gd name="connsiteY2" fmla="*/ 3636938 h 3636938"/>
              <a:gd name="connsiteX3" fmla="*/ 0 w 183907"/>
              <a:gd name="connsiteY3" fmla="*/ 3636938 h 3636938"/>
              <a:gd name="connsiteX0" fmla="*/ 0 w 277847"/>
              <a:gd name="connsiteY0" fmla="*/ 3636938 h 3636938"/>
              <a:gd name="connsiteX1" fmla="*/ 91954 w 277847"/>
              <a:gd name="connsiteY1" fmla="*/ 0 h 3636938"/>
              <a:gd name="connsiteX2" fmla="*/ 277847 w 277847"/>
              <a:gd name="connsiteY2" fmla="*/ 3624187 h 3636938"/>
              <a:gd name="connsiteX3" fmla="*/ 0 w 277847"/>
              <a:gd name="connsiteY3" fmla="*/ 3636938 h 3636938"/>
              <a:gd name="connsiteX0" fmla="*/ 36116 w 185893"/>
              <a:gd name="connsiteY0" fmla="*/ 3630957 h 3630957"/>
              <a:gd name="connsiteX1" fmla="*/ 0 w 185893"/>
              <a:gd name="connsiteY1" fmla="*/ 0 h 3630957"/>
              <a:gd name="connsiteX2" fmla="*/ 185893 w 185893"/>
              <a:gd name="connsiteY2" fmla="*/ 3624187 h 3630957"/>
              <a:gd name="connsiteX3" fmla="*/ 36116 w 185893"/>
              <a:gd name="connsiteY3" fmla="*/ 3630957 h 3630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893" h="3630957">
                <a:moveTo>
                  <a:pt x="36116" y="3630957"/>
                </a:moveTo>
                <a:lnTo>
                  <a:pt x="0" y="0"/>
                </a:lnTo>
                <a:lnTo>
                  <a:pt x="185893" y="3624187"/>
                </a:lnTo>
                <a:lnTo>
                  <a:pt x="36116" y="3630957"/>
                </a:lnTo>
                <a:close/>
              </a:path>
            </a:pathLst>
          </a:custGeom>
          <a:solidFill>
            <a:srgbClr val="D8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 rot="14759411">
            <a:off x="3864021" y="934447"/>
            <a:ext cx="159020" cy="3946912"/>
          </a:xfrm>
          <a:custGeom>
            <a:avLst/>
            <a:gdLst>
              <a:gd name="connsiteX0" fmla="*/ 0 w 142161"/>
              <a:gd name="connsiteY0" fmla="*/ 3828380 h 3828380"/>
              <a:gd name="connsiteX1" fmla="*/ 71081 w 142161"/>
              <a:gd name="connsiteY1" fmla="*/ 0 h 3828380"/>
              <a:gd name="connsiteX2" fmla="*/ 142161 w 142161"/>
              <a:gd name="connsiteY2" fmla="*/ 3828380 h 3828380"/>
              <a:gd name="connsiteX3" fmla="*/ 0 w 142161"/>
              <a:gd name="connsiteY3" fmla="*/ 3828380 h 3828380"/>
              <a:gd name="connsiteX0" fmla="*/ 0 w 189252"/>
              <a:gd name="connsiteY0" fmla="*/ 3828380 h 3856826"/>
              <a:gd name="connsiteX1" fmla="*/ 71081 w 189252"/>
              <a:gd name="connsiteY1" fmla="*/ 0 h 3856826"/>
              <a:gd name="connsiteX2" fmla="*/ 189252 w 189252"/>
              <a:gd name="connsiteY2" fmla="*/ 3856826 h 3856826"/>
              <a:gd name="connsiteX3" fmla="*/ 0 w 189252"/>
              <a:gd name="connsiteY3" fmla="*/ 3828380 h 3856826"/>
              <a:gd name="connsiteX0" fmla="*/ 0 w 167461"/>
              <a:gd name="connsiteY0" fmla="*/ 3897565 h 3897565"/>
              <a:gd name="connsiteX1" fmla="*/ 49290 w 167461"/>
              <a:gd name="connsiteY1" fmla="*/ 0 h 3897565"/>
              <a:gd name="connsiteX2" fmla="*/ 167461 w 167461"/>
              <a:gd name="connsiteY2" fmla="*/ 3856826 h 3897565"/>
              <a:gd name="connsiteX3" fmla="*/ 0 w 167461"/>
              <a:gd name="connsiteY3" fmla="*/ 3897565 h 3897565"/>
              <a:gd name="connsiteX0" fmla="*/ 0 w 189546"/>
              <a:gd name="connsiteY0" fmla="*/ 3897565 h 3904603"/>
              <a:gd name="connsiteX1" fmla="*/ 49290 w 189546"/>
              <a:gd name="connsiteY1" fmla="*/ 0 h 3904603"/>
              <a:gd name="connsiteX2" fmla="*/ 189546 w 189546"/>
              <a:gd name="connsiteY2" fmla="*/ 3904603 h 3904603"/>
              <a:gd name="connsiteX3" fmla="*/ 0 w 189546"/>
              <a:gd name="connsiteY3" fmla="*/ 3897565 h 3904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9546" h="3904603">
                <a:moveTo>
                  <a:pt x="0" y="3897565"/>
                </a:moveTo>
                <a:lnTo>
                  <a:pt x="49290" y="0"/>
                </a:lnTo>
                <a:lnTo>
                  <a:pt x="189546" y="3904603"/>
                </a:lnTo>
                <a:lnTo>
                  <a:pt x="0" y="3897565"/>
                </a:lnTo>
                <a:close/>
              </a:path>
            </a:pathLst>
          </a:custGeom>
          <a:solidFill>
            <a:srgbClr val="D8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004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5364087" y="98936"/>
            <a:ext cx="2833206" cy="707886"/>
            <a:chOff x="5124533" y="98936"/>
            <a:chExt cx="3072761" cy="707886"/>
          </a:xfrm>
        </p:grpSpPr>
        <p:sp>
          <p:nvSpPr>
            <p:cNvPr id="9" name="TextBox 8"/>
            <p:cNvSpPr txBox="1"/>
            <p:nvPr/>
          </p:nvSpPr>
          <p:spPr>
            <a:xfrm>
              <a:off x="5244965" y="154976"/>
              <a:ext cx="22997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 smtClean="0">
                  <a:solidFill>
                    <a:schemeClr val="bg1"/>
                  </a:solidFill>
                  <a:latin typeface="方正粗活意简体" pitchFamily="65" charset="-122"/>
                  <a:ea typeface="方正粗活意简体" pitchFamily="65" charset="-122"/>
                </a:rPr>
                <a:t>关于乐高</a:t>
              </a:r>
              <a:endParaRPr lang="zh-CN" altLang="en-US" sz="3600" b="1" dirty="0">
                <a:solidFill>
                  <a:schemeClr val="bg1"/>
                </a:solidFill>
                <a:latin typeface="方正粗活意简体" pitchFamily="65" charset="-122"/>
                <a:ea typeface="方正粗活意简体" pitchFamily="65" charset="-122"/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5124533" y="155101"/>
              <a:ext cx="3072760" cy="595555"/>
            </a:xfrm>
            <a:prstGeom prst="roundRect">
              <a:avLst/>
            </a:prstGeom>
            <a:solidFill>
              <a:srgbClr val="D8B2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3"/>
            <p:cNvSpPr/>
            <p:nvPr/>
          </p:nvSpPr>
          <p:spPr>
            <a:xfrm rot="16200000">
              <a:off x="7423189" y="-23448"/>
              <a:ext cx="595555" cy="952654"/>
            </a:xfrm>
            <a:custGeom>
              <a:avLst/>
              <a:gdLst/>
              <a:ahLst/>
              <a:cxnLst/>
              <a:rect l="l" t="t" r="r" b="b"/>
              <a:pathLst>
                <a:path w="595555" h="952654">
                  <a:moveTo>
                    <a:pt x="595555" y="187819"/>
                  </a:moveTo>
                  <a:lnTo>
                    <a:pt x="595555" y="853393"/>
                  </a:lnTo>
                  <a:cubicBezTo>
                    <a:pt x="595555" y="908213"/>
                    <a:pt x="551114" y="952654"/>
                    <a:pt x="496294" y="952654"/>
                  </a:cubicBezTo>
                  <a:lnTo>
                    <a:pt x="99261" y="952654"/>
                  </a:lnTo>
                  <a:cubicBezTo>
                    <a:pt x="44441" y="952654"/>
                    <a:pt x="0" y="908213"/>
                    <a:pt x="0" y="853393"/>
                  </a:cubicBezTo>
                  <a:lnTo>
                    <a:pt x="0" y="187819"/>
                  </a:lnTo>
                  <a:lnTo>
                    <a:pt x="3751" y="174576"/>
                  </a:lnTo>
                  <a:lnTo>
                    <a:pt x="163751" y="174576"/>
                  </a:lnTo>
                  <a:lnTo>
                    <a:pt x="277111" y="0"/>
                  </a:lnTo>
                  <a:lnTo>
                    <a:pt x="390471" y="174576"/>
                  </a:lnTo>
                  <a:lnTo>
                    <a:pt x="590662" y="174576"/>
                  </a:lnTo>
                  <a:cubicBezTo>
                    <a:pt x="592307" y="178748"/>
                    <a:pt x="593889" y="183174"/>
                    <a:pt x="595555" y="187819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124533" y="154976"/>
              <a:ext cx="242020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 smtClean="0">
                  <a:solidFill>
                    <a:schemeClr val="bg1"/>
                  </a:solidFill>
                  <a:latin typeface="方正粗活意简体" pitchFamily="65" charset="-122"/>
                  <a:ea typeface="方正粗活意简体" pitchFamily="65" charset="-122"/>
                </a:rPr>
                <a:t>乐高重生</a:t>
              </a:r>
              <a:endParaRPr lang="zh-CN" altLang="en-US" sz="3600" b="1" dirty="0">
                <a:solidFill>
                  <a:schemeClr val="bg1"/>
                </a:solidFill>
                <a:latin typeface="方正粗活意简体" pitchFamily="65" charset="-122"/>
                <a:ea typeface="方正粗活意简体" pitchFamily="65" charset="-122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544741" y="98936"/>
              <a:ext cx="58054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 smtClean="0">
                  <a:solidFill>
                    <a:schemeClr val="bg1"/>
                  </a:solidFill>
                  <a:latin typeface="Broadway" pitchFamily="82" charset="0"/>
                </a:rPr>
                <a:t>3</a:t>
              </a:r>
              <a:endParaRPr lang="zh-CN" altLang="en-US" sz="4000" b="1" dirty="0">
                <a:solidFill>
                  <a:schemeClr val="bg1"/>
                </a:solidFill>
                <a:latin typeface="Broadway" pitchFamily="82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981777" y="927375"/>
            <a:ext cx="72848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3D6563"/>
                </a:solidFill>
                <a:latin typeface="微软雅黑" pitchFamily="34" charset="-122"/>
                <a:ea typeface="微软雅黑" pitchFamily="34" charset="-122"/>
              </a:rPr>
              <a:t>通过三个阶段，</a:t>
            </a:r>
            <a:r>
              <a:rPr lang="zh-CN" altLang="zh-CN" sz="2400" b="1" dirty="0" smtClean="0">
                <a:solidFill>
                  <a:srgbClr val="3D6563"/>
                </a:solidFill>
                <a:latin typeface="微软雅黑" pitchFamily="34" charset="-122"/>
                <a:ea typeface="微软雅黑" pitchFamily="34" charset="-122"/>
              </a:rPr>
              <a:t>创造</a:t>
            </a:r>
            <a:r>
              <a:rPr lang="zh-CN" altLang="zh-CN" sz="2400" b="1" dirty="0">
                <a:solidFill>
                  <a:srgbClr val="3D6563"/>
                </a:solidFill>
                <a:latin typeface="微软雅黑" pitchFamily="34" charset="-122"/>
                <a:ea typeface="微软雅黑" pitchFamily="34" charset="-122"/>
              </a:rPr>
              <a:t>一个连贯的，可拓展的玩具世界。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1152654" y="1404193"/>
            <a:ext cx="7161068" cy="3914755"/>
            <a:chOff x="1026421" y="1404193"/>
            <a:chExt cx="7161068" cy="3914755"/>
          </a:xfrm>
        </p:grpSpPr>
        <p:sp>
          <p:nvSpPr>
            <p:cNvPr id="4" name="矩形 3"/>
            <p:cNvSpPr/>
            <p:nvPr/>
          </p:nvSpPr>
          <p:spPr>
            <a:xfrm>
              <a:off x="2843808" y="1404193"/>
              <a:ext cx="3312368" cy="3024336"/>
            </a:xfrm>
            <a:prstGeom prst="rect">
              <a:avLst/>
            </a:prstGeom>
            <a:solidFill>
              <a:srgbClr val="C3D8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1079432" y="1954383"/>
              <a:ext cx="0" cy="1728192"/>
            </a:xfrm>
            <a:prstGeom prst="line">
              <a:avLst/>
            </a:prstGeom>
            <a:ln w="76200">
              <a:solidFill>
                <a:srgbClr val="3D6563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右箭头 2"/>
            <p:cNvSpPr/>
            <p:nvPr/>
          </p:nvSpPr>
          <p:spPr>
            <a:xfrm>
              <a:off x="1026421" y="1464368"/>
              <a:ext cx="6836835" cy="490015"/>
            </a:xfrm>
            <a:prstGeom prst="rightArrow">
              <a:avLst/>
            </a:prstGeom>
            <a:solidFill>
              <a:srgbClr val="95BF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2771800" y="1954383"/>
              <a:ext cx="0" cy="1728192"/>
            </a:xfrm>
            <a:prstGeom prst="line">
              <a:avLst/>
            </a:prstGeom>
            <a:ln w="76200">
              <a:solidFill>
                <a:srgbClr val="3D6563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1187624" y="1955022"/>
              <a:ext cx="1512000" cy="601937"/>
            </a:xfrm>
            <a:prstGeom prst="rect">
              <a:avLst/>
            </a:prstGeom>
            <a:solidFill>
              <a:srgbClr val="C3D8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6228184" y="1954383"/>
              <a:ext cx="0" cy="1728192"/>
            </a:xfrm>
            <a:prstGeom prst="line">
              <a:avLst/>
            </a:prstGeom>
            <a:ln w="76200">
              <a:solidFill>
                <a:srgbClr val="3D6563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6322404" y="1954061"/>
              <a:ext cx="1435696" cy="601937"/>
            </a:xfrm>
            <a:prstGeom prst="rect">
              <a:avLst/>
            </a:prstGeom>
            <a:solidFill>
              <a:srgbClr val="C3D8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3064339" y="2304451"/>
              <a:ext cx="1368152" cy="601937"/>
            </a:xfrm>
            <a:prstGeom prst="rect">
              <a:avLst/>
            </a:prstGeom>
            <a:solidFill>
              <a:srgbClr val="95BFBD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4572000" y="2304451"/>
              <a:ext cx="1368152" cy="601937"/>
            </a:xfrm>
            <a:prstGeom prst="rect">
              <a:avLst/>
            </a:prstGeom>
            <a:solidFill>
              <a:srgbClr val="95BFBD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3893216" y="2825250"/>
              <a:ext cx="1368152" cy="601937"/>
            </a:xfrm>
            <a:prstGeom prst="rect">
              <a:avLst/>
            </a:prstGeom>
            <a:solidFill>
              <a:srgbClr val="95BFBD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左大括号 6"/>
            <p:cNvSpPr/>
            <p:nvPr/>
          </p:nvSpPr>
          <p:spPr>
            <a:xfrm rot="16200000">
              <a:off x="1867314" y="3096182"/>
              <a:ext cx="116605" cy="1692366"/>
            </a:xfrm>
            <a:prstGeom prst="leftBrace">
              <a:avLst>
                <a:gd name="adj1" fmla="val 57962"/>
                <a:gd name="adj2" fmla="val 51162"/>
              </a:avLst>
            </a:prstGeom>
            <a:ln w="38100">
              <a:solidFill>
                <a:srgbClr val="3D65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左大括号 20"/>
            <p:cNvSpPr/>
            <p:nvPr/>
          </p:nvSpPr>
          <p:spPr>
            <a:xfrm rot="16200000">
              <a:off x="4434898" y="2351397"/>
              <a:ext cx="116605" cy="3181937"/>
            </a:xfrm>
            <a:prstGeom prst="leftBrace">
              <a:avLst>
                <a:gd name="adj1" fmla="val 57962"/>
                <a:gd name="adj2" fmla="val 51162"/>
              </a:avLst>
            </a:prstGeom>
            <a:ln w="38100">
              <a:solidFill>
                <a:srgbClr val="3D65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左大括号 21"/>
            <p:cNvSpPr/>
            <p:nvPr/>
          </p:nvSpPr>
          <p:spPr>
            <a:xfrm rot="16200000">
              <a:off x="6934840" y="3177407"/>
              <a:ext cx="116605" cy="1529916"/>
            </a:xfrm>
            <a:prstGeom prst="leftBrace">
              <a:avLst>
                <a:gd name="adj1" fmla="val 57962"/>
                <a:gd name="adj2" fmla="val 51162"/>
              </a:avLst>
            </a:prstGeom>
            <a:ln w="38100">
              <a:solidFill>
                <a:srgbClr val="3D65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263228" y="1555481"/>
              <a:ext cx="16561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2004-2005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年</a:t>
              </a:r>
              <a:endPara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921786" y="1555482"/>
              <a:ext cx="16561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2006-2008</a:t>
              </a:r>
              <a:r>
                <a:rPr lang="zh-CN" altLang="en-US" sz="1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年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531305" y="1555486"/>
              <a:ext cx="16561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2009</a:t>
              </a:r>
              <a:r>
                <a:rPr lang="zh-CN" altLang="en-US" sz="1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年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+</a:t>
              </a:r>
              <a:endPara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442591" y="4061844"/>
              <a:ext cx="1026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求销量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986850" y="4066038"/>
              <a:ext cx="1026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求利润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535372" y="4061844"/>
              <a:ext cx="1026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求增长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334414" y="4572545"/>
              <a:ext cx="12426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生存阶段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263228" y="5011171"/>
              <a:ext cx="13850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转型业务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134094" y="4572545"/>
              <a:ext cx="27317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建立可赢利核心平台阶段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667358" y="5011171"/>
              <a:ext cx="16652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转型品牌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977453" y="4572545"/>
              <a:ext cx="22100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有机增长阶段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569330" y="5011171"/>
              <a:ext cx="1026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复兴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148920" y="2305110"/>
              <a:ext cx="11989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建立可防御产品核心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624187" y="2402109"/>
              <a:ext cx="12743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发展核心业务</a:t>
              </a:r>
              <a:endPara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972505" y="2864608"/>
              <a:ext cx="11989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重新平衡</a:t>
              </a:r>
              <a:endParaRPr lang="en-US" altLang="zh-CN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财务结构</a:t>
              </a:r>
              <a:endPara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299641" y="1994380"/>
              <a:ext cx="11989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稳定公司</a:t>
              </a:r>
              <a:endParaRPr lang="en-US" altLang="zh-CN" sz="1400" dirty="0" smtClean="0"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（控制形势）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355961" y="2094332"/>
              <a:ext cx="12743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增长</a:t>
              </a:r>
            </a:p>
          </p:txBody>
        </p:sp>
        <p:cxnSp>
          <p:nvCxnSpPr>
            <p:cNvPr id="44" name="直接箭头连接符 43"/>
            <p:cNvCxnSpPr>
              <a:stCxn id="29" idx="3"/>
              <a:endCxn id="34" idx="1"/>
            </p:cNvCxnSpPr>
            <p:nvPr/>
          </p:nvCxnSpPr>
          <p:spPr>
            <a:xfrm>
              <a:off x="2577051" y="4726434"/>
              <a:ext cx="557043" cy="0"/>
            </a:xfrm>
            <a:prstGeom prst="straightConnector1">
              <a:avLst/>
            </a:prstGeom>
            <a:ln w="38100">
              <a:solidFill>
                <a:srgbClr val="3D656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/>
            <p:nvPr/>
          </p:nvCxnSpPr>
          <p:spPr>
            <a:xfrm>
              <a:off x="5765361" y="4726434"/>
              <a:ext cx="557043" cy="0"/>
            </a:xfrm>
            <a:prstGeom prst="straightConnector1">
              <a:avLst/>
            </a:prstGeom>
            <a:ln w="38100">
              <a:solidFill>
                <a:srgbClr val="3D656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/>
            <p:nvPr/>
          </p:nvCxnSpPr>
          <p:spPr>
            <a:xfrm>
              <a:off x="2577051" y="5165059"/>
              <a:ext cx="557043" cy="0"/>
            </a:xfrm>
            <a:prstGeom prst="straightConnector1">
              <a:avLst/>
            </a:prstGeom>
            <a:ln w="38100">
              <a:solidFill>
                <a:srgbClr val="3D656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/>
          </p:nvCxnSpPr>
          <p:spPr>
            <a:xfrm>
              <a:off x="5765361" y="5165059"/>
              <a:ext cx="557043" cy="0"/>
            </a:xfrm>
            <a:prstGeom prst="straightConnector1">
              <a:avLst/>
            </a:prstGeom>
            <a:ln w="38100">
              <a:solidFill>
                <a:srgbClr val="3D656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4618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759636" y="2196281"/>
            <a:ext cx="7628787" cy="2376265"/>
            <a:chOff x="759636" y="2196281"/>
            <a:chExt cx="7628787" cy="2376265"/>
          </a:xfrm>
        </p:grpSpPr>
        <p:grpSp>
          <p:nvGrpSpPr>
            <p:cNvPr id="12" name="组合 11"/>
            <p:cNvGrpSpPr/>
            <p:nvPr/>
          </p:nvGrpSpPr>
          <p:grpSpPr>
            <a:xfrm>
              <a:off x="759636" y="2196281"/>
              <a:ext cx="7628787" cy="2376265"/>
              <a:chOff x="759636" y="1836241"/>
              <a:chExt cx="7628787" cy="2376265"/>
            </a:xfrm>
          </p:grpSpPr>
          <p:sp>
            <p:nvSpPr>
              <p:cNvPr id="5" name="任意多边形 4"/>
              <p:cNvSpPr/>
              <p:nvPr/>
            </p:nvSpPr>
            <p:spPr>
              <a:xfrm>
                <a:off x="759636" y="1836241"/>
                <a:ext cx="1501111" cy="2376265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0" y="10000"/>
                    </a:moveTo>
                    <a:lnTo>
                      <a:pt x="0" y="0"/>
                    </a:lnTo>
                    <a:lnTo>
                      <a:pt x="10000" y="2000"/>
                    </a:lnTo>
                    <a:lnTo>
                      <a:pt x="10000" y="8000"/>
                    </a:lnTo>
                    <a:lnTo>
                      <a:pt x="0" y="10000"/>
                    </a:lnTo>
                    <a:close/>
                  </a:path>
                </a:pathLst>
              </a:custGeom>
              <a:solidFill>
                <a:srgbClr val="26829B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4300" tIns="604868" rIns="117327" bIns="604867" numCol="1" spcCol="1270" anchor="t" anchorCtr="0">
                <a:noAutofit/>
              </a:bodyPr>
              <a:lstStyle/>
              <a:p>
                <a:pPr lvl="0" algn="l" defTabSz="10223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zh-CN" sz="1800" b="1" kern="12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itchFamily="34" charset="-122"/>
                    <a:ea typeface="微软雅黑" pitchFamily="34" charset="-122"/>
                  </a:rPr>
                  <a:t>阶段</a:t>
                </a:r>
                <a:r>
                  <a:rPr lang="en-US" altLang="zh-CN" sz="1800" b="1" kern="12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1800" b="1" kern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endParaRPr>
              </a:p>
              <a:p>
                <a:pPr marL="114300" lvl="1" indent="-114300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zh-CN" altLang="zh-CN" sz="1400" dirty="0">
                    <a:latin typeface="微软雅黑" pitchFamily="34" charset="-122"/>
                    <a:ea typeface="微软雅黑" pitchFamily="34" charset="-122"/>
                  </a:rPr>
                  <a:t>简化业务</a:t>
                </a:r>
                <a:endParaRPr lang="zh-CN" altLang="en-US" sz="1400" dirty="0">
                  <a:latin typeface="微软雅黑" pitchFamily="34" charset="-122"/>
                  <a:ea typeface="微软雅黑" pitchFamily="34" charset="-122"/>
                </a:endParaRPr>
              </a:p>
              <a:p>
                <a:pPr marL="114300" lvl="1" indent="-114300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zh-CN" altLang="zh-CN" sz="1400" dirty="0">
                    <a:latin typeface="微软雅黑" pitchFamily="34" charset="-122"/>
                    <a:ea typeface="微软雅黑" pitchFamily="34" charset="-122"/>
                  </a:rPr>
                  <a:t>重塑竞争力</a:t>
                </a:r>
                <a:endParaRPr lang="zh-CN" altLang="en-US" sz="1400" dirty="0">
                  <a:latin typeface="微软雅黑" pitchFamily="34" charset="-122"/>
                  <a:ea typeface="微软雅黑" pitchFamily="34" charset="-122"/>
                </a:endParaRPr>
              </a:p>
              <a:p>
                <a:pPr marL="114300" marR="0" lvl="1" indent="-114300" defTabSz="622300" fontAlgn="auto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lrTx/>
                  <a:buSzTx/>
                  <a:buFontTx/>
                  <a:buChar char="••"/>
                  <a:tabLst/>
                  <a:defRPr/>
                </a:pPr>
                <a:r>
                  <a:rPr lang="zh-CN" altLang="zh-CN" sz="1400" dirty="0">
                    <a:latin typeface="微软雅黑" pitchFamily="34" charset="-122"/>
                    <a:ea typeface="微软雅黑" pitchFamily="34" charset="-122"/>
                  </a:rPr>
                  <a:t>增加现金储备</a:t>
                </a:r>
              </a:p>
              <a:p>
                <a:pPr marL="171450" lvl="1" indent="0" algn="l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altLang="zh-CN" sz="1400" kern="1200" dirty="0" smtClean="0">
                    <a:latin typeface="微软雅黑" pitchFamily="34" charset="-122"/>
                    <a:ea typeface="微软雅黑" pitchFamily="34" charset="-122"/>
                  </a:rPr>
                  <a:t>	</a:t>
                </a:r>
                <a:endParaRPr lang="zh-CN" altLang="en-US" sz="1400" kern="12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" name="任意多边形 5"/>
              <p:cNvSpPr/>
              <p:nvPr/>
            </p:nvSpPr>
            <p:spPr>
              <a:xfrm>
                <a:off x="2291554" y="1836241"/>
                <a:ext cx="1501111" cy="2376265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0" y="10000"/>
                    </a:moveTo>
                    <a:lnTo>
                      <a:pt x="0" y="0"/>
                    </a:lnTo>
                    <a:lnTo>
                      <a:pt x="10000" y="2000"/>
                    </a:lnTo>
                    <a:lnTo>
                      <a:pt x="10000" y="8000"/>
                    </a:lnTo>
                    <a:lnTo>
                      <a:pt x="0" y="10000"/>
                    </a:lnTo>
                    <a:close/>
                  </a:path>
                </a:pathLst>
              </a:custGeom>
              <a:solidFill>
                <a:srgbClr val="26829B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4300" tIns="604868" rIns="117327" bIns="604867" numCol="1" spcCol="1270" anchor="t" anchorCtr="0">
                <a:noAutofit/>
              </a:bodyPr>
              <a:lstStyle/>
              <a:p>
                <a:pPr defTabSz="10223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itchFamily="34" charset="-122"/>
                    <a:ea typeface="微软雅黑" pitchFamily="34" charset="-122"/>
                  </a:rPr>
                  <a:t>阶段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endParaRPr>
              </a:p>
              <a:p>
                <a:pPr marL="114300" lvl="1" indent="-114300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zh-CN" altLang="zh-CN" sz="1400" dirty="0">
                    <a:latin typeface="微软雅黑" pitchFamily="34" charset="-122"/>
                    <a:ea typeface="微软雅黑" pitchFamily="34" charset="-122"/>
                  </a:rPr>
                  <a:t>专注核心资产</a:t>
                </a:r>
                <a:endParaRPr lang="zh-CN" altLang="en-US" sz="1400" dirty="0">
                  <a:latin typeface="微软雅黑" pitchFamily="34" charset="-122"/>
                  <a:ea typeface="微软雅黑" pitchFamily="34" charset="-122"/>
                </a:endParaRPr>
              </a:p>
              <a:p>
                <a:pPr marL="114300" lvl="1" indent="-114300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zh-CN" altLang="zh-CN" sz="1400" dirty="0">
                    <a:latin typeface="微软雅黑" pitchFamily="34" charset="-122"/>
                    <a:ea typeface="微软雅黑" pitchFamily="34" charset="-122"/>
                  </a:rPr>
                  <a:t>核心产品</a:t>
                </a:r>
                <a:endParaRPr lang="zh-CN" altLang="en-US" sz="1400" dirty="0">
                  <a:latin typeface="微软雅黑" pitchFamily="34" charset="-122"/>
                  <a:ea typeface="微软雅黑" pitchFamily="34" charset="-122"/>
                </a:endParaRPr>
              </a:p>
              <a:p>
                <a:pPr marL="114300" lvl="1" indent="-114300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zh-CN" altLang="zh-CN" sz="1400" dirty="0">
                    <a:latin typeface="微软雅黑" pitchFamily="34" charset="-122"/>
                    <a:ea typeface="微软雅黑" pitchFamily="34" charset="-122"/>
                  </a:rPr>
                  <a:t>核心客户</a:t>
                </a:r>
              </a:p>
              <a:p>
                <a:pPr marL="114300" lvl="1" indent="-114300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endParaRPr lang="zh-CN" altLang="en-US" sz="14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" name="任意多边形 6"/>
              <p:cNvSpPr/>
              <p:nvPr/>
            </p:nvSpPr>
            <p:spPr>
              <a:xfrm>
                <a:off x="3823474" y="1836241"/>
                <a:ext cx="1501111" cy="2376265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0" y="10000"/>
                    </a:moveTo>
                    <a:lnTo>
                      <a:pt x="0" y="0"/>
                    </a:lnTo>
                    <a:lnTo>
                      <a:pt x="10000" y="2000"/>
                    </a:lnTo>
                    <a:lnTo>
                      <a:pt x="10000" y="8000"/>
                    </a:lnTo>
                    <a:lnTo>
                      <a:pt x="0" y="10000"/>
                    </a:lnTo>
                    <a:close/>
                  </a:path>
                </a:pathLst>
              </a:custGeom>
              <a:solidFill>
                <a:srgbClr val="26829B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4300" tIns="604868" rIns="117327" bIns="604867" numCol="1" spcCol="1270" anchor="t" anchorCtr="0">
                <a:noAutofit/>
              </a:bodyPr>
              <a:lstStyle/>
              <a:p>
                <a:pPr defTabSz="10223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itchFamily="34" charset="-122"/>
                    <a:ea typeface="微软雅黑" pitchFamily="34" charset="-122"/>
                  </a:rPr>
                  <a:t>阶段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endParaRPr>
              </a:p>
              <a:p>
                <a:pPr marL="114300" lvl="1" indent="-114300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zh-CN" altLang="zh-CN" sz="1400" dirty="0">
                    <a:latin typeface="微软雅黑" pitchFamily="34" charset="-122"/>
                    <a:ea typeface="微软雅黑" pitchFamily="34" charset="-122"/>
                  </a:rPr>
                  <a:t>构思创新矩阵</a:t>
                </a:r>
                <a:endParaRPr lang="zh-CN" altLang="en-US" sz="1400" dirty="0">
                  <a:latin typeface="微软雅黑" pitchFamily="34" charset="-122"/>
                  <a:ea typeface="微软雅黑" pitchFamily="34" charset="-122"/>
                </a:endParaRPr>
              </a:p>
              <a:p>
                <a:pPr marL="114300" lvl="1" indent="-114300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zh-CN" altLang="zh-CN" sz="1400" dirty="0">
                    <a:latin typeface="微软雅黑" pitchFamily="34" charset="-122"/>
                    <a:ea typeface="微软雅黑" pitchFamily="34" charset="-122"/>
                  </a:rPr>
                  <a:t>检查开发程序</a:t>
                </a:r>
                <a:endParaRPr lang="zh-CN" altLang="en-US" sz="1400" dirty="0">
                  <a:latin typeface="微软雅黑" pitchFamily="34" charset="-122"/>
                  <a:ea typeface="微软雅黑" pitchFamily="34" charset="-122"/>
                </a:endParaRPr>
              </a:p>
              <a:p>
                <a:pPr marL="114300" lvl="1" indent="-114300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zh-CN" altLang="zh-CN" sz="1400" dirty="0">
                    <a:latin typeface="微软雅黑" pitchFamily="34" charset="-122"/>
                    <a:ea typeface="微软雅黑" pitchFamily="34" charset="-122"/>
                  </a:rPr>
                  <a:t>邀请粉丝参与</a:t>
                </a:r>
                <a:endParaRPr lang="zh-CN" altLang="en-US" sz="14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" name="任意多边形 7"/>
              <p:cNvSpPr/>
              <p:nvPr/>
            </p:nvSpPr>
            <p:spPr>
              <a:xfrm>
                <a:off x="5355393" y="1836241"/>
                <a:ext cx="1501111" cy="2376265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0" y="10000"/>
                    </a:moveTo>
                    <a:lnTo>
                      <a:pt x="0" y="0"/>
                    </a:lnTo>
                    <a:lnTo>
                      <a:pt x="10000" y="2000"/>
                    </a:lnTo>
                    <a:lnTo>
                      <a:pt x="10000" y="8000"/>
                    </a:lnTo>
                    <a:lnTo>
                      <a:pt x="0" y="10000"/>
                    </a:lnTo>
                    <a:close/>
                  </a:path>
                </a:pathLst>
              </a:custGeom>
              <a:solidFill>
                <a:srgbClr val="26829B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4300" tIns="604868" rIns="117327" bIns="604867" numCol="1" spcCol="1270" anchor="t" anchorCtr="0">
                <a:noAutofit/>
              </a:bodyPr>
              <a:lstStyle/>
              <a:p>
                <a:pPr marL="114300" lvl="1" indent="-114300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endParaRPr lang="zh-CN" altLang="en-US" sz="14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" name="任意多边形 8"/>
              <p:cNvSpPr/>
              <p:nvPr/>
            </p:nvSpPr>
            <p:spPr>
              <a:xfrm>
                <a:off x="6887312" y="1836241"/>
                <a:ext cx="1501111" cy="2376265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0" y="10000"/>
                    </a:moveTo>
                    <a:lnTo>
                      <a:pt x="0" y="0"/>
                    </a:lnTo>
                    <a:lnTo>
                      <a:pt x="10000" y="2000"/>
                    </a:lnTo>
                    <a:lnTo>
                      <a:pt x="10000" y="8000"/>
                    </a:lnTo>
                    <a:lnTo>
                      <a:pt x="0" y="10000"/>
                    </a:lnTo>
                    <a:close/>
                  </a:path>
                </a:pathLst>
              </a:custGeom>
              <a:solidFill>
                <a:srgbClr val="26829B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4300" tIns="604868" rIns="117327" bIns="604867" numCol="1" spcCol="1270" anchor="t" anchorCtr="0">
                <a:noAutofit/>
              </a:bodyPr>
              <a:lstStyle/>
              <a:p>
                <a:pPr defTabSz="10223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itchFamily="34" charset="-122"/>
                    <a:ea typeface="微软雅黑" pitchFamily="34" charset="-122"/>
                  </a:rPr>
                  <a:t>阶段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itchFamily="34" charset="-122"/>
                    <a:ea typeface="微软雅黑" pitchFamily="34" charset="-122"/>
                  </a:rPr>
                  <a:t>5</a:t>
                </a:r>
                <a:endPara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endParaRPr>
              </a:p>
              <a:p>
                <a:pPr marL="114300" lvl="1" indent="-114300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zh-CN" altLang="zh-CN" sz="1400" dirty="0">
                    <a:latin typeface="微软雅黑" pitchFamily="34" charset="-122"/>
                    <a:ea typeface="微软雅黑" pitchFamily="34" charset="-122"/>
                  </a:rPr>
                  <a:t>推出新奇概念</a:t>
                </a:r>
                <a:endParaRPr lang="zh-CN" altLang="en-US" sz="1400" dirty="0">
                  <a:latin typeface="微软雅黑" pitchFamily="34" charset="-122"/>
                  <a:ea typeface="微软雅黑" pitchFamily="34" charset="-122"/>
                </a:endParaRPr>
              </a:p>
              <a:p>
                <a:pPr marL="114300" lvl="1" indent="-114300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zh-CN" altLang="zh-CN" sz="1400" dirty="0">
                    <a:latin typeface="微软雅黑" pitchFamily="34" charset="-122"/>
                    <a:ea typeface="微软雅黑" pitchFamily="34" charset="-122"/>
                  </a:rPr>
                  <a:t>从事边缘创新</a:t>
                </a:r>
              </a:p>
              <a:p>
                <a:pPr marL="114300" lvl="1" indent="-114300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endParaRPr lang="zh-CN" altLang="en-US" sz="14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5343963" y="2746404"/>
              <a:ext cx="1756638" cy="10849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zh-CN" b="1" dirty="0">
                  <a:solidFill>
                    <a:schemeClr val="l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阶段</a:t>
              </a:r>
              <a:r>
                <a:rPr lang="en-US" altLang="zh-CN" b="1" dirty="0">
                  <a:solidFill>
                    <a:schemeClr val="l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4</a:t>
              </a:r>
              <a:endParaRPr lang="zh-CN" altLang="en-US" b="1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zh-CN" altLang="zh-CN" sz="1400" dirty="0">
                  <a:solidFill>
                    <a:schemeClr val="lt1"/>
                  </a:solidFill>
                  <a:latin typeface="微软雅黑" pitchFamily="34" charset="-122"/>
                  <a:ea typeface="微软雅黑" pitchFamily="34" charset="-122"/>
                </a:rPr>
                <a:t>接受高风险挑战</a:t>
              </a:r>
              <a:endParaRPr lang="zh-CN" altLang="en-US" sz="1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zh-CN" altLang="zh-CN" sz="1400" dirty="0">
                  <a:solidFill>
                    <a:schemeClr val="lt1"/>
                  </a:solidFill>
                  <a:latin typeface="微软雅黑" pitchFamily="34" charset="-122"/>
                  <a:ea typeface="微软雅黑" pitchFamily="34" charset="-122"/>
                </a:rPr>
                <a:t>翻新经典系列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zh-CN" altLang="en-US" sz="14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3791755" y="-107975"/>
            <a:ext cx="449353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600" dirty="0">
                <a:solidFill>
                  <a:srgbClr val="26829B"/>
                </a:solidFill>
                <a:latin typeface="汉仪菱心体简" pitchFamily="49" charset="-122"/>
                <a:ea typeface="汉仪菱心体简" pitchFamily="49" charset="-122"/>
              </a:rPr>
              <a:t>乐高重生</a:t>
            </a:r>
            <a:r>
              <a:rPr lang="zh-CN" altLang="en-US" sz="3600" dirty="0">
                <a:solidFill>
                  <a:srgbClr val="26829B"/>
                </a:solidFill>
                <a:latin typeface="汉仪菱心体简" pitchFamily="49" charset="-122"/>
                <a:ea typeface="汉仪菱心体简" pitchFamily="49" charset="-122"/>
              </a:rPr>
              <a:t>的</a:t>
            </a:r>
            <a:r>
              <a:rPr lang="en-US" altLang="zh-CN" sz="9600" dirty="0">
                <a:solidFill>
                  <a:srgbClr val="B9758C"/>
                </a:solidFill>
                <a:latin typeface="MS PGothic" pitchFamily="34" charset="-128"/>
                <a:ea typeface="MS PGothic" pitchFamily="34" charset="-128"/>
              </a:rPr>
              <a:t>5</a:t>
            </a:r>
            <a:r>
              <a:rPr lang="zh-CN" altLang="en-US" sz="3600" dirty="0">
                <a:solidFill>
                  <a:srgbClr val="26829B"/>
                </a:solidFill>
                <a:latin typeface="汉仪菱心体简" pitchFamily="49" charset="-122"/>
                <a:ea typeface="汉仪菱心体简" pitchFamily="49" charset="-122"/>
              </a:rPr>
              <a:t>个阶段</a:t>
            </a:r>
            <a:endParaRPr lang="zh-CN" altLang="zh-CN" sz="3600" dirty="0">
              <a:solidFill>
                <a:srgbClr val="26829B"/>
              </a:solidFill>
              <a:latin typeface="汉仪菱心体简" pitchFamily="49" charset="-122"/>
              <a:ea typeface="汉仪菱心体简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306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27784" y="-251991"/>
            <a:ext cx="562573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600" dirty="0" smtClean="0">
                <a:solidFill>
                  <a:srgbClr val="26829B"/>
                </a:solidFill>
                <a:latin typeface="汉仪菱心体简" pitchFamily="49" charset="-122"/>
                <a:ea typeface="汉仪菱心体简" pitchFamily="49" charset="-122"/>
              </a:rPr>
              <a:t>重新启动的</a:t>
            </a:r>
            <a:r>
              <a:rPr lang="en-US" altLang="zh-CN" sz="9600" dirty="0" smtClean="0">
                <a:solidFill>
                  <a:srgbClr val="B9758C"/>
                </a:solidFill>
                <a:latin typeface="MS PGothic" pitchFamily="34" charset="-128"/>
                <a:ea typeface="MS PGothic" pitchFamily="34" charset="-128"/>
              </a:rPr>
              <a:t>7</a:t>
            </a:r>
            <a:r>
              <a:rPr lang="zh-CN" altLang="en-US" sz="3600" dirty="0" smtClean="0">
                <a:solidFill>
                  <a:srgbClr val="26829B"/>
                </a:solidFill>
                <a:latin typeface="汉仪菱心体简" pitchFamily="49" charset="-122"/>
                <a:ea typeface="汉仪菱心体简" pitchFamily="49" charset="-122"/>
              </a:rPr>
              <a:t>项</a:t>
            </a:r>
            <a:r>
              <a:rPr lang="zh-CN" altLang="zh-CN" sz="3600" dirty="0" smtClean="0">
                <a:solidFill>
                  <a:srgbClr val="26829B"/>
                </a:solidFill>
                <a:latin typeface="汉仪菱心体简" pitchFamily="49" charset="-122"/>
                <a:ea typeface="汉仪菱心体简" pitchFamily="49" charset="-122"/>
              </a:rPr>
              <a:t>创新实践 </a:t>
            </a:r>
            <a:r>
              <a:rPr lang="en-US" altLang="zh-CN" sz="3600" dirty="0" smtClean="0">
                <a:solidFill>
                  <a:srgbClr val="26829B"/>
                </a:solidFill>
                <a:latin typeface="汉仪菱心体简" pitchFamily="49" charset="-122"/>
                <a:ea typeface="汉仪菱心体简" pitchFamily="49" charset="-122"/>
              </a:rPr>
              <a:t>  </a:t>
            </a:r>
            <a:endParaRPr lang="zh-CN" altLang="zh-CN" sz="3600" dirty="0">
              <a:solidFill>
                <a:srgbClr val="26829B"/>
              </a:solidFill>
              <a:latin typeface="汉仪菱心体简" pitchFamily="49" charset="-122"/>
              <a:ea typeface="汉仪菱心体简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63917"/>
              </p:ext>
            </p:extLst>
          </p:nvPr>
        </p:nvGraphicFramePr>
        <p:xfrm>
          <a:off x="1092504" y="1581164"/>
          <a:ext cx="6912768" cy="3691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2"/>
                <a:gridCol w="2416479"/>
                <a:gridCol w="1327937"/>
                <a:gridCol w="2880320"/>
              </a:tblGrid>
              <a:tr h="284439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T="36005" marB="36005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2800" b="0" kern="1200" dirty="0" smtClean="0">
                          <a:solidFill>
                            <a:schemeClr val="bg1"/>
                          </a:solidFill>
                          <a:latin typeface="汉仪菱心体简" pitchFamily="49" charset="-122"/>
                          <a:ea typeface="汉仪菱心体简" pitchFamily="49" charset="-122"/>
                          <a:cs typeface="+mn-cs"/>
                        </a:rPr>
                        <a:t>创新法则</a:t>
                      </a:r>
                      <a:endParaRPr lang="zh-CN" altLang="en-US" sz="2800" b="0" kern="1200" dirty="0">
                        <a:solidFill>
                          <a:schemeClr val="bg1"/>
                        </a:solidFill>
                        <a:latin typeface="汉仪菱心体简" pitchFamily="49" charset="-122"/>
                        <a:ea typeface="汉仪菱心体简" pitchFamily="49" charset="-122"/>
                        <a:cs typeface="+mn-cs"/>
                      </a:endParaRPr>
                    </a:p>
                  </a:txBody>
                  <a:tcPr marT="36005" marB="36005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29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T="36005" marB="36005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zh-CN" altLang="en-US" sz="2800" b="0" kern="1200" dirty="0" smtClean="0">
                          <a:solidFill>
                            <a:schemeClr val="bg1"/>
                          </a:solidFill>
                          <a:latin typeface="汉仪菱心体简" pitchFamily="49" charset="-122"/>
                          <a:ea typeface="汉仪菱心体简" pitchFamily="49" charset="-122"/>
                          <a:cs typeface="+mn-cs"/>
                        </a:rPr>
                        <a:t>乐高实践</a:t>
                      </a:r>
                      <a:endParaRPr lang="zh-CN" altLang="en-US" sz="2800" b="0" kern="1200" dirty="0">
                        <a:solidFill>
                          <a:schemeClr val="bg1"/>
                        </a:solidFill>
                        <a:latin typeface="汉仪菱心体简" pitchFamily="49" charset="-122"/>
                        <a:ea typeface="汉仪菱心体简" pitchFamily="49" charset="-122"/>
                        <a:cs typeface="+mn-cs"/>
                      </a:endParaRPr>
                    </a:p>
                  </a:txBody>
                  <a:tcPr marT="36005" marB="36005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29B"/>
                    </a:solidFill>
                  </a:tcPr>
                </a:tc>
              </a:tr>
              <a:tr h="456057">
                <a:tc>
                  <a:txBody>
                    <a:bodyPr/>
                    <a:lstStyle/>
                    <a:p>
                      <a:pPr algn="ctr"/>
                      <a:endParaRPr lang="zh-CN" altLang="en-US" sz="2500" b="1" dirty="0"/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zh-CN" sz="1900" b="0" dirty="0" smtClean="0">
                          <a:solidFill>
                            <a:srgbClr val="26829B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创建创新型企业文化</a:t>
                      </a:r>
                      <a:endParaRPr lang="zh-CN" altLang="en-US" sz="1900" b="0" dirty="0">
                        <a:solidFill>
                          <a:srgbClr val="26829B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900" b="1" kern="1200" dirty="0">
                        <a:solidFill>
                          <a:srgbClr val="26829B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900" b="0" kern="1200" dirty="0" smtClean="0">
                          <a:solidFill>
                            <a:srgbClr val="26829B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回归企业核心价值观 </a:t>
                      </a:r>
                      <a:endParaRPr lang="zh-CN" altLang="en-US" sz="1900" b="0" kern="1200" dirty="0">
                        <a:solidFill>
                          <a:srgbClr val="26829B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6057">
                <a:tc>
                  <a:txBody>
                    <a:bodyPr/>
                    <a:lstStyle/>
                    <a:p>
                      <a:pPr algn="ctr"/>
                      <a:endParaRPr lang="zh-CN" altLang="en-US" sz="2500" b="1" dirty="0"/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900" b="0" kern="1200" dirty="0" smtClean="0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以客户为中心</a:t>
                      </a:r>
                      <a:endParaRPr lang="zh-CN" altLang="en-US" sz="1900" b="0" kern="1200" dirty="0">
                        <a:solidFill>
                          <a:schemeClr val="bg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2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900" b="1" kern="1200" dirty="0">
                        <a:solidFill>
                          <a:schemeClr val="dk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900" b="0" kern="1200" dirty="0" smtClean="0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抓住儿童和成年粉丝的心</a:t>
                      </a:r>
                      <a:endParaRPr lang="zh-CN" altLang="en-US" sz="1900" b="0" kern="1200" dirty="0">
                        <a:solidFill>
                          <a:schemeClr val="bg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29B"/>
                    </a:solidFill>
                  </a:tcPr>
                </a:tc>
              </a:tr>
              <a:tr h="456057">
                <a:tc>
                  <a:txBody>
                    <a:bodyPr/>
                    <a:lstStyle/>
                    <a:p>
                      <a:pPr algn="ctr"/>
                      <a:endParaRPr lang="zh-CN" altLang="en-US" sz="2500" b="1" dirty="0"/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900" b="0" kern="1200" dirty="0" smtClean="0">
                          <a:solidFill>
                            <a:srgbClr val="26829B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探索全方位创新</a:t>
                      </a:r>
                      <a:endParaRPr lang="zh-CN" altLang="en-US" sz="1900" b="0" kern="1200" dirty="0">
                        <a:solidFill>
                          <a:srgbClr val="26829B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900" b="1" kern="1200" dirty="0">
                        <a:solidFill>
                          <a:schemeClr val="dk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900" b="0" kern="1200" dirty="0" smtClean="0">
                          <a:solidFill>
                            <a:srgbClr val="26829B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生化战士系列创造奇迹</a:t>
                      </a:r>
                      <a:endParaRPr lang="zh-CN" altLang="en-US" sz="1900" b="0" kern="1200" dirty="0">
                        <a:solidFill>
                          <a:srgbClr val="26829B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6057">
                <a:tc>
                  <a:txBody>
                    <a:bodyPr/>
                    <a:lstStyle/>
                    <a:p>
                      <a:pPr algn="ctr"/>
                      <a:endParaRPr lang="zh-CN" altLang="en-US" sz="2500" b="1" dirty="0"/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900" b="0" kern="1200" dirty="0" smtClean="0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培养开放式创新</a:t>
                      </a:r>
                      <a:endParaRPr lang="zh-CN" altLang="en-US" sz="1900" b="0" kern="1200" dirty="0">
                        <a:solidFill>
                          <a:schemeClr val="bg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2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900" b="0" kern="1200" dirty="0">
                        <a:solidFill>
                          <a:schemeClr val="bg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900" b="0" kern="1200" dirty="0" smtClean="0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头脑风暴和小团体智慧</a:t>
                      </a:r>
                      <a:endParaRPr lang="zh-CN" altLang="en-US" sz="1900" b="0" kern="1200" dirty="0">
                        <a:solidFill>
                          <a:schemeClr val="bg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29B"/>
                    </a:solidFill>
                  </a:tcPr>
                </a:tc>
              </a:tr>
              <a:tr h="456057">
                <a:tc>
                  <a:txBody>
                    <a:bodyPr/>
                    <a:lstStyle/>
                    <a:p>
                      <a:pPr algn="ctr"/>
                      <a:endParaRPr lang="zh-CN" altLang="en-US" sz="2500" b="1" dirty="0"/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900" b="0" kern="1200" dirty="0" smtClean="0">
                          <a:solidFill>
                            <a:srgbClr val="26829B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实践</a:t>
                      </a:r>
                      <a:r>
                        <a:rPr lang="zh-CN" altLang="zh-CN" sz="1900" b="0" kern="1200" dirty="0" smtClean="0">
                          <a:solidFill>
                            <a:srgbClr val="26829B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破坏性创新</a:t>
                      </a:r>
                      <a:endParaRPr lang="zh-CN" altLang="en-US" sz="1900" b="0" kern="1200" dirty="0">
                        <a:solidFill>
                          <a:srgbClr val="26829B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900" b="1" kern="1200" dirty="0">
                        <a:solidFill>
                          <a:schemeClr val="dk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900" b="0" kern="1200" dirty="0" smtClean="0">
                          <a:solidFill>
                            <a:srgbClr val="26829B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乐高宇宙网游</a:t>
                      </a:r>
                      <a:endParaRPr lang="zh-CN" altLang="en-US" sz="1900" b="0" kern="1200" dirty="0">
                        <a:solidFill>
                          <a:srgbClr val="26829B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6057">
                <a:tc>
                  <a:txBody>
                    <a:bodyPr/>
                    <a:lstStyle/>
                    <a:p>
                      <a:pPr algn="ctr"/>
                      <a:endParaRPr lang="zh-CN" altLang="en-US" sz="2500" b="1" dirty="0"/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900" b="0" kern="1200" dirty="0" smtClean="0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驶向蓝海市场</a:t>
                      </a:r>
                      <a:endParaRPr lang="zh-CN" altLang="en-US" sz="1900" b="0" kern="1200" dirty="0">
                        <a:solidFill>
                          <a:schemeClr val="bg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29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900" b="1" kern="1200" dirty="0">
                        <a:solidFill>
                          <a:schemeClr val="dk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900" b="0" kern="1200" dirty="0" smtClean="0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发明乐高游戏</a:t>
                      </a:r>
                      <a:endParaRPr lang="zh-CN" altLang="en-US" sz="1900" b="0" kern="1200" dirty="0">
                        <a:solidFill>
                          <a:schemeClr val="bg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29B"/>
                    </a:solidFill>
                  </a:tcPr>
                </a:tc>
              </a:tr>
              <a:tr h="456057">
                <a:tc>
                  <a:txBody>
                    <a:bodyPr/>
                    <a:lstStyle/>
                    <a:p>
                      <a:pPr algn="ctr"/>
                      <a:endParaRPr lang="zh-CN" altLang="en-US" sz="2500" b="1" dirty="0"/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zh-CN" altLang="zh-CN" sz="1900" b="0" kern="1200" dirty="0" smtClean="0">
                          <a:solidFill>
                            <a:srgbClr val="26829B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吸纳创新人才</a:t>
                      </a:r>
                      <a:endParaRPr lang="zh-CN" altLang="en-US" sz="1900" b="0" kern="1200" dirty="0">
                        <a:solidFill>
                          <a:srgbClr val="26829B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900" b="1" kern="1200" dirty="0">
                        <a:solidFill>
                          <a:schemeClr val="dk1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900" b="0" kern="1200" dirty="0" smtClean="0">
                          <a:solidFill>
                            <a:srgbClr val="26829B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引导和管理创意能量</a:t>
                      </a:r>
                      <a:endParaRPr lang="zh-CN" altLang="en-US" sz="1900" b="0" kern="1200" dirty="0">
                        <a:solidFill>
                          <a:srgbClr val="26829B"/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T="36005" marB="36005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4269465" y="2033151"/>
            <a:ext cx="534463" cy="3041651"/>
            <a:chOff x="4257274" y="1441383"/>
            <a:chExt cx="534463" cy="3041651"/>
          </a:xfrm>
        </p:grpSpPr>
        <p:sp>
          <p:nvSpPr>
            <p:cNvPr id="5" name="虚尾箭头 4"/>
            <p:cNvSpPr/>
            <p:nvPr/>
          </p:nvSpPr>
          <p:spPr>
            <a:xfrm>
              <a:off x="4281657" y="1441383"/>
              <a:ext cx="510080" cy="254492"/>
            </a:xfrm>
            <a:prstGeom prst="stripedRightArrow">
              <a:avLst/>
            </a:prstGeom>
            <a:solidFill>
              <a:srgbClr val="95BF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虚尾箭头 5"/>
            <p:cNvSpPr/>
            <p:nvPr/>
          </p:nvSpPr>
          <p:spPr>
            <a:xfrm>
              <a:off x="4257274" y="1905909"/>
              <a:ext cx="510080" cy="254492"/>
            </a:xfrm>
            <a:prstGeom prst="stripedRightArrow">
              <a:avLst/>
            </a:prstGeom>
            <a:solidFill>
              <a:srgbClr val="95BF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虚尾箭头 6"/>
            <p:cNvSpPr/>
            <p:nvPr/>
          </p:nvSpPr>
          <p:spPr>
            <a:xfrm>
              <a:off x="4257274" y="2370435"/>
              <a:ext cx="510080" cy="254492"/>
            </a:xfrm>
            <a:prstGeom prst="stripedRightArrow">
              <a:avLst/>
            </a:prstGeom>
            <a:solidFill>
              <a:srgbClr val="95BF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虚尾箭头 7"/>
            <p:cNvSpPr/>
            <p:nvPr/>
          </p:nvSpPr>
          <p:spPr>
            <a:xfrm>
              <a:off x="4257274" y="2834961"/>
              <a:ext cx="510080" cy="254492"/>
            </a:xfrm>
            <a:prstGeom prst="stripedRightArrow">
              <a:avLst/>
            </a:prstGeom>
            <a:solidFill>
              <a:srgbClr val="95BF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虚尾箭头 8"/>
            <p:cNvSpPr/>
            <p:nvPr/>
          </p:nvSpPr>
          <p:spPr>
            <a:xfrm>
              <a:off x="4257274" y="3299487"/>
              <a:ext cx="510080" cy="254492"/>
            </a:xfrm>
            <a:prstGeom prst="stripedRightArrow">
              <a:avLst/>
            </a:prstGeom>
            <a:solidFill>
              <a:srgbClr val="95BF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虚尾箭头 9"/>
            <p:cNvSpPr/>
            <p:nvPr/>
          </p:nvSpPr>
          <p:spPr>
            <a:xfrm>
              <a:off x="4257274" y="3764013"/>
              <a:ext cx="510080" cy="254492"/>
            </a:xfrm>
            <a:prstGeom prst="stripedRightArrow">
              <a:avLst/>
            </a:prstGeom>
            <a:solidFill>
              <a:srgbClr val="95BF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虚尾箭头 10"/>
            <p:cNvSpPr/>
            <p:nvPr/>
          </p:nvSpPr>
          <p:spPr>
            <a:xfrm>
              <a:off x="4260071" y="4228542"/>
              <a:ext cx="510080" cy="254492"/>
            </a:xfrm>
            <a:prstGeom prst="stripedRightArrow">
              <a:avLst/>
            </a:prstGeom>
            <a:solidFill>
              <a:srgbClr val="95BF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9257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6156" y="1980257"/>
            <a:ext cx="785688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8000"/>
              </a:lnSpc>
            </a:pPr>
            <a:r>
              <a:rPr lang="en-US" altLang="zh-CN" sz="8000" b="1" dirty="0" smtClean="0">
                <a:pattFill prst="trellis">
                  <a:fgClr>
                    <a:srgbClr val="26829B"/>
                  </a:fgClr>
                  <a:bgClr>
                    <a:schemeClr val="bg1"/>
                  </a:bgClr>
                </a:patt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itchFamily="82" charset="0"/>
                <a:ea typeface="汉仪菱心体简" pitchFamily="49" charset="-122"/>
              </a:rPr>
              <a:t>Brick</a:t>
            </a:r>
          </a:p>
          <a:p>
            <a:pPr>
              <a:lnSpc>
                <a:spcPts val="8000"/>
              </a:lnSpc>
            </a:pPr>
            <a:r>
              <a:rPr lang="en-US" altLang="zh-CN" sz="8000" b="1" dirty="0">
                <a:pattFill prst="trellis">
                  <a:fgClr>
                    <a:srgbClr val="26829B"/>
                  </a:fgClr>
                  <a:bgClr>
                    <a:schemeClr val="bg1"/>
                  </a:bgClr>
                </a:patt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itchFamily="82" charset="0"/>
                <a:ea typeface="汉仪菱心体简" pitchFamily="49" charset="-122"/>
              </a:rPr>
              <a:t> </a:t>
            </a:r>
            <a:r>
              <a:rPr lang="en-US" altLang="zh-CN" sz="8000" b="1" dirty="0" smtClean="0">
                <a:pattFill prst="trellis">
                  <a:fgClr>
                    <a:srgbClr val="26829B"/>
                  </a:fgClr>
                  <a:bgClr>
                    <a:schemeClr val="bg1"/>
                  </a:bgClr>
                </a:patt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itchFamily="82" charset="0"/>
                <a:ea typeface="汉仪菱心体简" pitchFamily="49" charset="-122"/>
              </a:rPr>
              <a:t>           </a:t>
            </a:r>
            <a:r>
              <a:rPr lang="en-US" altLang="zh-CN" sz="8000" b="1" dirty="0" smtClean="0">
                <a:solidFill>
                  <a:srgbClr val="B975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itchFamily="82" charset="0"/>
                <a:ea typeface="汉仪菱心体简" pitchFamily="49" charset="-122"/>
              </a:rPr>
              <a:t>By  </a:t>
            </a:r>
          </a:p>
          <a:p>
            <a:pPr>
              <a:lnSpc>
                <a:spcPts val="8000"/>
              </a:lnSpc>
            </a:pPr>
            <a:r>
              <a:rPr lang="en-US" altLang="zh-CN" sz="8000" b="1" dirty="0" smtClean="0">
                <a:pattFill prst="trellis">
                  <a:fgClr>
                    <a:srgbClr val="26829B"/>
                  </a:fgClr>
                  <a:bgClr>
                    <a:schemeClr val="bg1"/>
                  </a:bgClr>
                </a:patt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itchFamily="82" charset="0"/>
                <a:ea typeface="汉仪菱心体简" pitchFamily="49" charset="-122"/>
              </a:rPr>
              <a:t>                  Brick</a:t>
            </a:r>
            <a:endParaRPr lang="zh-CN" altLang="en-US" sz="8000" b="1" dirty="0">
              <a:pattFill prst="trellis">
                <a:fgClr>
                  <a:srgbClr val="26829B"/>
                </a:fgClr>
                <a:bgClr>
                  <a:schemeClr val="bg1"/>
                </a:bgClr>
              </a:patt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oadway" pitchFamily="82" charset="0"/>
              <a:ea typeface="汉仪菱心体简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00227" y="1139792"/>
            <a:ext cx="51076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spc="300" dirty="0" smtClean="0">
                <a:solidFill>
                  <a:srgbClr val="2682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苏新诗柳楷繁体" pitchFamily="2" charset="-122"/>
                <a:ea typeface="方正苏新诗柳楷繁体" pitchFamily="2" charset="-122"/>
              </a:rPr>
              <a:t>别忘了，创新</a:t>
            </a:r>
            <a:r>
              <a:rPr lang="zh-CN" altLang="en-US" sz="4000" spc="300" dirty="0">
                <a:solidFill>
                  <a:srgbClr val="2682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苏新诗柳楷繁体" pitchFamily="2" charset="-122"/>
                <a:ea typeface="方正苏新诗柳楷繁体" pitchFamily="2" charset="-122"/>
              </a:rPr>
              <a:t>也需要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292080" y="331717"/>
            <a:ext cx="2671154" cy="595555"/>
          </a:xfrm>
          <a:prstGeom prst="roundRect">
            <a:avLst/>
          </a:prstGeom>
          <a:solidFill>
            <a:srgbClr val="D8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13"/>
          <p:cNvSpPr/>
          <p:nvPr/>
        </p:nvSpPr>
        <p:spPr>
          <a:xfrm rot="16200000">
            <a:off x="7189130" y="153168"/>
            <a:ext cx="595555" cy="952654"/>
          </a:xfrm>
          <a:custGeom>
            <a:avLst/>
            <a:gdLst/>
            <a:ahLst/>
            <a:cxnLst/>
            <a:rect l="l" t="t" r="r" b="b"/>
            <a:pathLst>
              <a:path w="595555" h="952654">
                <a:moveTo>
                  <a:pt x="595555" y="187819"/>
                </a:moveTo>
                <a:lnTo>
                  <a:pt x="595555" y="853393"/>
                </a:lnTo>
                <a:cubicBezTo>
                  <a:pt x="595555" y="908213"/>
                  <a:pt x="551114" y="952654"/>
                  <a:pt x="496294" y="952654"/>
                </a:cubicBezTo>
                <a:lnTo>
                  <a:pt x="99261" y="952654"/>
                </a:lnTo>
                <a:cubicBezTo>
                  <a:pt x="44441" y="952654"/>
                  <a:pt x="0" y="908213"/>
                  <a:pt x="0" y="853393"/>
                </a:cubicBezTo>
                <a:lnTo>
                  <a:pt x="0" y="187819"/>
                </a:lnTo>
                <a:lnTo>
                  <a:pt x="3751" y="174576"/>
                </a:lnTo>
                <a:lnTo>
                  <a:pt x="163751" y="174576"/>
                </a:lnTo>
                <a:lnTo>
                  <a:pt x="277111" y="0"/>
                </a:lnTo>
                <a:lnTo>
                  <a:pt x="390471" y="174576"/>
                </a:lnTo>
                <a:lnTo>
                  <a:pt x="590662" y="174576"/>
                </a:lnTo>
                <a:cubicBezTo>
                  <a:pt x="592307" y="178748"/>
                  <a:pt x="593889" y="183174"/>
                  <a:pt x="595555" y="187819"/>
                </a:cubicBezTo>
                <a:close/>
              </a:path>
            </a:pathLst>
          </a:custGeom>
          <a:solidFill>
            <a:srgbClr val="2682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436096" y="331592"/>
            <a:ext cx="1874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方正粗活意简体" pitchFamily="65" charset="-122"/>
                <a:ea typeface="方正粗活意简体" pitchFamily="65" charset="-122"/>
              </a:rPr>
              <a:t>结束语</a:t>
            </a:r>
            <a:endParaRPr lang="zh-CN" altLang="en-US" sz="3600" b="1" dirty="0">
              <a:solidFill>
                <a:schemeClr val="bg1"/>
              </a:solidFill>
              <a:latin typeface="方正粗活意简体" pitchFamily="65" charset="-122"/>
              <a:ea typeface="方正粗活意简体" pitchFamily="65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0682" y="275552"/>
            <a:ext cx="580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smtClean="0">
                <a:solidFill>
                  <a:schemeClr val="bg1"/>
                </a:solidFill>
                <a:latin typeface="Broadway" pitchFamily="82" charset="0"/>
              </a:rPr>
              <a:t>4</a:t>
            </a:r>
            <a:endParaRPr lang="zh-CN" altLang="en-US" sz="4000" b="1" dirty="0">
              <a:solidFill>
                <a:schemeClr val="bg1"/>
              </a:solidFill>
              <a:latin typeface="Broadway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644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12"/>
          <p:cNvSpPr/>
          <p:nvPr userDrawn="1"/>
        </p:nvSpPr>
        <p:spPr>
          <a:xfrm rot="10800000" flipH="1">
            <a:off x="11211" y="3621679"/>
            <a:ext cx="551198" cy="1778661"/>
          </a:xfrm>
          <a:custGeom>
            <a:avLst/>
            <a:gdLst>
              <a:gd name="connsiteX0" fmla="*/ 2081 w 572248"/>
              <a:gd name="connsiteY0" fmla="*/ 363425 h 1224136"/>
              <a:gd name="connsiteX1" fmla="*/ 501499 w 572248"/>
              <a:gd name="connsiteY1" fmla="*/ 0 h 1224136"/>
              <a:gd name="connsiteX2" fmla="*/ 516147 w 572248"/>
              <a:gd name="connsiteY2" fmla="*/ 14648 h 1224136"/>
              <a:gd name="connsiteX3" fmla="*/ 516147 w 572248"/>
              <a:gd name="connsiteY3" fmla="*/ 107204 h 1224136"/>
              <a:gd name="connsiteX4" fmla="*/ 554111 w 572248"/>
              <a:gd name="connsiteY4" fmla="*/ 107204 h 1224136"/>
              <a:gd name="connsiteX5" fmla="*/ 572248 w 572248"/>
              <a:gd name="connsiteY5" fmla="*/ 125341 h 1224136"/>
              <a:gd name="connsiteX6" fmla="*/ 572248 w 572248"/>
              <a:gd name="connsiteY6" fmla="*/ 197887 h 1224136"/>
              <a:gd name="connsiteX7" fmla="*/ 554111 w 572248"/>
              <a:gd name="connsiteY7" fmla="*/ 216024 h 1224136"/>
              <a:gd name="connsiteX8" fmla="*/ 516147 w 572248"/>
              <a:gd name="connsiteY8" fmla="*/ 216024 h 1224136"/>
              <a:gd name="connsiteX9" fmla="*/ 516147 w 572248"/>
              <a:gd name="connsiteY9" fmla="*/ 407507 h 1224136"/>
              <a:gd name="connsiteX10" fmla="*/ 554111 w 572248"/>
              <a:gd name="connsiteY10" fmla="*/ 407507 h 1224136"/>
              <a:gd name="connsiteX11" fmla="*/ 572248 w 572248"/>
              <a:gd name="connsiteY11" fmla="*/ 425644 h 1224136"/>
              <a:gd name="connsiteX12" fmla="*/ 572248 w 572248"/>
              <a:gd name="connsiteY12" fmla="*/ 498190 h 1224136"/>
              <a:gd name="connsiteX13" fmla="*/ 554111 w 572248"/>
              <a:gd name="connsiteY13" fmla="*/ 516327 h 1224136"/>
              <a:gd name="connsiteX14" fmla="*/ 516147 w 572248"/>
              <a:gd name="connsiteY14" fmla="*/ 516327 h 1224136"/>
              <a:gd name="connsiteX15" fmla="*/ 516147 w 572248"/>
              <a:gd name="connsiteY15" fmla="*/ 707810 h 1224136"/>
              <a:gd name="connsiteX16" fmla="*/ 546066 w 572248"/>
              <a:gd name="connsiteY16" fmla="*/ 707810 h 1224136"/>
              <a:gd name="connsiteX17" fmla="*/ 564203 w 572248"/>
              <a:gd name="connsiteY17" fmla="*/ 725947 h 1224136"/>
              <a:gd name="connsiteX18" fmla="*/ 564203 w 572248"/>
              <a:gd name="connsiteY18" fmla="*/ 798493 h 1224136"/>
              <a:gd name="connsiteX19" fmla="*/ 546066 w 572248"/>
              <a:gd name="connsiteY19" fmla="*/ 816630 h 1224136"/>
              <a:gd name="connsiteX20" fmla="*/ 516147 w 572248"/>
              <a:gd name="connsiteY20" fmla="*/ 816630 h 1224136"/>
              <a:gd name="connsiteX21" fmla="*/ 516147 w 572248"/>
              <a:gd name="connsiteY21" fmla="*/ 1008112 h 1224136"/>
              <a:gd name="connsiteX22" fmla="*/ 554111 w 572248"/>
              <a:gd name="connsiteY22" fmla="*/ 1008112 h 1224136"/>
              <a:gd name="connsiteX23" fmla="*/ 572248 w 572248"/>
              <a:gd name="connsiteY23" fmla="*/ 1026249 h 1224136"/>
              <a:gd name="connsiteX24" fmla="*/ 572248 w 572248"/>
              <a:gd name="connsiteY24" fmla="*/ 1098795 h 1224136"/>
              <a:gd name="connsiteX25" fmla="*/ 554111 w 572248"/>
              <a:gd name="connsiteY25" fmla="*/ 1116932 h 1224136"/>
              <a:gd name="connsiteX26" fmla="*/ 516147 w 572248"/>
              <a:gd name="connsiteY26" fmla="*/ 1116932 h 1224136"/>
              <a:gd name="connsiteX27" fmla="*/ 516147 w 572248"/>
              <a:gd name="connsiteY27" fmla="*/ 1209488 h 1224136"/>
              <a:gd name="connsiteX28" fmla="*/ 501499 w 572248"/>
              <a:gd name="connsiteY28" fmla="*/ 1224136 h 1224136"/>
              <a:gd name="connsiteX29" fmla="*/ 26739 w 572248"/>
              <a:gd name="connsiteY29" fmla="*/ 1224136 h 1224136"/>
              <a:gd name="connsiteX30" fmla="*/ 12091 w 572248"/>
              <a:gd name="connsiteY30" fmla="*/ 1209488 h 1224136"/>
              <a:gd name="connsiteX31" fmla="*/ 12091 w 572248"/>
              <a:gd name="connsiteY31" fmla="*/ 14648 h 1224136"/>
              <a:gd name="connsiteX32" fmla="*/ 2081 w 572248"/>
              <a:gd name="connsiteY32" fmla="*/ 363425 h 1224136"/>
              <a:gd name="connsiteX0" fmla="*/ 2081 w 572248"/>
              <a:gd name="connsiteY0" fmla="*/ 363425 h 1224136"/>
              <a:gd name="connsiteX1" fmla="*/ 501499 w 572248"/>
              <a:gd name="connsiteY1" fmla="*/ 0 h 1224136"/>
              <a:gd name="connsiteX2" fmla="*/ 516147 w 572248"/>
              <a:gd name="connsiteY2" fmla="*/ 378074 h 1224136"/>
              <a:gd name="connsiteX3" fmla="*/ 516147 w 572248"/>
              <a:gd name="connsiteY3" fmla="*/ 107204 h 1224136"/>
              <a:gd name="connsiteX4" fmla="*/ 554111 w 572248"/>
              <a:gd name="connsiteY4" fmla="*/ 107204 h 1224136"/>
              <a:gd name="connsiteX5" fmla="*/ 572248 w 572248"/>
              <a:gd name="connsiteY5" fmla="*/ 125341 h 1224136"/>
              <a:gd name="connsiteX6" fmla="*/ 572248 w 572248"/>
              <a:gd name="connsiteY6" fmla="*/ 197887 h 1224136"/>
              <a:gd name="connsiteX7" fmla="*/ 554111 w 572248"/>
              <a:gd name="connsiteY7" fmla="*/ 216024 h 1224136"/>
              <a:gd name="connsiteX8" fmla="*/ 516147 w 572248"/>
              <a:gd name="connsiteY8" fmla="*/ 216024 h 1224136"/>
              <a:gd name="connsiteX9" fmla="*/ 516147 w 572248"/>
              <a:gd name="connsiteY9" fmla="*/ 407507 h 1224136"/>
              <a:gd name="connsiteX10" fmla="*/ 554111 w 572248"/>
              <a:gd name="connsiteY10" fmla="*/ 407507 h 1224136"/>
              <a:gd name="connsiteX11" fmla="*/ 572248 w 572248"/>
              <a:gd name="connsiteY11" fmla="*/ 425644 h 1224136"/>
              <a:gd name="connsiteX12" fmla="*/ 572248 w 572248"/>
              <a:gd name="connsiteY12" fmla="*/ 498190 h 1224136"/>
              <a:gd name="connsiteX13" fmla="*/ 554111 w 572248"/>
              <a:gd name="connsiteY13" fmla="*/ 516327 h 1224136"/>
              <a:gd name="connsiteX14" fmla="*/ 516147 w 572248"/>
              <a:gd name="connsiteY14" fmla="*/ 516327 h 1224136"/>
              <a:gd name="connsiteX15" fmla="*/ 516147 w 572248"/>
              <a:gd name="connsiteY15" fmla="*/ 707810 h 1224136"/>
              <a:gd name="connsiteX16" fmla="*/ 546066 w 572248"/>
              <a:gd name="connsiteY16" fmla="*/ 707810 h 1224136"/>
              <a:gd name="connsiteX17" fmla="*/ 564203 w 572248"/>
              <a:gd name="connsiteY17" fmla="*/ 725947 h 1224136"/>
              <a:gd name="connsiteX18" fmla="*/ 564203 w 572248"/>
              <a:gd name="connsiteY18" fmla="*/ 798493 h 1224136"/>
              <a:gd name="connsiteX19" fmla="*/ 546066 w 572248"/>
              <a:gd name="connsiteY19" fmla="*/ 816630 h 1224136"/>
              <a:gd name="connsiteX20" fmla="*/ 516147 w 572248"/>
              <a:gd name="connsiteY20" fmla="*/ 816630 h 1224136"/>
              <a:gd name="connsiteX21" fmla="*/ 516147 w 572248"/>
              <a:gd name="connsiteY21" fmla="*/ 1008112 h 1224136"/>
              <a:gd name="connsiteX22" fmla="*/ 554111 w 572248"/>
              <a:gd name="connsiteY22" fmla="*/ 1008112 h 1224136"/>
              <a:gd name="connsiteX23" fmla="*/ 572248 w 572248"/>
              <a:gd name="connsiteY23" fmla="*/ 1026249 h 1224136"/>
              <a:gd name="connsiteX24" fmla="*/ 572248 w 572248"/>
              <a:gd name="connsiteY24" fmla="*/ 1098795 h 1224136"/>
              <a:gd name="connsiteX25" fmla="*/ 554111 w 572248"/>
              <a:gd name="connsiteY25" fmla="*/ 1116932 h 1224136"/>
              <a:gd name="connsiteX26" fmla="*/ 516147 w 572248"/>
              <a:gd name="connsiteY26" fmla="*/ 1116932 h 1224136"/>
              <a:gd name="connsiteX27" fmla="*/ 516147 w 572248"/>
              <a:gd name="connsiteY27" fmla="*/ 1209488 h 1224136"/>
              <a:gd name="connsiteX28" fmla="*/ 501499 w 572248"/>
              <a:gd name="connsiteY28" fmla="*/ 1224136 h 1224136"/>
              <a:gd name="connsiteX29" fmla="*/ 26739 w 572248"/>
              <a:gd name="connsiteY29" fmla="*/ 1224136 h 1224136"/>
              <a:gd name="connsiteX30" fmla="*/ 12091 w 572248"/>
              <a:gd name="connsiteY30" fmla="*/ 1209488 h 1224136"/>
              <a:gd name="connsiteX31" fmla="*/ 12091 w 572248"/>
              <a:gd name="connsiteY31" fmla="*/ 14648 h 1224136"/>
              <a:gd name="connsiteX32" fmla="*/ 2081 w 572248"/>
              <a:gd name="connsiteY32" fmla="*/ 363425 h 1224136"/>
              <a:gd name="connsiteX0" fmla="*/ 2081 w 572248"/>
              <a:gd name="connsiteY0" fmla="*/ 348913 h 1209624"/>
              <a:gd name="connsiteX1" fmla="*/ 526157 w 572248"/>
              <a:gd name="connsiteY1" fmla="*/ 308533 h 1209624"/>
              <a:gd name="connsiteX2" fmla="*/ 516147 w 572248"/>
              <a:gd name="connsiteY2" fmla="*/ 363562 h 1209624"/>
              <a:gd name="connsiteX3" fmla="*/ 516147 w 572248"/>
              <a:gd name="connsiteY3" fmla="*/ 92692 h 1209624"/>
              <a:gd name="connsiteX4" fmla="*/ 554111 w 572248"/>
              <a:gd name="connsiteY4" fmla="*/ 92692 h 1209624"/>
              <a:gd name="connsiteX5" fmla="*/ 572248 w 572248"/>
              <a:gd name="connsiteY5" fmla="*/ 110829 h 1209624"/>
              <a:gd name="connsiteX6" fmla="*/ 572248 w 572248"/>
              <a:gd name="connsiteY6" fmla="*/ 183375 h 1209624"/>
              <a:gd name="connsiteX7" fmla="*/ 554111 w 572248"/>
              <a:gd name="connsiteY7" fmla="*/ 201512 h 1209624"/>
              <a:gd name="connsiteX8" fmla="*/ 516147 w 572248"/>
              <a:gd name="connsiteY8" fmla="*/ 201512 h 1209624"/>
              <a:gd name="connsiteX9" fmla="*/ 516147 w 572248"/>
              <a:gd name="connsiteY9" fmla="*/ 392995 h 1209624"/>
              <a:gd name="connsiteX10" fmla="*/ 554111 w 572248"/>
              <a:gd name="connsiteY10" fmla="*/ 392995 h 1209624"/>
              <a:gd name="connsiteX11" fmla="*/ 572248 w 572248"/>
              <a:gd name="connsiteY11" fmla="*/ 411132 h 1209624"/>
              <a:gd name="connsiteX12" fmla="*/ 572248 w 572248"/>
              <a:gd name="connsiteY12" fmla="*/ 483678 h 1209624"/>
              <a:gd name="connsiteX13" fmla="*/ 554111 w 572248"/>
              <a:gd name="connsiteY13" fmla="*/ 501815 h 1209624"/>
              <a:gd name="connsiteX14" fmla="*/ 516147 w 572248"/>
              <a:gd name="connsiteY14" fmla="*/ 501815 h 1209624"/>
              <a:gd name="connsiteX15" fmla="*/ 516147 w 572248"/>
              <a:gd name="connsiteY15" fmla="*/ 693298 h 1209624"/>
              <a:gd name="connsiteX16" fmla="*/ 546066 w 572248"/>
              <a:gd name="connsiteY16" fmla="*/ 693298 h 1209624"/>
              <a:gd name="connsiteX17" fmla="*/ 564203 w 572248"/>
              <a:gd name="connsiteY17" fmla="*/ 711435 h 1209624"/>
              <a:gd name="connsiteX18" fmla="*/ 564203 w 572248"/>
              <a:gd name="connsiteY18" fmla="*/ 783981 h 1209624"/>
              <a:gd name="connsiteX19" fmla="*/ 546066 w 572248"/>
              <a:gd name="connsiteY19" fmla="*/ 802118 h 1209624"/>
              <a:gd name="connsiteX20" fmla="*/ 516147 w 572248"/>
              <a:gd name="connsiteY20" fmla="*/ 802118 h 1209624"/>
              <a:gd name="connsiteX21" fmla="*/ 516147 w 572248"/>
              <a:gd name="connsiteY21" fmla="*/ 993600 h 1209624"/>
              <a:gd name="connsiteX22" fmla="*/ 554111 w 572248"/>
              <a:gd name="connsiteY22" fmla="*/ 993600 h 1209624"/>
              <a:gd name="connsiteX23" fmla="*/ 572248 w 572248"/>
              <a:gd name="connsiteY23" fmla="*/ 1011737 h 1209624"/>
              <a:gd name="connsiteX24" fmla="*/ 572248 w 572248"/>
              <a:gd name="connsiteY24" fmla="*/ 1084283 h 1209624"/>
              <a:gd name="connsiteX25" fmla="*/ 554111 w 572248"/>
              <a:gd name="connsiteY25" fmla="*/ 1102420 h 1209624"/>
              <a:gd name="connsiteX26" fmla="*/ 516147 w 572248"/>
              <a:gd name="connsiteY26" fmla="*/ 1102420 h 1209624"/>
              <a:gd name="connsiteX27" fmla="*/ 516147 w 572248"/>
              <a:gd name="connsiteY27" fmla="*/ 1194976 h 1209624"/>
              <a:gd name="connsiteX28" fmla="*/ 501499 w 572248"/>
              <a:gd name="connsiteY28" fmla="*/ 1209624 h 1209624"/>
              <a:gd name="connsiteX29" fmla="*/ 26739 w 572248"/>
              <a:gd name="connsiteY29" fmla="*/ 1209624 h 1209624"/>
              <a:gd name="connsiteX30" fmla="*/ 12091 w 572248"/>
              <a:gd name="connsiteY30" fmla="*/ 1194976 h 1209624"/>
              <a:gd name="connsiteX31" fmla="*/ 12091 w 572248"/>
              <a:gd name="connsiteY31" fmla="*/ 136 h 1209624"/>
              <a:gd name="connsiteX32" fmla="*/ 2081 w 572248"/>
              <a:gd name="connsiteY32" fmla="*/ 348913 h 1209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72248" h="1209624">
                <a:moveTo>
                  <a:pt x="2081" y="348913"/>
                </a:moveTo>
                <a:cubicBezTo>
                  <a:pt x="160334" y="348913"/>
                  <a:pt x="367904" y="308533"/>
                  <a:pt x="526157" y="308533"/>
                </a:cubicBezTo>
                <a:cubicBezTo>
                  <a:pt x="534247" y="308533"/>
                  <a:pt x="516147" y="355472"/>
                  <a:pt x="516147" y="363562"/>
                </a:cubicBezTo>
                <a:lnTo>
                  <a:pt x="516147" y="92692"/>
                </a:lnTo>
                <a:lnTo>
                  <a:pt x="554111" y="92692"/>
                </a:lnTo>
                <a:cubicBezTo>
                  <a:pt x="564128" y="92692"/>
                  <a:pt x="572248" y="100812"/>
                  <a:pt x="572248" y="110829"/>
                </a:cubicBezTo>
                <a:lnTo>
                  <a:pt x="572248" y="183375"/>
                </a:lnTo>
                <a:cubicBezTo>
                  <a:pt x="572248" y="193392"/>
                  <a:pt x="564128" y="201512"/>
                  <a:pt x="554111" y="201512"/>
                </a:cubicBezTo>
                <a:lnTo>
                  <a:pt x="516147" y="201512"/>
                </a:lnTo>
                <a:lnTo>
                  <a:pt x="516147" y="392995"/>
                </a:lnTo>
                <a:lnTo>
                  <a:pt x="554111" y="392995"/>
                </a:lnTo>
                <a:cubicBezTo>
                  <a:pt x="564128" y="392995"/>
                  <a:pt x="572248" y="401115"/>
                  <a:pt x="572248" y="411132"/>
                </a:cubicBezTo>
                <a:lnTo>
                  <a:pt x="572248" y="483678"/>
                </a:lnTo>
                <a:cubicBezTo>
                  <a:pt x="572248" y="493695"/>
                  <a:pt x="564128" y="501815"/>
                  <a:pt x="554111" y="501815"/>
                </a:cubicBezTo>
                <a:lnTo>
                  <a:pt x="516147" y="501815"/>
                </a:lnTo>
                <a:lnTo>
                  <a:pt x="516147" y="693298"/>
                </a:lnTo>
                <a:lnTo>
                  <a:pt x="546066" y="693298"/>
                </a:lnTo>
                <a:cubicBezTo>
                  <a:pt x="556083" y="693298"/>
                  <a:pt x="564203" y="701418"/>
                  <a:pt x="564203" y="711435"/>
                </a:cubicBezTo>
                <a:lnTo>
                  <a:pt x="564203" y="783981"/>
                </a:lnTo>
                <a:cubicBezTo>
                  <a:pt x="564203" y="793998"/>
                  <a:pt x="556083" y="802118"/>
                  <a:pt x="546066" y="802118"/>
                </a:cubicBezTo>
                <a:lnTo>
                  <a:pt x="516147" y="802118"/>
                </a:lnTo>
                <a:lnTo>
                  <a:pt x="516147" y="993600"/>
                </a:lnTo>
                <a:lnTo>
                  <a:pt x="554111" y="993600"/>
                </a:lnTo>
                <a:cubicBezTo>
                  <a:pt x="564128" y="993600"/>
                  <a:pt x="572248" y="1001720"/>
                  <a:pt x="572248" y="1011737"/>
                </a:cubicBezTo>
                <a:lnTo>
                  <a:pt x="572248" y="1084283"/>
                </a:lnTo>
                <a:cubicBezTo>
                  <a:pt x="572248" y="1094300"/>
                  <a:pt x="564128" y="1102420"/>
                  <a:pt x="554111" y="1102420"/>
                </a:cubicBezTo>
                <a:lnTo>
                  <a:pt x="516147" y="1102420"/>
                </a:lnTo>
                <a:lnTo>
                  <a:pt x="516147" y="1194976"/>
                </a:lnTo>
                <a:cubicBezTo>
                  <a:pt x="516147" y="1203066"/>
                  <a:pt x="509589" y="1209624"/>
                  <a:pt x="501499" y="1209624"/>
                </a:cubicBezTo>
                <a:lnTo>
                  <a:pt x="26739" y="1209624"/>
                </a:lnTo>
                <a:cubicBezTo>
                  <a:pt x="18649" y="1209624"/>
                  <a:pt x="12091" y="1203066"/>
                  <a:pt x="12091" y="1194976"/>
                </a:cubicBezTo>
                <a:lnTo>
                  <a:pt x="12091" y="136"/>
                </a:lnTo>
                <a:cubicBezTo>
                  <a:pt x="12091" y="-7954"/>
                  <a:pt x="-6009" y="348913"/>
                  <a:pt x="2081" y="348913"/>
                </a:cubicBezTo>
                <a:close/>
              </a:path>
            </a:pathLst>
          </a:custGeom>
          <a:solidFill>
            <a:srgbClr val="C3D8D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0" y="169"/>
            <a:ext cx="9144000" cy="5400170"/>
            <a:chOff x="0" y="169"/>
            <a:chExt cx="9144000" cy="5400170"/>
          </a:xfrm>
        </p:grpSpPr>
        <p:sp>
          <p:nvSpPr>
            <p:cNvPr id="7" name="圆角矩形 12"/>
            <p:cNvSpPr/>
            <p:nvPr userDrawn="1"/>
          </p:nvSpPr>
          <p:spPr>
            <a:xfrm flipH="1">
              <a:off x="8604448" y="169"/>
              <a:ext cx="539552" cy="1800000"/>
            </a:xfrm>
            <a:custGeom>
              <a:avLst/>
              <a:gdLst/>
              <a:ahLst/>
              <a:cxnLst/>
              <a:rect l="l" t="t" r="r" b="b"/>
              <a:pathLst>
                <a:path w="560157" h="1224136">
                  <a:moveTo>
                    <a:pt x="14648" y="0"/>
                  </a:moveTo>
                  <a:lnTo>
                    <a:pt x="489408" y="0"/>
                  </a:lnTo>
                  <a:cubicBezTo>
                    <a:pt x="497498" y="0"/>
                    <a:pt x="504056" y="6558"/>
                    <a:pt x="504056" y="14648"/>
                  </a:cubicBezTo>
                  <a:lnTo>
                    <a:pt x="504056" y="107204"/>
                  </a:lnTo>
                  <a:lnTo>
                    <a:pt x="542020" y="107204"/>
                  </a:lnTo>
                  <a:cubicBezTo>
                    <a:pt x="552037" y="107204"/>
                    <a:pt x="560157" y="115324"/>
                    <a:pt x="560157" y="125341"/>
                  </a:cubicBezTo>
                  <a:lnTo>
                    <a:pt x="560157" y="197887"/>
                  </a:lnTo>
                  <a:cubicBezTo>
                    <a:pt x="560157" y="207904"/>
                    <a:pt x="552037" y="216024"/>
                    <a:pt x="542020" y="216024"/>
                  </a:cubicBezTo>
                  <a:lnTo>
                    <a:pt x="504056" y="216024"/>
                  </a:lnTo>
                  <a:lnTo>
                    <a:pt x="504056" y="407507"/>
                  </a:lnTo>
                  <a:lnTo>
                    <a:pt x="542020" y="407507"/>
                  </a:lnTo>
                  <a:cubicBezTo>
                    <a:pt x="552037" y="407507"/>
                    <a:pt x="560157" y="415627"/>
                    <a:pt x="560157" y="425644"/>
                  </a:cubicBezTo>
                  <a:lnTo>
                    <a:pt x="560157" y="498190"/>
                  </a:lnTo>
                  <a:cubicBezTo>
                    <a:pt x="560157" y="508207"/>
                    <a:pt x="552037" y="516327"/>
                    <a:pt x="542020" y="516327"/>
                  </a:cubicBezTo>
                  <a:lnTo>
                    <a:pt x="504056" y="516327"/>
                  </a:lnTo>
                  <a:lnTo>
                    <a:pt x="504056" y="707810"/>
                  </a:lnTo>
                  <a:lnTo>
                    <a:pt x="533975" y="707810"/>
                  </a:lnTo>
                  <a:cubicBezTo>
                    <a:pt x="543992" y="707810"/>
                    <a:pt x="552112" y="715930"/>
                    <a:pt x="552112" y="725947"/>
                  </a:cubicBezTo>
                  <a:lnTo>
                    <a:pt x="552112" y="798493"/>
                  </a:lnTo>
                  <a:cubicBezTo>
                    <a:pt x="552112" y="808510"/>
                    <a:pt x="543992" y="816630"/>
                    <a:pt x="533975" y="816630"/>
                  </a:cubicBezTo>
                  <a:lnTo>
                    <a:pt x="504056" y="816630"/>
                  </a:lnTo>
                  <a:lnTo>
                    <a:pt x="504056" y="1008112"/>
                  </a:lnTo>
                  <a:lnTo>
                    <a:pt x="542020" y="1008112"/>
                  </a:lnTo>
                  <a:cubicBezTo>
                    <a:pt x="552037" y="1008112"/>
                    <a:pt x="560157" y="1016232"/>
                    <a:pt x="560157" y="1026249"/>
                  </a:cubicBezTo>
                  <a:lnTo>
                    <a:pt x="560157" y="1098795"/>
                  </a:lnTo>
                  <a:cubicBezTo>
                    <a:pt x="560157" y="1108812"/>
                    <a:pt x="552037" y="1116932"/>
                    <a:pt x="542020" y="1116932"/>
                  </a:cubicBezTo>
                  <a:lnTo>
                    <a:pt x="504056" y="1116932"/>
                  </a:lnTo>
                  <a:lnTo>
                    <a:pt x="504056" y="1209488"/>
                  </a:lnTo>
                  <a:cubicBezTo>
                    <a:pt x="504056" y="1217578"/>
                    <a:pt x="497498" y="1224136"/>
                    <a:pt x="489408" y="1224136"/>
                  </a:cubicBezTo>
                  <a:lnTo>
                    <a:pt x="14648" y="1224136"/>
                  </a:lnTo>
                  <a:cubicBezTo>
                    <a:pt x="6558" y="1224136"/>
                    <a:pt x="0" y="1217578"/>
                    <a:pt x="0" y="1209488"/>
                  </a:cubicBezTo>
                  <a:lnTo>
                    <a:pt x="0" y="14648"/>
                  </a:lnTo>
                  <a:cubicBezTo>
                    <a:pt x="0" y="6558"/>
                    <a:pt x="6558" y="0"/>
                    <a:pt x="14648" y="0"/>
                  </a:cubicBezTo>
                  <a:close/>
                </a:path>
              </a:pathLst>
            </a:custGeom>
            <a:solidFill>
              <a:srgbClr val="95BFBD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9" name="圆角矩形 12"/>
            <p:cNvSpPr/>
            <p:nvPr userDrawn="1"/>
          </p:nvSpPr>
          <p:spPr>
            <a:xfrm flipH="1">
              <a:off x="8604448" y="1800338"/>
              <a:ext cx="539552" cy="1800000"/>
            </a:xfrm>
            <a:custGeom>
              <a:avLst/>
              <a:gdLst/>
              <a:ahLst/>
              <a:cxnLst/>
              <a:rect l="l" t="t" r="r" b="b"/>
              <a:pathLst>
                <a:path w="560157" h="1224136">
                  <a:moveTo>
                    <a:pt x="14648" y="0"/>
                  </a:moveTo>
                  <a:lnTo>
                    <a:pt x="489408" y="0"/>
                  </a:lnTo>
                  <a:cubicBezTo>
                    <a:pt x="497498" y="0"/>
                    <a:pt x="504056" y="6558"/>
                    <a:pt x="504056" y="14648"/>
                  </a:cubicBezTo>
                  <a:lnTo>
                    <a:pt x="504056" y="107204"/>
                  </a:lnTo>
                  <a:lnTo>
                    <a:pt x="542020" y="107204"/>
                  </a:lnTo>
                  <a:cubicBezTo>
                    <a:pt x="552037" y="107204"/>
                    <a:pt x="560157" y="115324"/>
                    <a:pt x="560157" y="125341"/>
                  </a:cubicBezTo>
                  <a:lnTo>
                    <a:pt x="560157" y="197887"/>
                  </a:lnTo>
                  <a:cubicBezTo>
                    <a:pt x="560157" y="207904"/>
                    <a:pt x="552037" y="216024"/>
                    <a:pt x="542020" y="216024"/>
                  </a:cubicBezTo>
                  <a:lnTo>
                    <a:pt x="504056" y="216024"/>
                  </a:lnTo>
                  <a:lnTo>
                    <a:pt x="504056" y="407507"/>
                  </a:lnTo>
                  <a:lnTo>
                    <a:pt x="542020" y="407507"/>
                  </a:lnTo>
                  <a:cubicBezTo>
                    <a:pt x="552037" y="407507"/>
                    <a:pt x="560157" y="415627"/>
                    <a:pt x="560157" y="425644"/>
                  </a:cubicBezTo>
                  <a:lnTo>
                    <a:pt x="560157" y="498190"/>
                  </a:lnTo>
                  <a:cubicBezTo>
                    <a:pt x="560157" y="508207"/>
                    <a:pt x="552037" y="516327"/>
                    <a:pt x="542020" y="516327"/>
                  </a:cubicBezTo>
                  <a:lnTo>
                    <a:pt x="504056" y="516327"/>
                  </a:lnTo>
                  <a:lnTo>
                    <a:pt x="504056" y="707810"/>
                  </a:lnTo>
                  <a:lnTo>
                    <a:pt x="533975" y="707810"/>
                  </a:lnTo>
                  <a:cubicBezTo>
                    <a:pt x="543992" y="707810"/>
                    <a:pt x="552112" y="715930"/>
                    <a:pt x="552112" y="725947"/>
                  </a:cubicBezTo>
                  <a:lnTo>
                    <a:pt x="552112" y="798493"/>
                  </a:lnTo>
                  <a:cubicBezTo>
                    <a:pt x="552112" y="808510"/>
                    <a:pt x="543992" y="816630"/>
                    <a:pt x="533975" y="816630"/>
                  </a:cubicBezTo>
                  <a:lnTo>
                    <a:pt x="504056" y="816630"/>
                  </a:lnTo>
                  <a:lnTo>
                    <a:pt x="504056" y="1008112"/>
                  </a:lnTo>
                  <a:lnTo>
                    <a:pt x="542020" y="1008112"/>
                  </a:lnTo>
                  <a:cubicBezTo>
                    <a:pt x="552037" y="1008112"/>
                    <a:pt x="560157" y="1016232"/>
                    <a:pt x="560157" y="1026249"/>
                  </a:cubicBezTo>
                  <a:lnTo>
                    <a:pt x="560157" y="1098795"/>
                  </a:lnTo>
                  <a:cubicBezTo>
                    <a:pt x="560157" y="1108812"/>
                    <a:pt x="552037" y="1116932"/>
                    <a:pt x="542020" y="1116932"/>
                  </a:cubicBezTo>
                  <a:lnTo>
                    <a:pt x="504056" y="1116932"/>
                  </a:lnTo>
                  <a:lnTo>
                    <a:pt x="504056" y="1209488"/>
                  </a:lnTo>
                  <a:cubicBezTo>
                    <a:pt x="504056" y="1217578"/>
                    <a:pt x="497498" y="1224136"/>
                    <a:pt x="489408" y="1224136"/>
                  </a:cubicBezTo>
                  <a:lnTo>
                    <a:pt x="14648" y="1224136"/>
                  </a:lnTo>
                  <a:cubicBezTo>
                    <a:pt x="6558" y="1224136"/>
                    <a:pt x="0" y="1217578"/>
                    <a:pt x="0" y="1209488"/>
                  </a:cubicBezTo>
                  <a:lnTo>
                    <a:pt x="0" y="14648"/>
                  </a:lnTo>
                  <a:cubicBezTo>
                    <a:pt x="0" y="6558"/>
                    <a:pt x="6558" y="0"/>
                    <a:pt x="14648" y="0"/>
                  </a:cubicBezTo>
                  <a:close/>
                </a:path>
              </a:pathLst>
            </a:custGeom>
            <a:solidFill>
              <a:srgbClr val="D8B2BF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3" name="圆角矩形 12"/>
            <p:cNvSpPr/>
            <p:nvPr/>
          </p:nvSpPr>
          <p:spPr>
            <a:xfrm>
              <a:off x="0" y="169"/>
              <a:ext cx="539552" cy="1800000"/>
            </a:xfrm>
            <a:custGeom>
              <a:avLst/>
              <a:gdLst/>
              <a:ahLst/>
              <a:cxnLst/>
              <a:rect l="l" t="t" r="r" b="b"/>
              <a:pathLst>
                <a:path w="560157" h="1224136">
                  <a:moveTo>
                    <a:pt x="14648" y="0"/>
                  </a:moveTo>
                  <a:lnTo>
                    <a:pt x="489408" y="0"/>
                  </a:lnTo>
                  <a:cubicBezTo>
                    <a:pt x="497498" y="0"/>
                    <a:pt x="504056" y="6558"/>
                    <a:pt x="504056" y="14648"/>
                  </a:cubicBezTo>
                  <a:lnTo>
                    <a:pt x="504056" y="107204"/>
                  </a:lnTo>
                  <a:lnTo>
                    <a:pt x="542020" y="107204"/>
                  </a:lnTo>
                  <a:cubicBezTo>
                    <a:pt x="552037" y="107204"/>
                    <a:pt x="560157" y="115324"/>
                    <a:pt x="560157" y="125341"/>
                  </a:cubicBezTo>
                  <a:lnTo>
                    <a:pt x="560157" y="197887"/>
                  </a:lnTo>
                  <a:cubicBezTo>
                    <a:pt x="560157" y="207904"/>
                    <a:pt x="552037" y="216024"/>
                    <a:pt x="542020" y="216024"/>
                  </a:cubicBezTo>
                  <a:lnTo>
                    <a:pt x="504056" y="216024"/>
                  </a:lnTo>
                  <a:lnTo>
                    <a:pt x="504056" y="407507"/>
                  </a:lnTo>
                  <a:lnTo>
                    <a:pt x="542020" y="407507"/>
                  </a:lnTo>
                  <a:cubicBezTo>
                    <a:pt x="552037" y="407507"/>
                    <a:pt x="560157" y="415627"/>
                    <a:pt x="560157" y="425644"/>
                  </a:cubicBezTo>
                  <a:lnTo>
                    <a:pt x="560157" y="498190"/>
                  </a:lnTo>
                  <a:cubicBezTo>
                    <a:pt x="560157" y="508207"/>
                    <a:pt x="552037" y="516327"/>
                    <a:pt x="542020" y="516327"/>
                  </a:cubicBezTo>
                  <a:lnTo>
                    <a:pt x="504056" y="516327"/>
                  </a:lnTo>
                  <a:lnTo>
                    <a:pt x="504056" y="707810"/>
                  </a:lnTo>
                  <a:lnTo>
                    <a:pt x="533975" y="707810"/>
                  </a:lnTo>
                  <a:cubicBezTo>
                    <a:pt x="543992" y="707810"/>
                    <a:pt x="552112" y="715930"/>
                    <a:pt x="552112" y="725947"/>
                  </a:cubicBezTo>
                  <a:lnTo>
                    <a:pt x="552112" y="798493"/>
                  </a:lnTo>
                  <a:cubicBezTo>
                    <a:pt x="552112" y="808510"/>
                    <a:pt x="543992" y="816630"/>
                    <a:pt x="533975" y="816630"/>
                  </a:cubicBezTo>
                  <a:lnTo>
                    <a:pt x="504056" y="816630"/>
                  </a:lnTo>
                  <a:lnTo>
                    <a:pt x="504056" y="1008112"/>
                  </a:lnTo>
                  <a:lnTo>
                    <a:pt x="542020" y="1008112"/>
                  </a:lnTo>
                  <a:cubicBezTo>
                    <a:pt x="552037" y="1008112"/>
                    <a:pt x="560157" y="1016232"/>
                    <a:pt x="560157" y="1026249"/>
                  </a:cubicBezTo>
                  <a:lnTo>
                    <a:pt x="560157" y="1098795"/>
                  </a:lnTo>
                  <a:cubicBezTo>
                    <a:pt x="560157" y="1108812"/>
                    <a:pt x="552037" y="1116932"/>
                    <a:pt x="542020" y="1116932"/>
                  </a:cubicBezTo>
                  <a:lnTo>
                    <a:pt x="504056" y="1116932"/>
                  </a:lnTo>
                  <a:lnTo>
                    <a:pt x="504056" y="1209488"/>
                  </a:lnTo>
                  <a:cubicBezTo>
                    <a:pt x="504056" y="1217578"/>
                    <a:pt x="497498" y="1224136"/>
                    <a:pt x="489408" y="1224136"/>
                  </a:cubicBezTo>
                  <a:lnTo>
                    <a:pt x="14648" y="1224136"/>
                  </a:lnTo>
                  <a:cubicBezTo>
                    <a:pt x="6558" y="1224136"/>
                    <a:pt x="0" y="1217578"/>
                    <a:pt x="0" y="1209488"/>
                  </a:cubicBezTo>
                  <a:lnTo>
                    <a:pt x="0" y="14648"/>
                  </a:lnTo>
                  <a:cubicBezTo>
                    <a:pt x="0" y="6558"/>
                    <a:pt x="6558" y="0"/>
                    <a:pt x="14648" y="0"/>
                  </a:cubicBezTo>
                  <a:close/>
                </a:path>
              </a:pathLst>
            </a:custGeom>
            <a:solidFill>
              <a:srgbClr val="95BFBD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圆角矩形 12"/>
            <p:cNvSpPr/>
            <p:nvPr/>
          </p:nvSpPr>
          <p:spPr>
            <a:xfrm>
              <a:off x="0" y="1800338"/>
              <a:ext cx="539552" cy="1800000"/>
            </a:xfrm>
            <a:custGeom>
              <a:avLst/>
              <a:gdLst/>
              <a:ahLst/>
              <a:cxnLst/>
              <a:rect l="l" t="t" r="r" b="b"/>
              <a:pathLst>
                <a:path w="560157" h="1224136">
                  <a:moveTo>
                    <a:pt x="14648" y="0"/>
                  </a:moveTo>
                  <a:lnTo>
                    <a:pt x="489408" y="0"/>
                  </a:lnTo>
                  <a:cubicBezTo>
                    <a:pt x="497498" y="0"/>
                    <a:pt x="504056" y="6558"/>
                    <a:pt x="504056" y="14648"/>
                  </a:cubicBezTo>
                  <a:lnTo>
                    <a:pt x="504056" y="107204"/>
                  </a:lnTo>
                  <a:lnTo>
                    <a:pt x="542020" y="107204"/>
                  </a:lnTo>
                  <a:cubicBezTo>
                    <a:pt x="552037" y="107204"/>
                    <a:pt x="560157" y="115324"/>
                    <a:pt x="560157" y="125341"/>
                  </a:cubicBezTo>
                  <a:lnTo>
                    <a:pt x="560157" y="197887"/>
                  </a:lnTo>
                  <a:cubicBezTo>
                    <a:pt x="560157" y="207904"/>
                    <a:pt x="552037" y="216024"/>
                    <a:pt x="542020" y="216024"/>
                  </a:cubicBezTo>
                  <a:lnTo>
                    <a:pt x="504056" y="216024"/>
                  </a:lnTo>
                  <a:lnTo>
                    <a:pt x="504056" y="407507"/>
                  </a:lnTo>
                  <a:lnTo>
                    <a:pt x="542020" y="407507"/>
                  </a:lnTo>
                  <a:cubicBezTo>
                    <a:pt x="552037" y="407507"/>
                    <a:pt x="560157" y="415627"/>
                    <a:pt x="560157" y="425644"/>
                  </a:cubicBezTo>
                  <a:lnTo>
                    <a:pt x="560157" y="498190"/>
                  </a:lnTo>
                  <a:cubicBezTo>
                    <a:pt x="560157" y="508207"/>
                    <a:pt x="552037" y="516327"/>
                    <a:pt x="542020" y="516327"/>
                  </a:cubicBezTo>
                  <a:lnTo>
                    <a:pt x="504056" y="516327"/>
                  </a:lnTo>
                  <a:lnTo>
                    <a:pt x="504056" y="707810"/>
                  </a:lnTo>
                  <a:lnTo>
                    <a:pt x="533975" y="707810"/>
                  </a:lnTo>
                  <a:cubicBezTo>
                    <a:pt x="543992" y="707810"/>
                    <a:pt x="552112" y="715930"/>
                    <a:pt x="552112" y="725947"/>
                  </a:cubicBezTo>
                  <a:lnTo>
                    <a:pt x="552112" y="798493"/>
                  </a:lnTo>
                  <a:cubicBezTo>
                    <a:pt x="552112" y="808510"/>
                    <a:pt x="543992" y="816630"/>
                    <a:pt x="533975" y="816630"/>
                  </a:cubicBezTo>
                  <a:lnTo>
                    <a:pt x="504056" y="816630"/>
                  </a:lnTo>
                  <a:lnTo>
                    <a:pt x="504056" y="1008112"/>
                  </a:lnTo>
                  <a:lnTo>
                    <a:pt x="542020" y="1008112"/>
                  </a:lnTo>
                  <a:cubicBezTo>
                    <a:pt x="552037" y="1008112"/>
                    <a:pt x="560157" y="1016232"/>
                    <a:pt x="560157" y="1026249"/>
                  </a:cubicBezTo>
                  <a:lnTo>
                    <a:pt x="560157" y="1098795"/>
                  </a:lnTo>
                  <a:cubicBezTo>
                    <a:pt x="560157" y="1108812"/>
                    <a:pt x="552037" y="1116932"/>
                    <a:pt x="542020" y="1116932"/>
                  </a:cubicBezTo>
                  <a:lnTo>
                    <a:pt x="504056" y="1116932"/>
                  </a:lnTo>
                  <a:lnTo>
                    <a:pt x="504056" y="1209488"/>
                  </a:lnTo>
                  <a:cubicBezTo>
                    <a:pt x="504056" y="1217578"/>
                    <a:pt x="497498" y="1224136"/>
                    <a:pt x="489408" y="1224136"/>
                  </a:cubicBezTo>
                  <a:lnTo>
                    <a:pt x="14648" y="1224136"/>
                  </a:lnTo>
                  <a:cubicBezTo>
                    <a:pt x="6558" y="1224136"/>
                    <a:pt x="0" y="1217578"/>
                    <a:pt x="0" y="1209488"/>
                  </a:cubicBezTo>
                  <a:lnTo>
                    <a:pt x="0" y="14648"/>
                  </a:lnTo>
                  <a:cubicBezTo>
                    <a:pt x="0" y="6558"/>
                    <a:pt x="6558" y="0"/>
                    <a:pt x="14648" y="0"/>
                  </a:cubicBezTo>
                  <a:close/>
                </a:path>
              </a:pathLst>
            </a:custGeom>
            <a:solidFill>
              <a:srgbClr val="D8B2BF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4" name="圆角矩形 12"/>
            <p:cNvSpPr/>
            <p:nvPr/>
          </p:nvSpPr>
          <p:spPr>
            <a:xfrm rot="5400000" flipH="1">
              <a:off x="3671916" y="-71745"/>
              <a:ext cx="1800168" cy="9144000"/>
            </a:xfrm>
            <a:custGeom>
              <a:avLst/>
              <a:gdLst/>
              <a:ahLst/>
              <a:cxnLst/>
              <a:rect l="l" t="t" r="r" b="b"/>
              <a:pathLst>
                <a:path w="1800168" h="9144000">
                  <a:moveTo>
                    <a:pt x="1800168" y="471405"/>
                  </a:moveTo>
                  <a:lnTo>
                    <a:pt x="1800168" y="14109"/>
                  </a:lnTo>
                  <a:cubicBezTo>
                    <a:pt x="1800168" y="6317"/>
                    <a:pt x="1790525" y="0"/>
                    <a:pt x="1778629" y="0"/>
                  </a:cubicBezTo>
                  <a:lnTo>
                    <a:pt x="21707" y="0"/>
                  </a:lnTo>
                  <a:cubicBezTo>
                    <a:pt x="9811" y="0"/>
                    <a:pt x="168" y="6317"/>
                    <a:pt x="168" y="14109"/>
                  </a:cubicBezTo>
                  <a:lnTo>
                    <a:pt x="168" y="330729"/>
                  </a:lnTo>
                  <a:cubicBezTo>
                    <a:pt x="2" y="330932"/>
                    <a:pt x="0" y="331140"/>
                    <a:pt x="0" y="331348"/>
                  </a:cubicBezTo>
                  <a:lnTo>
                    <a:pt x="0" y="2088270"/>
                  </a:lnTo>
                  <a:cubicBezTo>
                    <a:pt x="0" y="2096212"/>
                    <a:pt x="2816" y="2103150"/>
                    <a:pt x="7900" y="2105882"/>
                  </a:cubicBezTo>
                  <a:cubicBezTo>
                    <a:pt x="3136" y="2108839"/>
                    <a:pt x="546" y="2115533"/>
                    <a:pt x="546" y="2123150"/>
                  </a:cubicBezTo>
                  <a:lnTo>
                    <a:pt x="546" y="3787021"/>
                  </a:lnTo>
                  <a:lnTo>
                    <a:pt x="546" y="3880072"/>
                  </a:lnTo>
                  <a:lnTo>
                    <a:pt x="546" y="5543943"/>
                  </a:lnTo>
                  <a:lnTo>
                    <a:pt x="3476" y="5554741"/>
                  </a:lnTo>
                  <a:lnTo>
                    <a:pt x="546" y="5565539"/>
                  </a:lnTo>
                  <a:lnTo>
                    <a:pt x="546" y="7322461"/>
                  </a:lnTo>
                  <a:cubicBezTo>
                    <a:pt x="546" y="7334357"/>
                    <a:pt x="6863" y="7344000"/>
                    <a:pt x="14655" y="7344000"/>
                  </a:cubicBezTo>
                  <a:lnTo>
                    <a:pt x="14277" y="7344000"/>
                  </a:lnTo>
                  <a:cubicBezTo>
                    <a:pt x="6485" y="7344000"/>
                    <a:pt x="168" y="7353643"/>
                    <a:pt x="168" y="7365539"/>
                  </a:cubicBezTo>
                  <a:lnTo>
                    <a:pt x="168" y="9122461"/>
                  </a:lnTo>
                  <a:lnTo>
                    <a:pt x="546" y="9123855"/>
                  </a:lnTo>
                  <a:lnTo>
                    <a:pt x="546" y="9129891"/>
                  </a:lnTo>
                  <a:lnTo>
                    <a:pt x="3437" y="9134507"/>
                  </a:lnTo>
                  <a:cubicBezTo>
                    <a:pt x="3519" y="9136554"/>
                    <a:pt x="4472" y="9138089"/>
                    <a:pt x="6171" y="9138874"/>
                  </a:cubicBezTo>
                  <a:cubicBezTo>
                    <a:pt x="6620" y="9139778"/>
                    <a:pt x="7403" y="9140280"/>
                    <a:pt x="8468" y="9140327"/>
                  </a:cubicBezTo>
                  <a:cubicBezTo>
                    <a:pt x="9564" y="9143064"/>
                    <a:pt x="11849" y="9144000"/>
                    <a:pt x="14277" y="9144000"/>
                  </a:cubicBezTo>
                  <a:lnTo>
                    <a:pt x="21874" y="9144000"/>
                  </a:lnTo>
                  <a:lnTo>
                    <a:pt x="471574" y="9144000"/>
                  </a:lnTo>
                  <a:lnTo>
                    <a:pt x="1761561" y="9144000"/>
                  </a:lnTo>
                  <a:cubicBezTo>
                    <a:pt x="1773340" y="9144000"/>
                    <a:pt x="1782888" y="9137683"/>
                    <a:pt x="1782888" y="9129891"/>
                  </a:cubicBezTo>
                  <a:lnTo>
                    <a:pt x="1782888" y="8672595"/>
                  </a:lnTo>
                  <a:cubicBezTo>
                    <a:pt x="1782888" y="8664802"/>
                    <a:pt x="1773340" y="8658485"/>
                    <a:pt x="1761561" y="8658486"/>
                  </a:cubicBezTo>
                  <a:lnTo>
                    <a:pt x="1626799" y="8658486"/>
                  </a:lnTo>
                  <a:lnTo>
                    <a:pt x="1626799" y="8621918"/>
                  </a:lnTo>
                  <a:cubicBezTo>
                    <a:pt x="1626799" y="8612269"/>
                    <a:pt x="1614976" y="8604448"/>
                    <a:pt x="1600392" y="8604448"/>
                  </a:cubicBezTo>
                  <a:lnTo>
                    <a:pt x="1494765" y="8604448"/>
                  </a:lnTo>
                  <a:cubicBezTo>
                    <a:pt x="1480180" y="8604448"/>
                    <a:pt x="1468357" y="8612269"/>
                    <a:pt x="1468357" y="8621918"/>
                  </a:cubicBezTo>
                  <a:lnTo>
                    <a:pt x="1468357" y="8658486"/>
                  </a:lnTo>
                  <a:lnTo>
                    <a:pt x="1189558" y="8658486"/>
                  </a:lnTo>
                  <a:lnTo>
                    <a:pt x="1189558" y="8621918"/>
                  </a:lnTo>
                  <a:cubicBezTo>
                    <a:pt x="1189558" y="8612269"/>
                    <a:pt x="1177735" y="8604448"/>
                    <a:pt x="1163151" y="8604448"/>
                  </a:cubicBezTo>
                  <a:lnTo>
                    <a:pt x="1057524" y="8604448"/>
                  </a:lnTo>
                  <a:cubicBezTo>
                    <a:pt x="1042939" y="8604448"/>
                    <a:pt x="1031116" y="8612269"/>
                    <a:pt x="1031116" y="8621918"/>
                  </a:cubicBezTo>
                  <a:lnTo>
                    <a:pt x="1031116" y="8658486"/>
                  </a:lnTo>
                  <a:lnTo>
                    <a:pt x="752317" y="8658486"/>
                  </a:lnTo>
                  <a:lnTo>
                    <a:pt x="752317" y="8629667"/>
                  </a:lnTo>
                  <a:cubicBezTo>
                    <a:pt x="752317" y="8620018"/>
                    <a:pt x="740494" y="8612197"/>
                    <a:pt x="725909" y="8612197"/>
                  </a:cubicBezTo>
                  <a:lnTo>
                    <a:pt x="620282" y="8612197"/>
                  </a:lnTo>
                  <a:cubicBezTo>
                    <a:pt x="605698" y="8612197"/>
                    <a:pt x="593875" y="8620018"/>
                    <a:pt x="593875" y="8629667"/>
                  </a:cubicBezTo>
                  <a:lnTo>
                    <a:pt x="593875" y="8658486"/>
                  </a:lnTo>
                  <a:lnTo>
                    <a:pt x="485683" y="8658486"/>
                  </a:lnTo>
                  <a:lnTo>
                    <a:pt x="485683" y="8544793"/>
                  </a:lnTo>
                  <a:lnTo>
                    <a:pt x="514501" y="8544793"/>
                  </a:lnTo>
                  <a:cubicBezTo>
                    <a:pt x="524150" y="8544793"/>
                    <a:pt x="531971" y="8532853"/>
                    <a:pt x="531971" y="8518124"/>
                  </a:cubicBezTo>
                  <a:lnTo>
                    <a:pt x="531971" y="8411451"/>
                  </a:lnTo>
                  <a:cubicBezTo>
                    <a:pt x="531971" y="8396721"/>
                    <a:pt x="524150" y="8384781"/>
                    <a:pt x="514501" y="8384781"/>
                  </a:cubicBezTo>
                  <a:lnTo>
                    <a:pt x="485683" y="8384781"/>
                  </a:lnTo>
                  <a:lnTo>
                    <a:pt x="485683" y="8103220"/>
                  </a:lnTo>
                  <a:lnTo>
                    <a:pt x="522250" y="8103220"/>
                  </a:lnTo>
                  <a:cubicBezTo>
                    <a:pt x="531899" y="8103220"/>
                    <a:pt x="539720" y="8091280"/>
                    <a:pt x="539720" y="8076551"/>
                  </a:cubicBezTo>
                  <a:lnTo>
                    <a:pt x="539720" y="7969878"/>
                  </a:lnTo>
                  <a:cubicBezTo>
                    <a:pt x="539720" y="7955148"/>
                    <a:pt x="531899" y="7943209"/>
                    <a:pt x="522250" y="7943209"/>
                  </a:cubicBezTo>
                  <a:lnTo>
                    <a:pt x="485683" y="7943209"/>
                  </a:lnTo>
                  <a:lnTo>
                    <a:pt x="485683" y="7661647"/>
                  </a:lnTo>
                  <a:lnTo>
                    <a:pt x="522250" y="7661647"/>
                  </a:lnTo>
                  <a:cubicBezTo>
                    <a:pt x="531899" y="7661647"/>
                    <a:pt x="539720" y="7649707"/>
                    <a:pt x="539720" y="7634978"/>
                  </a:cubicBezTo>
                  <a:lnTo>
                    <a:pt x="539720" y="7528305"/>
                  </a:lnTo>
                  <a:cubicBezTo>
                    <a:pt x="539720" y="7513575"/>
                    <a:pt x="531899" y="7501636"/>
                    <a:pt x="522250" y="7501636"/>
                  </a:cubicBezTo>
                  <a:lnTo>
                    <a:pt x="485683" y="7501636"/>
                  </a:lnTo>
                  <a:lnTo>
                    <a:pt x="485683" y="7365539"/>
                  </a:lnTo>
                  <a:cubicBezTo>
                    <a:pt x="485683" y="7353643"/>
                    <a:pt x="479366" y="7344000"/>
                    <a:pt x="471574" y="7344000"/>
                  </a:cubicBezTo>
                  <a:lnTo>
                    <a:pt x="471952" y="7344000"/>
                  </a:lnTo>
                  <a:cubicBezTo>
                    <a:pt x="479744" y="7344000"/>
                    <a:pt x="486061" y="7334357"/>
                    <a:pt x="486061" y="7322461"/>
                  </a:cubicBezTo>
                  <a:lnTo>
                    <a:pt x="486061" y="7186365"/>
                  </a:lnTo>
                  <a:lnTo>
                    <a:pt x="522628" y="7186365"/>
                  </a:lnTo>
                  <a:cubicBezTo>
                    <a:pt x="532277" y="7186365"/>
                    <a:pt x="540098" y="7174425"/>
                    <a:pt x="540098" y="7159695"/>
                  </a:cubicBezTo>
                  <a:lnTo>
                    <a:pt x="540098" y="7053022"/>
                  </a:lnTo>
                  <a:cubicBezTo>
                    <a:pt x="540098" y="7038293"/>
                    <a:pt x="532277" y="7026353"/>
                    <a:pt x="522628" y="7026353"/>
                  </a:cubicBezTo>
                  <a:lnTo>
                    <a:pt x="486061" y="7026353"/>
                  </a:lnTo>
                  <a:lnTo>
                    <a:pt x="486061" y="6744793"/>
                  </a:lnTo>
                  <a:lnTo>
                    <a:pt x="514879" y="6744793"/>
                  </a:lnTo>
                  <a:cubicBezTo>
                    <a:pt x="524528" y="6744793"/>
                    <a:pt x="532349" y="6732853"/>
                    <a:pt x="532349" y="6718124"/>
                  </a:cubicBezTo>
                  <a:lnTo>
                    <a:pt x="532349" y="6611450"/>
                  </a:lnTo>
                  <a:cubicBezTo>
                    <a:pt x="532349" y="6596721"/>
                    <a:pt x="524528" y="6584781"/>
                    <a:pt x="514879" y="6584781"/>
                  </a:cubicBezTo>
                  <a:lnTo>
                    <a:pt x="486061" y="6584781"/>
                  </a:lnTo>
                  <a:lnTo>
                    <a:pt x="486061" y="6303220"/>
                  </a:lnTo>
                  <a:lnTo>
                    <a:pt x="522628" y="6303220"/>
                  </a:lnTo>
                  <a:cubicBezTo>
                    <a:pt x="532277" y="6303220"/>
                    <a:pt x="540098" y="6291280"/>
                    <a:pt x="540098" y="6276551"/>
                  </a:cubicBezTo>
                  <a:lnTo>
                    <a:pt x="540098" y="6169877"/>
                  </a:lnTo>
                  <a:cubicBezTo>
                    <a:pt x="540098" y="6155148"/>
                    <a:pt x="532277" y="6143208"/>
                    <a:pt x="522628" y="6143208"/>
                  </a:cubicBezTo>
                  <a:lnTo>
                    <a:pt x="486061" y="6143208"/>
                  </a:lnTo>
                  <a:lnTo>
                    <a:pt x="486061" y="5861647"/>
                  </a:lnTo>
                  <a:lnTo>
                    <a:pt x="522628" y="5861647"/>
                  </a:lnTo>
                  <a:cubicBezTo>
                    <a:pt x="532277" y="5861647"/>
                    <a:pt x="540098" y="5849707"/>
                    <a:pt x="540098" y="5834978"/>
                  </a:cubicBezTo>
                  <a:lnTo>
                    <a:pt x="540098" y="5728304"/>
                  </a:lnTo>
                  <a:cubicBezTo>
                    <a:pt x="540098" y="5713575"/>
                    <a:pt x="532277" y="5701635"/>
                    <a:pt x="522628" y="5701635"/>
                  </a:cubicBezTo>
                  <a:lnTo>
                    <a:pt x="486061" y="5701635"/>
                  </a:lnTo>
                  <a:lnTo>
                    <a:pt x="486061" y="5565539"/>
                  </a:lnTo>
                  <a:cubicBezTo>
                    <a:pt x="486061" y="5561456"/>
                    <a:pt x="485317" y="5557639"/>
                    <a:pt x="483131" y="5554741"/>
                  </a:cubicBezTo>
                  <a:cubicBezTo>
                    <a:pt x="485317" y="5551843"/>
                    <a:pt x="486061" y="5548026"/>
                    <a:pt x="486061" y="5543943"/>
                  </a:cubicBezTo>
                  <a:lnTo>
                    <a:pt x="486061" y="5407846"/>
                  </a:lnTo>
                  <a:lnTo>
                    <a:pt x="522628" y="5407846"/>
                  </a:lnTo>
                  <a:cubicBezTo>
                    <a:pt x="532277" y="5407846"/>
                    <a:pt x="540098" y="5395907"/>
                    <a:pt x="540098" y="5381177"/>
                  </a:cubicBezTo>
                  <a:lnTo>
                    <a:pt x="540098" y="5274504"/>
                  </a:lnTo>
                  <a:cubicBezTo>
                    <a:pt x="540098" y="5259775"/>
                    <a:pt x="532277" y="5247835"/>
                    <a:pt x="522628" y="5247835"/>
                  </a:cubicBezTo>
                  <a:lnTo>
                    <a:pt x="486061" y="5247835"/>
                  </a:lnTo>
                  <a:lnTo>
                    <a:pt x="486061" y="4966275"/>
                  </a:lnTo>
                  <a:lnTo>
                    <a:pt x="514879" y="4966275"/>
                  </a:lnTo>
                  <a:cubicBezTo>
                    <a:pt x="524528" y="4966275"/>
                    <a:pt x="532349" y="4954335"/>
                    <a:pt x="532349" y="4939606"/>
                  </a:cubicBezTo>
                  <a:lnTo>
                    <a:pt x="532349" y="4832932"/>
                  </a:lnTo>
                  <a:cubicBezTo>
                    <a:pt x="532349" y="4818203"/>
                    <a:pt x="524528" y="4806263"/>
                    <a:pt x="514879" y="4806263"/>
                  </a:cubicBezTo>
                  <a:lnTo>
                    <a:pt x="486061" y="4806263"/>
                  </a:lnTo>
                  <a:lnTo>
                    <a:pt x="486061" y="4524702"/>
                  </a:lnTo>
                  <a:lnTo>
                    <a:pt x="522628" y="4524702"/>
                  </a:lnTo>
                  <a:cubicBezTo>
                    <a:pt x="532277" y="4524702"/>
                    <a:pt x="540098" y="4512762"/>
                    <a:pt x="540098" y="4498033"/>
                  </a:cubicBezTo>
                  <a:lnTo>
                    <a:pt x="540098" y="4391359"/>
                  </a:lnTo>
                  <a:cubicBezTo>
                    <a:pt x="540098" y="4376630"/>
                    <a:pt x="532277" y="4364690"/>
                    <a:pt x="522628" y="4364690"/>
                  </a:cubicBezTo>
                  <a:lnTo>
                    <a:pt x="486061" y="4364690"/>
                  </a:lnTo>
                  <a:lnTo>
                    <a:pt x="486061" y="4083129"/>
                  </a:lnTo>
                  <a:lnTo>
                    <a:pt x="522628" y="4083129"/>
                  </a:lnTo>
                  <a:cubicBezTo>
                    <a:pt x="532277" y="4083129"/>
                    <a:pt x="540098" y="4071189"/>
                    <a:pt x="540098" y="4056460"/>
                  </a:cubicBezTo>
                  <a:lnTo>
                    <a:pt x="540098" y="3949786"/>
                  </a:lnTo>
                  <a:cubicBezTo>
                    <a:pt x="540098" y="3935057"/>
                    <a:pt x="532277" y="3923117"/>
                    <a:pt x="522628" y="3923117"/>
                  </a:cubicBezTo>
                  <a:lnTo>
                    <a:pt x="486061" y="3923117"/>
                  </a:lnTo>
                  <a:lnTo>
                    <a:pt x="486061" y="3880072"/>
                  </a:lnTo>
                  <a:lnTo>
                    <a:pt x="486061" y="3787021"/>
                  </a:lnTo>
                  <a:lnTo>
                    <a:pt x="486061" y="3743975"/>
                  </a:lnTo>
                  <a:lnTo>
                    <a:pt x="522628" y="3743975"/>
                  </a:lnTo>
                  <a:cubicBezTo>
                    <a:pt x="532277" y="3743975"/>
                    <a:pt x="540098" y="3732036"/>
                    <a:pt x="540098" y="3717306"/>
                  </a:cubicBezTo>
                  <a:lnTo>
                    <a:pt x="540098" y="3610633"/>
                  </a:lnTo>
                  <a:cubicBezTo>
                    <a:pt x="540098" y="3595904"/>
                    <a:pt x="532277" y="3583964"/>
                    <a:pt x="522628" y="3583964"/>
                  </a:cubicBezTo>
                  <a:lnTo>
                    <a:pt x="486061" y="3583964"/>
                  </a:lnTo>
                  <a:lnTo>
                    <a:pt x="486061" y="3302404"/>
                  </a:lnTo>
                  <a:lnTo>
                    <a:pt x="514879" y="3302404"/>
                  </a:lnTo>
                  <a:cubicBezTo>
                    <a:pt x="524528" y="3302404"/>
                    <a:pt x="532349" y="3290464"/>
                    <a:pt x="532349" y="3275735"/>
                  </a:cubicBezTo>
                  <a:lnTo>
                    <a:pt x="532349" y="3169061"/>
                  </a:lnTo>
                  <a:cubicBezTo>
                    <a:pt x="532349" y="3154332"/>
                    <a:pt x="524528" y="3142392"/>
                    <a:pt x="514879" y="3142392"/>
                  </a:cubicBezTo>
                  <a:lnTo>
                    <a:pt x="486061" y="3142392"/>
                  </a:lnTo>
                  <a:lnTo>
                    <a:pt x="486061" y="2860831"/>
                  </a:lnTo>
                  <a:lnTo>
                    <a:pt x="522628" y="2860831"/>
                  </a:lnTo>
                  <a:cubicBezTo>
                    <a:pt x="532277" y="2860831"/>
                    <a:pt x="540098" y="2848891"/>
                    <a:pt x="540098" y="2834162"/>
                  </a:cubicBezTo>
                  <a:lnTo>
                    <a:pt x="540098" y="2727488"/>
                  </a:lnTo>
                  <a:cubicBezTo>
                    <a:pt x="540098" y="2712759"/>
                    <a:pt x="532277" y="2700819"/>
                    <a:pt x="522628" y="2700819"/>
                  </a:cubicBezTo>
                  <a:lnTo>
                    <a:pt x="486061" y="2700819"/>
                  </a:lnTo>
                  <a:lnTo>
                    <a:pt x="486061" y="2419258"/>
                  </a:lnTo>
                  <a:lnTo>
                    <a:pt x="522628" y="2419258"/>
                  </a:lnTo>
                  <a:cubicBezTo>
                    <a:pt x="532277" y="2419258"/>
                    <a:pt x="540098" y="2407318"/>
                    <a:pt x="540098" y="2392589"/>
                  </a:cubicBezTo>
                  <a:lnTo>
                    <a:pt x="540098" y="2285915"/>
                  </a:lnTo>
                  <a:cubicBezTo>
                    <a:pt x="540098" y="2271186"/>
                    <a:pt x="532277" y="2259246"/>
                    <a:pt x="522628" y="2259246"/>
                  </a:cubicBezTo>
                  <a:lnTo>
                    <a:pt x="486061" y="2259246"/>
                  </a:lnTo>
                  <a:lnTo>
                    <a:pt x="486061" y="2123150"/>
                  </a:lnTo>
                  <a:cubicBezTo>
                    <a:pt x="486061" y="2115207"/>
                    <a:pt x="483245" y="2108269"/>
                    <a:pt x="478161" y="2105537"/>
                  </a:cubicBezTo>
                  <a:cubicBezTo>
                    <a:pt x="482925" y="2102580"/>
                    <a:pt x="485515" y="2095887"/>
                    <a:pt x="485515" y="2088270"/>
                  </a:cubicBezTo>
                  <a:lnTo>
                    <a:pt x="485515" y="1952173"/>
                  </a:lnTo>
                  <a:lnTo>
                    <a:pt x="522082" y="1952173"/>
                  </a:lnTo>
                  <a:cubicBezTo>
                    <a:pt x="531731" y="1952173"/>
                    <a:pt x="539552" y="1940234"/>
                    <a:pt x="539552" y="1925504"/>
                  </a:cubicBezTo>
                  <a:lnTo>
                    <a:pt x="539552" y="1818831"/>
                  </a:lnTo>
                  <a:cubicBezTo>
                    <a:pt x="539552" y="1804102"/>
                    <a:pt x="531731" y="1792162"/>
                    <a:pt x="522082" y="1792162"/>
                  </a:cubicBezTo>
                  <a:lnTo>
                    <a:pt x="485515" y="1792162"/>
                  </a:lnTo>
                  <a:lnTo>
                    <a:pt x="485515" y="1510602"/>
                  </a:lnTo>
                  <a:lnTo>
                    <a:pt x="514333" y="1510602"/>
                  </a:lnTo>
                  <a:cubicBezTo>
                    <a:pt x="523982" y="1510602"/>
                    <a:pt x="531803" y="1498662"/>
                    <a:pt x="531803" y="1483933"/>
                  </a:cubicBezTo>
                  <a:lnTo>
                    <a:pt x="531803" y="1377259"/>
                  </a:lnTo>
                  <a:cubicBezTo>
                    <a:pt x="531803" y="1362530"/>
                    <a:pt x="523982" y="1350590"/>
                    <a:pt x="514333" y="1350590"/>
                  </a:cubicBezTo>
                  <a:lnTo>
                    <a:pt x="485515" y="1350590"/>
                  </a:lnTo>
                  <a:lnTo>
                    <a:pt x="485515" y="1069029"/>
                  </a:lnTo>
                  <a:lnTo>
                    <a:pt x="522082" y="1069029"/>
                  </a:lnTo>
                  <a:cubicBezTo>
                    <a:pt x="531731" y="1069029"/>
                    <a:pt x="539552" y="1057089"/>
                    <a:pt x="539552" y="1042360"/>
                  </a:cubicBezTo>
                  <a:lnTo>
                    <a:pt x="539552" y="935686"/>
                  </a:lnTo>
                  <a:cubicBezTo>
                    <a:pt x="539552" y="920957"/>
                    <a:pt x="531731" y="909017"/>
                    <a:pt x="522082" y="909017"/>
                  </a:cubicBezTo>
                  <a:lnTo>
                    <a:pt x="485515" y="909017"/>
                  </a:lnTo>
                  <a:lnTo>
                    <a:pt x="485515" y="627456"/>
                  </a:lnTo>
                  <a:lnTo>
                    <a:pt x="522082" y="627456"/>
                  </a:lnTo>
                  <a:cubicBezTo>
                    <a:pt x="531731" y="627456"/>
                    <a:pt x="539552" y="615516"/>
                    <a:pt x="539552" y="600787"/>
                  </a:cubicBezTo>
                  <a:lnTo>
                    <a:pt x="539552" y="494114"/>
                  </a:lnTo>
                  <a:lnTo>
                    <a:pt x="537219" y="485515"/>
                  </a:lnTo>
                  <a:lnTo>
                    <a:pt x="599375" y="485515"/>
                  </a:lnTo>
                  <a:lnTo>
                    <a:pt x="599375" y="514333"/>
                  </a:lnTo>
                  <a:cubicBezTo>
                    <a:pt x="599375" y="523982"/>
                    <a:pt x="611315" y="531803"/>
                    <a:pt x="626044" y="531803"/>
                  </a:cubicBezTo>
                  <a:lnTo>
                    <a:pt x="732718" y="531803"/>
                  </a:lnTo>
                  <a:cubicBezTo>
                    <a:pt x="747447" y="531803"/>
                    <a:pt x="759387" y="523982"/>
                    <a:pt x="759387" y="514333"/>
                  </a:cubicBezTo>
                  <a:lnTo>
                    <a:pt x="759387" y="485515"/>
                  </a:lnTo>
                  <a:lnTo>
                    <a:pt x="1040948" y="485515"/>
                  </a:lnTo>
                  <a:lnTo>
                    <a:pt x="1040948" y="522082"/>
                  </a:lnTo>
                  <a:cubicBezTo>
                    <a:pt x="1040948" y="531731"/>
                    <a:pt x="1052888" y="539552"/>
                    <a:pt x="1067617" y="539552"/>
                  </a:cubicBezTo>
                  <a:lnTo>
                    <a:pt x="1174291" y="539552"/>
                  </a:lnTo>
                  <a:cubicBezTo>
                    <a:pt x="1189020" y="539552"/>
                    <a:pt x="1200960" y="531731"/>
                    <a:pt x="1200960" y="522082"/>
                  </a:cubicBezTo>
                  <a:lnTo>
                    <a:pt x="1200960" y="485515"/>
                  </a:lnTo>
                  <a:lnTo>
                    <a:pt x="1482521" y="485515"/>
                  </a:lnTo>
                  <a:lnTo>
                    <a:pt x="1482521" y="522082"/>
                  </a:lnTo>
                  <a:cubicBezTo>
                    <a:pt x="1482521" y="531731"/>
                    <a:pt x="1494461" y="539552"/>
                    <a:pt x="1509190" y="539552"/>
                  </a:cubicBezTo>
                  <a:lnTo>
                    <a:pt x="1615864" y="539552"/>
                  </a:lnTo>
                  <a:cubicBezTo>
                    <a:pt x="1630593" y="539552"/>
                    <a:pt x="1642533" y="531731"/>
                    <a:pt x="1642533" y="522082"/>
                  </a:cubicBezTo>
                  <a:lnTo>
                    <a:pt x="1642533" y="485515"/>
                  </a:lnTo>
                  <a:lnTo>
                    <a:pt x="1778629" y="485515"/>
                  </a:lnTo>
                  <a:cubicBezTo>
                    <a:pt x="1790525" y="485515"/>
                    <a:pt x="1800168" y="479198"/>
                    <a:pt x="1800168" y="471405"/>
                  </a:cubicBezTo>
                  <a:close/>
                </a:path>
              </a:pathLst>
            </a:custGeom>
            <a:solidFill>
              <a:srgbClr val="C3D8D9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644301" y="1023928"/>
            <a:ext cx="3906371" cy="3069918"/>
            <a:chOff x="2535614" y="1033398"/>
            <a:chExt cx="3906371" cy="3069918"/>
          </a:xfrm>
        </p:grpSpPr>
        <p:grpSp>
          <p:nvGrpSpPr>
            <p:cNvPr id="25" name="组合 24"/>
            <p:cNvGrpSpPr/>
            <p:nvPr/>
          </p:nvGrpSpPr>
          <p:grpSpPr>
            <a:xfrm>
              <a:off x="4165983" y="1083817"/>
              <a:ext cx="2123727" cy="1631216"/>
              <a:chOff x="2571027" y="1562216"/>
              <a:chExt cx="1983886" cy="1571101"/>
            </a:xfrm>
          </p:grpSpPr>
          <p:sp>
            <p:nvSpPr>
              <p:cNvPr id="34" name="TextBox 33"/>
              <p:cNvSpPr txBox="1"/>
              <p:nvPr/>
            </p:nvSpPr>
            <p:spPr>
              <a:xfrm>
                <a:off x="2702034" y="1562216"/>
                <a:ext cx="1560414" cy="1571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>
                  <a:lnSpc>
                    <a:spcPts val="6000"/>
                  </a:lnSpc>
                </a:pPr>
                <a:r>
                  <a:rPr lang="zh-CN" altLang="en-US" sz="3200" b="1" spc="600" dirty="0" smtClean="0">
                    <a:solidFill>
                      <a:srgbClr val="26829B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剪纸简体" pitchFamily="65" charset="-122"/>
                    <a:ea typeface="方正剪纸简体" pitchFamily="65" charset="-122"/>
                  </a:rPr>
                  <a:t>兔子妈</a:t>
                </a:r>
                <a:endParaRPr lang="en-US" altLang="zh-CN" sz="3200" b="1" spc="600" dirty="0">
                  <a:solidFill>
                    <a:srgbClr val="26829B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剪纸简体" pitchFamily="65" charset="-122"/>
                  <a:ea typeface="方正剪纸简体" pitchFamily="65" charset="-122"/>
                </a:endParaRPr>
              </a:p>
              <a:p>
                <a:pPr algn="dist">
                  <a:lnSpc>
                    <a:spcPts val="6000"/>
                  </a:lnSpc>
                </a:pPr>
                <a:r>
                  <a:rPr lang="zh-CN" altLang="en-US" sz="4400" b="1" spc="600" dirty="0" smtClean="0">
                    <a:solidFill>
                      <a:srgbClr val="26829B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细谭黑简体" pitchFamily="2" charset="-122"/>
                    <a:ea typeface="方正细谭黑简体" pitchFamily="2" charset="-122"/>
                  </a:rPr>
                  <a:t>作品</a:t>
                </a:r>
                <a:endParaRPr lang="zh-CN" altLang="en-US" sz="4400" b="1" spc="600" dirty="0">
                  <a:solidFill>
                    <a:srgbClr val="26829B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细谭黑简体" pitchFamily="2" charset="-122"/>
                  <a:ea typeface="方正细谭黑简体" pitchFamily="2" charset="-122"/>
                </a:endParaRPr>
              </a:p>
            </p:txBody>
          </p:sp>
          <p:cxnSp>
            <p:nvCxnSpPr>
              <p:cNvPr id="35" name="直接连接符 34"/>
              <p:cNvCxnSpPr/>
              <p:nvPr/>
            </p:nvCxnSpPr>
            <p:spPr>
              <a:xfrm>
                <a:off x="2571027" y="2354954"/>
                <a:ext cx="1983886" cy="1824"/>
              </a:xfrm>
              <a:prstGeom prst="line">
                <a:avLst/>
              </a:prstGeom>
              <a:ln w="152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椭圆 21"/>
            <p:cNvSpPr/>
            <p:nvPr/>
          </p:nvSpPr>
          <p:spPr>
            <a:xfrm rot="3101325">
              <a:off x="2756532" y="1257832"/>
              <a:ext cx="1303510" cy="1417978"/>
            </a:xfrm>
            <a:custGeom>
              <a:avLst/>
              <a:gdLst/>
              <a:ahLst/>
              <a:cxnLst/>
              <a:rect l="l" t="t" r="r" b="b"/>
              <a:pathLst>
                <a:path w="1303510" h="1417978">
                  <a:moveTo>
                    <a:pt x="16270" y="597238"/>
                  </a:moveTo>
                  <a:cubicBezTo>
                    <a:pt x="76676" y="510296"/>
                    <a:pt x="287641" y="552369"/>
                    <a:pt x="487473" y="691210"/>
                  </a:cubicBezTo>
                  <a:cubicBezTo>
                    <a:pt x="538087" y="726377"/>
                    <a:pt x="583132" y="764378"/>
                    <a:pt x="621128" y="803008"/>
                  </a:cubicBezTo>
                  <a:cubicBezTo>
                    <a:pt x="622132" y="800503"/>
                    <a:pt x="623729" y="798440"/>
                    <a:pt x="625350" y="796388"/>
                  </a:cubicBezTo>
                  <a:lnTo>
                    <a:pt x="659512" y="761129"/>
                  </a:lnTo>
                  <a:cubicBezTo>
                    <a:pt x="617404" y="682231"/>
                    <a:pt x="591394" y="564515"/>
                    <a:pt x="591394" y="433137"/>
                  </a:cubicBezTo>
                  <a:cubicBezTo>
                    <a:pt x="591394" y="283628"/>
                    <a:pt x="625078" y="151811"/>
                    <a:pt x="676312" y="73973"/>
                  </a:cubicBezTo>
                  <a:cubicBezTo>
                    <a:pt x="707052" y="27270"/>
                    <a:pt x="744109" y="0"/>
                    <a:pt x="783999" y="0"/>
                  </a:cubicBezTo>
                  <a:cubicBezTo>
                    <a:pt x="890372" y="0"/>
                    <a:pt x="976604" y="193922"/>
                    <a:pt x="976604" y="433137"/>
                  </a:cubicBezTo>
                  <a:cubicBezTo>
                    <a:pt x="976604" y="513216"/>
                    <a:pt x="966941" y="588219"/>
                    <a:pt x="949251" y="652351"/>
                  </a:cubicBezTo>
                  <a:cubicBezTo>
                    <a:pt x="1025323" y="656365"/>
                    <a:pt x="1100867" y="683485"/>
                    <a:pt x="1165276" y="734372"/>
                  </a:cubicBezTo>
                  <a:cubicBezTo>
                    <a:pt x="1240930" y="794144"/>
                    <a:pt x="1288236" y="876450"/>
                    <a:pt x="1303510" y="964358"/>
                  </a:cubicBezTo>
                  <a:lnTo>
                    <a:pt x="945665" y="1417285"/>
                  </a:lnTo>
                  <a:cubicBezTo>
                    <a:pt x="856609" y="1422765"/>
                    <a:pt x="765591" y="1395785"/>
                    <a:pt x="689937" y="1336012"/>
                  </a:cubicBezTo>
                  <a:cubicBezTo>
                    <a:pt x="623549" y="1283561"/>
                    <a:pt x="578989" y="1213757"/>
                    <a:pt x="558665" y="1137963"/>
                  </a:cubicBezTo>
                  <a:cubicBezTo>
                    <a:pt x="472968" y="1121423"/>
                    <a:pt x="369430" y="1076028"/>
                    <a:pt x="268720" y="1006056"/>
                  </a:cubicBezTo>
                  <a:cubicBezTo>
                    <a:pt x="68889" y="867214"/>
                    <a:pt x="-44137" y="684180"/>
                    <a:pt x="16270" y="597238"/>
                  </a:cubicBezTo>
                  <a:close/>
                </a:path>
              </a:pathLst>
            </a:custGeom>
            <a:solidFill>
              <a:srgbClr val="26829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同心圆 26"/>
            <p:cNvSpPr/>
            <p:nvPr/>
          </p:nvSpPr>
          <p:spPr>
            <a:xfrm>
              <a:off x="2535614" y="1033398"/>
              <a:ext cx="1743767" cy="1732055"/>
            </a:xfrm>
            <a:prstGeom prst="donut">
              <a:avLst>
                <a:gd name="adj" fmla="val 9223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5985080" y="1845892"/>
              <a:ext cx="0" cy="319820"/>
            </a:xfrm>
            <a:prstGeom prst="line">
              <a:avLst/>
            </a:prstGeom>
            <a:ln w="1270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6225374" y="1842278"/>
              <a:ext cx="0" cy="327048"/>
            </a:xfrm>
            <a:prstGeom prst="line">
              <a:avLst/>
            </a:prstGeom>
            <a:ln w="1270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2535614" y="3095668"/>
              <a:ext cx="3906371" cy="1007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zh-CN" altLang="en-US" sz="4400" spc="600" dirty="0" smtClean="0">
                  <a:solidFill>
                    <a:srgbClr val="B9758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细谭黑简体" pitchFamily="2" charset="-122"/>
                  <a:ea typeface="方正细谭黑简体" pitchFamily="2" charset="-122"/>
                </a:rPr>
                <a:t>谢谢观赏</a:t>
              </a:r>
              <a:endParaRPr lang="zh-CN" altLang="en-US" sz="4400" spc="600" dirty="0">
                <a:solidFill>
                  <a:srgbClr val="B975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细谭黑简体" pitchFamily="2" charset="-122"/>
                <a:ea typeface="方正细谭黑简体" pitchFamily="2" charset="-122"/>
              </a:endParaRPr>
            </a:p>
          </p:txBody>
        </p:sp>
        <p:cxnSp>
          <p:nvCxnSpPr>
            <p:cNvPr id="31" name="直接连接符 30"/>
            <p:cNvCxnSpPr/>
            <p:nvPr/>
          </p:nvCxnSpPr>
          <p:spPr>
            <a:xfrm>
              <a:off x="3409720" y="3492425"/>
              <a:ext cx="0" cy="504056"/>
            </a:xfrm>
            <a:prstGeom prst="line">
              <a:avLst/>
            </a:prstGeom>
            <a:ln w="19050">
              <a:solidFill>
                <a:srgbClr val="D8B2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4488802" y="3492425"/>
              <a:ext cx="0" cy="504056"/>
            </a:xfrm>
            <a:prstGeom prst="line">
              <a:avLst/>
            </a:prstGeom>
            <a:ln w="19050">
              <a:solidFill>
                <a:srgbClr val="D8B2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5508104" y="3492425"/>
              <a:ext cx="0" cy="504056"/>
            </a:xfrm>
            <a:prstGeom prst="line">
              <a:avLst/>
            </a:prstGeom>
            <a:ln w="19050">
              <a:solidFill>
                <a:srgbClr val="D8B2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515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86302" y="745557"/>
            <a:ext cx="6171396" cy="3416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3025974" y="2214993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516247" y="2214993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071460" y="2214993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58774" y="3167701"/>
            <a:ext cx="6171396" cy="148886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215"/>
              </a:spcBef>
              <a:spcAft>
                <a:spcPct val="0"/>
              </a:spcAft>
            </a:pP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21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215"/>
              </a:spcBef>
              <a:spcAft>
                <a:spcPct val="0"/>
              </a:spcAft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21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810"/>
              </a:spcBef>
              <a:spcAft>
                <a:spcPct val="0"/>
              </a:spcAft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810"/>
              </a:spcBef>
              <a:spcAft>
                <a:spcPct val="0"/>
              </a:spcAft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810"/>
              </a:spcBef>
              <a:spcAft>
                <a:spcPct val="0"/>
              </a:spcAft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704576" y="3429344"/>
            <a:ext cx="5734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558774" y="1752630"/>
            <a:ext cx="1312212" cy="90531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093366" y="1752632"/>
            <a:ext cx="1312212" cy="1081438"/>
            <a:chOff x="107380" y="2024805"/>
            <a:chExt cx="1944270" cy="1602337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6"/>
              <a:ext cx="1728239" cy="12449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602825" y="1752630"/>
            <a:ext cx="1312212" cy="90531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120059" y="1752630"/>
            <a:ext cx="1312212" cy="90531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685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488989" y="3137731"/>
            <a:ext cx="6188272" cy="1088017"/>
            <a:chOff x="0" y="3359571"/>
            <a:chExt cx="9169004" cy="1612087"/>
          </a:xfrm>
        </p:grpSpPr>
        <p:sp>
          <p:nvSpPr>
            <p:cNvPr id="5" name="矩形 4"/>
            <p:cNvSpPr/>
            <p:nvPr/>
          </p:nvSpPr>
          <p:spPr>
            <a:xfrm>
              <a:off x="1245140" y="3973769"/>
              <a:ext cx="4572000" cy="56775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62087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945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945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945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46286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1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6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10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98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025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04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91671" cy="9508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62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038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62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62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46286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532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4" y="4188246"/>
              <a:ext cx="1596629" cy="783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418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6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10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783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418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6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1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6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1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59396" cy="3677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6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013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2299115" y="998757"/>
            <a:ext cx="4568019" cy="1976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2025"/>
              </a:spcBef>
              <a:spcAft>
                <a:spcPct val="0"/>
              </a:spcAft>
            </a:pPr>
            <a:r>
              <a:rPr lang="zh-CN" altLang="en-US" sz="297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297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109</a:t>
            </a:r>
            <a:r>
              <a:rPr lang="zh-CN" altLang="en-US" sz="297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297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2025"/>
              </a:spcBef>
              <a:spcAft>
                <a:spcPct val="0"/>
              </a:spcAft>
            </a:pPr>
            <a:r>
              <a:rPr lang="zh-CN" altLang="en-US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189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754104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658</Words>
  <Application>Microsoft Office PowerPoint</Application>
  <PresentationFormat>自定义</PresentationFormat>
  <Paragraphs>164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5" baseType="lpstr">
      <vt:lpstr>方正呐喊体</vt:lpstr>
      <vt:lpstr>汉仪菱心体简</vt:lpstr>
      <vt:lpstr>Calibri</vt:lpstr>
      <vt:lpstr>Broadway</vt:lpstr>
      <vt:lpstr>方正细谭黑简体</vt:lpstr>
      <vt:lpstr>微软雅黑</vt:lpstr>
      <vt:lpstr>方正启体简体</vt:lpstr>
      <vt:lpstr>Arial</vt:lpstr>
      <vt:lpstr>方正剪纸简体</vt:lpstr>
      <vt:lpstr>MS PGothic</vt:lpstr>
      <vt:lpstr>方正苏新诗柳楷繁体</vt:lpstr>
      <vt:lpstr>方正正黑简体</vt:lpstr>
      <vt:lpstr>Wingdings</vt:lpstr>
      <vt:lpstr>Bodoni MT Black</vt:lpstr>
      <vt:lpstr>方正粗活意简体</vt:lpstr>
      <vt:lpstr>Bauhaus 93</vt:lpstr>
      <vt:lpstr>宋体</vt:lpstr>
      <vt:lpstr>方正正中黑简体</vt:lpstr>
      <vt:lpstr>Calibri Light</vt:lpstr>
      <vt:lpstr>Office 主题​​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刘玲</dc:creator>
  <cp:lastModifiedBy>小巴</cp:lastModifiedBy>
  <cp:revision>79</cp:revision>
  <dcterms:created xsi:type="dcterms:W3CDTF">2014-03-11T04:46:43Z</dcterms:created>
  <dcterms:modified xsi:type="dcterms:W3CDTF">2014-05-20T08:17:34Z</dcterms:modified>
</cp:coreProperties>
</file>